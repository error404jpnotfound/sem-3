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26.xml" ContentType="application/vnd.openxmlformats-officedocument.presentationml.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29.xml" ContentType="application/vnd.openxmlformats-officedocument.presentationml.slide+xml"/>
  <Override PartName="/ppt/slides/slide15.xml" ContentType="application/vnd.openxmlformats-officedocument.presentationml.slide+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Layouts/slideLayout17.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docProps/core.xml" ContentType="application/vnd.openxmlformats-package.core-properties+xml"/>
  <Override PartName="/ppt/slideLayouts/slideLayout13.xml" ContentType="application/vnd.openxmlformats-officedocument.presentationml.slideLayout+xml"/>
  <Override PartName="/ppt/notesSlides/notesSlide28.xml" ContentType="application/vnd.openxmlformats-officedocument.presentationml.notes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notesSlides/notesSlide26.xml" ContentType="application/vnd.openxmlformats-officedocument.presentationml.notesSlid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s/slide5.xml" ContentType="application/vnd.openxmlformats-officedocument.presentationml.slide+xml"/>
  <Override PartName="/ppt/slideLayouts/slideLayout18.xml" ContentType="application/vnd.openxmlformats-officedocument.presentationml.slideLayout+xml"/>
  <Override PartName="/ppt/slides/slide30.xml" ContentType="application/vnd.openxmlformats-officedocument.presentationml.slide+xml"/>
  <Override PartName="/ppt/slideLayouts/slideLayout19.xml" ContentType="application/vnd.openxmlformats-officedocument.presentationml.slideLayout+xml"/>
  <Override PartName="/ppt/notesSlides/notesSlide3.xml" ContentType="application/vnd.openxmlformats-officedocument.presentationml.notesSlide+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8.xml" ContentType="application/vnd.openxmlformats-officedocument.presentationml.slideLayout+xml"/>
  <Override PartName="/ppt/slideLayouts/slideLayout22.xml" ContentType="application/vnd.openxmlformats-officedocument.presentationml.slideLayout+xml"/>
  <Override PartName="/ppt/slides/slide11.xml" ContentType="application/vnd.openxmlformats-officedocument.presentationml.slide+xml"/>
  <Override PartName="/ppt/slides/slide2.xml" ContentType="application/vnd.openxmlformats-officedocument.presentationml.slide+xml"/>
  <Override PartName="/ppt/slideLayouts/slideLayout23.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24.xml" ContentType="application/vnd.openxmlformats-officedocument.presentationml.slideLayout+xml"/>
  <Override PartName="/ppt/notesSlides/notesSlide6.xml" ContentType="application/vnd.openxmlformats-officedocument.presentationml.notesSlide+xml"/>
  <Override PartName="/ppt/slides/slide4.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3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2D5ABB26-0587-4C30-8999-92F81FD0307C}">
  <a:tblStyle styleId="{2D5ABB26-0587-4C30-8999-92F81FD0307C}" styleName="No Style, No Grid">
    <a:wholeTbl>
      <a:tcTxStyle>
        <a:fontRef idx="minor">
          <a:prstClr val="black"/>
        </a:fontRef>
        <a:schemeClr val="dk1"/>
      </a:tcTxStyle>
      <a:tcStyle>
        <a:tcBdr>
          <a:left>
            <a:ln>
              <a:noFill/>
            </a:ln>
          </a:left>
          <a:right>
            <a:ln>
              <a:noFill/>
            </a:ln>
          </a:right>
          <a:top>
            <a:ln>
              <a:noFill/>
            </a:ln>
          </a:top>
          <a:bottom>
            <a:ln>
              <a:noFill/>
            </a:ln>
          </a:bottom>
          <a:insideH>
            <a:ln>
              <a:noFill/>
            </a:ln>
          </a:insideH>
          <a:insideV>
            <a:ln>
              <a:noFill/>
            </a:ln>
          </a:insideV>
        </a:tcBdr>
        <a:fill>
          <a:solidFill>
            <a:schemeClr val="lt1"/>
          </a:solidFill>
        </a:fill>
      </a:tcStyle>
    </a:wholeTbl>
    <a:band1H>
      <a:tcStyle>
        <a:tcBdr/>
        <a:fill>
          <a:solidFill>
            <a:schemeClr val="lt1"/>
          </a:solidFill>
        </a:fill>
      </a:tcStyle>
    </a:band1H>
    <a:band2H>
      <a:tcStyle>
        <a:tcBdr/>
      </a:tcStyle>
    </a:band2H>
    <a:band1V>
      <a:tcStyle>
        <a:tcBdr/>
        <a:fill>
          <a:solidFill>
            <a:schemeClr val="lt1"/>
          </a:solidFill>
        </a:fill>
      </a:tcStyle>
    </a:band1V>
    <a:band2V>
      <a:tcStyle>
        <a:tcBdr/>
      </a:tcStyle>
    </a:band2V>
    <a:lastCol>
      <a:tcTxStyle b="on">
        <a:fontRef idx="minor">
          <a:prstClr val="black"/>
        </a:fontRef>
        <a:schemeClr val="dk1"/>
      </a:tcTxStyle>
      <a:tcStyle>
        <a:tcBdr/>
        <a:fill>
          <a:solidFill>
            <a:schemeClr val="lt1"/>
          </a:solidFill>
        </a:fill>
      </a:tcStyle>
    </a:lastCol>
    <a:firstCol>
      <a:tcTxStyle b="on">
        <a:fontRef idx="minor">
          <a:prstClr val="black"/>
        </a:fontRef>
        <a:schemeClr val="dk1"/>
      </a:tcTxStyle>
      <a:tcStyle>
        <a:tcBdr/>
        <a:fill>
          <a:solidFill>
            <a:schemeClr val="lt1"/>
          </a:solidFill>
        </a:fill>
      </a:tcStyle>
    </a:firstCol>
    <a:lastRow>
      <a:tcTxStyle b="on">
        <a:fontRef idx="minor">
          <a:prstClr val="black"/>
        </a:fontRef>
        <a:schemeClr val="dk1"/>
      </a:tcTxStyle>
      <a:tcStyle>
        <a:tcBdr>
          <a:top>
            <a:ln>
              <a:noFill/>
            </a:ln>
          </a:top>
        </a:tcBdr>
        <a:fill>
          <a:solidFill>
            <a:schemeClr val="lt1"/>
          </a:solidFill>
        </a:fill>
      </a:tcStyle>
    </a:lastRow>
    <a:seCell>
      <a:tcStyle>
        <a:tcBdr/>
      </a:tcStyle>
    </a:seCell>
    <a:swCell>
      <a:tcStyle>
        <a:tcBdr/>
      </a:tcStyle>
    </a:swCell>
    <a:firstRow>
      <a:tcTxStyle b="on">
        <a:fontRef idx="minor">
          <a:prstClr val="black"/>
        </a:fontRef>
        <a:schemeClr val="dk1"/>
      </a:tcTxStyle>
      <a:tcStyle>
        <a:tcBdr>
          <a:bottom>
            <a:ln>
              <a:noFill/>
            </a:ln>
          </a:bottom>
        </a:tcBdr>
        <a:fill>
          <a:solidFill>
            <a:schemeClr val="lt1"/>
          </a:solidFill>
        </a:fill>
      </a:tcStyle>
    </a:firstRow>
    <a:neCell>
      <a:tcStyle>
        <a:tcBdr/>
      </a:tcStyle>
    </a:neCell>
    <a:nwCell>
      <a:tcStyle>
        <a:tcBdr/>
      </a:tcStyle>
    </a:nwCell>
  </a:tblStyle>
  <a:tblStyle styleId="{3B4B98B0-60AC-42C2-AFA5-B58CD77FA1E5}" styleName="Light Style 1 - Accent 1">
    <a:wholeTbl>
      <a:tcTxStyle>
        <a:fontRef idx="minor">
          <a:prstClr val="black"/>
        </a:fontRef>
        <a:schemeClr val="dk1"/>
      </a:tcTxStyle>
      <a:tcStyle>
        <a:tcBdr>
          <a:left>
            <a:ln>
              <a:noFill/>
            </a:ln>
          </a:left>
          <a:right>
            <a:ln>
              <a:noFill/>
            </a:ln>
          </a:right>
          <a:top>
            <a:ln w="12700">
              <a:solidFill>
                <a:schemeClr val="accent1"/>
              </a:solidFill>
            </a:ln>
          </a:top>
          <a:bottom>
            <a:ln w="12700">
              <a:solidFill>
                <a:schemeClr val="accent1"/>
              </a:solidFill>
            </a:ln>
          </a:bottom>
          <a:insideH>
            <a:ln>
              <a:noFill/>
            </a:ln>
          </a:insideH>
          <a:insideV>
            <a:ln>
              <a:noFill/>
            </a:ln>
          </a:insideV>
        </a:tcBdr>
        <a:fill>
          <a:solidFill>
            <a:schemeClr val="lt1"/>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dk1"/>
      </a:tcTxStyle>
      <a:tcStyle>
        <a:tcBdr/>
      </a:tcStyle>
    </a:lastCol>
    <a:firstCol>
      <a:tcTxStyle b="on">
        <a:fontRef idx="minor">
          <a:prstClr val="black"/>
        </a:fontRef>
        <a:schemeClr val="dk1"/>
      </a:tcTxStyle>
      <a:tcStyle>
        <a:tcBdr/>
      </a:tcStyle>
    </a:firstCol>
    <a:lastRow>
      <a:tcTxStyle b="on">
        <a:fontRef idx="minor">
          <a:prstClr val="black"/>
        </a:fontRef>
        <a:schemeClr val="dk1"/>
      </a:tcTxStyle>
      <a:tcStyle>
        <a:tcBdr>
          <a:top>
            <a:ln w="12700">
              <a:solidFill>
                <a:schemeClr val="accent1"/>
              </a:solidFill>
            </a:ln>
          </a:top>
        </a:tcBdr>
      </a:tcStyle>
    </a:lastRow>
    <a:seCell>
      <a:tcStyle>
        <a:tcBdr/>
      </a:tcStyle>
    </a:seCell>
    <a:swCell>
      <a:tcStyle>
        <a:tcBdr/>
      </a:tcStyle>
    </a:swCell>
    <a:firstRow>
      <a:tcTxStyle b="on">
        <a:fontRef idx="minor">
          <a:prstClr val="black"/>
        </a:fontRef>
        <a:schemeClr val="dk1"/>
      </a:tcTxStyle>
      <a:tcStyle>
        <a:tcBdr>
          <a:bottom>
            <a:ln w="12700">
              <a:solidFill>
                <a:schemeClr val="accent1"/>
              </a:solidFill>
            </a:ln>
          </a:bottom>
        </a:tcBdr>
        <a:fill>
          <a:solidFill>
            <a:schemeClr val="lt1"/>
          </a:solidFill>
        </a:fill>
      </a:tcStyle>
    </a:firstRow>
    <a:neCell>
      <a:tcStyle>
        <a:tcBdr/>
      </a:tcStyle>
    </a:neCell>
    <a:nwCell>
      <a:tcStyle>
        <a:tcBdr/>
      </a:tcStyle>
    </a:nwCell>
  </a:tblStyle>
  <a:tblStyle styleId="{9D7B26C5-4107-4FEC-AEDC-1716B250A1EF}" styleName="Light Style 1">
    <a:wholeTbl>
      <a:tcTxStyle>
        <a:fontRef idx="minor">
          <a:prstClr val="black"/>
        </a:fontRef>
        <a:schemeClr val="dk1"/>
      </a:tcTxStyle>
      <a:tcStyle>
        <a:tcBdr>
          <a:left>
            <a:ln>
              <a:noFill/>
            </a:ln>
          </a:left>
          <a:right>
            <a:ln>
              <a:noFill/>
            </a:ln>
          </a:right>
          <a:top>
            <a:ln w="12700">
              <a:solidFill>
                <a:schemeClr val="dk1"/>
              </a:solidFill>
            </a:ln>
          </a:top>
          <a:bottom>
            <a:ln w="12700">
              <a:solidFill>
                <a:schemeClr val="dk1"/>
              </a:solidFill>
            </a:ln>
          </a:bottom>
          <a:insideH>
            <a:ln>
              <a:noFill/>
            </a:ln>
          </a:insideH>
          <a:insideV>
            <a:ln>
              <a:noFill/>
            </a:ln>
          </a:insideV>
        </a:tcBdr>
        <a:fill>
          <a:solidFill>
            <a:schemeClr val="lt1"/>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dk1"/>
      </a:tcTxStyle>
      <a:tcStyle>
        <a:tcBdr/>
      </a:tcStyle>
    </a:lastCol>
    <a:firstCol>
      <a:tcTxStyle b="on">
        <a:fontRef idx="minor">
          <a:prstClr val="black"/>
        </a:fontRef>
        <a:schemeClr val="dk1"/>
      </a:tcTxStyle>
      <a:tcStyle>
        <a:tcBdr/>
      </a:tcStyle>
    </a:firstCol>
    <a:lastRow>
      <a:tcTxStyle b="on">
        <a:fontRef idx="minor">
          <a:prstClr val="black"/>
        </a:fontRef>
        <a:schemeClr val="dk1"/>
      </a:tcTxStyle>
      <a:tcStyle>
        <a:tcBdr>
          <a:top>
            <a:ln w="12700">
              <a:solidFill>
                <a:schemeClr val="dk1"/>
              </a:solidFill>
            </a:ln>
          </a:top>
        </a:tcBdr>
      </a:tcStyle>
    </a:lastRow>
    <a:seCell>
      <a:tcStyle>
        <a:tcBdr/>
      </a:tcStyle>
    </a:seCell>
    <a:swCell>
      <a:tcStyle>
        <a:tcBdr/>
      </a:tcStyle>
    </a:swCell>
    <a:firstRow>
      <a:tcTxStyle b="on">
        <a:fontRef idx="minor">
          <a:prstClr val="black"/>
        </a:fontRef>
        <a:schemeClr val="dk1"/>
      </a:tcTxStyle>
      <a:tcStyle>
        <a:tcBdr>
          <a:bottom>
            <a:ln w="12700">
              <a:solidFill>
                <a:schemeClr val="dk1"/>
              </a:solidFill>
            </a:ln>
          </a:bottom>
        </a:tcBdr>
        <a:fill>
          <a:solidFill>
            <a:schemeClr val="lt1"/>
          </a:solidFill>
        </a:fill>
      </a:tcStyle>
    </a:firstRow>
    <a:neCell>
      <a:tcStyle>
        <a:tcBdr/>
      </a:tcStyle>
    </a:neCell>
    <a:nwCell>
      <a:tcStyle>
        <a:tcBdr/>
      </a:tcStyle>
    </a:nwCell>
  </a:tblStyle>
  <a:tblStyle styleId="{BC89EF96-8CEA-46FF-86C4-4CE0E7609802}" styleName="Light Style 3 - Accent 1">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band2V>
      <a:tcStyle>
        <a:tcBdr/>
        <a:fill>
          <a:solidFill>
            <a:schemeClr val="accent1">
              <a:alpha val="20000"/>
            </a:schemeClr>
          </a:solidFill>
        </a:fill>
      </a:tcStyle>
    </a:band2V>
    <a:lastCol>
      <a:tcStyle>
        <a:tcBdr/>
      </a:tcStyle>
    </a:lastCol>
    <a:firstCol>
      <a:tcStyle>
        <a:tcBdr/>
      </a:tcStyle>
    </a:firstCol>
    <a:lastRow>
      <a:tcStyle>
        <a:tcBdr>
          <a:top>
            <a:ln w="50800">
              <a:solidFill>
                <a:schemeClr val="accent1"/>
              </a:solidFill>
            </a:ln>
          </a:top>
        </a:tcBdr>
        <a:fill>
          <a:noFill/>
        </a:fill>
      </a:tcStyle>
    </a:lastRow>
    <a:seCell>
      <a:tcStyle>
        <a:tcBdr/>
      </a:tcStyle>
    </a:seCell>
    <a:swCell>
      <a:tcStyle>
        <a:tcBdr/>
      </a:tcStyle>
    </a:swCell>
    <a:firstRow>
      <a:tcStyle>
        <a:tcBdr>
          <a:bottom>
            <a:ln w="25400">
              <a:solidFill>
                <a:schemeClr val="accent1"/>
              </a:solidFill>
            </a:ln>
          </a:bottom>
        </a:tcBdr>
        <a:fill>
          <a:no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8" d="100"/>
          <a:sy n="78" d="100"/>
        </p:scale>
        <p:origin x="1003" y="91"/>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notesMaster" Target="notesMasters/notesMaster1.xml"/><Relationship Id="rId35" Type="http://schemas.openxmlformats.org/officeDocument/2006/relationships/presProps" Target="presProps.xml" /><Relationship Id="rId36" Type="http://schemas.openxmlformats.org/officeDocument/2006/relationships/tableStyles" Target="tableStyles.xml" /><Relationship Id="rId3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0749315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10873707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D648E3F3-8B31-41D2-AA9B-9796555DB866}" type="datetimeFigureOut">
              <a:rPr lang="en-US"/>
              <a:t>7/2/2026</a:t>
            </a:fld>
            <a:endParaRPr lang="en-US"/>
          </a:p>
        </p:txBody>
      </p:sp>
      <p:sp>
        <p:nvSpPr>
          <p:cNvPr id="96293985"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3768179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1922252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6303382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BC79BDEF-6165-4E72-B1A6-6E8034CEC248}"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D0FF91-6428-E5D1-CFF3-85C1997EF5AF}"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869DEC4-4D2D-828B-F2B8-DE307E664F6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4DE967-0C7E-79B2-24C9-E59A14BC78F3}"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4D2C808-3AF0-42F0-5ED5-72C16B8E439A}"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D3D74FC-22D5-3F28-1FC2-95F297D84F95}"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E1563E-1D28-6D2A-8985-3FD6AE107A87}"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C9CA586-1339-D4F7-7073-76CF58A2E79E}"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DC51E4-8FD2-A6DC-1414-9FFE06A38374}"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1B1AF3-ADAC-BDA3-7539-8AFB16CBE8D1}"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AFB1B3C-0CD4-397E-9524-0D82527DD181}"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00BDA68-96D1-E277-6E9B-D1FD2EA4EC39}"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339E3E4-73C0-A04E-24DE-6E2AC4F76C1C}"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9033212-AF22-DCA1-7235-22327FAFD7A2}"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C8D38D9-DD90-5E98-52BF-F2F67F7D8ADA}"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185A384-AB1C-F545-960A-B16929980B84}"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792064" name="Slide Image Placeholder 1"/>
          <p:cNvSpPr>
            <a:spLocks noChangeAspect="1" noGrp="1" noRot="1"/>
          </p:cNvSpPr>
          <p:nvPr>
            <p:ph type="sldImg"/>
          </p:nvPr>
        </p:nvSpPr>
        <p:spPr bwMode="auto"/>
      </p:sp>
      <p:sp>
        <p:nvSpPr>
          <p:cNvPr id="597360544" name="Notes Placeholder 2"/>
          <p:cNvSpPr>
            <a:spLocks noGrp="1"/>
          </p:cNvSpPr>
          <p:nvPr>
            <p:ph type="body" idx="1"/>
          </p:nvPr>
        </p:nvSpPr>
        <p:spPr bwMode="auto"/>
        <p:txBody>
          <a:bodyPr/>
          <a:lstStyle/>
          <a:p>
            <a:pPr>
              <a:defRPr/>
            </a:pPr>
            <a:endParaRPr lang="en-US"/>
          </a:p>
        </p:txBody>
      </p:sp>
      <p:sp>
        <p:nvSpPr>
          <p:cNvPr id="544317559" name="Slide Number Placeholder 3"/>
          <p:cNvSpPr>
            <a:spLocks noGrp="1"/>
          </p:cNvSpPr>
          <p:nvPr>
            <p:ph type="sldNum" sz="quarter" idx="10"/>
          </p:nvPr>
        </p:nvSpPr>
        <p:spPr bwMode="auto"/>
        <p:txBody>
          <a:bodyPr/>
          <a:lstStyle/>
          <a:p>
            <a:pPr>
              <a:defRPr/>
            </a:pPr>
            <a:fld id="{3F7A3D7D-4DD0-4519-9573-665089B66871}"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E9E3821-33F9-AF7B-FFAE-A7FFF95F6C07}"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05EB188-BC76-A641-BB46-65B922A08BCB}"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695013F-9DA5-7110-3F49-A79E78A491D1}"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A58527-5241-717E-0B08-3EFBDEFC033F}"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2E1339-1145-D0A4-2E4D-3B6E0CC0CAB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37EE2BC-186B-20F2-13D1-416E7FFA00F0}"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4258179-5BF9-F5C3-17DF-F13D20F2F3D1}"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FC243D-AD2D-0ECC-DCD2-660FAAF23ADA}"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90A7D9-514C-F97C-B797-E4F7EAF933C3}"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EB20E54-C2E6-FC77-C15C-5A294DECB7AB}"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F5A0A5D-2439-E698-F7F3-5A9304E559DF}"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C60CF0B-7152-AA77-E68C-99ACF01B9BDC}"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B2892A6-9421-8C30-CBA3-C3C50DBC36C0}"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C375C13-B783-F680-1862-207A60E7CF01}"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jpg"/><Relationship Id="rId10" Type="http://schemas.openxmlformats.org/officeDocument/2006/relationships/image" Target="../media/image9.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jp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1.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14.jpg"/><Relationship Id="rId10" Type="http://schemas.openxmlformats.org/officeDocument/2006/relationships/image" Target="../media/image8.jpg"/></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8.jpg"/></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Default Color">
    <p:spTree>
      <p:nvGrpSpPr>
        <p:cNvPr id="1" name=""/>
        <p:cNvGrpSpPr/>
        <p:nvPr/>
      </p:nvGrpSpPr>
      <p:grpSpPr bwMode="auto">
        <a:xfrm>
          <a:off x="0" y="0"/>
          <a:ext cx="0" cy="0"/>
          <a:chOff x="0" y="0"/>
          <a:chExt cx="0" cy="0"/>
        </a:xfrm>
      </p:grpSpPr>
      <p:pic>
        <p:nvPicPr>
          <p:cNvPr id="1045064920"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383383246" name="TextBox 2"/>
          <p:cNvSpPr txBox="1"/>
          <p:nvPr userDrawn="1"/>
        </p:nvSpPr>
        <p:spPr bwMode="auto">
          <a:xfrm>
            <a:off x="1837677" y="5802204"/>
            <a:ext cx="2287806" cy="338554"/>
          </a:xfrm>
          <a:prstGeom prst="rect">
            <a:avLst/>
          </a:prstGeom>
          <a:noFill/>
        </p:spPr>
        <p:txBody>
          <a:bodyPr wrap="none" rtlCol="0">
            <a:spAutoFit/>
          </a:bodyPr>
          <a:lstStyle/>
          <a:p>
            <a:pPr>
              <a:defRPr/>
            </a:pPr>
            <a:r>
              <a:rPr lang="en-US" sz="1600"/>
              <a:t>Darshan</a:t>
            </a:r>
            <a:r>
              <a:rPr lang="en-US" sz="1600"/>
              <a:t> University, Rajkot</a:t>
            </a:r>
            <a:endParaRPr/>
          </a:p>
        </p:txBody>
      </p:sp>
      <p:sp>
        <p:nvSpPr>
          <p:cNvPr id="1964025862"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sp>
        <p:nvSpPr>
          <p:cNvPr id="66377986"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pic>
        <p:nvPicPr>
          <p:cNvPr id="797305538"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cxnSp>
        <p:nvCxnSpPr>
          <p:cNvPr id="2112285211"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12382447"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34478732" name="Picture 25"/>
          <p:cNvPicPr>
            <a:picLocks noChangeAspect="1"/>
          </p:cNvPicPr>
          <p:nvPr userDrawn="1"/>
        </p:nvPicPr>
        <p:blipFill rotWithShape="1">
          <a:blip r:embed="rId4"/>
          <a:stretch/>
        </p:blipFill>
        <p:spPr bwMode="auto">
          <a:xfrm>
            <a:off x="1998063" y="6232297"/>
            <a:ext cx="182880" cy="182880"/>
          </a:xfrm>
          <a:prstGeom prst="rect">
            <a:avLst/>
          </a:prstGeom>
        </p:spPr>
      </p:pic>
      <p:pic>
        <p:nvPicPr>
          <p:cNvPr id="169873492" name="Picture 26"/>
          <p:cNvPicPr>
            <a:picLocks noChangeAspect="1"/>
          </p:cNvPicPr>
          <p:nvPr userDrawn="1"/>
        </p:nvPicPr>
        <p:blipFill rotWithShape="1">
          <a:blip r:embed="rId5"/>
          <a:stretch/>
        </p:blipFill>
        <p:spPr bwMode="auto">
          <a:xfrm>
            <a:off x="1998063" y="6505320"/>
            <a:ext cx="182880" cy="182880"/>
          </a:xfrm>
          <a:prstGeom prst="rect">
            <a:avLst/>
          </a:prstGeom>
        </p:spPr>
      </p:pic>
      <p:sp>
        <p:nvSpPr>
          <p:cNvPr id="1901867338"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733027251"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2125197147"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26726419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0">
                      <a:srgbClr val="1D3064"/>
                    </a:gs>
                    <a:gs pos="100000">
                      <a:schemeClr val="tx2"/>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711972213" name="Picture 53"/>
          <p:cNvPicPr>
            <a:picLocks noChangeAspect="1"/>
          </p:cNvPicPr>
          <p:nvPr userDrawn="1"/>
        </p:nvPicPr>
        <p:blipFill rotWithShape="1">
          <a:blip r:embed="rId6"/>
          <a:stretch/>
        </p:blipFill>
        <p:spPr bwMode="auto">
          <a:xfrm>
            <a:off x="8730762" y="307556"/>
            <a:ext cx="2704049" cy="821995"/>
          </a:xfrm>
          <a:prstGeom prst="rect">
            <a:avLst/>
          </a:prstGeom>
        </p:spPr>
      </p:pic>
      <p:pic>
        <p:nvPicPr>
          <p:cNvPr id="1765366378" name="Picture 54"/>
          <p:cNvPicPr>
            <a:picLocks noChangeAspect="1"/>
          </p:cNvPicPr>
          <p:nvPr userDrawn="1"/>
        </p:nvPicPr>
        <p:blipFill rotWithShape="1">
          <a:blip r:embed="rId7"/>
          <a:srcRect l="62023" t="18062" r="2730" b="17724"/>
          <a:stretch/>
        </p:blipFill>
        <p:spPr bwMode="auto">
          <a:xfrm>
            <a:off x="63248" y="837717"/>
            <a:ext cx="1087893" cy="772151"/>
          </a:xfrm>
          <a:prstGeom prst="rect">
            <a:avLst/>
          </a:prstGeom>
        </p:spPr>
      </p:pic>
      <p:sp>
        <p:nvSpPr>
          <p:cNvPr id="1715724519"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77038903" name="Picture 19"/>
          <p:cNvPicPr>
            <a:picLocks noChangeAspect="1"/>
          </p:cNvPicPr>
          <p:nvPr userDrawn="1"/>
        </p:nvPicPr>
        <p:blipFill rotWithShape="1">
          <a:blip r:embed="rId8"/>
          <a:srcRect l="144383" t="-16142" r="-144383" b="22103"/>
          <a:stretch/>
        </p:blipFill>
        <p:spPr bwMode="auto">
          <a:xfrm>
            <a:off x="1834747" y="3985791"/>
            <a:ext cx="3075940" cy="2892592"/>
          </a:xfrm>
          <a:prstGeom prst="rect">
            <a:avLst/>
          </a:prstGeom>
        </p:spPr>
      </p:pic>
      <p:pic>
        <p:nvPicPr>
          <p:cNvPr id="1629754060" name="Picture 35"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756153839" name="Picture Placeholder 36"/>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pic>
        <p:nvPicPr>
          <p:cNvPr id="2064799592" name="Picture 30"/>
          <p:cNvPicPr>
            <a:picLocks noChangeAspect="1"/>
          </p:cNvPicPr>
          <p:nvPr userDrawn="1"/>
        </p:nvPicPr>
        <p:blipFill rotWithShape="1">
          <a:blip r:embed="rId10">
            <a:duotone>
              <a:prstClr val="black"/>
              <a:schemeClr val="tx2">
                <a:tint val="45000"/>
                <a:satMod val="400000"/>
              </a:schemeClr>
            </a:duotone>
          </a:blip>
          <a:stretch/>
        </p:blipFill>
        <p:spPr bwMode="auto">
          <a:xfrm>
            <a:off x="7594790" y="2237912"/>
            <a:ext cx="4392794" cy="143775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Thank You Slide - Default Color">
    <p:spTree>
      <p:nvGrpSpPr>
        <p:cNvPr id="1" name=""/>
        <p:cNvGrpSpPr/>
        <p:nvPr/>
      </p:nvGrpSpPr>
      <p:grpSpPr bwMode="auto">
        <a:xfrm>
          <a:off x="0" y="0"/>
          <a:ext cx="0" cy="0"/>
          <a:chOff x="0" y="0"/>
          <a:chExt cx="0" cy="0"/>
        </a:xfrm>
      </p:grpSpPr>
      <p:pic>
        <p:nvPicPr>
          <p:cNvPr id="1859457238"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156249130" name="TextBox 2"/>
          <p:cNvSpPr txBox="1"/>
          <p:nvPr userDrawn="1"/>
        </p:nvSpPr>
        <p:spPr bwMode="auto">
          <a:xfrm>
            <a:off x="1837677" y="5802204"/>
            <a:ext cx="2287806" cy="338554"/>
          </a:xfrm>
          <a:prstGeom prst="rect">
            <a:avLst/>
          </a:prstGeom>
          <a:noFill/>
        </p:spPr>
        <p:txBody>
          <a:bodyPr wrap="none" rtlCol="0">
            <a:spAutoFit/>
          </a:bodyPr>
          <a:lstStyle/>
          <a:p>
            <a:pPr>
              <a:defRPr/>
            </a:pPr>
            <a:r>
              <a:rPr lang="en-US" sz="1600"/>
              <a:t>Darshan</a:t>
            </a:r>
            <a:r>
              <a:rPr lang="en-US" sz="1600"/>
              <a:t> University, Rajkot</a:t>
            </a:r>
            <a:endParaRPr/>
          </a:p>
        </p:txBody>
      </p:sp>
      <p:sp>
        <p:nvSpPr>
          <p:cNvPr id="1368001042"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sp>
        <p:nvSpPr>
          <p:cNvPr id="876757293"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pic>
        <p:nvPicPr>
          <p:cNvPr id="593400511"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cxnSp>
        <p:nvCxnSpPr>
          <p:cNvPr id="593402261"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708934738" name="Picture 25"/>
          <p:cNvPicPr>
            <a:picLocks noChangeAspect="1"/>
          </p:cNvPicPr>
          <p:nvPr userDrawn="1"/>
        </p:nvPicPr>
        <p:blipFill rotWithShape="1">
          <a:blip r:embed="rId4"/>
          <a:stretch/>
        </p:blipFill>
        <p:spPr bwMode="auto">
          <a:xfrm>
            <a:off x="1998063" y="6232297"/>
            <a:ext cx="182880" cy="182880"/>
          </a:xfrm>
          <a:prstGeom prst="rect">
            <a:avLst/>
          </a:prstGeom>
        </p:spPr>
      </p:pic>
      <p:pic>
        <p:nvPicPr>
          <p:cNvPr id="177894424" name="Picture 26"/>
          <p:cNvPicPr>
            <a:picLocks noChangeAspect="1"/>
          </p:cNvPicPr>
          <p:nvPr userDrawn="1"/>
        </p:nvPicPr>
        <p:blipFill rotWithShape="1">
          <a:blip r:embed="rId5"/>
          <a:stretch/>
        </p:blipFill>
        <p:spPr bwMode="auto">
          <a:xfrm>
            <a:off x="1998063" y="6505320"/>
            <a:ext cx="182880" cy="182880"/>
          </a:xfrm>
          <a:prstGeom prst="rect">
            <a:avLst/>
          </a:prstGeom>
        </p:spPr>
      </p:pic>
      <p:sp>
        <p:nvSpPr>
          <p:cNvPr id="266267347"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231097251"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352181354"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9685951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0">
                      <a:srgbClr val="1D3064"/>
                    </a:gs>
                    <a:gs pos="100000">
                      <a:schemeClr val="tx2"/>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442246468" name="Picture 53"/>
          <p:cNvPicPr>
            <a:picLocks noChangeAspect="1"/>
          </p:cNvPicPr>
          <p:nvPr userDrawn="1"/>
        </p:nvPicPr>
        <p:blipFill rotWithShape="1">
          <a:blip r:embed="rId6"/>
          <a:stretch/>
        </p:blipFill>
        <p:spPr bwMode="auto">
          <a:xfrm>
            <a:off x="8730762" y="307556"/>
            <a:ext cx="2704049" cy="821995"/>
          </a:xfrm>
          <a:prstGeom prst="rect">
            <a:avLst/>
          </a:prstGeom>
        </p:spPr>
      </p:pic>
      <p:pic>
        <p:nvPicPr>
          <p:cNvPr id="846018446" name="Picture 54"/>
          <p:cNvPicPr>
            <a:picLocks noChangeAspect="1"/>
          </p:cNvPicPr>
          <p:nvPr userDrawn="1"/>
        </p:nvPicPr>
        <p:blipFill rotWithShape="1">
          <a:blip r:embed="rId7"/>
          <a:srcRect l="62023" t="18062" r="2730" b="17724"/>
          <a:stretch/>
        </p:blipFill>
        <p:spPr bwMode="auto">
          <a:xfrm>
            <a:off x="63248" y="837717"/>
            <a:ext cx="1087893" cy="772151"/>
          </a:xfrm>
          <a:prstGeom prst="rect">
            <a:avLst/>
          </a:prstGeom>
        </p:spPr>
      </p:pic>
      <p:sp>
        <p:nvSpPr>
          <p:cNvPr id="1764875568"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627345636" name="Picture 19"/>
          <p:cNvPicPr>
            <a:picLocks noChangeAspect="1"/>
          </p:cNvPicPr>
          <p:nvPr userDrawn="1"/>
        </p:nvPicPr>
        <p:blipFill rotWithShape="1">
          <a:blip r:embed="rId8"/>
          <a:srcRect l="144383" t="-16142" r="-144383" b="22103"/>
          <a:stretch/>
        </p:blipFill>
        <p:spPr bwMode="auto">
          <a:xfrm>
            <a:off x="1834747" y="3985791"/>
            <a:ext cx="3075940" cy="2892592"/>
          </a:xfrm>
          <a:prstGeom prst="rect">
            <a:avLst/>
          </a:prstGeom>
        </p:spPr>
      </p:pic>
      <p:pic>
        <p:nvPicPr>
          <p:cNvPr id="977023319" name="Picture 35"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612583014" name="Picture Placeholder 36"/>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
        <p:nvSpPr>
          <p:cNvPr id="1482915152" name="Hexagon 29"/>
          <p:cNvSpPr/>
          <p:nvPr userDrawn="1"/>
        </p:nvSpPr>
        <p:spPr bwMode="auto">
          <a:xfrm rot="5400000">
            <a:off x="4309292" y="1717040"/>
            <a:ext cx="3461658" cy="2984188"/>
          </a:xfrm>
          <a:prstGeom prst="hexagon">
            <a:avLst>
              <a:gd name="adj" fmla="val 25000"/>
              <a:gd name="vf" fmla="val 115470"/>
            </a:avLst>
          </a:prstGeom>
          <a:solidFill>
            <a:schemeClr val="bg1">
              <a:lumMod val="95000"/>
            </a:schemeClr>
          </a:solidFill>
          <a:ln w="57150">
            <a:solidFill>
              <a:srgbClr val="1D3064"/>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en-US"/>
          </a:p>
        </p:txBody>
      </p:sp>
      <p:sp>
        <p:nvSpPr>
          <p:cNvPr id="2040908360" name="TextBox 30"/>
          <p:cNvSpPr txBox="1"/>
          <p:nvPr userDrawn="1"/>
        </p:nvSpPr>
        <p:spPr bwMode="auto">
          <a:xfrm>
            <a:off x="5014038" y="2239638"/>
            <a:ext cx="2052165" cy="1938992"/>
          </a:xfrm>
          <a:prstGeom prst="rect">
            <a:avLst/>
          </a:prstGeom>
          <a:noFill/>
        </p:spPr>
        <p:txBody>
          <a:bodyPr wrap="none" rtlCol="0">
            <a:spAutoFit/>
          </a:bodyPr>
          <a:lstStyle/>
          <a:p>
            <a:pPr algn="ctr">
              <a:defRPr/>
            </a:pPr>
            <a:r>
              <a:rPr lang="en-US" sz="6000" b="1" i="1"/>
              <a:t>Thank</a:t>
            </a:r>
            <a:endParaRPr/>
          </a:p>
          <a:p>
            <a:pPr algn="ctr">
              <a:defRPr/>
            </a:pPr>
            <a:r>
              <a:rPr lang="en-US" sz="6000" b="1" i="1"/>
              <a:t>You</a:t>
            </a:r>
            <a:endParaRPr/>
          </a:p>
        </p:txBody>
      </p:sp>
      <p:sp>
        <p:nvSpPr>
          <p:cNvPr id="1692366220" name="Rectangle 33"/>
          <p:cNvSpPr/>
          <p:nvPr userDrawn="1"/>
        </p:nvSpPr>
        <p:spPr bwMode="auto">
          <a:xfrm>
            <a:off x="7678346" y="2221532"/>
            <a:ext cx="4513654"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defRPr/>
            </a:pPr>
            <a:endParaRPr lang="en-US"/>
          </a:p>
        </p:txBody>
      </p:sp>
      <p:sp>
        <p:nvSpPr>
          <p:cNvPr id="395195646" name="Rectangle 34"/>
          <p:cNvSpPr/>
          <p:nvPr userDrawn="1"/>
        </p:nvSpPr>
        <p:spPr bwMode="auto">
          <a:xfrm>
            <a:off x="0" y="2221532"/>
            <a:ext cx="4402106"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ontent - Logo on TR">
    <p:spTree>
      <p:nvGrpSpPr>
        <p:cNvPr id="1" name=""/>
        <p:cNvGrpSpPr/>
        <p:nvPr/>
      </p:nvGrpSpPr>
      <p:grpSpPr bwMode="auto">
        <a:xfrm>
          <a:off x="0" y="0"/>
          <a:ext cx="0" cy="0"/>
          <a:chOff x="0" y="0"/>
          <a:chExt cx="0" cy="0"/>
        </a:xfrm>
      </p:grpSpPr>
      <p:pic>
        <p:nvPicPr>
          <p:cNvPr id="1815640781" name="Shape 56"/>
          <p:cNvPicPr/>
          <p:nvPr userDrawn="1"/>
        </p:nvPicPr>
        <p:blipFill rotWithShape="1">
          <a:blip r:embed="rId2">
            <a:alphaModFix/>
          </a:blip>
          <a:srcRect l="0" t="86739" r="1768" b="3534"/>
          <a:stretch/>
        </p:blipFill>
        <p:spPr bwMode="auto">
          <a:xfrm>
            <a:off x="0" y="0"/>
            <a:ext cx="12192000" cy="711201"/>
          </a:xfrm>
          <a:prstGeom prst="rect">
            <a:avLst/>
          </a:prstGeom>
          <a:noFill/>
          <a:ln>
            <a:noFill/>
          </a:ln>
          <a:effectLst/>
        </p:spPr>
      </p:pic>
      <p:sp>
        <p:nvSpPr>
          <p:cNvPr id="596927547" name="Title 1"/>
          <p:cNvSpPr>
            <a:spLocks noGrp="1"/>
          </p:cNvSpPr>
          <p:nvPr>
            <p:ph type="title"/>
          </p:nvPr>
        </p:nvSpPr>
        <p:spPr bwMode="auto">
          <a:xfrm>
            <a:off x="0" y="1"/>
            <a:ext cx="12192000" cy="711200"/>
          </a:xfrm>
          <a:prstGeom prst="rect">
            <a:avLst/>
          </a:prstGeom>
          <a:solidFill>
            <a:srgbClr val="C0C0C0">
              <a:alpha val="50000"/>
            </a:srgbClr>
          </a:solidFill>
          <a:ln>
            <a:noFill/>
          </a:ln>
        </p:spPr>
        <p:txBody>
          <a:bodyPr lIns="216000" tIns="108000" rIns="216000" bIns="108000">
            <a:normAutofit/>
          </a:bodyPr>
          <a:lstStyle>
            <a:lvl1pPr>
              <a:defRPr lang="en-US" sz="3400" b="1">
                <a:solidFill>
                  <a:schemeClr val="tx1">
                    <a:lumMod val="90000"/>
                    <a:lumOff val="10000"/>
                  </a:schemeClr>
                </a:solidFill>
                <a:latin typeface="+mj-lt"/>
                <a:ea typeface="+mj-ea"/>
                <a:cs typeface="+mj-cs"/>
              </a:defRPr>
            </a:lvl1pPr>
          </a:lstStyle>
          <a:p>
            <a:pPr>
              <a:defRPr/>
            </a:pPr>
            <a:r>
              <a:rPr lang="en-US"/>
              <a:t>Click to edit Master title style</a:t>
            </a:r>
            <a:endParaRPr/>
          </a:p>
        </p:txBody>
      </p:sp>
      <p:grpSp>
        <p:nvGrpSpPr>
          <p:cNvPr id="2023607245" name="Group 27"/>
          <p:cNvGrpSpPr/>
          <p:nvPr userDrawn="1"/>
        </p:nvGrpSpPr>
        <p:grpSpPr bwMode="auto">
          <a:xfrm>
            <a:off x="9691196" y="861192"/>
            <a:ext cx="2554142" cy="587454"/>
            <a:chOff x="9424496" y="861192"/>
            <a:chExt cx="2554142" cy="587454"/>
          </a:xfrm>
        </p:grpSpPr>
        <p:pic>
          <p:nvPicPr>
            <p:cNvPr id="29" name="Picture 28"/>
            <p:cNvPicPr>
              <a:picLocks noChangeAspect="1"/>
            </p:cNvPicPr>
            <p:nvPr userDrawn="1"/>
          </p:nvPicPr>
          <p:blipFill rotWithShape="1">
            <a:blip r:embed="rId3"/>
            <a:stretch/>
          </p:blipFill>
          <p:spPr bwMode="auto">
            <a:xfrm>
              <a:off x="9875018" y="861192"/>
              <a:ext cx="1932495" cy="587453"/>
            </a:xfrm>
            <a:prstGeom prst="rect">
              <a:avLst/>
            </a:prstGeom>
          </p:spPr>
        </p:pic>
        <p:sp>
          <p:nvSpPr>
            <p:cNvPr id="30" name="Rectangle 29"/>
            <p:cNvSpPr/>
            <p:nvPr userDrawn="1"/>
          </p:nvSpPr>
          <p:spPr bwMode="auto">
            <a:xfrm>
              <a:off x="9424496" y="8611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913723724" name="Content Placeholder 2"/>
          <p:cNvSpPr>
            <a:spLocks noGrp="1"/>
          </p:cNvSpPr>
          <p:nvPr>
            <p:ph idx="1"/>
          </p:nvPr>
        </p:nvSpPr>
        <p:spPr bwMode="auto">
          <a:xfrm>
            <a:off x="131180" y="876144"/>
            <a:ext cx="11929641" cy="5590565"/>
          </a:xfrm>
        </p:spPr>
        <p:txBody>
          <a:bodyPr>
            <a:noAutofit/>
          </a:bodyPr>
          <a:lstStyle>
            <a:lvl1pPr marL="265113" indent="-265113" algn="just">
              <a:buClr>
                <a:schemeClr val="accent6"/>
              </a:buClr>
              <a:buFont typeface="Wingdings 3"/>
              <a:buChar char=""/>
              <a:defRPr sz="2400">
                <a:solidFill>
                  <a:schemeClr val="tx1"/>
                </a:solidFill>
              </a:defRPr>
            </a:lvl1pPr>
            <a:lvl2pPr marL="809625" indent="-352425" algn="just">
              <a:buClr>
                <a:schemeClr val="accent6"/>
              </a:buClr>
              <a:buFont typeface="Wingdings 3"/>
              <a:buChar char=""/>
              <a:defRPr sz="2000">
                <a:solidFill>
                  <a:schemeClr val="tx1"/>
                </a:solidFill>
              </a:defRPr>
            </a:lvl2pPr>
            <a:lvl3pPr marL="1143000" indent="-228600" algn="just">
              <a:buClr>
                <a:schemeClr val="accent6"/>
              </a:buClr>
              <a:buFont typeface="Wingdings"/>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80701960"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39413838"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
        <p:nvSpPr>
          <p:cNvPr id="1593959214" name="Footer Placeholder 2"/>
          <p:cNvSpPr txBox="1"/>
          <p:nvPr userDrawn="1"/>
        </p:nvSpPr>
        <p:spPr bwMode="auto">
          <a:xfrm>
            <a:off x="4038600" y="6604000"/>
            <a:ext cx="4356100"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Unit 2 (Part 1) – Queue - Linear Data Structure</a:t>
            </a:r>
            <a:endParaRPr/>
          </a:p>
        </p:txBody>
      </p:sp>
      <p:sp>
        <p:nvSpPr>
          <p:cNvPr id="1975675547"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1415587294" name="Straight Connector 19"/>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ontent - Logo on BR">
    <p:spTree>
      <p:nvGrpSpPr>
        <p:cNvPr id="1" name=""/>
        <p:cNvGrpSpPr/>
        <p:nvPr/>
      </p:nvGrpSpPr>
      <p:grpSpPr bwMode="auto">
        <a:xfrm>
          <a:off x="0" y="0"/>
          <a:ext cx="0" cy="0"/>
          <a:chOff x="0" y="0"/>
          <a:chExt cx="0" cy="0"/>
        </a:xfrm>
      </p:grpSpPr>
      <p:sp>
        <p:nvSpPr>
          <p:cNvPr id="1721914745"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48331999" name="Footer Placeholder 2"/>
          <p:cNvSpPr txBox="1"/>
          <p:nvPr userDrawn="1"/>
        </p:nvSpPr>
        <p:spPr bwMode="auto">
          <a:xfrm>
            <a:off x="4038600" y="6604000"/>
            <a:ext cx="4356100"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Unit 2 (Part 1) – Queue - Linear Data Structure</a:t>
            </a:r>
            <a:endParaRPr/>
          </a:p>
        </p:txBody>
      </p:sp>
      <p:sp>
        <p:nvSpPr>
          <p:cNvPr id="1655805795"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41867892" name="Shape 56"/>
          <p:cNvPicPr/>
          <p:nvPr userDrawn="1"/>
        </p:nvPicPr>
        <p:blipFill rotWithShape="1">
          <a:blip r:embed="rId2">
            <a:alphaModFix/>
          </a:blip>
          <a:srcRect l="0" t="86739" r="1768" b="3534"/>
          <a:stretch/>
        </p:blipFill>
        <p:spPr bwMode="auto">
          <a:xfrm>
            <a:off x="0" y="0"/>
            <a:ext cx="12192000" cy="711201"/>
          </a:xfrm>
          <a:prstGeom prst="rect">
            <a:avLst/>
          </a:prstGeom>
          <a:noFill/>
          <a:ln>
            <a:noFill/>
          </a:ln>
          <a:effectLst/>
        </p:spPr>
      </p:pic>
      <p:sp>
        <p:nvSpPr>
          <p:cNvPr id="2084278156" name="Title 1"/>
          <p:cNvSpPr>
            <a:spLocks noGrp="1"/>
          </p:cNvSpPr>
          <p:nvPr>
            <p:ph type="title"/>
          </p:nvPr>
        </p:nvSpPr>
        <p:spPr bwMode="auto">
          <a:xfrm>
            <a:off x="0" y="1"/>
            <a:ext cx="12192000" cy="711200"/>
          </a:xfrm>
          <a:prstGeom prst="rect">
            <a:avLst/>
          </a:prstGeom>
          <a:solidFill>
            <a:srgbClr val="C0C0C0">
              <a:alpha val="50000"/>
            </a:srgbClr>
          </a:solidFill>
          <a:ln>
            <a:noFill/>
          </a:ln>
        </p:spPr>
        <p:txBody>
          <a:bodyPr lIns="216000" tIns="108000" rIns="216000" bIns="108000">
            <a:normAutofit/>
          </a:bodyPr>
          <a:lstStyle>
            <a:lvl1pPr>
              <a:defRPr lang="en-US" sz="3400" b="1">
                <a:solidFill>
                  <a:schemeClr val="tx1">
                    <a:lumMod val="90000"/>
                    <a:lumOff val="10000"/>
                  </a:schemeClr>
                </a:solidFill>
                <a:latin typeface="+mj-lt"/>
                <a:ea typeface="+mj-ea"/>
                <a:cs typeface="+mj-cs"/>
              </a:defRPr>
            </a:lvl1pPr>
          </a:lstStyle>
          <a:p>
            <a:pPr>
              <a:defRPr/>
            </a:pPr>
            <a:r>
              <a:rPr lang="en-US"/>
              <a:t>Click to edit Master title style</a:t>
            </a:r>
            <a:endParaRPr/>
          </a:p>
        </p:txBody>
      </p:sp>
      <p:cxnSp>
        <p:nvCxnSpPr>
          <p:cNvPr id="33908698" name="Straight Connector 23"/>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684548861" name="Straight Connector 13"/>
          <p:cNvCxnSpPr/>
          <p:nvPr userDrawn="1"/>
        </p:nvCxnSpPr>
        <p:spPr bwMode="auto">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114659837" name="Group 14"/>
          <p:cNvGrpSpPr/>
          <p:nvPr userDrawn="1"/>
        </p:nvGrpSpPr>
        <p:grpSpPr bwMode="auto">
          <a:xfrm>
            <a:off x="9792796" y="5890392"/>
            <a:ext cx="2554142" cy="587454"/>
            <a:chOff x="9475296" y="5890392"/>
            <a:chExt cx="2554142" cy="587454"/>
          </a:xfrm>
        </p:grpSpPr>
        <p:pic>
          <p:nvPicPr>
            <p:cNvPr id="21" name="Picture 20"/>
            <p:cNvPicPr>
              <a:picLocks noChangeAspect="1"/>
            </p:cNvPicPr>
            <p:nvPr userDrawn="1"/>
          </p:nvPicPr>
          <p:blipFill rotWithShape="1">
            <a:blip r:embed="rId3"/>
            <a:stretch/>
          </p:blipFill>
          <p:spPr bwMode="auto">
            <a:xfrm>
              <a:off x="9824218" y="5890392"/>
              <a:ext cx="1932495" cy="587453"/>
            </a:xfrm>
            <a:prstGeom prst="rect">
              <a:avLst/>
            </a:prstGeom>
          </p:spPr>
        </p:pic>
        <p:sp>
          <p:nvSpPr>
            <p:cNvPr id="25" name="Rectangle 24"/>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931389110" name="Content Placeholder 2"/>
          <p:cNvSpPr>
            <a:spLocks noGrp="1"/>
          </p:cNvSpPr>
          <p:nvPr>
            <p:ph idx="1"/>
          </p:nvPr>
        </p:nvSpPr>
        <p:spPr bwMode="auto">
          <a:xfrm>
            <a:off x="131180" y="876144"/>
            <a:ext cx="11929641" cy="5590565"/>
          </a:xfrm>
        </p:spPr>
        <p:txBody>
          <a:bodyPr>
            <a:noAutofit/>
          </a:bodyPr>
          <a:lstStyle>
            <a:lvl1pPr marL="265113" indent="-265113" algn="just">
              <a:spcBef>
                <a:spcPts val="1000"/>
              </a:spcBef>
              <a:buClr>
                <a:schemeClr val="accent6"/>
              </a:buClr>
              <a:buFont typeface="Wingdings 3"/>
              <a:buChar char=""/>
              <a:defRPr sz="2400">
                <a:solidFill>
                  <a:schemeClr val="tx1"/>
                </a:solidFill>
              </a:defRPr>
            </a:lvl1pPr>
            <a:lvl2pPr marL="809625" indent="-352425" algn="just">
              <a:spcBef>
                <a:spcPts val="1000"/>
              </a:spcBef>
              <a:buClr>
                <a:schemeClr val="accent6"/>
              </a:buClr>
              <a:buFont typeface="Wingdings 3"/>
              <a:buChar char=""/>
              <a:defRPr sz="2000">
                <a:solidFill>
                  <a:schemeClr val="tx1"/>
                </a:solidFill>
              </a:defRPr>
            </a:lvl2pPr>
            <a:lvl3pPr marL="1143000" indent="-228600" algn="just">
              <a:spcBef>
                <a:spcPts val="1000"/>
              </a:spcBef>
              <a:buClr>
                <a:schemeClr val="accent6"/>
              </a:buClr>
              <a:buFont typeface="Wingdings"/>
              <a:buChar char="§"/>
              <a:defRPr sz="1800">
                <a:solidFill>
                  <a:schemeClr val="tx1"/>
                </a:solidFill>
              </a:defRPr>
            </a:lvl3pPr>
            <a:lvl4pPr algn="just">
              <a:spcBef>
                <a:spcPts val="1000"/>
              </a:spcBef>
              <a:buClr>
                <a:schemeClr val="accent6"/>
              </a:buClr>
              <a:defRPr sz="1600">
                <a:solidFill>
                  <a:schemeClr val="tx1"/>
                </a:solidFill>
              </a:defRPr>
            </a:lvl4pPr>
            <a:lvl5pPr algn="just">
              <a:spcBef>
                <a:spcPts val="1000"/>
              </a:spcBef>
              <a:buClr>
                <a:schemeClr val="accent6"/>
              </a:buClr>
              <a:defRPr sz="1600">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81783836"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ontent - Logo on BL">
    <p:spTree>
      <p:nvGrpSpPr>
        <p:cNvPr id="1" name=""/>
        <p:cNvGrpSpPr/>
        <p:nvPr/>
      </p:nvGrpSpPr>
      <p:grpSpPr bwMode="auto">
        <a:xfrm>
          <a:off x="0" y="0"/>
          <a:ext cx="0" cy="0"/>
          <a:chOff x="0" y="0"/>
          <a:chExt cx="0" cy="0"/>
        </a:xfrm>
      </p:grpSpPr>
      <p:pic>
        <p:nvPicPr>
          <p:cNvPr id="1862484197" name="Shape 56"/>
          <p:cNvPicPr/>
          <p:nvPr userDrawn="1"/>
        </p:nvPicPr>
        <p:blipFill rotWithShape="1">
          <a:blip r:embed="rId2">
            <a:alphaModFix/>
          </a:blip>
          <a:srcRect l="0" t="86739" r="1768" b="3534"/>
          <a:stretch/>
        </p:blipFill>
        <p:spPr bwMode="auto">
          <a:xfrm>
            <a:off x="0" y="0"/>
            <a:ext cx="12192000" cy="711201"/>
          </a:xfrm>
          <a:prstGeom prst="rect">
            <a:avLst/>
          </a:prstGeom>
          <a:noFill/>
          <a:ln>
            <a:noFill/>
          </a:ln>
          <a:effectLst/>
        </p:spPr>
      </p:pic>
      <p:sp>
        <p:nvSpPr>
          <p:cNvPr id="274567581" name="Title 1"/>
          <p:cNvSpPr>
            <a:spLocks noGrp="1"/>
          </p:cNvSpPr>
          <p:nvPr>
            <p:ph type="title"/>
          </p:nvPr>
        </p:nvSpPr>
        <p:spPr bwMode="auto">
          <a:xfrm>
            <a:off x="0" y="1"/>
            <a:ext cx="12192000" cy="711200"/>
          </a:xfrm>
          <a:prstGeom prst="rect">
            <a:avLst/>
          </a:prstGeom>
          <a:solidFill>
            <a:srgbClr val="C0C0C0">
              <a:alpha val="50000"/>
            </a:srgbClr>
          </a:solidFill>
          <a:ln>
            <a:noFill/>
          </a:ln>
        </p:spPr>
        <p:txBody>
          <a:bodyPr lIns="216000" tIns="108000" rIns="216000" bIns="108000">
            <a:normAutofit/>
          </a:bodyPr>
          <a:lstStyle>
            <a:lvl1pPr>
              <a:defRPr lang="en-US" sz="3400" b="1">
                <a:solidFill>
                  <a:schemeClr val="tx1">
                    <a:lumMod val="90000"/>
                    <a:lumOff val="10000"/>
                  </a:schemeClr>
                </a:solidFill>
                <a:latin typeface="+mj-lt"/>
                <a:ea typeface="+mj-ea"/>
                <a:cs typeface="+mj-cs"/>
              </a:defRPr>
            </a:lvl1pPr>
          </a:lstStyle>
          <a:p>
            <a:pPr>
              <a:defRPr/>
            </a:pPr>
            <a:r>
              <a:rPr lang="en-US"/>
              <a:t>Click to edit Master title style</a:t>
            </a:r>
            <a:endParaRPr/>
          </a:p>
        </p:txBody>
      </p:sp>
      <p:cxnSp>
        <p:nvCxnSpPr>
          <p:cNvPr id="1985884651" name="Straight Connector 19"/>
          <p:cNvCxnSpPr/>
          <p:nvPr userDrawn="1"/>
        </p:nvCxnSpPr>
        <p:spPr bwMode="auto">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388554955" name="Group 13"/>
          <p:cNvGrpSpPr/>
          <p:nvPr userDrawn="1"/>
        </p:nvGrpSpPr>
        <p:grpSpPr bwMode="auto">
          <a:xfrm>
            <a:off x="-62404" y="5890392"/>
            <a:ext cx="2554142" cy="587454"/>
            <a:chOff x="242396" y="5890392"/>
            <a:chExt cx="2554142" cy="587454"/>
          </a:xfrm>
        </p:grpSpPr>
        <p:pic>
          <p:nvPicPr>
            <p:cNvPr id="15" name="Picture 14"/>
            <p:cNvPicPr>
              <a:picLocks noChangeAspect="1"/>
            </p:cNvPicPr>
            <p:nvPr userDrawn="1"/>
          </p:nvPicPr>
          <p:blipFill rotWithShape="1">
            <a:blip r:embed="rId3"/>
            <a:stretch/>
          </p:blipFill>
          <p:spPr bwMode="auto">
            <a:xfrm>
              <a:off x="438918" y="5890392"/>
              <a:ext cx="1932495" cy="587453"/>
            </a:xfrm>
            <a:prstGeom prst="rect">
              <a:avLst/>
            </a:prstGeom>
          </p:spPr>
        </p:pic>
        <p:sp>
          <p:nvSpPr>
            <p:cNvPr id="21" name="Rectangle 20"/>
            <p:cNvSpPr/>
            <p:nvPr userDrawn="1"/>
          </p:nvSpPr>
          <p:spPr bwMode="auto">
            <a:xfrm>
              <a:off x="2423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635913839" name="Content Placeholder 2"/>
          <p:cNvSpPr>
            <a:spLocks noGrp="1"/>
          </p:cNvSpPr>
          <p:nvPr>
            <p:ph idx="1"/>
          </p:nvPr>
        </p:nvSpPr>
        <p:spPr bwMode="auto">
          <a:xfrm>
            <a:off x="131180" y="888844"/>
            <a:ext cx="11929641" cy="5590565"/>
          </a:xfrm>
        </p:spPr>
        <p:txBody>
          <a:bodyPr>
            <a:noAutofit/>
          </a:bodyPr>
          <a:lstStyle>
            <a:lvl1pPr marL="265113" indent="-265113" algn="just">
              <a:buClr>
                <a:schemeClr val="accent6"/>
              </a:buClr>
              <a:buFont typeface="Wingdings 3"/>
              <a:buChar char=""/>
              <a:defRPr sz="2400">
                <a:solidFill>
                  <a:schemeClr val="tx1"/>
                </a:solidFill>
              </a:defRPr>
            </a:lvl1pPr>
            <a:lvl2pPr marL="809625" indent="-352425" algn="just">
              <a:buClr>
                <a:schemeClr val="accent6"/>
              </a:buClr>
              <a:buFont typeface="Wingdings 3"/>
              <a:buChar char=""/>
              <a:defRPr sz="2000">
                <a:solidFill>
                  <a:schemeClr val="tx1"/>
                </a:solidFill>
              </a:defRPr>
            </a:lvl2pPr>
            <a:lvl3pPr marL="1143000" indent="-228600" algn="just">
              <a:buClr>
                <a:schemeClr val="accent6"/>
              </a:buClr>
              <a:buFont typeface="Wingdings"/>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9590330"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7694093" name="Footer Placeholder 2"/>
          <p:cNvSpPr txBox="1"/>
          <p:nvPr userDrawn="1"/>
        </p:nvSpPr>
        <p:spPr bwMode="auto">
          <a:xfrm>
            <a:off x="4038600" y="6604000"/>
            <a:ext cx="4356100"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Unit 2 (Part 1) – Queue - Linear Data Structure</a:t>
            </a:r>
            <a:endParaRPr/>
          </a:p>
        </p:txBody>
      </p:sp>
      <p:sp>
        <p:nvSpPr>
          <p:cNvPr id="65875263"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1743406834" name="Straight Connector 28"/>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789601489"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ection Header">
    <p:spTree>
      <p:nvGrpSpPr>
        <p:cNvPr id="1" name=""/>
        <p:cNvGrpSpPr/>
        <p:nvPr/>
      </p:nvGrpSpPr>
      <p:grpSpPr bwMode="auto">
        <a:xfrm>
          <a:off x="0" y="0"/>
          <a:ext cx="0" cy="0"/>
          <a:chOff x="0" y="0"/>
          <a:chExt cx="0" cy="0"/>
        </a:xfrm>
      </p:grpSpPr>
      <p:grpSp>
        <p:nvGrpSpPr>
          <p:cNvPr id="961326400" name="Group 9"/>
          <p:cNvGrpSpPr/>
          <p:nvPr userDrawn="1"/>
        </p:nvGrpSpPr>
        <p:grpSpPr bwMode="auto">
          <a:xfrm>
            <a:off x="9792824" y="6087939"/>
            <a:ext cx="2554142" cy="650953"/>
            <a:chOff x="9437224" y="6087939"/>
            <a:chExt cx="2554142" cy="650953"/>
          </a:xfrm>
        </p:grpSpPr>
        <p:pic>
          <p:nvPicPr>
            <p:cNvPr id="15" name="Picture 14"/>
            <p:cNvPicPr>
              <a:picLocks noChangeAspect="1"/>
            </p:cNvPicPr>
            <p:nvPr userDrawn="1"/>
          </p:nvPicPr>
          <p:blipFill rotWithShape="1">
            <a:blip r:embed="rId2"/>
            <a:stretch/>
          </p:blipFill>
          <p:spPr bwMode="auto">
            <a:xfrm>
              <a:off x="9748046" y="6151439"/>
              <a:ext cx="1932495" cy="587453"/>
            </a:xfrm>
            <a:prstGeom prst="rect">
              <a:avLst/>
            </a:prstGeom>
          </p:spPr>
        </p:pic>
        <p:sp>
          <p:nvSpPr>
            <p:cNvPr id="16" name="Rectangle 15"/>
            <p:cNvSpPr/>
            <p:nvPr userDrawn="1"/>
          </p:nvSpPr>
          <p:spPr bwMode="auto">
            <a:xfrm>
              <a:off x="9437224" y="6087939"/>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pic>
        <p:nvPicPr>
          <p:cNvPr id="1159197843" name="Picture 16"/>
          <p:cNvPicPr>
            <a:picLocks noChangeAspect="1"/>
          </p:cNvPicPr>
          <p:nvPr userDrawn="1"/>
        </p:nvPicPr>
        <p:blipFill rotWithShape="1">
          <a:blip r:embed="rId3">
            <a:duotone>
              <a:schemeClr val="accent1">
                <a:shade val="45000"/>
                <a:satMod val="135000"/>
              </a:schemeClr>
              <a:prstClr val="white"/>
            </a:duotone>
          </a:blip>
          <a:srcRect l="0" t="0" r="11581" b="21180"/>
          <a:stretch/>
        </p:blipFill>
        <p:spPr bwMode="auto">
          <a:xfrm rot="16199999">
            <a:off x="9807099" y="606901"/>
            <a:ext cx="2991808" cy="1778000"/>
          </a:xfrm>
          <a:prstGeom prst="rect">
            <a:avLst/>
          </a:prstGeom>
        </p:spPr>
      </p:pic>
      <p:pic>
        <p:nvPicPr>
          <p:cNvPr id="476532392" name="Picture 17"/>
          <p:cNvPicPr>
            <a:picLocks noChangeAspect="1"/>
          </p:cNvPicPr>
          <p:nvPr userDrawn="1"/>
        </p:nvPicPr>
        <p:blipFill rotWithShape="1">
          <a:blip r:embed="rId4"/>
          <a:srcRect l="79646" t="18062" r="2730" b="17724"/>
          <a:stretch/>
        </p:blipFill>
        <p:spPr bwMode="auto">
          <a:xfrm>
            <a:off x="0" y="401568"/>
            <a:ext cx="543946" cy="772151"/>
          </a:xfrm>
          <a:prstGeom prst="rect">
            <a:avLst/>
          </a:prstGeom>
        </p:spPr>
      </p:pic>
      <p:sp>
        <p:nvSpPr>
          <p:cNvPr id="26132623" name="Title 1"/>
          <p:cNvSpPr>
            <a:spLocks noGrp="1"/>
          </p:cNvSpPr>
          <p:nvPr>
            <p:ph type="title" hasCustomPrompt="1"/>
          </p:nvPr>
        </p:nvSpPr>
        <p:spPr bwMode="auto">
          <a:xfrm>
            <a:off x="831850" y="1709738"/>
            <a:ext cx="10515600" cy="2852737"/>
          </a:xfrm>
        </p:spPr>
        <p:txBody>
          <a:bodyPr anchor="b">
            <a:normAutofit/>
          </a:bodyPr>
          <a:lstStyle>
            <a:lvl1pPr>
              <a:defRPr lang="en-US" sz="6000" b="1">
                <a:gradFill>
                  <a:gsLst>
                    <a:gs pos="0">
                      <a:srgbClr val="1D3064"/>
                    </a:gs>
                    <a:gs pos="100000">
                      <a:schemeClr val="tx2"/>
                    </a:gs>
                  </a:gsLst>
                  <a:lin ang="0" scaled="1"/>
                </a:gradFill>
                <a:latin typeface="+mn-lt"/>
                <a:ea typeface="+mn-ea"/>
                <a:cs typeface="+mn-cs"/>
              </a:defRPr>
            </a:lvl1pPr>
          </a:lstStyle>
          <a:p>
            <a:pPr>
              <a:defRPr/>
            </a:pPr>
            <a:r>
              <a:rPr lang="en-US"/>
              <a:t>Write here Section Title</a:t>
            </a:r>
            <a:endParaRPr/>
          </a:p>
        </p:txBody>
      </p:sp>
      <p:sp>
        <p:nvSpPr>
          <p:cNvPr id="940056219" name="Text Placeholder 2"/>
          <p:cNvSpPr>
            <a:spLocks noGrp="1"/>
          </p:cNvSpPr>
          <p:nvPr>
            <p:ph type="body" idx="1" hasCustomPrompt="1"/>
          </p:nvPr>
        </p:nvSpPr>
        <p:spPr bwMode="auto">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Write here Section Subtitle</a:t>
            </a:r>
            <a:endParaRPr/>
          </a:p>
        </p:txBody>
      </p:sp>
      <p:sp>
        <p:nvSpPr>
          <p:cNvPr id="1174346690" name="Freeform 17"/>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lanck - Logo on TR">
    <p:spTree>
      <p:nvGrpSpPr>
        <p:cNvPr id="1" name=""/>
        <p:cNvGrpSpPr/>
        <p:nvPr/>
      </p:nvGrpSpPr>
      <p:grpSpPr bwMode="auto">
        <a:xfrm>
          <a:off x="0" y="0"/>
          <a:ext cx="0" cy="0"/>
          <a:chOff x="0" y="0"/>
          <a:chExt cx="0" cy="0"/>
        </a:xfrm>
      </p:grpSpPr>
      <p:grpSp>
        <p:nvGrpSpPr>
          <p:cNvPr id="29418595" name="Group 13"/>
          <p:cNvGrpSpPr/>
          <p:nvPr userDrawn="1"/>
        </p:nvGrpSpPr>
        <p:grpSpPr bwMode="auto">
          <a:xfrm>
            <a:off x="9815658" y="111892"/>
            <a:ext cx="2554142" cy="587454"/>
            <a:chOff x="9475296" y="5890392"/>
            <a:chExt cx="2554142" cy="587454"/>
          </a:xfrm>
        </p:grpSpPr>
        <p:pic>
          <p:nvPicPr>
            <p:cNvPr id="15" name="Picture 14"/>
            <p:cNvPicPr>
              <a:picLocks noChangeAspect="1"/>
            </p:cNvPicPr>
            <p:nvPr userDrawn="1"/>
          </p:nvPicPr>
          <p:blipFill rotWithShape="1">
            <a:blip r:embed="rId2"/>
            <a:stretch/>
          </p:blipFill>
          <p:spPr bwMode="auto">
            <a:xfrm>
              <a:off x="9824218" y="5890392"/>
              <a:ext cx="1932495" cy="587453"/>
            </a:xfrm>
            <a:prstGeom prst="rect">
              <a:avLst/>
            </a:prstGeom>
          </p:spPr>
        </p:pic>
        <p:sp>
          <p:nvSpPr>
            <p:cNvPr id="19" name="Rectangle 18"/>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2042014654"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40072184" name="Footer Placeholder 2"/>
          <p:cNvSpPr txBox="1"/>
          <p:nvPr userDrawn="1"/>
        </p:nvSpPr>
        <p:spPr bwMode="auto">
          <a:xfrm>
            <a:off x="4038600" y="6604000"/>
            <a:ext cx="4356100"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Unit 2 (Part 1) – Queue - Linear Data Structure</a:t>
            </a:r>
            <a:endParaRPr/>
          </a:p>
        </p:txBody>
      </p:sp>
      <p:sp>
        <p:nvSpPr>
          <p:cNvPr id="202152186"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627985375" name="Straight Connector 20"/>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650970725"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lanck - Logo on BR">
    <p:spTree>
      <p:nvGrpSpPr>
        <p:cNvPr id="1" name=""/>
        <p:cNvGrpSpPr/>
        <p:nvPr/>
      </p:nvGrpSpPr>
      <p:grpSpPr bwMode="auto">
        <a:xfrm>
          <a:off x="0" y="0"/>
          <a:ext cx="0" cy="0"/>
          <a:chOff x="0" y="0"/>
          <a:chExt cx="0" cy="0"/>
        </a:xfrm>
      </p:grpSpPr>
      <p:grpSp>
        <p:nvGrpSpPr>
          <p:cNvPr id="1663183014" name="Group 13"/>
          <p:cNvGrpSpPr/>
          <p:nvPr userDrawn="1"/>
        </p:nvGrpSpPr>
        <p:grpSpPr bwMode="auto">
          <a:xfrm>
            <a:off x="9841058" y="6003345"/>
            <a:ext cx="2554142" cy="587454"/>
            <a:chOff x="9475296" y="5890392"/>
            <a:chExt cx="2554142" cy="587454"/>
          </a:xfrm>
        </p:grpSpPr>
        <p:pic>
          <p:nvPicPr>
            <p:cNvPr id="15" name="Picture 14"/>
            <p:cNvPicPr>
              <a:picLocks noChangeAspect="1"/>
            </p:cNvPicPr>
            <p:nvPr userDrawn="1"/>
          </p:nvPicPr>
          <p:blipFill rotWithShape="1">
            <a:blip r:embed="rId2"/>
            <a:stretch/>
          </p:blipFill>
          <p:spPr bwMode="auto">
            <a:xfrm>
              <a:off x="9824218" y="5890392"/>
              <a:ext cx="1932495" cy="587453"/>
            </a:xfrm>
            <a:prstGeom prst="rect">
              <a:avLst/>
            </a:prstGeom>
          </p:spPr>
        </p:pic>
        <p:sp>
          <p:nvSpPr>
            <p:cNvPr id="19" name="Rectangle 18"/>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2132648499"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69177910" name="Footer Placeholder 2"/>
          <p:cNvSpPr txBox="1"/>
          <p:nvPr userDrawn="1"/>
        </p:nvSpPr>
        <p:spPr bwMode="auto">
          <a:xfrm>
            <a:off x="4038600" y="6604000"/>
            <a:ext cx="4356100"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Unit 2 (Part 1) – Queue - Linear Data Structure</a:t>
            </a:r>
            <a:endParaRPr/>
          </a:p>
        </p:txBody>
      </p:sp>
      <p:sp>
        <p:nvSpPr>
          <p:cNvPr id="1734299670"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18113966" name="Straight Connector 20"/>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16583907"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lanck - Logo on BL">
    <p:spTree>
      <p:nvGrpSpPr>
        <p:cNvPr id="1" name=""/>
        <p:cNvGrpSpPr/>
        <p:nvPr/>
      </p:nvGrpSpPr>
      <p:grpSpPr bwMode="auto">
        <a:xfrm>
          <a:off x="0" y="0"/>
          <a:ext cx="0" cy="0"/>
          <a:chOff x="0" y="0"/>
          <a:chExt cx="0" cy="0"/>
        </a:xfrm>
      </p:grpSpPr>
      <p:grpSp>
        <p:nvGrpSpPr>
          <p:cNvPr id="2136763185" name="Group 13"/>
          <p:cNvGrpSpPr/>
          <p:nvPr userDrawn="1"/>
        </p:nvGrpSpPr>
        <p:grpSpPr bwMode="auto">
          <a:xfrm>
            <a:off x="-249812" y="5977321"/>
            <a:ext cx="2554142" cy="587454"/>
            <a:chOff x="9475296" y="5890392"/>
            <a:chExt cx="2554142" cy="587454"/>
          </a:xfrm>
        </p:grpSpPr>
        <p:pic>
          <p:nvPicPr>
            <p:cNvPr id="15" name="Picture 14"/>
            <p:cNvPicPr>
              <a:picLocks noChangeAspect="1"/>
            </p:cNvPicPr>
            <p:nvPr userDrawn="1"/>
          </p:nvPicPr>
          <p:blipFill rotWithShape="1">
            <a:blip r:embed="rId2"/>
            <a:stretch/>
          </p:blipFill>
          <p:spPr bwMode="auto">
            <a:xfrm>
              <a:off x="9824218" y="5890392"/>
              <a:ext cx="1932495" cy="587453"/>
            </a:xfrm>
            <a:prstGeom prst="rect">
              <a:avLst/>
            </a:prstGeom>
          </p:spPr>
        </p:pic>
        <p:sp>
          <p:nvSpPr>
            <p:cNvPr id="19" name="Rectangle 18"/>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585335742"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31850033" name="Footer Placeholder 2"/>
          <p:cNvSpPr txBox="1"/>
          <p:nvPr userDrawn="1"/>
        </p:nvSpPr>
        <p:spPr bwMode="auto">
          <a:xfrm>
            <a:off x="4038600" y="6604000"/>
            <a:ext cx="4356100"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Unit 2 (Part 1) – Queue - Linear Data Structure</a:t>
            </a:r>
            <a:endParaRPr/>
          </a:p>
        </p:txBody>
      </p:sp>
      <p:sp>
        <p:nvSpPr>
          <p:cNvPr id="1849891762"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449575787" name="Straight Connector 20"/>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134829218"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mplete Blanck">
    <p:spTree>
      <p:nvGrpSpPr>
        <p:cNvPr id="1" name=""/>
        <p:cNvGrpSpPr/>
        <p:nvPr/>
      </p:nvGrpSpPr>
      <p:grpSpPr bwMode="auto">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Complete Blanck">
    <p:spTree>
      <p:nvGrpSpPr>
        <p:cNvPr id="1" name=""/>
        <p:cNvGrpSpPr/>
        <p:nvPr/>
      </p:nvGrpSpPr>
      <p:grpSpPr bwMode="auto">
        <a:xfrm>
          <a:off x="0" y="0"/>
          <a:ext cx="0" cy="0"/>
          <a:chOff x="0" y="0"/>
          <a:chExt cx="0" cy="0"/>
        </a:xfrm>
      </p:grpSpPr>
      <p:sp>
        <p:nvSpPr>
          <p:cNvPr id="1691637012" name="TextBox 6"/>
          <p:cNvSpPr txBox="1"/>
          <p:nvPr userDrawn="1"/>
        </p:nvSpPr>
        <p:spPr bwMode="auto">
          <a:xfrm>
            <a:off x="375920" y="457200"/>
            <a:ext cx="4185761" cy="523220"/>
          </a:xfrm>
          <a:prstGeom prst="rect">
            <a:avLst/>
          </a:prstGeom>
          <a:noFill/>
        </p:spPr>
        <p:txBody>
          <a:bodyPr wrap="none" rtlCol="0">
            <a:spAutoFit/>
          </a:bodyPr>
          <a:lstStyle/>
          <a:p>
            <a:pPr>
              <a:defRPr/>
            </a:pPr>
            <a:r>
              <a:rPr lang="en-US" sz="2800">
                <a:solidFill>
                  <a:srgbClr val="FF0000"/>
                </a:solidFill>
              </a:rPr>
              <a:t>How to Crop Circular Photo?</a:t>
            </a:r>
            <a:endParaRPr/>
          </a:p>
        </p:txBody>
      </p:sp>
      <p:sp>
        <p:nvSpPr>
          <p:cNvPr id="522703979" name="Picture Placeholder 10"/>
          <p:cNvSpPr>
            <a:spLocks noGrp="1"/>
          </p:cNvSpPr>
          <p:nvPr>
            <p:ph type="pic" sz="quarter" idx="10"/>
          </p:nvPr>
        </p:nvSpPr>
        <p:spPr bwMode="auto">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Teal">
    <p:spTree>
      <p:nvGrpSpPr>
        <p:cNvPr id="1" name=""/>
        <p:cNvGrpSpPr/>
        <p:nvPr/>
      </p:nvGrpSpPr>
      <p:grpSpPr bwMode="auto">
        <a:xfrm>
          <a:off x="0" y="0"/>
          <a:ext cx="0" cy="0"/>
          <a:chOff x="0" y="0"/>
          <a:chExt cx="0" cy="0"/>
        </a:xfrm>
      </p:grpSpPr>
      <p:pic>
        <p:nvPicPr>
          <p:cNvPr id="1313277492"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557919639"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900168011"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846212985"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112466467"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925850963"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913738302"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07054317"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505755853"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434631021"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496933051"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273917721"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574724763"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544329169"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4">
                        <a:lumMod val="50000"/>
                      </a:schemeClr>
                    </a:gs>
                    <a:gs pos="100000">
                      <a:srgbClr val="009788"/>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2072824151"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83296645"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2016638856"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743050391" name="Picture 19"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796202133" name="Picture Placeholder 20"/>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Cyan">
    <p:spTree>
      <p:nvGrpSpPr>
        <p:cNvPr id="1" name=""/>
        <p:cNvGrpSpPr/>
        <p:nvPr/>
      </p:nvGrpSpPr>
      <p:grpSpPr bwMode="auto">
        <a:xfrm>
          <a:off x="0" y="0"/>
          <a:ext cx="0" cy="0"/>
          <a:chOff x="0" y="0"/>
          <a:chExt cx="0" cy="0"/>
        </a:xfrm>
      </p:grpSpPr>
      <p:pic>
        <p:nvPicPr>
          <p:cNvPr id="1797825050"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193626091"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276356399"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258086957"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2021318378"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355329352"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803463611"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97068933"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305355630"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881520444"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221637421"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842963468"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293074135"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203547537"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2">
                        <a:lumMod val="50000"/>
                      </a:schemeClr>
                    </a:gs>
                    <a:gs pos="100000">
                      <a:schemeClr val="accent2"/>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723219928"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085320083"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73436259"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460242834" name="Picture 29"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597081285" name="Picture Placeholder 33"/>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Light Green">
    <p:spTree>
      <p:nvGrpSpPr>
        <p:cNvPr id="1" name=""/>
        <p:cNvGrpSpPr/>
        <p:nvPr/>
      </p:nvGrpSpPr>
      <p:grpSpPr bwMode="auto">
        <a:xfrm>
          <a:off x="0" y="0"/>
          <a:ext cx="0" cy="0"/>
          <a:chOff x="0" y="0"/>
          <a:chExt cx="0" cy="0"/>
        </a:xfrm>
      </p:grpSpPr>
      <p:pic>
        <p:nvPicPr>
          <p:cNvPr id="755250884"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741837267"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181732857"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056226607"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292406503"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205610302"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838795442"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96197025"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545329325"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038248639"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440555594"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2890611"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96299642"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938214853"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3">
                        <a:lumMod val="50000"/>
                      </a:schemeClr>
                    </a:gs>
                    <a:gs pos="100000">
                      <a:schemeClr val="accent3"/>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89999041"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403705946"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729868000"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311264784"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2069867949"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Amber">
    <p:spTree>
      <p:nvGrpSpPr>
        <p:cNvPr id="1" name=""/>
        <p:cNvGrpSpPr/>
        <p:nvPr/>
      </p:nvGrpSpPr>
      <p:grpSpPr bwMode="auto">
        <a:xfrm>
          <a:off x="0" y="0"/>
          <a:ext cx="0" cy="0"/>
          <a:chOff x="0" y="0"/>
          <a:chExt cx="0" cy="0"/>
        </a:xfrm>
      </p:grpSpPr>
      <p:pic>
        <p:nvPicPr>
          <p:cNvPr id="885454813"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344003466"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30705605"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251167453"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650127354"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63885834"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2099428344"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41308722"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463231447"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480670634"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398406247"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812266606"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932752341"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816354810"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5">
                        <a:lumMod val="75000"/>
                      </a:schemeClr>
                    </a:gs>
                    <a:gs pos="100000">
                      <a:schemeClr val="accent5"/>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065643006"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270333621"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216478956"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932819338"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933678048"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Maroon">
    <p:spTree>
      <p:nvGrpSpPr>
        <p:cNvPr id="1" name=""/>
        <p:cNvGrpSpPr/>
        <p:nvPr/>
      </p:nvGrpSpPr>
      <p:grpSpPr bwMode="auto">
        <a:xfrm>
          <a:off x="0" y="0"/>
          <a:ext cx="0" cy="0"/>
          <a:chOff x="0" y="0"/>
          <a:chExt cx="0" cy="0"/>
        </a:xfrm>
      </p:grpSpPr>
      <p:pic>
        <p:nvPicPr>
          <p:cNvPr id="137358590"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958228318"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2013077206"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2015387021"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539298392"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138835196"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982697420"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7045321"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841279525"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305363143"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645123457"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2091898282"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809225102"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410707750"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6">
                        <a:lumMod val="50000"/>
                      </a:schemeClr>
                    </a:gs>
                    <a:gs pos="100000">
                      <a:schemeClr val="accent6"/>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610855796"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448964173"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933439497"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683381941"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2146368036"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Blue Gray">
    <p:spTree>
      <p:nvGrpSpPr>
        <p:cNvPr id="1" name=""/>
        <p:cNvGrpSpPr/>
        <p:nvPr/>
      </p:nvGrpSpPr>
      <p:grpSpPr bwMode="auto">
        <a:xfrm>
          <a:off x="0" y="0"/>
          <a:ext cx="0" cy="0"/>
          <a:chOff x="0" y="0"/>
          <a:chExt cx="0" cy="0"/>
        </a:xfrm>
      </p:grpSpPr>
      <p:pic>
        <p:nvPicPr>
          <p:cNvPr id="296496462"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270140931"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602044301"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86838028"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583761210"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970938167"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511826481"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74035114"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472151340"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039446433"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292618245"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32419511"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474891571"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719332069"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273238"/>
                    </a:gs>
                    <a:gs pos="100000">
                      <a:srgbClr val="607D8B"/>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75580993"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058403776"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1751655973"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980665047"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52182927"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Brown">
    <p:spTree>
      <p:nvGrpSpPr>
        <p:cNvPr id="1" name=""/>
        <p:cNvGrpSpPr/>
        <p:nvPr/>
      </p:nvGrpSpPr>
      <p:grpSpPr bwMode="auto">
        <a:xfrm>
          <a:off x="0" y="0"/>
          <a:ext cx="0" cy="0"/>
          <a:chOff x="0" y="0"/>
          <a:chExt cx="0" cy="0"/>
        </a:xfrm>
      </p:grpSpPr>
      <p:pic>
        <p:nvPicPr>
          <p:cNvPr id="1897151205"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117750820"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717501450"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2088405381"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187931686"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727154347"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58885215"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84011080"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829397006"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249286373"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250186942"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498385748"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621978025"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860917065"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3E2622"/>
                    </a:gs>
                    <a:gs pos="100000">
                      <a:srgbClr val="795547"/>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359377686"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614917361"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904727472"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596707708"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76097903"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Deep Puple">
    <p:spTree>
      <p:nvGrpSpPr>
        <p:cNvPr id="1" name=""/>
        <p:cNvGrpSpPr/>
        <p:nvPr/>
      </p:nvGrpSpPr>
      <p:grpSpPr bwMode="auto">
        <a:xfrm>
          <a:off x="0" y="0"/>
          <a:ext cx="0" cy="0"/>
          <a:chOff x="0" y="0"/>
          <a:chExt cx="0" cy="0"/>
        </a:xfrm>
      </p:grpSpPr>
      <p:pic>
        <p:nvPicPr>
          <p:cNvPr id="2044084748"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467987246"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270127198"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214877378"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490147148"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283423282"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313565241"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75108971"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458659829"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783973038"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561475499"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942114269"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773436927"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636207692"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301B92"/>
                    </a:gs>
                    <a:gs pos="100000">
                      <a:srgbClr val="673BB7"/>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988762200"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532955002"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807476500"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586454100"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2000965974"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Blue">
    <p:spTree>
      <p:nvGrpSpPr>
        <p:cNvPr id="1" name=""/>
        <p:cNvGrpSpPr/>
        <p:nvPr/>
      </p:nvGrpSpPr>
      <p:grpSpPr bwMode="auto">
        <a:xfrm>
          <a:off x="0" y="0"/>
          <a:ext cx="0" cy="0"/>
          <a:chOff x="0" y="0"/>
          <a:chExt cx="0" cy="0"/>
        </a:xfrm>
      </p:grpSpPr>
      <p:pic>
        <p:nvPicPr>
          <p:cNvPr id="742168160"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727765910"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30568386"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2018140231"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032221984"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204739021"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607324524"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836678"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558298385"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562777914"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216062182"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509095944"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698012976"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610345322"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0E47A1"/>
                    </a:gs>
                    <a:gs pos="100000">
                      <a:srgbClr val="03A9F5"/>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472298296"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292003394"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1538093393"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418750790"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783368704"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Red">
    <p:spTree>
      <p:nvGrpSpPr>
        <p:cNvPr id="1" name=""/>
        <p:cNvGrpSpPr/>
        <p:nvPr/>
      </p:nvGrpSpPr>
      <p:grpSpPr bwMode="auto">
        <a:xfrm>
          <a:off x="0" y="0"/>
          <a:ext cx="0" cy="0"/>
          <a:chOff x="0" y="0"/>
          <a:chExt cx="0" cy="0"/>
        </a:xfrm>
      </p:grpSpPr>
      <p:pic>
        <p:nvPicPr>
          <p:cNvPr id="670533827"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471315753"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836882556"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999030198"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968161122"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859893389"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808007328"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6754621"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167620464"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084667607"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533490185"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665758615"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36242669"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88455847"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B71B1C"/>
                    </a:gs>
                    <a:gs pos="100000">
                      <a:srgbClr val="ED524F"/>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228184300"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217718958"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530737645"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2098603916" name="Picture 30"/>
          <p:cNvPicPr>
            <a:picLocks noChangeAspect="1"/>
          </p:cNvPicPr>
          <p:nvPr userDrawn="1"/>
        </p:nvPicPr>
        <p:blipFill rotWithShape="1">
          <a:blip r:embed="rId9"/>
          <a:srcRect l="24746" t="7575" r="25760" b="18186"/>
          <a:stretch/>
        </p:blipFill>
        <p:spPr bwMode="auto">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fill="norm" stroke="1" extrusionOk="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60645401" name="Picture 20" descr="User icon Royalty Free Vector Image - VectorStock"/>
          <p:cNvPicPr>
            <a:picLocks noChangeAspect="1" noChangeArrowheads="1"/>
          </p:cNvPicPr>
          <p:nvPr userDrawn="1"/>
        </p:nvPicPr>
        <p:blipFill rotWithShape="1">
          <a:blip r:embed="rId10">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437926148"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Pink">
    <p:spTree>
      <p:nvGrpSpPr>
        <p:cNvPr id="1" name=""/>
        <p:cNvGrpSpPr/>
        <p:nvPr/>
      </p:nvGrpSpPr>
      <p:grpSpPr bwMode="auto">
        <a:xfrm>
          <a:off x="0" y="0"/>
          <a:ext cx="0" cy="0"/>
          <a:chOff x="0" y="0"/>
          <a:chExt cx="0" cy="0"/>
        </a:xfrm>
      </p:grpSpPr>
      <p:pic>
        <p:nvPicPr>
          <p:cNvPr id="1926542243"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702567306"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967042016"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006769807"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00291546"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521306445"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528296346"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20210172"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538088811"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20583764"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350511971"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2864464"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775229600"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72095115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890E4F"/>
                    </a:gs>
                    <a:gs pos="100000">
                      <a:srgbClr val="D81A60"/>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417906814"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969976348"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79020444"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386787297"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82608918"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obj" userDrawn="1">
  <p:cSld name="Title and Content">
    <p:spTree>
      <p:nvGrpSpPr>
        <p:cNvPr id="1" name=""/>
        <p:cNvGrpSpPr/>
        <p:nvPr/>
      </p:nvGrpSpPr>
      <p:grpSpPr bwMode="auto">
        <a:xfrm>
          <a:off x="0" y="0"/>
          <a:ext cx="0" cy="0"/>
          <a:chOff x="0" y="0"/>
          <a:chExt cx="0" cy="0"/>
        </a:xfrm>
      </p:grpSpPr>
      <p:sp>
        <p:nvSpPr>
          <p:cNvPr id="308788779" name="Title 1"/>
          <p:cNvSpPr>
            <a:spLocks noGrp="1"/>
          </p:cNvSpPr>
          <p:nvPr>
            <p:ph type="title"/>
          </p:nvPr>
        </p:nvSpPr>
        <p:spPr bwMode="auto">
          <a:xfrm>
            <a:off x="254000" y="106364"/>
            <a:ext cx="11684000" cy="808037"/>
          </a:xfrm>
        </p:spPr>
        <p:txBody>
          <a:bodyPr>
            <a:normAutofit/>
          </a:bodyPr>
          <a:lstStyle>
            <a:lvl1pPr algn="l">
              <a:defRPr lang="en-US" sz="4400" b="0">
                <a:solidFill>
                  <a:schemeClr val="tx1"/>
                </a:solidFill>
                <a:latin typeface="+mj-lt"/>
                <a:ea typeface="Open Sans Semibold"/>
                <a:cs typeface="Open Sans Semibold"/>
              </a:defRPr>
            </a:lvl1pPr>
          </a:lstStyle>
          <a:p>
            <a:pPr>
              <a:defRPr/>
            </a:pPr>
            <a:r>
              <a:rPr lang="en-US"/>
              <a:t>Click to edit Master title style</a:t>
            </a:r>
            <a:endParaRPr/>
          </a:p>
        </p:txBody>
      </p:sp>
      <p:sp>
        <p:nvSpPr>
          <p:cNvPr id="1441113594" name="Content Placeholder 2"/>
          <p:cNvSpPr>
            <a:spLocks noGrp="1"/>
          </p:cNvSpPr>
          <p:nvPr>
            <p:ph idx="1"/>
          </p:nvPr>
        </p:nvSpPr>
        <p:spPr bwMode="auto">
          <a:xfrm>
            <a:off x="254000" y="990600"/>
            <a:ext cx="11684000" cy="5334000"/>
          </a:xfrm>
        </p:spPr>
        <p:txBody>
          <a:bodyPr>
            <a:normAutofit/>
          </a:bodyPr>
          <a:lstStyle>
            <a:lvl1pPr marL="342900" indent="-342900" algn="just" defTabSz="914400" rtl="0">
              <a:lnSpc>
                <a:spcPct val="90000"/>
              </a:lnSpc>
              <a:spcBef>
                <a:spcPts val="600"/>
              </a:spcBef>
              <a:buClrTx/>
              <a:buFont typeface="Wingdings"/>
              <a:buChar char="§"/>
              <a:defRPr lang="en-US" sz="2400">
                <a:solidFill>
                  <a:schemeClr val="tx1"/>
                </a:solidFill>
                <a:latin typeface="+mj-lt"/>
                <a:ea typeface="Times New Roman"/>
                <a:cs typeface="Times New Roman"/>
              </a:defRPr>
            </a:lvl1pPr>
            <a:lvl2pPr marL="704850" indent="-342900" algn="just" defTabSz="914400" rtl="0">
              <a:lnSpc>
                <a:spcPct val="90000"/>
              </a:lnSpc>
              <a:spcBef>
                <a:spcPts val="600"/>
              </a:spcBef>
              <a:buClrTx/>
              <a:buFont typeface="Arial"/>
              <a:buChar char="•"/>
              <a:defRPr lang="en-US" sz="2300">
                <a:solidFill>
                  <a:schemeClr val="tx1"/>
                </a:solidFill>
                <a:latin typeface="+mj-lt"/>
                <a:ea typeface="Times New Roman"/>
                <a:cs typeface="Times New Roman"/>
              </a:defRPr>
            </a:lvl2pPr>
            <a:lvl3pPr marL="968375" indent="-342900" algn="just" defTabSz="914400" rtl="0">
              <a:lnSpc>
                <a:spcPct val="90000"/>
              </a:lnSpc>
              <a:spcBef>
                <a:spcPts val="600"/>
              </a:spcBef>
              <a:buClrTx/>
              <a:defRPr lang="en-US" sz="2200">
                <a:solidFill>
                  <a:schemeClr val="tx1"/>
                </a:solidFill>
                <a:latin typeface="+mj-lt"/>
                <a:ea typeface="Times New Roman"/>
                <a:cs typeface="Times New Roman"/>
              </a:defRPr>
            </a:lvl3pPr>
            <a:lvl4pPr marL="1239837" indent="-342900" algn="just" defTabSz="914400" rtl="0">
              <a:lnSpc>
                <a:spcPct val="90000"/>
              </a:lnSpc>
              <a:spcBef>
                <a:spcPts val="600"/>
              </a:spcBef>
              <a:buClrTx/>
              <a:defRPr lang="en-US" sz="2000">
                <a:solidFill>
                  <a:schemeClr val="tx1"/>
                </a:solidFill>
                <a:latin typeface="+mj-lt"/>
                <a:ea typeface="Times New Roman"/>
                <a:cs typeface="Times New Roman"/>
              </a:defRPr>
            </a:lvl4pPr>
            <a:lvl5pPr marL="1454150" indent="-285750" algn="just" defTabSz="914400" rtl="0">
              <a:lnSpc>
                <a:spcPct val="90000"/>
              </a:lnSpc>
              <a:spcBef>
                <a:spcPts val="600"/>
              </a:spcBef>
              <a:buClrTx/>
              <a:defRPr lang="en-US" sz="1600">
                <a:solidFill>
                  <a:schemeClr val="tx1"/>
                </a:solidFill>
                <a:latin typeface="+mj-lt"/>
                <a:ea typeface="Times New Roman"/>
                <a:cs typeface="Times New Roman"/>
              </a:defRPr>
            </a:lvl5pPr>
          </a:lstStyle>
          <a:p>
            <a:pPr marL="342900" lvl="0" indent="-342900" algn="l" defTabSz="914400" rtl="0">
              <a:lnSpc>
                <a:spcPct val="90000"/>
              </a:lnSpc>
              <a:spcBef>
                <a:spcPts val="600"/>
              </a:spcBef>
              <a:buClrTx/>
              <a:buFont typeface="Wingdings"/>
              <a:buChar char="§"/>
              <a:defRPr/>
            </a:pPr>
            <a:r>
              <a:rPr lang="en-US"/>
              <a:t>Click to edit Master text styles</a:t>
            </a:r>
            <a:endParaRPr/>
          </a:p>
          <a:p>
            <a:pPr marL="625475" lvl="1" indent="-263525" algn="just" defTabSz="914400" rtl="0">
              <a:lnSpc>
                <a:spcPct val="90000"/>
              </a:lnSpc>
              <a:spcBef>
                <a:spcPts val="600"/>
              </a:spcBef>
              <a:buClrTx/>
              <a:buFont typeface="Arial"/>
              <a:buChar char="•"/>
              <a:defRPr/>
            </a:pPr>
            <a:r>
              <a:rPr lang="en-US"/>
              <a:t>Second level</a:t>
            </a:r>
            <a:endParaRPr/>
          </a:p>
          <a:p>
            <a:pPr marL="896938" lvl="2" indent="-271463" algn="just" defTabSz="914400" rtl="0">
              <a:lnSpc>
                <a:spcPct val="90000"/>
              </a:lnSpc>
              <a:spcBef>
                <a:spcPts val="600"/>
              </a:spcBef>
              <a:buClrTx/>
              <a:buFont typeface="Arial"/>
              <a:buChar char="•"/>
              <a:defRPr/>
            </a:pPr>
            <a:r>
              <a:rPr lang="en-US"/>
              <a:t>Third level</a:t>
            </a:r>
            <a:endParaRPr/>
          </a:p>
          <a:p>
            <a:pPr marL="1168400" lvl="3" indent="-271463" algn="just" defTabSz="914400" rtl="0">
              <a:lnSpc>
                <a:spcPct val="90000"/>
              </a:lnSpc>
              <a:spcBef>
                <a:spcPts val="600"/>
              </a:spcBef>
              <a:buClrTx/>
              <a:buFont typeface="Arial"/>
              <a:buChar char="–"/>
              <a:defRPr/>
            </a:pPr>
            <a:r>
              <a:rPr lang="en-US"/>
              <a:t>Fourth level</a:t>
            </a:r>
            <a:endParaRPr/>
          </a:p>
          <a:p>
            <a:pPr marL="1439863" lvl="4" indent="-271463" algn="just" defTabSz="914400" rtl="0">
              <a:lnSpc>
                <a:spcPct val="90000"/>
              </a:lnSpc>
              <a:spcBef>
                <a:spcPts val="600"/>
              </a:spcBef>
              <a:buClrTx/>
              <a:buFont typeface="Arial"/>
              <a:buChar char="»"/>
              <a:defRPr/>
            </a:pPr>
            <a:r>
              <a:rPr lang="en-US"/>
              <a:t>Fifth level</a:t>
            </a:r>
            <a:endParaRPr/>
          </a:p>
        </p:txBody>
      </p:sp>
      <p:sp>
        <p:nvSpPr>
          <p:cNvPr id="1853779126" name="Rektangel 11"/>
          <p:cNvSpPr/>
          <p:nvPr userDrawn="1"/>
        </p:nvSpPr>
        <p:spPr bwMode="auto">
          <a:xfrm>
            <a:off x="0" y="6477000"/>
            <a:ext cx="5384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da-DK" sz="1800">
                <a:solidFill>
                  <a:srgbClr val="FFFFFF"/>
                </a:solidFill>
                <a:latin typeface="+mj-lt"/>
                <a:ea typeface="Open Sans"/>
                <a:cs typeface="Open Sans"/>
              </a:rPr>
              <a:t>Unit</a:t>
            </a:r>
            <a:r>
              <a:rPr lang="da-DK" sz="1800">
                <a:solidFill>
                  <a:srgbClr val="FFFFFF"/>
                </a:solidFill>
                <a:latin typeface="+mj-lt"/>
                <a:ea typeface="Open Sans"/>
                <a:cs typeface="Open Sans"/>
              </a:rPr>
              <a:t> – 2: </a:t>
            </a:r>
            <a:r>
              <a:rPr lang="en-US" sz="1800"/>
              <a:t>Linear Data Structure</a:t>
            </a:r>
            <a:endParaRPr lang="da-DK" sz="1800">
              <a:solidFill>
                <a:srgbClr val="FFFFFF"/>
              </a:solidFill>
              <a:latin typeface="+mj-lt"/>
              <a:ea typeface="Open Sans"/>
              <a:cs typeface="Open Sans"/>
            </a:endParaRPr>
          </a:p>
        </p:txBody>
      </p:sp>
      <p:cxnSp>
        <p:nvCxnSpPr>
          <p:cNvPr id="995465114" name="Straight Connector 5"/>
          <p:cNvCxnSpPr/>
          <p:nvPr userDrawn="1"/>
        </p:nvCxnSpPr>
        <p:spPr bwMode="auto">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99391076" name="Rektangel 11"/>
          <p:cNvSpPr/>
          <p:nvPr userDrawn="1"/>
        </p:nvSpPr>
        <p:spPr bwMode="auto">
          <a:xfrm>
            <a:off x="6197600" y="6480727"/>
            <a:ext cx="59944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en-US" sz="1800">
                <a:solidFill>
                  <a:srgbClr val="FFFFFF"/>
                </a:solidFill>
                <a:latin typeface="+mj-lt"/>
                <a:ea typeface="Open Sans"/>
                <a:cs typeface="Open Sans"/>
              </a:rPr>
              <a:t>Darshan</a:t>
            </a:r>
            <a:r>
              <a:rPr lang="en-US" sz="1800">
                <a:solidFill>
                  <a:srgbClr val="FFFFFF"/>
                </a:solidFill>
                <a:latin typeface="+mj-lt"/>
                <a:ea typeface="Open Sans"/>
                <a:cs typeface="Open Sans"/>
              </a:rPr>
              <a:t> Institute of Engineering &amp; Technology</a:t>
            </a:r>
            <a:endParaRPr lang="da-DK" sz="1800">
              <a:solidFill>
                <a:srgbClr val="FFFFFF"/>
              </a:solidFill>
              <a:latin typeface="+mj-lt"/>
              <a:ea typeface="Open Sans"/>
              <a:cs typeface="Open Sans"/>
            </a:endParaRPr>
          </a:p>
        </p:txBody>
      </p:sp>
      <p:sp>
        <p:nvSpPr>
          <p:cNvPr id="2070856506" name="Rektangel 11"/>
          <p:cNvSpPr/>
          <p:nvPr userDrawn="1"/>
        </p:nvSpPr>
        <p:spPr bwMode="auto">
          <a:xfrm>
            <a:off x="5384800" y="6477000"/>
            <a:ext cx="812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a:solidFill>
                  <a:srgbClr val="FFFFFF"/>
                </a:solidFill>
                <a:latin typeface="+mj-lt"/>
                <a:ea typeface="Open Sans"/>
                <a:cs typeface="Open Sans"/>
              </a:rPr>
              <a:t>‹#›</a:t>
            </a:fld>
            <a:endParaRPr lang="da-DK" sz="1800">
              <a:solidFill>
                <a:srgbClr val="FFFFFF"/>
              </a:solidFill>
              <a:latin typeface="+mj-lt"/>
              <a:ea typeface="Open Sans"/>
              <a:cs typeface="Ope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
        <p:nvSpPr>
          <p:cNvPr id="401492888" name="Date Placeholder 1"/>
          <p:cNvSpPr>
            <a:spLocks noGrp="1"/>
          </p:cNvSpPr>
          <p:nvPr>
            <p:ph type="dt" sz="half" idx="10"/>
          </p:nvPr>
        </p:nvSpPr>
        <p:spPr bwMode="auto"/>
        <p:txBody>
          <a:bodyPr/>
          <a:lstStyle/>
          <a:p>
            <a:pPr>
              <a:defRPr/>
            </a:pPr>
            <a:endParaRPr lang="en-US"/>
          </a:p>
        </p:txBody>
      </p:sp>
      <p:sp>
        <p:nvSpPr>
          <p:cNvPr id="469282111" name="Footer Placeholder 2"/>
          <p:cNvSpPr>
            <a:spLocks noGrp="1"/>
          </p:cNvSpPr>
          <p:nvPr>
            <p:ph type="ftr" sz="quarter" idx="11"/>
          </p:nvPr>
        </p:nvSpPr>
        <p:spPr bwMode="auto"/>
        <p:txBody>
          <a:bodyPr/>
          <a:lstStyle/>
          <a:p>
            <a:pPr>
              <a:defRPr/>
            </a:pPr>
            <a:endParaRPr lang="en-US"/>
          </a:p>
        </p:txBody>
      </p:sp>
      <p:sp>
        <p:nvSpPr>
          <p:cNvPr id="1605506821" name="Slide Number Placeholder 3"/>
          <p:cNvSpPr>
            <a:spLocks noGrp="1"/>
          </p:cNvSpPr>
          <p:nvPr>
            <p:ph type="sldNum" sz="quarter" idx="12"/>
          </p:nvPr>
        </p:nvSpPr>
        <p:spPr bwMode="auto"/>
        <p:txBody>
          <a:bodyPr/>
          <a:lstStyle/>
          <a:p>
            <a:pPr>
              <a:defRPr/>
            </a:pPr>
            <a:fld id="{5EA8BEFB-AE5B-48F9-BBAD-B489CDE48C80}"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721782015"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26365232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0866514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CD21B45-1703-4330-B544-825BD8F37AF2}" type="datetimeFigureOut">
              <a:rPr lang="en-US"/>
              <a:t>7/2/2026</a:t>
            </a:fld>
            <a:endParaRPr lang="en-US"/>
          </a:p>
        </p:txBody>
      </p:sp>
      <p:sp>
        <p:nvSpPr>
          <p:cNvPr id="1160022472"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92793347"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641F3C7-36DD-4595-AA08-2525D86280BD}"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9401538" name="Title 1"/>
          <p:cNvSpPr>
            <a:spLocks noGrp="1"/>
          </p:cNvSpPr>
          <p:nvPr>
            <p:ph type="ctrTitle"/>
          </p:nvPr>
        </p:nvSpPr>
        <p:spPr bwMode="auto">
          <a:xfrm>
            <a:off x="559490" y="1122364"/>
            <a:ext cx="7060510" cy="2563094"/>
          </a:xfrm>
        </p:spPr>
        <p:txBody>
          <a:bodyPr/>
          <a:lstStyle/>
          <a:p>
            <a:pPr>
              <a:defRPr/>
            </a:pPr>
            <a:r>
              <a:rPr lang="en-US" sz="3200" b="0">
                <a:latin typeface="Roboto Condensed Light"/>
                <a:ea typeface="Roboto Condensed Light"/>
              </a:rPr>
              <a:t>Unit-2 (Part 1)</a:t>
            </a:r>
            <a:br>
              <a:rPr lang="en-US" sz="4400"/>
            </a:br>
            <a:r>
              <a:rPr lang="en-US" sz="4400"/>
              <a:t>Queue :</a:t>
            </a:r>
            <a:br>
              <a:rPr lang="en-US" sz="4400"/>
            </a:br>
            <a:r>
              <a:rPr lang="en-US" sz="4400" b="0"/>
              <a:t>Linear Data Structure</a:t>
            </a:r>
            <a:endParaRPr lang="en-US" sz="6000" b="0"/>
          </a:p>
        </p:txBody>
      </p:sp>
      <p:sp>
        <p:nvSpPr>
          <p:cNvPr id="582101998" name="Text Placeholder 2"/>
          <p:cNvSpPr>
            <a:spLocks noGrp="1"/>
          </p:cNvSpPr>
          <p:nvPr>
            <p:ph type="body" sz="quarter" idx="11"/>
          </p:nvPr>
        </p:nvSpPr>
        <p:spPr bwMode="auto"/>
        <p:txBody>
          <a:bodyPr/>
          <a:lstStyle/>
          <a:p>
            <a:pPr>
              <a:defRPr/>
            </a:pPr>
            <a:r>
              <a:rPr lang="en-US"/>
              <a:t>pradyuman.jadeja@darshan.ac.in</a:t>
            </a:r>
            <a:endParaRPr/>
          </a:p>
        </p:txBody>
      </p:sp>
      <p:sp>
        <p:nvSpPr>
          <p:cNvPr id="714717478" name="Text Placeholder 3"/>
          <p:cNvSpPr>
            <a:spLocks noGrp="1"/>
          </p:cNvSpPr>
          <p:nvPr>
            <p:ph type="body" sz="quarter" idx="12"/>
          </p:nvPr>
        </p:nvSpPr>
        <p:spPr bwMode="auto"/>
        <p:txBody>
          <a:bodyPr/>
          <a:lstStyle/>
          <a:p>
            <a:pPr>
              <a:defRPr/>
            </a:pPr>
            <a:r>
              <a:rPr lang="en-US"/>
              <a:t>+91 9879461848</a:t>
            </a:r>
            <a:endParaRPr/>
          </a:p>
        </p:txBody>
      </p:sp>
      <p:sp>
        <p:nvSpPr>
          <p:cNvPr id="1948492465" name="Text Placeholder 4"/>
          <p:cNvSpPr>
            <a:spLocks noGrp="1"/>
          </p:cNvSpPr>
          <p:nvPr>
            <p:ph type="body" sz="quarter" idx="13"/>
          </p:nvPr>
        </p:nvSpPr>
        <p:spPr bwMode="auto"/>
        <p:txBody>
          <a:bodyPr/>
          <a:lstStyle/>
          <a:p>
            <a:pPr>
              <a:defRPr/>
            </a:pPr>
            <a:r>
              <a:rPr lang="en-US"/>
              <a:t>Computer Engineering Department</a:t>
            </a:r>
            <a:endParaRPr/>
          </a:p>
        </p:txBody>
      </p:sp>
      <p:sp>
        <p:nvSpPr>
          <p:cNvPr id="673104586" name="Text Placeholder 5"/>
          <p:cNvSpPr>
            <a:spLocks noGrp="1"/>
          </p:cNvSpPr>
          <p:nvPr>
            <p:ph type="body" sz="quarter" idx="14"/>
          </p:nvPr>
        </p:nvSpPr>
        <p:spPr bwMode="auto"/>
        <p:txBody>
          <a:bodyPr/>
          <a:lstStyle/>
          <a:p>
            <a:pPr>
              <a:defRPr/>
            </a:pPr>
            <a:r>
              <a:rPr lang="en-US"/>
              <a:t>Dr. </a:t>
            </a:r>
            <a:r>
              <a:rPr lang="en-US"/>
              <a:t>Pradyumansinh</a:t>
            </a:r>
            <a:r>
              <a:rPr lang="en-US"/>
              <a:t> </a:t>
            </a:r>
            <a:r>
              <a:rPr lang="en-US"/>
              <a:t>Jadeja</a:t>
            </a:r>
            <a:endParaRPr lang="en-US"/>
          </a:p>
        </p:txBody>
      </p:sp>
      <p:sp>
        <p:nvSpPr>
          <p:cNvPr id="1597185561" name="Text Placeholder 1026"/>
          <p:cNvSpPr>
            <a:spLocks noGrp="1"/>
          </p:cNvSpPr>
          <p:nvPr>
            <p:ph type="body" sz="quarter" idx="16"/>
          </p:nvPr>
        </p:nvSpPr>
        <p:spPr bwMode="auto"/>
        <p:txBody>
          <a:bodyPr/>
          <a:lstStyle/>
          <a:p>
            <a:pPr>
              <a:defRPr/>
            </a:pPr>
            <a:r>
              <a:rPr lang="en-US" b="1"/>
              <a:t>Data Structures </a:t>
            </a:r>
            <a:r>
              <a:rPr lang="en-US">
                <a:latin typeface="Roboto Condensed Light"/>
                <a:ea typeface="Roboto Condensed Light"/>
              </a:rPr>
              <a:t>(DS)</a:t>
            </a:r>
            <a:endParaRPr/>
          </a:p>
          <a:p>
            <a:pPr>
              <a:defRPr/>
            </a:pPr>
            <a:r>
              <a:rPr lang="en-US">
                <a:latin typeface="Roboto Condensed Light"/>
                <a:ea typeface="Roboto Condensed Light"/>
              </a:rPr>
              <a:t>DU #2301CS301</a:t>
            </a:r>
            <a:endParaRPr/>
          </a:p>
        </p:txBody>
      </p:sp>
      <p:sp>
        <p:nvSpPr>
          <p:cNvPr id="370516942" name="AutoShape 3"/>
          <p:cNvSpPr>
            <a:spLocks noChangeArrowheads="1" noChangeAspect="1" noTextEdit="1"/>
          </p:cNvSpPr>
          <p:nvPr/>
        </p:nvSpPr>
        <p:spPr bwMode="auto">
          <a:xfrm>
            <a:off x="5573676" y="-3055324"/>
            <a:ext cx="7721600" cy="1457326"/>
          </a:xfrm>
          <a:prstGeom prst="rect">
            <a:avLst/>
          </a:prstGeom>
          <a:noFill/>
          <a:ln>
            <a:noFill/>
          </a:ln>
        </p:spPr>
        <p:txBody>
          <a:bodyPr vert="horz" wrap="square" lIns="91440" tIns="45720" rIns="91440" bIns="45720" numCol="1" anchor="t" anchorCtr="0" compatLnSpc="1">
            <a:prstTxWarp prst="textNoShape"/>
          </a:bodyPr>
          <a:lstStyle/>
          <a:p>
            <a:pPr>
              <a:defRPr/>
            </a:pPr>
            <a:endParaRPr lang="en-US"/>
          </a:p>
        </p:txBody>
      </p:sp>
      <p:pic>
        <p:nvPicPr>
          <p:cNvPr id="1075058261" name="Picture Placeholder 7"/>
          <p:cNvPicPr>
            <a:picLocks noChangeAspect="1" noGrp="1"/>
          </p:cNvPicPr>
          <p:nvPr>
            <p:ph type="pic" sz="quarter" idx="10"/>
          </p:nvPr>
        </p:nvPicPr>
        <p:blipFill rotWithShape="1">
          <a:blip r:embed="rId3"/>
          <a:stretch/>
        </p:blipFill>
        <p:spPr bwMode="auto"/>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371642876" name="Straight Connector 3"/>
          <p:cNvCxnSpPr>
            <a:endCxn id="278384768" idx="0"/>
          </p:cNvCxnSpPr>
          <p:nvPr/>
        </p:nvCxnSpPr>
        <p:spPr bwMode="auto">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34155573" name="Straight Connector 4"/>
          <p:cNvCxnSpPr/>
          <p:nvPr/>
        </p:nvCxnSpPr>
        <p:spPr bwMode="auto">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8384768" name="Oval 5"/>
          <p:cNvSpPr/>
          <p:nvPr/>
        </p:nvSpPr>
        <p:spPr bwMode="auto">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defRPr/>
            </a:pPr>
            <a:r>
              <a:rPr lang="en-US" sz="2800"/>
              <a:t></a:t>
            </a:r>
            <a:endParaRPr lang="en-US" sz="2800"/>
          </a:p>
        </p:txBody>
      </p:sp>
      <p:sp>
        <p:nvSpPr>
          <p:cNvPr id="777007302" name="TextBox 6"/>
          <p:cNvSpPr txBox="1"/>
          <p:nvPr/>
        </p:nvSpPr>
        <p:spPr bwMode="auto">
          <a:xfrm>
            <a:off x="1527893" y="720132"/>
            <a:ext cx="1175322" cy="400110"/>
          </a:xfrm>
          <a:prstGeom prst="rect">
            <a:avLst/>
          </a:prstGeom>
          <a:noFill/>
        </p:spPr>
        <p:txBody>
          <a:bodyPr wrap="none" rtlCol="0">
            <a:spAutoFit/>
          </a:bodyPr>
          <a:lstStyle/>
          <a:p>
            <a:pPr>
              <a:defRPr/>
            </a:pPr>
            <a:r>
              <a:rPr lang="en-US" sz="2000" b="1">
                <a:solidFill>
                  <a:schemeClr val="bg1"/>
                </a:solidFill>
              </a:rPr>
              <a:t>Looping</a:t>
            </a:r>
            <a:endParaRPr/>
          </a:p>
        </p:txBody>
      </p:sp>
      <p:cxnSp>
        <p:nvCxnSpPr>
          <p:cNvPr id="512849085" name="Straight Connector 7"/>
          <p:cNvCxnSpPr/>
          <p:nvPr/>
        </p:nvCxnSpPr>
        <p:spPr bwMode="auto">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76813722" name="TextBox 8"/>
          <p:cNvSpPr txBox="1"/>
          <p:nvPr/>
        </p:nvSpPr>
        <p:spPr bwMode="auto">
          <a:xfrm>
            <a:off x="1458961" y="1157831"/>
            <a:ext cx="9688648" cy="3416320"/>
          </a:xfrm>
          <a:prstGeom prst="rect">
            <a:avLst/>
          </a:prstGeom>
          <a:noFill/>
        </p:spPr>
        <p:txBody>
          <a:bodyPr wrap="square" rtlCol="0">
            <a:spAutoFit/>
          </a:bodyPr>
          <a:lstStyle/>
          <a:p>
            <a:pPr>
              <a:defRPr/>
            </a:pPr>
            <a:r>
              <a:rPr lang="en-US" sz="2400" b="1"/>
              <a:t>Topics to be covered</a:t>
            </a:r>
            <a:endParaRPr/>
          </a:p>
          <a:p>
            <a:pPr marL="800100" lvl="1" indent="-342900">
              <a:buFont typeface="Wingdings"/>
              <a:buChar char="§"/>
              <a:defRPr/>
            </a:pPr>
            <a:r>
              <a:rPr lang="en-US" sz="2400">
                <a:solidFill>
                  <a:schemeClr val="bg1">
                    <a:lumMod val="50000"/>
                  </a:schemeClr>
                </a:solidFill>
              </a:rPr>
              <a:t>Queue – Introduction</a:t>
            </a:r>
            <a:endParaRPr/>
          </a:p>
          <a:p>
            <a:pPr marL="800100" lvl="1" indent="-342900">
              <a:buFont typeface="Wingdings"/>
              <a:buChar char="§"/>
              <a:defRPr/>
            </a:pPr>
            <a:r>
              <a:rPr lang="en-US" sz="2400">
                <a:solidFill>
                  <a:schemeClr val="bg1">
                    <a:lumMod val="50000"/>
                  </a:schemeClr>
                </a:solidFill>
              </a:rPr>
              <a:t>Applications of Queue</a:t>
            </a:r>
            <a:endParaRPr/>
          </a:p>
          <a:p>
            <a:pPr marL="800100" lvl="1" indent="-342900">
              <a:buFont typeface="Wingdings"/>
              <a:buChar char="§"/>
              <a:defRPr/>
            </a:pPr>
            <a:r>
              <a:rPr lang="en-US" sz="2400">
                <a:solidFill>
                  <a:schemeClr val="bg1">
                    <a:lumMod val="50000"/>
                  </a:schemeClr>
                </a:solidFill>
              </a:rPr>
              <a:t>Operations on Queue</a:t>
            </a:r>
            <a:endParaRPr/>
          </a:p>
          <a:p>
            <a:pPr marL="800100" lvl="1" indent="-342900">
              <a:buFont typeface="Wingdings"/>
              <a:buChar char="§"/>
              <a:defRPr/>
            </a:pPr>
            <a:r>
              <a:rPr lang="en-US" sz="2400">
                <a:solidFill>
                  <a:schemeClr val="bg1">
                    <a:lumMod val="50000"/>
                  </a:schemeClr>
                </a:solidFill>
              </a:rPr>
              <a:t>Circular Queue – Introduction</a:t>
            </a:r>
            <a:endParaRPr/>
          </a:p>
          <a:p>
            <a:pPr marL="800100" lvl="1" indent="-342900">
              <a:buFont typeface="Wingdings"/>
              <a:buChar char="§"/>
              <a:defRPr/>
            </a:pPr>
            <a:r>
              <a:rPr lang="en-US" sz="2400">
                <a:solidFill>
                  <a:schemeClr val="bg1">
                    <a:lumMod val="50000"/>
                  </a:schemeClr>
                </a:solidFill>
              </a:rPr>
              <a:t>Operations on Circular Queue</a:t>
            </a:r>
            <a:endParaRPr/>
          </a:p>
          <a:p>
            <a:pPr marL="800100" lvl="1" indent="-342900">
              <a:buFont typeface="Wingdings"/>
              <a:buChar char="§"/>
              <a:defRPr/>
            </a:pPr>
            <a:r>
              <a:rPr lang="en-US" sz="2400">
                <a:solidFill>
                  <a:schemeClr val="bg1">
                    <a:lumMod val="50000"/>
                  </a:schemeClr>
                </a:solidFill>
              </a:rPr>
              <a:t>Double Ended Queue – Introduction</a:t>
            </a:r>
            <a:endParaRPr/>
          </a:p>
          <a:p>
            <a:pPr marL="800100" lvl="1" indent="-342900">
              <a:buFont typeface="Wingdings"/>
              <a:buChar char="§"/>
              <a:defRPr/>
            </a:pPr>
            <a:r>
              <a:rPr lang="en-US" sz="2400">
                <a:solidFill>
                  <a:schemeClr val="bg1">
                    <a:lumMod val="50000"/>
                  </a:schemeClr>
                </a:solidFill>
              </a:rPr>
              <a:t>Operations on Double Ended Queue</a:t>
            </a:r>
            <a:endParaRPr/>
          </a:p>
          <a:p>
            <a:pPr marL="800100" lvl="1" indent="-342900">
              <a:buFont typeface="Wingdings"/>
              <a:buChar char="§"/>
              <a:defRPr/>
            </a:pPr>
            <a:r>
              <a:rPr lang="en-US" sz="2400">
                <a:solidFill>
                  <a:schemeClr val="bg1">
                    <a:lumMod val="50000"/>
                  </a:schemeClr>
                </a:solidFill>
              </a:rPr>
              <a:t>Priority Queue - Introduction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371642876"/>
                                        </p:tgtEl>
                                        <p:attrNameLst>
                                          <p:attrName>style.visibility</p:attrName>
                                        </p:attrNameLst>
                                      </p:cBhvr>
                                      <p:to>
                                        <p:strVal val="visible"/>
                                      </p:to>
                                    </p:set>
                                    <p:animEffect transition="in" filter="wipe(up)">
                                      <p:cBhvr>
                                        <p:cTn id="7" dur="500"/>
                                        <p:tgtEl>
                                          <p:spTgt spid="37164287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78384768"/>
                                        </p:tgtEl>
                                        <p:attrNameLst>
                                          <p:attrName>style.visibility</p:attrName>
                                        </p:attrNameLst>
                                      </p:cBhvr>
                                      <p:to>
                                        <p:strVal val="visible"/>
                                      </p:to>
                                    </p:set>
                                    <p:anim calcmode="lin" valueType="num">
                                      <p:cBhvr>
                                        <p:cTn id="11" dur="500" fill="hold"/>
                                        <p:tgtEl>
                                          <p:spTgt spid="278384768"/>
                                        </p:tgtEl>
                                        <p:attrNameLst>
                                          <p:attrName>ppt_w</p:attrName>
                                        </p:attrNameLst>
                                      </p:cBhvr>
                                      <p:tavLst>
                                        <p:tav tm="0">
                                          <p:val>
                                            <p:fltVal val="0"/>
                                          </p:val>
                                        </p:tav>
                                        <p:tav tm="100000">
                                          <p:val>
                                            <p:strVal val="#ppt_w"/>
                                          </p:val>
                                        </p:tav>
                                      </p:tavLst>
                                    </p:anim>
                                    <p:anim calcmode="lin" valueType="num">
                                      <p:cBhvr>
                                        <p:cTn id="12" dur="500" fill="hold"/>
                                        <p:tgtEl>
                                          <p:spTgt spid="278384768"/>
                                        </p:tgtEl>
                                        <p:attrNameLst>
                                          <p:attrName>ppt_h</p:attrName>
                                        </p:attrNameLst>
                                      </p:cBhvr>
                                      <p:tavLst>
                                        <p:tav tm="0">
                                          <p:val>
                                            <p:fltVal val="0"/>
                                          </p:val>
                                        </p:tav>
                                        <p:tav tm="100000">
                                          <p:val>
                                            <p:strVal val="#ppt_h"/>
                                          </p:val>
                                        </p:tav>
                                      </p:tavLst>
                                    </p:anim>
                                    <p:animEffect transition="in" filter="fade">
                                      <p:cBhvr>
                                        <p:cTn id="13" dur="500"/>
                                        <p:tgtEl>
                                          <p:spTgt spid="278384768"/>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777007302"/>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512849085"/>
                                        </p:tgtEl>
                                        <p:attrNameLst>
                                          <p:attrName>style.visibility</p:attrName>
                                        </p:attrNameLst>
                                      </p:cBhvr>
                                      <p:to>
                                        <p:strVal val="visible"/>
                                      </p:to>
                                    </p:set>
                                    <p:animEffect transition="in" filter="wipe(up)">
                                      <p:cBhvr>
                                        <p:cTn id="20" dur="500"/>
                                        <p:tgtEl>
                                          <p:spTgt spid="512849085"/>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334155573"/>
                                        </p:tgtEl>
                                        <p:attrNameLst>
                                          <p:attrName>style.visibility</p:attrName>
                                        </p:attrNameLst>
                                      </p:cBhvr>
                                      <p:to>
                                        <p:strVal val="visible"/>
                                      </p:to>
                                    </p:set>
                                    <p:animEffect transition="in" filter="wipe(up)">
                                      <p:cBhvr>
                                        <p:cTn id="24" dur="500"/>
                                        <p:tgtEl>
                                          <p:spTgt spid="1334155573"/>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076813722"/>
                                        </p:tgtEl>
                                        <p:attrNameLst>
                                          <p:attrName>style.visibility</p:attrName>
                                        </p:attrNameLst>
                                      </p:cBhvr>
                                      <p:to>
                                        <p:strVal val="visible"/>
                                      </p:to>
                                    </p:set>
                                    <p:animEffect transition="in" filter="wipe(up)">
                                      <p:cBhvr>
                                        <p:cTn id="27" dur="2000"/>
                                        <p:tgtEl>
                                          <p:spTgt spid="1076813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384768" grpId="0" animBg="1"/>
      <p:bldP spid="777007302" grpId="0"/>
      <p:bldP spid="1076813722" grpId="0"/>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3568004" name="Title 3"/>
          <p:cNvSpPr>
            <a:spLocks noGrp="1"/>
          </p:cNvSpPr>
          <p:nvPr>
            <p:ph type="title"/>
          </p:nvPr>
        </p:nvSpPr>
        <p:spPr bwMode="auto"/>
        <p:txBody>
          <a:bodyPr/>
          <a:lstStyle/>
          <a:p>
            <a:pPr>
              <a:defRPr/>
            </a:pPr>
            <a:r>
              <a:rPr lang="en-US"/>
              <a:t>Queue</a:t>
            </a:r>
            <a:endParaRPr/>
          </a:p>
        </p:txBody>
      </p:sp>
      <p:sp>
        <p:nvSpPr>
          <p:cNvPr id="560825538" name="Text Placeholder 4"/>
          <p:cNvSpPr>
            <a:spLocks noGrp="1"/>
          </p:cNvSpPr>
          <p:nvPr>
            <p:ph type="body" idx="1"/>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7365469" name="Title 1"/>
          <p:cNvSpPr>
            <a:spLocks noGrp="1"/>
          </p:cNvSpPr>
          <p:nvPr>
            <p:ph type="title"/>
          </p:nvPr>
        </p:nvSpPr>
        <p:spPr bwMode="auto"/>
        <p:txBody>
          <a:bodyPr/>
          <a:lstStyle/>
          <a:p>
            <a:pPr>
              <a:defRPr/>
            </a:pPr>
            <a:r>
              <a:rPr lang="en-IN"/>
              <a:t>Queue</a:t>
            </a:r>
            <a:endParaRPr lang="en-US"/>
          </a:p>
        </p:txBody>
      </p:sp>
      <p:sp>
        <p:nvSpPr>
          <p:cNvPr id="530056801" name="Content Placeholder 2"/>
          <p:cNvSpPr>
            <a:spLocks noGrp="1"/>
          </p:cNvSpPr>
          <p:nvPr>
            <p:ph idx="4294967295"/>
          </p:nvPr>
        </p:nvSpPr>
        <p:spPr bwMode="auto">
          <a:xfrm>
            <a:off x="131180" y="863444"/>
            <a:ext cx="11929641" cy="5590565"/>
          </a:xfrm>
        </p:spPr>
        <p:txBody>
          <a:bodyPr vert="horz" lIns="91440" tIns="45720" rIns="91440" bIns="45720" rtlCol="0">
            <a:noAutofit/>
          </a:bodyPr>
          <a:lstStyle/>
          <a:p>
            <a:pPr marL="265113" indent="-265113" algn="just">
              <a:buClr>
                <a:schemeClr val="accent6"/>
              </a:buClr>
              <a:buFont typeface="Wingdings 3"/>
              <a:buChar char=""/>
              <a:defRPr/>
            </a:pPr>
            <a:r>
              <a:rPr lang="en-IN" sz="2400"/>
              <a:t>A linear list which permits </a:t>
            </a:r>
            <a:r>
              <a:rPr lang="en-IN" sz="2400" b="1"/>
              <a:t>deletion</a:t>
            </a:r>
            <a:r>
              <a:rPr lang="en-IN" sz="2400"/>
              <a:t> to be performed </a:t>
            </a:r>
            <a:r>
              <a:rPr lang="en-IN" sz="2400">
                <a:solidFill>
                  <a:schemeClr val="accent6"/>
                </a:solidFill>
              </a:rPr>
              <a:t>at one end</a:t>
            </a:r>
            <a:r>
              <a:rPr lang="en-IN" sz="2400"/>
              <a:t> of the list and </a:t>
            </a:r>
            <a:r>
              <a:rPr lang="en-IN" sz="2400" b="1"/>
              <a:t>insertion</a:t>
            </a:r>
            <a:r>
              <a:rPr lang="en-IN" sz="2400"/>
              <a:t> at the </a:t>
            </a:r>
            <a:r>
              <a:rPr lang="en-IN" sz="2400">
                <a:solidFill>
                  <a:schemeClr val="accent6"/>
                </a:solidFill>
              </a:rPr>
              <a:t>other end</a:t>
            </a:r>
            <a:r>
              <a:rPr lang="en-IN" sz="2400"/>
              <a:t> is called </a:t>
            </a:r>
            <a:r>
              <a:rPr lang="en-IN" sz="2400" b="1">
                <a:solidFill>
                  <a:schemeClr val="accent6"/>
                </a:solidFill>
              </a:rPr>
              <a:t>queue</a:t>
            </a:r>
            <a:r>
              <a:rPr lang="en-IN" sz="2400"/>
              <a:t>.</a:t>
            </a:r>
            <a:endParaRPr/>
          </a:p>
          <a:p>
            <a:pPr marL="265113" indent="-265113" algn="just">
              <a:buClr>
                <a:schemeClr val="accent6"/>
              </a:buClr>
              <a:buFont typeface="Wingdings 3"/>
              <a:buChar char=""/>
              <a:defRPr/>
            </a:pPr>
            <a:r>
              <a:rPr lang="en-IN" sz="2400"/>
              <a:t>The information in such a list is processed </a:t>
            </a:r>
            <a:r>
              <a:rPr lang="en-IN" sz="2400" b="1">
                <a:solidFill>
                  <a:schemeClr val="accent6"/>
                </a:solidFill>
              </a:rPr>
              <a:t>FIFO (First In First Out)</a:t>
            </a:r>
            <a:r>
              <a:rPr lang="en-IN" sz="2400" b="1"/>
              <a:t> </a:t>
            </a:r>
            <a:r>
              <a:rPr lang="en-IN" sz="2400"/>
              <a:t>or </a:t>
            </a:r>
            <a:r>
              <a:rPr lang="en-IN" sz="2400">
                <a:solidFill>
                  <a:schemeClr val="accent6"/>
                </a:solidFill>
              </a:rPr>
              <a:t>FCFS </a:t>
            </a:r>
            <a:r>
              <a:rPr lang="en-IN" sz="2400" b="1">
                <a:solidFill>
                  <a:schemeClr val="accent6"/>
                </a:solidFill>
              </a:rPr>
              <a:t>(First Come First Serve)</a:t>
            </a:r>
            <a:r>
              <a:rPr lang="en-IN" sz="2400"/>
              <a:t> manner.</a:t>
            </a:r>
            <a:endParaRPr/>
          </a:p>
          <a:p>
            <a:pPr marL="265113" indent="-265113" algn="just">
              <a:buClr>
                <a:schemeClr val="accent6"/>
              </a:buClr>
              <a:buFont typeface="Wingdings 3"/>
              <a:buChar char=""/>
              <a:defRPr/>
            </a:pPr>
            <a:r>
              <a:rPr lang="en-IN" sz="2400" b="1">
                <a:solidFill>
                  <a:schemeClr val="accent6"/>
                </a:solidFill>
              </a:rPr>
              <a:t>Front</a:t>
            </a:r>
            <a:r>
              <a:rPr lang="en-IN" sz="2400"/>
              <a:t> is the end of queue from where an element </a:t>
            </a:r>
            <a:r>
              <a:rPr lang="en-IN" sz="2400" b="1">
                <a:solidFill>
                  <a:schemeClr val="accent6"/>
                </a:solidFill>
              </a:rPr>
              <a:t>is deleted</a:t>
            </a:r>
            <a:r>
              <a:rPr lang="en-IN" sz="2400"/>
              <a:t>.</a:t>
            </a:r>
            <a:endParaRPr/>
          </a:p>
          <a:p>
            <a:pPr marL="265113" indent="-265113" algn="just">
              <a:buClr>
                <a:schemeClr val="accent6"/>
              </a:buClr>
              <a:buFont typeface="Wingdings 3"/>
              <a:buChar char=""/>
              <a:defRPr/>
            </a:pPr>
            <a:r>
              <a:rPr lang="en-IN" sz="2400" b="1">
                <a:solidFill>
                  <a:schemeClr val="accent6"/>
                </a:solidFill>
              </a:rPr>
              <a:t>Rear</a:t>
            </a:r>
            <a:r>
              <a:rPr lang="en-IN" sz="2400"/>
              <a:t> is the end of queue at which new element </a:t>
            </a:r>
            <a:r>
              <a:rPr lang="en-IN" sz="2400" b="1">
                <a:solidFill>
                  <a:schemeClr val="accent6"/>
                </a:solidFill>
              </a:rPr>
              <a:t>is inserted</a:t>
            </a:r>
            <a:r>
              <a:rPr lang="en-IN" sz="2400"/>
              <a:t>.</a:t>
            </a:r>
            <a:endParaRPr/>
          </a:p>
          <a:p>
            <a:pPr marL="265113" indent="-265113" algn="just">
              <a:buClr>
                <a:schemeClr val="accent6"/>
              </a:buClr>
              <a:buFont typeface="Wingdings 3"/>
              <a:buChar char=""/>
              <a:defRPr/>
            </a:pPr>
            <a:r>
              <a:rPr lang="en-IN" sz="2400" b="1">
                <a:solidFill>
                  <a:schemeClr val="accent6"/>
                </a:solidFill>
              </a:rPr>
              <a:t>Insertion</a:t>
            </a:r>
            <a:r>
              <a:rPr lang="en-IN" sz="2400"/>
              <a:t> operation is called </a:t>
            </a:r>
            <a:r>
              <a:rPr lang="en-IN" sz="2400" b="1"/>
              <a:t>Enqueue</a:t>
            </a:r>
            <a:r>
              <a:rPr lang="en-IN" sz="2400"/>
              <a:t> &amp; </a:t>
            </a:r>
            <a:r>
              <a:rPr lang="en-IN" sz="2400" b="1">
                <a:solidFill>
                  <a:schemeClr val="accent6"/>
                </a:solidFill>
              </a:rPr>
              <a:t>deletion</a:t>
            </a:r>
            <a:r>
              <a:rPr lang="en-IN" sz="2400"/>
              <a:t> operation is called </a:t>
            </a:r>
            <a:r>
              <a:rPr lang="en-IN" sz="2400" b="1"/>
              <a:t>Dequeue</a:t>
            </a:r>
            <a:r>
              <a:rPr lang="en-IN" sz="2400"/>
              <a:t>.</a:t>
            </a:r>
            <a:endParaRPr/>
          </a:p>
          <a:p>
            <a:pPr marL="265113" indent="-265113" algn="just">
              <a:buClr>
                <a:schemeClr val="accent6"/>
              </a:buClr>
              <a:buFont typeface="Wingdings 3"/>
              <a:buChar char=""/>
              <a:defRPr/>
            </a:pPr>
            <a:endParaRPr lang="en-IN" sz="2400"/>
          </a:p>
        </p:txBody>
      </p:sp>
      <p:grpSp>
        <p:nvGrpSpPr>
          <p:cNvPr id="2016458865" name="Group 36"/>
          <p:cNvGrpSpPr/>
          <p:nvPr/>
        </p:nvGrpSpPr>
        <p:grpSpPr bwMode="auto">
          <a:xfrm>
            <a:off x="4026260" y="4396713"/>
            <a:ext cx="3779856" cy="552889"/>
            <a:chOff x="1066800" y="3823447"/>
            <a:chExt cx="4114800" cy="552889"/>
          </a:xfrm>
        </p:grpSpPr>
        <p:cxnSp>
          <p:nvCxnSpPr>
            <p:cNvPr id="44" name="Straight Connector 43"/>
            <p:cNvCxnSpPr/>
            <p:nvPr/>
          </p:nvCxnSpPr>
          <p:spPr bwMode="auto">
            <a:xfrm>
              <a:off x="1066800" y="3823447"/>
              <a:ext cx="41148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6" name="Straight Connector 45"/>
            <p:cNvCxnSpPr/>
            <p:nvPr/>
          </p:nvCxnSpPr>
          <p:spPr bwMode="auto">
            <a:xfrm>
              <a:off x="1066800" y="4376336"/>
              <a:ext cx="41148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sp>
        <p:nvSpPr>
          <p:cNvPr id="1739816181" name="Rectangle 46"/>
          <p:cNvSpPr/>
          <p:nvPr/>
        </p:nvSpPr>
        <p:spPr bwMode="auto">
          <a:xfrm>
            <a:off x="4050536"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10</a:t>
            </a:r>
            <a:endParaRPr lang="en-US" b="1"/>
          </a:p>
        </p:txBody>
      </p:sp>
      <p:sp>
        <p:nvSpPr>
          <p:cNvPr id="756214415" name="Rectangle 47"/>
          <p:cNvSpPr/>
          <p:nvPr/>
        </p:nvSpPr>
        <p:spPr bwMode="auto">
          <a:xfrm>
            <a:off x="6533460"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50</a:t>
            </a:r>
            <a:endParaRPr lang="en-US" b="1"/>
          </a:p>
        </p:txBody>
      </p:sp>
      <p:sp>
        <p:nvSpPr>
          <p:cNvPr id="313757846" name="Rectangle 48"/>
          <p:cNvSpPr/>
          <p:nvPr/>
        </p:nvSpPr>
        <p:spPr bwMode="auto">
          <a:xfrm>
            <a:off x="5293470"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5</a:t>
            </a:r>
            <a:endParaRPr lang="en-US" b="1"/>
          </a:p>
        </p:txBody>
      </p:sp>
      <p:sp>
        <p:nvSpPr>
          <p:cNvPr id="213912551" name="Rectangle 49"/>
          <p:cNvSpPr/>
          <p:nvPr/>
        </p:nvSpPr>
        <p:spPr bwMode="auto">
          <a:xfrm>
            <a:off x="5911911"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80</a:t>
            </a:r>
            <a:endParaRPr lang="en-US" b="1"/>
          </a:p>
        </p:txBody>
      </p:sp>
      <p:sp>
        <p:nvSpPr>
          <p:cNvPr id="466177251" name="Rectangle 50"/>
          <p:cNvSpPr/>
          <p:nvPr/>
        </p:nvSpPr>
        <p:spPr bwMode="auto">
          <a:xfrm>
            <a:off x="4673534"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a:t>
            </a:r>
            <a:endParaRPr lang="en-US" b="1"/>
          </a:p>
        </p:txBody>
      </p:sp>
      <p:grpSp>
        <p:nvGrpSpPr>
          <p:cNvPr id="1935648742" name="Group 70"/>
          <p:cNvGrpSpPr/>
          <p:nvPr/>
        </p:nvGrpSpPr>
        <p:grpSpPr bwMode="auto">
          <a:xfrm>
            <a:off x="3810000" y="5257800"/>
            <a:ext cx="4081670" cy="533400"/>
            <a:chOff x="2286000" y="5257800"/>
            <a:chExt cx="4081670" cy="533400"/>
          </a:xfrm>
        </p:grpSpPr>
        <p:grpSp>
          <p:nvGrpSpPr>
            <p:cNvPr id="7" name="Group 6"/>
            <p:cNvGrpSpPr/>
            <p:nvPr/>
          </p:nvGrpSpPr>
          <p:grpSpPr bwMode="auto">
            <a:xfrm>
              <a:off x="2286000" y="5257800"/>
              <a:ext cx="4081670" cy="533400"/>
              <a:chOff x="2286000" y="5486400"/>
              <a:chExt cx="4081670" cy="533400"/>
            </a:xfrm>
          </p:grpSpPr>
          <p:cxnSp>
            <p:nvCxnSpPr>
              <p:cNvPr id="5" name="Straight Connector 4"/>
              <p:cNvCxnSpPr/>
              <p:nvPr/>
            </p:nvCxnSpPr>
            <p:spPr bwMode="auto">
              <a:xfrm>
                <a:off x="2286000" y="54864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bwMode="auto">
              <a:xfrm>
                <a:off x="2286000" y="60198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grpSp>
        <p:grpSp>
          <p:nvGrpSpPr>
            <p:cNvPr id="54" name="Group 53"/>
            <p:cNvGrpSpPr/>
            <p:nvPr/>
          </p:nvGrpSpPr>
          <p:grpSpPr bwMode="auto">
            <a:xfrm>
              <a:off x="5153960" y="5257800"/>
              <a:ext cx="533400" cy="533400"/>
              <a:chOff x="1600200" y="5486400"/>
              <a:chExt cx="533400" cy="533400"/>
            </a:xfrm>
          </p:grpSpPr>
          <p:sp>
            <p:nvSpPr>
              <p:cNvPr id="6" name="Rectangle 5"/>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2" name="Straight Connector 11"/>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55" name="Group 54"/>
            <p:cNvGrpSpPr/>
            <p:nvPr/>
          </p:nvGrpSpPr>
          <p:grpSpPr bwMode="auto">
            <a:xfrm>
              <a:off x="4614696" y="5257800"/>
              <a:ext cx="533400" cy="533400"/>
              <a:chOff x="1600200" y="5486400"/>
              <a:chExt cx="533400" cy="533400"/>
            </a:xfrm>
          </p:grpSpPr>
          <p:sp>
            <p:nvSpPr>
              <p:cNvPr id="56" name="Rectangle 55"/>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57" name="Straight Connector 56"/>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59" name="Group 58"/>
            <p:cNvGrpSpPr/>
            <p:nvPr/>
          </p:nvGrpSpPr>
          <p:grpSpPr bwMode="auto">
            <a:xfrm>
              <a:off x="4071248" y="5257800"/>
              <a:ext cx="533400" cy="533400"/>
              <a:chOff x="1600200" y="5486400"/>
              <a:chExt cx="533400" cy="533400"/>
            </a:xfrm>
          </p:grpSpPr>
          <p:sp>
            <p:nvSpPr>
              <p:cNvPr id="60" name="Rectangle 59"/>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61" name="Straight Connector 60"/>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2" name="Straight Connector 61"/>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63" name="Group 62"/>
            <p:cNvGrpSpPr/>
            <p:nvPr/>
          </p:nvGrpSpPr>
          <p:grpSpPr bwMode="auto">
            <a:xfrm>
              <a:off x="3527800" y="5257800"/>
              <a:ext cx="533400" cy="533400"/>
              <a:chOff x="1600200" y="5486400"/>
              <a:chExt cx="533400" cy="533400"/>
            </a:xfrm>
          </p:grpSpPr>
          <p:sp>
            <p:nvSpPr>
              <p:cNvPr id="64" name="Rectangle 63"/>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65" name="Straight Connector 64"/>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6" name="Straight Connector 65"/>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67" name="Group 66"/>
            <p:cNvGrpSpPr/>
            <p:nvPr/>
          </p:nvGrpSpPr>
          <p:grpSpPr bwMode="auto">
            <a:xfrm>
              <a:off x="2984352" y="5257800"/>
              <a:ext cx="533400" cy="533400"/>
              <a:chOff x="1600200" y="5486400"/>
              <a:chExt cx="533400" cy="533400"/>
            </a:xfrm>
          </p:grpSpPr>
          <p:sp>
            <p:nvSpPr>
              <p:cNvPr id="68" name="Rectangle 67"/>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69" name="Straight Connector 68"/>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0" name="Straight Connector 69"/>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grpSp>
        <p:nvGrpSpPr>
          <p:cNvPr id="938756330" name="Group 76"/>
          <p:cNvGrpSpPr/>
          <p:nvPr/>
        </p:nvGrpSpPr>
        <p:grpSpPr bwMode="auto">
          <a:xfrm>
            <a:off x="6638203" y="5791200"/>
            <a:ext cx="612914" cy="609600"/>
            <a:chOff x="5119632" y="5791200"/>
            <a:chExt cx="612914" cy="609600"/>
          </a:xfrm>
        </p:grpSpPr>
        <p:sp>
          <p:nvSpPr>
            <p:cNvPr id="72" name="TextBox 71"/>
            <p:cNvSpPr txBox="1"/>
            <p:nvPr/>
          </p:nvSpPr>
          <p:spPr bwMode="auto">
            <a:xfrm>
              <a:off x="5119632" y="6062246"/>
              <a:ext cx="612914" cy="338554"/>
            </a:xfrm>
            <a:prstGeom prst="rect">
              <a:avLst/>
            </a:prstGeom>
            <a:noFill/>
          </p:spPr>
          <p:txBody>
            <a:bodyPr wrap="square" rtlCol="0">
              <a:spAutoFit/>
            </a:bodyPr>
            <a:lstStyle/>
            <a:p>
              <a:pPr algn="ctr">
                <a:defRPr/>
              </a:pPr>
              <a:r>
                <a:rPr lang="en-IN" sz="1600" b="1"/>
                <a:t>Rear</a:t>
              </a:r>
              <a:endParaRPr lang="en-US" sz="1600" b="1"/>
            </a:p>
          </p:txBody>
        </p:sp>
        <p:cxnSp>
          <p:nvCxnSpPr>
            <p:cNvPr id="76" name="Straight Arrow Connector 75"/>
            <p:cNvCxnSpPr>
              <a:stCxn id="72" idx="0"/>
              <a:endCxn id="6" idx="2"/>
            </p:cNvCxnSpPr>
            <p:nvPr/>
          </p:nvCxnSpPr>
          <p:spPr bwMode="auto">
            <a:xfrm flipH="1" flipV="1">
              <a:off x="5420660" y="5791200"/>
              <a:ext cx="5429" cy="271046"/>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grpSp>
        <p:nvGrpSpPr>
          <p:cNvPr id="1924259865" name="Group 85"/>
          <p:cNvGrpSpPr/>
          <p:nvPr/>
        </p:nvGrpSpPr>
        <p:grpSpPr bwMode="auto">
          <a:xfrm>
            <a:off x="4430060" y="5757446"/>
            <a:ext cx="689983" cy="609600"/>
            <a:chOff x="5069392" y="5791200"/>
            <a:chExt cx="689983" cy="609600"/>
          </a:xfrm>
        </p:grpSpPr>
        <p:sp>
          <p:nvSpPr>
            <p:cNvPr id="79" name="TextBox 78"/>
            <p:cNvSpPr txBox="1"/>
            <p:nvPr/>
          </p:nvSpPr>
          <p:spPr bwMode="auto">
            <a:xfrm>
              <a:off x="5069392" y="6062246"/>
              <a:ext cx="689983" cy="338554"/>
            </a:xfrm>
            <a:prstGeom prst="rect">
              <a:avLst/>
            </a:prstGeom>
            <a:noFill/>
          </p:spPr>
          <p:txBody>
            <a:bodyPr wrap="square" rtlCol="0">
              <a:spAutoFit/>
            </a:bodyPr>
            <a:lstStyle/>
            <a:p>
              <a:pPr algn="ctr">
                <a:defRPr/>
              </a:pPr>
              <a:r>
                <a:rPr lang="en-IN" sz="1600" b="1"/>
                <a:t>Front</a:t>
              </a:r>
              <a:endParaRPr lang="en-US" sz="1600" b="1"/>
            </a:p>
          </p:txBody>
        </p:sp>
        <p:cxnSp>
          <p:nvCxnSpPr>
            <p:cNvPr id="85" name="Straight Arrow Connector 84"/>
            <p:cNvCxnSpPr>
              <a:stCxn id="79" idx="0"/>
              <a:endCxn id="6" idx="2"/>
            </p:cNvCxnSpPr>
            <p:nvPr/>
          </p:nvCxnSpPr>
          <p:spPr bwMode="auto">
            <a:xfrm flipV="1">
              <a:off x="5414384" y="5791200"/>
              <a:ext cx="6276" cy="271046"/>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1683848349" name="Rectangle 41"/>
          <p:cNvSpPr/>
          <p:nvPr/>
        </p:nvSpPr>
        <p:spPr bwMode="auto">
          <a:xfrm>
            <a:off x="7156056"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100</a:t>
            </a:r>
            <a:endParaRPr lang="en-US" b="1"/>
          </a:p>
        </p:txBody>
      </p:sp>
      <p:cxnSp>
        <p:nvCxnSpPr>
          <p:cNvPr id="237122827" name="Straight Arrow Connector 9"/>
          <p:cNvCxnSpPr/>
          <p:nvPr/>
        </p:nvCxnSpPr>
        <p:spPr bwMode="auto">
          <a:xfrm flipH="1">
            <a:off x="7543800" y="5524500"/>
            <a:ext cx="990600" cy="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sp>
        <p:nvSpPr>
          <p:cNvPr id="2019992372" name="TextBox 72"/>
          <p:cNvSpPr txBox="1"/>
          <p:nvPr/>
        </p:nvSpPr>
        <p:spPr bwMode="auto">
          <a:xfrm>
            <a:off x="8534400" y="5352225"/>
            <a:ext cx="990600" cy="338554"/>
          </a:xfrm>
          <a:prstGeom prst="rect">
            <a:avLst/>
          </a:prstGeom>
          <a:noFill/>
        </p:spPr>
        <p:txBody>
          <a:bodyPr wrap="square" rtlCol="0">
            <a:spAutoFit/>
          </a:bodyPr>
          <a:lstStyle/>
          <a:p>
            <a:pPr algn="ctr">
              <a:defRPr/>
            </a:pPr>
            <a:r>
              <a:rPr lang="en-IN" sz="1600" b="1"/>
              <a:t>Insertion</a:t>
            </a:r>
            <a:endParaRPr lang="en-US" sz="1600" b="1"/>
          </a:p>
        </p:txBody>
      </p:sp>
      <p:cxnSp>
        <p:nvCxnSpPr>
          <p:cNvPr id="836969527" name="Straight Arrow Connector 73"/>
          <p:cNvCxnSpPr/>
          <p:nvPr/>
        </p:nvCxnSpPr>
        <p:spPr bwMode="auto">
          <a:xfrm flipH="1">
            <a:off x="3228860" y="5549747"/>
            <a:ext cx="990600" cy="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sp>
        <p:nvSpPr>
          <p:cNvPr id="1926500368" name="TextBox 74"/>
          <p:cNvSpPr txBox="1"/>
          <p:nvPr/>
        </p:nvSpPr>
        <p:spPr bwMode="auto">
          <a:xfrm>
            <a:off x="2226325" y="5374824"/>
            <a:ext cx="990600" cy="338554"/>
          </a:xfrm>
          <a:prstGeom prst="rect">
            <a:avLst/>
          </a:prstGeom>
          <a:noFill/>
        </p:spPr>
        <p:txBody>
          <a:bodyPr wrap="square" rtlCol="0">
            <a:spAutoFit/>
          </a:bodyPr>
          <a:lstStyle/>
          <a:p>
            <a:pPr algn="ctr">
              <a:defRPr/>
            </a:pPr>
            <a:r>
              <a:rPr lang="en-IN" sz="1600" b="1"/>
              <a:t>Deletion</a:t>
            </a:r>
            <a:endParaRPr lang="en-US"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00568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00568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64588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39816181"/>
                                        </p:tgtEl>
                                        <p:attrNameLst>
                                          <p:attrName>style.visibility</p:attrName>
                                        </p:attrNameLst>
                                      </p:cBhvr>
                                      <p:to>
                                        <p:strVal val="visible"/>
                                      </p:to>
                                    </p:set>
                                  </p:childTnLst>
                                </p:cTn>
                              </p:par>
                              <p:par>
                                <p:cTn id="19" presetID="35" presetClass="path" presetSubtype="0" accel="50000" decel="50000" fill="hold" grpId="1" nodeType="withEffect">
                                  <p:stCondLst>
                                    <p:cond delay="0"/>
                                  </p:stCondLst>
                                  <p:childTnLst>
                                    <p:animMotion origin="layout" path="M 0.64167 2.22222E-6 L 0 2.22222E-6 " pathEditMode="relative" rAng="0" ptsTypes="AA">
                                      <p:cBhvr>
                                        <p:cTn id="20" dur="2000" fill="hold"/>
                                        <p:tgtEl>
                                          <p:spTgt spid="1739816181"/>
                                        </p:tgtEl>
                                        <p:attrNameLst>
                                          <p:attrName>ppt_x</p:attrName>
                                          <p:attrName>ppt_y</p:attrName>
                                        </p:attrNameLst>
                                      </p:cBhvr>
                                      <p:rCtr x="-32083" y="0"/>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66177251"/>
                                        </p:tgtEl>
                                        <p:attrNameLst>
                                          <p:attrName>style.visibility</p:attrName>
                                        </p:attrNameLst>
                                      </p:cBhvr>
                                      <p:to>
                                        <p:strVal val="visible"/>
                                      </p:to>
                                    </p:set>
                                  </p:childTnLst>
                                </p:cTn>
                              </p:par>
                            </p:childTnLst>
                          </p:cTn>
                        </p:par>
                        <p:par>
                          <p:cTn id="25" fill="hold">
                            <p:stCondLst>
                              <p:cond delay="0"/>
                            </p:stCondLst>
                            <p:childTnLst>
                              <p:par>
                                <p:cTn id="26" presetID="35" presetClass="path" presetSubtype="0" accel="50000" decel="50000" fill="hold" grpId="1" nodeType="afterEffect">
                                  <p:stCondLst>
                                    <p:cond delay="0"/>
                                  </p:stCondLst>
                                  <p:childTnLst>
                                    <p:animMotion origin="layout" path="M 0.57031 4.80444E-6 L 2.5E-6 4.80444E-6 " pathEditMode="relative" rAng="0" ptsTypes="AA">
                                      <p:cBhvr>
                                        <p:cTn id="27" dur="2000" fill="hold"/>
                                        <p:tgtEl>
                                          <p:spTgt spid="466177251"/>
                                        </p:tgtEl>
                                        <p:attrNameLst>
                                          <p:attrName>ppt_x</p:attrName>
                                          <p:attrName>ppt_y</p:attrName>
                                        </p:attrNameLst>
                                      </p:cBhvr>
                                      <p:rCtr x="-28524" y="0"/>
                                    </p:animMotion>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13757846"/>
                                        </p:tgtEl>
                                        <p:attrNameLst>
                                          <p:attrName>style.visibility</p:attrName>
                                        </p:attrNameLst>
                                      </p:cBhvr>
                                      <p:to>
                                        <p:strVal val="visible"/>
                                      </p:to>
                                    </p:set>
                                  </p:childTnLst>
                                </p:cTn>
                              </p:par>
                            </p:childTnLst>
                          </p:cTn>
                        </p:par>
                        <p:par>
                          <p:cTn id="32" fill="hold">
                            <p:stCondLst>
                              <p:cond delay="0"/>
                            </p:stCondLst>
                            <p:childTnLst>
                              <p:par>
                                <p:cTn id="33" presetID="35" presetClass="path" presetSubtype="0" accel="50000" decel="50000" fill="hold" grpId="1" nodeType="afterEffect">
                                  <p:stCondLst>
                                    <p:cond delay="0"/>
                                  </p:stCondLst>
                                  <p:childTnLst>
                                    <p:animMotion origin="layout" path="M 0.50347 0 L 2.22222E-6 0 " pathEditMode="relative" rAng="0" ptsTypes="AA">
                                      <p:cBhvr>
                                        <p:cTn id="34" dur="2000" fill="hold"/>
                                        <p:tgtEl>
                                          <p:spTgt spid="313757846"/>
                                        </p:tgtEl>
                                        <p:attrNameLst>
                                          <p:attrName>ppt_x</p:attrName>
                                          <p:attrName>ppt_y</p:attrName>
                                        </p:attrNameLst>
                                      </p:cBhvr>
                                      <p:rCtr x="-25174" y="0"/>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3912551"/>
                                        </p:tgtEl>
                                        <p:attrNameLst>
                                          <p:attrName>style.visibility</p:attrName>
                                        </p:attrNameLst>
                                      </p:cBhvr>
                                      <p:to>
                                        <p:strVal val="visible"/>
                                      </p:to>
                                    </p:set>
                                  </p:childTnLst>
                                </p:cTn>
                              </p:par>
                            </p:childTnLst>
                          </p:cTn>
                        </p:par>
                        <p:par>
                          <p:cTn id="39" fill="hold">
                            <p:stCondLst>
                              <p:cond delay="0"/>
                            </p:stCondLst>
                            <p:childTnLst>
                              <p:par>
                                <p:cTn id="40" presetID="35" presetClass="path" presetSubtype="0" accel="50000" decel="50000" fill="hold" grpId="1" nodeType="afterEffect">
                                  <p:stCondLst>
                                    <p:cond delay="0"/>
                                  </p:stCondLst>
                                  <p:childTnLst>
                                    <p:animMotion origin="layout" path="M 0.43507 -8.25815E-7 L -5.55556E-7 -8.25815E-7 " pathEditMode="relative" rAng="0" ptsTypes="AA">
                                      <p:cBhvr>
                                        <p:cTn id="41" dur="2000" fill="hold"/>
                                        <p:tgtEl>
                                          <p:spTgt spid="213912551"/>
                                        </p:tgtEl>
                                        <p:attrNameLst>
                                          <p:attrName>ppt_x</p:attrName>
                                          <p:attrName>ppt_y</p:attrName>
                                        </p:attrNameLst>
                                      </p:cBhvr>
                                      <p:rCtr x="-21753" y="0"/>
                                    </p:animMotion>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56214415"/>
                                        </p:tgtEl>
                                        <p:attrNameLst>
                                          <p:attrName>style.visibility</p:attrName>
                                        </p:attrNameLst>
                                      </p:cBhvr>
                                      <p:to>
                                        <p:strVal val="visible"/>
                                      </p:to>
                                    </p:set>
                                  </p:childTnLst>
                                </p:cTn>
                              </p:par>
                            </p:childTnLst>
                          </p:cTn>
                        </p:par>
                        <p:par>
                          <p:cTn id="46" fill="hold">
                            <p:stCondLst>
                              <p:cond delay="0"/>
                            </p:stCondLst>
                            <p:childTnLst>
                              <p:par>
                                <p:cTn id="47" presetID="35" presetClass="path" presetSubtype="0" accel="50000" decel="50000" fill="hold" grpId="1" nodeType="afterEffect">
                                  <p:stCondLst>
                                    <p:cond delay="0"/>
                                  </p:stCondLst>
                                  <p:childTnLst>
                                    <p:animMotion origin="layout" path="M 0.36667 -8.25815E-7 L -3.33333E-6 -8.25815E-7 " pathEditMode="relative" rAng="0" ptsTypes="AA">
                                      <p:cBhvr>
                                        <p:cTn id="48" dur="2000" fill="hold"/>
                                        <p:tgtEl>
                                          <p:spTgt spid="756214415"/>
                                        </p:tgtEl>
                                        <p:attrNameLst>
                                          <p:attrName>ppt_x</p:attrName>
                                          <p:attrName>ppt_y</p:attrName>
                                        </p:attrNameLst>
                                      </p:cBhvr>
                                      <p:rCtr x="-18333"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83848349"/>
                                        </p:tgtEl>
                                        <p:attrNameLst>
                                          <p:attrName>style.visibility</p:attrName>
                                        </p:attrNameLst>
                                      </p:cBhvr>
                                      <p:to>
                                        <p:strVal val="visible"/>
                                      </p:to>
                                    </p:set>
                                  </p:childTnLst>
                                </p:cTn>
                              </p:par>
                            </p:childTnLst>
                          </p:cTn>
                        </p:par>
                        <p:par>
                          <p:cTn id="53" fill="hold">
                            <p:stCondLst>
                              <p:cond delay="0"/>
                            </p:stCondLst>
                            <p:childTnLst>
                              <p:par>
                                <p:cTn id="54" presetID="35" presetClass="path" presetSubtype="0" accel="50000" decel="50000" fill="hold" grpId="1" nodeType="afterEffect">
                                  <p:stCondLst>
                                    <p:cond delay="0"/>
                                  </p:stCondLst>
                                  <p:childTnLst>
                                    <p:animMotion origin="layout" path="M 0.29878 -2.5214E-6 L 4.72222E-6 -2.5214E-6 " pathEditMode="relative" rAng="0" ptsTypes="AA">
                                      <p:cBhvr>
                                        <p:cTn id="55" dur="2000" fill="hold"/>
                                        <p:tgtEl>
                                          <p:spTgt spid="1683848349"/>
                                        </p:tgtEl>
                                        <p:attrNameLst>
                                          <p:attrName>ppt_x</p:attrName>
                                          <p:attrName>ppt_y</p:attrName>
                                        </p:attrNameLst>
                                      </p:cBhvr>
                                      <p:rCtr x="-14948" y="0"/>
                                    </p:animMotion>
                                  </p:childTnLst>
                                </p:cTn>
                              </p:par>
                            </p:childTnLst>
                          </p:cTn>
                        </p:par>
                      </p:childTnLst>
                    </p:cTn>
                  </p:par>
                  <p:par>
                    <p:cTn id="56" fill="hold">
                      <p:stCondLst>
                        <p:cond delay="indefinite"/>
                      </p:stCondLst>
                      <p:childTnLst>
                        <p:par>
                          <p:cTn id="57" fill="hold">
                            <p:stCondLst>
                              <p:cond delay="0"/>
                            </p:stCondLst>
                            <p:childTnLst>
                              <p:par>
                                <p:cTn id="58" presetID="35" presetClass="path" presetSubtype="0" accel="50000" decel="50000" fill="hold" grpId="2" nodeType="clickEffect">
                                  <p:stCondLst>
                                    <p:cond delay="0"/>
                                  </p:stCondLst>
                                  <p:childTnLst>
                                    <p:animMotion origin="layout" path="M -2.22222E-6 -0.00092 L -0.25 -0.00092 " pathEditMode="relative" rAng="0" ptsTypes="AA">
                                      <p:cBhvr>
                                        <p:cTn id="59" dur="2000" fill="hold"/>
                                        <p:tgtEl>
                                          <p:spTgt spid="1739816181"/>
                                        </p:tgtEl>
                                        <p:attrNameLst>
                                          <p:attrName>ppt_x</p:attrName>
                                          <p:attrName>ppt_y</p:attrName>
                                        </p:attrNameLst>
                                      </p:cBhvr>
                                      <p:rCtr x="-12500" y="0"/>
                                    </p:animMotion>
                                  </p:childTnLst>
                                </p:cTn>
                              </p:par>
                            </p:childTnLst>
                          </p:cTn>
                        </p:par>
                        <p:par>
                          <p:cTn id="60" fill="hold">
                            <p:stCondLst>
                              <p:cond delay="2000"/>
                            </p:stCondLst>
                            <p:childTnLst>
                              <p:par>
                                <p:cTn id="61" presetID="1" presetClass="exit" presetSubtype="0" fill="hold" grpId="3" nodeType="afterEffect">
                                  <p:stCondLst>
                                    <p:cond delay="0"/>
                                  </p:stCondLst>
                                  <p:childTnLst>
                                    <p:set>
                                      <p:cBhvr>
                                        <p:cTn id="62" dur="1" fill="hold">
                                          <p:stCondLst>
                                            <p:cond delay="0"/>
                                          </p:stCondLst>
                                        </p:cTn>
                                        <p:tgtEl>
                                          <p:spTgt spid="173981618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5" presetClass="path" presetSubtype="0" accel="50000" decel="50000" fill="hold" grpId="2" nodeType="clickEffect">
                                  <p:stCondLst>
                                    <p:cond delay="0"/>
                                  </p:stCondLst>
                                  <p:childTnLst>
                                    <p:animMotion origin="layout" path="M 2.22222E-6 4.08281E-6 L -0.31945 4.08281E-6 " pathEditMode="relative" rAng="0" ptsTypes="AA">
                                      <p:cBhvr>
                                        <p:cTn id="66" dur="2000" fill="hold"/>
                                        <p:tgtEl>
                                          <p:spTgt spid="466177251"/>
                                        </p:tgtEl>
                                        <p:attrNameLst>
                                          <p:attrName>ppt_x</p:attrName>
                                          <p:attrName>ppt_y</p:attrName>
                                        </p:attrNameLst>
                                      </p:cBhvr>
                                      <p:rCtr x="-15972" y="0"/>
                                    </p:animMotion>
                                  </p:childTnLst>
                                </p:cTn>
                              </p:par>
                            </p:childTnLst>
                          </p:cTn>
                        </p:par>
                        <p:par>
                          <p:cTn id="67" fill="hold">
                            <p:stCondLst>
                              <p:cond delay="2000"/>
                            </p:stCondLst>
                            <p:childTnLst>
                              <p:par>
                                <p:cTn id="68" presetID="1" presetClass="exit" presetSubtype="0" fill="hold" grpId="3" nodeType="afterEffect">
                                  <p:stCondLst>
                                    <p:cond delay="0"/>
                                  </p:stCondLst>
                                  <p:childTnLst>
                                    <p:set>
                                      <p:cBhvr>
                                        <p:cTn id="69" dur="1" fill="hold">
                                          <p:stCondLst>
                                            <p:cond delay="0"/>
                                          </p:stCondLst>
                                        </p:cTn>
                                        <p:tgtEl>
                                          <p:spTgt spid="466177251"/>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35" presetClass="path" presetSubtype="0" accel="50000" decel="50000" fill="hold" grpId="2" nodeType="clickEffect">
                                  <p:stCondLst>
                                    <p:cond delay="0"/>
                                  </p:stCondLst>
                                  <p:childTnLst>
                                    <p:animMotion origin="layout" path="M 3.88889E-6 -4.59635E-6 L -0.38716 -4.59635E-6 " pathEditMode="relative" rAng="0" ptsTypes="AA">
                                      <p:cBhvr>
                                        <p:cTn id="73" dur="2000" fill="hold"/>
                                        <p:tgtEl>
                                          <p:spTgt spid="313757846"/>
                                        </p:tgtEl>
                                        <p:attrNameLst>
                                          <p:attrName>ppt_x</p:attrName>
                                          <p:attrName>ppt_y</p:attrName>
                                        </p:attrNameLst>
                                      </p:cBhvr>
                                      <p:rCtr x="-19358" y="0"/>
                                    </p:animMotion>
                                  </p:childTnLst>
                                </p:cTn>
                              </p:par>
                            </p:childTnLst>
                          </p:cTn>
                        </p:par>
                        <p:par>
                          <p:cTn id="74" fill="hold">
                            <p:stCondLst>
                              <p:cond delay="2000"/>
                            </p:stCondLst>
                            <p:childTnLst>
                              <p:par>
                                <p:cTn id="75" presetID="1" presetClass="exit" presetSubtype="0" fill="hold" grpId="3" nodeType="afterEffect">
                                  <p:stCondLst>
                                    <p:cond delay="0"/>
                                  </p:stCondLst>
                                  <p:childTnLst>
                                    <p:set>
                                      <p:cBhvr>
                                        <p:cTn id="76" dur="1" fill="hold">
                                          <p:stCondLst>
                                            <p:cond delay="0"/>
                                          </p:stCondLst>
                                        </p:cTn>
                                        <p:tgtEl>
                                          <p:spTgt spid="313757846"/>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35" presetClass="path" presetSubtype="0" accel="50000" decel="50000" fill="hold" grpId="2" nodeType="clickEffect">
                                  <p:stCondLst>
                                    <p:cond delay="0"/>
                                  </p:stCondLst>
                                  <p:childTnLst>
                                    <p:animMotion origin="layout" path="M -4.44444E-6 -0.00069 L -0.45486 -0.00069 " pathEditMode="relative" rAng="0" ptsTypes="AA">
                                      <p:cBhvr>
                                        <p:cTn id="80" dur="2000" fill="hold"/>
                                        <p:tgtEl>
                                          <p:spTgt spid="213912551"/>
                                        </p:tgtEl>
                                        <p:attrNameLst>
                                          <p:attrName>ppt_x</p:attrName>
                                          <p:attrName>ppt_y</p:attrName>
                                        </p:attrNameLst>
                                      </p:cBhvr>
                                      <p:rCtr x="-22743" y="0"/>
                                    </p:animMotion>
                                  </p:childTnLst>
                                </p:cTn>
                              </p:par>
                            </p:childTnLst>
                          </p:cTn>
                        </p:par>
                        <p:par>
                          <p:cTn id="81" fill="hold">
                            <p:stCondLst>
                              <p:cond delay="2000"/>
                            </p:stCondLst>
                            <p:childTnLst>
                              <p:par>
                                <p:cTn id="82" presetID="1" presetClass="exit" presetSubtype="0" fill="hold" grpId="3" nodeType="afterEffect">
                                  <p:stCondLst>
                                    <p:cond delay="0"/>
                                  </p:stCondLst>
                                  <p:childTnLst>
                                    <p:set>
                                      <p:cBhvr>
                                        <p:cTn id="83" dur="1" fill="hold">
                                          <p:stCondLst>
                                            <p:cond delay="0"/>
                                          </p:stCondLst>
                                        </p:cTn>
                                        <p:tgtEl>
                                          <p:spTgt spid="213912551"/>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5" presetClass="path" presetSubtype="0" accel="50000" decel="50000" fill="hold" grpId="2" nodeType="clickEffect">
                                  <p:stCondLst>
                                    <p:cond delay="0"/>
                                  </p:stCondLst>
                                  <p:childTnLst>
                                    <p:animMotion origin="layout" path="M 0 0.00092 L -0.51458 0.00092 " pathEditMode="relative" rAng="0" ptsTypes="AA">
                                      <p:cBhvr>
                                        <p:cTn id="87" dur="2000" fill="hold"/>
                                        <p:tgtEl>
                                          <p:spTgt spid="756214415"/>
                                        </p:tgtEl>
                                        <p:attrNameLst>
                                          <p:attrName>ppt_x</p:attrName>
                                          <p:attrName>ppt_y</p:attrName>
                                        </p:attrNameLst>
                                      </p:cBhvr>
                                      <p:rCtr x="-25729" y="0"/>
                                    </p:animMotion>
                                  </p:childTnLst>
                                </p:cTn>
                              </p:par>
                            </p:childTnLst>
                          </p:cTn>
                        </p:par>
                        <p:par>
                          <p:cTn id="88" fill="hold">
                            <p:stCondLst>
                              <p:cond delay="2000"/>
                            </p:stCondLst>
                            <p:childTnLst>
                              <p:par>
                                <p:cTn id="89" presetID="1" presetClass="exit" presetSubtype="0" fill="hold" grpId="3" nodeType="afterEffect">
                                  <p:stCondLst>
                                    <p:cond delay="0"/>
                                  </p:stCondLst>
                                  <p:childTnLst>
                                    <p:set>
                                      <p:cBhvr>
                                        <p:cTn id="90" dur="1" fill="hold">
                                          <p:stCondLst>
                                            <p:cond delay="0"/>
                                          </p:stCondLst>
                                        </p:cTn>
                                        <p:tgtEl>
                                          <p:spTgt spid="756214415"/>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35" presetClass="path" presetSubtype="0" accel="50000" decel="50000" fill="hold" grpId="2" nodeType="clickEffect">
                                  <p:stCondLst>
                                    <p:cond delay="0"/>
                                  </p:stCondLst>
                                  <p:childTnLst>
                                    <p:animMotion origin="layout" path="M 4.44444E-6 -0.00093 L -0.58264 -0.00093 " pathEditMode="relative" rAng="0" ptsTypes="AA">
                                      <p:cBhvr>
                                        <p:cTn id="94" dur="2000" fill="hold"/>
                                        <p:tgtEl>
                                          <p:spTgt spid="1683848349"/>
                                        </p:tgtEl>
                                        <p:attrNameLst>
                                          <p:attrName>ppt_x</p:attrName>
                                          <p:attrName>ppt_y</p:attrName>
                                        </p:attrNameLst>
                                      </p:cBhvr>
                                      <p:rCtr x="-29132" y="0"/>
                                    </p:animMotion>
                                  </p:childTnLst>
                                </p:cTn>
                              </p:par>
                            </p:childTnLst>
                          </p:cTn>
                        </p:par>
                        <p:par>
                          <p:cTn id="95" fill="hold">
                            <p:stCondLst>
                              <p:cond delay="2000"/>
                            </p:stCondLst>
                            <p:childTnLst>
                              <p:par>
                                <p:cTn id="96" presetID="1" presetClass="exit" presetSubtype="0" fill="hold" grpId="3" nodeType="afterEffect">
                                  <p:stCondLst>
                                    <p:cond delay="0"/>
                                  </p:stCondLst>
                                  <p:childTnLst>
                                    <p:set>
                                      <p:cBhvr>
                                        <p:cTn id="97" dur="1" fill="hold">
                                          <p:stCondLst>
                                            <p:cond delay="0"/>
                                          </p:stCondLst>
                                        </p:cTn>
                                        <p:tgtEl>
                                          <p:spTgt spid="1683848349"/>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1935648742"/>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530056801">
                                            <p:txEl>
                                              <p:pRg st="2" end="2"/>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1924259865"/>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1926500368"/>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836969527"/>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530056801">
                                            <p:txEl>
                                              <p:pRg st="3" end="3"/>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93875633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237122827"/>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2019992372"/>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5300568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9816181" grpId="0" animBg="1"/>
      <p:bldP spid="1739816181" grpId="1" animBg="1"/>
      <p:bldP spid="1739816181" grpId="2" animBg="1"/>
      <p:bldP spid="1739816181" grpId="3" animBg="1"/>
      <p:bldP spid="756214415" grpId="0" animBg="1"/>
      <p:bldP spid="756214415" grpId="1" animBg="1"/>
      <p:bldP spid="756214415" grpId="2" animBg="1"/>
      <p:bldP spid="756214415" grpId="3" animBg="1"/>
      <p:bldP spid="313757846" grpId="0" animBg="1"/>
      <p:bldP spid="313757846" grpId="1" animBg="1"/>
      <p:bldP spid="313757846" grpId="2" animBg="1"/>
      <p:bldP spid="313757846" grpId="3" animBg="1"/>
      <p:bldP spid="213912551" grpId="0" animBg="1"/>
      <p:bldP spid="213912551" grpId="1" animBg="1"/>
      <p:bldP spid="213912551" grpId="2" animBg="1"/>
      <p:bldP spid="213912551" grpId="3" animBg="1"/>
      <p:bldP spid="466177251" grpId="0" animBg="1"/>
      <p:bldP spid="466177251" grpId="1" animBg="1"/>
      <p:bldP spid="466177251" grpId="2" animBg="1"/>
      <p:bldP spid="466177251" grpId="3" animBg="1"/>
      <p:bldP spid="1683848349" grpId="0" animBg="1"/>
      <p:bldP spid="1683848349" grpId="1" animBg="1"/>
      <p:bldP spid="1683848349" grpId="2" animBg="1"/>
      <p:bldP spid="1683848349" grpId="3" animBg="1"/>
      <p:bldP spid="2019992372" grpId="0"/>
      <p:bldP spid="1926500368"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1992738376" name="Title 3"/>
          <p:cNvSpPr>
            <a:spLocks noGrp="1"/>
          </p:cNvSpPr>
          <p:nvPr>
            <p:ph type="title"/>
          </p:nvPr>
        </p:nvSpPr>
        <p:spPr bwMode="auto"/>
        <p:txBody>
          <a:bodyPr/>
          <a:lstStyle/>
          <a:p>
            <a:pPr>
              <a:defRPr/>
            </a:pPr>
            <a:r>
              <a:rPr lang="en-US"/>
              <a:t>Queue - Applications</a:t>
            </a:r>
            <a:endParaRPr/>
          </a:p>
        </p:txBody>
      </p:sp>
      <p:sp>
        <p:nvSpPr>
          <p:cNvPr id="1621242492" name="Text Placeholder 4"/>
          <p:cNvSpPr>
            <a:spLocks noGrp="1"/>
          </p:cNvSpPr>
          <p:nvPr>
            <p:ph type="body" idx="1"/>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1687328483" name="Title 1"/>
          <p:cNvSpPr>
            <a:spLocks noGrp="1"/>
          </p:cNvSpPr>
          <p:nvPr>
            <p:ph type="title"/>
          </p:nvPr>
        </p:nvSpPr>
        <p:spPr bwMode="auto"/>
        <p:txBody>
          <a:bodyPr/>
          <a:lstStyle/>
          <a:p>
            <a:pPr>
              <a:defRPr/>
            </a:pPr>
            <a:r>
              <a:rPr lang="en-IN"/>
              <a:t>Applications of Queue</a:t>
            </a:r>
            <a:endParaRPr lang="en-US"/>
          </a:p>
        </p:txBody>
      </p:sp>
      <p:sp>
        <p:nvSpPr>
          <p:cNvPr id="1391996883" name="Content Placeholder 2"/>
          <p:cNvSpPr>
            <a:spLocks noGrp="1"/>
          </p:cNvSpPr>
          <p:nvPr>
            <p:ph idx="4294967295"/>
          </p:nvPr>
        </p:nvSpPr>
        <p:spPr bwMode="auto">
          <a:xfrm>
            <a:off x="131180" y="863444"/>
            <a:ext cx="11929641" cy="5590565"/>
          </a:xfrm>
        </p:spPr>
        <p:txBody>
          <a:bodyPr vert="horz" lIns="91440" tIns="45720" rIns="91440" bIns="45720" rtlCol="0">
            <a:noAutofit/>
          </a:bodyPr>
          <a:lstStyle/>
          <a:p>
            <a:pPr marL="265113" indent="-265113" algn="just">
              <a:buClr>
                <a:schemeClr val="accent6"/>
              </a:buClr>
              <a:buFont typeface="Wingdings 3"/>
              <a:buChar char=""/>
              <a:defRPr/>
            </a:pPr>
            <a:r>
              <a:rPr lang="en-IN" sz="2400">
                <a:solidFill>
                  <a:schemeClr val="accent6"/>
                </a:solidFill>
              </a:rPr>
              <a:t>Queue of people</a:t>
            </a:r>
            <a:r>
              <a:rPr lang="en-IN" sz="2400"/>
              <a:t> at any </a:t>
            </a:r>
            <a:r>
              <a:rPr lang="en-IN" sz="2400">
                <a:solidFill>
                  <a:schemeClr val="accent6"/>
                </a:solidFill>
              </a:rPr>
              <a:t>service point</a:t>
            </a:r>
            <a:r>
              <a:rPr lang="en-IN" sz="2400"/>
              <a:t> such as ticketing etc.</a:t>
            </a:r>
            <a:endParaRPr/>
          </a:p>
          <a:p>
            <a:pPr marL="265113" indent="-265113" algn="just">
              <a:buClr>
                <a:schemeClr val="accent6"/>
              </a:buClr>
              <a:buFont typeface="Wingdings 3"/>
              <a:buChar char=""/>
              <a:defRPr/>
            </a:pPr>
            <a:r>
              <a:rPr lang="en-IN" sz="2400">
                <a:solidFill>
                  <a:schemeClr val="accent6"/>
                </a:solidFill>
              </a:rPr>
              <a:t>Queue of air planes</a:t>
            </a:r>
            <a:r>
              <a:rPr lang="en-IN" sz="2400"/>
              <a:t> </a:t>
            </a:r>
            <a:r>
              <a:rPr lang="en-IN" sz="2400">
                <a:solidFill>
                  <a:schemeClr val="accent6"/>
                </a:solidFill>
              </a:rPr>
              <a:t>waiting for landing</a:t>
            </a:r>
            <a:r>
              <a:rPr lang="en-IN" sz="2400"/>
              <a:t> instructions.</a:t>
            </a:r>
            <a:endParaRPr/>
          </a:p>
          <a:p>
            <a:pPr marL="265113" indent="-265113" algn="just">
              <a:buClr>
                <a:schemeClr val="accent6"/>
              </a:buClr>
              <a:buFont typeface="Wingdings 3"/>
              <a:buChar char=""/>
              <a:defRPr/>
            </a:pPr>
            <a:r>
              <a:rPr lang="en-IN" sz="2400">
                <a:solidFill>
                  <a:schemeClr val="accent6"/>
                </a:solidFill>
              </a:rPr>
              <a:t>Queue of processes </a:t>
            </a:r>
            <a:r>
              <a:rPr lang="en-IN" sz="2400"/>
              <a:t>in OS.</a:t>
            </a:r>
            <a:endParaRPr/>
          </a:p>
          <a:p>
            <a:pPr marL="265113" indent="-265113" algn="just">
              <a:buClr>
                <a:schemeClr val="accent6"/>
              </a:buClr>
              <a:buFont typeface="Wingdings 3"/>
              <a:buChar char=""/>
              <a:defRPr/>
            </a:pPr>
            <a:r>
              <a:rPr lang="en-IN" sz="2400"/>
              <a:t>Queue is also used by Operating systems for </a:t>
            </a:r>
            <a:r>
              <a:rPr lang="en-IN" sz="2400">
                <a:solidFill>
                  <a:schemeClr val="accent6"/>
                </a:solidFill>
              </a:rPr>
              <a:t>Job Scheduling</a:t>
            </a:r>
            <a:r>
              <a:rPr lang="en-IN" sz="2400"/>
              <a:t>.</a:t>
            </a:r>
            <a:endParaRPr/>
          </a:p>
          <a:p>
            <a:pPr marL="265113" indent="-265113" algn="just">
              <a:buClr>
                <a:schemeClr val="accent6"/>
              </a:buClr>
              <a:buFont typeface="Wingdings 3"/>
              <a:buChar char=""/>
              <a:defRPr/>
            </a:pPr>
            <a:r>
              <a:rPr lang="en-IN" sz="2400"/>
              <a:t>When a </a:t>
            </a:r>
            <a:r>
              <a:rPr lang="en-IN" sz="2400">
                <a:solidFill>
                  <a:schemeClr val="accent6"/>
                </a:solidFill>
              </a:rPr>
              <a:t>resource is shared among multiple consumers</a:t>
            </a:r>
            <a:r>
              <a:rPr lang="en-IN" sz="2400"/>
              <a:t>. E.g., in case of printers the first one to be entered is the first to be processed.</a:t>
            </a:r>
            <a:endParaRPr/>
          </a:p>
          <a:p>
            <a:pPr marL="265113" indent="-265113" algn="just">
              <a:buClr>
                <a:schemeClr val="accent6"/>
              </a:buClr>
              <a:buFont typeface="Wingdings 3"/>
              <a:buChar char=""/>
              <a:defRPr/>
            </a:pPr>
            <a:r>
              <a:rPr lang="en-IN" sz="2400"/>
              <a:t>When </a:t>
            </a:r>
            <a:r>
              <a:rPr lang="en-IN" sz="2400">
                <a:solidFill>
                  <a:schemeClr val="accent6"/>
                </a:solidFill>
              </a:rPr>
              <a:t>data is transferred asynchronously</a:t>
            </a:r>
            <a:r>
              <a:rPr lang="en-IN" sz="2400"/>
              <a:t> (data not necessarily received at same rate as sent) between two processes. Examples include IO Buffers, pipes, file IO, etc.</a:t>
            </a:r>
            <a:endParaRPr/>
          </a:p>
          <a:p>
            <a:pPr marL="265113" indent="-265113" algn="just">
              <a:buClr>
                <a:schemeClr val="accent6"/>
              </a:buClr>
              <a:buFont typeface="Wingdings 3"/>
              <a:buChar char=""/>
              <a:defRPr/>
            </a:pPr>
            <a:r>
              <a:rPr lang="en-IN" sz="2400"/>
              <a:t>Queue is used in</a:t>
            </a:r>
            <a:r>
              <a:rPr lang="en-IN" sz="2400">
                <a:solidFill>
                  <a:schemeClr val="accent6"/>
                </a:solidFill>
              </a:rPr>
              <a:t> BFS (Breadth First Search) algorithm</a:t>
            </a:r>
            <a:r>
              <a:rPr lang="en-IN" sz="2400"/>
              <a:t>. It helps in traversing a tree or graph.</a:t>
            </a:r>
            <a:endParaRPr/>
          </a:p>
          <a:p>
            <a:pPr marL="265113" indent="-265113" algn="just">
              <a:buClr>
                <a:schemeClr val="accent6"/>
              </a:buClr>
              <a:buFont typeface="Wingdings 3"/>
              <a:buChar char=""/>
              <a:defRPr/>
            </a:pPr>
            <a:r>
              <a:rPr lang="en-IN" sz="2400"/>
              <a:t>Queue is used in </a:t>
            </a:r>
            <a:r>
              <a:rPr lang="en-IN" sz="2400">
                <a:solidFill>
                  <a:schemeClr val="accent6"/>
                </a:solidFill>
              </a:rPr>
              <a:t>networking to handle congestion</a:t>
            </a:r>
            <a:r>
              <a:rPr lang="en-IN" sz="2400"/>
              <a:t>.</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19968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19968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19968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19968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919968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919968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919968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19968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7244692" name="Title 3"/>
          <p:cNvSpPr>
            <a:spLocks noGrp="1"/>
          </p:cNvSpPr>
          <p:nvPr>
            <p:ph type="title"/>
          </p:nvPr>
        </p:nvSpPr>
        <p:spPr bwMode="auto"/>
        <p:txBody>
          <a:bodyPr/>
          <a:lstStyle/>
          <a:p>
            <a:pPr>
              <a:defRPr/>
            </a:pPr>
            <a:r>
              <a:rPr lang="en-US"/>
              <a:t>Queue - Operations</a:t>
            </a:r>
            <a:endParaRPr/>
          </a:p>
        </p:txBody>
      </p:sp>
      <p:sp>
        <p:nvSpPr>
          <p:cNvPr id="1656092217" name="Text Placeholder 4"/>
          <p:cNvSpPr>
            <a:spLocks noGrp="1"/>
          </p:cNvSpPr>
          <p:nvPr>
            <p:ph type="body" idx="1"/>
          </p:nvPr>
        </p:nvSpPr>
        <p:spPr bwMode="auto"/>
        <p:txBody>
          <a:bodyPr/>
          <a:lstStyle/>
          <a:p>
            <a:pPr>
              <a:defRPr/>
            </a:pPr>
            <a:r>
              <a:rPr lang="en-US">
                <a:solidFill>
                  <a:srgbClr val="0070C0"/>
                </a:solidFill>
              </a:rPr>
              <a:t>Enqueue</a:t>
            </a:r>
            <a:endParaRPr/>
          </a:p>
          <a:p>
            <a:pPr>
              <a:defRPr/>
            </a:pPr>
            <a:r>
              <a:rPr lang="en-US">
                <a:solidFill>
                  <a:srgbClr val="0070C0"/>
                </a:solidFill>
              </a:rPr>
              <a:t>Deueue</a:t>
            </a:r>
            <a:endParaRPr lang="en-US">
              <a:solidFill>
                <a:srgbClr val="0070C0"/>
              </a:solidFill>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9432697" name="Title 1"/>
          <p:cNvSpPr>
            <a:spLocks noGrp="1"/>
          </p:cNvSpPr>
          <p:nvPr>
            <p:ph type="title"/>
          </p:nvPr>
        </p:nvSpPr>
        <p:spPr bwMode="auto"/>
        <p:txBody>
          <a:bodyPr/>
          <a:lstStyle/>
          <a:p>
            <a:pPr>
              <a:defRPr/>
            </a:pPr>
            <a:r>
              <a:rPr lang="en-IN"/>
              <a:t>Procedure: </a:t>
            </a:r>
            <a:r>
              <a:rPr lang="en-IN"/>
              <a:t>Enqueue</a:t>
            </a:r>
            <a:r>
              <a:rPr lang="en-IN"/>
              <a:t> (Q, F, R, N,Y)</a:t>
            </a:r>
            <a:endParaRPr lang="en-US"/>
          </a:p>
        </p:txBody>
      </p:sp>
      <p:sp>
        <p:nvSpPr>
          <p:cNvPr id="1269455465" name="Content Placeholder 2"/>
          <p:cNvSpPr>
            <a:spLocks noGrp="1"/>
          </p:cNvSpPr>
          <p:nvPr>
            <p:ph idx="1"/>
          </p:nvPr>
        </p:nvSpPr>
        <p:spPr bwMode="auto"/>
        <p:txBody>
          <a:bodyPr/>
          <a:lstStyle/>
          <a:p>
            <a:pPr>
              <a:defRPr/>
            </a:pPr>
            <a:r>
              <a:rPr lang="en-IN"/>
              <a:t>This procedure inserts </a:t>
            </a:r>
            <a:r>
              <a:rPr lang="en-IN" b="1">
                <a:solidFill>
                  <a:srgbClr val="C00000"/>
                </a:solidFill>
              </a:rPr>
              <a:t>Y</a:t>
            </a:r>
            <a:r>
              <a:rPr lang="en-IN"/>
              <a:t> at rear end of Queue.</a:t>
            </a:r>
            <a:endParaRPr/>
          </a:p>
          <a:p>
            <a:pPr>
              <a:defRPr/>
            </a:pPr>
            <a:r>
              <a:rPr lang="en-IN" b="1">
                <a:solidFill>
                  <a:srgbClr val="C00000"/>
                </a:solidFill>
              </a:rPr>
              <a:t>Queue</a:t>
            </a:r>
            <a:r>
              <a:rPr lang="en-IN">
                <a:solidFill>
                  <a:srgbClr val="C00000"/>
                </a:solidFill>
              </a:rPr>
              <a:t> </a:t>
            </a:r>
            <a:r>
              <a:rPr lang="en-IN"/>
              <a:t>is represented by a vector </a:t>
            </a:r>
            <a:r>
              <a:rPr lang="en-IN" b="1">
                <a:solidFill>
                  <a:srgbClr val="C00000"/>
                </a:solidFill>
              </a:rPr>
              <a:t>Q</a:t>
            </a:r>
            <a:r>
              <a:rPr lang="en-IN"/>
              <a:t> containing </a:t>
            </a:r>
            <a:r>
              <a:rPr lang="en-IN" b="1">
                <a:solidFill>
                  <a:srgbClr val="C00000"/>
                </a:solidFill>
              </a:rPr>
              <a:t>N</a:t>
            </a:r>
            <a:r>
              <a:rPr lang="en-IN"/>
              <a:t> elements.</a:t>
            </a:r>
            <a:endParaRPr/>
          </a:p>
          <a:p>
            <a:pPr>
              <a:defRPr/>
            </a:pPr>
            <a:r>
              <a:rPr lang="en-IN" b="1">
                <a:solidFill>
                  <a:srgbClr val="C00000"/>
                </a:solidFill>
              </a:rPr>
              <a:t>F</a:t>
            </a:r>
            <a:r>
              <a:rPr lang="en-IN"/>
              <a:t> is pointer to the front element of a queue.</a:t>
            </a:r>
            <a:endParaRPr/>
          </a:p>
          <a:p>
            <a:pPr>
              <a:defRPr/>
            </a:pPr>
            <a:r>
              <a:rPr lang="en-IN" b="1">
                <a:solidFill>
                  <a:srgbClr val="C00000"/>
                </a:solidFill>
              </a:rPr>
              <a:t>R</a:t>
            </a:r>
            <a:r>
              <a:rPr lang="en-IN">
                <a:solidFill>
                  <a:srgbClr val="C00000"/>
                </a:solidFill>
              </a:rPr>
              <a:t> </a:t>
            </a:r>
            <a:r>
              <a:rPr lang="en-IN"/>
              <a:t>is pointer to the rear element of a queue.</a:t>
            </a:r>
            <a:endParaRPr/>
          </a:p>
          <a:p>
            <a:pPr>
              <a:defRPr/>
            </a:pPr>
            <a:endParaRPr lang="en-IN"/>
          </a:p>
          <a:p>
            <a:pPr>
              <a:defRPr/>
            </a:pPr>
            <a:endParaRPr lang="en-US"/>
          </a:p>
        </p:txBody>
      </p:sp>
      <p:sp>
        <p:nvSpPr>
          <p:cNvPr id="629903945" name="TextBox 3"/>
          <p:cNvSpPr txBox="1"/>
          <p:nvPr/>
        </p:nvSpPr>
        <p:spPr bwMode="auto">
          <a:xfrm>
            <a:off x="381000" y="3005266"/>
            <a:ext cx="5715000" cy="3600986"/>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000" b="1">
                <a:solidFill>
                  <a:schemeClr val="tx2"/>
                </a:solidFill>
                <a:latin typeface="Consolas"/>
                <a:cs typeface="Consolas"/>
              </a:rPr>
              <a:t>1. [Check for Queue Overflow]</a:t>
            </a:r>
            <a:endParaRPr/>
          </a:p>
          <a:p>
            <a:pPr>
              <a:defRPr/>
            </a:pPr>
            <a:r>
              <a:rPr lang="en-IN" sz="2400">
                <a:latin typeface="Consolas"/>
                <a:cs typeface="Consolas"/>
              </a:rPr>
              <a:t>	</a:t>
            </a:r>
            <a:r>
              <a:rPr lang="en-IN" b="1">
                <a:solidFill>
                  <a:schemeClr val="tx2">
                    <a:lumMod val="75000"/>
                  </a:schemeClr>
                </a:solidFill>
                <a:latin typeface="Consolas"/>
                <a:cs typeface="Consolas"/>
              </a:rPr>
              <a:t>If</a:t>
            </a:r>
            <a:r>
              <a:rPr lang="en-IN" b="1">
                <a:latin typeface="Consolas"/>
                <a:cs typeface="Consolas"/>
              </a:rPr>
              <a:t> 	</a:t>
            </a:r>
            <a:r>
              <a:rPr lang="en-IN">
                <a:latin typeface="Consolas"/>
                <a:cs typeface="Consolas"/>
              </a:rPr>
              <a:t>R &gt;= N-1</a:t>
            </a:r>
            <a:endParaRPr/>
          </a:p>
          <a:p>
            <a:pPr>
              <a:defRPr/>
            </a:pPr>
            <a:r>
              <a:rPr lang="en-IN" b="1">
                <a:latin typeface="Consolas"/>
                <a:cs typeface="Consolas"/>
              </a:rPr>
              <a:t>	</a:t>
            </a:r>
            <a:r>
              <a:rPr lang="en-IN" b="1">
                <a:solidFill>
                  <a:schemeClr val="tx2">
                    <a:lumMod val="75000"/>
                  </a:schemeClr>
                </a:solidFill>
                <a:latin typeface="Consolas"/>
                <a:cs typeface="Consolas"/>
              </a:rPr>
              <a:t>Then</a:t>
            </a:r>
            <a:r>
              <a:rPr lang="en-IN" b="1">
                <a:latin typeface="Consolas"/>
                <a:cs typeface="Consolas"/>
              </a:rPr>
              <a:t> 	</a:t>
            </a:r>
            <a:r>
              <a:rPr lang="en-IN">
                <a:latin typeface="Consolas"/>
                <a:cs typeface="Consolas"/>
              </a:rPr>
              <a:t>write (‘Queue Overflow’)</a:t>
            </a:r>
            <a:endParaRPr/>
          </a:p>
          <a:p>
            <a:pPr>
              <a:defRPr/>
            </a:pPr>
            <a:r>
              <a:rPr lang="en-IN" b="1">
                <a:latin typeface="Consolas"/>
                <a:cs typeface="Consolas"/>
              </a:rPr>
              <a:t>		</a:t>
            </a:r>
            <a:r>
              <a:rPr lang="en-IN">
                <a:latin typeface="Consolas"/>
                <a:cs typeface="Consolas"/>
              </a:rPr>
              <a:t>Return</a:t>
            </a:r>
            <a:endParaRPr/>
          </a:p>
          <a:p>
            <a:pPr>
              <a:defRPr/>
            </a:pPr>
            <a:r>
              <a:rPr lang="en-IN" sz="2000" b="1">
                <a:solidFill>
                  <a:schemeClr val="tx2"/>
                </a:solidFill>
                <a:latin typeface="Consolas"/>
                <a:cs typeface="Consolas"/>
              </a:rPr>
              <a:t>2. [Increment REAR pointer]</a:t>
            </a:r>
            <a:endParaRPr/>
          </a:p>
          <a:p>
            <a:pPr>
              <a:defRPr/>
            </a:pPr>
            <a:r>
              <a:rPr lang="en-IN">
                <a:latin typeface="Consolas"/>
                <a:cs typeface="Consolas"/>
              </a:rPr>
              <a:t>	R </a:t>
            </a:r>
            <a:r>
              <a:rPr lang="en-IN">
                <a:latin typeface="Consolas"/>
                <a:cs typeface="Consolas"/>
              </a:rPr>
              <a:t></a:t>
            </a:r>
            <a:r>
              <a:rPr lang="en-IN">
                <a:latin typeface="Consolas"/>
                <a:cs typeface="Consolas"/>
              </a:rPr>
              <a:t> R + 1</a:t>
            </a:r>
            <a:endParaRPr/>
          </a:p>
          <a:p>
            <a:pPr>
              <a:defRPr/>
            </a:pPr>
            <a:r>
              <a:rPr lang="en-IN" sz="2000" b="1">
                <a:solidFill>
                  <a:schemeClr val="tx2"/>
                </a:solidFill>
                <a:latin typeface="Consolas"/>
                <a:cs typeface="Consolas"/>
              </a:rPr>
              <a:t>3. [Insert element]</a:t>
            </a:r>
            <a:endParaRPr/>
          </a:p>
          <a:p>
            <a:pPr>
              <a:defRPr/>
            </a:pPr>
            <a:r>
              <a:rPr lang="en-IN" b="1">
                <a:latin typeface="Consolas"/>
                <a:cs typeface="Consolas"/>
              </a:rPr>
              <a:t>	</a:t>
            </a:r>
            <a:r>
              <a:rPr lang="en-IN">
                <a:latin typeface="Consolas"/>
                <a:cs typeface="Consolas"/>
              </a:rPr>
              <a:t>Q[R] </a:t>
            </a:r>
            <a:r>
              <a:rPr lang="en-IN">
                <a:latin typeface="Consolas"/>
                <a:cs typeface="Consolas"/>
              </a:rPr>
              <a:t></a:t>
            </a:r>
            <a:r>
              <a:rPr lang="en-IN">
                <a:latin typeface="Consolas"/>
                <a:cs typeface="Consolas"/>
              </a:rPr>
              <a:t> Y</a:t>
            </a:r>
            <a:endParaRPr/>
          </a:p>
          <a:p>
            <a:pPr>
              <a:defRPr/>
            </a:pPr>
            <a:r>
              <a:rPr lang="en-IN" sz="2000" b="1">
                <a:solidFill>
                  <a:schemeClr val="tx2"/>
                </a:solidFill>
                <a:latin typeface="Consolas"/>
                <a:cs typeface="Consolas"/>
              </a:rPr>
              <a:t>4. [Is front pointer properly set?]</a:t>
            </a:r>
            <a:endParaRPr/>
          </a:p>
          <a:p>
            <a:pPr>
              <a:defRPr/>
            </a:pPr>
            <a:r>
              <a:rPr lang="en-IN">
                <a:latin typeface="Consolas"/>
                <a:cs typeface="Consolas"/>
              </a:rPr>
              <a:t>      </a:t>
            </a:r>
            <a:r>
              <a:rPr lang="en-IN" b="1">
                <a:latin typeface="Consolas"/>
                <a:cs typeface="Consolas"/>
              </a:rPr>
              <a:t> </a:t>
            </a:r>
            <a:r>
              <a:rPr lang="en-IN" b="1">
                <a:solidFill>
                  <a:schemeClr val="tx2">
                    <a:lumMod val="75000"/>
                  </a:schemeClr>
                </a:solidFill>
                <a:latin typeface="Consolas"/>
                <a:cs typeface="Consolas"/>
              </a:rPr>
              <a:t>IF</a:t>
            </a:r>
            <a:r>
              <a:rPr lang="en-IN" b="1">
                <a:latin typeface="Consolas"/>
                <a:cs typeface="Consolas"/>
              </a:rPr>
              <a:t> 	</a:t>
            </a:r>
            <a:r>
              <a:rPr lang="en-IN">
                <a:latin typeface="Consolas"/>
                <a:cs typeface="Consolas"/>
              </a:rPr>
              <a:t>F = -1</a:t>
            </a:r>
            <a:endParaRPr/>
          </a:p>
          <a:p>
            <a:pPr>
              <a:defRPr/>
            </a:pPr>
            <a:r>
              <a:rPr lang="en-IN" b="1">
                <a:latin typeface="Consolas"/>
                <a:cs typeface="Consolas"/>
              </a:rPr>
              <a:t>       </a:t>
            </a:r>
            <a:r>
              <a:rPr lang="en-IN" b="1">
                <a:solidFill>
                  <a:schemeClr val="tx2">
                    <a:lumMod val="75000"/>
                  </a:schemeClr>
                </a:solidFill>
                <a:latin typeface="Consolas"/>
                <a:cs typeface="Consolas"/>
              </a:rPr>
              <a:t>Then</a:t>
            </a:r>
            <a:r>
              <a:rPr lang="en-IN" b="1">
                <a:latin typeface="Consolas"/>
                <a:cs typeface="Consolas"/>
              </a:rPr>
              <a:t>	</a:t>
            </a:r>
            <a:r>
              <a:rPr lang="en-IN">
                <a:latin typeface="Consolas"/>
                <a:cs typeface="Consolas"/>
              </a:rPr>
              <a:t>F </a:t>
            </a:r>
            <a:r>
              <a:rPr lang="en-IN">
                <a:latin typeface="Consolas"/>
                <a:cs typeface="Consolas"/>
              </a:rPr>
              <a:t></a:t>
            </a:r>
            <a:r>
              <a:rPr lang="en-IN">
                <a:latin typeface="Consolas"/>
                <a:cs typeface="Consolas"/>
              </a:rPr>
              <a:t> 0</a:t>
            </a:r>
            <a:endParaRPr/>
          </a:p>
          <a:p>
            <a:pPr>
              <a:defRPr/>
            </a:pPr>
            <a:r>
              <a:rPr lang="en-IN" b="1">
                <a:latin typeface="Consolas"/>
                <a:cs typeface="Consolas"/>
              </a:rPr>
              <a:t>       </a:t>
            </a:r>
            <a:r>
              <a:rPr lang="en-IN">
                <a:latin typeface="Consolas"/>
                <a:cs typeface="Consolas"/>
              </a:rPr>
              <a:t>Return</a:t>
            </a:r>
            <a:endParaRPr/>
          </a:p>
        </p:txBody>
      </p:sp>
      <p:grpSp>
        <p:nvGrpSpPr>
          <p:cNvPr id="811120004" name="Group 4"/>
          <p:cNvGrpSpPr/>
          <p:nvPr/>
        </p:nvGrpSpPr>
        <p:grpSpPr bwMode="auto">
          <a:xfrm>
            <a:off x="8928879" y="1716255"/>
            <a:ext cx="1600200" cy="533400"/>
            <a:chOff x="2286000" y="5486400"/>
            <a:chExt cx="4081670" cy="533400"/>
          </a:xfrm>
        </p:grpSpPr>
        <p:cxnSp>
          <p:nvCxnSpPr>
            <p:cNvPr id="6" name="Straight Connector 5"/>
            <p:cNvCxnSpPr/>
            <p:nvPr/>
          </p:nvCxnSpPr>
          <p:spPr bwMode="auto">
            <a:xfrm>
              <a:off x="2286000" y="5486400"/>
              <a:ext cx="408167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bwMode="auto">
            <a:xfrm>
              <a:off x="2286000" y="6019800"/>
              <a:ext cx="4081670" cy="0"/>
            </a:xfrm>
            <a:prstGeom prst="line">
              <a:avLst/>
            </a:prstGeom>
          </p:spPr>
          <p:style>
            <a:lnRef idx="2">
              <a:schemeClr val="accent1"/>
            </a:lnRef>
            <a:fillRef idx="0">
              <a:schemeClr val="accent1"/>
            </a:fillRef>
            <a:effectRef idx="1">
              <a:schemeClr val="accent1"/>
            </a:effectRef>
            <a:fontRef idx="minor">
              <a:schemeClr val="tx1"/>
            </a:fontRef>
          </p:style>
        </p:cxnSp>
      </p:grpSp>
      <p:sp>
        <p:nvSpPr>
          <p:cNvPr id="2087444529" name="Rectangle 7"/>
          <p:cNvSpPr/>
          <p:nvPr/>
        </p:nvSpPr>
        <p:spPr bwMode="auto">
          <a:xfrm>
            <a:off x="8909140" y="1716255"/>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5</a:t>
            </a:r>
            <a:endParaRPr lang="en-US" b="1"/>
          </a:p>
        </p:txBody>
      </p:sp>
      <p:sp>
        <p:nvSpPr>
          <p:cNvPr id="521053010" name="TextBox 8"/>
          <p:cNvSpPr txBox="1"/>
          <p:nvPr/>
        </p:nvSpPr>
        <p:spPr bwMode="auto">
          <a:xfrm>
            <a:off x="6378599" y="3005266"/>
            <a:ext cx="2209800"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defRPr/>
            </a:pPr>
            <a:r>
              <a:rPr lang="en-IN" sz="2400" b="1"/>
              <a:t>N=3, R=-1, F=-1</a:t>
            </a:r>
            <a:endParaRPr lang="en-US" sz="2400" b="1"/>
          </a:p>
        </p:txBody>
      </p:sp>
      <p:sp>
        <p:nvSpPr>
          <p:cNvPr id="62714068" name="TextBox 9"/>
          <p:cNvSpPr txBox="1"/>
          <p:nvPr/>
        </p:nvSpPr>
        <p:spPr bwMode="auto">
          <a:xfrm>
            <a:off x="6383082" y="3614865"/>
            <a:ext cx="685800" cy="400110"/>
          </a:xfrm>
          <a:prstGeom prst="rect">
            <a:avLst/>
          </a:prstGeom>
          <a:noFill/>
        </p:spPr>
        <p:txBody>
          <a:bodyPr wrap="square" rtlCol="0">
            <a:spAutoFit/>
          </a:bodyPr>
          <a:lstStyle/>
          <a:p>
            <a:pPr>
              <a:defRPr/>
            </a:pPr>
            <a:r>
              <a:rPr lang="en-IN" sz="2000" b="1"/>
              <a:t>F =</a:t>
            </a:r>
            <a:endParaRPr lang="en-US" sz="2000" b="1"/>
          </a:p>
        </p:txBody>
      </p:sp>
      <p:sp>
        <p:nvSpPr>
          <p:cNvPr id="593870534" name="TextBox 10"/>
          <p:cNvSpPr txBox="1"/>
          <p:nvPr/>
        </p:nvSpPr>
        <p:spPr bwMode="auto">
          <a:xfrm>
            <a:off x="6383082" y="3976755"/>
            <a:ext cx="685800" cy="400110"/>
          </a:xfrm>
          <a:prstGeom prst="rect">
            <a:avLst/>
          </a:prstGeom>
          <a:noFill/>
        </p:spPr>
        <p:txBody>
          <a:bodyPr wrap="square" rtlCol="0">
            <a:spAutoFit/>
          </a:bodyPr>
          <a:lstStyle/>
          <a:p>
            <a:pPr>
              <a:defRPr/>
            </a:pPr>
            <a:r>
              <a:rPr lang="en-IN" sz="2000" b="1"/>
              <a:t>R =</a:t>
            </a:r>
            <a:endParaRPr lang="en-US" sz="2000" b="1"/>
          </a:p>
        </p:txBody>
      </p:sp>
      <p:sp>
        <p:nvSpPr>
          <p:cNvPr id="1384206630" name="TextBox 11"/>
          <p:cNvSpPr txBox="1"/>
          <p:nvPr/>
        </p:nvSpPr>
        <p:spPr bwMode="auto">
          <a:xfrm>
            <a:off x="6882227" y="3614865"/>
            <a:ext cx="487788" cy="400110"/>
          </a:xfrm>
          <a:prstGeom prst="rect">
            <a:avLst/>
          </a:prstGeom>
          <a:noFill/>
        </p:spPr>
        <p:txBody>
          <a:bodyPr wrap="square" rtlCol="0">
            <a:spAutoFit/>
          </a:bodyPr>
          <a:lstStyle/>
          <a:p>
            <a:pPr>
              <a:defRPr/>
            </a:pPr>
            <a:r>
              <a:rPr lang="en-US" sz="2000" b="1"/>
              <a:t>-1</a:t>
            </a:r>
            <a:endParaRPr/>
          </a:p>
        </p:txBody>
      </p:sp>
      <p:sp>
        <p:nvSpPr>
          <p:cNvPr id="1875656659" name="TextBox 12"/>
          <p:cNvSpPr txBox="1"/>
          <p:nvPr/>
        </p:nvSpPr>
        <p:spPr bwMode="auto">
          <a:xfrm>
            <a:off x="6879772" y="3976755"/>
            <a:ext cx="547013" cy="400110"/>
          </a:xfrm>
          <a:prstGeom prst="rect">
            <a:avLst/>
          </a:prstGeom>
          <a:noFill/>
        </p:spPr>
        <p:txBody>
          <a:bodyPr wrap="square" rtlCol="0">
            <a:spAutoFit/>
          </a:bodyPr>
          <a:lstStyle/>
          <a:p>
            <a:pPr>
              <a:defRPr/>
            </a:pPr>
            <a:r>
              <a:rPr lang="en-IN" sz="2000" b="1"/>
              <a:t>-1</a:t>
            </a:r>
            <a:endParaRPr lang="en-US" sz="2000" b="1"/>
          </a:p>
        </p:txBody>
      </p:sp>
      <p:sp>
        <p:nvSpPr>
          <p:cNvPr id="1436556770" name="TextBox 13"/>
          <p:cNvSpPr txBox="1"/>
          <p:nvPr/>
        </p:nvSpPr>
        <p:spPr bwMode="auto">
          <a:xfrm>
            <a:off x="6378599" y="4376865"/>
            <a:ext cx="2819400" cy="369332"/>
          </a:xfrm>
          <a:prstGeom prst="rect">
            <a:avLst/>
          </a:prstGeom>
          <a:noFill/>
        </p:spPr>
        <p:txBody>
          <a:bodyPr wrap="square" rtlCol="0">
            <a:spAutoFit/>
          </a:bodyPr>
          <a:lstStyle/>
          <a:p>
            <a:pPr>
              <a:defRPr/>
            </a:pPr>
            <a:r>
              <a:rPr lang="en-IN" b="1"/>
              <a:t>Enqueue</a:t>
            </a:r>
            <a:r>
              <a:rPr lang="en-IN" b="1"/>
              <a:t> (Q, F, R, N=3,</a:t>
            </a:r>
            <a:r>
              <a:rPr lang="en-IN" b="1">
                <a:solidFill>
                  <a:srgbClr val="C00000"/>
                </a:solidFill>
              </a:rPr>
              <a:t>Y=5</a:t>
            </a:r>
            <a:r>
              <a:rPr lang="en-IN" b="1"/>
              <a:t>)</a:t>
            </a:r>
            <a:endParaRPr lang="en-US" b="1"/>
          </a:p>
        </p:txBody>
      </p:sp>
      <p:sp>
        <p:nvSpPr>
          <p:cNvPr id="1700614988" name="TextBox 14"/>
          <p:cNvSpPr txBox="1"/>
          <p:nvPr/>
        </p:nvSpPr>
        <p:spPr bwMode="auto">
          <a:xfrm>
            <a:off x="6946101" y="3970330"/>
            <a:ext cx="314510" cy="400110"/>
          </a:xfrm>
          <a:prstGeom prst="rect">
            <a:avLst/>
          </a:prstGeom>
          <a:noFill/>
        </p:spPr>
        <p:txBody>
          <a:bodyPr wrap="none" rtlCol="0">
            <a:spAutoFit/>
          </a:bodyPr>
          <a:lstStyle/>
          <a:p>
            <a:pPr>
              <a:defRPr/>
            </a:pPr>
            <a:r>
              <a:rPr lang="en-IN" sz="2000" b="1"/>
              <a:t>0</a:t>
            </a:r>
            <a:endParaRPr lang="en-US" sz="2000" b="1"/>
          </a:p>
        </p:txBody>
      </p:sp>
      <p:grpSp>
        <p:nvGrpSpPr>
          <p:cNvPr id="586075793" name="Group 15"/>
          <p:cNvGrpSpPr/>
          <p:nvPr/>
        </p:nvGrpSpPr>
        <p:grpSpPr bwMode="auto">
          <a:xfrm>
            <a:off x="9005078" y="988257"/>
            <a:ext cx="228600" cy="727999"/>
            <a:chOff x="762000" y="4606001"/>
            <a:chExt cx="228600" cy="727999"/>
          </a:xfrm>
        </p:grpSpPr>
        <p:sp>
          <p:nvSpPr>
            <p:cNvPr id="17" name="TextBox 16"/>
            <p:cNvSpPr txBox="1"/>
            <p:nvPr/>
          </p:nvSpPr>
          <p:spPr bwMode="auto">
            <a:xfrm>
              <a:off x="762000" y="4606001"/>
              <a:ext cx="228600" cy="369332"/>
            </a:xfrm>
            <a:prstGeom prst="rect">
              <a:avLst/>
            </a:prstGeom>
            <a:noFill/>
          </p:spPr>
          <p:txBody>
            <a:bodyPr wrap="square" rtlCol="0">
              <a:spAutoFit/>
            </a:bodyPr>
            <a:lstStyle/>
            <a:p>
              <a:pPr algn="ctr">
                <a:defRPr/>
              </a:pPr>
              <a:r>
                <a:rPr lang="en-IN" b="1">
                  <a:solidFill>
                    <a:srgbClr val="C00000"/>
                  </a:solidFill>
                </a:rPr>
                <a:t>R</a:t>
              </a:r>
              <a:endParaRPr lang="en-US" b="1">
                <a:solidFill>
                  <a:srgbClr val="C00000"/>
                </a:solidFill>
              </a:endParaRPr>
            </a:p>
          </p:txBody>
        </p:sp>
        <p:cxnSp>
          <p:nvCxnSpPr>
            <p:cNvPr id="18" name="Straight Arrow Connector 17"/>
            <p:cNvCxnSpPr>
              <a:stCxn id="17" idx="2"/>
            </p:cNvCxnSpPr>
            <p:nvPr/>
          </p:nvCxnSpPr>
          <p:spPr bwMode="auto">
            <a:xfrm>
              <a:off x="876299" y="4975333"/>
              <a:ext cx="0" cy="358667"/>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1304133006" name="TextBox 18"/>
          <p:cNvSpPr txBox="1"/>
          <p:nvPr/>
        </p:nvSpPr>
        <p:spPr bwMode="auto">
          <a:xfrm>
            <a:off x="6378599" y="4706100"/>
            <a:ext cx="2819400" cy="369332"/>
          </a:xfrm>
          <a:prstGeom prst="rect">
            <a:avLst/>
          </a:prstGeom>
          <a:noFill/>
        </p:spPr>
        <p:txBody>
          <a:bodyPr wrap="square" rtlCol="0">
            <a:spAutoFit/>
          </a:bodyPr>
          <a:lstStyle/>
          <a:p>
            <a:pPr>
              <a:defRPr/>
            </a:pPr>
            <a:r>
              <a:rPr lang="en-IN" b="1"/>
              <a:t>Enqueue</a:t>
            </a:r>
            <a:r>
              <a:rPr lang="en-IN" b="1"/>
              <a:t> (Q, F, R, N=3,</a:t>
            </a:r>
            <a:r>
              <a:rPr lang="en-IN" b="1">
                <a:solidFill>
                  <a:srgbClr val="C00000"/>
                </a:solidFill>
              </a:rPr>
              <a:t>Y=20</a:t>
            </a:r>
            <a:r>
              <a:rPr lang="en-IN" b="1"/>
              <a:t>)</a:t>
            </a:r>
            <a:endParaRPr lang="en-US" b="1"/>
          </a:p>
        </p:txBody>
      </p:sp>
      <p:sp>
        <p:nvSpPr>
          <p:cNvPr id="517017613" name="TextBox 19"/>
          <p:cNvSpPr txBox="1"/>
          <p:nvPr/>
        </p:nvSpPr>
        <p:spPr bwMode="auto">
          <a:xfrm>
            <a:off x="6946101" y="3969395"/>
            <a:ext cx="314510" cy="400110"/>
          </a:xfrm>
          <a:prstGeom prst="rect">
            <a:avLst/>
          </a:prstGeom>
          <a:noFill/>
        </p:spPr>
        <p:txBody>
          <a:bodyPr wrap="none" rtlCol="0">
            <a:spAutoFit/>
          </a:bodyPr>
          <a:lstStyle/>
          <a:p>
            <a:pPr>
              <a:defRPr/>
            </a:pPr>
            <a:r>
              <a:rPr lang="en-IN" sz="2000" b="1">
                <a:solidFill>
                  <a:schemeClr val="accent4">
                    <a:lumMod val="50000"/>
                  </a:schemeClr>
                </a:solidFill>
              </a:rPr>
              <a:t>1</a:t>
            </a:r>
            <a:endParaRPr lang="en-US" sz="2000" b="1">
              <a:solidFill>
                <a:schemeClr val="accent4">
                  <a:lumMod val="50000"/>
                </a:schemeClr>
              </a:solidFill>
            </a:endParaRPr>
          </a:p>
        </p:txBody>
      </p:sp>
      <p:sp>
        <p:nvSpPr>
          <p:cNvPr id="717159207" name="Rectangle 20"/>
          <p:cNvSpPr/>
          <p:nvPr/>
        </p:nvSpPr>
        <p:spPr bwMode="auto">
          <a:xfrm>
            <a:off x="9451261" y="1714417"/>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20</a:t>
            </a:r>
            <a:endParaRPr lang="en-US" b="1"/>
          </a:p>
        </p:txBody>
      </p:sp>
      <p:sp>
        <p:nvSpPr>
          <p:cNvPr id="1916927762" name="TextBox 21"/>
          <p:cNvSpPr txBox="1"/>
          <p:nvPr/>
        </p:nvSpPr>
        <p:spPr bwMode="auto">
          <a:xfrm>
            <a:off x="6378599" y="5035335"/>
            <a:ext cx="2819400" cy="369332"/>
          </a:xfrm>
          <a:prstGeom prst="rect">
            <a:avLst/>
          </a:prstGeom>
          <a:noFill/>
        </p:spPr>
        <p:txBody>
          <a:bodyPr wrap="square" rtlCol="0">
            <a:spAutoFit/>
          </a:bodyPr>
          <a:lstStyle/>
          <a:p>
            <a:pPr>
              <a:defRPr/>
            </a:pPr>
            <a:r>
              <a:rPr lang="en-IN" b="1"/>
              <a:t>Enqueue</a:t>
            </a:r>
            <a:r>
              <a:rPr lang="en-IN" b="1"/>
              <a:t> (Q, F, R, N=3,</a:t>
            </a:r>
            <a:r>
              <a:rPr lang="en-IN" b="1">
                <a:solidFill>
                  <a:srgbClr val="C00000"/>
                </a:solidFill>
              </a:rPr>
              <a:t>Y=80</a:t>
            </a:r>
            <a:r>
              <a:rPr lang="en-IN" b="1"/>
              <a:t>)</a:t>
            </a:r>
            <a:endParaRPr lang="en-US" b="1"/>
          </a:p>
        </p:txBody>
      </p:sp>
      <p:sp>
        <p:nvSpPr>
          <p:cNvPr id="1833245682" name="TextBox 22"/>
          <p:cNvSpPr txBox="1"/>
          <p:nvPr/>
        </p:nvSpPr>
        <p:spPr bwMode="auto">
          <a:xfrm>
            <a:off x="6948556" y="3950641"/>
            <a:ext cx="314510" cy="400110"/>
          </a:xfrm>
          <a:prstGeom prst="rect">
            <a:avLst/>
          </a:prstGeom>
          <a:noFill/>
        </p:spPr>
        <p:txBody>
          <a:bodyPr wrap="none" rtlCol="0">
            <a:spAutoFit/>
          </a:bodyPr>
          <a:lstStyle/>
          <a:p>
            <a:pPr>
              <a:defRPr/>
            </a:pPr>
            <a:r>
              <a:rPr lang="en-US" sz="2000" b="1">
                <a:solidFill>
                  <a:schemeClr val="accent2">
                    <a:lumMod val="50000"/>
                  </a:schemeClr>
                </a:solidFill>
              </a:rPr>
              <a:t>2</a:t>
            </a:r>
            <a:endParaRPr/>
          </a:p>
        </p:txBody>
      </p:sp>
      <p:sp>
        <p:nvSpPr>
          <p:cNvPr id="644443795" name="Rectangle 23"/>
          <p:cNvSpPr/>
          <p:nvPr/>
        </p:nvSpPr>
        <p:spPr bwMode="auto">
          <a:xfrm>
            <a:off x="9994759" y="1716255"/>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80</a:t>
            </a:r>
            <a:endParaRPr lang="en-US" b="1"/>
          </a:p>
        </p:txBody>
      </p:sp>
      <p:sp>
        <p:nvSpPr>
          <p:cNvPr id="964235419" name="TextBox 24"/>
          <p:cNvSpPr txBox="1"/>
          <p:nvPr/>
        </p:nvSpPr>
        <p:spPr bwMode="auto">
          <a:xfrm>
            <a:off x="6378599" y="5364570"/>
            <a:ext cx="2819400" cy="369332"/>
          </a:xfrm>
          <a:prstGeom prst="rect">
            <a:avLst/>
          </a:prstGeom>
          <a:noFill/>
        </p:spPr>
        <p:txBody>
          <a:bodyPr wrap="square" rtlCol="0">
            <a:spAutoFit/>
          </a:bodyPr>
          <a:lstStyle/>
          <a:p>
            <a:pPr>
              <a:defRPr/>
            </a:pPr>
            <a:r>
              <a:rPr lang="en-IN" b="1"/>
              <a:t>Enqueue</a:t>
            </a:r>
            <a:r>
              <a:rPr lang="en-IN" b="1"/>
              <a:t> (Q, F, R, N=3,</a:t>
            </a:r>
            <a:r>
              <a:rPr lang="en-IN" b="1">
                <a:solidFill>
                  <a:srgbClr val="C00000"/>
                </a:solidFill>
              </a:rPr>
              <a:t>Y=3</a:t>
            </a:r>
            <a:r>
              <a:rPr lang="en-IN" b="1"/>
              <a:t>)</a:t>
            </a:r>
            <a:endParaRPr lang="en-US" b="1"/>
          </a:p>
        </p:txBody>
      </p:sp>
      <p:sp>
        <p:nvSpPr>
          <p:cNvPr id="1660972507" name="TextBox 25"/>
          <p:cNvSpPr txBox="1"/>
          <p:nvPr/>
        </p:nvSpPr>
        <p:spPr bwMode="auto">
          <a:xfrm>
            <a:off x="6378599" y="5693805"/>
            <a:ext cx="2819400" cy="369332"/>
          </a:xfrm>
          <a:prstGeom prst="rect">
            <a:avLst/>
          </a:prstGeom>
          <a:noFill/>
        </p:spPr>
        <p:txBody>
          <a:bodyPr wrap="square" rtlCol="0">
            <a:spAutoFit/>
          </a:bodyPr>
          <a:lstStyle/>
          <a:p>
            <a:pPr>
              <a:defRPr/>
            </a:pPr>
            <a:r>
              <a:rPr lang="en-IN" b="1">
                <a:solidFill>
                  <a:srgbClr val="C00000"/>
                </a:solidFill>
              </a:rPr>
              <a:t>Queue Overflow (R &gt;= 2)</a:t>
            </a:r>
            <a:endParaRPr lang="en-US" b="1">
              <a:solidFill>
                <a:srgbClr val="C00000"/>
              </a:solidFill>
            </a:endParaRPr>
          </a:p>
        </p:txBody>
      </p:sp>
      <p:grpSp>
        <p:nvGrpSpPr>
          <p:cNvPr id="137912021" name="Group 26"/>
          <p:cNvGrpSpPr/>
          <p:nvPr/>
        </p:nvGrpSpPr>
        <p:grpSpPr bwMode="auto">
          <a:xfrm>
            <a:off x="9060274" y="2249655"/>
            <a:ext cx="227571" cy="674132"/>
            <a:chOff x="817195" y="5867399"/>
            <a:chExt cx="227571" cy="674132"/>
          </a:xfrm>
        </p:grpSpPr>
        <p:sp>
          <p:nvSpPr>
            <p:cNvPr id="28" name="TextBox 27"/>
            <p:cNvSpPr txBox="1"/>
            <p:nvPr/>
          </p:nvSpPr>
          <p:spPr bwMode="auto">
            <a:xfrm>
              <a:off x="817195" y="6172200"/>
              <a:ext cx="227571" cy="369332"/>
            </a:xfrm>
            <a:prstGeom prst="rect">
              <a:avLst/>
            </a:prstGeom>
            <a:noFill/>
          </p:spPr>
          <p:txBody>
            <a:bodyPr wrap="square" rtlCol="0">
              <a:spAutoFit/>
            </a:bodyPr>
            <a:lstStyle/>
            <a:p>
              <a:pPr algn="ctr">
                <a:defRPr/>
              </a:pPr>
              <a:r>
                <a:rPr lang="en-IN" b="1">
                  <a:solidFill>
                    <a:srgbClr val="C00000"/>
                  </a:solidFill>
                </a:rPr>
                <a:t>F</a:t>
              </a:r>
              <a:endParaRPr lang="en-US" b="1">
                <a:solidFill>
                  <a:srgbClr val="C00000"/>
                </a:solidFill>
              </a:endParaRPr>
            </a:p>
          </p:txBody>
        </p:sp>
        <p:cxnSp>
          <p:nvCxnSpPr>
            <p:cNvPr id="29" name="Straight Arrow Connector 28"/>
            <p:cNvCxnSpPr>
              <a:stCxn id="28" idx="0"/>
              <a:endCxn id="2087444529" idx="2"/>
            </p:cNvCxnSpPr>
            <p:nvPr/>
          </p:nvCxnSpPr>
          <p:spPr bwMode="auto">
            <a:xfrm flipH="1" flipV="1">
              <a:off x="918693" y="5867399"/>
              <a:ext cx="12288" cy="30480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740815508" name="TextBox 29"/>
          <p:cNvSpPr txBox="1"/>
          <p:nvPr/>
        </p:nvSpPr>
        <p:spPr bwMode="auto">
          <a:xfrm>
            <a:off x="6940012" y="3596111"/>
            <a:ext cx="314510" cy="400110"/>
          </a:xfrm>
          <a:prstGeom prst="rect">
            <a:avLst/>
          </a:prstGeom>
          <a:noFill/>
        </p:spPr>
        <p:txBody>
          <a:bodyPr wrap="square" rtlCol="0">
            <a:spAutoFit/>
          </a:bodyPr>
          <a:lstStyle/>
          <a:p>
            <a:pPr>
              <a:defRPr/>
            </a:pPr>
            <a:r>
              <a:rPr lang="en-IN" sz="2000" b="1"/>
              <a:t>0</a:t>
            </a:r>
            <a:endParaRPr lang="en-US" sz="20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4554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94554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94554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694554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99039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990394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9903945">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9903945">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990394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990394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2990394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29903945">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29903945">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29903945">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29903945">
                                            <p:txEl>
                                              <p:pRg st="9" end="9"/>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29903945">
                                            <p:txEl>
                                              <p:pRg st="10" end="1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29903945">
                                            <p:txEl>
                                              <p:pRg st="11" end="1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210530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2714068"/>
                                        </p:tgtEl>
                                        <p:attrNameLst>
                                          <p:attrName>style.visibility</p:attrName>
                                        </p:attrNameLst>
                                      </p:cBhvr>
                                      <p:to>
                                        <p:strVal val="visible"/>
                                      </p:to>
                                    </p:set>
                                  </p:childTnLst>
                                </p:cTn>
                              </p:par>
                              <p:par>
                                <p:cTn id="73" presetID="10" presetClass="entr" presetSubtype="0" fill="hold" grpId="0" nodeType="withEffect">
                                  <p:stCondLst>
                                    <p:cond delay="0"/>
                                  </p:stCondLst>
                                  <p:childTnLst>
                                    <p:set>
                                      <p:cBhvr>
                                        <p:cTn id="74" dur="1" fill="hold">
                                          <p:stCondLst>
                                            <p:cond delay="0"/>
                                          </p:stCondLst>
                                        </p:cTn>
                                        <p:tgtEl>
                                          <p:spTgt spid="1384206630"/>
                                        </p:tgtEl>
                                        <p:attrNameLst>
                                          <p:attrName>style.visibility</p:attrName>
                                        </p:attrNameLst>
                                      </p:cBhvr>
                                      <p:to>
                                        <p:strVal val="visible"/>
                                      </p:to>
                                    </p:set>
                                    <p:animEffect transition="in" filter="fade">
                                      <p:cBhvr>
                                        <p:cTn id="75" dur="500"/>
                                        <p:tgtEl>
                                          <p:spTgt spid="138420663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593870534"/>
                                        </p:tgtEl>
                                        <p:attrNameLst>
                                          <p:attrName>style.visibility</p:attrName>
                                        </p:attrNameLst>
                                      </p:cBhvr>
                                      <p:to>
                                        <p:strVal val="visible"/>
                                      </p:to>
                                    </p:set>
                                  </p:childTnLst>
                                </p:cTn>
                              </p:par>
                              <p:par>
                                <p:cTn id="80" presetID="10" presetClass="entr" presetSubtype="0" fill="hold" grpId="0" nodeType="withEffect">
                                  <p:stCondLst>
                                    <p:cond delay="0"/>
                                  </p:stCondLst>
                                  <p:childTnLst>
                                    <p:set>
                                      <p:cBhvr>
                                        <p:cTn id="81" dur="1" fill="hold">
                                          <p:stCondLst>
                                            <p:cond delay="0"/>
                                          </p:stCondLst>
                                        </p:cTn>
                                        <p:tgtEl>
                                          <p:spTgt spid="1875656659"/>
                                        </p:tgtEl>
                                        <p:attrNameLst>
                                          <p:attrName>style.visibility</p:attrName>
                                        </p:attrNameLst>
                                      </p:cBhvr>
                                      <p:to>
                                        <p:strVal val="visible"/>
                                      </p:to>
                                    </p:set>
                                    <p:animEffect transition="in" filter="fade">
                                      <p:cBhvr>
                                        <p:cTn id="82" dur="500"/>
                                        <p:tgtEl>
                                          <p:spTgt spid="1875656659"/>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1112000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43655677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xit" presetSubtype="4" fill="hold" grpId="1" nodeType="clickEffect">
                                  <p:stCondLst>
                                    <p:cond delay="0"/>
                                  </p:stCondLst>
                                  <p:childTnLst>
                                    <p:animEffect transition="out" filter="wipe(down)">
                                      <p:cBhvr>
                                        <p:cTn id="94" dur="500"/>
                                        <p:tgtEl>
                                          <p:spTgt spid="1875656659"/>
                                        </p:tgtEl>
                                      </p:cBhvr>
                                    </p:animEffect>
                                    <p:set>
                                      <p:cBhvr>
                                        <p:cTn id="95" dur="1" fill="hold">
                                          <p:stCondLst>
                                            <p:cond delay="499"/>
                                          </p:stCondLst>
                                        </p:cTn>
                                        <p:tgtEl>
                                          <p:spTgt spid="1875656659"/>
                                        </p:tgtEl>
                                        <p:attrNameLst>
                                          <p:attrName>style.visibility</p:attrName>
                                        </p:attrNameLst>
                                      </p:cBhvr>
                                      <p:to>
                                        <p:strVal val="hidden"/>
                                      </p:to>
                                    </p:set>
                                  </p:childTnLst>
                                </p:cTn>
                              </p:par>
                              <p:par>
                                <p:cTn id="96" presetID="10" presetClass="entr" presetSubtype="0" fill="hold" grpId="0" nodeType="withEffect">
                                  <p:stCondLst>
                                    <p:cond delay="0"/>
                                  </p:stCondLst>
                                  <p:childTnLst>
                                    <p:set>
                                      <p:cBhvr>
                                        <p:cTn id="97" dur="1" fill="hold">
                                          <p:stCondLst>
                                            <p:cond delay="0"/>
                                          </p:stCondLst>
                                        </p:cTn>
                                        <p:tgtEl>
                                          <p:spTgt spid="1700614988"/>
                                        </p:tgtEl>
                                        <p:attrNameLst>
                                          <p:attrName>style.visibility</p:attrName>
                                        </p:attrNameLst>
                                      </p:cBhvr>
                                      <p:to>
                                        <p:strVal val="visible"/>
                                      </p:to>
                                    </p:set>
                                    <p:animEffect transition="in" filter="fade">
                                      <p:cBhvr>
                                        <p:cTn id="98" dur="500"/>
                                        <p:tgtEl>
                                          <p:spTgt spid="1700614988"/>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8607579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87444529"/>
                                        </p:tgtEl>
                                        <p:attrNameLst>
                                          <p:attrName>style.visibility</p:attrName>
                                        </p:attrNameLst>
                                      </p:cBhvr>
                                      <p:to>
                                        <p:strVal val="visible"/>
                                      </p:to>
                                    </p:set>
                                  </p:childTnLst>
                                </p:cTn>
                              </p:par>
                              <p:par>
                                <p:cTn id="107" presetID="63" presetClass="path" presetSubtype="0" accel="50000" decel="50000" fill="hold" grpId="1" nodeType="withEffect">
                                  <p:stCondLst>
                                    <p:cond delay="0"/>
                                  </p:stCondLst>
                                  <p:childTnLst>
                                    <p:animMotion origin="layout" path="M -4.16667E-6 -3.7037E-7 L 0.26849 -3.7037E-7 " pathEditMode="relative" rAng="0" ptsTypes="AA">
                                      <p:cBhvr>
                                        <p:cTn id="108" dur="2000" spd="-100000" fill="hold"/>
                                        <p:tgtEl>
                                          <p:spTgt spid="2087444529"/>
                                        </p:tgtEl>
                                        <p:attrNameLst>
                                          <p:attrName>ppt_x</p:attrName>
                                          <p:attrName>ppt_y</p:attrName>
                                        </p:attrNameLst>
                                      </p:cBhvr>
                                      <p:rCtr x="13424" y="0"/>
                                    </p:animMotion>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1384206630"/>
                                        </p:tgtEl>
                                        <p:attrNameLst>
                                          <p:attrName>style.visibility</p:attrName>
                                        </p:attrNameLst>
                                      </p:cBhvr>
                                      <p:to>
                                        <p:strVal val="hidden"/>
                                      </p:to>
                                    </p:set>
                                  </p:childTnLst>
                                </p:cTn>
                              </p:par>
                              <p:par>
                                <p:cTn id="113" presetID="10" presetClass="entr" presetSubtype="0" fill="hold" grpId="0" nodeType="withEffect">
                                  <p:stCondLst>
                                    <p:cond delay="0"/>
                                  </p:stCondLst>
                                  <p:childTnLst>
                                    <p:set>
                                      <p:cBhvr>
                                        <p:cTn id="114" dur="1" fill="hold">
                                          <p:stCondLst>
                                            <p:cond delay="0"/>
                                          </p:stCondLst>
                                        </p:cTn>
                                        <p:tgtEl>
                                          <p:spTgt spid="740815508"/>
                                        </p:tgtEl>
                                        <p:attrNameLst>
                                          <p:attrName>style.visibility</p:attrName>
                                        </p:attrNameLst>
                                      </p:cBhvr>
                                      <p:to>
                                        <p:strVal val="visible"/>
                                      </p:to>
                                    </p:set>
                                    <p:animEffect transition="in" filter="fade">
                                      <p:cBhvr>
                                        <p:cTn id="115" dur="500"/>
                                        <p:tgtEl>
                                          <p:spTgt spid="740815508"/>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137912021"/>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1304133006"/>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517017613"/>
                                        </p:tgtEl>
                                        <p:attrNameLst>
                                          <p:attrName>style.visibility</p:attrName>
                                        </p:attrNameLst>
                                      </p:cBhvr>
                                      <p:to>
                                        <p:strVal val="visible"/>
                                      </p:to>
                                    </p:set>
                                    <p:animEffect transition="in" filter="fade">
                                      <p:cBhvr>
                                        <p:cTn id="128" dur="500"/>
                                        <p:tgtEl>
                                          <p:spTgt spid="517017613"/>
                                        </p:tgtEl>
                                      </p:cBhvr>
                                    </p:animEffect>
                                  </p:childTnLst>
                                </p:cTn>
                              </p:par>
                              <p:par>
                                <p:cTn id="129" presetID="1" presetClass="exit" presetSubtype="0" fill="hold" grpId="1" nodeType="withEffect">
                                  <p:stCondLst>
                                    <p:cond delay="0"/>
                                  </p:stCondLst>
                                  <p:childTnLst>
                                    <p:set>
                                      <p:cBhvr>
                                        <p:cTn id="130" dur="1" fill="hold">
                                          <p:stCondLst>
                                            <p:cond delay="0"/>
                                          </p:stCondLst>
                                        </p:cTn>
                                        <p:tgtEl>
                                          <p:spTgt spid="170061498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63" presetClass="path" presetSubtype="0" accel="50000" decel="50000" fill="hold" nodeType="clickEffect">
                                  <p:stCondLst>
                                    <p:cond delay="0"/>
                                  </p:stCondLst>
                                  <p:childTnLst>
                                    <p:animMotion origin="layout" path="M 3.33333E-6 -2.22222E-6 L 0.04843 -2.22222E-6 " pathEditMode="relative" rAng="0" ptsTypes="AA">
                                      <p:cBhvr>
                                        <p:cTn id="134" dur="2000" fill="hold"/>
                                        <p:tgtEl>
                                          <p:spTgt spid="586075793"/>
                                        </p:tgtEl>
                                        <p:attrNameLst>
                                          <p:attrName>ppt_x</p:attrName>
                                          <p:attrName>ppt_y</p:attrName>
                                        </p:attrNameLst>
                                      </p:cBhvr>
                                      <p:rCtr x="2422" y="0"/>
                                    </p:animMotion>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717159207"/>
                                        </p:tgtEl>
                                        <p:attrNameLst>
                                          <p:attrName>style.visibility</p:attrName>
                                        </p:attrNameLst>
                                      </p:cBhvr>
                                      <p:to>
                                        <p:strVal val="visible"/>
                                      </p:to>
                                    </p:set>
                                  </p:childTnLst>
                                </p:cTn>
                              </p:par>
                              <p:par>
                                <p:cTn id="139" presetID="63" presetClass="path" presetSubtype="0" accel="50000" decel="50000" fill="hold" grpId="1" nodeType="withEffect">
                                  <p:stCondLst>
                                    <p:cond delay="0"/>
                                  </p:stCondLst>
                                  <p:childTnLst>
                                    <p:animMotion origin="layout" path="M 4.58333E-6 1.11111E-6 L 0.2263 1.11111E-6 " pathEditMode="relative" rAng="0" ptsTypes="AA">
                                      <p:cBhvr>
                                        <p:cTn id="140" dur="2000" spd="-100000" fill="hold"/>
                                        <p:tgtEl>
                                          <p:spTgt spid="717159207"/>
                                        </p:tgtEl>
                                        <p:attrNameLst>
                                          <p:attrName>ppt_x</p:attrName>
                                          <p:attrName>ppt_y</p:attrName>
                                        </p:attrNameLst>
                                      </p:cBhvr>
                                      <p:rCtr x="11315" y="0"/>
                                    </p:animMotion>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916927762"/>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1833245682"/>
                                        </p:tgtEl>
                                        <p:attrNameLst>
                                          <p:attrName>style.visibility</p:attrName>
                                        </p:attrNameLst>
                                      </p:cBhvr>
                                      <p:to>
                                        <p:strVal val="visible"/>
                                      </p:to>
                                    </p:set>
                                    <p:animEffect transition="in" filter="fade">
                                      <p:cBhvr>
                                        <p:cTn id="149" dur="500"/>
                                        <p:tgtEl>
                                          <p:spTgt spid="1833245682"/>
                                        </p:tgtEl>
                                      </p:cBhvr>
                                    </p:animEffect>
                                  </p:childTnLst>
                                </p:cTn>
                              </p:par>
                              <p:par>
                                <p:cTn id="150" presetID="1" presetClass="exit" presetSubtype="0" fill="hold" grpId="1" nodeType="withEffect">
                                  <p:stCondLst>
                                    <p:cond delay="0"/>
                                  </p:stCondLst>
                                  <p:childTnLst>
                                    <p:set>
                                      <p:cBhvr>
                                        <p:cTn id="151" dur="1" fill="hold">
                                          <p:stCondLst>
                                            <p:cond delay="0"/>
                                          </p:stCondLst>
                                        </p:cTn>
                                        <p:tgtEl>
                                          <p:spTgt spid="517017613"/>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63" presetClass="path" presetSubtype="0" accel="50000" decel="50000" fill="hold" nodeType="clickEffect">
                                  <p:stCondLst>
                                    <p:cond delay="0"/>
                                  </p:stCondLst>
                                  <p:childTnLst>
                                    <p:animMotion origin="layout" path="M 0.04843 -2.22222E-6 L 0.09271 -2.22222E-6 " pathEditMode="relative" rAng="0" ptsTypes="AA">
                                      <p:cBhvr>
                                        <p:cTn id="155" dur="2000" fill="hold"/>
                                        <p:tgtEl>
                                          <p:spTgt spid="586075793"/>
                                        </p:tgtEl>
                                        <p:attrNameLst>
                                          <p:attrName>ppt_x</p:attrName>
                                          <p:attrName>ppt_y</p:attrName>
                                        </p:attrNameLst>
                                      </p:cBhvr>
                                      <p:rCtr x="2214" y="0"/>
                                    </p:animMotion>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644443795"/>
                                        </p:tgtEl>
                                        <p:attrNameLst>
                                          <p:attrName>style.visibility</p:attrName>
                                        </p:attrNameLst>
                                      </p:cBhvr>
                                      <p:to>
                                        <p:strVal val="visible"/>
                                      </p:to>
                                    </p:set>
                                  </p:childTnLst>
                                </p:cTn>
                              </p:par>
                              <p:par>
                                <p:cTn id="160" presetID="63" presetClass="path" presetSubtype="0" accel="50000" decel="50000" fill="hold" grpId="1" nodeType="withEffect">
                                  <p:stCondLst>
                                    <p:cond delay="0"/>
                                  </p:stCondLst>
                                  <p:childTnLst>
                                    <p:animMotion origin="layout" path="M 3.33333E-6 -3.7037E-7 L 0.1806 -3.7037E-7 " pathEditMode="relative" rAng="0" ptsTypes="AA">
                                      <p:cBhvr>
                                        <p:cTn id="161" dur="2000" spd="-100000" fill="hold"/>
                                        <p:tgtEl>
                                          <p:spTgt spid="644443795"/>
                                        </p:tgtEl>
                                        <p:attrNameLst>
                                          <p:attrName>ppt_x</p:attrName>
                                          <p:attrName>ppt_y</p:attrName>
                                        </p:attrNameLst>
                                      </p:cBhvr>
                                      <p:rCtr x="9023" y="0"/>
                                    </p:animMotion>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964235419"/>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1660972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903945" grpId="0" animBg="1"/>
      <p:bldP spid="2087444529" grpId="0" animBg="1"/>
      <p:bldP spid="2087444529" grpId="1" animBg="1"/>
      <p:bldP spid="521053010" grpId="0" animBg="1"/>
      <p:bldP spid="62714068" grpId="0"/>
      <p:bldP spid="593870534" grpId="0"/>
      <p:bldP spid="1384206630" grpId="0"/>
      <p:bldP spid="1384206630" grpId="1"/>
      <p:bldP spid="1875656659" grpId="0"/>
      <p:bldP spid="1875656659" grpId="1"/>
      <p:bldP spid="1436556770" grpId="0"/>
      <p:bldP spid="1700614988" grpId="0"/>
      <p:bldP spid="1700614988" grpId="1"/>
      <p:bldP spid="1304133006" grpId="0"/>
      <p:bldP spid="517017613" grpId="0"/>
      <p:bldP spid="517017613" grpId="1"/>
      <p:bldP spid="717159207" grpId="0" animBg="1"/>
      <p:bldP spid="717159207" grpId="1" animBg="1"/>
      <p:bldP spid="1916927762" grpId="0"/>
      <p:bldP spid="1833245682" grpId="0"/>
      <p:bldP spid="644443795" grpId="0" animBg="1"/>
      <p:bldP spid="644443795" grpId="1" animBg="1"/>
      <p:bldP spid="964235419" grpId="0"/>
      <p:bldP spid="1660972507" grpId="0"/>
      <p:bldP spid="740815508" grpId="0"/>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2095384" name="Title 1"/>
          <p:cNvSpPr>
            <a:spLocks noGrp="1"/>
          </p:cNvSpPr>
          <p:nvPr>
            <p:ph type="title"/>
          </p:nvPr>
        </p:nvSpPr>
        <p:spPr bwMode="auto"/>
        <p:txBody>
          <a:bodyPr/>
          <a:lstStyle/>
          <a:p>
            <a:pPr>
              <a:defRPr/>
            </a:pPr>
            <a:r>
              <a:rPr lang="fr-FR"/>
              <a:t>Function</a:t>
            </a:r>
            <a:r>
              <a:rPr lang="fr-FR"/>
              <a:t>:  </a:t>
            </a:r>
            <a:r>
              <a:rPr lang="fr-FR"/>
              <a:t>Dequeue</a:t>
            </a:r>
            <a:r>
              <a:rPr lang="fr-FR"/>
              <a:t> (Q, F, R)</a:t>
            </a:r>
            <a:endParaRPr lang="en-US"/>
          </a:p>
        </p:txBody>
      </p:sp>
      <p:sp>
        <p:nvSpPr>
          <p:cNvPr id="1285214975" name="Content Placeholder 2"/>
          <p:cNvSpPr>
            <a:spLocks noGrp="1"/>
          </p:cNvSpPr>
          <p:nvPr>
            <p:ph idx="1"/>
          </p:nvPr>
        </p:nvSpPr>
        <p:spPr bwMode="auto"/>
        <p:txBody>
          <a:bodyPr/>
          <a:lstStyle/>
          <a:p>
            <a:pPr>
              <a:defRPr/>
            </a:pPr>
            <a:r>
              <a:rPr lang="en-IN"/>
              <a:t>This function </a:t>
            </a:r>
            <a:r>
              <a:rPr lang="en-IN" b="1">
                <a:solidFill>
                  <a:srgbClr val="C00000"/>
                </a:solidFill>
              </a:rPr>
              <a:t>deletes &amp; returns</a:t>
            </a:r>
            <a:r>
              <a:rPr lang="en-IN" b="1">
                <a:solidFill>
                  <a:srgbClr val="FF0000"/>
                </a:solidFill>
              </a:rPr>
              <a:t> </a:t>
            </a:r>
            <a:r>
              <a:rPr lang="en-IN"/>
              <a:t>an element </a:t>
            </a:r>
            <a:r>
              <a:rPr lang="en-IN" b="1">
                <a:solidFill>
                  <a:srgbClr val="C00000"/>
                </a:solidFill>
              </a:rPr>
              <a:t>from front end</a:t>
            </a:r>
            <a:r>
              <a:rPr lang="en-IN" b="1">
                <a:solidFill>
                  <a:srgbClr val="FF0000"/>
                </a:solidFill>
              </a:rPr>
              <a:t> </a:t>
            </a:r>
            <a:r>
              <a:rPr lang="en-IN"/>
              <a:t>of the Queue.</a:t>
            </a:r>
            <a:endParaRPr/>
          </a:p>
          <a:p>
            <a:pPr>
              <a:defRPr/>
            </a:pPr>
            <a:r>
              <a:rPr lang="en-IN" b="1">
                <a:solidFill>
                  <a:srgbClr val="C00000"/>
                </a:solidFill>
              </a:rPr>
              <a:t>Queue</a:t>
            </a:r>
            <a:r>
              <a:rPr lang="en-IN">
                <a:solidFill>
                  <a:srgbClr val="C00000"/>
                </a:solidFill>
              </a:rPr>
              <a:t> </a:t>
            </a:r>
            <a:r>
              <a:rPr lang="en-IN"/>
              <a:t>is represented by a vector </a:t>
            </a:r>
            <a:r>
              <a:rPr lang="en-IN" b="1">
                <a:solidFill>
                  <a:srgbClr val="C00000"/>
                </a:solidFill>
              </a:rPr>
              <a:t>Q</a:t>
            </a:r>
            <a:r>
              <a:rPr lang="en-IN"/>
              <a:t> containing </a:t>
            </a:r>
            <a:r>
              <a:rPr lang="en-IN" b="1">
                <a:solidFill>
                  <a:srgbClr val="C00000"/>
                </a:solidFill>
              </a:rPr>
              <a:t>N</a:t>
            </a:r>
            <a:r>
              <a:rPr lang="en-IN"/>
              <a:t> elements.</a:t>
            </a:r>
            <a:endParaRPr/>
          </a:p>
          <a:p>
            <a:pPr>
              <a:defRPr/>
            </a:pPr>
            <a:r>
              <a:rPr lang="en-IN" b="1">
                <a:solidFill>
                  <a:srgbClr val="C00000"/>
                </a:solidFill>
              </a:rPr>
              <a:t>F</a:t>
            </a:r>
            <a:r>
              <a:rPr lang="en-IN"/>
              <a:t> is pointer to the </a:t>
            </a:r>
            <a:r>
              <a:rPr lang="en-IN" b="1">
                <a:solidFill>
                  <a:srgbClr val="C00000"/>
                </a:solidFill>
              </a:rPr>
              <a:t>front</a:t>
            </a:r>
            <a:r>
              <a:rPr lang="en-IN" b="1">
                <a:solidFill>
                  <a:srgbClr val="FF0000"/>
                </a:solidFill>
              </a:rPr>
              <a:t> </a:t>
            </a:r>
            <a:r>
              <a:rPr lang="en-IN"/>
              <a:t>element of a queue.</a:t>
            </a:r>
            <a:endParaRPr/>
          </a:p>
          <a:p>
            <a:pPr>
              <a:defRPr/>
            </a:pPr>
            <a:r>
              <a:rPr lang="en-IN" b="1">
                <a:solidFill>
                  <a:srgbClr val="C00000"/>
                </a:solidFill>
              </a:rPr>
              <a:t>R</a:t>
            </a:r>
            <a:r>
              <a:rPr lang="en-IN"/>
              <a:t> is pointer to the </a:t>
            </a:r>
            <a:r>
              <a:rPr lang="en-IN" b="1">
                <a:solidFill>
                  <a:srgbClr val="C00000"/>
                </a:solidFill>
              </a:rPr>
              <a:t>rear</a:t>
            </a:r>
            <a:r>
              <a:rPr lang="en-IN">
                <a:solidFill>
                  <a:srgbClr val="FF0000"/>
                </a:solidFill>
              </a:rPr>
              <a:t> </a:t>
            </a:r>
            <a:r>
              <a:rPr lang="en-IN"/>
              <a:t>element of a queue.</a:t>
            </a:r>
            <a:endParaRPr lang="en-US"/>
          </a:p>
        </p:txBody>
      </p:sp>
      <p:sp>
        <p:nvSpPr>
          <p:cNvPr id="1947509395" name="TextBox 3"/>
          <p:cNvSpPr txBox="1"/>
          <p:nvPr/>
        </p:nvSpPr>
        <p:spPr bwMode="auto">
          <a:xfrm>
            <a:off x="461682" y="2687209"/>
            <a:ext cx="5428129" cy="3508653"/>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marL="457200" indent="-457200">
              <a:buAutoNum type="arabicPeriod"/>
              <a:defRPr/>
            </a:pPr>
            <a:r>
              <a:rPr lang="en-IN" sz="2000" b="1">
                <a:solidFill>
                  <a:schemeClr val="tx2"/>
                </a:solidFill>
                <a:latin typeface="Consolas"/>
                <a:cs typeface="Consolas"/>
              </a:rPr>
              <a:t>[Check for Queue Underflow]</a:t>
            </a:r>
            <a:endParaRPr/>
          </a:p>
          <a:p>
            <a:pPr marL="538163">
              <a:defRPr/>
            </a:pPr>
            <a:r>
              <a:rPr lang="en-IN" b="1">
                <a:solidFill>
                  <a:schemeClr val="tx2">
                    <a:lumMod val="75000"/>
                  </a:schemeClr>
                </a:solidFill>
                <a:latin typeface="Consolas"/>
                <a:cs typeface="Consolas"/>
              </a:rPr>
              <a:t>If</a:t>
            </a:r>
            <a:r>
              <a:rPr lang="en-IN">
                <a:solidFill>
                  <a:schemeClr val="tx2">
                    <a:lumMod val="75000"/>
                  </a:schemeClr>
                </a:solidFill>
                <a:latin typeface="Consolas"/>
                <a:cs typeface="Consolas"/>
              </a:rPr>
              <a:t> </a:t>
            </a:r>
            <a:r>
              <a:rPr lang="en-IN">
                <a:latin typeface="Consolas"/>
                <a:cs typeface="Consolas"/>
              </a:rPr>
              <a:t>  F = -1</a:t>
            </a:r>
            <a:endParaRPr/>
          </a:p>
          <a:p>
            <a:pPr>
              <a:defRPr/>
            </a:pPr>
            <a:r>
              <a:rPr lang="en-IN">
                <a:latin typeface="Consolas"/>
                <a:cs typeface="Consolas"/>
              </a:rPr>
              <a:t>    </a:t>
            </a:r>
            <a:r>
              <a:rPr lang="en-IN" b="1">
                <a:solidFill>
                  <a:schemeClr val="tx2">
                    <a:lumMod val="75000"/>
                  </a:schemeClr>
                </a:solidFill>
                <a:latin typeface="Consolas"/>
                <a:cs typeface="Consolas"/>
              </a:rPr>
              <a:t>Then</a:t>
            </a:r>
            <a:r>
              <a:rPr lang="en-IN">
                <a:solidFill>
                  <a:schemeClr val="tx2">
                    <a:lumMod val="75000"/>
                  </a:schemeClr>
                </a:solidFill>
                <a:latin typeface="Consolas"/>
                <a:cs typeface="Consolas"/>
              </a:rPr>
              <a:t> </a:t>
            </a:r>
            <a:r>
              <a:rPr lang="en-IN">
                <a:latin typeface="Consolas"/>
                <a:cs typeface="Consolas"/>
              </a:rPr>
              <a:t>write (‘Queue Underflow’)</a:t>
            </a:r>
            <a:endParaRPr/>
          </a:p>
          <a:p>
            <a:pPr>
              <a:defRPr/>
            </a:pPr>
            <a:r>
              <a:rPr lang="en-IN">
                <a:latin typeface="Consolas"/>
                <a:cs typeface="Consolas"/>
              </a:rPr>
              <a:t>	  Return(-1)</a:t>
            </a:r>
            <a:endParaRPr/>
          </a:p>
          <a:p>
            <a:pPr>
              <a:defRPr/>
            </a:pPr>
            <a:r>
              <a:rPr lang="en-IN" sz="2000" b="1">
                <a:solidFill>
                  <a:schemeClr val="tx2"/>
                </a:solidFill>
                <a:latin typeface="Consolas"/>
                <a:cs typeface="Consolas"/>
              </a:rPr>
              <a:t>2. [Delete element]</a:t>
            </a:r>
            <a:endParaRPr/>
          </a:p>
          <a:p>
            <a:pPr>
              <a:defRPr/>
            </a:pPr>
            <a:r>
              <a:rPr lang="en-IN">
                <a:latin typeface="Consolas"/>
                <a:cs typeface="Consolas"/>
              </a:rPr>
              <a:t>    Y </a:t>
            </a:r>
            <a:r>
              <a:rPr lang="en-IN">
                <a:latin typeface="Consolas"/>
                <a:cs typeface="Consolas"/>
              </a:rPr>
              <a:t></a:t>
            </a:r>
            <a:r>
              <a:rPr lang="en-IN">
                <a:latin typeface="Consolas"/>
                <a:cs typeface="Consolas"/>
              </a:rPr>
              <a:t> Q[F]</a:t>
            </a:r>
            <a:endParaRPr/>
          </a:p>
          <a:p>
            <a:pPr marL="574675" indent="-574675">
              <a:defRPr/>
            </a:pPr>
            <a:r>
              <a:rPr lang="en-IN" sz="2000" b="1">
                <a:solidFill>
                  <a:schemeClr val="tx2"/>
                </a:solidFill>
                <a:latin typeface="Consolas"/>
                <a:cs typeface="Consolas"/>
              </a:rPr>
              <a:t>3. [Is Single element left in Queue?]</a:t>
            </a:r>
            <a:endParaRPr/>
          </a:p>
          <a:p>
            <a:pPr>
              <a:defRPr/>
            </a:pPr>
            <a:r>
              <a:rPr lang="en-IN" b="1">
                <a:latin typeface="Consolas"/>
                <a:cs typeface="Consolas"/>
              </a:rPr>
              <a:t>    </a:t>
            </a:r>
            <a:r>
              <a:rPr lang="en-IN" b="1">
                <a:solidFill>
                  <a:schemeClr val="tx2">
                    <a:lumMod val="75000"/>
                  </a:schemeClr>
                </a:solidFill>
                <a:latin typeface="Consolas"/>
                <a:cs typeface="Consolas"/>
              </a:rPr>
              <a:t>If</a:t>
            </a:r>
            <a:r>
              <a:rPr lang="en-IN">
                <a:latin typeface="Consolas"/>
                <a:cs typeface="Consolas"/>
              </a:rPr>
              <a:t>   F = R</a:t>
            </a:r>
            <a:endParaRPr/>
          </a:p>
          <a:p>
            <a:pPr>
              <a:defRPr/>
            </a:pPr>
            <a:r>
              <a:rPr lang="en-IN">
                <a:latin typeface="Consolas"/>
                <a:cs typeface="Consolas"/>
              </a:rPr>
              <a:t>    </a:t>
            </a:r>
            <a:r>
              <a:rPr lang="en-IN" b="1">
                <a:solidFill>
                  <a:schemeClr val="tx2">
                    <a:lumMod val="75000"/>
                  </a:schemeClr>
                </a:solidFill>
                <a:latin typeface="Consolas"/>
                <a:cs typeface="Consolas"/>
              </a:rPr>
              <a:t>Then</a:t>
            </a:r>
            <a:r>
              <a:rPr lang="en-IN">
                <a:solidFill>
                  <a:schemeClr val="tx2">
                    <a:lumMod val="75000"/>
                  </a:schemeClr>
                </a:solidFill>
                <a:latin typeface="Consolas"/>
                <a:cs typeface="Consolas"/>
              </a:rPr>
              <a:t> </a:t>
            </a:r>
            <a:r>
              <a:rPr lang="en-IN">
                <a:latin typeface="Consolas"/>
                <a:cs typeface="Consolas"/>
              </a:rPr>
              <a:t>F </a:t>
            </a:r>
            <a:r>
              <a:rPr lang="en-IN">
                <a:latin typeface="Consolas"/>
                <a:cs typeface="Consolas"/>
              </a:rPr>
              <a:t> R  -1</a:t>
            </a:r>
            <a:endParaRPr/>
          </a:p>
          <a:p>
            <a:pPr>
              <a:defRPr/>
            </a:pPr>
            <a:r>
              <a:rPr lang="en-IN">
                <a:latin typeface="Consolas"/>
                <a:cs typeface="Consolas"/>
              </a:rPr>
              <a:t>    </a:t>
            </a:r>
            <a:r>
              <a:rPr lang="en-IN" b="1">
                <a:solidFill>
                  <a:schemeClr val="tx2">
                    <a:lumMod val="75000"/>
                  </a:schemeClr>
                </a:solidFill>
                <a:latin typeface="Consolas"/>
                <a:cs typeface="Consolas"/>
              </a:rPr>
              <a:t>Else</a:t>
            </a:r>
            <a:r>
              <a:rPr lang="en-IN">
                <a:latin typeface="Consolas"/>
                <a:cs typeface="Consolas"/>
              </a:rPr>
              <a:t> F  F+1</a:t>
            </a:r>
            <a:br>
              <a:rPr lang="en-IN">
                <a:latin typeface="Consolas"/>
                <a:cs typeface="Consolas"/>
              </a:rPr>
            </a:br>
            <a:r>
              <a:rPr lang="en-IN" b="1">
                <a:solidFill>
                  <a:schemeClr val="tx2"/>
                </a:solidFill>
                <a:latin typeface="Consolas"/>
                <a:cs typeface="Consolas"/>
              </a:rPr>
              <a:t>4. [Return Element]</a:t>
            </a:r>
            <a:endParaRPr/>
          </a:p>
          <a:p>
            <a:pPr>
              <a:defRPr/>
            </a:pPr>
            <a:r>
              <a:rPr lang="en-IN" b="1">
                <a:latin typeface="Consolas"/>
                <a:cs typeface="Consolas"/>
              </a:rPr>
              <a:t>    </a:t>
            </a:r>
            <a:r>
              <a:rPr lang="en-IN">
                <a:latin typeface="Consolas"/>
                <a:cs typeface="Consolas"/>
              </a:rPr>
              <a:t>Return (Y)</a:t>
            </a:r>
            <a:endParaRPr/>
          </a:p>
        </p:txBody>
      </p:sp>
      <p:grpSp>
        <p:nvGrpSpPr>
          <p:cNvPr id="408779162" name="Group 5"/>
          <p:cNvGrpSpPr/>
          <p:nvPr/>
        </p:nvGrpSpPr>
        <p:grpSpPr bwMode="auto">
          <a:xfrm>
            <a:off x="8373033" y="2544675"/>
            <a:ext cx="2655064" cy="457200"/>
            <a:chOff x="5486400" y="1219200"/>
            <a:chExt cx="2655064" cy="457200"/>
          </a:xfrm>
        </p:grpSpPr>
        <p:sp>
          <p:nvSpPr>
            <p:cNvPr id="7" name="Rectangle 6"/>
            <p:cNvSpPr/>
            <p:nvPr/>
          </p:nvSpPr>
          <p:spPr bwMode="auto">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 name="Rectangle 7"/>
            <p:cNvSpPr/>
            <p:nvPr/>
          </p:nvSpPr>
          <p:spPr bwMode="auto">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Rectangle 8"/>
            <p:cNvSpPr/>
            <p:nvPr/>
          </p:nvSpPr>
          <p:spPr bwMode="auto">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Rectangle 9"/>
            <p:cNvSpPr/>
            <p:nvPr/>
          </p:nvSpPr>
          <p:spPr bwMode="auto">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Rectangle 10"/>
            <p:cNvSpPr/>
            <p:nvPr/>
          </p:nvSpPr>
          <p:spPr bwMode="auto">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168963410" name="Group 11"/>
          <p:cNvGrpSpPr/>
          <p:nvPr/>
        </p:nvGrpSpPr>
        <p:grpSpPr bwMode="auto">
          <a:xfrm>
            <a:off x="8384969" y="4320985"/>
            <a:ext cx="2655064" cy="457200"/>
            <a:chOff x="5486400" y="1219200"/>
            <a:chExt cx="2655064" cy="457200"/>
          </a:xfrm>
        </p:grpSpPr>
        <p:sp>
          <p:nvSpPr>
            <p:cNvPr id="13" name="Rectangle 12"/>
            <p:cNvSpPr/>
            <p:nvPr/>
          </p:nvSpPr>
          <p:spPr bwMode="auto">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 name="Rectangle 13"/>
            <p:cNvSpPr/>
            <p:nvPr/>
          </p:nvSpPr>
          <p:spPr bwMode="auto">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 name="Rectangle 14"/>
            <p:cNvSpPr/>
            <p:nvPr/>
          </p:nvSpPr>
          <p:spPr bwMode="auto">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16" name="Rectangle 15"/>
            <p:cNvSpPr/>
            <p:nvPr/>
          </p:nvSpPr>
          <p:spPr bwMode="auto">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 name="Rectangle 16"/>
            <p:cNvSpPr/>
            <p:nvPr/>
          </p:nvSpPr>
          <p:spPr bwMode="auto">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472099316" name="Group 17"/>
          <p:cNvGrpSpPr/>
          <p:nvPr/>
        </p:nvGrpSpPr>
        <p:grpSpPr bwMode="auto">
          <a:xfrm>
            <a:off x="8384969" y="5921186"/>
            <a:ext cx="2655064" cy="457200"/>
            <a:chOff x="5486400" y="1219200"/>
            <a:chExt cx="2655064" cy="457200"/>
          </a:xfrm>
        </p:grpSpPr>
        <p:sp>
          <p:nvSpPr>
            <p:cNvPr id="19" name="Rectangle 18"/>
            <p:cNvSpPr/>
            <p:nvPr/>
          </p:nvSpPr>
          <p:spPr bwMode="auto">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20" name="Rectangle 19"/>
            <p:cNvSpPr/>
            <p:nvPr/>
          </p:nvSpPr>
          <p:spPr bwMode="auto">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a:t>
              </a:r>
              <a:endParaRPr lang="en-US" b="1"/>
            </a:p>
          </p:txBody>
        </p:sp>
        <p:sp>
          <p:nvSpPr>
            <p:cNvPr id="21" name="Rectangle 20"/>
            <p:cNvSpPr/>
            <p:nvPr/>
          </p:nvSpPr>
          <p:spPr bwMode="auto">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50</a:t>
              </a:r>
              <a:endParaRPr lang="en-US" b="1"/>
            </a:p>
          </p:txBody>
        </p:sp>
        <p:sp>
          <p:nvSpPr>
            <p:cNvPr id="22" name="Rectangle 21"/>
            <p:cNvSpPr/>
            <p:nvPr/>
          </p:nvSpPr>
          <p:spPr bwMode="auto">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 name="Rectangle 22"/>
            <p:cNvSpPr/>
            <p:nvPr/>
          </p:nvSpPr>
          <p:spPr bwMode="auto">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745595748" name="TextBox 23"/>
          <p:cNvSpPr txBox="1"/>
          <p:nvPr/>
        </p:nvSpPr>
        <p:spPr bwMode="auto">
          <a:xfrm>
            <a:off x="6812306" y="2066361"/>
            <a:ext cx="1327078" cy="646331"/>
          </a:xfrm>
          <a:prstGeom prst="rect">
            <a:avLst/>
          </a:prstGeom>
          <a:noFill/>
        </p:spPr>
        <p:txBody>
          <a:bodyPr wrap="square" rtlCol="0">
            <a:spAutoFit/>
          </a:bodyPr>
          <a:lstStyle/>
          <a:p>
            <a:pPr>
              <a:defRPr/>
            </a:pPr>
            <a:r>
              <a:rPr lang="en-IN" b="1"/>
              <a:t>Case No 1: </a:t>
            </a:r>
            <a:endParaRPr/>
          </a:p>
          <a:p>
            <a:pPr>
              <a:defRPr/>
            </a:pPr>
            <a:r>
              <a:rPr lang="en-IN" b="1">
                <a:solidFill>
                  <a:schemeClr val="accent3">
                    <a:lumMod val="75000"/>
                  </a:schemeClr>
                </a:solidFill>
              </a:rPr>
              <a:t>F=-1, R=-1</a:t>
            </a:r>
            <a:endParaRPr lang="en-US" b="1">
              <a:solidFill>
                <a:schemeClr val="accent3">
                  <a:lumMod val="75000"/>
                </a:schemeClr>
              </a:solidFill>
            </a:endParaRPr>
          </a:p>
        </p:txBody>
      </p:sp>
      <p:sp>
        <p:nvSpPr>
          <p:cNvPr id="1435911841" name="TextBox 24"/>
          <p:cNvSpPr txBox="1"/>
          <p:nvPr/>
        </p:nvSpPr>
        <p:spPr bwMode="auto">
          <a:xfrm>
            <a:off x="8384969" y="2980759"/>
            <a:ext cx="2655064" cy="369332"/>
          </a:xfrm>
          <a:prstGeom prst="rect">
            <a:avLst/>
          </a:prstGeom>
          <a:noFill/>
        </p:spPr>
        <p:txBody>
          <a:bodyPr wrap="square" rtlCol="0">
            <a:spAutoFit/>
          </a:bodyPr>
          <a:lstStyle/>
          <a:p>
            <a:pPr algn="ctr">
              <a:defRPr/>
            </a:pPr>
            <a:r>
              <a:rPr lang="en-IN" b="1">
                <a:solidFill>
                  <a:srgbClr val="C00000"/>
                </a:solidFill>
              </a:rPr>
              <a:t>Queue Underflow</a:t>
            </a:r>
            <a:endParaRPr lang="en-US" b="1">
              <a:solidFill>
                <a:srgbClr val="C00000"/>
              </a:solidFill>
            </a:endParaRPr>
          </a:p>
        </p:txBody>
      </p:sp>
      <p:sp>
        <p:nvSpPr>
          <p:cNvPr id="1499651487" name="TextBox 25"/>
          <p:cNvSpPr txBox="1"/>
          <p:nvPr/>
        </p:nvSpPr>
        <p:spPr bwMode="auto">
          <a:xfrm>
            <a:off x="6893555" y="3482786"/>
            <a:ext cx="1327078" cy="646331"/>
          </a:xfrm>
          <a:prstGeom prst="rect">
            <a:avLst/>
          </a:prstGeom>
          <a:noFill/>
        </p:spPr>
        <p:txBody>
          <a:bodyPr wrap="square" rtlCol="0">
            <a:spAutoFit/>
          </a:bodyPr>
          <a:lstStyle/>
          <a:p>
            <a:pPr>
              <a:defRPr/>
            </a:pPr>
            <a:r>
              <a:rPr lang="en-IN" b="1"/>
              <a:t>Case No 2: </a:t>
            </a:r>
            <a:endParaRPr/>
          </a:p>
          <a:p>
            <a:pPr>
              <a:defRPr/>
            </a:pPr>
            <a:r>
              <a:rPr lang="en-IN" b="1">
                <a:solidFill>
                  <a:schemeClr val="accent3">
                    <a:lumMod val="75000"/>
                  </a:schemeClr>
                </a:solidFill>
              </a:rPr>
              <a:t>F=2, R=2</a:t>
            </a:r>
            <a:endParaRPr lang="en-US" b="1">
              <a:solidFill>
                <a:schemeClr val="accent3">
                  <a:lumMod val="75000"/>
                </a:schemeClr>
              </a:solidFill>
            </a:endParaRPr>
          </a:p>
        </p:txBody>
      </p:sp>
      <p:grpSp>
        <p:nvGrpSpPr>
          <p:cNvPr id="791493652" name="Group 26"/>
          <p:cNvGrpSpPr/>
          <p:nvPr/>
        </p:nvGrpSpPr>
        <p:grpSpPr bwMode="auto">
          <a:xfrm>
            <a:off x="9483901" y="3558986"/>
            <a:ext cx="228600" cy="727999"/>
            <a:chOff x="802406" y="4606001"/>
            <a:chExt cx="228600" cy="727999"/>
          </a:xfrm>
        </p:grpSpPr>
        <p:sp>
          <p:nvSpPr>
            <p:cNvPr id="28" name="TextBox 27"/>
            <p:cNvSpPr txBox="1"/>
            <p:nvPr/>
          </p:nvSpPr>
          <p:spPr bwMode="auto">
            <a:xfrm>
              <a:off x="802406" y="4606001"/>
              <a:ext cx="228600" cy="369332"/>
            </a:xfrm>
            <a:prstGeom prst="rect">
              <a:avLst/>
            </a:prstGeom>
            <a:noFill/>
          </p:spPr>
          <p:txBody>
            <a:bodyPr wrap="square" rtlCol="0">
              <a:spAutoFit/>
            </a:bodyPr>
            <a:lstStyle/>
            <a:p>
              <a:pPr algn="ctr">
                <a:defRPr/>
              </a:pPr>
              <a:r>
                <a:rPr lang="en-IN" b="1">
                  <a:solidFill>
                    <a:srgbClr val="C00000"/>
                  </a:solidFill>
                </a:rPr>
                <a:t>F</a:t>
              </a:r>
              <a:endParaRPr lang="en-US" b="1">
                <a:solidFill>
                  <a:srgbClr val="C00000"/>
                </a:solidFill>
              </a:endParaRPr>
            </a:p>
          </p:txBody>
        </p:sp>
        <p:cxnSp>
          <p:nvCxnSpPr>
            <p:cNvPr id="29" name="Straight Arrow Connector 28"/>
            <p:cNvCxnSpPr>
              <a:stCxn id="28" idx="2"/>
            </p:cNvCxnSpPr>
            <p:nvPr/>
          </p:nvCxnSpPr>
          <p:spPr bwMode="auto">
            <a:xfrm>
              <a:off x="916706"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332863753" name="Group 29"/>
          <p:cNvGrpSpPr/>
          <p:nvPr/>
        </p:nvGrpSpPr>
        <p:grpSpPr bwMode="auto">
          <a:xfrm>
            <a:off x="9678530" y="3558986"/>
            <a:ext cx="228600" cy="727999"/>
            <a:chOff x="695898" y="4606001"/>
            <a:chExt cx="228600" cy="727999"/>
          </a:xfrm>
        </p:grpSpPr>
        <p:sp>
          <p:nvSpPr>
            <p:cNvPr id="31" name="TextBox 30"/>
            <p:cNvSpPr txBox="1"/>
            <p:nvPr/>
          </p:nvSpPr>
          <p:spPr bwMode="auto">
            <a:xfrm>
              <a:off x="695898" y="4606001"/>
              <a:ext cx="228600" cy="369332"/>
            </a:xfrm>
            <a:prstGeom prst="rect">
              <a:avLst/>
            </a:prstGeom>
            <a:noFill/>
          </p:spPr>
          <p:txBody>
            <a:bodyPr wrap="square" rtlCol="0">
              <a:spAutoFit/>
            </a:bodyPr>
            <a:lstStyle/>
            <a:p>
              <a:pPr algn="ctr">
                <a:defRPr/>
              </a:pPr>
              <a:r>
                <a:rPr lang="en-IN" b="1">
                  <a:solidFill>
                    <a:srgbClr val="C00000"/>
                  </a:solidFill>
                </a:rPr>
                <a:t>R</a:t>
              </a:r>
              <a:endParaRPr lang="en-US" b="1">
                <a:solidFill>
                  <a:srgbClr val="C00000"/>
                </a:solidFill>
              </a:endParaRPr>
            </a:p>
          </p:txBody>
        </p:sp>
        <p:cxnSp>
          <p:nvCxnSpPr>
            <p:cNvPr id="32" name="Straight Arrow Connector 31"/>
            <p:cNvCxnSpPr>
              <a:stCxn id="31" idx="2"/>
            </p:cNvCxnSpPr>
            <p:nvPr/>
          </p:nvCxnSpPr>
          <p:spPr bwMode="auto">
            <a:xfrm>
              <a:off x="810198"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1649475764" name="Straight Connector 32"/>
          <p:cNvCxnSpPr/>
          <p:nvPr/>
        </p:nvCxnSpPr>
        <p:spPr bwMode="auto">
          <a:xfrm>
            <a:off x="6925233" y="3361761"/>
            <a:ext cx="4038600" cy="0"/>
          </a:xfrm>
          <a:prstGeom prst="line">
            <a:avLst/>
          </a:prstGeom>
        </p:spPr>
        <p:style>
          <a:lnRef idx="1">
            <a:schemeClr val="dk1"/>
          </a:lnRef>
          <a:fillRef idx="0">
            <a:schemeClr val="dk1"/>
          </a:fillRef>
          <a:effectRef idx="0">
            <a:schemeClr val="dk1"/>
          </a:effectRef>
          <a:fontRef idx="minor">
            <a:schemeClr val="tx1"/>
          </a:fontRef>
        </p:style>
      </p:cxnSp>
      <p:sp>
        <p:nvSpPr>
          <p:cNvPr id="1987450650" name="TextBox 33"/>
          <p:cNvSpPr txBox="1"/>
          <p:nvPr/>
        </p:nvSpPr>
        <p:spPr bwMode="auto">
          <a:xfrm>
            <a:off x="6903198" y="4320985"/>
            <a:ext cx="1236185" cy="369332"/>
          </a:xfrm>
          <a:prstGeom prst="rect">
            <a:avLst/>
          </a:prstGeom>
          <a:noFill/>
        </p:spPr>
        <p:txBody>
          <a:bodyPr wrap="square" rtlCol="0">
            <a:spAutoFit/>
          </a:bodyPr>
          <a:lstStyle/>
          <a:p>
            <a:pPr>
              <a:defRPr/>
            </a:pPr>
            <a:r>
              <a:rPr lang="en-IN" b="1">
                <a:solidFill>
                  <a:srgbClr val="00B050"/>
                </a:solidFill>
              </a:rPr>
              <a:t>F=-1, R=-1</a:t>
            </a:r>
            <a:endParaRPr lang="en-US" b="1">
              <a:solidFill>
                <a:srgbClr val="00B050"/>
              </a:solidFill>
            </a:endParaRPr>
          </a:p>
        </p:txBody>
      </p:sp>
      <p:cxnSp>
        <p:nvCxnSpPr>
          <p:cNvPr id="1705037845" name="Straight Connector 34"/>
          <p:cNvCxnSpPr/>
          <p:nvPr/>
        </p:nvCxnSpPr>
        <p:spPr bwMode="auto">
          <a:xfrm>
            <a:off x="6925233" y="4988856"/>
            <a:ext cx="4038600" cy="0"/>
          </a:xfrm>
          <a:prstGeom prst="line">
            <a:avLst/>
          </a:prstGeom>
        </p:spPr>
        <p:style>
          <a:lnRef idx="1">
            <a:schemeClr val="dk1"/>
          </a:lnRef>
          <a:fillRef idx="0">
            <a:schemeClr val="dk1"/>
          </a:fillRef>
          <a:effectRef idx="0">
            <a:schemeClr val="dk1"/>
          </a:effectRef>
          <a:fontRef idx="minor">
            <a:schemeClr val="tx1"/>
          </a:fontRef>
        </p:style>
      </p:cxnSp>
      <p:sp>
        <p:nvSpPr>
          <p:cNvPr id="362668096" name="TextBox 35"/>
          <p:cNvSpPr txBox="1"/>
          <p:nvPr/>
        </p:nvSpPr>
        <p:spPr bwMode="auto">
          <a:xfrm>
            <a:off x="6957819" y="5198656"/>
            <a:ext cx="1327078" cy="646331"/>
          </a:xfrm>
          <a:prstGeom prst="rect">
            <a:avLst/>
          </a:prstGeom>
          <a:noFill/>
        </p:spPr>
        <p:txBody>
          <a:bodyPr wrap="square" rtlCol="0">
            <a:spAutoFit/>
          </a:bodyPr>
          <a:lstStyle/>
          <a:p>
            <a:pPr>
              <a:defRPr/>
            </a:pPr>
            <a:r>
              <a:rPr lang="en-IN" b="1"/>
              <a:t>Case No 3: </a:t>
            </a:r>
            <a:endParaRPr/>
          </a:p>
          <a:p>
            <a:pPr>
              <a:defRPr/>
            </a:pPr>
            <a:r>
              <a:rPr lang="en-IN" b="1">
                <a:solidFill>
                  <a:schemeClr val="accent3">
                    <a:lumMod val="75000"/>
                  </a:schemeClr>
                </a:solidFill>
              </a:rPr>
              <a:t>F=0, R=2</a:t>
            </a:r>
            <a:endParaRPr lang="en-US" b="1">
              <a:solidFill>
                <a:schemeClr val="accent3">
                  <a:lumMod val="75000"/>
                </a:schemeClr>
              </a:solidFill>
            </a:endParaRPr>
          </a:p>
        </p:txBody>
      </p:sp>
      <p:grpSp>
        <p:nvGrpSpPr>
          <p:cNvPr id="1539436087" name="Group 36"/>
          <p:cNvGrpSpPr/>
          <p:nvPr/>
        </p:nvGrpSpPr>
        <p:grpSpPr bwMode="auto">
          <a:xfrm>
            <a:off x="8525433" y="5193188"/>
            <a:ext cx="228600" cy="727999"/>
            <a:chOff x="802406" y="4606001"/>
            <a:chExt cx="228600" cy="727999"/>
          </a:xfrm>
        </p:grpSpPr>
        <p:sp>
          <p:nvSpPr>
            <p:cNvPr id="38" name="TextBox 37"/>
            <p:cNvSpPr txBox="1"/>
            <p:nvPr/>
          </p:nvSpPr>
          <p:spPr bwMode="auto">
            <a:xfrm>
              <a:off x="802406" y="4606001"/>
              <a:ext cx="228600" cy="369332"/>
            </a:xfrm>
            <a:prstGeom prst="rect">
              <a:avLst/>
            </a:prstGeom>
            <a:noFill/>
          </p:spPr>
          <p:txBody>
            <a:bodyPr wrap="square" rtlCol="0">
              <a:spAutoFit/>
            </a:bodyPr>
            <a:lstStyle/>
            <a:p>
              <a:pPr algn="ctr">
                <a:defRPr/>
              </a:pPr>
              <a:r>
                <a:rPr lang="en-IN" b="1">
                  <a:solidFill>
                    <a:srgbClr val="C00000"/>
                  </a:solidFill>
                </a:rPr>
                <a:t>F</a:t>
              </a:r>
              <a:endParaRPr lang="en-US" b="1">
                <a:solidFill>
                  <a:srgbClr val="C00000"/>
                </a:solidFill>
              </a:endParaRPr>
            </a:p>
          </p:txBody>
        </p:sp>
        <p:cxnSp>
          <p:nvCxnSpPr>
            <p:cNvPr id="39" name="Straight Arrow Connector 38"/>
            <p:cNvCxnSpPr>
              <a:stCxn id="38" idx="2"/>
            </p:cNvCxnSpPr>
            <p:nvPr/>
          </p:nvCxnSpPr>
          <p:spPr bwMode="auto">
            <a:xfrm>
              <a:off x="916706"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238270638" name="Group 39"/>
          <p:cNvGrpSpPr/>
          <p:nvPr/>
        </p:nvGrpSpPr>
        <p:grpSpPr bwMode="auto">
          <a:xfrm>
            <a:off x="9592233" y="5193188"/>
            <a:ext cx="228600" cy="727999"/>
            <a:chOff x="695898" y="4606001"/>
            <a:chExt cx="228600" cy="727999"/>
          </a:xfrm>
        </p:grpSpPr>
        <p:sp>
          <p:nvSpPr>
            <p:cNvPr id="41" name="TextBox 40"/>
            <p:cNvSpPr txBox="1"/>
            <p:nvPr/>
          </p:nvSpPr>
          <p:spPr bwMode="auto">
            <a:xfrm>
              <a:off x="695898" y="4606001"/>
              <a:ext cx="228600" cy="369332"/>
            </a:xfrm>
            <a:prstGeom prst="rect">
              <a:avLst/>
            </a:prstGeom>
            <a:noFill/>
          </p:spPr>
          <p:txBody>
            <a:bodyPr wrap="square" rtlCol="0">
              <a:spAutoFit/>
            </a:bodyPr>
            <a:lstStyle/>
            <a:p>
              <a:pPr algn="ctr">
                <a:defRPr/>
              </a:pPr>
              <a:r>
                <a:rPr lang="en-IN" b="1">
                  <a:solidFill>
                    <a:srgbClr val="C00000"/>
                  </a:solidFill>
                </a:rPr>
                <a:t>R</a:t>
              </a:r>
              <a:endParaRPr lang="en-US" b="1">
                <a:solidFill>
                  <a:srgbClr val="C00000"/>
                </a:solidFill>
              </a:endParaRPr>
            </a:p>
          </p:txBody>
        </p:sp>
        <p:cxnSp>
          <p:nvCxnSpPr>
            <p:cNvPr id="42" name="Straight Arrow Connector 41"/>
            <p:cNvCxnSpPr>
              <a:stCxn id="41" idx="2"/>
            </p:cNvCxnSpPr>
            <p:nvPr/>
          </p:nvCxnSpPr>
          <p:spPr bwMode="auto">
            <a:xfrm>
              <a:off x="810198"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78759184" name="TextBox 42"/>
          <p:cNvSpPr txBox="1"/>
          <p:nvPr/>
        </p:nvSpPr>
        <p:spPr bwMode="auto">
          <a:xfrm>
            <a:off x="9509520" y="4364919"/>
            <a:ext cx="418704" cy="369332"/>
          </a:xfrm>
          <a:prstGeom prst="rect">
            <a:avLst/>
          </a:prstGeom>
          <a:noFill/>
        </p:spPr>
        <p:txBody>
          <a:bodyPr wrap="none" rtlCol="0">
            <a:spAutoFit/>
          </a:bodyPr>
          <a:lstStyle/>
          <a:p>
            <a:pPr>
              <a:defRPr/>
            </a:pPr>
            <a:r>
              <a:rPr lang="en-IN" b="1">
                <a:solidFill>
                  <a:schemeClr val="bg1"/>
                </a:solidFill>
              </a:rPr>
              <a:t>50</a:t>
            </a:r>
            <a:endParaRPr lang="en-US" b="1">
              <a:solidFill>
                <a:schemeClr val="bg1"/>
              </a:solidFill>
            </a:endParaRPr>
          </a:p>
        </p:txBody>
      </p:sp>
      <p:sp>
        <p:nvSpPr>
          <p:cNvPr id="2128011927" name="TextBox 43"/>
          <p:cNvSpPr txBox="1"/>
          <p:nvPr/>
        </p:nvSpPr>
        <p:spPr bwMode="auto">
          <a:xfrm>
            <a:off x="8493301" y="5976271"/>
            <a:ext cx="301686" cy="369332"/>
          </a:xfrm>
          <a:prstGeom prst="rect">
            <a:avLst/>
          </a:prstGeom>
          <a:noFill/>
        </p:spPr>
        <p:txBody>
          <a:bodyPr wrap="none" rtlCol="0">
            <a:spAutoFit/>
          </a:bodyPr>
          <a:lstStyle/>
          <a:p>
            <a:pPr>
              <a:defRPr/>
            </a:pPr>
            <a:r>
              <a:rPr lang="en-IN" b="1">
                <a:solidFill>
                  <a:schemeClr val="bg1"/>
                </a:solidFill>
              </a:rPr>
              <a:t>5</a:t>
            </a:r>
            <a:endParaRPr lang="en-US" b="1">
              <a:solidFill>
                <a:schemeClr val="bg1"/>
              </a:solidFill>
            </a:endParaRPr>
          </a:p>
        </p:txBody>
      </p:sp>
      <p:sp>
        <p:nvSpPr>
          <p:cNvPr id="1866781087" name="TextBox 44"/>
          <p:cNvSpPr txBox="1"/>
          <p:nvPr/>
        </p:nvSpPr>
        <p:spPr bwMode="auto">
          <a:xfrm>
            <a:off x="6958284" y="6085254"/>
            <a:ext cx="1143000" cy="369332"/>
          </a:xfrm>
          <a:prstGeom prst="rect">
            <a:avLst/>
          </a:prstGeom>
          <a:noFill/>
        </p:spPr>
        <p:txBody>
          <a:bodyPr wrap="square" rtlCol="0">
            <a:spAutoFit/>
          </a:bodyPr>
          <a:lstStyle/>
          <a:p>
            <a:pPr>
              <a:defRPr/>
            </a:pPr>
            <a:r>
              <a:rPr lang="en-IN" b="1">
                <a:solidFill>
                  <a:srgbClr val="00B050"/>
                </a:solidFill>
              </a:rPr>
              <a:t>F=1, R=2</a:t>
            </a:r>
            <a:endParaRPr lang="en-US" b="1">
              <a:solidFill>
                <a:srgbClr val="00B05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52149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852149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852149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852149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75093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750939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7509395">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7509395">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4750939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4750939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4750939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47509395">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47509395">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47509395">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47509395">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947509395">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455957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0877916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3591184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64947576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49965148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16896341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875918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33286375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9149365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98745065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791493652"/>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1332863753"/>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78759184"/>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70503784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6266809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47209931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12801192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1539436087"/>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23827063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63" presetClass="path" presetSubtype="0" accel="50000" decel="50000" fill="hold" nodeType="clickEffect">
                                  <p:stCondLst>
                                    <p:cond delay="0"/>
                                  </p:stCondLst>
                                  <p:childTnLst>
                                    <p:animMotion origin="layout" path="M -3.54167E-6 4.81481E-6 L 0.04388 4.81481E-6 " pathEditMode="relative" rAng="0" ptsTypes="AA">
                                      <p:cBhvr>
                                        <p:cTn id="134" dur="2000" fill="hold"/>
                                        <p:tgtEl>
                                          <p:spTgt spid="1539436087"/>
                                        </p:tgtEl>
                                        <p:attrNameLst>
                                          <p:attrName>ppt_x</p:attrName>
                                          <p:attrName>ppt_y</p:attrName>
                                        </p:attrNameLst>
                                      </p:cBhvr>
                                      <p:rCtr x="2201" y="0"/>
                                    </p:animMotion>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86678108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grpId="1" nodeType="clickEffect">
                                  <p:stCondLst>
                                    <p:cond delay="0"/>
                                  </p:stCondLst>
                                  <p:childTnLst>
                                    <p:set>
                                      <p:cBhvr>
                                        <p:cTn id="142" dur="1" fill="hold">
                                          <p:stCondLst>
                                            <p:cond delay="0"/>
                                          </p:stCondLst>
                                        </p:cTn>
                                        <p:tgtEl>
                                          <p:spTgt spid="21280119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509395" grpId="0" animBg="1"/>
      <p:bldP spid="745595748" grpId="0"/>
      <p:bldP spid="1435911841" grpId="0"/>
      <p:bldP spid="1499651487" grpId="0"/>
      <p:bldP spid="1987450650" grpId="0"/>
      <p:bldP spid="362668096" grpId="0"/>
      <p:bldP spid="78759184" grpId="0"/>
      <p:bldP spid="78759184" grpId="1"/>
      <p:bldP spid="2128011927" grpId="0"/>
      <p:bldP spid="2128011927" grpId="1"/>
      <p:bldP spid="1866781087" grpId="0"/>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214315" name="Title 1"/>
          <p:cNvSpPr>
            <a:spLocks noGrp="1"/>
          </p:cNvSpPr>
          <p:nvPr>
            <p:ph type="title"/>
          </p:nvPr>
        </p:nvSpPr>
        <p:spPr bwMode="auto"/>
        <p:txBody>
          <a:bodyPr/>
          <a:lstStyle/>
          <a:p>
            <a:pPr>
              <a:defRPr/>
            </a:pPr>
            <a:r>
              <a:rPr lang="en-IN"/>
              <a:t>Example of Queue Enqueue / Dequeue</a:t>
            </a:r>
            <a:endParaRPr lang="en-US"/>
          </a:p>
        </p:txBody>
      </p:sp>
      <p:grpSp>
        <p:nvGrpSpPr>
          <p:cNvPr id="675755086" name="Group 8"/>
          <p:cNvGrpSpPr/>
          <p:nvPr/>
        </p:nvGrpSpPr>
        <p:grpSpPr bwMode="auto">
          <a:xfrm>
            <a:off x="1163771" y="2075330"/>
            <a:ext cx="1828800" cy="381000"/>
            <a:chOff x="381000" y="1219200"/>
            <a:chExt cx="1828800" cy="381000"/>
          </a:xfrm>
          <a:solidFill>
            <a:schemeClr val="bg2">
              <a:lumMod val="95000"/>
            </a:schemeClr>
          </a:solidFill>
        </p:grpSpPr>
        <p:sp>
          <p:nvSpPr>
            <p:cNvPr id="4" name="Rectangle 3"/>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 name="Rectangle 5"/>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Rectangle 6"/>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 name="Rectangle 7"/>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580230091" name="Group 9"/>
          <p:cNvGrpSpPr/>
          <p:nvPr/>
        </p:nvGrpSpPr>
        <p:grpSpPr bwMode="auto">
          <a:xfrm>
            <a:off x="1163771" y="3598548"/>
            <a:ext cx="1828800" cy="381000"/>
            <a:chOff x="381000" y="1219200"/>
            <a:chExt cx="1828800" cy="381000"/>
          </a:xfrm>
          <a:solidFill>
            <a:schemeClr val="bg2">
              <a:lumMod val="95000"/>
            </a:schemeClr>
          </a:solidFill>
        </p:grpSpPr>
        <p:sp>
          <p:nvSpPr>
            <p:cNvPr id="11" name="Rectangle 10"/>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 name="Rectangle 11"/>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Rectangle 12"/>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 name="Rectangle 13"/>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349282693" name="Group 14"/>
          <p:cNvGrpSpPr/>
          <p:nvPr/>
        </p:nvGrpSpPr>
        <p:grpSpPr bwMode="auto">
          <a:xfrm>
            <a:off x="1163771" y="5216641"/>
            <a:ext cx="1828800" cy="381000"/>
            <a:chOff x="381000" y="1219200"/>
            <a:chExt cx="1828800" cy="381000"/>
          </a:xfrm>
          <a:solidFill>
            <a:schemeClr val="bg2">
              <a:lumMod val="95000"/>
            </a:schemeClr>
          </a:solidFill>
        </p:grpSpPr>
        <p:sp>
          <p:nvSpPr>
            <p:cNvPr id="16" name="Rectangle 15"/>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 name="Rectangle 16"/>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 name="Rectangle 17"/>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 name="Rectangle 18"/>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773775823" name="Group 19"/>
          <p:cNvGrpSpPr/>
          <p:nvPr/>
        </p:nvGrpSpPr>
        <p:grpSpPr bwMode="auto">
          <a:xfrm>
            <a:off x="7412171" y="3642874"/>
            <a:ext cx="1828800" cy="381000"/>
            <a:chOff x="381000" y="1219200"/>
            <a:chExt cx="1828800" cy="381000"/>
          </a:xfrm>
          <a:solidFill>
            <a:schemeClr val="bg2">
              <a:lumMod val="95000"/>
            </a:schemeClr>
          </a:solidFill>
        </p:grpSpPr>
        <p:sp>
          <p:nvSpPr>
            <p:cNvPr id="21" name="Rectangle 20"/>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2" name="Rectangle 21"/>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 name="Rectangle 22"/>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4" name="Rectangle 23"/>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856791924" name="Group 27"/>
          <p:cNvGrpSpPr/>
          <p:nvPr/>
        </p:nvGrpSpPr>
        <p:grpSpPr bwMode="auto">
          <a:xfrm>
            <a:off x="476368" y="2549642"/>
            <a:ext cx="293670" cy="592488"/>
            <a:chOff x="774733" y="1681844"/>
            <a:chExt cx="293670" cy="592488"/>
          </a:xfrm>
        </p:grpSpPr>
        <p:sp>
          <p:nvSpPr>
            <p:cNvPr id="25" name="TextBox 24"/>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27" name="Straight Arrow Connector 26"/>
            <p:cNvCxnSpPr>
              <a:stCxn id="25"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25981481" name="Group 28"/>
          <p:cNvGrpSpPr/>
          <p:nvPr/>
        </p:nvGrpSpPr>
        <p:grpSpPr bwMode="auto">
          <a:xfrm>
            <a:off x="673917" y="2549642"/>
            <a:ext cx="314510" cy="592488"/>
            <a:chOff x="764313" y="1681844"/>
            <a:chExt cx="314510" cy="592488"/>
          </a:xfrm>
        </p:grpSpPr>
        <p:sp>
          <p:nvSpPr>
            <p:cNvPr id="30" name="TextBox 29"/>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31" name="Straight Arrow Connector 30"/>
            <p:cNvCxnSpPr>
              <a:stCxn id="30"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878905310" name="TextBox 31"/>
          <p:cNvSpPr txBox="1"/>
          <p:nvPr/>
        </p:nvSpPr>
        <p:spPr bwMode="auto">
          <a:xfrm>
            <a:off x="0" y="741830"/>
            <a:ext cx="12192000" cy="830997"/>
          </a:xfrm>
          <a:prstGeom prst="rect">
            <a:avLst/>
          </a:prstGeom>
          <a:solidFill>
            <a:srgbClr val="1D3064"/>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defRPr/>
            </a:pPr>
            <a:r>
              <a:rPr lang="en-IN" sz="2400" b="1">
                <a:solidFill>
                  <a:schemeClr val="bg1"/>
                </a:solidFill>
              </a:rPr>
              <a:t>Perform following operations on queue with size 4 &amp; draw queue after each operation</a:t>
            </a:r>
            <a:endParaRPr/>
          </a:p>
          <a:p>
            <a:pPr algn="ctr">
              <a:defRPr/>
            </a:pPr>
            <a:r>
              <a:rPr lang="en-IN" sz="2400" b="1">
                <a:solidFill>
                  <a:schemeClr val="bg1"/>
                </a:solidFill>
              </a:rPr>
              <a:t>Enqueue ‘A’ | Enqueue ‘B’ | Enqueue ‘C’ | Dequeue | Dequeue | Enqueue ‘D’ | Enqueue ‘E’ </a:t>
            </a:r>
            <a:endParaRPr lang="en-US" sz="2400" b="1">
              <a:solidFill>
                <a:schemeClr val="bg1"/>
              </a:solidFill>
            </a:endParaRPr>
          </a:p>
        </p:txBody>
      </p:sp>
      <p:sp>
        <p:nvSpPr>
          <p:cNvPr id="1860462932" name="TextBox 32"/>
          <p:cNvSpPr txBox="1"/>
          <p:nvPr/>
        </p:nvSpPr>
        <p:spPr bwMode="auto">
          <a:xfrm>
            <a:off x="1163771" y="1618130"/>
            <a:ext cx="1828800" cy="369332"/>
          </a:xfrm>
          <a:prstGeom prst="rect">
            <a:avLst/>
          </a:prstGeom>
          <a:noFill/>
        </p:spPr>
        <p:txBody>
          <a:bodyPr wrap="square" rtlCol="0">
            <a:spAutoFit/>
          </a:bodyPr>
          <a:lstStyle/>
          <a:p>
            <a:pPr algn="ctr">
              <a:defRPr/>
            </a:pPr>
            <a:r>
              <a:rPr lang="en-IN" b="1"/>
              <a:t>Empty Queue</a:t>
            </a:r>
            <a:endParaRPr lang="en-US" b="1"/>
          </a:p>
        </p:txBody>
      </p:sp>
      <p:sp>
        <p:nvSpPr>
          <p:cNvPr id="1499101128" name="TextBox 33"/>
          <p:cNvSpPr txBox="1"/>
          <p:nvPr/>
        </p:nvSpPr>
        <p:spPr bwMode="auto">
          <a:xfrm>
            <a:off x="436294" y="2066009"/>
            <a:ext cx="385042" cy="369332"/>
          </a:xfrm>
          <a:prstGeom prst="rect">
            <a:avLst/>
          </a:prstGeom>
          <a:noFill/>
        </p:spPr>
        <p:txBody>
          <a:bodyPr wrap="none" rtlCol="0">
            <a:spAutoFit/>
          </a:bodyPr>
          <a:lstStyle/>
          <a:p>
            <a:pPr algn="ctr">
              <a:defRPr/>
            </a:pPr>
            <a:r>
              <a:rPr lang="en-US" b="1"/>
              <a:t>-1</a:t>
            </a:r>
            <a:endParaRPr/>
          </a:p>
        </p:txBody>
      </p:sp>
      <p:sp>
        <p:nvSpPr>
          <p:cNvPr id="692260000" name="TextBox 34"/>
          <p:cNvSpPr txBox="1"/>
          <p:nvPr/>
        </p:nvSpPr>
        <p:spPr bwMode="auto">
          <a:xfrm>
            <a:off x="643124" y="2075330"/>
            <a:ext cx="385042" cy="369332"/>
          </a:xfrm>
          <a:prstGeom prst="rect">
            <a:avLst/>
          </a:prstGeom>
          <a:noFill/>
        </p:spPr>
        <p:txBody>
          <a:bodyPr wrap="none" rtlCol="0">
            <a:spAutoFit/>
          </a:bodyPr>
          <a:lstStyle/>
          <a:p>
            <a:pPr algn="ctr">
              <a:defRPr/>
            </a:pPr>
            <a:r>
              <a:rPr lang="en-US" b="1"/>
              <a:t>-1</a:t>
            </a:r>
            <a:endParaRPr/>
          </a:p>
        </p:txBody>
      </p:sp>
      <p:cxnSp>
        <p:nvCxnSpPr>
          <p:cNvPr id="1910418095" name="Straight Connector 36"/>
          <p:cNvCxnSpPr/>
          <p:nvPr/>
        </p:nvCxnSpPr>
        <p:spPr bwMode="auto">
          <a:xfrm>
            <a:off x="477971" y="3142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296604084" name="TextBox 37"/>
          <p:cNvSpPr txBox="1"/>
          <p:nvPr/>
        </p:nvSpPr>
        <p:spPr bwMode="auto">
          <a:xfrm>
            <a:off x="1163771" y="3229216"/>
            <a:ext cx="1828800" cy="369332"/>
          </a:xfrm>
          <a:prstGeom prst="rect">
            <a:avLst/>
          </a:prstGeom>
          <a:noFill/>
        </p:spPr>
        <p:txBody>
          <a:bodyPr wrap="square" rtlCol="0">
            <a:spAutoFit/>
          </a:bodyPr>
          <a:lstStyle/>
          <a:p>
            <a:pPr algn="ctr">
              <a:defRPr/>
            </a:pPr>
            <a:r>
              <a:rPr lang="en-IN" b="1"/>
              <a:t>Enqueue ‘A’</a:t>
            </a:r>
            <a:endParaRPr lang="en-US" b="1"/>
          </a:p>
        </p:txBody>
      </p:sp>
      <p:grpSp>
        <p:nvGrpSpPr>
          <p:cNvPr id="735735593" name="Group 38"/>
          <p:cNvGrpSpPr/>
          <p:nvPr/>
        </p:nvGrpSpPr>
        <p:grpSpPr bwMode="auto">
          <a:xfrm>
            <a:off x="454597" y="3991217"/>
            <a:ext cx="293670" cy="592488"/>
            <a:chOff x="774733" y="1681844"/>
            <a:chExt cx="293670" cy="592488"/>
          </a:xfrm>
        </p:grpSpPr>
        <p:sp>
          <p:nvSpPr>
            <p:cNvPr id="40" name="TextBox 39"/>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41" name="Straight Arrow Connector 40"/>
            <p:cNvCxnSpPr>
              <a:stCxn id="40"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710903904" name="Group 41"/>
          <p:cNvGrpSpPr/>
          <p:nvPr/>
        </p:nvGrpSpPr>
        <p:grpSpPr bwMode="auto">
          <a:xfrm>
            <a:off x="630371" y="3997442"/>
            <a:ext cx="314510" cy="592488"/>
            <a:chOff x="764313" y="1681844"/>
            <a:chExt cx="314510" cy="592488"/>
          </a:xfrm>
        </p:grpSpPr>
        <p:sp>
          <p:nvSpPr>
            <p:cNvPr id="43" name="TextBox 42"/>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44" name="Straight Arrow Connector 43"/>
            <p:cNvCxnSpPr>
              <a:stCxn id="43"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843140514" name="TextBox 44"/>
          <p:cNvSpPr txBox="1"/>
          <p:nvPr/>
        </p:nvSpPr>
        <p:spPr bwMode="auto">
          <a:xfrm>
            <a:off x="477971" y="3271977"/>
            <a:ext cx="545342" cy="369332"/>
          </a:xfrm>
          <a:prstGeom prst="rect">
            <a:avLst/>
          </a:prstGeom>
          <a:noFill/>
        </p:spPr>
        <p:txBody>
          <a:bodyPr wrap="none" rtlCol="0">
            <a:spAutoFit/>
          </a:bodyPr>
          <a:lstStyle/>
          <a:p>
            <a:pPr>
              <a:defRPr/>
            </a:pPr>
            <a:r>
              <a:rPr lang="en-IN" b="1">
                <a:solidFill>
                  <a:schemeClr val="accent3">
                    <a:lumMod val="75000"/>
                  </a:schemeClr>
                </a:solidFill>
              </a:rPr>
              <a:t>R=0</a:t>
            </a:r>
            <a:endParaRPr lang="en-US" b="1">
              <a:solidFill>
                <a:schemeClr val="accent3">
                  <a:lumMod val="75000"/>
                </a:schemeClr>
              </a:solidFill>
            </a:endParaRPr>
          </a:p>
        </p:txBody>
      </p:sp>
      <p:sp>
        <p:nvSpPr>
          <p:cNvPr id="560699164" name="TextBox 45"/>
          <p:cNvSpPr txBox="1"/>
          <p:nvPr/>
        </p:nvSpPr>
        <p:spPr bwMode="auto">
          <a:xfrm>
            <a:off x="477971" y="3610216"/>
            <a:ext cx="527709" cy="369332"/>
          </a:xfrm>
          <a:prstGeom prst="rect">
            <a:avLst/>
          </a:prstGeom>
          <a:noFill/>
        </p:spPr>
        <p:txBody>
          <a:bodyPr wrap="none" rtlCol="0">
            <a:spAutoFit/>
          </a:bodyPr>
          <a:lstStyle/>
          <a:p>
            <a:pPr>
              <a:defRPr/>
            </a:pPr>
            <a:r>
              <a:rPr lang="en-IN" b="1">
                <a:solidFill>
                  <a:schemeClr val="accent3">
                    <a:lumMod val="75000"/>
                  </a:schemeClr>
                </a:solidFill>
              </a:rPr>
              <a:t>F=0</a:t>
            </a:r>
            <a:endParaRPr lang="en-US" b="1">
              <a:solidFill>
                <a:schemeClr val="accent3">
                  <a:lumMod val="75000"/>
                </a:schemeClr>
              </a:solidFill>
            </a:endParaRPr>
          </a:p>
        </p:txBody>
      </p:sp>
      <p:sp>
        <p:nvSpPr>
          <p:cNvPr id="572875309" name="TextBox 46"/>
          <p:cNvSpPr txBox="1"/>
          <p:nvPr/>
        </p:nvSpPr>
        <p:spPr bwMode="auto">
          <a:xfrm>
            <a:off x="1163771" y="3586879"/>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cxnSp>
        <p:nvCxnSpPr>
          <p:cNvPr id="2113661411" name="Straight Connector 47"/>
          <p:cNvCxnSpPr/>
          <p:nvPr/>
        </p:nvCxnSpPr>
        <p:spPr bwMode="auto">
          <a:xfrm>
            <a:off x="4779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428621125" name="TextBox 48"/>
          <p:cNvSpPr txBox="1"/>
          <p:nvPr/>
        </p:nvSpPr>
        <p:spPr bwMode="auto">
          <a:xfrm>
            <a:off x="1163771" y="4742330"/>
            <a:ext cx="1828800" cy="369332"/>
          </a:xfrm>
          <a:prstGeom prst="rect">
            <a:avLst/>
          </a:prstGeom>
          <a:noFill/>
        </p:spPr>
        <p:txBody>
          <a:bodyPr wrap="square" rtlCol="0">
            <a:spAutoFit/>
          </a:bodyPr>
          <a:lstStyle/>
          <a:p>
            <a:pPr algn="ctr">
              <a:defRPr/>
            </a:pPr>
            <a:r>
              <a:rPr lang="en-IN" b="1"/>
              <a:t>Enqueue ‘B’</a:t>
            </a:r>
            <a:endParaRPr lang="en-US" b="1"/>
          </a:p>
        </p:txBody>
      </p:sp>
      <p:grpSp>
        <p:nvGrpSpPr>
          <p:cNvPr id="995738146" name="Group 49"/>
          <p:cNvGrpSpPr/>
          <p:nvPr/>
        </p:nvGrpSpPr>
        <p:grpSpPr bwMode="auto">
          <a:xfrm>
            <a:off x="4217336" y="2476554"/>
            <a:ext cx="293670" cy="592488"/>
            <a:chOff x="774733" y="1681844"/>
            <a:chExt cx="293670" cy="592488"/>
          </a:xfrm>
        </p:grpSpPr>
        <p:sp>
          <p:nvSpPr>
            <p:cNvPr id="51" name="TextBox 50"/>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52" name="Straight Arrow Connector 51"/>
            <p:cNvCxnSpPr>
              <a:stCxn id="51"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8360608" name="Group 52"/>
          <p:cNvGrpSpPr/>
          <p:nvPr/>
        </p:nvGrpSpPr>
        <p:grpSpPr bwMode="auto">
          <a:xfrm>
            <a:off x="1304148" y="5635422"/>
            <a:ext cx="314510" cy="565594"/>
            <a:chOff x="764313" y="1708738"/>
            <a:chExt cx="314510" cy="565594"/>
          </a:xfrm>
        </p:grpSpPr>
        <p:sp>
          <p:nvSpPr>
            <p:cNvPr id="54" name="TextBox 53"/>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55" name="Straight Arrow Connector 54"/>
            <p:cNvCxnSpPr/>
            <p:nvPr/>
          </p:nvCxnSpPr>
          <p:spPr bwMode="auto">
            <a:xfrm flipV="1">
              <a:off x="921568" y="1708738"/>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012724649" name="TextBox 55"/>
          <p:cNvSpPr txBox="1"/>
          <p:nvPr/>
        </p:nvSpPr>
        <p:spPr bwMode="auto">
          <a:xfrm>
            <a:off x="1171207" y="5201528"/>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sp>
        <p:nvSpPr>
          <p:cNvPr id="1479965206" name="TextBox 56"/>
          <p:cNvSpPr txBox="1"/>
          <p:nvPr/>
        </p:nvSpPr>
        <p:spPr bwMode="auto">
          <a:xfrm>
            <a:off x="532400" y="4999710"/>
            <a:ext cx="546945" cy="646331"/>
          </a:xfrm>
          <a:prstGeom prst="rect">
            <a:avLst/>
          </a:prstGeom>
          <a:noFill/>
        </p:spPr>
        <p:txBody>
          <a:bodyPr wrap="none" rtlCol="0">
            <a:spAutoFit/>
          </a:bodyPr>
          <a:lstStyle/>
          <a:p>
            <a:pPr>
              <a:defRPr/>
            </a:pPr>
            <a:r>
              <a:rPr lang="en-IN" b="1">
                <a:solidFill>
                  <a:schemeClr val="accent3">
                    <a:lumMod val="75000"/>
                  </a:schemeClr>
                </a:solidFill>
              </a:rPr>
              <a:t>R=1</a:t>
            </a:r>
            <a:endParaRPr/>
          </a:p>
          <a:p>
            <a:pPr>
              <a:defRPr/>
            </a:pPr>
            <a:r>
              <a:rPr lang="en-IN" b="1">
                <a:solidFill>
                  <a:schemeClr val="accent3">
                    <a:lumMod val="75000"/>
                  </a:schemeClr>
                </a:solidFill>
              </a:rPr>
              <a:t>F=0</a:t>
            </a:r>
            <a:endParaRPr lang="en-US" b="1">
              <a:solidFill>
                <a:schemeClr val="accent3">
                  <a:lumMod val="75000"/>
                </a:schemeClr>
              </a:solidFill>
            </a:endParaRPr>
          </a:p>
        </p:txBody>
      </p:sp>
      <p:sp>
        <p:nvSpPr>
          <p:cNvPr id="1842743191" name="TextBox 57"/>
          <p:cNvSpPr txBox="1"/>
          <p:nvPr/>
        </p:nvSpPr>
        <p:spPr bwMode="auto">
          <a:xfrm>
            <a:off x="1620971" y="5216641"/>
            <a:ext cx="457200" cy="400110"/>
          </a:xfrm>
          <a:prstGeom prst="rect">
            <a:avLst/>
          </a:prstGeom>
          <a:noFill/>
        </p:spPr>
        <p:txBody>
          <a:bodyPr wrap="square" rtlCol="0">
            <a:spAutoFit/>
          </a:bodyPr>
          <a:lstStyle/>
          <a:p>
            <a:pPr algn="ctr">
              <a:defRPr/>
            </a:pPr>
            <a:r>
              <a:rPr lang="en-IN" sz="2000">
                <a:ln w="0"/>
              </a:rPr>
              <a:t>B</a:t>
            </a:r>
            <a:endParaRPr lang="en-US" sz="2000">
              <a:ln w="0"/>
            </a:endParaRPr>
          </a:p>
        </p:txBody>
      </p:sp>
      <p:cxnSp>
        <p:nvCxnSpPr>
          <p:cNvPr id="347814691" name="Straight Connector 59"/>
          <p:cNvCxnSpPr/>
          <p:nvPr/>
        </p:nvCxnSpPr>
        <p:spPr bwMode="auto">
          <a:xfrm>
            <a:off x="3449771" y="1618130"/>
            <a:ext cx="0" cy="4572000"/>
          </a:xfrm>
          <a:prstGeom prst="line">
            <a:avLst/>
          </a:prstGeom>
        </p:spPr>
        <p:style>
          <a:lnRef idx="2">
            <a:schemeClr val="dk1"/>
          </a:lnRef>
          <a:fillRef idx="0">
            <a:schemeClr val="dk1"/>
          </a:fillRef>
          <a:effectRef idx="1">
            <a:schemeClr val="dk1"/>
          </a:effectRef>
          <a:fontRef idx="minor">
            <a:schemeClr val="tx1"/>
          </a:fontRef>
        </p:style>
      </p:cxnSp>
      <p:sp>
        <p:nvSpPr>
          <p:cNvPr id="25866288" name="TextBox 62"/>
          <p:cNvSpPr txBox="1"/>
          <p:nvPr/>
        </p:nvSpPr>
        <p:spPr bwMode="auto">
          <a:xfrm>
            <a:off x="4135571" y="1618130"/>
            <a:ext cx="1828800" cy="369332"/>
          </a:xfrm>
          <a:prstGeom prst="rect">
            <a:avLst/>
          </a:prstGeom>
          <a:noFill/>
        </p:spPr>
        <p:txBody>
          <a:bodyPr wrap="square" rtlCol="0">
            <a:spAutoFit/>
          </a:bodyPr>
          <a:lstStyle/>
          <a:p>
            <a:pPr algn="ctr">
              <a:defRPr/>
            </a:pPr>
            <a:r>
              <a:rPr lang="en-IN" b="1"/>
              <a:t>Enqueue ‘C’</a:t>
            </a:r>
            <a:endParaRPr lang="en-US" b="1"/>
          </a:p>
        </p:txBody>
      </p:sp>
      <p:cxnSp>
        <p:nvCxnSpPr>
          <p:cNvPr id="1348631002" name="Straight Connector 63"/>
          <p:cNvCxnSpPr/>
          <p:nvPr/>
        </p:nvCxnSpPr>
        <p:spPr bwMode="auto">
          <a:xfrm>
            <a:off x="3449771" y="3142130"/>
            <a:ext cx="2971800" cy="0"/>
          </a:xfrm>
          <a:prstGeom prst="line">
            <a:avLst/>
          </a:prstGeom>
        </p:spPr>
        <p:style>
          <a:lnRef idx="2">
            <a:schemeClr val="dk1"/>
          </a:lnRef>
          <a:fillRef idx="0">
            <a:schemeClr val="dk1"/>
          </a:fillRef>
          <a:effectRef idx="1">
            <a:schemeClr val="dk1"/>
          </a:effectRef>
          <a:fontRef idx="minor">
            <a:schemeClr val="tx1"/>
          </a:fontRef>
        </p:style>
      </p:cxnSp>
      <p:cxnSp>
        <p:nvCxnSpPr>
          <p:cNvPr id="2011610618" name="Straight Connector 64"/>
          <p:cNvCxnSpPr/>
          <p:nvPr/>
        </p:nvCxnSpPr>
        <p:spPr bwMode="auto">
          <a:xfrm>
            <a:off x="6421571" y="1618130"/>
            <a:ext cx="0" cy="4572000"/>
          </a:xfrm>
          <a:prstGeom prst="line">
            <a:avLst/>
          </a:prstGeom>
        </p:spPr>
        <p:style>
          <a:lnRef idx="2">
            <a:schemeClr val="dk1"/>
          </a:lnRef>
          <a:fillRef idx="0">
            <a:schemeClr val="dk1"/>
          </a:fillRef>
          <a:effectRef idx="1">
            <a:schemeClr val="dk1"/>
          </a:effectRef>
          <a:fontRef idx="minor">
            <a:schemeClr val="tx1"/>
          </a:fontRef>
        </p:style>
      </p:cxnSp>
      <p:cxnSp>
        <p:nvCxnSpPr>
          <p:cNvPr id="373006581" name="Straight Connector 65"/>
          <p:cNvCxnSpPr/>
          <p:nvPr/>
        </p:nvCxnSpPr>
        <p:spPr bwMode="auto">
          <a:xfrm>
            <a:off x="6421571" y="3142130"/>
            <a:ext cx="2971800" cy="0"/>
          </a:xfrm>
          <a:prstGeom prst="line">
            <a:avLst/>
          </a:prstGeom>
        </p:spPr>
        <p:style>
          <a:lnRef idx="2">
            <a:schemeClr val="dk1"/>
          </a:lnRef>
          <a:fillRef idx="0">
            <a:schemeClr val="dk1"/>
          </a:fillRef>
          <a:effectRef idx="1">
            <a:schemeClr val="dk1"/>
          </a:effectRef>
          <a:fontRef idx="minor">
            <a:schemeClr val="tx1"/>
          </a:fontRef>
        </p:style>
      </p:cxnSp>
      <p:grpSp>
        <p:nvGrpSpPr>
          <p:cNvPr id="545005903" name="Group 66"/>
          <p:cNvGrpSpPr/>
          <p:nvPr/>
        </p:nvGrpSpPr>
        <p:grpSpPr bwMode="auto">
          <a:xfrm>
            <a:off x="4135571" y="2075330"/>
            <a:ext cx="1828800" cy="381000"/>
            <a:chOff x="381000" y="1219200"/>
            <a:chExt cx="1828800" cy="381000"/>
          </a:xfrm>
          <a:solidFill>
            <a:schemeClr val="bg2">
              <a:lumMod val="95000"/>
            </a:schemeClr>
          </a:solidFill>
        </p:grpSpPr>
        <p:sp>
          <p:nvSpPr>
            <p:cNvPr id="68" name="Rectangle 67"/>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69" name="Rectangle 68"/>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70" name="Rectangle 69"/>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71" name="Rectangle 70"/>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grpSp>
      <p:sp>
        <p:nvSpPr>
          <p:cNvPr id="888298611" name="TextBox 71"/>
          <p:cNvSpPr txBox="1"/>
          <p:nvPr/>
        </p:nvSpPr>
        <p:spPr bwMode="auto">
          <a:xfrm>
            <a:off x="4135571" y="2075330"/>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sp>
        <p:nvSpPr>
          <p:cNvPr id="909954745" name="TextBox 72"/>
          <p:cNvSpPr txBox="1"/>
          <p:nvPr/>
        </p:nvSpPr>
        <p:spPr bwMode="auto">
          <a:xfrm>
            <a:off x="4592771" y="2075330"/>
            <a:ext cx="457200" cy="400110"/>
          </a:xfrm>
          <a:prstGeom prst="rect">
            <a:avLst/>
          </a:prstGeom>
          <a:noFill/>
        </p:spPr>
        <p:txBody>
          <a:bodyPr wrap="square" rtlCol="0">
            <a:spAutoFit/>
          </a:bodyPr>
          <a:lstStyle/>
          <a:p>
            <a:pPr algn="ctr">
              <a:defRPr/>
            </a:pPr>
            <a:r>
              <a:rPr lang="en-IN" sz="2000">
                <a:ln w="0"/>
              </a:rPr>
              <a:t>B</a:t>
            </a:r>
            <a:endParaRPr lang="en-US" sz="2000">
              <a:ln w="0"/>
            </a:endParaRPr>
          </a:p>
        </p:txBody>
      </p:sp>
      <p:grpSp>
        <p:nvGrpSpPr>
          <p:cNvPr id="1663130497" name="Group 73"/>
          <p:cNvGrpSpPr/>
          <p:nvPr/>
        </p:nvGrpSpPr>
        <p:grpSpPr bwMode="auto">
          <a:xfrm>
            <a:off x="1140394" y="5629732"/>
            <a:ext cx="293670" cy="572201"/>
            <a:chOff x="774733" y="1681843"/>
            <a:chExt cx="293670" cy="629422"/>
          </a:xfrm>
        </p:grpSpPr>
        <p:sp>
          <p:nvSpPr>
            <p:cNvPr id="75" name="TextBox 74"/>
            <p:cNvSpPr txBox="1"/>
            <p:nvPr/>
          </p:nvSpPr>
          <p:spPr bwMode="auto">
            <a:xfrm>
              <a:off x="774733" y="1905000"/>
              <a:ext cx="293670" cy="406265"/>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76" name="Straight Arrow Connector 75"/>
            <p:cNvCxnSpPr>
              <a:stCxn id="75" idx="0"/>
            </p:cNvCxnSpPr>
            <p:nvPr/>
          </p:nvCxnSpPr>
          <p:spPr bwMode="auto">
            <a:xfrm flipV="1">
              <a:off x="921568" y="1681843"/>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7483838" name="Group 76"/>
          <p:cNvGrpSpPr/>
          <p:nvPr/>
        </p:nvGrpSpPr>
        <p:grpSpPr bwMode="auto">
          <a:xfrm>
            <a:off x="4682170" y="2478103"/>
            <a:ext cx="314510" cy="592488"/>
            <a:chOff x="764313" y="1681844"/>
            <a:chExt cx="314510" cy="592488"/>
          </a:xfrm>
        </p:grpSpPr>
        <p:sp>
          <p:nvSpPr>
            <p:cNvPr id="78" name="TextBox 77"/>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79" name="Straight Arrow Connector 78"/>
            <p:cNvCxnSpPr>
              <a:stCxn id="78"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28822482" name="TextBox 79"/>
          <p:cNvSpPr txBox="1"/>
          <p:nvPr/>
        </p:nvSpPr>
        <p:spPr bwMode="auto">
          <a:xfrm>
            <a:off x="3493315" y="1661675"/>
            <a:ext cx="542136" cy="646331"/>
          </a:xfrm>
          <a:prstGeom prst="rect">
            <a:avLst/>
          </a:prstGeom>
          <a:noFill/>
        </p:spPr>
        <p:txBody>
          <a:bodyPr wrap="none" rtlCol="0">
            <a:spAutoFit/>
          </a:bodyPr>
          <a:lstStyle/>
          <a:p>
            <a:pPr>
              <a:defRPr/>
            </a:pPr>
            <a:r>
              <a:rPr lang="en-IN" b="1">
                <a:solidFill>
                  <a:schemeClr val="accent3">
                    <a:lumMod val="75000"/>
                  </a:schemeClr>
                </a:solidFill>
              </a:rPr>
              <a:t>R=2</a:t>
            </a:r>
            <a:endParaRPr/>
          </a:p>
          <a:p>
            <a:pPr>
              <a:defRPr/>
            </a:pPr>
            <a:r>
              <a:rPr lang="en-IN" b="1">
                <a:solidFill>
                  <a:schemeClr val="accent3">
                    <a:lumMod val="75000"/>
                  </a:schemeClr>
                </a:solidFill>
              </a:rPr>
              <a:t>F=0</a:t>
            </a:r>
            <a:endParaRPr/>
          </a:p>
        </p:txBody>
      </p:sp>
      <p:sp>
        <p:nvSpPr>
          <p:cNvPr id="1624215610" name="TextBox 81"/>
          <p:cNvSpPr txBox="1"/>
          <p:nvPr/>
        </p:nvSpPr>
        <p:spPr bwMode="auto">
          <a:xfrm>
            <a:off x="5049971" y="2075330"/>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grpSp>
        <p:nvGrpSpPr>
          <p:cNvPr id="727363914" name="Group 82"/>
          <p:cNvGrpSpPr/>
          <p:nvPr/>
        </p:nvGrpSpPr>
        <p:grpSpPr bwMode="auto">
          <a:xfrm>
            <a:off x="4135571" y="3641309"/>
            <a:ext cx="1828800" cy="381000"/>
            <a:chOff x="381000" y="1219200"/>
            <a:chExt cx="1828800" cy="381000"/>
          </a:xfrm>
          <a:solidFill>
            <a:schemeClr val="bg2">
              <a:lumMod val="95000"/>
            </a:schemeClr>
          </a:solidFill>
        </p:grpSpPr>
        <p:sp>
          <p:nvSpPr>
            <p:cNvPr id="84" name="Rectangle 83"/>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5" name="Rectangle 84"/>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 name="Rectangle 85"/>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7" name="Rectangle 86"/>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590142874" name="TextBox 87"/>
          <p:cNvSpPr txBox="1"/>
          <p:nvPr/>
        </p:nvSpPr>
        <p:spPr bwMode="auto">
          <a:xfrm>
            <a:off x="4124685" y="3271977"/>
            <a:ext cx="1828800" cy="369332"/>
          </a:xfrm>
          <a:prstGeom prst="rect">
            <a:avLst/>
          </a:prstGeom>
          <a:noFill/>
        </p:spPr>
        <p:txBody>
          <a:bodyPr wrap="square" rtlCol="0">
            <a:spAutoFit/>
          </a:bodyPr>
          <a:lstStyle/>
          <a:p>
            <a:pPr algn="ctr">
              <a:defRPr/>
            </a:pPr>
            <a:r>
              <a:rPr lang="en-IN" b="1"/>
              <a:t>Dequeue </a:t>
            </a:r>
            <a:endParaRPr lang="en-US" b="1"/>
          </a:p>
        </p:txBody>
      </p:sp>
      <p:sp>
        <p:nvSpPr>
          <p:cNvPr id="1950063802" name="TextBox 88"/>
          <p:cNvSpPr txBox="1"/>
          <p:nvPr/>
        </p:nvSpPr>
        <p:spPr bwMode="auto">
          <a:xfrm>
            <a:off x="4124685" y="3631985"/>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sp>
        <p:nvSpPr>
          <p:cNvPr id="334445326" name="TextBox 89"/>
          <p:cNvSpPr txBox="1"/>
          <p:nvPr/>
        </p:nvSpPr>
        <p:spPr bwMode="auto">
          <a:xfrm>
            <a:off x="4592771" y="3631988"/>
            <a:ext cx="457200" cy="400110"/>
          </a:xfrm>
          <a:prstGeom prst="rect">
            <a:avLst/>
          </a:prstGeom>
          <a:noFill/>
        </p:spPr>
        <p:txBody>
          <a:bodyPr wrap="square" rtlCol="0">
            <a:spAutoFit/>
          </a:bodyPr>
          <a:lstStyle/>
          <a:p>
            <a:pPr algn="ctr">
              <a:defRPr/>
            </a:pPr>
            <a:r>
              <a:rPr lang="en-IN" sz="2000">
                <a:ln w="0"/>
              </a:rPr>
              <a:t>B</a:t>
            </a:r>
            <a:endParaRPr lang="en-US" sz="2000">
              <a:ln w="0"/>
            </a:endParaRPr>
          </a:p>
        </p:txBody>
      </p:sp>
      <p:sp>
        <p:nvSpPr>
          <p:cNvPr id="201427642" name="TextBox 90"/>
          <p:cNvSpPr txBox="1"/>
          <p:nvPr/>
        </p:nvSpPr>
        <p:spPr bwMode="auto">
          <a:xfrm>
            <a:off x="5049971" y="3631988"/>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grpSp>
        <p:nvGrpSpPr>
          <p:cNvPr id="1111540959" name="Group 91"/>
          <p:cNvGrpSpPr/>
          <p:nvPr/>
        </p:nvGrpSpPr>
        <p:grpSpPr bwMode="auto">
          <a:xfrm>
            <a:off x="4210168" y="4040984"/>
            <a:ext cx="293670" cy="592488"/>
            <a:chOff x="774733" y="1681844"/>
            <a:chExt cx="293670" cy="592488"/>
          </a:xfrm>
        </p:grpSpPr>
        <p:sp>
          <p:nvSpPr>
            <p:cNvPr id="93" name="TextBox 92"/>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94" name="Straight Arrow Connector 93"/>
            <p:cNvCxnSpPr>
              <a:stCxn id="93"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78755424" name="Group 94"/>
          <p:cNvGrpSpPr/>
          <p:nvPr/>
        </p:nvGrpSpPr>
        <p:grpSpPr bwMode="auto">
          <a:xfrm>
            <a:off x="5128484" y="4056531"/>
            <a:ext cx="314510" cy="592488"/>
            <a:chOff x="764313" y="1681844"/>
            <a:chExt cx="314510" cy="592488"/>
          </a:xfrm>
        </p:grpSpPr>
        <p:sp>
          <p:nvSpPr>
            <p:cNvPr id="96" name="TextBox 95"/>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97" name="Straight Arrow Connector 96"/>
            <p:cNvCxnSpPr>
              <a:stCxn id="96"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535007044" name="TextBox 97"/>
          <p:cNvSpPr txBox="1"/>
          <p:nvPr/>
        </p:nvSpPr>
        <p:spPr bwMode="auto">
          <a:xfrm>
            <a:off x="3493315" y="3186495"/>
            <a:ext cx="542136" cy="646331"/>
          </a:xfrm>
          <a:prstGeom prst="rect">
            <a:avLst/>
          </a:prstGeom>
          <a:noFill/>
        </p:spPr>
        <p:txBody>
          <a:bodyPr wrap="none" rtlCol="0">
            <a:spAutoFit/>
          </a:bodyPr>
          <a:lstStyle/>
          <a:p>
            <a:pPr>
              <a:defRPr/>
            </a:pPr>
            <a:r>
              <a:rPr lang="en-IN" b="1">
                <a:solidFill>
                  <a:schemeClr val="accent3">
                    <a:lumMod val="75000"/>
                  </a:schemeClr>
                </a:solidFill>
              </a:rPr>
              <a:t>R=2</a:t>
            </a:r>
            <a:endParaRPr/>
          </a:p>
          <a:p>
            <a:pPr>
              <a:defRPr/>
            </a:pPr>
            <a:r>
              <a:rPr lang="en-IN" b="1">
                <a:solidFill>
                  <a:schemeClr val="accent3">
                    <a:lumMod val="75000"/>
                  </a:schemeClr>
                </a:solidFill>
              </a:rPr>
              <a:t>F=1</a:t>
            </a:r>
            <a:endParaRPr/>
          </a:p>
        </p:txBody>
      </p:sp>
      <p:cxnSp>
        <p:nvCxnSpPr>
          <p:cNvPr id="3340512" name="Straight Connector 98"/>
          <p:cNvCxnSpPr/>
          <p:nvPr/>
        </p:nvCxnSpPr>
        <p:spPr bwMode="auto">
          <a:xfrm>
            <a:off x="34497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149634788" name="TextBox 99"/>
          <p:cNvSpPr txBox="1"/>
          <p:nvPr/>
        </p:nvSpPr>
        <p:spPr bwMode="auto">
          <a:xfrm>
            <a:off x="4218939" y="4742330"/>
            <a:ext cx="1828800" cy="369332"/>
          </a:xfrm>
          <a:prstGeom prst="rect">
            <a:avLst/>
          </a:prstGeom>
          <a:noFill/>
        </p:spPr>
        <p:txBody>
          <a:bodyPr wrap="square" rtlCol="0">
            <a:spAutoFit/>
          </a:bodyPr>
          <a:lstStyle/>
          <a:p>
            <a:pPr algn="ctr">
              <a:defRPr/>
            </a:pPr>
            <a:r>
              <a:rPr lang="en-IN" b="1"/>
              <a:t>Dequeue </a:t>
            </a:r>
            <a:endParaRPr lang="en-US" b="1"/>
          </a:p>
        </p:txBody>
      </p:sp>
      <p:grpSp>
        <p:nvGrpSpPr>
          <p:cNvPr id="1501170925" name="Group 100"/>
          <p:cNvGrpSpPr/>
          <p:nvPr/>
        </p:nvGrpSpPr>
        <p:grpSpPr bwMode="auto">
          <a:xfrm>
            <a:off x="4218939" y="5201528"/>
            <a:ext cx="1828800" cy="381000"/>
            <a:chOff x="381000" y="1219200"/>
            <a:chExt cx="1828800" cy="381000"/>
          </a:xfrm>
          <a:solidFill>
            <a:schemeClr val="bg2">
              <a:lumMod val="95000"/>
            </a:schemeClr>
          </a:solidFill>
        </p:grpSpPr>
        <p:sp>
          <p:nvSpPr>
            <p:cNvPr id="102" name="Rectangle 101"/>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3" name="Rectangle 102"/>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4" name="Rectangle 103"/>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5" name="Rectangle 104"/>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2113676064" name="TextBox 105"/>
          <p:cNvSpPr txBox="1"/>
          <p:nvPr/>
        </p:nvSpPr>
        <p:spPr bwMode="auto">
          <a:xfrm>
            <a:off x="4671285" y="5199532"/>
            <a:ext cx="451168" cy="400110"/>
          </a:xfrm>
          <a:prstGeom prst="rect">
            <a:avLst/>
          </a:prstGeom>
          <a:noFill/>
        </p:spPr>
        <p:txBody>
          <a:bodyPr wrap="square" rtlCol="0">
            <a:spAutoFit/>
          </a:bodyPr>
          <a:lstStyle/>
          <a:p>
            <a:pPr algn="ctr">
              <a:defRPr/>
            </a:pPr>
            <a:r>
              <a:rPr lang="en-IN" sz="2000">
                <a:ln w="0"/>
              </a:rPr>
              <a:t>B</a:t>
            </a:r>
            <a:endParaRPr lang="en-US" sz="2000">
              <a:ln w="0"/>
            </a:endParaRPr>
          </a:p>
        </p:txBody>
      </p:sp>
      <p:sp>
        <p:nvSpPr>
          <p:cNvPr id="132186726" name="TextBox 106"/>
          <p:cNvSpPr txBox="1"/>
          <p:nvPr/>
        </p:nvSpPr>
        <p:spPr bwMode="auto">
          <a:xfrm>
            <a:off x="5128485" y="5189611"/>
            <a:ext cx="451168" cy="400110"/>
          </a:xfrm>
          <a:prstGeom prst="rect">
            <a:avLst/>
          </a:prstGeom>
          <a:noFill/>
        </p:spPr>
        <p:txBody>
          <a:bodyPr wrap="square" rtlCol="0">
            <a:spAutoFit/>
          </a:bodyPr>
          <a:lstStyle/>
          <a:p>
            <a:pPr algn="ctr">
              <a:defRPr/>
            </a:pPr>
            <a:r>
              <a:rPr lang="en-IN" sz="2000">
                <a:ln w="0"/>
              </a:rPr>
              <a:t>C</a:t>
            </a:r>
            <a:endParaRPr lang="en-US" sz="2000">
              <a:ln w="0"/>
            </a:endParaRPr>
          </a:p>
        </p:txBody>
      </p:sp>
      <p:grpSp>
        <p:nvGrpSpPr>
          <p:cNvPr id="1514152177" name="Group 107"/>
          <p:cNvGrpSpPr/>
          <p:nvPr/>
        </p:nvGrpSpPr>
        <p:grpSpPr bwMode="auto">
          <a:xfrm>
            <a:off x="5232485" y="5589721"/>
            <a:ext cx="314510" cy="592488"/>
            <a:chOff x="764313" y="1681844"/>
            <a:chExt cx="314510" cy="592488"/>
          </a:xfrm>
        </p:grpSpPr>
        <p:sp>
          <p:nvSpPr>
            <p:cNvPr id="109" name="TextBox 108"/>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110" name="Straight Arrow Connector 109"/>
            <p:cNvCxnSpPr>
              <a:stCxn id="109"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886985267" name="Group 110"/>
          <p:cNvGrpSpPr/>
          <p:nvPr/>
        </p:nvGrpSpPr>
        <p:grpSpPr bwMode="auto">
          <a:xfrm>
            <a:off x="4755591" y="5591416"/>
            <a:ext cx="293670" cy="592488"/>
            <a:chOff x="774733" y="1681844"/>
            <a:chExt cx="293670" cy="592488"/>
          </a:xfrm>
        </p:grpSpPr>
        <p:sp>
          <p:nvSpPr>
            <p:cNvPr id="112" name="TextBox 111"/>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113" name="Straight Arrow Connector 112"/>
            <p:cNvCxnSpPr>
              <a:stCxn id="112"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02020818" name="TextBox 113"/>
          <p:cNvSpPr txBox="1"/>
          <p:nvPr/>
        </p:nvSpPr>
        <p:spPr bwMode="auto">
          <a:xfrm>
            <a:off x="3525971" y="4705600"/>
            <a:ext cx="542136" cy="646331"/>
          </a:xfrm>
          <a:prstGeom prst="rect">
            <a:avLst/>
          </a:prstGeom>
          <a:noFill/>
        </p:spPr>
        <p:txBody>
          <a:bodyPr wrap="none" rtlCol="0">
            <a:spAutoFit/>
          </a:bodyPr>
          <a:lstStyle/>
          <a:p>
            <a:pPr>
              <a:defRPr/>
            </a:pPr>
            <a:r>
              <a:rPr lang="en-IN" b="1">
                <a:solidFill>
                  <a:schemeClr val="accent3">
                    <a:lumMod val="75000"/>
                  </a:schemeClr>
                </a:solidFill>
              </a:rPr>
              <a:t>R=2</a:t>
            </a:r>
            <a:endParaRPr/>
          </a:p>
          <a:p>
            <a:pPr>
              <a:defRPr/>
            </a:pPr>
            <a:r>
              <a:rPr lang="en-IN" b="1">
                <a:solidFill>
                  <a:schemeClr val="accent3">
                    <a:lumMod val="75000"/>
                  </a:schemeClr>
                </a:solidFill>
              </a:rPr>
              <a:t>F=2</a:t>
            </a:r>
            <a:endParaRPr/>
          </a:p>
        </p:txBody>
      </p:sp>
      <p:sp>
        <p:nvSpPr>
          <p:cNvPr id="1931820660" name="TextBox 114"/>
          <p:cNvSpPr txBox="1"/>
          <p:nvPr/>
        </p:nvSpPr>
        <p:spPr bwMode="auto">
          <a:xfrm>
            <a:off x="7259771" y="1618130"/>
            <a:ext cx="1828800" cy="369332"/>
          </a:xfrm>
          <a:prstGeom prst="rect">
            <a:avLst/>
          </a:prstGeom>
          <a:noFill/>
        </p:spPr>
        <p:txBody>
          <a:bodyPr wrap="square" rtlCol="0">
            <a:spAutoFit/>
          </a:bodyPr>
          <a:lstStyle/>
          <a:p>
            <a:pPr algn="ctr">
              <a:defRPr/>
            </a:pPr>
            <a:r>
              <a:rPr lang="en-IN" b="1"/>
              <a:t>Enqueue ‘D’</a:t>
            </a:r>
            <a:endParaRPr lang="en-US" b="1"/>
          </a:p>
        </p:txBody>
      </p:sp>
      <p:grpSp>
        <p:nvGrpSpPr>
          <p:cNvPr id="1759164907" name="Group 115"/>
          <p:cNvGrpSpPr/>
          <p:nvPr/>
        </p:nvGrpSpPr>
        <p:grpSpPr bwMode="auto">
          <a:xfrm>
            <a:off x="7335971" y="2054341"/>
            <a:ext cx="1828800" cy="381000"/>
            <a:chOff x="381000" y="1219200"/>
            <a:chExt cx="1828800" cy="381000"/>
          </a:xfrm>
          <a:solidFill>
            <a:schemeClr val="bg2">
              <a:lumMod val="95000"/>
            </a:schemeClr>
          </a:solidFill>
        </p:grpSpPr>
        <p:sp>
          <p:nvSpPr>
            <p:cNvPr id="117" name="Rectangle 116"/>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8" name="Rectangle 117"/>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9" name="Rectangle 118"/>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0" name="Rectangle 119"/>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806732039" name="Group 120"/>
          <p:cNvGrpSpPr/>
          <p:nvPr/>
        </p:nvGrpSpPr>
        <p:grpSpPr bwMode="auto">
          <a:xfrm>
            <a:off x="8226997" y="2451512"/>
            <a:ext cx="293670" cy="592488"/>
            <a:chOff x="774733" y="1681844"/>
            <a:chExt cx="293670" cy="592488"/>
          </a:xfrm>
        </p:grpSpPr>
        <p:sp>
          <p:nvSpPr>
            <p:cNvPr id="122" name="TextBox 121"/>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123" name="Straight Arrow Connector 122"/>
            <p:cNvCxnSpPr>
              <a:stCxn id="122"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662777691" name="Group 123"/>
          <p:cNvGrpSpPr/>
          <p:nvPr/>
        </p:nvGrpSpPr>
        <p:grpSpPr bwMode="auto">
          <a:xfrm>
            <a:off x="8434292" y="2440784"/>
            <a:ext cx="314510" cy="592488"/>
            <a:chOff x="764313" y="1681844"/>
            <a:chExt cx="314510" cy="592488"/>
          </a:xfrm>
        </p:grpSpPr>
        <p:sp>
          <p:nvSpPr>
            <p:cNvPr id="125" name="TextBox 124"/>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126" name="Straight Arrow Connector 125"/>
            <p:cNvCxnSpPr>
              <a:stCxn id="125"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543055159" name="TextBox 126"/>
          <p:cNvSpPr txBox="1"/>
          <p:nvPr/>
        </p:nvSpPr>
        <p:spPr bwMode="auto">
          <a:xfrm>
            <a:off x="8250371" y="2054341"/>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sp>
        <p:nvSpPr>
          <p:cNvPr id="1550777000" name="TextBox 127"/>
          <p:cNvSpPr txBox="1"/>
          <p:nvPr/>
        </p:nvSpPr>
        <p:spPr bwMode="auto">
          <a:xfrm>
            <a:off x="6497771" y="1635437"/>
            <a:ext cx="542136" cy="646331"/>
          </a:xfrm>
          <a:prstGeom prst="rect">
            <a:avLst/>
          </a:prstGeom>
          <a:noFill/>
        </p:spPr>
        <p:txBody>
          <a:bodyPr wrap="none" rtlCol="0">
            <a:spAutoFit/>
          </a:bodyPr>
          <a:lstStyle/>
          <a:p>
            <a:pPr>
              <a:defRPr/>
            </a:pPr>
            <a:r>
              <a:rPr lang="en-IN" b="1">
                <a:solidFill>
                  <a:schemeClr val="accent3">
                    <a:lumMod val="75000"/>
                  </a:schemeClr>
                </a:solidFill>
              </a:rPr>
              <a:t>R=3</a:t>
            </a:r>
            <a:endParaRPr/>
          </a:p>
          <a:p>
            <a:pPr>
              <a:defRPr/>
            </a:pPr>
            <a:r>
              <a:rPr lang="en-IN" b="1">
                <a:solidFill>
                  <a:schemeClr val="accent3">
                    <a:lumMod val="75000"/>
                  </a:schemeClr>
                </a:solidFill>
              </a:rPr>
              <a:t>F=2</a:t>
            </a:r>
            <a:endParaRPr/>
          </a:p>
        </p:txBody>
      </p:sp>
      <p:sp>
        <p:nvSpPr>
          <p:cNvPr id="279370489" name="TextBox 129"/>
          <p:cNvSpPr txBox="1"/>
          <p:nvPr/>
        </p:nvSpPr>
        <p:spPr bwMode="auto">
          <a:xfrm>
            <a:off x="8707571" y="2054341"/>
            <a:ext cx="457200" cy="400110"/>
          </a:xfrm>
          <a:prstGeom prst="rect">
            <a:avLst/>
          </a:prstGeom>
          <a:noFill/>
        </p:spPr>
        <p:txBody>
          <a:bodyPr wrap="square" rtlCol="0">
            <a:spAutoFit/>
          </a:bodyPr>
          <a:lstStyle/>
          <a:p>
            <a:pPr algn="ctr">
              <a:defRPr/>
            </a:pPr>
            <a:r>
              <a:rPr lang="en-IN" sz="2000">
                <a:ln w="0"/>
              </a:rPr>
              <a:t>D</a:t>
            </a:r>
            <a:endParaRPr lang="en-US" sz="2000">
              <a:ln w="0"/>
            </a:endParaRPr>
          </a:p>
        </p:txBody>
      </p:sp>
      <p:sp>
        <p:nvSpPr>
          <p:cNvPr id="822468749" name="TextBox 130"/>
          <p:cNvSpPr txBox="1"/>
          <p:nvPr/>
        </p:nvSpPr>
        <p:spPr bwMode="auto">
          <a:xfrm>
            <a:off x="7354293" y="3270954"/>
            <a:ext cx="1828800" cy="369332"/>
          </a:xfrm>
          <a:prstGeom prst="rect">
            <a:avLst/>
          </a:prstGeom>
          <a:noFill/>
        </p:spPr>
        <p:txBody>
          <a:bodyPr wrap="square" rtlCol="0">
            <a:spAutoFit/>
          </a:bodyPr>
          <a:lstStyle/>
          <a:p>
            <a:pPr algn="ctr">
              <a:defRPr/>
            </a:pPr>
            <a:r>
              <a:rPr lang="en-IN" b="1"/>
              <a:t>Enqueue ‘E’</a:t>
            </a:r>
            <a:endParaRPr lang="en-US" b="1"/>
          </a:p>
        </p:txBody>
      </p:sp>
      <p:grpSp>
        <p:nvGrpSpPr>
          <p:cNvPr id="147356682" name="Group 131"/>
          <p:cNvGrpSpPr/>
          <p:nvPr/>
        </p:nvGrpSpPr>
        <p:grpSpPr bwMode="auto">
          <a:xfrm>
            <a:off x="8850261" y="4040984"/>
            <a:ext cx="314510" cy="592488"/>
            <a:chOff x="764313" y="1681844"/>
            <a:chExt cx="314510" cy="592488"/>
          </a:xfrm>
        </p:grpSpPr>
        <p:sp>
          <p:nvSpPr>
            <p:cNvPr id="133" name="TextBox 132"/>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134" name="Straight Arrow Connector 133"/>
            <p:cNvCxnSpPr>
              <a:stCxn id="133"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200844657" name="Group 134"/>
          <p:cNvGrpSpPr/>
          <p:nvPr/>
        </p:nvGrpSpPr>
        <p:grpSpPr bwMode="auto">
          <a:xfrm>
            <a:off x="8403481" y="4045644"/>
            <a:ext cx="293670" cy="592488"/>
            <a:chOff x="774733" y="1681844"/>
            <a:chExt cx="293670" cy="592488"/>
          </a:xfrm>
        </p:grpSpPr>
        <p:sp>
          <p:nvSpPr>
            <p:cNvPr id="136" name="TextBox 135"/>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137" name="Straight Arrow Connector 136"/>
            <p:cNvCxnSpPr>
              <a:stCxn id="136"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63199083" name="TextBox 137"/>
          <p:cNvSpPr txBox="1"/>
          <p:nvPr/>
        </p:nvSpPr>
        <p:spPr bwMode="auto">
          <a:xfrm>
            <a:off x="8337457" y="3642874"/>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sp>
        <p:nvSpPr>
          <p:cNvPr id="1828543471" name="TextBox 138"/>
          <p:cNvSpPr txBox="1"/>
          <p:nvPr/>
        </p:nvSpPr>
        <p:spPr bwMode="auto">
          <a:xfrm>
            <a:off x="8783771" y="3642874"/>
            <a:ext cx="457200" cy="400110"/>
          </a:xfrm>
          <a:prstGeom prst="rect">
            <a:avLst/>
          </a:prstGeom>
          <a:noFill/>
        </p:spPr>
        <p:txBody>
          <a:bodyPr wrap="square" rtlCol="0">
            <a:spAutoFit/>
          </a:bodyPr>
          <a:lstStyle/>
          <a:p>
            <a:pPr algn="ctr">
              <a:defRPr/>
            </a:pPr>
            <a:r>
              <a:rPr lang="en-IN" sz="2000">
                <a:ln w="0"/>
              </a:rPr>
              <a:t>D</a:t>
            </a:r>
            <a:endParaRPr lang="en-US" sz="2000">
              <a:ln w="0"/>
            </a:endParaRPr>
          </a:p>
        </p:txBody>
      </p:sp>
      <p:sp>
        <p:nvSpPr>
          <p:cNvPr id="1616330733" name="TextBox 139"/>
          <p:cNvSpPr txBox="1"/>
          <p:nvPr/>
        </p:nvSpPr>
        <p:spPr bwMode="auto">
          <a:xfrm>
            <a:off x="6497771" y="3257800"/>
            <a:ext cx="542136" cy="646331"/>
          </a:xfrm>
          <a:prstGeom prst="rect">
            <a:avLst/>
          </a:prstGeom>
          <a:noFill/>
        </p:spPr>
        <p:txBody>
          <a:bodyPr wrap="none" rtlCol="0">
            <a:spAutoFit/>
          </a:bodyPr>
          <a:lstStyle/>
          <a:p>
            <a:pPr>
              <a:defRPr/>
            </a:pPr>
            <a:r>
              <a:rPr lang="en-IN" b="1">
                <a:solidFill>
                  <a:schemeClr val="accent3">
                    <a:lumMod val="75000"/>
                  </a:schemeClr>
                </a:solidFill>
              </a:rPr>
              <a:t>R=3</a:t>
            </a:r>
            <a:endParaRPr/>
          </a:p>
          <a:p>
            <a:pPr>
              <a:defRPr/>
            </a:pPr>
            <a:r>
              <a:rPr lang="en-IN" b="1">
                <a:solidFill>
                  <a:schemeClr val="accent3">
                    <a:lumMod val="75000"/>
                  </a:schemeClr>
                </a:solidFill>
              </a:rPr>
              <a:t>F=2</a:t>
            </a:r>
            <a:endParaRPr/>
          </a:p>
        </p:txBody>
      </p:sp>
      <p:sp>
        <p:nvSpPr>
          <p:cNvPr id="1875751017" name="TextBox 140"/>
          <p:cNvSpPr txBox="1"/>
          <p:nvPr/>
        </p:nvSpPr>
        <p:spPr bwMode="auto">
          <a:xfrm>
            <a:off x="6497771" y="4742330"/>
            <a:ext cx="2895600" cy="369332"/>
          </a:xfrm>
          <a:prstGeom prst="rect">
            <a:avLst/>
          </a:prstGeom>
          <a:noFill/>
        </p:spPr>
        <p:txBody>
          <a:bodyPr wrap="square" rtlCol="0">
            <a:spAutoFit/>
          </a:bodyPr>
          <a:lstStyle/>
          <a:p>
            <a:pPr algn="ctr">
              <a:defRPr/>
            </a:pPr>
            <a:r>
              <a:rPr lang="en-IN" b="1">
                <a:solidFill>
                  <a:srgbClr val="C00000"/>
                </a:solidFill>
              </a:rPr>
              <a:t>(R=3) &gt;= (N-1)</a:t>
            </a:r>
            <a:endParaRPr lang="en-US" b="1">
              <a:solidFill>
                <a:srgbClr val="C00000"/>
              </a:solidFill>
            </a:endParaRPr>
          </a:p>
        </p:txBody>
      </p:sp>
      <p:sp>
        <p:nvSpPr>
          <p:cNvPr id="1744688677" name="TextBox 141"/>
          <p:cNvSpPr txBox="1"/>
          <p:nvPr/>
        </p:nvSpPr>
        <p:spPr bwMode="auto">
          <a:xfrm>
            <a:off x="6497771" y="5047910"/>
            <a:ext cx="2895600" cy="369332"/>
          </a:xfrm>
          <a:prstGeom prst="rect">
            <a:avLst/>
          </a:prstGeom>
          <a:noFill/>
        </p:spPr>
        <p:txBody>
          <a:bodyPr wrap="square" rtlCol="0">
            <a:spAutoFit/>
          </a:bodyPr>
          <a:lstStyle/>
          <a:p>
            <a:pPr algn="ctr">
              <a:defRPr/>
            </a:pPr>
            <a:r>
              <a:rPr lang="en-IN" b="1">
                <a:solidFill>
                  <a:schemeClr val="accent3">
                    <a:lumMod val="50000"/>
                  </a:schemeClr>
                </a:solidFill>
              </a:rPr>
              <a:t>Queue Overflow</a:t>
            </a:r>
            <a:endParaRPr lang="en-US" b="1">
              <a:solidFill>
                <a:schemeClr val="accent3">
                  <a:lumMod val="50000"/>
                </a:schemeClr>
              </a:solidFill>
            </a:endParaRPr>
          </a:p>
        </p:txBody>
      </p:sp>
      <p:cxnSp>
        <p:nvCxnSpPr>
          <p:cNvPr id="1076208273" name="Straight Connector 142"/>
          <p:cNvCxnSpPr/>
          <p:nvPr/>
        </p:nvCxnSpPr>
        <p:spPr bwMode="auto">
          <a:xfrm>
            <a:off x="64215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174330119" name="TextBox 143"/>
          <p:cNvSpPr txBox="1"/>
          <p:nvPr/>
        </p:nvSpPr>
        <p:spPr bwMode="auto">
          <a:xfrm>
            <a:off x="6497771" y="5439017"/>
            <a:ext cx="2895600" cy="830997"/>
          </a:xfrm>
          <a:prstGeom prst="rect">
            <a:avLst/>
          </a:prstGeom>
          <a:solidFill>
            <a:srgbClr val="1D3064"/>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defRPr/>
            </a:pPr>
            <a:r>
              <a:rPr lang="en-IN" sz="1600" b="1">
                <a:solidFill>
                  <a:schemeClr val="bg1"/>
                </a:solidFill>
              </a:rPr>
              <a:t>Queue Overflow, but space is there with Queue, this leads to the memory wastage</a:t>
            </a:r>
            <a:endParaRPr lang="en-US" sz="1600" b="1">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89053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604629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7550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67919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98148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991011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226000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1041809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660408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8023009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3573559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1090390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6.25E-7 4.07407E-6 L 0.05521 4.07407E-6 " pathEditMode="relative" rAng="0" ptsTypes="AA">
                                      <p:cBhvr>
                                        <p:cTn id="48" dur="2000" fill="hold"/>
                                        <p:tgtEl>
                                          <p:spTgt spid="1710903904"/>
                                        </p:tgtEl>
                                        <p:attrNameLst>
                                          <p:attrName>ppt_x</p:attrName>
                                          <p:attrName>ppt_y</p:attrName>
                                        </p:attrNameLst>
                                      </p:cBhvr>
                                      <p:rCtr x="2760"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431405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7287530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3.95833E-6 1.11022E-16 L 0.05768 1.11022E-16 " pathEditMode="relative" rAng="0" ptsTypes="AA">
                                      <p:cBhvr>
                                        <p:cTn id="60" dur="2000" fill="hold"/>
                                        <p:tgtEl>
                                          <p:spTgt spid="735735593"/>
                                        </p:tgtEl>
                                        <p:attrNameLst>
                                          <p:attrName>ppt_x</p:attrName>
                                          <p:attrName>ppt_y</p:attrName>
                                        </p:attrNameLst>
                                      </p:cBhvr>
                                      <p:rCtr x="2878" y="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6069916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11366141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286211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34928269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1272464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66313049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836060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63" presetClass="path" presetSubtype="0" accel="50000" decel="50000" fill="hold" nodeType="clickEffect">
                                  <p:stCondLst>
                                    <p:cond delay="0"/>
                                  </p:stCondLst>
                                  <p:childTnLst>
                                    <p:animMotion origin="layout" path="M 1.04167E-6 -2.96296E-6 L 0.03216 -2.96296E-6 " pathEditMode="relative" rAng="0" ptsTypes="AA">
                                      <p:cBhvr>
                                        <p:cTn id="86" dur="2000" fill="hold"/>
                                        <p:tgtEl>
                                          <p:spTgt spid="38360608"/>
                                        </p:tgtEl>
                                        <p:attrNameLst>
                                          <p:attrName>ppt_x</p:attrName>
                                          <p:attrName>ppt_y</p:attrName>
                                        </p:attrNameLst>
                                      </p:cBhvr>
                                      <p:rCtr x="1602" y="0"/>
                                    </p:animMotion>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47996520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84274319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4781469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586628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8829861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0995474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45005903"/>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99573814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4748383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2.29167E-6 1.85185E-6 L 0.04024 1.85185E-6 " pathEditMode="relative" rAng="0" ptsTypes="AA">
                                      <p:cBhvr>
                                        <p:cTn id="118" dur="2000" fill="hold"/>
                                        <p:tgtEl>
                                          <p:spTgt spid="47483838"/>
                                        </p:tgtEl>
                                        <p:attrNameLst>
                                          <p:attrName>ppt_x</p:attrName>
                                          <p:attrName>ppt_y</p:attrName>
                                        </p:attrNameLst>
                                      </p:cBhvr>
                                      <p:rCtr x="2005"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2882248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624215610">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34863100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59014287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95006380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334445326"/>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01427642"/>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727363914"/>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111540959"/>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378755424"/>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63" presetClass="path" presetSubtype="0" accel="50000" decel="50000" fill="hold" nodeType="clickEffect">
                                  <p:stCondLst>
                                    <p:cond delay="0"/>
                                  </p:stCondLst>
                                  <p:childTnLst>
                                    <p:animMotion origin="layout" path="M 1.04167E-6 2.59259E-6 L 0.03958 2.59259E-6 " pathEditMode="relative" rAng="0" ptsTypes="AA">
                                      <p:cBhvr>
                                        <p:cTn id="152" dur="2000" fill="hold"/>
                                        <p:tgtEl>
                                          <p:spTgt spid="1111540959"/>
                                        </p:tgtEl>
                                        <p:attrNameLst>
                                          <p:attrName>ppt_x</p:attrName>
                                          <p:attrName>ppt_y</p:attrName>
                                        </p:attrNameLst>
                                      </p:cBhvr>
                                      <p:rCtr x="1979" y="0"/>
                                    </p:animMotion>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535007044"/>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1950063802"/>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334051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149634788"/>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501170925"/>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11367606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32186726"/>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886985267"/>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514152177"/>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63" presetClass="path" presetSubtype="0" accel="50000" decel="50000" fill="hold" nodeType="clickEffect">
                                  <p:stCondLst>
                                    <p:cond delay="0"/>
                                  </p:stCondLst>
                                  <p:childTnLst>
                                    <p:animMotion origin="layout" path="M -1.04167E-6 -3.33333E-6 L 0.02734 -3.33333E-6 " pathEditMode="relative" rAng="0" ptsTypes="AA">
                                      <p:cBhvr>
                                        <p:cTn id="184" dur="2000" fill="hold"/>
                                        <p:tgtEl>
                                          <p:spTgt spid="1886985267"/>
                                        </p:tgtEl>
                                        <p:attrNameLst>
                                          <p:attrName>ppt_x</p:attrName>
                                          <p:attrName>ppt_y</p:attrName>
                                        </p:attrNameLst>
                                      </p:cBhvr>
                                      <p:rCtr x="1354" y="0"/>
                                    </p:animMotion>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02020818"/>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2113676064"/>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2011610618"/>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1931820660"/>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1759164907"/>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543055159"/>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806732039"/>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662777691"/>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63" presetClass="path" presetSubtype="0" accel="50000" decel="50000" fill="hold" nodeType="clickEffect">
                                  <p:stCondLst>
                                    <p:cond delay="0"/>
                                  </p:stCondLst>
                                  <p:childTnLst>
                                    <p:animMotion origin="layout" path="M 6.25E-7 -4.07407E-6 L 0.0293 -4.07407E-6 " pathEditMode="relative" rAng="0" ptsTypes="AA">
                                      <p:cBhvr>
                                        <p:cTn id="214" dur="2000" fill="hold"/>
                                        <p:tgtEl>
                                          <p:spTgt spid="662777691"/>
                                        </p:tgtEl>
                                        <p:attrNameLst>
                                          <p:attrName>ppt_x</p:attrName>
                                          <p:attrName>ppt_y</p:attrName>
                                        </p:attrNameLst>
                                      </p:cBhvr>
                                      <p:rCtr x="1628" y="0"/>
                                    </p:animMotion>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550777000"/>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279370489"/>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373006581"/>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822468749"/>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773775823"/>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463199083"/>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828543471"/>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200844657"/>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47356682"/>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1616330733"/>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076208273"/>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1875751017"/>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744688677"/>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1174330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905310" grpId="0" animBg="1"/>
      <p:bldP spid="1860462932" grpId="0"/>
      <p:bldP spid="1499101128" grpId="0"/>
      <p:bldP spid="692260000" grpId="0"/>
      <p:bldP spid="296604084" grpId="0"/>
      <p:bldP spid="1843140514" grpId="0"/>
      <p:bldP spid="560699164" grpId="0"/>
      <p:bldP spid="572875309" grpId="0"/>
      <p:bldP spid="428621125" grpId="0"/>
      <p:bldP spid="1012724649" grpId="0"/>
      <p:bldP spid="1479965206" grpId="0"/>
      <p:bldP spid="1842743191" grpId="0"/>
      <p:bldP spid="25866288" grpId="0"/>
      <p:bldP spid="888298611" grpId="0"/>
      <p:bldP spid="909954745" grpId="0"/>
      <p:bldP spid="228822482" grpId="0"/>
      <p:bldP spid="1590142874" grpId="0"/>
      <p:bldP spid="1950063802" grpId="0"/>
      <p:bldP spid="1950063802" grpId="1"/>
      <p:bldP spid="334445326" grpId="0"/>
      <p:bldP spid="201427642" grpId="0"/>
      <p:bldP spid="1535007044" grpId="0"/>
      <p:bldP spid="1149634788" grpId="0"/>
      <p:bldP spid="2113676064" grpId="0"/>
      <p:bldP spid="2113676064" grpId="1"/>
      <p:bldP spid="132186726" grpId="0"/>
      <p:bldP spid="102020818" grpId="0"/>
      <p:bldP spid="1931820660" grpId="0"/>
      <p:bldP spid="543055159" grpId="0"/>
      <p:bldP spid="1550777000" grpId="0"/>
      <p:bldP spid="279370489" grpId="0"/>
      <p:bldP spid="822468749" grpId="0"/>
      <p:bldP spid="463199083" grpId="0"/>
      <p:bldP spid="1828543471" grpId="0"/>
      <p:bldP spid="1616330733" grpId="0"/>
      <p:bldP spid="1875751017" grpId="0"/>
      <p:bldP spid="1744688677" grpId="0"/>
      <p:bldP spid="1174330119" grpId="0" animBg="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2051922" name="Title 3"/>
          <p:cNvSpPr>
            <a:spLocks noGrp="1"/>
          </p:cNvSpPr>
          <p:nvPr>
            <p:ph type="title"/>
          </p:nvPr>
        </p:nvSpPr>
        <p:spPr bwMode="auto"/>
        <p:txBody>
          <a:bodyPr/>
          <a:lstStyle/>
          <a:p>
            <a:pPr>
              <a:defRPr/>
            </a:pPr>
            <a:r>
              <a:rPr lang="en-US"/>
              <a:t>Circular Queue</a:t>
            </a:r>
            <a:endParaRPr/>
          </a:p>
        </p:txBody>
      </p:sp>
      <p:sp>
        <p:nvSpPr>
          <p:cNvPr id="599267409" name="Text Placeholder 4"/>
          <p:cNvSpPr>
            <a:spLocks noGrp="1"/>
          </p:cNvSpPr>
          <p:nvPr>
            <p:ph type="body" idx="1"/>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8638370" name="Title 6"/>
          <p:cNvSpPr>
            <a:spLocks noGrp="1"/>
          </p:cNvSpPr>
          <p:nvPr>
            <p:ph type="title"/>
          </p:nvPr>
        </p:nvSpPr>
        <p:spPr bwMode="auto"/>
        <p:txBody>
          <a:bodyPr/>
          <a:lstStyle/>
          <a:p>
            <a:pPr>
              <a:defRPr/>
            </a:pPr>
            <a:r>
              <a:rPr lang="en-US"/>
              <a:t>Circular Queue - Introduction</a:t>
            </a:r>
            <a:endParaRPr lang="en-IN"/>
          </a:p>
        </p:txBody>
      </p:sp>
      <p:graphicFrame>
        <p:nvGraphicFramePr>
          <p:cNvPr id="1135185444" name="Content Placeholder 4"/>
          <p:cNvGraphicFramePr>
            <a:graphicFrameLocks xmlns:a="http://schemas.openxmlformats.org/drawingml/2006/main"/>
          </p:cNvGraphicFramePr>
          <p:nvPr/>
        </p:nvGraphicFramePr>
        <p:xfrm rot="0">
          <a:off x="1114541" y="2912328"/>
          <a:ext cx="3745150" cy="1108954"/>
        </p:xfrm>
        <a:graphic>
          <a:graphicData uri="http://schemas.openxmlformats.org/drawingml/2006/table">
            <a:tbl>
              <a:tblPr firstRow="1" firstCol="0" lastRow="0" lastCol="0" bandRow="1" bandCol="0">
                <a:tableStyleId>{9D7B26C5-4107-4FEC-AEDC-1716B250A1EF}</a:tableStyleId>
              </a:tblPr>
              <a:tblGrid>
                <a:gridCol w="749030"/>
                <a:gridCol w="749030"/>
                <a:gridCol w="749030"/>
                <a:gridCol w="749030"/>
                <a:gridCol w="749030"/>
              </a:tblGrid>
              <a:tr h="554477">
                <a:tc>
                  <a:txBody>
                    <a:bodyPr/>
                    <a:p>
                      <a:pPr algn="ctr">
                        <a:defRPr/>
                      </a:pPr>
                      <a:r>
                        <a:rPr lang="en-US"/>
                        <a:t>0</a:t>
                      </a:r>
                      <a:endParaRPr lang="en-IN"/>
                    </a:p>
                  </a:txBody>
                  <a:tcPr anchor="ctr"/>
                </a:tc>
                <a:tc>
                  <a:txBody>
                    <a:bodyPr/>
                    <a:p>
                      <a:pPr algn="ctr">
                        <a:defRPr/>
                      </a:pPr>
                      <a:r>
                        <a:rPr lang="en-US"/>
                        <a:t>1</a:t>
                      </a:r>
                      <a:endParaRPr lang="en-IN"/>
                    </a:p>
                  </a:txBody>
                  <a:tcPr anchor="ctr"/>
                </a:tc>
                <a:tc>
                  <a:txBody>
                    <a:bodyPr/>
                    <a:p>
                      <a:pPr algn="ctr">
                        <a:defRPr/>
                      </a:pPr>
                      <a:r>
                        <a:rPr lang="en-US"/>
                        <a:t>2</a:t>
                      </a:r>
                      <a:endParaRPr lang="en-IN"/>
                    </a:p>
                  </a:txBody>
                  <a:tcPr anchor="ctr"/>
                </a:tc>
                <a:tc>
                  <a:txBody>
                    <a:bodyPr/>
                    <a:p>
                      <a:pPr algn="ctr">
                        <a:defRPr/>
                      </a:pPr>
                      <a:r>
                        <a:rPr lang="en-US"/>
                        <a:t>3</a:t>
                      </a:r>
                      <a:endParaRPr lang="en-IN"/>
                    </a:p>
                  </a:txBody>
                  <a:tcPr anchor="ctr"/>
                </a:tc>
                <a:tc>
                  <a:txBody>
                    <a:bodyPr/>
                    <a:p>
                      <a:pPr algn="ctr">
                        <a:defRPr/>
                      </a:pPr>
                      <a:r>
                        <a:rPr lang="en-US"/>
                        <a:t>4</a:t>
                      </a:r>
                      <a:endParaRPr lang="en-IN"/>
                    </a:p>
                  </a:txBody>
                  <a:tcPr anchor="ctr"/>
                </a:tc>
              </a:tr>
              <a:tr h="554477">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r>
            </a:tbl>
          </a:graphicData>
        </a:graphic>
      </p:graphicFrame>
      <p:sp>
        <p:nvSpPr>
          <p:cNvPr id="473347569" name="TextBox 9"/>
          <p:cNvSpPr txBox="1"/>
          <p:nvPr/>
        </p:nvSpPr>
        <p:spPr bwMode="auto">
          <a:xfrm>
            <a:off x="395662" y="3452655"/>
            <a:ext cx="689612" cy="461665"/>
          </a:xfrm>
          <a:prstGeom prst="rect">
            <a:avLst/>
          </a:prstGeom>
          <a:noFill/>
        </p:spPr>
        <p:txBody>
          <a:bodyPr wrap="none" rtlCol="0">
            <a:spAutoFit/>
          </a:bodyPr>
          <a:lstStyle/>
          <a:p>
            <a:pPr>
              <a:defRPr/>
            </a:pPr>
            <a:r>
              <a:rPr lang="en-US" sz="2400" b="1">
                <a:solidFill>
                  <a:schemeClr val="accent6"/>
                </a:solidFill>
              </a:rPr>
              <a:t>Q[] :</a:t>
            </a:r>
            <a:endParaRPr lang="en-IN" sz="2400" b="1">
              <a:solidFill>
                <a:schemeClr val="accent6"/>
              </a:solidFill>
            </a:endParaRPr>
          </a:p>
        </p:txBody>
      </p:sp>
      <p:sp>
        <p:nvSpPr>
          <p:cNvPr id="659339127" name="TextBox 59"/>
          <p:cNvSpPr txBox="1"/>
          <p:nvPr/>
        </p:nvSpPr>
        <p:spPr bwMode="auto">
          <a:xfrm>
            <a:off x="1311252" y="2411750"/>
            <a:ext cx="330540" cy="461665"/>
          </a:xfrm>
          <a:prstGeom prst="rect">
            <a:avLst/>
          </a:prstGeom>
          <a:noFill/>
        </p:spPr>
        <p:txBody>
          <a:bodyPr wrap="none" rtlCol="0">
            <a:spAutoFit/>
          </a:bodyPr>
          <a:lstStyle/>
          <a:p>
            <a:pPr>
              <a:defRPr/>
            </a:pPr>
            <a:r>
              <a:rPr lang="en-US" sz="2400" b="1">
                <a:solidFill>
                  <a:schemeClr val="accent6"/>
                </a:solidFill>
              </a:rPr>
              <a:t>F</a:t>
            </a:r>
            <a:endParaRPr lang="en-IN" sz="2400" b="1">
              <a:solidFill>
                <a:schemeClr val="accent6"/>
              </a:solidFill>
            </a:endParaRPr>
          </a:p>
        </p:txBody>
      </p:sp>
      <p:sp>
        <p:nvSpPr>
          <p:cNvPr id="388258600" name="TextBox 60"/>
          <p:cNvSpPr txBox="1"/>
          <p:nvPr/>
        </p:nvSpPr>
        <p:spPr bwMode="auto">
          <a:xfrm>
            <a:off x="1299230" y="4088733"/>
            <a:ext cx="354584" cy="461665"/>
          </a:xfrm>
          <a:prstGeom prst="rect">
            <a:avLst/>
          </a:prstGeom>
          <a:noFill/>
        </p:spPr>
        <p:txBody>
          <a:bodyPr wrap="none" rtlCol="0">
            <a:spAutoFit/>
          </a:bodyPr>
          <a:lstStyle/>
          <a:p>
            <a:pPr>
              <a:defRPr/>
            </a:pPr>
            <a:r>
              <a:rPr lang="en-US" sz="2400" b="1">
                <a:solidFill>
                  <a:schemeClr val="accent6"/>
                </a:solidFill>
              </a:rPr>
              <a:t>R</a:t>
            </a:r>
            <a:endParaRPr lang="en-IN" sz="2400" b="1">
              <a:solidFill>
                <a:schemeClr val="accent6"/>
              </a:solidFill>
            </a:endParaRPr>
          </a:p>
        </p:txBody>
      </p:sp>
      <p:sp>
        <p:nvSpPr>
          <p:cNvPr id="243077567" name="TextBox 61"/>
          <p:cNvSpPr txBox="1"/>
          <p:nvPr/>
        </p:nvSpPr>
        <p:spPr bwMode="auto">
          <a:xfrm>
            <a:off x="1213480" y="3523453"/>
            <a:ext cx="495649" cy="461665"/>
          </a:xfrm>
          <a:prstGeom prst="rect">
            <a:avLst/>
          </a:prstGeom>
          <a:noFill/>
        </p:spPr>
        <p:txBody>
          <a:bodyPr wrap="none" rtlCol="0">
            <a:spAutoFit/>
          </a:bodyPr>
          <a:lstStyle/>
          <a:p>
            <a:pPr>
              <a:defRPr/>
            </a:pPr>
            <a:r>
              <a:rPr lang="en-US" sz="2400" b="1"/>
              <a:t>10</a:t>
            </a:r>
            <a:endParaRPr lang="en-IN" sz="2400" b="1"/>
          </a:p>
        </p:txBody>
      </p:sp>
      <p:sp>
        <p:nvSpPr>
          <p:cNvPr id="898405508" name="TextBox 62"/>
          <p:cNvSpPr txBox="1"/>
          <p:nvPr/>
        </p:nvSpPr>
        <p:spPr bwMode="auto">
          <a:xfrm>
            <a:off x="-10137" y="729437"/>
            <a:ext cx="2447233" cy="553998"/>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pPr>
              <a:defRPr/>
            </a:pPr>
            <a:r>
              <a:rPr lang="en-IN"/>
              <a:t>Simple Queue</a:t>
            </a:r>
            <a:endParaRPr/>
          </a:p>
        </p:txBody>
      </p:sp>
      <p:sp>
        <p:nvSpPr>
          <p:cNvPr id="8903380" name="TextBox 66"/>
          <p:cNvSpPr txBox="1"/>
          <p:nvPr/>
        </p:nvSpPr>
        <p:spPr bwMode="auto">
          <a:xfrm>
            <a:off x="6228360" y="2537061"/>
            <a:ext cx="1732568" cy="492443"/>
          </a:xfrm>
          <a:prstGeom prst="rect">
            <a:avLst/>
          </a:prstGeom>
          <a:noFill/>
        </p:spPr>
        <p:txBody>
          <a:bodyPr wrap="square" rtlCol="0">
            <a:spAutoFit/>
          </a:bodyPr>
          <a:lstStyle/>
          <a:p>
            <a:pPr>
              <a:defRPr/>
            </a:pPr>
            <a:r>
              <a:rPr lang="en-US" sz="2600" b="1">
                <a:solidFill>
                  <a:schemeClr val="accent6"/>
                </a:solidFill>
              </a:rPr>
              <a:t>F = R = -1</a:t>
            </a:r>
            <a:endParaRPr lang="en-IN" sz="2600" b="1">
              <a:solidFill>
                <a:schemeClr val="accent6"/>
              </a:solidFill>
            </a:endParaRPr>
          </a:p>
        </p:txBody>
      </p:sp>
      <p:sp>
        <p:nvSpPr>
          <p:cNvPr id="1817703640" name="TextBox 67"/>
          <p:cNvSpPr txBox="1"/>
          <p:nvPr/>
        </p:nvSpPr>
        <p:spPr bwMode="auto">
          <a:xfrm flipH="1">
            <a:off x="9689685" y="1660444"/>
            <a:ext cx="2354581" cy="430887"/>
          </a:xfrm>
          <a:prstGeom prst="rect">
            <a:avLst/>
          </a:prstGeom>
          <a:noFill/>
        </p:spPr>
        <p:txBody>
          <a:bodyPr wrap="square" rtlCol="0">
            <a:spAutoFit/>
          </a:bodyPr>
          <a:lstStyle/>
          <a:p>
            <a:pPr algn="r">
              <a:defRPr/>
            </a:pPr>
            <a:r>
              <a:rPr lang="en-IN" sz="2200" b="1"/>
              <a:t>Enqueue(10)</a:t>
            </a:r>
            <a:endParaRPr/>
          </a:p>
        </p:txBody>
      </p:sp>
      <p:sp>
        <p:nvSpPr>
          <p:cNvPr id="1740080663" name="TextBox 68"/>
          <p:cNvSpPr txBox="1"/>
          <p:nvPr/>
        </p:nvSpPr>
        <p:spPr bwMode="auto">
          <a:xfrm flipH="1">
            <a:off x="9689683" y="2163928"/>
            <a:ext cx="2354581" cy="430887"/>
          </a:xfrm>
          <a:prstGeom prst="rect">
            <a:avLst/>
          </a:prstGeom>
          <a:noFill/>
        </p:spPr>
        <p:txBody>
          <a:bodyPr wrap="square" rtlCol="0">
            <a:spAutoFit/>
          </a:bodyPr>
          <a:lstStyle/>
          <a:p>
            <a:pPr algn="r">
              <a:defRPr/>
            </a:pPr>
            <a:r>
              <a:rPr lang="en-IN" sz="2200" b="1"/>
              <a:t>Enqueue(20)</a:t>
            </a:r>
            <a:endParaRPr/>
          </a:p>
        </p:txBody>
      </p:sp>
      <p:sp>
        <p:nvSpPr>
          <p:cNvPr id="409260350" name="TextBox 69"/>
          <p:cNvSpPr txBox="1"/>
          <p:nvPr/>
        </p:nvSpPr>
        <p:spPr bwMode="auto">
          <a:xfrm>
            <a:off x="1980031" y="3523452"/>
            <a:ext cx="495649" cy="461665"/>
          </a:xfrm>
          <a:prstGeom prst="rect">
            <a:avLst/>
          </a:prstGeom>
          <a:noFill/>
        </p:spPr>
        <p:txBody>
          <a:bodyPr wrap="none" rtlCol="0">
            <a:spAutoFit/>
          </a:bodyPr>
          <a:lstStyle/>
          <a:p>
            <a:pPr>
              <a:defRPr/>
            </a:pPr>
            <a:r>
              <a:rPr lang="en-US" sz="2400" b="1"/>
              <a:t>20</a:t>
            </a:r>
            <a:endParaRPr lang="en-IN" sz="2400" b="1"/>
          </a:p>
        </p:txBody>
      </p:sp>
      <p:sp>
        <p:nvSpPr>
          <p:cNvPr id="1844316766" name="TextBox 70"/>
          <p:cNvSpPr txBox="1"/>
          <p:nvPr/>
        </p:nvSpPr>
        <p:spPr bwMode="auto">
          <a:xfrm flipH="1">
            <a:off x="9689685" y="2614272"/>
            <a:ext cx="2354581" cy="430887"/>
          </a:xfrm>
          <a:prstGeom prst="rect">
            <a:avLst/>
          </a:prstGeom>
          <a:noFill/>
        </p:spPr>
        <p:txBody>
          <a:bodyPr wrap="square" rtlCol="0">
            <a:spAutoFit/>
          </a:bodyPr>
          <a:lstStyle/>
          <a:p>
            <a:pPr algn="r">
              <a:defRPr/>
            </a:pPr>
            <a:r>
              <a:rPr lang="en-IN" sz="2200" b="1"/>
              <a:t>Enqueue(30)</a:t>
            </a:r>
            <a:endParaRPr/>
          </a:p>
        </p:txBody>
      </p:sp>
      <p:sp>
        <p:nvSpPr>
          <p:cNvPr id="767311989" name="TextBox 71"/>
          <p:cNvSpPr txBox="1"/>
          <p:nvPr/>
        </p:nvSpPr>
        <p:spPr bwMode="auto">
          <a:xfrm>
            <a:off x="2721253" y="3518166"/>
            <a:ext cx="495649" cy="461665"/>
          </a:xfrm>
          <a:prstGeom prst="rect">
            <a:avLst/>
          </a:prstGeom>
          <a:noFill/>
        </p:spPr>
        <p:txBody>
          <a:bodyPr wrap="none" rtlCol="0">
            <a:spAutoFit/>
          </a:bodyPr>
          <a:lstStyle/>
          <a:p>
            <a:pPr>
              <a:defRPr/>
            </a:pPr>
            <a:r>
              <a:rPr lang="en-US" sz="2400" b="1"/>
              <a:t>30</a:t>
            </a:r>
            <a:endParaRPr lang="en-IN" sz="2400" b="1"/>
          </a:p>
        </p:txBody>
      </p:sp>
      <p:sp>
        <p:nvSpPr>
          <p:cNvPr id="1950230757" name="TextBox 72"/>
          <p:cNvSpPr txBox="1"/>
          <p:nvPr/>
        </p:nvSpPr>
        <p:spPr bwMode="auto">
          <a:xfrm flipH="1">
            <a:off x="9689685" y="3087133"/>
            <a:ext cx="2354581" cy="430887"/>
          </a:xfrm>
          <a:prstGeom prst="rect">
            <a:avLst/>
          </a:prstGeom>
          <a:noFill/>
        </p:spPr>
        <p:txBody>
          <a:bodyPr wrap="square" rtlCol="0">
            <a:spAutoFit/>
          </a:bodyPr>
          <a:lstStyle/>
          <a:p>
            <a:pPr algn="r">
              <a:defRPr/>
            </a:pPr>
            <a:r>
              <a:rPr lang="en-IN" sz="2200" b="1"/>
              <a:t>Enqueue(40)</a:t>
            </a:r>
            <a:endParaRPr/>
          </a:p>
        </p:txBody>
      </p:sp>
      <p:sp>
        <p:nvSpPr>
          <p:cNvPr id="1002966640" name="TextBox 73"/>
          <p:cNvSpPr txBox="1"/>
          <p:nvPr/>
        </p:nvSpPr>
        <p:spPr bwMode="auto">
          <a:xfrm>
            <a:off x="3462475" y="3523271"/>
            <a:ext cx="495649" cy="461665"/>
          </a:xfrm>
          <a:prstGeom prst="rect">
            <a:avLst/>
          </a:prstGeom>
          <a:noFill/>
        </p:spPr>
        <p:txBody>
          <a:bodyPr wrap="none" rtlCol="0">
            <a:spAutoFit/>
          </a:bodyPr>
          <a:lstStyle/>
          <a:p>
            <a:pPr>
              <a:defRPr/>
            </a:pPr>
            <a:r>
              <a:rPr lang="en-US" sz="2400" b="1"/>
              <a:t>40</a:t>
            </a:r>
            <a:endParaRPr lang="en-IN" sz="2400" b="1"/>
          </a:p>
        </p:txBody>
      </p:sp>
      <p:sp>
        <p:nvSpPr>
          <p:cNvPr id="718264886" name="TextBox 74"/>
          <p:cNvSpPr txBox="1"/>
          <p:nvPr/>
        </p:nvSpPr>
        <p:spPr bwMode="auto">
          <a:xfrm flipH="1">
            <a:off x="9689685" y="3570385"/>
            <a:ext cx="2354581" cy="430887"/>
          </a:xfrm>
          <a:prstGeom prst="rect">
            <a:avLst/>
          </a:prstGeom>
          <a:noFill/>
        </p:spPr>
        <p:txBody>
          <a:bodyPr wrap="square" rtlCol="0">
            <a:spAutoFit/>
          </a:bodyPr>
          <a:lstStyle/>
          <a:p>
            <a:pPr algn="r">
              <a:defRPr/>
            </a:pPr>
            <a:r>
              <a:rPr lang="en-IN" sz="2200" b="1"/>
              <a:t>Enqueue(50)</a:t>
            </a:r>
            <a:endParaRPr/>
          </a:p>
        </p:txBody>
      </p:sp>
      <p:sp>
        <p:nvSpPr>
          <p:cNvPr id="995930855" name="TextBox 75"/>
          <p:cNvSpPr txBox="1"/>
          <p:nvPr/>
        </p:nvSpPr>
        <p:spPr bwMode="auto">
          <a:xfrm>
            <a:off x="4203697" y="3518166"/>
            <a:ext cx="495649" cy="461665"/>
          </a:xfrm>
          <a:prstGeom prst="rect">
            <a:avLst/>
          </a:prstGeom>
          <a:noFill/>
        </p:spPr>
        <p:txBody>
          <a:bodyPr wrap="none" rtlCol="0">
            <a:spAutoFit/>
          </a:bodyPr>
          <a:lstStyle/>
          <a:p>
            <a:pPr>
              <a:defRPr/>
            </a:pPr>
            <a:r>
              <a:rPr lang="en-US" sz="2400" b="1"/>
              <a:t>50</a:t>
            </a:r>
            <a:endParaRPr lang="en-IN" sz="2400" b="1"/>
          </a:p>
        </p:txBody>
      </p:sp>
      <p:sp>
        <p:nvSpPr>
          <p:cNvPr id="1859558730" name="TextBox 76"/>
          <p:cNvSpPr txBox="1"/>
          <p:nvPr/>
        </p:nvSpPr>
        <p:spPr bwMode="auto">
          <a:xfrm flipH="1">
            <a:off x="9689685" y="4043245"/>
            <a:ext cx="2354581" cy="430887"/>
          </a:xfrm>
          <a:prstGeom prst="rect">
            <a:avLst/>
          </a:prstGeom>
          <a:noFill/>
        </p:spPr>
        <p:txBody>
          <a:bodyPr wrap="square" rtlCol="0">
            <a:spAutoFit/>
          </a:bodyPr>
          <a:lstStyle/>
          <a:p>
            <a:pPr algn="r">
              <a:defRPr/>
            </a:pPr>
            <a:r>
              <a:rPr lang="en-IN" sz="2200" b="1"/>
              <a:t>Enqueue(60)</a:t>
            </a:r>
            <a:endParaRPr/>
          </a:p>
        </p:txBody>
      </p:sp>
      <p:sp>
        <p:nvSpPr>
          <p:cNvPr id="249737435" name="TextBox 78"/>
          <p:cNvSpPr txBox="1"/>
          <p:nvPr/>
        </p:nvSpPr>
        <p:spPr bwMode="auto">
          <a:xfrm flipH="1">
            <a:off x="10194138" y="4484933"/>
            <a:ext cx="1850128" cy="430887"/>
          </a:xfrm>
          <a:prstGeom prst="rect">
            <a:avLst/>
          </a:prstGeom>
          <a:noFill/>
        </p:spPr>
        <p:txBody>
          <a:bodyPr wrap="square" rtlCol="0">
            <a:spAutoFit/>
          </a:bodyPr>
          <a:lstStyle/>
          <a:p>
            <a:pPr algn="r">
              <a:defRPr/>
            </a:pPr>
            <a:r>
              <a:rPr lang="en-IN" sz="2200" b="1"/>
              <a:t>Dequeue()</a:t>
            </a:r>
            <a:endParaRPr/>
          </a:p>
        </p:txBody>
      </p:sp>
      <p:sp>
        <p:nvSpPr>
          <p:cNvPr id="145253823" name="TextBox 79"/>
          <p:cNvSpPr txBox="1"/>
          <p:nvPr/>
        </p:nvSpPr>
        <p:spPr bwMode="auto">
          <a:xfrm flipH="1">
            <a:off x="10384237" y="4954348"/>
            <a:ext cx="1660029" cy="430887"/>
          </a:xfrm>
          <a:prstGeom prst="rect">
            <a:avLst/>
          </a:prstGeom>
          <a:noFill/>
        </p:spPr>
        <p:txBody>
          <a:bodyPr wrap="square" rtlCol="0">
            <a:spAutoFit/>
          </a:bodyPr>
          <a:lstStyle/>
          <a:p>
            <a:pPr algn="r">
              <a:defRPr/>
            </a:pPr>
            <a:r>
              <a:rPr lang="en-IN" sz="2200" b="1"/>
              <a:t>Dequeue()</a:t>
            </a:r>
            <a:endParaRPr/>
          </a:p>
        </p:txBody>
      </p:sp>
      <p:sp>
        <p:nvSpPr>
          <p:cNvPr id="2005514916" name="TextBox 80"/>
          <p:cNvSpPr txBox="1"/>
          <p:nvPr/>
        </p:nvSpPr>
        <p:spPr bwMode="auto">
          <a:xfrm flipH="1">
            <a:off x="10222393" y="5392597"/>
            <a:ext cx="1821873" cy="430887"/>
          </a:xfrm>
          <a:prstGeom prst="rect">
            <a:avLst/>
          </a:prstGeom>
          <a:noFill/>
        </p:spPr>
        <p:txBody>
          <a:bodyPr wrap="square" rtlCol="0">
            <a:spAutoFit/>
          </a:bodyPr>
          <a:lstStyle/>
          <a:p>
            <a:pPr algn="r">
              <a:defRPr/>
            </a:pPr>
            <a:r>
              <a:rPr lang="en-IN" sz="2200" b="1"/>
              <a:t>Enqueue(70)</a:t>
            </a:r>
            <a:endParaRPr/>
          </a:p>
        </p:txBody>
      </p:sp>
      <p:sp>
        <p:nvSpPr>
          <p:cNvPr id="1559457072" name="TextBox 77"/>
          <p:cNvSpPr txBox="1"/>
          <p:nvPr/>
        </p:nvSpPr>
        <p:spPr bwMode="auto">
          <a:xfrm>
            <a:off x="5413665" y="4247307"/>
            <a:ext cx="2780493" cy="461665"/>
          </a:xfrm>
          <a:prstGeom prst="rect">
            <a:avLst/>
          </a:prstGeom>
          <a:solidFill>
            <a:srgbClr val="FFFFCC"/>
          </a:solidFill>
        </p:spPr>
        <p:txBody>
          <a:bodyPr wrap="square" rtlCol="0">
            <a:spAutoFit/>
          </a:bodyPr>
          <a:lstStyle>
            <a:defPPr>
              <a:defRPr lang="en-US"/>
            </a:defPPr>
            <a:lvl1pPr algn="ctr">
              <a:defRPr b="1">
                <a:solidFill>
                  <a:schemeClr val="accent6"/>
                </a:solidFill>
              </a:defRPr>
            </a:lvl1pPr>
          </a:lstStyle>
          <a:p>
            <a:pPr>
              <a:defRPr/>
            </a:pPr>
            <a:r>
              <a:rPr lang="en-IN" sz="2400"/>
              <a:t>Queue Overflow</a:t>
            </a:r>
            <a:endParaRPr/>
          </a:p>
        </p:txBody>
      </p:sp>
      <p:sp>
        <p:nvSpPr>
          <p:cNvPr id="1131443015" name="TextBox 1"/>
          <p:cNvSpPr txBox="1"/>
          <p:nvPr/>
        </p:nvSpPr>
        <p:spPr bwMode="auto">
          <a:xfrm flipH="1">
            <a:off x="5413665" y="2075092"/>
            <a:ext cx="3169226" cy="492443"/>
          </a:xfrm>
          <a:prstGeom prst="rect">
            <a:avLst/>
          </a:prstGeom>
          <a:noFill/>
        </p:spPr>
        <p:txBody>
          <a:bodyPr wrap="square" rtlCol="0">
            <a:spAutoFit/>
          </a:bodyPr>
          <a:lstStyle/>
          <a:p>
            <a:pPr algn="ctr">
              <a:defRPr/>
            </a:pPr>
            <a:r>
              <a:rPr lang="en-IN" sz="2600" b="1"/>
              <a:t>For an empty Queue</a:t>
            </a:r>
            <a:endParaRPr/>
          </a:p>
        </p:txBody>
      </p:sp>
      <p:sp>
        <p:nvSpPr>
          <p:cNvPr id="7364805" name="TextBox 7"/>
          <p:cNvSpPr txBox="1"/>
          <p:nvPr/>
        </p:nvSpPr>
        <p:spPr bwMode="auto">
          <a:xfrm flipH="1">
            <a:off x="5413665" y="891629"/>
            <a:ext cx="3169226" cy="492443"/>
          </a:xfrm>
          <a:prstGeom prst="rect">
            <a:avLst/>
          </a:prstGeom>
          <a:noFill/>
        </p:spPr>
        <p:txBody>
          <a:bodyPr wrap="square" rtlCol="0">
            <a:spAutoFit/>
          </a:bodyPr>
          <a:lstStyle/>
          <a:p>
            <a:pPr algn="ctr">
              <a:defRPr/>
            </a:pPr>
            <a:r>
              <a:rPr lang="en-IN" sz="2600" b="1"/>
              <a:t>Size of Queue</a:t>
            </a:r>
            <a:endParaRPr/>
          </a:p>
        </p:txBody>
      </p:sp>
      <p:sp>
        <p:nvSpPr>
          <p:cNvPr id="595811773" name="TextBox 10"/>
          <p:cNvSpPr txBox="1"/>
          <p:nvPr/>
        </p:nvSpPr>
        <p:spPr bwMode="auto">
          <a:xfrm>
            <a:off x="6556421" y="1353599"/>
            <a:ext cx="1118012" cy="492443"/>
          </a:xfrm>
          <a:prstGeom prst="rect">
            <a:avLst/>
          </a:prstGeom>
          <a:noFill/>
        </p:spPr>
        <p:txBody>
          <a:bodyPr wrap="square" rtlCol="0">
            <a:spAutoFit/>
          </a:bodyPr>
          <a:lstStyle/>
          <a:p>
            <a:pPr>
              <a:defRPr/>
            </a:pPr>
            <a:r>
              <a:rPr lang="en-US" sz="2600" b="1">
                <a:solidFill>
                  <a:schemeClr val="accent6"/>
                </a:solidFill>
              </a:rPr>
              <a:t>N = 5</a:t>
            </a:r>
            <a:endParaRPr lang="en-IN" sz="2600" b="1">
              <a:solidFill>
                <a:schemeClr val="accent6"/>
              </a:solidFill>
            </a:endParaRPr>
          </a:p>
        </p:txBody>
      </p:sp>
      <p:sp>
        <p:nvSpPr>
          <p:cNvPr id="989024319" name="TextBox 11"/>
          <p:cNvSpPr txBox="1"/>
          <p:nvPr/>
        </p:nvSpPr>
        <p:spPr bwMode="auto">
          <a:xfrm>
            <a:off x="10307592" y="1072725"/>
            <a:ext cx="1813317" cy="492443"/>
          </a:xfrm>
          <a:prstGeom prst="rect">
            <a:avLst/>
          </a:prstGeom>
          <a:noFill/>
        </p:spPr>
        <p:txBody>
          <a:bodyPr wrap="none" rtlCol="0">
            <a:spAutoFit/>
          </a:bodyPr>
          <a:lstStyle/>
          <a:p>
            <a:pPr>
              <a:defRPr/>
            </a:pPr>
            <a:r>
              <a:rPr lang="en-US" sz="2600" b="1">
                <a:solidFill>
                  <a:srgbClr val="C00000"/>
                </a:solidFill>
              </a:rPr>
              <a:t>Operations :</a:t>
            </a:r>
            <a:endParaRPr lang="en-IN" sz="2600" b="1">
              <a:solidFill>
                <a:srgbClr val="C00000"/>
              </a:solidFill>
            </a:endParaRPr>
          </a:p>
        </p:txBody>
      </p:sp>
      <p:sp>
        <p:nvSpPr>
          <p:cNvPr id="1677097026" name="TextBox 12"/>
          <p:cNvSpPr txBox="1"/>
          <p:nvPr/>
        </p:nvSpPr>
        <p:spPr bwMode="auto">
          <a:xfrm>
            <a:off x="3575719" y="5005699"/>
            <a:ext cx="6845117" cy="523220"/>
          </a:xfrm>
          <a:prstGeom prst="rect">
            <a:avLst/>
          </a:prstGeom>
          <a:noFill/>
        </p:spPr>
        <p:txBody>
          <a:bodyPr wrap="square" rtlCol="0">
            <a:spAutoFit/>
          </a:bodyPr>
          <a:lstStyle/>
          <a:p>
            <a:pPr algn="ctr">
              <a:defRPr/>
            </a:pPr>
            <a:r>
              <a:rPr lang="en-IN" sz="2800" b="1">
                <a:solidFill>
                  <a:srgbClr val="C00000"/>
                </a:solidFill>
              </a:rPr>
              <a:t>Though there is empty space, can’t be utilized.</a:t>
            </a:r>
            <a:endParaRPr/>
          </a:p>
        </p:txBody>
      </p:sp>
      <p:sp>
        <p:nvSpPr>
          <p:cNvPr id="1230224267" name="TextBox 13"/>
          <p:cNvSpPr txBox="1"/>
          <p:nvPr/>
        </p:nvSpPr>
        <p:spPr bwMode="auto">
          <a:xfrm>
            <a:off x="3575718" y="5647420"/>
            <a:ext cx="6845117" cy="523220"/>
          </a:xfrm>
          <a:prstGeom prst="rect">
            <a:avLst/>
          </a:prstGeom>
          <a:noFill/>
        </p:spPr>
        <p:txBody>
          <a:bodyPr wrap="square" rtlCol="0">
            <a:spAutoFit/>
          </a:bodyPr>
          <a:lstStyle/>
          <a:p>
            <a:pPr algn="ctr">
              <a:defRPr/>
            </a:pPr>
            <a:r>
              <a:rPr lang="en-IN" sz="2800" b="1"/>
              <a:t>Using </a:t>
            </a:r>
            <a:r>
              <a:rPr lang="en-IN" sz="2800" b="1" i="1" u="sng"/>
              <a:t>Circular Queue</a:t>
            </a:r>
            <a:r>
              <a:rPr lang="en-IN" sz="2800" b="1"/>
              <a:t>, we can overcome this.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364805"/>
                                        </p:tgtEl>
                                        <p:attrNameLst>
                                          <p:attrName>style.visibility</p:attrName>
                                        </p:attrNameLst>
                                      </p:cBhvr>
                                      <p:to>
                                        <p:strVal val="visible"/>
                                      </p:to>
                                    </p:set>
                                    <p:animEffect transition="in" filter="fade">
                                      <p:cBhvr>
                                        <p:cTn id="7" dur="500"/>
                                        <p:tgtEl>
                                          <p:spTgt spid="73648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95811773"/>
                                        </p:tgtEl>
                                        <p:attrNameLst>
                                          <p:attrName>style.visibility</p:attrName>
                                        </p:attrNameLst>
                                      </p:cBhvr>
                                      <p:to>
                                        <p:strVal val="visible"/>
                                      </p:to>
                                    </p:set>
                                    <p:animEffect transition="in" filter="fade">
                                      <p:cBhvr>
                                        <p:cTn id="10" dur="500"/>
                                        <p:tgtEl>
                                          <p:spTgt spid="59581177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903380"/>
                                        </p:tgtEl>
                                        <p:attrNameLst>
                                          <p:attrName>style.visibility</p:attrName>
                                        </p:attrNameLst>
                                      </p:cBhvr>
                                      <p:to>
                                        <p:strVal val="visible"/>
                                      </p:to>
                                    </p:set>
                                    <p:animEffect transition="in" filter="fade">
                                      <p:cBhvr>
                                        <p:cTn id="15" dur="500"/>
                                        <p:tgtEl>
                                          <p:spTgt spid="890338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31443015"/>
                                        </p:tgtEl>
                                        <p:attrNameLst>
                                          <p:attrName>style.visibility</p:attrName>
                                        </p:attrNameLst>
                                      </p:cBhvr>
                                      <p:to>
                                        <p:strVal val="visible"/>
                                      </p:to>
                                    </p:set>
                                    <p:animEffect transition="in" filter="fade">
                                      <p:cBhvr>
                                        <p:cTn id="18" dur="500"/>
                                        <p:tgtEl>
                                          <p:spTgt spid="11314430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89024319"/>
                                        </p:tgtEl>
                                        <p:attrNameLst>
                                          <p:attrName>style.visibility</p:attrName>
                                        </p:attrNameLst>
                                      </p:cBhvr>
                                      <p:to>
                                        <p:strVal val="visible"/>
                                      </p:to>
                                    </p:set>
                                    <p:animEffect transition="in" filter="fade">
                                      <p:cBhvr>
                                        <p:cTn id="23" dur="500"/>
                                        <p:tgtEl>
                                          <p:spTgt spid="9890243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17703640"/>
                                        </p:tgtEl>
                                        <p:attrNameLst>
                                          <p:attrName>style.visibility</p:attrName>
                                        </p:attrNameLst>
                                      </p:cBhvr>
                                      <p:to>
                                        <p:strVal val="visible"/>
                                      </p:to>
                                    </p:set>
                                    <p:animEffect transition="in" filter="fade">
                                      <p:cBhvr>
                                        <p:cTn id="26" dur="500"/>
                                        <p:tgtEl>
                                          <p:spTgt spid="181770364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88258600"/>
                                        </p:tgtEl>
                                        <p:attrNameLst>
                                          <p:attrName>style.visibility</p:attrName>
                                        </p:attrNameLst>
                                      </p:cBhvr>
                                      <p:to>
                                        <p:strVal val="visible"/>
                                      </p:to>
                                    </p:set>
                                    <p:animEffect transition="in" filter="fade">
                                      <p:cBhvr>
                                        <p:cTn id="31" dur="500"/>
                                        <p:tgtEl>
                                          <p:spTgt spid="38825860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3077567"/>
                                        </p:tgtEl>
                                        <p:attrNameLst>
                                          <p:attrName>style.visibility</p:attrName>
                                        </p:attrNameLst>
                                      </p:cBhvr>
                                      <p:to>
                                        <p:strVal val="visible"/>
                                      </p:to>
                                    </p:set>
                                    <p:animEffect transition="in" filter="fade">
                                      <p:cBhvr>
                                        <p:cTn id="36" dur="500"/>
                                        <p:tgtEl>
                                          <p:spTgt spid="24307756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59339127"/>
                                        </p:tgtEl>
                                        <p:attrNameLst>
                                          <p:attrName>style.visibility</p:attrName>
                                        </p:attrNameLst>
                                      </p:cBhvr>
                                      <p:to>
                                        <p:strVal val="visible"/>
                                      </p:to>
                                    </p:set>
                                    <p:animEffect transition="in" filter="fade">
                                      <p:cBhvr>
                                        <p:cTn id="41" dur="500"/>
                                        <p:tgtEl>
                                          <p:spTgt spid="65933912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740080663"/>
                                        </p:tgtEl>
                                        <p:attrNameLst>
                                          <p:attrName>style.visibility</p:attrName>
                                        </p:attrNameLst>
                                      </p:cBhvr>
                                      <p:to>
                                        <p:strVal val="visible"/>
                                      </p:to>
                                    </p:set>
                                    <p:animEffect transition="in" filter="fade">
                                      <p:cBhvr>
                                        <p:cTn id="46" dur="500"/>
                                        <p:tgtEl>
                                          <p:spTgt spid="1740080663"/>
                                        </p:tgtEl>
                                      </p:cBhvr>
                                    </p:animEffect>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grpId="1" nodeType="clickEffect">
                                  <p:stCondLst>
                                    <p:cond delay="0"/>
                                  </p:stCondLst>
                                  <p:childTnLst>
                                    <p:animMotion origin="layout" path="M -3.75E-6 -1.11111E-6 L 0.06511 -1.11111E-6 " pathEditMode="relative" rAng="0" ptsTypes="AA">
                                      <p:cBhvr>
                                        <p:cTn id="50" dur="2000" fill="hold"/>
                                        <p:tgtEl>
                                          <p:spTgt spid="388258600"/>
                                        </p:tgtEl>
                                        <p:attrNameLst>
                                          <p:attrName>ppt_x</p:attrName>
                                          <p:attrName>ppt_y</p:attrName>
                                        </p:attrNameLst>
                                      </p:cBhvr>
                                      <p:rCtr x="3255" y="0"/>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09260350"/>
                                        </p:tgtEl>
                                        <p:attrNameLst>
                                          <p:attrName>style.visibility</p:attrName>
                                        </p:attrNameLst>
                                      </p:cBhvr>
                                      <p:to>
                                        <p:strVal val="visible"/>
                                      </p:to>
                                    </p:set>
                                    <p:animEffect transition="in" filter="fade">
                                      <p:cBhvr>
                                        <p:cTn id="55" dur="500"/>
                                        <p:tgtEl>
                                          <p:spTgt spid="40926035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844316766"/>
                                        </p:tgtEl>
                                        <p:attrNameLst>
                                          <p:attrName>style.visibility</p:attrName>
                                        </p:attrNameLst>
                                      </p:cBhvr>
                                      <p:to>
                                        <p:strVal val="visible"/>
                                      </p:to>
                                    </p:set>
                                    <p:animEffect transition="in" filter="fade">
                                      <p:cBhvr>
                                        <p:cTn id="60" dur="500"/>
                                        <p:tgtEl>
                                          <p:spTgt spid="1844316766"/>
                                        </p:tgtEl>
                                      </p:cBhvr>
                                    </p:animEffect>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grpId="2" nodeType="clickEffect">
                                  <p:stCondLst>
                                    <p:cond delay="0"/>
                                  </p:stCondLst>
                                  <p:childTnLst>
                                    <p:animMotion origin="layout" path="M 0.06511 -1.11111E-6 L 0.1211 -1.11111E-6 " pathEditMode="relative" rAng="0" ptsTypes="AA">
                                      <p:cBhvr>
                                        <p:cTn id="64" dur="2000" fill="hold"/>
                                        <p:tgtEl>
                                          <p:spTgt spid="388258600"/>
                                        </p:tgtEl>
                                        <p:attrNameLst>
                                          <p:attrName>ppt_x</p:attrName>
                                          <p:attrName>ppt_y</p:attrName>
                                        </p:attrNameLst>
                                      </p:cBhvr>
                                      <p:rCtr x="3112" y="0"/>
                                    </p:animMotion>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767311989"/>
                                        </p:tgtEl>
                                        <p:attrNameLst>
                                          <p:attrName>style.visibility</p:attrName>
                                        </p:attrNameLst>
                                      </p:cBhvr>
                                      <p:to>
                                        <p:strVal val="visible"/>
                                      </p:to>
                                    </p:set>
                                    <p:animEffect transition="in" filter="fade">
                                      <p:cBhvr>
                                        <p:cTn id="69" dur="500"/>
                                        <p:tgtEl>
                                          <p:spTgt spid="76731198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950230757"/>
                                        </p:tgtEl>
                                        <p:attrNameLst>
                                          <p:attrName>style.visibility</p:attrName>
                                        </p:attrNameLst>
                                      </p:cBhvr>
                                      <p:to>
                                        <p:strVal val="visible"/>
                                      </p:to>
                                    </p:set>
                                    <p:animEffect transition="in" filter="fade">
                                      <p:cBhvr>
                                        <p:cTn id="74" dur="500"/>
                                        <p:tgtEl>
                                          <p:spTgt spid="1950230757"/>
                                        </p:tgtEl>
                                      </p:cBhvr>
                                    </p:animEffect>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grpId="3" nodeType="clickEffect">
                                  <p:stCondLst>
                                    <p:cond delay="0"/>
                                  </p:stCondLst>
                                  <p:childTnLst>
                                    <p:animMotion origin="layout" path="M 0.1211 3.33333E-6 L 0.1849 -0.00139 " pathEditMode="relative" rAng="0" ptsTypes="AA">
                                      <p:cBhvr>
                                        <p:cTn id="78" dur="2000" fill="hold"/>
                                        <p:tgtEl>
                                          <p:spTgt spid="388258600"/>
                                        </p:tgtEl>
                                        <p:attrNameLst>
                                          <p:attrName>ppt_x</p:attrName>
                                          <p:attrName>ppt_y</p:attrName>
                                        </p:attrNameLst>
                                      </p:cBhvr>
                                      <p:rCtr x="3190" y="-46"/>
                                    </p:animMotion>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002966640"/>
                                        </p:tgtEl>
                                        <p:attrNameLst>
                                          <p:attrName>style.visibility</p:attrName>
                                        </p:attrNameLst>
                                      </p:cBhvr>
                                      <p:to>
                                        <p:strVal val="visible"/>
                                      </p:to>
                                    </p:set>
                                    <p:animEffect transition="in" filter="fade">
                                      <p:cBhvr>
                                        <p:cTn id="83" dur="500"/>
                                        <p:tgtEl>
                                          <p:spTgt spid="100296664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718264886"/>
                                        </p:tgtEl>
                                        <p:attrNameLst>
                                          <p:attrName>style.visibility</p:attrName>
                                        </p:attrNameLst>
                                      </p:cBhvr>
                                      <p:to>
                                        <p:strVal val="visible"/>
                                      </p:to>
                                    </p:set>
                                    <p:animEffect transition="in" filter="fade">
                                      <p:cBhvr>
                                        <p:cTn id="88" dur="500"/>
                                        <p:tgtEl>
                                          <p:spTgt spid="718264886"/>
                                        </p:tgtEl>
                                      </p:cBhvr>
                                    </p:animEffect>
                                  </p:childTnLst>
                                </p:cTn>
                              </p:par>
                            </p:childTnLst>
                          </p:cTn>
                        </p:par>
                      </p:childTnLst>
                    </p:cTn>
                  </p:par>
                  <p:par>
                    <p:cTn id="89" fill="hold">
                      <p:stCondLst>
                        <p:cond delay="indefinite"/>
                      </p:stCondLst>
                      <p:childTnLst>
                        <p:par>
                          <p:cTn id="90" fill="hold">
                            <p:stCondLst>
                              <p:cond delay="0"/>
                            </p:stCondLst>
                            <p:childTnLst>
                              <p:par>
                                <p:cTn id="91" presetID="63" presetClass="path" presetSubtype="0" accel="50000" decel="50000" fill="hold" grpId="4" nodeType="clickEffect">
                                  <p:stCondLst>
                                    <p:cond delay="0"/>
                                  </p:stCondLst>
                                  <p:childTnLst>
                                    <p:animMotion origin="layout" path="M 0.1849 -0.00139 L 0.25 -1.11111E-6 " pathEditMode="relative" rAng="0" ptsTypes="AA">
                                      <p:cBhvr>
                                        <p:cTn id="92" dur="2000" fill="hold"/>
                                        <p:tgtEl>
                                          <p:spTgt spid="388258600"/>
                                        </p:tgtEl>
                                        <p:attrNameLst>
                                          <p:attrName>ppt_x</p:attrName>
                                          <p:attrName>ppt_y</p:attrName>
                                        </p:attrNameLst>
                                      </p:cBhvr>
                                      <p:rCtr x="3633" y="139"/>
                                    </p:animMotion>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995930855"/>
                                        </p:tgtEl>
                                        <p:attrNameLst>
                                          <p:attrName>style.visibility</p:attrName>
                                        </p:attrNameLst>
                                      </p:cBhvr>
                                      <p:to>
                                        <p:strVal val="visible"/>
                                      </p:to>
                                    </p:set>
                                    <p:animEffect transition="in" filter="fade">
                                      <p:cBhvr>
                                        <p:cTn id="97" dur="500"/>
                                        <p:tgtEl>
                                          <p:spTgt spid="99593085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859558730"/>
                                        </p:tgtEl>
                                        <p:attrNameLst>
                                          <p:attrName>style.visibility</p:attrName>
                                        </p:attrNameLst>
                                      </p:cBhvr>
                                      <p:to>
                                        <p:strVal val="visible"/>
                                      </p:to>
                                    </p:set>
                                    <p:animEffect transition="in" filter="fade">
                                      <p:cBhvr>
                                        <p:cTn id="102" dur="500"/>
                                        <p:tgtEl>
                                          <p:spTgt spid="185955873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559457072"/>
                                        </p:tgtEl>
                                        <p:attrNameLst>
                                          <p:attrName>style.visibility</p:attrName>
                                        </p:attrNameLst>
                                      </p:cBhvr>
                                      <p:to>
                                        <p:strVal val="visible"/>
                                      </p:to>
                                    </p:set>
                                    <p:animEffect transition="in" filter="wipe(left)">
                                      <p:cBhvr>
                                        <p:cTn id="107" dur="500"/>
                                        <p:tgtEl>
                                          <p:spTgt spid="155945707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49737435"/>
                                        </p:tgtEl>
                                        <p:attrNameLst>
                                          <p:attrName>style.visibility</p:attrName>
                                        </p:attrNameLst>
                                      </p:cBhvr>
                                      <p:to>
                                        <p:strVal val="visible"/>
                                      </p:to>
                                    </p:set>
                                    <p:animEffect transition="in" filter="fade">
                                      <p:cBhvr>
                                        <p:cTn id="112" dur="500"/>
                                        <p:tgtEl>
                                          <p:spTgt spid="249737435"/>
                                        </p:tgtEl>
                                      </p:cBhvr>
                                    </p:animEffect>
                                  </p:childTnLst>
                                </p:cTn>
                              </p:par>
                              <p:par>
                                <p:cTn id="113" presetID="1" presetClass="exit" presetSubtype="0" fill="hold" grpId="1" nodeType="withEffect">
                                  <p:stCondLst>
                                    <p:cond delay="0"/>
                                  </p:stCondLst>
                                  <p:childTnLst>
                                    <p:set>
                                      <p:cBhvr>
                                        <p:cTn id="114" dur="1" fill="hold">
                                          <p:stCondLst>
                                            <p:cond delay="0"/>
                                          </p:stCondLst>
                                        </p:cTn>
                                        <p:tgtEl>
                                          <p:spTgt spid="1559457072"/>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grpId="1" nodeType="clickEffect">
                                  <p:stCondLst>
                                    <p:cond delay="0"/>
                                  </p:stCondLst>
                                  <p:childTnLst>
                                    <p:animMotion origin="layout" path="M 4.375E-6 -4.81481E-6 L 0.06406 -0.00254 " pathEditMode="relative" rAng="0" ptsTypes="AA">
                                      <p:cBhvr>
                                        <p:cTn id="118" dur="2000" fill="hold"/>
                                        <p:tgtEl>
                                          <p:spTgt spid="659339127"/>
                                        </p:tgtEl>
                                        <p:attrNameLst>
                                          <p:attrName>ppt_x</p:attrName>
                                          <p:attrName>ppt_y</p:attrName>
                                        </p:attrNameLst>
                                      </p:cBhvr>
                                      <p:rCtr x="3203" y="-139"/>
                                    </p:animMotion>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1" nodeType="clickEffect">
                                  <p:stCondLst>
                                    <p:cond delay="0"/>
                                  </p:stCondLst>
                                  <p:childTnLst>
                                    <p:set>
                                      <p:cBhvr>
                                        <p:cTn id="122" dur="1" fill="hold">
                                          <p:stCondLst>
                                            <p:cond delay="0"/>
                                          </p:stCondLst>
                                        </p:cTn>
                                        <p:tgtEl>
                                          <p:spTgt spid="243077567"/>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145253823"/>
                                        </p:tgtEl>
                                        <p:attrNameLst>
                                          <p:attrName>style.visibility</p:attrName>
                                        </p:attrNameLst>
                                      </p:cBhvr>
                                      <p:to>
                                        <p:strVal val="visible"/>
                                      </p:to>
                                    </p:set>
                                    <p:animEffect transition="in" filter="fade">
                                      <p:cBhvr>
                                        <p:cTn id="127" dur="500"/>
                                        <p:tgtEl>
                                          <p:spTgt spid="145253823"/>
                                        </p:tgtEl>
                                      </p:cBhvr>
                                    </p:animEffect>
                                  </p:childTnLst>
                                </p:cTn>
                              </p:par>
                            </p:childTnLst>
                          </p:cTn>
                        </p:par>
                      </p:childTnLst>
                    </p:cTn>
                  </p:par>
                  <p:par>
                    <p:cTn id="128" fill="hold">
                      <p:stCondLst>
                        <p:cond delay="indefinite"/>
                      </p:stCondLst>
                      <p:childTnLst>
                        <p:par>
                          <p:cTn id="129" fill="hold">
                            <p:stCondLst>
                              <p:cond delay="0"/>
                            </p:stCondLst>
                            <p:childTnLst>
                              <p:par>
                                <p:cTn id="130" presetID="63" presetClass="path" presetSubtype="0" accel="50000" decel="50000" fill="hold" grpId="2" nodeType="clickEffect">
                                  <p:stCondLst>
                                    <p:cond delay="0"/>
                                  </p:stCondLst>
                                  <p:childTnLst>
                                    <p:animMotion origin="layout" path="M 0.06406 -0.00255 L 0.12226 -0.00324 " pathEditMode="relative" rAng="0" ptsTypes="AA">
                                      <p:cBhvr>
                                        <p:cTn id="131" dur="2000" fill="hold"/>
                                        <p:tgtEl>
                                          <p:spTgt spid="659339127"/>
                                        </p:tgtEl>
                                        <p:attrNameLst>
                                          <p:attrName>ppt_x</p:attrName>
                                          <p:attrName>ppt_y</p:attrName>
                                        </p:attrNameLst>
                                      </p:cBhvr>
                                      <p:rCtr x="3229" y="162"/>
                                    </p:animMotion>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1" nodeType="clickEffect">
                                  <p:stCondLst>
                                    <p:cond delay="0"/>
                                  </p:stCondLst>
                                  <p:childTnLst>
                                    <p:set>
                                      <p:cBhvr>
                                        <p:cTn id="135" dur="1" fill="hold">
                                          <p:stCondLst>
                                            <p:cond delay="0"/>
                                          </p:stCondLst>
                                        </p:cTn>
                                        <p:tgtEl>
                                          <p:spTgt spid="409260350"/>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2005514916"/>
                                        </p:tgtEl>
                                        <p:attrNameLst>
                                          <p:attrName>style.visibility</p:attrName>
                                        </p:attrNameLst>
                                      </p:cBhvr>
                                      <p:to>
                                        <p:strVal val="visible"/>
                                      </p:to>
                                    </p:set>
                                    <p:animEffect transition="in" filter="fade">
                                      <p:cBhvr>
                                        <p:cTn id="140" dur="500"/>
                                        <p:tgtEl>
                                          <p:spTgt spid="2005514916"/>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2" nodeType="clickEffect">
                                  <p:stCondLst>
                                    <p:cond delay="0"/>
                                  </p:stCondLst>
                                  <p:childTnLst>
                                    <p:set>
                                      <p:cBhvr>
                                        <p:cTn id="144" dur="1" fill="hold">
                                          <p:stCondLst>
                                            <p:cond delay="0"/>
                                          </p:stCondLst>
                                        </p:cTn>
                                        <p:tgtEl>
                                          <p:spTgt spid="1559457072"/>
                                        </p:tgtEl>
                                        <p:attrNameLst>
                                          <p:attrName>style.visibility</p:attrName>
                                        </p:attrNameLst>
                                      </p:cBhvr>
                                      <p:to>
                                        <p:strVal val="visible"/>
                                      </p:to>
                                    </p:set>
                                    <p:animEffect transition="in" filter="wipe(left)">
                                      <p:cBhvr>
                                        <p:cTn id="145" dur="500"/>
                                        <p:tgtEl>
                                          <p:spTgt spid="1559457072"/>
                                        </p:tgtEl>
                                      </p:cBhvr>
                                    </p:animEffect>
                                  </p:childTnLst>
                                </p:cTn>
                              </p:par>
                            </p:childTnLst>
                          </p:cTn>
                        </p:par>
                      </p:childTnLst>
                    </p:cTn>
                  </p:par>
                  <p:par>
                    <p:cTn id="146" fill="hold">
                      <p:stCondLst>
                        <p:cond delay="indefinite"/>
                      </p:stCondLst>
                      <p:childTnLst>
                        <p:par>
                          <p:cTn id="147" fill="hold">
                            <p:stCondLst>
                              <p:cond delay="0"/>
                            </p:stCondLst>
                            <p:childTnLst>
                              <p:par>
                                <p:cTn id="148" presetID="16" presetClass="entr" presetSubtype="37" fill="hold" grpId="0" nodeType="clickEffect">
                                  <p:stCondLst>
                                    <p:cond delay="0"/>
                                  </p:stCondLst>
                                  <p:childTnLst>
                                    <p:set>
                                      <p:cBhvr>
                                        <p:cTn id="149" dur="1" fill="hold">
                                          <p:stCondLst>
                                            <p:cond delay="0"/>
                                          </p:stCondLst>
                                        </p:cTn>
                                        <p:tgtEl>
                                          <p:spTgt spid="1677097026"/>
                                        </p:tgtEl>
                                        <p:attrNameLst>
                                          <p:attrName>style.visibility</p:attrName>
                                        </p:attrNameLst>
                                      </p:cBhvr>
                                      <p:to>
                                        <p:strVal val="visible"/>
                                      </p:to>
                                    </p:set>
                                    <p:animEffect transition="in" filter="barn(outVertical)">
                                      <p:cBhvr>
                                        <p:cTn id="150" dur="500"/>
                                        <p:tgtEl>
                                          <p:spTgt spid="1677097026"/>
                                        </p:tgtEl>
                                      </p:cBhvr>
                                    </p:animEffect>
                                  </p:childTnLst>
                                </p:cTn>
                              </p:par>
                            </p:childTnLst>
                          </p:cTn>
                        </p:par>
                      </p:childTnLst>
                    </p:cTn>
                  </p:par>
                  <p:par>
                    <p:cTn id="151" fill="hold">
                      <p:stCondLst>
                        <p:cond delay="indefinite"/>
                      </p:stCondLst>
                      <p:childTnLst>
                        <p:par>
                          <p:cTn id="152" fill="hold">
                            <p:stCondLst>
                              <p:cond delay="0"/>
                            </p:stCondLst>
                            <p:childTnLst>
                              <p:par>
                                <p:cTn id="153" presetID="16" presetClass="entr" presetSubtype="37" fill="hold" grpId="0" nodeType="clickEffect">
                                  <p:stCondLst>
                                    <p:cond delay="0"/>
                                  </p:stCondLst>
                                  <p:childTnLst>
                                    <p:set>
                                      <p:cBhvr>
                                        <p:cTn id="154" dur="1" fill="hold">
                                          <p:stCondLst>
                                            <p:cond delay="0"/>
                                          </p:stCondLst>
                                        </p:cTn>
                                        <p:tgtEl>
                                          <p:spTgt spid="1230224267"/>
                                        </p:tgtEl>
                                        <p:attrNameLst>
                                          <p:attrName>style.visibility</p:attrName>
                                        </p:attrNameLst>
                                      </p:cBhvr>
                                      <p:to>
                                        <p:strVal val="visible"/>
                                      </p:to>
                                    </p:set>
                                    <p:animEffect transition="in" filter="barn(outVertical)">
                                      <p:cBhvr>
                                        <p:cTn id="155" dur="500"/>
                                        <p:tgtEl>
                                          <p:spTgt spid="1230224267"/>
                                        </p:tgtEl>
                                      </p:cBhvr>
                                    </p:animEffect>
                                  </p:childTnLst>
                                </p:cTn>
                              </p:par>
                            </p:childTnLst>
                          </p:cTn>
                        </p:par>
                      </p:childTnLst>
                    </p:cTn>
                  </p:par>
                  <p:par>
                    <p:cTn id="156" fill="hold">
                      <p:stCondLst>
                        <p:cond delay="indefinite"/>
                      </p:stCondLst>
                      <p:childTnLst>
                        <p:par>
                          <p:cTn id="157" fill="hold">
                            <p:stCondLst>
                              <p:cond delay="0"/>
                            </p:stCondLst>
                            <p:childTnLst>
                              <p:par>
                                <p:cTn id="158" presetID="16" presetClass="entr" presetSubtype="37" fill="hold" nodeType="clickEffect">
                                  <p:stCondLst>
                                    <p:cond delay="0"/>
                                  </p:stCondLst>
                                  <p:childTnLst>
                                    <p:set>
                                      <p:cBhvr>
                                        <p:cTn id="159" dur="1" fill="hold">
                                          <p:stCondLst>
                                            <p:cond delay="0"/>
                                          </p:stCondLst>
                                        </p:cTn>
                                        <p:tgtEl>
                                          <p:spTgt spid="1230224267">
                                            <p:txEl>
                                              <p:pRg st="0" end="0"/>
                                            </p:txEl>
                                          </p:spTgt>
                                        </p:tgtEl>
                                        <p:attrNameLst>
                                          <p:attrName>style.visibility</p:attrName>
                                        </p:attrNameLst>
                                      </p:cBhvr>
                                      <p:to>
                                        <p:strVal val="visible"/>
                                      </p:to>
                                    </p:set>
                                    <p:animEffect transition="in" filter="barn(outVertical)">
                                      <p:cBhvr>
                                        <p:cTn id="160" dur="500"/>
                                        <p:tgtEl>
                                          <p:spTgt spid="12302242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339127" grpId="0"/>
      <p:bldP spid="659339127" grpId="1"/>
      <p:bldP spid="659339127" grpId="2"/>
      <p:bldP spid="388258600" grpId="0"/>
      <p:bldP spid="388258600" grpId="1"/>
      <p:bldP spid="388258600" grpId="2"/>
      <p:bldP spid="388258600" grpId="3"/>
      <p:bldP spid="388258600" grpId="4"/>
      <p:bldP spid="243077567" grpId="0"/>
      <p:bldP spid="243077567" grpId="1"/>
      <p:bldP spid="8903380" grpId="0"/>
      <p:bldP spid="1817703640" grpId="0"/>
      <p:bldP spid="1740080663" grpId="0"/>
      <p:bldP spid="409260350" grpId="0"/>
      <p:bldP spid="409260350" grpId="1"/>
      <p:bldP spid="1844316766" grpId="0"/>
      <p:bldP spid="767311989" grpId="0"/>
      <p:bldP spid="1950230757" grpId="0"/>
      <p:bldP spid="1002966640" grpId="0"/>
      <p:bldP spid="718264886" grpId="0"/>
      <p:bldP spid="995930855" grpId="0"/>
      <p:bldP spid="1859558730" grpId="0"/>
      <p:bldP spid="249737435" grpId="0"/>
      <p:bldP spid="145253823" grpId="0"/>
      <p:bldP spid="2005514916" grpId="0"/>
      <p:bldP spid="1559457072" grpId="0" animBg="1"/>
      <p:bldP spid="1559457072" grpId="1" animBg="1"/>
      <p:bldP spid="1559457072" grpId="2" animBg="1"/>
      <p:bldP spid="1131443015" grpId="0"/>
      <p:bldP spid="7364805" grpId="0"/>
      <p:bldP spid="595811773" grpId="0"/>
      <p:bldP spid="989024319" grpId="0"/>
      <p:bldP spid="1677097026" grpId="0"/>
      <p:bldP spid="1230224267" grpId="0"/>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1920131" name="Title 6"/>
          <p:cNvSpPr>
            <a:spLocks noGrp="1"/>
          </p:cNvSpPr>
          <p:nvPr>
            <p:ph type="title"/>
          </p:nvPr>
        </p:nvSpPr>
        <p:spPr bwMode="auto"/>
        <p:txBody>
          <a:bodyPr/>
          <a:lstStyle/>
          <a:p>
            <a:pPr>
              <a:defRPr/>
            </a:pPr>
            <a:r>
              <a:rPr lang="en-US"/>
              <a:t>Circular Queue - Introduction</a:t>
            </a:r>
            <a:endParaRPr lang="en-IN"/>
          </a:p>
        </p:txBody>
      </p:sp>
      <p:graphicFrame>
        <p:nvGraphicFramePr>
          <p:cNvPr id="788476453" name="Content Placeholder 4"/>
          <p:cNvGraphicFramePr>
            <a:graphicFrameLocks xmlns:a="http://schemas.openxmlformats.org/drawingml/2006/main"/>
          </p:cNvGraphicFramePr>
          <p:nvPr/>
        </p:nvGraphicFramePr>
        <p:xfrm rot="0">
          <a:off x="1114541" y="2912328"/>
          <a:ext cx="3745150" cy="1108954"/>
        </p:xfrm>
        <a:graphic>
          <a:graphicData uri="http://schemas.openxmlformats.org/drawingml/2006/table">
            <a:tbl>
              <a:tblPr firstRow="1" firstCol="0" lastRow="0" lastCol="0" bandRow="1" bandCol="0">
                <a:tableStyleId>{9D7B26C5-4107-4FEC-AEDC-1716B250A1EF}</a:tableStyleId>
              </a:tblPr>
              <a:tblGrid>
                <a:gridCol w="749030"/>
                <a:gridCol w="749030"/>
                <a:gridCol w="749030"/>
                <a:gridCol w="749030"/>
                <a:gridCol w="749030"/>
              </a:tblGrid>
              <a:tr h="554477">
                <a:tc>
                  <a:txBody>
                    <a:bodyPr/>
                    <a:p>
                      <a:pPr algn="ctr">
                        <a:defRPr/>
                      </a:pPr>
                      <a:r>
                        <a:rPr lang="en-US"/>
                        <a:t>0</a:t>
                      </a:r>
                      <a:endParaRPr lang="en-IN"/>
                    </a:p>
                  </a:txBody>
                  <a:tcPr anchor="ctr"/>
                </a:tc>
                <a:tc>
                  <a:txBody>
                    <a:bodyPr/>
                    <a:p>
                      <a:pPr algn="ctr">
                        <a:defRPr/>
                      </a:pPr>
                      <a:r>
                        <a:rPr lang="en-US"/>
                        <a:t>1</a:t>
                      </a:r>
                      <a:endParaRPr lang="en-IN"/>
                    </a:p>
                  </a:txBody>
                  <a:tcPr anchor="ctr"/>
                </a:tc>
                <a:tc>
                  <a:txBody>
                    <a:bodyPr/>
                    <a:p>
                      <a:pPr algn="ctr">
                        <a:defRPr/>
                      </a:pPr>
                      <a:r>
                        <a:rPr lang="en-US"/>
                        <a:t>2</a:t>
                      </a:r>
                      <a:endParaRPr lang="en-IN"/>
                    </a:p>
                  </a:txBody>
                  <a:tcPr anchor="ctr"/>
                </a:tc>
                <a:tc>
                  <a:txBody>
                    <a:bodyPr/>
                    <a:p>
                      <a:pPr algn="ctr">
                        <a:defRPr/>
                      </a:pPr>
                      <a:r>
                        <a:rPr lang="en-US"/>
                        <a:t>3</a:t>
                      </a:r>
                      <a:endParaRPr lang="en-IN"/>
                    </a:p>
                  </a:txBody>
                  <a:tcPr anchor="ctr"/>
                </a:tc>
                <a:tc>
                  <a:txBody>
                    <a:bodyPr/>
                    <a:p>
                      <a:pPr algn="ctr">
                        <a:defRPr/>
                      </a:pPr>
                      <a:r>
                        <a:rPr lang="en-US"/>
                        <a:t>4</a:t>
                      </a:r>
                      <a:endParaRPr lang="en-IN"/>
                    </a:p>
                  </a:txBody>
                  <a:tcPr anchor="ctr"/>
                </a:tc>
              </a:tr>
              <a:tr h="554477">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r>
            </a:tbl>
          </a:graphicData>
        </a:graphic>
      </p:graphicFrame>
      <p:sp>
        <p:nvSpPr>
          <p:cNvPr id="1324471397" name="TextBox 9"/>
          <p:cNvSpPr txBox="1"/>
          <p:nvPr/>
        </p:nvSpPr>
        <p:spPr bwMode="auto">
          <a:xfrm>
            <a:off x="395662" y="3452655"/>
            <a:ext cx="689612" cy="461665"/>
          </a:xfrm>
          <a:prstGeom prst="rect">
            <a:avLst/>
          </a:prstGeom>
          <a:noFill/>
        </p:spPr>
        <p:txBody>
          <a:bodyPr wrap="none" rtlCol="0">
            <a:spAutoFit/>
          </a:bodyPr>
          <a:lstStyle/>
          <a:p>
            <a:pPr>
              <a:defRPr/>
            </a:pPr>
            <a:r>
              <a:rPr lang="en-US" sz="2400" b="1">
                <a:solidFill>
                  <a:schemeClr val="accent6"/>
                </a:solidFill>
              </a:rPr>
              <a:t>Q[] :</a:t>
            </a:r>
            <a:endParaRPr lang="en-IN" sz="2400" b="1">
              <a:solidFill>
                <a:schemeClr val="accent6"/>
              </a:solidFill>
            </a:endParaRPr>
          </a:p>
        </p:txBody>
      </p:sp>
      <p:sp>
        <p:nvSpPr>
          <p:cNvPr id="1192521622" name="Oval 5"/>
          <p:cNvSpPr/>
          <p:nvPr/>
        </p:nvSpPr>
        <p:spPr bwMode="auto">
          <a:xfrm>
            <a:off x="8372743" y="1356174"/>
            <a:ext cx="3588687" cy="3247202"/>
          </a:xfrm>
          <a:prstGeom prst="ellipse">
            <a:avLst/>
          </a:prstGeom>
          <a:solidFill>
            <a:schemeClr val="tx1">
              <a:lumMod val="25000"/>
              <a:lumOff val="75000"/>
            </a:schemeClr>
          </a:solidFill>
          <a:ln>
            <a:solidFill>
              <a:srgbClr val="1D30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867292209" name="Oval 3"/>
          <p:cNvSpPr/>
          <p:nvPr/>
        </p:nvSpPr>
        <p:spPr bwMode="auto">
          <a:xfrm>
            <a:off x="8980745" y="1913427"/>
            <a:ext cx="2372685" cy="2105177"/>
          </a:xfrm>
          <a:prstGeom prst="ellipse">
            <a:avLst/>
          </a:prstGeom>
          <a:solidFill>
            <a:schemeClr val="bg1"/>
          </a:solidFill>
          <a:ln>
            <a:solidFill>
              <a:srgbClr val="1D30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cxnSp>
        <p:nvCxnSpPr>
          <p:cNvPr id="213304931" name="Straight Connector 14"/>
          <p:cNvCxnSpPr/>
          <p:nvPr/>
        </p:nvCxnSpPr>
        <p:spPr bwMode="auto">
          <a:xfrm>
            <a:off x="10233818" y="1356174"/>
            <a:ext cx="0" cy="557253"/>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3070956" name="Straight Connector 18"/>
          <p:cNvCxnSpPr/>
          <p:nvPr/>
        </p:nvCxnSpPr>
        <p:spPr bwMode="auto">
          <a:xfrm flipH="1">
            <a:off x="8787437" y="3777816"/>
            <a:ext cx="593694" cy="267388"/>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66202169" name="Straight Connector 21"/>
          <p:cNvCxnSpPr/>
          <p:nvPr/>
        </p:nvCxnSpPr>
        <p:spPr bwMode="auto">
          <a:xfrm flipV="1">
            <a:off x="11302477" y="2670190"/>
            <a:ext cx="608942" cy="65296"/>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42030234" name="Straight Connector 27"/>
          <p:cNvCxnSpPr/>
          <p:nvPr/>
        </p:nvCxnSpPr>
        <p:spPr bwMode="auto">
          <a:xfrm>
            <a:off x="10779268" y="3844625"/>
            <a:ext cx="433280" cy="504204"/>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28751443" name="Straight Connector 32"/>
          <p:cNvCxnSpPr/>
          <p:nvPr/>
        </p:nvCxnSpPr>
        <p:spPr bwMode="auto">
          <a:xfrm flipH="1" flipV="1">
            <a:off x="8422755" y="2333086"/>
            <a:ext cx="661529" cy="199986"/>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28378669" name="TextBox 59"/>
          <p:cNvSpPr txBox="1"/>
          <p:nvPr/>
        </p:nvSpPr>
        <p:spPr bwMode="auto">
          <a:xfrm>
            <a:off x="2821846" y="2379000"/>
            <a:ext cx="330540" cy="461665"/>
          </a:xfrm>
          <a:prstGeom prst="rect">
            <a:avLst/>
          </a:prstGeom>
          <a:noFill/>
        </p:spPr>
        <p:txBody>
          <a:bodyPr wrap="none" rtlCol="0">
            <a:spAutoFit/>
          </a:bodyPr>
          <a:lstStyle/>
          <a:p>
            <a:pPr>
              <a:defRPr/>
            </a:pPr>
            <a:r>
              <a:rPr lang="en-US" sz="2400" b="1">
                <a:solidFill>
                  <a:schemeClr val="accent6"/>
                </a:solidFill>
              </a:rPr>
              <a:t>F</a:t>
            </a:r>
            <a:endParaRPr lang="en-IN" sz="2400" b="1">
              <a:solidFill>
                <a:schemeClr val="accent6"/>
              </a:solidFill>
            </a:endParaRPr>
          </a:p>
        </p:txBody>
      </p:sp>
      <p:sp>
        <p:nvSpPr>
          <p:cNvPr id="445161336" name="TextBox 60"/>
          <p:cNvSpPr txBox="1"/>
          <p:nvPr/>
        </p:nvSpPr>
        <p:spPr bwMode="auto">
          <a:xfrm>
            <a:off x="4354670" y="4018604"/>
            <a:ext cx="354584" cy="461665"/>
          </a:xfrm>
          <a:prstGeom prst="rect">
            <a:avLst/>
          </a:prstGeom>
          <a:noFill/>
        </p:spPr>
        <p:txBody>
          <a:bodyPr wrap="none" rtlCol="0">
            <a:spAutoFit/>
          </a:bodyPr>
          <a:lstStyle/>
          <a:p>
            <a:pPr>
              <a:defRPr/>
            </a:pPr>
            <a:r>
              <a:rPr lang="en-US" sz="2400" b="1">
                <a:solidFill>
                  <a:schemeClr val="accent6"/>
                </a:solidFill>
              </a:rPr>
              <a:t>R</a:t>
            </a:r>
            <a:endParaRPr lang="en-IN" sz="2400" b="1">
              <a:solidFill>
                <a:schemeClr val="accent6"/>
              </a:solidFill>
            </a:endParaRPr>
          </a:p>
        </p:txBody>
      </p:sp>
      <p:sp>
        <p:nvSpPr>
          <p:cNvPr id="954618557" name="TextBox 62"/>
          <p:cNvSpPr txBox="1"/>
          <p:nvPr/>
        </p:nvSpPr>
        <p:spPr bwMode="auto">
          <a:xfrm>
            <a:off x="-10137" y="711681"/>
            <a:ext cx="2447233" cy="553998"/>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pPr>
              <a:defRPr/>
            </a:pPr>
            <a:r>
              <a:rPr lang="en-IN"/>
              <a:t>Simple Queue</a:t>
            </a:r>
            <a:endParaRPr/>
          </a:p>
        </p:txBody>
      </p:sp>
      <p:sp>
        <p:nvSpPr>
          <p:cNvPr id="791509978" name="TextBox 63"/>
          <p:cNvSpPr txBox="1"/>
          <p:nvPr/>
        </p:nvSpPr>
        <p:spPr bwMode="auto">
          <a:xfrm>
            <a:off x="6061866" y="711225"/>
            <a:ext cx="2447233" cy="553998"/>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pPr>
              <a:defRPr/>
            </a:pPr>
            <a:r>
              <a:rPr lang="en-IN"/>
              <a:t>Circular Queue</a:t>
            </a:r>
            <a:endParaRPr/>
          </a:p>
        </p:txBody>
      </p:sp>
      <p:sp>
        <p:nvSpPr>
          <p:cNvPr id="594121844" name="TextBox 71"/>
          <p:cNvSpPr txBox="1"/>
          <p:nvPr/>
        </p:nvSpPr>
        <p:spPr bwMode="auto">
          <a:xfrm>
            <a:off x="2721253" y="3518166"/>
            <a:ext cx="495649" cy="461665"/>
          </a:xfrm>
          <a:prstGeom prst="rect">
            <a:avLst/>
          </a:prstGeom>
          <a:noFill/>
        </p:spPr>
        <p:txBody>
          <a:bodyPr wrap="none" rtlCol="0">
            <a:spAutoFit/>
          </a:bodyPr>
          <a:lstStyle/>
          <a:p>
            <a:pPr>
              <a:defRPr/>
            </a:pPr>
            <a:r>
              <a:rPr lang="en-US" sz="2400" b="1"/>
              <a:t>30</a:t>
            </a:r>
            <a:endParaRPr lang="en-IN" sz="2400" b="1"/>
          </a:p>
        </p:txBody>
      </p:sp>
      <p:sp>
        <p:nvSpPr>
          <p:cNvPr id="1809005980" name="TextBox 73"/>
          <p:cNvSpPr txBox="1"/>
          <p:nvPr/>
        </p:nvSpPr>
        <p:spPr bwMode="auto">
          <a:xfrm>
            <a:off x="3462475" y="3523271"/>
            <a:ext cx="495649" cy="461665"/>
          </a:xfrm>
          <a:prstGeom prst="rect">
            <a:avLst/>
          </a:prstGeom>
          <a:noFill/>
        </p:spPr>
        <p:txBody>
          <a:bodyPr wrap="none" rtlCol="0">
            <a:spAutoFit/>
          </a:bodyPr>
          <a:lstStyle/>
          <a:p>
            <a:pPr>
              <a:defRPr/>
            </a:pPr>
            <a:r>
              <a:rPr lang="en-US" sz="2400" b="1"/>
              <a:t>40</a:t>
            </a:r>
            <a:endParaRPr lang="en-IN" sz="2400" b="1"/>
          </a:p>
        </p:txBody>
      </p:sp>
      <p:sp>
        <p:nvSpPr>
          <p:cNvPr id="588187737" name="TextBox 75"/>
          <p:cNvSpPr txBox="1"/>
          <p:nvPr/>
        </p:nvSpPr>
        <p:spPr bwMode="auto">
          <a:xfrm>
            <a:off x="4203697" y="3518166"/>
            <a:ext cx="495649" cy="461665"/>
          </a:xfrm>
          <a:prstGeom prst="rect">
            <a:avLst/>
          </a:prstGeom>
          <a:noFill/>
        </p:spPr>
        <p:txBody>
          <a:bodyPr wrap="none" rtlCol="0">
            <a:spAutoFit/>
          </a:bodyPr>
          <a:lstStyle/>
          <a:p>
            <a:pPr>
              <a:defRPr/>
            </a:pPr>
            <a:r>
              <a:rPr lang="en-US" sz="2400" b="1"/>
              <a:t>50</a:t>
            </a:r>
            <a:endParaRPr lang="en-IN" sz="2400" b="1"/>
          </a:p>
        </p:txBody>
      </p:sp>
      <p:sp>
        <p:nvSpPr>
          <p:cNvPr id="2123211522" name="TextBox 77"/>
          <p:cNvSpPr txBox="1"/>
          <p:nvPr/>
        </p:nvSpPr>
        <p:spPr bwMode="auto">
          <a:xfrm>
            <a:off x="1177631" y="4947093"/>
            <a:ext cx="2780493" cy="369332"/>
          </a:xfrm>
          <a:prstGeom prst="rect">
            <a:avLst/>
          </a:prstGeom>
          <a:solidFill>
            <a:srgbClr val="FFFFCC"/>
          </a:solidFill>
        </p:spPr>
        <p:txBody>
          <a:bodyPr wrap="square" rtlCol="0">
            <a:spAutoFit/>
          </a:bodyPr>
          <a:lstStyle/>
          <a:p>
            <a:pPr algn="ctr">
              <a:defRPr/>
            </a:pPr>
            <a:r>
              <a:rPr lang="en-IN" b="1">
                <a:solidFill>
                  <a:schemeClr val="accent6"/>
                </a:solidFill>
              </a:rPr>
              <a:t>Queue Overflow</a:t>
            </a:r>
            <a:endParaRPr/>
          </a:p>
        </p:txBody>
      </p:sp>
      <p:sp>
        <p:nvSpPr>
          <p:cNvPr id="1636595753" name="TextBox 78"/>
          <p:cNvSpPr txBox="1"/>
          <p:nvPr/>
        </p:nvSpPr>
        <p:spPr bwMode="auto">
          <a:xfrm flipH="1">
            <a:off x="4649049" y="4585509"/>
            <a:ext cx="1292684" cy="369332"/>
          </a:xfrm>
          <a:prstGeom prst="rect">
            <a:avLst/>
          </a:prstGeom>
          <a:noFill/>
        </p:spPr>
        <p:txBody>
          <a:bodyPr wrap="square" rtlCol="0">
            <a:spAutoFit/>
          </a:bodyPr>
          <a:lstStyle/>
          <a:p>
            <a:pPr>
              <a:defRPr/>
            </a:pPr>
            <a:r>
              <a:rPr lang="en-IN" b="1"/>
              <a:t>Dequeue()</a:t>
            </a:r>
            <a:endParaRPr/>
          </a:p>
        </p:txBody>
      </p:sp>
      <p:sp>
        <p:nvSpPr>
          <p:cNvPr id="1017377827" name="TextBox 79"/>
          <p:cNvSpPr txBox="1"/>
          <p:nvPr/>
        </p:nvSpPr>
        <p:spPr bwMode="auto">
          <a:xfrm flipH="1">
            <a:off x="4649049" y="4888280"/>
            <a:ext cx="1292684" cy="369332"/>
          </a:xfrm>
          <a:prstGeom prst="rect">
            <a:avLst/>
          </a:prstGeom>
          <a:noFill/>
        </p:spPr>
        <p:txBody>
          <a:bodyPr wrap="square" rtlCol="0">
            <a:spAutoFit/>
          </a:bodyPr>
          <a:lstStyle/>
          <a:p>
            <a:pPr>
              <a:defRPr/>
            </a:pPr>
            <a:r>
              <a:rPr lang="en-IN" b="1"/>
              <a:t>Dequeue()</a:t>
            </a:r>
            <a:endParaRPr/>
          </a:p>
        </p:txBody>
      </p:sp>
      <p:sp>
        <p:nvSpPr>
          <p:cNvPr id="1667034162" name="TextBox 80"/>
          <p:cNvSpPr txBox="1"/>
          <p:nvPr/>
        </p:nvSpPr>
        <p:spPr bwMode="auto">
          <a:xfrm flipH="1">
            <a:off x="4637727" y="5158456"/>
            <a:ext cx="1470239" cy="369332"/>
          </a:xfrm>
          <a:prstGeom prst="rect">
            <a:avLst/>
          </a:prstGeom>
          <a:noFill/>
        </p:spPr>
        <p:txBody>
          <a:bodyPr wrap="square" rtlCol="0">
            <a:spAutoFit/>
          </a:bodyPr>
          <a:lstStyle/>
          <a:p>
            <a:pPr>
              <a:defRPr/>
            </a:pPr>
            <a:r>
              <a:rPr lang="en-IN" b="1"/>
              <a:t>Enqueue(70)</a:t>
            </a:r>
            <a:endParaRPr/>
          </a:p>
        </p:txBody>
      </p:sp>
      <p:sp>
        <p:nvSpPr>
          <p:cNvPr id="171493437" name="TextBox 81"/>
          <p:cNvSpPr txBox="1"/>
          <p:nvPr/>
        </p:nvSpPr>
        <p:spPr bwMode="auto">
          <a:xfrm>
            <a:off x="11502028" y="1548268"/>
            <a:ext cx="327334" cy="430887"/>
          </a:xfrm>
          <a:prstGeom prst="rect">
            <a:avLst/>
          </a:prstGeom>
          <a:noFill/>
        </p:spPr>
        <p:txBody>
          <a:bodyPr wrap="none" rtlCol="0">
            <a:spAutoFit/>
          </a:bodyPr>
          <a:lstStyle/>
          <a:p>
            <a:pPr>
              <a:defRPr/>
            </a:pPr>
            <a:r>
              <a:rPr lang="en-IN" sz="2200" b="1"/>
              <a:t>0</a:t>
            </a:r>
            <a:endParaRPr/>
          </a:p>
        </p:txBody>
      </p:sp>
      <p:sp>
        <p:nvSpPr>
          <p:cNvPr id="1872993223" name="TextBox 82"/>
          <p:cNvSpPr txBox="1"/>
          <p:nvPr/>
        </p:nvSpPr>
        <p:spPr bwMode="auto">
          <a:xfrm rot="10800000" flipH="1" flipV="1">
            <a:off x="11856772" y="3395693"/>
            <a:ext cx="407054" cy="430887"/>
          </a:xfrm>
          <a:prstGeom prst="rect">
            <a:avLst/>
          </a:prstGeom>
          <a:noFill/>
        </p:spPr>
        <p:txBody>
          <a:bodyPr wrap="square" rtlCol="0">
            <a:spAutoFit/>
          </a:bodyPr>
          <a:lstStyle/>
          <a:p>
            <a:pPr>
              <a:defRPr/>
            </a:pPr>
            <a:r>
              <a:rPr lang="en-IN" sz="2200" b="1"/>
              <a:t>1</a:t>
            </a:r>
            <a:endParaRPr/>
          </a:p>
        </p:txBody>
      </p:sp>
      <p:sp>
        <p:nvSpPr>
          <p:cNvPr id="1734072367" name="TextBox 83"/>
          <p:cNvSpPr txBox="1"/>
          <p:nvPr/>
        </p:nvSpPr>
        <p:spPr bwMode="auto">
          <a:xfrm rot="10800000" flipH="1" flipV="1">
            <a:off x="10077617" y="4557770"/>
            <a:ext cx="407054" cy="430887"/>
          </a:xfrm>
          <a:prstGeom prst="rect">
            <a:avLst/>
          </a:prstGeom>
          <a:noFill/>
        </p:spPr>
        <p:txBody>
          <a:bodyPr wrap="square" rtlCol="0">
            <a:spAutoFit/>
          </a:bodyPr>
          <a:lstStyle/>
          <a:p>
            <a:pPr>
              <a:defRPr/>
            </a:pPr>
            <a:r>
              <a:rPr lang="en-IN" sz="2200" b="1"/>
              <a:t>2</a:t>
            </a:r>
            <a:endParaRPr/>
          </a:p>
        </p:txBody>
      </p:sp>
      <p:sp>
        <p:nvSpPr>
          <p:cNvPr id="1717404210" name="TextBox 85"/>
          <p:cNvSpPr txBox="1"/>
          <p:nvPr/>
        </p:nvSpPr>
        <p:spPr bwMode="auto">
          <a:xfrm rot="10800000" flipH="1" flipV="1">
            <a:off x="8118493" y="3063331"/>
            <a:ext cx="407054" cy="430887"/>
          </a:xfrm>
          <a:prstGeom prst="rect">
            <a:avLst/>
          </a:prstGeom>
          <a:noFill/>
        </p:spPr>
        <p:txBody>
          <a:bodyPr wrap="square" rtlCol="0">
            <a:spAutoFit/>
          </a:bodyPr>
          <a:lstStyle/>
          <a:p>
            <a:pPr>
              <a:defRPr/>
            </a:pPr>
            <a:r>
              <a:rPr lang="en-IN" sz="2200" b="1"/>
              <a:t>3</a:t>
            </a:r>
            <a:endParaRPr/>
          </a:p>
        </p:txBody>
      </p:sp>
      <p:sp>
        <p:nvSpPr>
          <p:cNvPr id="1508129553" name="TextBox 86"/>
          <p:cNvSpPr txBox="1"/>
          <p:nvPr/>
        </p:nvSpPr>
        <p:spPr bwMode="auto">
          <a:xfrm rot="10800000" flipH="1" flipV="1">
            <a:off x="8829413" y="1304112"/>
            <a:ext cx="407054" cy="430887"/>
          </a:xfrm>
          <a:prstGeom prst="rect">
            <a:avLst/>
          </a:prstGeom>
          <a:noFill/>
        </p:spPr>
        <p:txBody>
          <a:bodyPr wrap="square" rtlCol="0">
            <a:spAutoFit/>
          </a:bodyPr>
          <a:lstStyle/>
          <a:p>
            <a:pPr>
              <a:defRPr/>
            </a:pPr>
            <a:r>
              <a:rPr lang="en-IN" sz="2200" b="1"/>
              <a:t>4</a:t>
            </a:r>
            <a:endParaRPr/>
          </a:p>
        </p:txBody>
      </p:sp>
      <p:sp>
        <p:nvSpPr>
          <p:cNvPr id="1811729589" name="TextBox 91"/>
          <p:cNvSpPr txBox="1"/>
          <p:nvPr/>
        </p:nvSpPr>
        <p:spPr bwMode="auto">
          <a:xfrm flipH="1">
            <a:off x="6123458" y="3175783"/>
            <a:ext cx="1900321" cy="369332"/>
          </a:xfrm>
          <a:prstGeom prst="rect">
            <a:avLst/>
          </a:prstGeom>
          <a:noFill/>
        </p:spPr>
        <p:txBody>
          <a:bodyPr wrap="square" rtlCol="0">
            <a:spAutoFit/>
          </a:bodyPr>
          <a:lstStyle/>
          <a:p>
            <a:pPr>
              <a:defRPr/>
            </a:pPr>
            <a:r>
              <a:rPr lang="en-IN" b="1"/>
              <a:t>Enqueue(10)</a:t>
            </a:r>
            <a:endParaRPr/>
          </a:p>
        </p:txBody>
      </p:sp>
      <p:sp>
        <p:nvSpPr>
          <p:cNvPr id="2050258051" name="TextBox 92"/>
          <p:cNvSpPr txBox="1"/>
          <p:nvPr/>
        </p:nvSpPr>
        <p:spPr bwMode="auto">
          <a:xfrm>
            <a:off x="6156262" y="1339472"/>
            <a:ext cx="1732568" cy="892552"/>
          </a:xfrm>
          <a:prstGeom prst="rect">
            <a:avLst/>
          </a:prstGeom>
          <a:noFill/>
        </p:spPr>
        <p:txBody>
          <a:bodyPr wrap="square" rtlCol="0">
            <a:spAutoFit/>
          </a:bodyPr>
          <a:lstStyle/>
          <a:p>
            <a:pPr>
              <a:defRPr/>
            </a:pPr>
            <a:r>
              <a:rPr lang="en-US" sz="2600" b="1">
                <a:solidFill>
                  <a:schemeClr val="accent6"/>
                </a:solidFill>
              </a:rPr>
              <a:t>N = 5</a:t>
            </a:r>
            <a:endParaRPr/>
          </a:p>
          <a:p>
            <a:pPr>
              <a:defRPr/>
            </a:pPr>
            <a:r>
              <a:rPr lang="en-US" sz="2600" b="1">
                <a:solidFill>
                  <a:schemeClr val="accent6"/>
                </a:solidFill>
              </a:rPr>
              <a:t>F = R = -1</a:t>
            </a:r>
            <a:endParaRPr lang="en-IN" sz="2600" b="1">
              <a:solidFill>
                <a:schemeClr val="accent6"/>
              </a:solidFill>
            </a:endParaRPr>
          </a:p>
        </p:txBody>
      </p:sp>
      <p:sp>
        <p:nvSpPr>
          <p:cNvPr id="299941631" name="TextBox 93"/>
          <p:cNvSpPr txBox="1"/>
          <p:nvPr/>
        </p:nvSpPr>
        <p:spPr bwMode="auto">
          <a:xfrm>
            <a:off x="10899675" y="1763211"/>
            <a:ext cx="495649" cy="461665"/>
          </a:xfrm>
          <a:prstGeom prst="rect">
            <a:avLst/>
          </a:prstGeom>
          <a:noFill/>
        </p:spPr>
        <p:txBody>
          <a:bodyPr wrap="none" rtlCol="0">
            <a:spAutoFit/>
          </a:bodyPr>
          <a:lstStyle/>
          <a:p>
            <a:pPr>
              <a:defRPr/>
            </a:pPr>
            <a:r>
              <a:rPr lang="en-US" sz="2400" b="1"/>
              <a:t>10</a:t>
            </a:r>
            <a:endParaRPr lang="en-IN" sz="2400" b="1"/>
          </a:p>
        </p:txBody>
      </p:sp>
      <p:sp>
        <p:nvSpPr>
          <p:cNvPr id="132362290" name="TextBox 96"/>
          <p:cNvSpPr txBox="1"/>
          <p:nvPr/>
        </p:nvSpPr>
        <p:spPr bwMode="auto">
          <a:xfrm flipH="1">
            <a:off x="6123458" y="3442802"/>
            <a:ext cx="1900321" cy="369332"/>
          </a:xfrm>
          <a:prstGeom prst="rect">
            <a:avLst/>
          </a:prstGeom>
          <a:noFill/>
        </p:spPr>
        <p:txBody>
          <a:bodyPr wrap="square" rtlCol="0">
            <a:spAutoFit/>
          </a:bodyPr>
          <a:lstStyle/>
          <a:p>
            <a:pPr>
              <a:defRPr/>
            </a:pPr>
            <a:r>
              <a:rPr lang="en-IN" b="1"/>
              <a:t>Enqueue(20)</a:t>
            </a:r>
            <a:endParaRPr/>
          </a:p>
        </p:txBody>
      </p:sp>
      <p:sp>
        <p:nvSpPr>
          <p:cNvPr id="1493292839" name="TextBox 97"/>
          <p:cNvSpPr txBox="1"/>
          <p:nvPr/>
        </p:nvSpPr>
        <p:spPr bwMode="auto">
          <a:xfrm>
            <a:off x="11300531" y="3180801"/>
            <a:ext cx="495649" cy="461665"/>
          </a:xfrm>
          <a:prstGeom prst="rect">
            <a:avLst/>
          </a:prstGeom>
          <a:noFill/>
        </p:spPr>
        <p:txBody>
          <a:bodyPr wrap="none" rtlCol="0">
            <a:spAutoFit/>
          </a:bodyPr>
          <a:lstStyle/>
          <a:p>
            <a:pPr>
              <a:defRPr/>
            </a:pPr>
            <a:r>
              <a:rPr lang="en-US" sz="2400" b="1"/>
              <a:t>20</a:t>
            </a:r>
            <a:endParaRPr lang="en-IN" sz="2400" b="1"/>
          </a:p>
        </p:txBody>
      </p:sp>
      <p:sp>
        <p:nvSpPr>
          <p:cNvPr id="1739292264" name="TextBox 99"/>
          <p:cNvSpPr txBox="1"/>
          <p:nvPr/>
        </p:nvSpPr>
        <p:spPr bwMode="auto">
          <a:xfrm flipH="1">
            <a:off x="6123458" y="3709821"/>
            <a:ext cx="1900321" cy="369332"/>
          </a:xfrm>
          <a:prstGeom prst="rect">
            <a:avLst/>
          </a:prstGeom>
          <a:noFill/>
        </p:spPr>
        <p:txBody>
          <a:bodyPr wrap="square" rtlCol="0">
            <a:spAutoFit/>
          </a:bodyPr>
          <a:lstStyle/>
          <a:p>
            <a:pPr>
              <a:defRPr/>
            </a:pPr>
            <a:r>
              <a:rPr lang="en-IN" b="1"/>
              <a:t>Enqueue(30)</a:t>
            </a:r>
            <a:endParaRPr/>
          </a:p>
        </p:txBody>
      </p:sp>
      <p:sp>
        <p:nvSpPr>
          <p:cNvPr id="467989667" name="TextBox 100"/>
          <p:cNvSpPr txBox="1"/>
          <p:nvPr/>
        </p:nvSpPr>
        <p:spPr bwMode="auto">
          <a:xfrm>
            <a:off x="9793838" y="4103520"/>
            <a:ext cx="495649" cy="461665"/>
          </a:xfrm>
          <a:prstGeom prst="rect">
            <a:avLst/>
          </a:prstGeom>
          <a:noFill/>
        </p:spPr>
        <p:txBody>
          <a:bodyPr wrap="none" rtlCol="0">
            <a:spAutoFit/>
          </a:bodyPr>
          <a:lstStyle/>
          <a:p>
            <a:pPr>
              <a:defRPr/>
            </a:pPr>
            <a:r>
              <a:rPr lang="en-US" sz="2400" b="1">
                <a:ln w="0"/>
              </a:rPr>
              <a:t>30</a:t>
            </a:r>
            <a:endParaRPr lang="en-IN" sz="2400" b="1">
              <a:ln w="0"/>
            </a:endParaRPr>
          </a:p>
        </p:txBody>
      </p:sp>
      <p:sp>
        <p:nvSpPr>
          <p:cNvPr id="1200255519" name="TextBox 102"/>
          <p:cNvSpPr txBox="1"/>
          <p:nvPr/>
        </p:nvSpPr>
        <p:spPr bwMode="auto">
          <a:xfrm flipH="1">
            <a:off x="6123458" y="3976840"/>
            <a:ext cx="1900321" cy="369332"/>
          </a:xfrm>
          <a:prstGeom prst="rect">
            <a:avLst/>
          </a:prstGeom>
          <a:noFill/>
        </p:spPr>
        <p:txBody>
          <a:bodyPr wrap="square" rtlCol="0">
            <a:spAutoFit/>
          </a:bodyPr>
          <a:lstStyle/>
          <a:p>
            <a:pPr>
              <a:defRPr/>
            </a:pPr>
            <a:r>
              <a:rPr lang="en-IN" b="1"/>
              <a:t>Enqueue(40)</a:t>
            </a:r>
            <a:endParaRPr/>
          </a:p>
        </p:txBody>
      </p:sp>
      <p:sp>
        <p:nvSpPr>
          <p:cNvPr id="576519853" name="TextBox 103"/>
          <p:cNvSpPr txBox="1"/>
          <p:nvPr/>
        </p:nvSpPr>
        <p:spPr bwMode="auto">
          <a:xfrm>
            <a:off x="8490964" y="2952731"/>
            <a:ext cx="495649" cy="461665"/>
          </a:xfrm>
          <a:prstGeom prst="rect">
            <a:avLst/>
          </a:prstGeom>
          <a:noFill/>
        </p:spPr>
        <p:txBody>
          <a:bodyPr wrap="none" rtlCol="0">
            <a:spAutoFit/>
          </a:bodyPr>
          <a:lstStyle/>
          <a:p>
            <a:pPr>
              <a:defRPr/>
            </a:pPr>
            <a:r>
              <a:rPr lang="en-US" sz="2400" b="1">
                <a:ln w="0"/>
              </a:rPr>
              <a:t>40</a:t>
            </a:r>
            <a:endParaRPr lang="en-IN" sz="2400" b="1">
              <a:ln w="0"/>
            </a:endParaRPr>
          </a:p>
        </p:txBody>
      </p:sp>
      <p:sp>
        <p:nvSpPr>
          <p:cNvPr id="1206052345" name="TextBox 105"/>
          <p:cNvSpPr txBox="1"/>
          <p:nvPr/>
        </p:nvSpPr>
        <p:spPr bwMode="auto">
          <a:xfrm flipH="1">
            <a:off x="6123458" y="4243859"/>
            <a:ext cx="1900321" cy="369332"/>
          </a:xfrm>
          <a:prstGeom prst="rect">
            <a:avLst/>
          </a:prstGeom>
          <a:noFill/>
        </p:spPr>
        <p:txBody>
          <a:bodyPr wrap="square" rtlCol="0">
            <a:spAutoFit/>
          </a:bodyPr>
          <a:lstStyle/>
          <a:p>
            <a:pPr>
              <a:defRPr/>
            </a:pPr>
            <a:r>
              <a:rPr lang="en-IN" b="1"/>
              <a:t>Enqueue(50)</a:t>
            </a:r>
            <a:endParaRPr/>
          </a:p>
        </p:txBody>
      </p:sp>
      <p:sp>
        <p:nvSpPr>
          <p:cNvPr id="1715005836" name="TextBox 106"/>
          <p:cNvSpPr txBox="1"/>
          <p:nvPr/>
        </p:nvSpPr>
        <p:spPr bwMode="auto">
          <a:xfrm>
            <a:off x="9091929" y="1652803"/>
            <a:ext cx="495649" cy="461665"/>
          </a:xfrm>
          <a:prstGeom prst="rect">
            <a:avLst/>
          </a:prstGeom>
          <a:noFill/>
        </p:spPr>
        <p:txBody>
          <a:bodyPr wrap="none" rtlCol="0">
            <a:spAutoFit/>
          </a:bodyPr>
          <a:lstStyle/>
          <a:p>
            <a:pPr>
              <a:defRPr/>
            </a:pPr>
            <a:r>
              <a:rPr lang="en-US" sz="2400" b="1">
                <a:ln w="0"/>
              </a:rPr>
              <a:t>50</a:t>
            </a:r>
            <a:endParaRPr lang="en-IN" sz="2400" b="1">
              <a:ln w="0"/>
            </a:endParaRPr>
          </a:p>
        </p:txBody>
      </p:sp>
      <p:sp>
        <p:nvSpPr>
          <p:cNvPr id="264516088" name="TextBox 108"/>
          <p:cNvSpPr txBox="1"/>
          <p:nvPr/>
        </p:nvSpPr>
        <p:spPr bwMode="auto">
          <a:xfrm flipH="1">
            <a:off x="6123458" y="4510878"/>
            <a:ext cx="1900321" cy="369332"/>
          </a:xfrm>
          <a:prstGeom prst="rect">
            <a:avLst/>
          </a:prstGeom>
          <a:noFill/>
        </p:spPr>
        <p:txBody>
          <a:bodyPr wrap="square" rtlCol="0">
            <a:spAutoFit/>
          </a:bodyPr>
          <a:lstStyle/>
          <a:p>
            <a:pPr>
              <a:defRPr/>
            </a:pPr>
            <a:r>
              <a:rPr lang="en-IN" b="1"/>
              <a:t>Enqueue(60)</a:t>
            </a:r>
            <a:endParaRPr/>
          </a:p>
        </p:txBody>
      </p:sp>
      <p:sp>
        <p:nvSpPr>
          <p:cNvPr id="68924646" name="TextBox 109"/>
          <p:cNvSpPr txBox="1"/>
          <p:nvPr/>
        </p:nvSpPr>
        <p:spPr bwMode="auto">
          <a:xfrm>
            <a:off x="8239991" y="5628952"/>
            <a:ext cx="3671428" cy="369332"/>
          </a:xfrm>
          <a:prstGeom prst="rect">
            <a:avLst/>
          </a:prstGeom>
          <a:solidFill>
            <a:srgbClr val="FFFFCC"/>
          </a:solidFill>
        </p:spPr>
        <p:txBody>
          <a:bodyPr wrap="square" rtlCol="0">
            <a:spAutoFit/>
          </a:bodyPr>
          <a:lstStyle>
            <a:defPPr>
              <a:defRPr lang="en-US"/>
            </a:defPPr>
            <a:lvl1pPr algn="ctr">
              <a:defRPr b="1">
                <a:solidFill>
                  <a:schemeClr val="accent6"/>
                </a:solidFill>
              </a:defRPr>
            </a:lvl1pPr>
          </a:lstStyle>
          <a:p>
            <a:pPr>
              <a:defRPr/>
            </a:pPr>
            <a:r>
              <a:rPr lang="en-IN"/>
              <a:t>Circular Queue Overflow</a:t>
            </a:r>
            <a:endParaRPr/>
          </a:p>
        </p:txBody>
      </p:sp>
      <p:sp>
        <p:nvSpPr>
          <p:cNvPr id="1886923167" name="TextBox 110"/>
          <p:cNvSpPr txBox="1"/>
          <p:nvPr/>
        </p:nvSpPr>
        <p:spPr bwMode="auto">
          <a:xfrm flipH="1">
            <a:off x="5967593" y="5044916"/>
            <a:ext cx="1292684" cy="369332"/>
          </a:xfrm>
          <a:prstGeom prst="rect">
            <a:avLst/>
          </a:prstGeom>
          <a:noFill/>
        </p:spPr>
        <p:txBody>
          <a:bodyPr wrap="square" rtlCol="0">
            <a:spAutoFit/>
          </a:bodyPr>
          <a:lstStyle/>
          <a:p>
            <a:pPr algn="r">
              <a:defRPr/>
            </a:pPr>
            <a:r>
              <a:rPr lang="en-IN" b="1"/>
              <a:t>Dequeue()</a:t>
            </a:r>
            <a:endParaRPr/>
          </a:p>
        </p:txBody>
      </p:sp>
      <p:sp>
        <p:nvSpPr>
          <p:cNvPr id="1826829273" name="TextBox 112"/>
          <p:cNvSpPr txBox="1"/>
          <p:nvPr/>
        </p:nvSpPr>
        <p:spPr bwMode="auto">
          <a:xfrm flipH="1">
            <a:off x="5967593" y="4777897"/>
            <a:ext cx="1292684" cy="369332"/>
          </a:xfrm>
          <a:prstGeom prst="rect">
            <a:avLst/>
          </a:prstGeom>
          <a:noFill/>
        </p:spPr>
        <p:txBody>
          <a:bodyPr wrap="square" rtlCol="0">
            <a:spAutoFit/>
          </a:bodyPr>
          <a:lstStyle/>
          <a:p>
            <a:pPr algn="r">
              <a:defRPr/>
            </a:pPr>
            <a:r>
              <a:rPr lang="en-IN" b="1"/>
              <a:t>Dequeue()</a:t>
            </a:r>
            <a:endParaRPr/>
          </a:p>
        </p:txBody>
      </p:sp>
      <p:sp>
        <p:nvSpPr>
          <p:cNvPr id="647108522" name="TextBox 114"/>
          <p:cNvSpPr txBox="1"/>
          <p:nvPr/>
        </p:nvSpPr>
        <p:spPr bwMode="auto">
          <a:xfrm flipH="1">
            <a:off x="6123458" y="5311935"/>
            <a:ext cx="1900321" cy="369332"/>
          </a:xfrm>
          <a:prstGeom prst="rect">
            <a:avLst/>
          </a:prstGeom>
          <a:noFill/>
        </p:spPr>
        <p:txBody>
          <a:bodyPr wrap="square" rtlCol="0">
            <a:spAutoFit/>
          </a:bodyPr>
          <a:lstStyle/>
          <a:p>
            <a:pPr>
              <a:defRPr/>
            </a:pPr>
            <a:r>
              <a:rPr lang="en-IN" b="1"/>
              <a:t>Enqueue(70)</a:t>
            </a:r>
            <a:endParaRPr/>
          </a:p>
        </p:txBody>
      </p:sp>
      <p:sp>
        <p:nvSpPr>
          <p:cNvPr id="597928528" name="TextBox 116"/>
          <p:cNvSpPr txBox="1"/>
          <p:nvPr/>
        </p:nvSpPr>
        <p:spPr bwMode="auto">
          <a:xfrm>
            <a:off x="10899675" y="1769469"/>
            <a:ext cx="495649" cy="461665"/>
          </a:xfrm>
          <a:prstGeom prst="rect">
            <a:avLst/>
          </a:prstGeom>
          <a:noFill/>
        </p:spPr>
        <p:txBody>
          <a:bodyPr wrap="none" rtlCol="0">
            <a:spAutoFit/>
          </a:bodyPr>
          <a:lstStyle/>
          <a:p>
            <a:pPr>
              <a:defRPr/>
            </a:pPr>
            <a:r>
              <a:rPr lang="en-US" sz="2400" b="1">
                <a:ln w="0"/>
              </a:rPr>
              <a:t>70</a:t>
            </a:r>
            <a:endParaRPr lang="en-IN" sz="2400" b="1">
              <a:ln w="0"/>
            </a:endParaRPr>
          </a:p>
        </p:txBody>
      </p:sp>
      <p:sp>
        <p:nvSpPr>
          <p:cNvPr id="1064303678" name="TextBox 117"/>
          <p:cNvSpPr txBox="1"/>
          <p:nvPr/>
        </p:nvSpPr>
        <p:spPr bwMode="auto">
          <a:xfrm flipH="1">
            <a:off x="6123458" y="5578954"/>
            <a:ext cx="1900321" cy="369332"/>
          </a:xfrm>
          <a:prstGeom prst="rect">
            <a:avLst/>
          </a:prstGeom>
          <a:noFill/>
        </p:spPr>
        <p:txBody>
          <a:bodyPr wrap="square" rtlCol="0">
            <a:spAutoFit/>
          </a:bodyPr>
          <a:lstStyle/>
          <a:p>
            <a:pPr>
              <a:defRPr/>
            </a:pPr>
            <a:r>
              <a:rPr lang="en-IN" b="1"/>
              <a:t>Enqueue(80)</a:t>
            </a:r>
            <a:endParaRPr/>
          </a:p>
        </p:txBody>
      </p:sp>
      <p:sp>
        <p:nvSpPr>
          <p:cNvPr id="1119538741" name="TextBox 119"/>
          <p:cNvSpPr txBox="1"/>
          <p:nvPr/>
        </p:nvSpPr>
        <p:spPr bwMode="auto">
          <a:xfrm>
            <a:off x="11310214" y="3176765"/>
            <a:ext cx="495649" cy="461665"/>
          </a:xfrm>
          <a:prstGeom prst="rect">
            <a:avLst/>
          </a:prstGeom>
          <a:noFill/>
        </p:spPr>
        <p:txBody>
          <a:bodyPr wrap="none" rtlCol="0">
            <a:spAutoFit/>
          </a:bodyPr>
          <a:lstStyle/>
          <a:p>
            <a:pPr>
              <a:defRPr/>
            </a:pPr>
            <a:r>
              <a:rPr lang="en-US" sz="2400" b="1">
                <a:ln w="0"/>
              </a:rPr>
              <a:t>80</a:t>
            </a:r>
            <a:endParaRPr lang="en-IN" sz="2400" b="1">
              <a:ln w="0"/>
            </a:endParaRPr>
          </a:p>
        </p:txBody>
      </p:sp>
      <p:sp>
        <p:nvSpPr>
          <p:cNvPr id="1869772437" name="TextBox 120"/>
          <p:cNvSpPr txBox="1"/>
          <p:nvPr/>
        </p:nvSpPr>
        <p:spPr bwMode="auto">
          <a:xfrm flipH="1">
            <a:off x="6123458" y="5845978"/>
            <a:ext cx="1900321" cy="369332"/>
          </a:xfrm>
          <a:prstGeom prst="rect">
            <a:avLst/>
          </a:prstGeom>
          <a:noFill/>
        </p:spPr>
        <p:txBody>
          <a:bodyPr wrap="square" rtlCol="0">
            <a:spAutoFit/>
          </a:bodyPr>
          <a:lstStyle/>
          <a:p>
            <a:pPr>
              <a:defRPr/>
            </a:pPr>
            <a:r>
              <a:rPr lang="en-IN" b="1"/>
              <a:t>Enqueue(90)</a:t>
            </a:r>
            <a:endParaRPr/>
          </a:p>
        </p:txBody>
      </p:sp>
      <p:sp>
        <p:nvSpPr>
          <p:cNvPr id="528884160" name="TextBox 121"/>
          <p:cNvSpPr txBox="1"/>
          <p:nvPr/>
        </p:nvSpPr>
        <p:spPr bwMode="auto">
          <a:xfrm>
            <a:off x="11034796" y="1042032"/>
            <a:ext cx="330540" cy="461665"/>
          </a:xfrm>
          <a:prstGeom prst="rect">
            <a:avLst/>
          </a:prstGeom>
          <a:noFill/>
        </p:spPr>
        <p:txBody>
          <a:bodyPr wrap="none" rtlCol="0">
            <a:spAutoFit/>
          </a:bodyPr>
          <a:lstStyle/>
          <a:p>
            <a:pPr>
              <a:defRPr/>
            </a:pPr>
            <a:r>
              <a:rPr lang="en-US" sz="2400" b="1">
                <a:solidFill>
                  <a:schemeClr val="accent6"/>
                </a:solidFill>
              </a:rPr>
              <a:t>F</a:t>
            </a:r>
            <a:endParaRPr lang="en-IN" sz="2400" b="1">
              <a:solidFill>
                <a:schemeClr val="accent6"/>
              </a:solidFill>
            </a:endParaRPr>
          </a:p>
        </p:txBody>
      </p:sp>
      <p:sp>
        <p:nvSpPr>
          <p:cNvPr id="1974051561" name="TextBox 122"/>
          <p:cNvSpPr txBox="1"/>
          <p:nvPr/>
        </p:nvSpPr>
        <p:spPr bwMode="auto">
          <a:xfrm>
            <a:off x="11371063" y="1044871"/>
            <a:ext cx="354584" cy="461665"/>
          </a:xfrm>
          <a:prstGeom prst="rect">
            <a:avLst/>
          </a:prstGeom>
          <a:noFill/>
        </p:spPr>
        <p:txBody>
          <a:bodyPr wrap="none" rtlCol="0">
            <a:spAutoFit/>
          </a:bodyPr>
          <a:lstStyle/>
          <a:p>
            <a:pPr>
              <a:defRPr/>
            </a:pPr>
            <a:r>
              <a:rPr lang="en-US" sz="2400" b="1">
                <a:solidFill>
                  <a:srgbClr val="FF0066"/>
                </a:solidFill>
              </a:rPr>
              <a:t>R</a:t>
            </a:r>
            <a:endParaRPr lang="en-IN" sz="2400" b="1">
              <a:solidFill>
                <a:srgbClr val="FF0066"/>
              </a:solidFill>
            </a:endParaRPr>
          </a:p>
        </p:txBody>
      </p:sp>
      <p:sp>
        <p:nvSpPr>
          <p:cNvPr id="661389205" name="TextBox 123"/>
          <p:cNvSpPr txBox="1"/>
          <p:nvPr/>
        </p:nvSpPr>
        <p:spPr bwMode="auto">
          <a:xfrm>
            <a:off x="11680549" y="3729362"/>
            <a:ext cx="354584" cy="461665"/>
          </a:xfrm>
          <a:prstGeom prst="rect">
            <a:avLst/>
          </a:prstGeom>
          <a:noFill/>
        </p:spPr>
        <p:txBody>
          <a:bodyPr wrap="none" rtlCol="0">
            <a:spAutoFit/>
          </a:bodyPr>
          <a:lstStyle/>
          <a:p>
            <a:pPr>
              <a:defRPr/>
            </a:pPr>
            <a:r>
              <a:rPr lang="en-US" sz="2400" b="1">
                <a:solidFill>
                  <a:srgbClr val="FF0066"/>
                </a:solidFill>
              </a:rPr>
              <a:t>R</a:t>
            </a:r>
            <a:endParaRPr lang="en-IN" sz="2400" b="1">
              <a:solidFill>
                <a:srgbClr val="FF0066"/>
              </a:solidFill>
            </a:endParaRPr>
          </a:p>
        </p:txBody>
      </p:sp>
      <p:sp>
        <p:nvSpPr>
          <p:cNvPr id="1088208826" name="TextBox 124"/>
          <p:cNvSpPr txBox="1"/>
          <p:nvPr/>
        </p:nvSpPr>
        <p:spPr bwMode="auto">
          <a:xfrm>
            <a:off x="10068393" y="4853950"/>
            <a:ext cx="354584" cy="461665"/>
          </a:xfrm>
          <a:prstGeom prst="rect">
            <a:avLst/>
          </a:prstGeom>
          <a:noFill/>
        </p:spPr>
        <p:txBody>
          <a:bodyPr wrap="none" rtlCol="0">
            <a:spAutoFit/>
          </a:bodyPr>
          <a:lstStyle/>
          <a:p>
            <a:pPr>
              <a:defRPr/>
            </a:pPr>
            <a:r>
              <a:rPr lang="en-US" sz="2400" b="1">
                <a:solidFill>
                  <a:schemeClr val="accent6"/>
                </a:solidFill>
              </a:rPr>
              <a:t>R</a:t>
            </a:r>
            <a:endParaRPr lang="en-IN" sz="2400" b="1">
              <a:solidFill>
                <a:schemeClr val="accent6"/>
              </a:solidFill>
            </a:endParaRPr>
          </a:p>
        </p:txBody>
      </p:sp>
      <p:sp>
        <p:nvSpPr>
          <p:cNvPr id="369464882" name="TextBox 125"/>
          <p:cNvSpPr txBox="1"/>
          <p:nvPr/>
        </p:nvSpPr>
        <p:spPr bwMode="auto">
          <a:xfrm>
            <a:off x="7856179" y="3048909"/>
            <a:ext cx="354584" cy="461665"/>
          </a:xfrm>
          <a:prstGeom prst="rect">
            <a:avLst/>
          </a:prstGeom>
          <a:noFill/>
        </p:spPr>
        <p:txBody>
          <a:bodyPr wrap="none" rtlCol="0">
            <a:spAutoFit/>
          </a:bodyPr>
          <a:lstStyle/>
          <a:p>
            <a:pPr>
              <a:defRPr/>
            </a:pPr>
            <a:r>
              <a:rPr lang="en-US" sz="2400" b="1">
                <a:solidFill>
                  <a:schemeClr val="accent6"/>
                </a:solidFill>
              </a:rPr>
              <a:t>R</a:t>
            </a:r>
            <a:endParaRPr lang="en-IN" sz="2400" b="1">
              <a:solidFill>
                <a:schemeClr val="accent6"/>
              </a:solidFill>
            </a:endParaRPr>
          </a:p>
        </p:txBody>
      </p:sp>
      <p:sp>
        <p:nvSpPr>
          <p:cNvPr id="1861702217" name="TextBox 127"/>
          <p:cNvSpPr txBox="1"/>
          <p:nvPr/>
        </p:nvSpPr>
        <p:spPr bwMode="auto">
          <a:xfrm>
            <a:off x="8638428" y="1024876"/>
            <a:ext cx="354584" cy="461665"/>
          </a:xfrm>
          <a:prstGeom prst="rect">
            <a:avLst/>
          </a:prstGeom>
          <a:noFill/>
        </p:spPr>
        <p:txBody>
          <a:bodyPr wrap="none" rtlCol="0">
            <a:spAutoFit/>
          </a:bodyPr>
          <a:lstStyle/>
          <a:p>
            <a:pPr>
              <a:defRPr/>
            </a:pPr>
            <a:r>
              <a:rPr lang="en-US" sz="2400" b="1">
                <a:solidFill>
                  <a:schemeClr val="accent6"/>
                </a:solidFill>
              </a:rPr>
              <a:t>R</a:t>
            </a:r>
            <a:endParaRPr lang="en-IN" sz="2400" b="1">
              <a:solidFill>
                <a:schemeClr val="accent6"/>
              </a:solidFill>
            </a:endParaRPr>
          </a:p>
        </p:txBody>
      </p:sp>
      <p:sp>
        <p:nvSpPr>
          <p:cNvPr id="1795086588" name="TextBox 128"/>
          <p:cNvSpPr txBox="1"/>
          <p:nvPr/>
        </p:nvSpPr>
        <p:spPr bwMode="auto">
          <a:xfrm>
            <a:off x="11695230" y="4133536"/>
            <a:ext cx="330540" cy="461665"/>
          </a:xfrm>
          <a:prstGeom prst="rect">
            <a:avLst/>
          </a:prstGeom>
          <a:noFill/>
        </p:spPr>
        <p:txBody>
          <a:bodyPr wrap="none" rtlCol="0">
            <a:spAutoFit/>
          </a:bodyPr>
          <a:lstStyle/>
          <a:p>
            <a:pPr>
              <a:defRPr/>
            </a:pPr>
            <a:r>
              <a:rPr lang="en-US" sz="2400" b="1">
                <a:solidFill>
                  <a:schemeClr val="accent6"/>
                </a:solidFill>
              </a:rPr>
              <a:t>F</a:t>
            </a:r>
            <a:endParaRPr lang="en-IN" sz="2400" b="1">
              <a:solidFill>
                <a:schemeClr val="accent6"/>
              </a:solidFill>
            </a:endParaRPr>
          </a:p>
        </p:txBody>
      </p:sp>
      <p:sp>
        <p:nvSpPr>
          <p:cNvPr id="1851230275" name="TextBox 129"/>
          <p:cNvSpPr txBox="1"/>
          <p:nvPr/>
        </p:nvSpPr>
        <p:spPr bwMode="auto">
          <a:xfrm>
            <a:off x="9732887" y="4878522"/>
            <a:ext cx="330540" cy="461665"/>
          </a:xfrm>
          <a:prstGeom prst="rect">
            <a:avLst/>
          </a:prstGeom>
          <a:noFill/>
        </p:spPr>
        <p:txBody>
          <a:bodyPr wrap="none" rtlCol="0">
            <a:spAutoFit/>
          </a:bodyPr>
          <a:lstStyle/>
          <a:p>
            <a:pPr>
              <a:defRPr/>
            </a:pPr>
            <a:r>
              <a:rPr lang="en-US" sz="2400" b="1">
                <a:solidFill>
                  <a:schemeClr val="accent6"/>
                </a:solidFill>
              </a:rPr>
              <a:t>F</a:t>
            </a:r>
            <a:endParaRPr lang="en-IN" sz="2400" b="1">
              <a:solidFill>
                <a:schemeClr val="accent6"/>
              </a:solidFill>
            </a:endParaRPr>
          </a:p>
        </p:txBody>
      </p:sp>
      <p:sp>
        <p:nvSpPr>
          <p:cNvPr id="315286526" name="TextBox 130"/>
          <p:cNvSpPr txBox="1"/>
          <p:nvPr/>
        </p:nvSpPr>
        <p:spPr bwMode="auto">
          <a:xfrm>
            <a:off x="11384087" y="1057891"/>
            <a:ext cx="354584" cy="461665"/>
          </a:xfrm>
          <a:prstGeom prst="rect">
            <a:avLst/>
          </a:prstGeom>
          <a:noFill/>
        </p:spPr>
        <p:txBody>
          <a:bodyPr wrap="none" rtlCol="0">
            <a:spAutoFit/>
          </a:bodyPr>
          <a:lstStyle/>
          <a:p>
            <a:pPr>
              <a:defRPr/>
            </a:pPr>
            <a:r>
              <a:rPr lang="en-US" sz="2400" b="1">
                <a:solidFill>
                  <a:schemeClr val="accent6"/>
                </a:solidFill>
              </a:rPr>
              <a:t>R</a:t>
            </a:r>
            <a:endParaRPr lang="en-IN" sz="2400" b="1">
              <a:solidFill>
                <a:schemeClr val="accent6"/>
              </a:solidFill>
            </a:endParaRPr>
          </a:p>
        </p:txBody>
      </p:sp>
      <p:sp>
        <p:nvSpPr>
          <p:cNvPr id="894567778" name="TextBox 131"/>
          <p:cNvSpPr txBox="1"/>
          <p:nvPr/>
        </p:nvSpPr>
        <p:spPr bwMode="auto">
          <a:xfrm>
            <a:off x="11665133" y="3732087"/>
            <a:ext cx="354584" cy="461665"/>
          </a:xfrm>
          <a:prstGeom prst="rect">
            <a:avLst/>
          </a:prstGeom>
          <a:noFill/>
        </p:spPr>
        <p:txBody>
          <a:bodyPr wrap="none" rtlCol="0">
            <a:spAutoFit/>
          </a:bodyPr>
          <a:lstStyle/>
          <a:p>
            <a:pPr>
              <a:defRPr/>
            </a:pPr>
            <a:r>
              <a:rPr lang="en-US" sz="2400" b="1">
                <a:solidFill>
                  <a:schemeClr val="accent6"/>
                </a:solidFill>
              </a:rPr>
              <a:t>R</a:t>
            </a:r>
            <a:endParaRPr lang="en-IN" sz="2400" b="1">
              <a:solidFill>
                <a:schemeClr val="accent6"/>
              </a:solidFill>
            </a:endParaRPr>
          </a:p>
        </p:txBody>
      </p:sp>
      <p:sp>
        <p:nvSpPr>
          <p:cNvPr id="1809224539" name="TextBox 1"/>
          <p:cNvSpPr txBox="1"/>
          <p:nvPr/>
        </p:nvSpPr>
        <p:spPr bwMode="auto">
          <a:xfrm>
            <a:off x="6049142" y="2722851"/>
            <a:ext cx="1439818" cy="400110"/>
          </a:xfrm>
          <a:prstGeom prst="rect">
            <a:avLst/>
          </a:prstGeom>
          <a:noFill/>
        </p:spPr>
        <p:txBody>
          <a:bodyPr wrap="none" rtlCol="0">
            <a:spAutoFit/>
          </a:bodyPr>
          <a:lstStyle/>
          <a:p>
            <a:pPr>
              <a:defRPr/>
            </a:pPr>
            <a:r>
              <a:rPr lang="en-US" sz="2000" b="1">
                <a:solidFill>
                  <a:srgbClr val="C00000"/>
                </a:solidFill>
              </a:rPr>
              <a:t>Operations :</a:t>
            </a:r>
            <a:endParaRPr lang="en-IN" sz="2000" b="1">
              <a:solidFill>
                <a:srgbClr val="C00000"/>
              </a:solidFill>
            </a:endParaRPr>
          </a:p>
        </p:txBody>
      </p:sp>
      <p:cxnSp>
        <p:nvCxnSpPr>
          <p:cNvPr id="740778828" name="Straight Connector 4"/>
          <p:cNvCxnSpPr/>
          <p:nvPr/>
        </p:nvCxnSpPr>
        <p:spPr bwMode="auto">
          <a:xfrm>
            <a:off x="6058020" y="711201"/>
            <a:ext cx="0" cy="58937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50258051"/>
                                        </p:tgtEl>
                                        <p:attrNameLst>
                                          <p:attrName>style.visibility</p:attrName>
                                        </p:attrNameLst>
                                      </p:cBhvr>
                                      <p:to>
                                        <p:strVal val="visible"/>
                                      </p:to>
                                    </p:set>
                                    <p:animEffect transition="in" filter="fade">
                                      <p:cBhvr>
                                        <p:cTn id="7" dur="500"/>
                                        <p:tgtEl>
                                          <p:spTgt spid="20502580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11729589"/>
                                        </p:tgtEl>
                                        <p:attrNameLst>
                                          <p:attrName>style.visibility</p:attrName>
                                        </p:attrNameLst>
                                      </p:cBhvr>
                                      <p:to>
                                        <p:strVal val="visible"/>
                                      </p:to>
                                    </p:set>
                                    <p:animEffect transition="in" filter="fade">
                                      <p:cBhvr>
                                        <p:cTn id="12" dur="500"/>
                                        <p:tgtEl>
                                          <p:spTgt spid="181172958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09224539"/>
                                        </p:tgtEl>
                                        <p:attrNameLst>
                                          <p:attrName>style.visibility</p:attrName>
                                        </p:attrNameLst>
                                      </p:cBhvr>
                                      <p:to>
                                        <p:strVal val="visible"/>
                                      </p:to>
                                    </p:set>
                                    <p:animEffect transition="in" filter="fade">
                                      <p:cBhvr>
                                        <p:cTn id="15" dur="500"/>
                                        <p:tgtEl>
                                          <p:spTgt spid="180922453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74051561"/>
                                        </p:tgtEl>
                                        <p:attrNameLst>
                                          <p:attrName>style.visibility</p:attrName>
                                        </p:attrNameLst>
                                      </p:cBhvr>
                                      <p:to>
                                        <p:strVal val="visible"/>
                                      </p:to>
                                    </p:set>
                                    <p:animEffect transition="in" filter="fade">
                                      <p:cBhvr>
                                        <p:cTn id="20" dur="500"/>
                                        <p:tgtEl>
                                          <p:spTgt spid="197405156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9941631"/>
                                        </p:tgtEl>
                                        <p:attrNameLst>
                                          <p:attrName>style.visibility</p:attrName>
                                        </p:attrNameLst>
                                      </p:cBhvr>
                                      <p:to>
                                        <p:strVal val="visible"/>
                                      </p:to>
                                    </p:set>
                                    <p:animEffect transition="in" filter="fade">
                                      <p:cBhvr>
                                        <p:cTn id="25" dur="500"/>
                                        <p:tgtEl>
                                          <p:spTgt spid="29994163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28884160"/>
                                        </p:tgtEl>
                                        <p:attrNameLst>
                                          <p:attrName>style.visibility</p:attrName>
                                        </p:attrNameLst>
                                      </p:cBhvr>
                                      <p:to>
                                        <p:strVal val="visible"/>
                                      </p:to>
                                    </p:set>
                                    <p:animEffect transition="in" filter="fade">
                                      <p:cBhvr>
                                        <p:cTn id="30" dur="500"/>
                                        <p:tgtEl>
                                          <p:spTgt spid="52888416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2362290"/>
                                        </p:tgtEl>
                                        <p:attrNameLst>
                                          <p:attrName>style.visibility</p:attrName>
                                        </p:attrNameLst>
                                      </p:cBhvr>
                                      <p:to>
                                        <p:strVal val="visible"/>
                                      </p:to>
                                    </p:set>
                                    <p:animEffect transition="in" filter="fade">
                                      <p:cBhvr>
                                        <p:cTn id="35" dur="500"/>
                                        <p:tgtEl>
                                          <p:spTgt spid="13236229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61389205"/>
                                        </p:tgtEl>
                                        <p:attrNameLst>
                                          <p:attrName>style.visibility</p:attrName>
                                        </p:attrNameLst>
                                      </p:cBhvr>
                                      <p:to>
                                        <p:strVal val="visible"/>
                                      </p:to>
                                    </p:set>
                                    <p:animEffect transition="in" filter="fade">
                                      <p:cBhvr>
                                        <p:cTn id="40" dur="500"/>
                                        <p:tgtEl>
                                          <p:spTgt spid="661389205"/>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197405156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93292839"/>
                                        </p:tgtEl>
                                        <p:attrNameLst>
                                          <p:attrName>style.visibility</p:attrName>
                                        </p:attrNameLst>
                                      </p:cBhvr>
                                      <p:to>
                                        <p:strVal val="visible"/>
                                      </p:to>
                                    </p:set>
                                    <p:animEffect transition="in" filter="fade">
                                      <p:cBhvr>
                                        <p:cTn id="47" dur="500"/>
                                        <p:tgtEl>
                                          <p:spTgt spid="149329283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39292264"/>
                                        </p:tgtEl>
                                        <p:attrNameLst>
                                          <p:attrName>style.visibility</p:attrName>
                                        </p:attrNameLst>
                                      </p:cBhvr>
                                      <p:to>
                                        <p:strVal val="visible"/>
                                      </p:to>
                                    </p:set>
                                    <p:animEffect transition="in" filter="fade">
                                      <p:cBhvr>
                                        <p:cTn id="52" dur="500"/>
                                        <p:tgtEl>
                                          <p:spTgt spid="173929226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88208826"/>
                                        </p:tgtEl>
                                        <p:attrNameLst>
                                          <p:attrName>style.visibility</p:attrName>
                                        </p:attrNameLst>
                                      </p:cBhvr>
                                      <p:to>
                                        <p:strVal val="visible"/>
                                      </p:to>
                                    </p:set>
                                    <p:animEffect transition="in" filter="fade">
                                      <p:cBhvr>
                                        <p:cTn id="57" dur="500"/>
                                        <p:tgtEl>
                                          <p:spTgt spid="1088208826"/>
                                        </p:tgtEl>
                                      </p:cBhvr>
                                    </p:animEffect>
                                  </p:childTnLst>
                                </p:cTn>
                              </p:par>
                              <p:par>
                                <p:cTn id="58" presetID="1" presetClass="exit" presetSubtype="0" fill="hold" grpId="1" nodeType="withEffect">
                                  <p:stCondLst>
                                    <p:cond delay="0"/>
                                  </p:stCondLst>
                                  <p:childTnLst>
                                    <p:set>
                                      <p:cBhvr>
                                        <p:cTn id="59" dur="1" fill="hold">
                                          <p:stCondLst>
                                            <p:cond delay="0"/>
                                          </p:stCondLst>
                                        </p:cTn>
                                        <p:tgtEl>
                                          <p:spTgt spid="661389205"/>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67989667"/>
                                        </p:tgtEl>
                                        <p:attrNameLst>
                                          <p:attrName>style.visibility</p:attrName>
                                        </p:attrNameLst>
                                      </p:cBhvr>
                                      <p:to>
                                        <p:strVal val="visible"/>
                                      </p:to>
                                    </p:set>
                                    <p:animEffect transition="in" filter="fade">
                                      <p:cBhvr>
                                        <p:cTn id="64" dur="500"/>
                                        <p:tgtEl>
                                          <p:spTgt spid="46798966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200255519"/>
                                        </p:tgtEl>
                                        <p:attrNameLst>
                                          <p:attrName>style.visibility</p:attrName>
                                        </p:attrNameLst>
                                      </p:cBhvr>
                                      <p:to>
                                        <p:strVal val="visible"/>
                                      </p:to>
                                    </p:set>
                                    <p:animEffect transition="in" filter="fade">
                                      <p:cBhvr>
                                        <p:cTn id="69" dur="500"/>
                                        <p:tgtEl>
                                          <p:spTgt spid="120025551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69464882"/>
                                        </p:tgtEl>
                                        <p:attrNameLst>
                                          <p:attrName>style.visibility</p:attrName>
                                        </p:attrNameLst>
                                      </p:cBhvr>
                                      <p:to>
                                        <p:strVal val="visible"/>
                                      </p:to>
                                    </p:set>
                                    <p:animEffect transition="in" filter="fade">
                                      <p:cBhvr>
                                        <p:cTn id="74" dur="500"/>
                                        <p:tgtEl>
                                          <p:spTgt spid="369464882"/>
                                        </p:tgtEl>
                                      </p:cBhvr>
                                    </p:animEffect>
                                  </p:childTnLst>
                                </p:cTn>
                              </p:par>
                              <p:par>
                                <p:cTn id="75" presetID="1" presetClass="exit" presetSubtype="0" fill="hold" grpId="1" nodeType="withEffect">
                                  <p:stCondLst>
                                    <p:cond delay="0"/>
                                  </p:stCondLst>
                                  <p:childTnLst>
                                    <p:set>
                                      <p:cBhvr>
                                        <p:cTn id="76" dur="1" fill="hold">
                                          <p:stCondLst>
                                            <p:cond delay="0"/>
                                          </p:stCondLst>
                                        </p:cTn>
                                        <p:tgtEl>
                                          <p:spTgt spid="1088208826"/>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76519853"/>
                                        </p:tgtEl>
                                        <p:attrNameLst>
                                          <p:attrName>style.visibility</p:attrName>
                                        </p:attrNameLst>
                                      </p:cBhvr>
                                      <p:to>
                                        <p:strVal val="visible"/>
                                      </p:to>
                                    </p:set>
                                    <p:animEffect transition="in" filter="fade">
                                      <p:cBhvr>
                                        <p:cTn id="81" dur="500"/>
                                        <p:tgtEl>
                                          <p:spTgt spid="576519853"/>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206052345"/>
                                        </p:tgtEl>
                                        <p:attrNameLst>
                                          <p:attrName>style.visibility</p:attrName>
                                        </p:attrNameLst>
                                      </p:cBhvr>
                                      <p:to>
                                        <p:strVal val="visible"/>
                                      </p:to>
                                    </p:set>
                                    <p:animEffect transition="in" filter="fade">
                                      <p:cBhvr>
                                        <p:cTn id="86" dur="500"/>
                                        <p:tgtEl>
                                          <p:spTgt spid="1206052345"/>
                                        </p:tgtEl>
                                      </p:cBhvr>
                                    </p:animEffect>
                                  </p:childTnLst>
                                </p:cTn>
                              </p:par>
                              <p:par>
                                <p:cTn id="87" presetID="1" presetClass="exit" presetSubtype="0" fill="hold" grpId="1" nodeType="withEffect">
                                  <p:stCondLst>
                                    <p:cond delay="0"/>
                                  </p:stCondLst>
                                  <p:childTnLst>
                                    <p:set>
                                      <p:cBhvr>
                                        <p:cTn id="88" dur="1" fill="hold">
                                          <p:stCondLst>
                                            <p:cond delay="0"/>
                                          </p:stCondLst>
                                        </p:cTn>
                                        <p:tgtEl>
                                          <p:spTgt spid="36946488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1861702217"/>
                                        </p:tgtEl>
                                        <p:attrNameLst>
                                          <p:attrName>style.visibility</p:attrName>
                                        </p:attrNameLst>
                                      </p:cBhvr>
                                      <p:to>
                                        <p:strVal val="visible"/>
                                      </p:to>
                                    </p:set>
                                    <p:animEffect transition="in" filter="fade">
                                      <p:cBhvr>
                                        <p:cTn id="93" dur="500"/>
                                        <p:tgtEl>
                                          <p:spTgt spid="186170221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715005836"/>
                                        </p:tgtEl>
                                        <p:attrNameLst>
                                          <p:attrName>style.visibility</p:attrName>
                                        </p:attrNameLst>
                                      </p:cBhvr>
                                      <p:to>
                                        <p:strVal val="visible"/>
                                      </p:to>
                                    </p:set>
                                    <p:animEffect transition="in" filter="fade">
                                      <p:cBhvr>
                                        <p:cTn id="98" dur="500"/>
                                        <p:tgtEl>
                                          <p:spTgt spid="1715005836"/>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64516088"/>
                                        </p:tgtEl>
                                        <p:attrNameLst>
                                          <p:attrName>style.visibility</p:attrName>
                                        </p:attrNameLst>
                                      </p:cBhvr>
                                      <p:to>
                                        <p:strVal val="visible"/>
                                      </p:to>
                                    </p:set>
                                    <p:animEffect transition="in" filter="fade">
                                      <p:cBhvr>
                                        <p:cTn id="103" dur="500"/>
                                        <p:tgtEl>
                                          <p:spTgt spid="26451608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68924646"/>
                                        </p:tgtEl>
                                        <p:attrNameLst>
                                          <p:attrName>style.visibility</p:attrName>
                                        </p:attrNameLst>
                                      </p:cBhvr>
                                      <p:to>
                                        <p:strVal val="visible"/>
                                      </p:to>
                                    </p:set>
                                    <p:animEffect transition="in" filter="wipe(left)">
                                      <p:cBhvr>
                                        <p:cTn id="108" dur="500"/>
                                        <p:tgtEl>
                                          <p:spTgt spid="68924646"/>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1826829273"/>
                                        </p:tgtEl>
                                        <p:attrNameLst>
                                          <p:attrName>style.visibility</p:attrName>
                                        </p:attrNameLst>
                                      </p:cBhvr>
                                      <p:to>
                                        <p:strVal val="visible"/>
                                      </p:to>
                                    </p:set>
                                    <p:animEffect transition="in" filter="fade">
                                      <p:cBhvr>
                                        <p:cTn id="113" dur="500"/>
                                        <p:tgtEl>
                                          <p:spTgt spid="1826829273"/>
                                        </p:tgtEl>
                                      </p:cBhvr>
                                    </p:animEffect>
                                  </p:childTnLst>
                                </p:cTn>
                              </p:par>
                              <p:par>
                                <p:cTn id="114" presetID="1" presetClass="exit" presetSubtype="0" fill="hold" grpId="1" nodeType="withEffect">
                                  <p:stCondLst>
                                    <p:cond delay="0"/>
                                  </p:stCondLst>
                                  <p:childTnLst>
                                    <p:set>
                                      <p:cBhvr>
                                        <p:cTn id="115" dur="1" fill="hold">
                                          <p:stCondLst>
                                            <p:cond delay="0"/>
                                          </p:stCondLst>
                                        </p:cTn>
                                        <p:tgtEl>
                                          <p:spTgt spid="68924646"/>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1795086588"/>
                                        </p:tgtEl>
                                        <p:attrNameLst>
                                          <p:attrName>style.visibility</p:attrName>
                                        </p:attrNameLst>
                                      </p:cBhvr>
                                      <p:to>
                                        <p:strVal val="visible"/>
                                      </p:to>
                                    </p:set>
                                    <p:animEffect transition="in" filter="fade">
                                      <p:cBhvr>
                                        <p:cTn id="120" dur="500"/>
                                        <p:tgtEl>
                                          <p:spTgt spid="1795086588"/>
                                        </p:tgtEl>
                                      </p:cBhvr>
                                    </p:animEffect>
                                  </p:childTnLst>
                                </p:cTn>
                              </p:par>
                              <p:par>
                                <p:cTn id="121" presetID="1" presetClass="exit" presetSubtype="0" fill="hold" grpId="1" nodeType="withEffect">
                                  <p:stCondLst>
                                    <p:cond delay="0"/>
                                  </p:stCondLst>
                                  <p:childTnLst>
                                    <p:set>
                                      <p:cBhvr>
                                        <p:cTn id="122" dur="1" fill="hold">
                                          <p:stCondLst>
                                            <p:cond delay="0"/>
                                          </p:stCondLst>
                                        </p:cTn>
                                        <p:tgtEl>
                                          <p:spTgt spid="528884160"/>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0"/>
                                          </p:stCondLst>
                                        </p:cTn>
                                        <p:tgtEl>
                                          <p:spTgt spid="299941631"/>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1886923167"/>
                                        </p:tgtEl>
                                        <p:attrNameLst>
                                          <p:attrName>style.visibility</p:attrName>
                                        </p:attrNameLst>
                                      </p:cBhvr>
                                      <p:to>
                                        <p:strVal val="visible"/>
                                      </p:to>
                                    </p:set>
                                    <p:animEffect transition="in" filter="fade">
                                      <p:cBhvr>
                                        <p:cTn id="129" dur="500"/>
                                        <p:tgtEl>
                                          <p:spTgt spid="1886923167"/>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1851230275"/>
                                        </p:tgtEl>
                                        <p:attrNameLst>
                                          <p:attrName>style.visibility</p:attrName>
                                        </p:attrNameLst>
                                      </p:cBhvr>
                                      <p:to>
                                        <p:strVal val="visible"/>
                                      </p:to>
                                    </p:set>
                                    <p:animEffect transition="in" filter="fade">
                                      <p:cBhvr>
                                        <p:cTn id="134" dur="500"/>
                                        <p:tgtEl>
                                          <p:spTgt spid="1851230275"/>
                                        </p:tgtEl>
                                      </p:cBhvr>
                                    </p:animEffect>
                                  </p:childTnLst>
                                </p:cTn>
                              </p:par>
                              <p:par>
                                <p:cTn id="135" presetID="1" presetClass="exit" presetSubtype="0" fill="hold" grpId="1" nodeType="withEffect">
                                  <p:stCondLst>
                                    <p:cond delay="0"/>
                                  </p:stCondLst>
                                  <p:childTnLst>
                                    <p:set>
                                      <p:cBhvr>
                                        <p:cTn id="136" dur="1" fill="hold">
                                          <p:stCondLst>
                                            <p:cond delay="0"/>
                                          </p:stCondLst>
                                        </p:cTn>
                                        <p:tgtEl>
                                          <p:spTgt spid="1795086588"/>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1493292839"/>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647108522"/>
                                        </p:tgtEl>
                                        <p:attrNameLst>
                                          <p:attrName>style.visibility</p:attrName>
                                        </p:attrNameLst>
                                      </p:cBhvr>
                                      <p:to>
                                        <p:strVal val="visible"/>
                                      </p:to>
                                    </p:set>
                                    <p:animEffect transition="in" filter="fade">
                                      <p:cBhvr>
                                        <p:cTn id="143" dur="500"/>
                                        <p:tgtEl>
                                          <p:spTgt spid="647108522"/>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315286526"/>
                                        </p:tgtEl>
                                        <p:attrNameLst>
                                          <p:attrName>style.visibility</p:attrName>
                                        </p:attrNameLst>
                                      </p:cBhvr>
                                      <p:to>
                                        <p:strVal val="visible"/>
                                      </p:to>
                                    </p:set>
                                    <p:animEffect transition="in" filter="fade">
                                      <p:cBhvr>
                                        <p:cTn id="148" dur="500"/>
                                        <p:tgtEl>
                                          <p:spTgt spid="315286526"/>
                                        </p:tgtEl>
                                      </p:cBhvr>
                                    </p:animEffect>
                                  </p:childTnLst>
                                </p:cTn>
                              </p:par>
                              <p:par>
                                <p:cTn id="149" presetID="1" presetClass="exit" presetSubtype="0" fill="hold" grpId="1" nodeType="withEffect">
                                  <p:stCondLst>
                                    <p:cond delay="0"/>
                                  </p:stCondLst>
                                  <p:childTnLst>
                                    <p:set>
                                      <p:cBhvr>
                                        <p:cTn id="150" dur="1" fill="hold">
                                          <p:stCondLst>
                                            <p:cond delay="0"/>
                                          </p:stCondLst>
                                        </p:cTn>
                                        <p:tgtEl>
                                          <p:spTgt spid="1861702217"/>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597928528"/>
                                        </p:tgtEl>
                                        <p:attrNameLst>
                                          <p:attrName>style.visibility</p:attrName>
                                        </p:attrNameLst>
                                      </p:cBhvr>
                                      <p:to>
                                        <p:strVal val="visible"/>
                                      </p:to>
                                    </p:set>
                                    <p:animEffect transition="in" filter="fade">
                                      <p:cBhvr>
                                        <p:cTn id="155" dur="500"/>
                                        <p:tgtEl>
                                          <p:spTgt spid="597928528"/>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1064303678"/>
                                        </p:tgtEl>
                                        <p:attrNameLst>
                                          <p:attrName>style.visibility</p:attrName>
                                        </p:attrNameLst>
                                      </p:cBhvr>
                                      <p:to>
                                        <p:strVal val="visible"/>
                                      </p:to>
                                    </p:set>
                                    <p:animEffect transition="in" filter="fade">
                                      <p:cBhvr>
                                        <p:cTn id="160" dur="500"/>
                                        <p:tgtEl>
                                          <p:spTgt spid="1064303678"/>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894567778"/>
                                        </p:tgtEl>
                                        <p:attrNameLst>
                                          <p:attrName>style.visibility</p:attrName>
                                        </p:attrNameLst>
                                      </p:cBhvr>
                                      <p:to>
                                        <p:strVal val="visible"/>
                                      </p:to>
                                    </p:set>
                                    <p:animEffect transition="in" filter="fade">
                                      <p:cBhvr>
                                        <p:cTn id="165" dur="500"/>
                                        <p:tgtEl>
                                          <p:spTgt spid="894567778"/>
                                        </p:tgtEl>
                                      </p:cBhvr>
                                    </p:animEffect>
                                  </p:childTnLst>
                                </p:cTn>
                              </p:par>
                              <p:par>
                                <p:cTn id="166" presetID="1" presetClass="exit" presetSubtype="0" fill="hold" grpId="1" nodeType="withEffect">
                                  <p:stCondLst>
                                    <p:cond delay="0"/>
                                  </p:stCondLst>
                                  <p:childTnLst>
                                    <p:set>
                                      <p:cBhvr>
                                        <p:cTn id="167" dur="1" fill="hold">
                                          <p:stCondLst>
                                            <p:cond delay="0"/>
                                          </p:stCondLst>
                                        </p:cTn>
                                        <p:tgtEl>
                                          <p:spTgt spid="315286526"/>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1119538741"/>
                                        </p:tgtEl>
                                        <p:attrNameLst>
                                          <p:attrName>style.visibility</p:attrName>
                                        </p:attrNameLst>
                                      </p:cBhvr>
                                      <p:to>
                                        <p:strVal val="visible"/>
                                      </p:to>
                                    </p:set>
                                    <p:animEffect transition="in" filter="fade">
                                      <p:cBhvr>
                                        <p:cTn id="172" dur="500"/>
                                        <p:tgtEl>
                                          <p:spTgt spid="1119538741"/>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1869772437"/>
                                        </p:tgtEl>
                                        <p:attrNameLst>
                                          <p:attrName>style.visibility</p:attrName>
                                        </p:attrNameLst>
                                      </p:cBhvr>
                                      <p:to>
                                        <p:strVal val="visible"/>
                                      </p:to>
                                    </p:set>
                                    <p:animEffect transition="in" filter="fade">
                                      <p:cBhvr>
                                        <p:cTn id="177" dur="500"/>
                                        <p:tgtEl>
                                          <p:spTgt spid="1869772437"/>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2" nodeType="clickEffect">
                                  <p:stCondLst>
                                    <p:cond delay="0"/>
                                  </p:stCondLst>
                                  <p:childTnLst>
                                    <p:set>
                                      <p:cBhvr>
                                        <p:cTn id="181" dur="1" fill="hold">
                                          <p:stCondLst>
                                            <p:cond delay="0"/>
                                          </p:stCondLst>
                                        </p:cTn>
                                        <p:tgtEl>
                                          <p:spTgt spid="68924646"/>
                                        </p:tgtEl>
                                        <p:attrNameLst>
                                          <p:attrName>style.visibility</p:attrName>
                                        </p:attrNameLst>
                                      </p:cBhvr>
                                      <p:to>
                                        <p:strVal val="visible"/>
                                      </p:to>
                                    </p:set>
                                    <p:animEffect transition="in" filter="wipe(left)">
                                      <p:cBhvr>
                                        <p:cTn id="182" dur="500"/>
                                        <p:tgtEl>
                                          <p:spTgt spid="68924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1729589" grpId="0"/>
      <p:bldP spid="2050258051" grpId="0"/>
      <p:bldP spid="299941631" grpId="0"/>
      <p:bldP spid="299941631" grpId="1"/>
      <p:bldP spid="132362290" grpId="0"/>
      <p:bldP spid="1493292839" grpId="0"/>
      <p:bldP spid="1493292839" grpId="1"/>
      <p:bldP spid="1739292264" grpId="0"/>
      <p:bldP spid="467989667" grpId="0"/>
      <p:bldP spid="1200255519" grpId="0"/>
      <p:bldP spid="576519853" grpId="0"/>
      <p:bldP spid="1206052345" grpId="0"/>
      <p:bldP spid="1715005836" grpId="0"/>
      <p:bldP spid="264516088" grpId="0"/>
      <p:bldP spid="68924646" grpId="0" animBg="1"/>
      <p:bldP spid="68924646" grpId="1" animBg="1"/>
      <p:bldP spid="68924646" grpId="2" animBg="1"/>
      <p:bldP spid="1886923167" grpId="0"/>
      <p:bldP spid="1826829273" grpId="0"/>
      <p:bldP spid="647108522" grpId="0"/>
      <p:bldP spid="597928528" grpId="0"/>
      <p:bldP spid="1064303678" grpId="0"/>
      <p:bldP spid="1119538741" grpId="0"/>
      <p:bldP spid="1869772437" grpId="0"/>
      <p:bldP spid="528884160" grpId="0"/>
      <p:bldP spid="528884160" grpId="1"/>
      <p:bldP spid="1974051561" grpId="0"/>
      <p:bldP spid="1974051561" grpId="1"/>
      <p:bldP spid="661389205" grpId="0"/>
      <p:bldP spid="661389205" grpId="1"/>
      <p:bldP spid="1088208826" grpId="0"/>
      <p:bldP spid="1088208826" grpId="1"/>
      <p:bldP spid="369464882" grpId="0"/>
      <p:bldP spid="369464882" grpId="1"/>
      <p:bldP spid="1861702217" grpId="0"/>
      <p:bldP spid="1861702217" grpId="1"/>
      <p:bldP spid="1795086588" grpId="0"/>
      <p:bldP spid="1795086588" grpId="1"/>
      <p:bldP spid="1851230275" grpId="0"/>
      <p:bldP spid="315286526" grpId="0"/>
      <p:bldP spid="315286526" grpId="1"/>
      <p:bldP spid="894567778" grpId="0"/>
      <p:bldP spid="1809224539" grpId="0"/>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1997996" name="Title 1"/>
          <p:cNvSpPr>
            <a:spLocks noGrp="1"/>
          </p:cNvSpPr>
          <p:nvPr>
            <p:ph type="title"/>
          </p:nvPr>
        </p:nvSpPr>
        <p:spPr bwMode="auto"/>
        <p:txBody>
          <a:bodyPr/>
          <a:lstStyle/>
          <a:p>
            <a:pPr>
              <a:defRPr/>
            </a:pPr>
            <a:r>
              <a:rPr lang="en-IN"/>
              <a:t>Circular Queue </a:t>
            </a:r>
            <a:r>
              <a:rPr lang="en-US"/>
              <a:t>- Introduction</a:t>
            </a:r>
            <a:endParaRPr/>
          </a:p>
        </p:txBody>
      </p:sp>
      <p:sp>
        <p:nvSpPr>
          <p:cNvPr id="1033620024" name="Content Placeholder 2"/>
          <p:cNvSpPr>
            <a:spLocks noGrp="1"/>
          </p:cNvSpPr>
          <p:nvPr>
            <p:ph idx="1"/>
          </p:nvPr>
        </p:nvSpPr>
        <p:spPr bwMode="auto">
          <a:xfrm>
            <a:off x="131181" y="876144"/>
            <a:ext cx="8171156" cy="5590565"/>
          </a:xfrm>
        </p:spPr>
        <p:txBody>
          <a:bodyPr>
            <a:normAutofit/>
          </a:bodyPr>
          <a:lstStyle/>
          <a:p>
            <a:pPr>
              <a:defRPr/>
            </a:pPr>
            <a:r>
              <a:rPr lang="en-IN"/>
              <a:t>A </a:t>
            </a:r>
            <a:r>
              <a:rPr lang="en-IN" b="1">
                <a:solidFill>
                  <a:schemeClr val="accent6"/>
                </a:solidFill>
              </a:rPr>
              <a:t>Circular Queue</a:t>
            </a:r>
            <a:r>
              <a:rPr lang="en-IN"/>
              <a:t> is a linear data structure in which the last position is connected to the first position, forming a circular structure. It follows the </a:t>
            </a:r>
            <a:r>
              <a:rPr lang="en-IN" b="1">
                <a:solidFill>
                  <a:schemeClr val="accent6"/>
                </a:solidFill>
              </a:rPr>
              <a:t>FIFO (First In, First Out)</a:t>
            </a:r>
            <a:r>
              <a:rPr lang="en-IN"/>
              <a:t> principle.</a:t>
            </a:r>
            <a:endParaRPr/>
          </a:p>
          <a:p>
            <a:pPr>
              <a:defRPr/>
            </a:pPr>
            <a:r>
              <a:rPr lang="en-IN" b="1">
                <a:solidFill>
                  <a:schemeClr val="accent6"/>
                </a:solidFill>
              </a:rPr>
              <a:t>FRONT</a:t>
            </a:r>
            <a:r>
              <a:rPr lang="en-IN"/>
              <a:t> points to the first element. </a:t>
            </a:r>
            <a:endParaRPr/>
          </a:p>
          <a:p>
            <a:pPr>
              <a:defRPr/>
            </a:pPr>
            <a:r>
              <a:rPr lang="en-IN" b="1">
                <a:solidFill>
                  <a:schemeClr val="accent6"/>
                </a:solidFill>
              </a:rPr>
              <a:t>REAR</a:t>
            </a:r>
            <a:r>
              <a:rPr lang="en-IN"/>
              <a:t> points to the last inserted element. </a:t>
            </a:r>
            <a:endParaRPr/>
          </a:p>
          <a:p>
            <a:pPr>
              <a:defRPr/>
            </a:pPr>
            <a:r>
              <a:rPr lang="en-IN"/>
              <a:t>When REAR reaches the last position, it wraps around to the beginning (if space is available). </a:t>
            </a:r>
            <a:endParaRPr/>
          </a:p>
          <a:p>
            <a:pPr>
              <a:defRPr/>
            </a:pPr>
            <a:r>
              <a:rPr lang="en-IN"/>
              <a:t>Thus, the queue behaves like a circle, even though it is stored in a linear array. </a:t>
            </a:r>
            <a:endParaRPr/>
          </a:p>
          <a:p>
            <a:pPr>
              <a:defRPr/>
            </a:pPr>
            <a:r>
              <a:rPr lang="en-IN"/>
              <a:t>This allows vacant positions created after deletions to be reused, resulting in efficient memory utilization. </a:t>
            </a:r>
            <a:endParaRPr/>
          </a:p>
          <a:p>
            <a:pPr>
              <a:defRPr/>
            </a:pPr>
            <a:r>
              <a:rPr lang="en-IN"/>
              <a:t>It is also known as a </a:t>
            </a:r>
            <a:r>
              <a:rPr lang="en-IN" b="1">
                <a:solidFill>
                  <a:schemeClr val="accent6"/>
                </a:solidFill>
              </a:rPr>
              <a:t>Ring Buffer</a:t>
            </a:r>
            <a:r>
              <a:rPr lang="en-IN"/>
              <a:t>.</a:t>
            </a:r>
            <a:endParaRPr/>
          </a:p>
        </p:txBody>
      </p:sp>
      <p:pic>
        <p:nvPicPr>
          <p:cNvPr id="169379319" name="Picture 2" descr="E:\Clients\Darshan\Data Structure\images\circularqueues.png"/>
          <p:cNvPicPr>
            <a:picLocks noChangeAspect="1" noChangeArrowheads="1"/>
          </p:cNvPicPr>
          <p:nvPr/>
        </p:nvPicPr>
        <p:blipFill rotWithShape="1">
          <a:blip r:embed="rId3"/>
          <a:stretch/>
        </p:blipFill>
        <p:spPr bwMode="auto">
          <a:xfrm>
            <a:off x="8302337" y="2290773"/>
            <a:ext cx="3889663" cy="3678382"/>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36200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36200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3620024">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6937931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33620024">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33620024">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033620024">
                                            <p:txEl>
                                              <p:pRg st="5" end="5"/>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03362002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2870892" name="Title 3"/>
          <p:cNvSpPr>
            <a:spLocks noGrp="1"/>
          </p:cNvSpPr>
          <p:nvPr>
            <p:ph type="title"/>
          </p:nvPr>
        </p:nvSpPr>
        <p:spPr bwMode="auto"/>
        <p:txBody>
          <a:bodyPr/>
          <a:lstStyle/>
          <a:p>
            <a:pPr>
              <a:defRPr/>
            </a:pPr>
            <a:r>
              <a:rPr lang="en-US"/>
              <a:t>Operations on Circular Queue</a:t>
            </a:r>
            <a:endParaRPr/>
          </a:p>
        </p:txBody>
      </p:sp>
      <p:sp>
        <p:nvSpPr>
          <p:cNvPr id="1559550818" name="Text Placeholder 4"/>
          <p:cNvSpPr>
            <a:spLocks noGrp="1"/>
          </p:cNvSpPr>
          <p:nvPr>
            <p:ph type="body" idx="1"/>
          </p:nvPr>
        </p:nvSpPr>
        <p:spPr bwMode="auto"/>
        <p:txBody>
          <a:bodyPr/>
          <a:lstStyle/>
          <a:p>
            <a:pPr>
              <a:defRPr/>
            </a:pPr>
            <a:r>
              <a:rPr lang="en-US">
                <a:solidFill>
                  <a:srgbClr val="0070C0"/>
                </a:solidFill>
              </a:rPr>
              <a:t>CQINSERT</a:t>
            </a:r>
            <a:endParaRPr/>
          </a:p>
          <a:p>
            <a:pPr>
              <a:defRPr/>
            </a:pPr>
            <a:r>
              <a:rPr lang="en-US">
                <a:solidFill>
                  <a:srgbClr val="0070C0"/>
                </a:solidFill>
              </a:rPr>
              <a:t>CQDELETE</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741649" name="Title 1"/>
          <p:cNvSpPr>
            <a:spLocks noGrp="1"/>
          </p:cNvSpPr>
          <p:nvPr>
            <p:ph type="title"/>
          </p:nvPr>
        </p:nvSpPr>
        <p:spPr bwMode="auto"/>
        <p:txBody>
          <a:bodyPr/>
          <a:lstStyle/>
          <a:p>
            <a:pPr>
              <a:defRPr/>
            </a:pPr>
            <a:r>
              <a:rPr lang="pt-BR"/>
              <a:t>Procedure: CQINSERT (F, R, Q, N, Y)</a:t>
            </a:r>
            <a:endParaRPr lang="en-US"/>
          </a:p>
        </p:txBody>
      </p:sp>
      <p:sp>
        <p:nvSpPr>
          <p:cNvPr id="1113606956" name="Content Placeholder 2"/>
          <p:cNvSpPr>
            <a:spLocks noGrp="1"/>
          </p:cNvSpPr>
          <p:nvPr>
            <p:ph idx="1"/>
          </p:nvPr>
        </p:nvSpPr>
        <p:spPr bwMode="auto"/>
        <p:txBody>
          <a:bodyPr/>
          <a:lstStyle/>
          <a:p>
            <a:pPr>
              <a:defRPr/>
            </a:pPr>
            <a:r>
              <a:rPr lang="en-IN"/>
              <a:t>This procedure inserts </a:t>
            </a:r>
            <a:r>
              <a:rPr lang="en-IN" b="1">
                <a:solidFill>
                  <a:srgbClr val="C00000"/>
                </a:solidFill>
              </a:rPr>
              <a:t>Y</a:t>
            </a:r>
            <a:r>
              <a:rPr lang="en-IN"/>
              <a:t> at rear end of the Circular Queue.</a:t>
            </a:r>
            <a:endParaRPr/>
          </a:p>
          <a:p>
            <a:pPr>
              <a:defRPr/>
            </a:pPr>
            <a:r>
              <a:rPr lang="en-IN" b="1">
                <a:solidFill>
                  <a:srgbClr val="C00000"/>
                </a:solidFill>
              </a:rPr>
              <a:t>Queue</a:t>
            </a:r>
            <a:r>
              <a:rPr lang="en-IN">
                <a:solidFill>
                  <a:srgbClr val="C00000"/>
                </a:solidFill>
              </a:rPr>
              <a:t> </a:t>
            </a:r>
            <a:r>
              <a:rPr lang="en-IN"/>
              <a:t>is represented by a vector </a:t>
            </a:r>
            <a:r>
              <a:rPr lang="en-IN" b="1">
                <a:solidFill>
                  <a:srgbClr val="C00000"/>
                </a:solidFill>
              </a:rPr>
              <a:t>Q</a:t>
            </a:r>
            <a:r>
              <a:rPr lang="en-IN">
                <a:solidFill>
                  <a:srgbClr val="C00000"/>
                </a:solidFill>
              </a:rPr>
              <a:t> </a:t>
            </a:r>
            <a:r>
              <a:rPr lang="en-IN"/>
              <a:t>containing </a:t>
            </a:r>
            <a:r>
              <a:rPr lang="en-IN" b="1">
                <a:solidFill>
                  <a:srgbClr val="C00000"/>
                </a:solidFill>
              </a:rPr>
              <a:t>N</a:t>
            </a:r>
            <a:r>
              <a:rPr lang="en-IN">
                <a:solidFill>
                  <a:srgbClr val="C00000"/>
                </a:solidFill>
              </a:rPr>
              <a:t> </a:t>
            </a:r>
            <a:r>
              <a:rPr lang="en-IN"/>
              <a:t>elements.</a:t>
            </a:r>
            <a:endParaRPr/>
          </a:p>
          <a:p>
            <a:pPr>
              <a:defRPr/>
            </a:pPr>
            <a:r>
              <a:rPr lang="en-IN" b="1">
                <a:solidFill>
                  <a:srgbClr val="C00000"/>
                </a:solidFill>
              </a:rPr>
              <a:t>F</a:t>
            </a:r>
            <a:r>
              <a:rPr lang="en-IN">
                <a:solidFill>
                  <a:srgbClr val="C00000"/>
                </a:solidFill>
              </a:rPr>
              <a:t> </a:t>
            </a:r>
            <a:r>
              <a:rPr lang="en-IN"/>
              <a:t>is pointer to the front element of a queue.</a:t>
            </a:r>
            <a:endParaRPr/>
          </a:p>
          <a:p>
            <a:pPr>
              <a:defRPr/>
            </a:pPr>
            <a:r>
              <a:rPr lang="en-IN" b="1">
                <a:solidFill>
                  <a:srgbClr val="C00000"/>
                </a:solidFill>
              </a:rPr>
              <a:t>R</a:t>
            </a:r>
            <a:r>
              <a:rPr lang="en-IN">
                <a:solidFill>
                  <a:srgbClr val="C00000"/>
                </a:solidFill>
              </a:rPr>
              <a:t> </a:t>
            </a:r>
            <a:r>
              <a:rPr lang="en-IN"/>
              <a:t>is pointer to the rear element of a queue.</a:t>
            </a:r>
            <a:endParaRPr/>
          </a:p>
          <a:p>
            <a:pPr>
              <a:defRPr/>
            </a:pPr>
            <a:endParaRPr lang="en-US"/>
          </a:p>
        </p:txBody>
      </p:sp>
      <p:sp>
        <p:nvSpPr>
          <p:cNvPr id="186695149" name="TextBox 3"/>
          <p:cNvSpPr txBox="1"/>
          <p:nvPr/>
        </p:nvSpPr>
        <p:spPr bwMode="auto">
          <a:xfrm>
            <a:off x="426289" y="3066629"/>
            <a:ext cx="4497042" cy="2400657"/>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lvl="0">
              <a:defRPr/>
            </a:pPr>
            <a:r>
              <a:rPr lang="en-IN" sz="2000" b="1">
                <a:solidFill>
                  <a:srgbClr val="1D6FA9"/>
                </a:solidFill>
                <a:latin typeface="Consolas"/>
                <a:cs typeface="Consolas"/>
              </a:rPr>
              <a:t>1. [Overflow]</a:t>
            </a:r>
            <a:endParaRPr/>
          </a:p>
          <a:p>
            <a:pPr lvl="0">
              <a:defRPr/>
            </a:pPr>
            <a:r>
              <a:rPr lang="en-IN" b="1">
                <a:solidFill>
                  <a:srgbClr val="212121"/>
                </a:solidFill>
                <a:latin typeface="Consolas"/>
                <a:cs typeface="Consolas"/>
              </a:rPr>
              <a:t>       </a:t>
            </a:r>
            <a:r>
              <a:rPr lang="en-IN" b="1">
                <a:solidFill>
                  <a:srgbClr val="1D6FA9">
                    <a:lumMod val="75000"/>
                  </a:srgbClr>
                </a:solidFill>
                <a:latin typeface="Consolas"/>
                <a:cs typeface="Consolas"/>
              </a:rPr>
              <a:t>If</a:t>
            </a:r>
            <a:r>
              <a:rPr lang="en-IN" b="1">
                <a:solidFill>
                  <a:srgbClr val="212121"/>
                </a:solidFill>
                <a:latin typeface="Consolas"/>
                <a:cs typeface="Consolas"/>
              </a:rPr>
              <a:t>   (R+1) % N = F</a:t>
            </a:r>
            <a:endParaRPr/>
          </a:p>
          <a:p>
            <a:pPr lvl="0">
              <a:defRPr/>
            </a:pPr>
            <a:r>
              <a:rPr lang="en-IN" b="1">
                <a:solidFill>
                  <a:srgbClr val="212121"/>
                </a:solidFill>
                <a:latin typeface="Consolas"/>
                <a:cs typeface="Consolas"/>
              </a:rPr>
              <a:t>       </a:t>
            </a:r>
            <a:r>
              <a:rPr lang="en-IN" b="1">
                <a:solidFill>
                  <a:srgbClr val="1D6FA9">
                    <a:lumMod val="75000"/>
                  </a:srgbClr>
                </a:solidFill>
                <a:latin typeface="Consolas"/>
                <a:cs typeface="Consolas"/>
              </a:rPr>
              <a:t>Then </a:t>
            </a:r>
            <a:r>
              <a:rPr lang="en-IN" b="1">
                <a:solidFill>
                  <a:srgbClr val="212121"/>
                </a:solidFill>
                <a:latin typeface="Consolas"/>
                <a:cs typeface="Consolas"/>
              </a:rPr>
              <a:t>Write(‘Overflow’)</a:t>
            </a:r>
            <a:endParaRPr/>
          </a:p>
          <a:p>
            <a:pPr lvl="0">
              <a:defRPr/>
            </a:pPr>
            <a:r>
              <a:rPr lang="en-IN" b="1">
                <a:solidFill>
                  <a:srgbClr val="212121"/>
                </a:solidFill>
                <a:latin typeface="Consolas"/>
                <a:cs typeface="Consolas"/>
              </a:rPr>
              <a:t>	     Return</a:t>
            </a:r>
            <a:endParaRPr/>
          </a:p>
          <a:p>
            <a:pPr lvl="0">
              <a:defRPr/>
            </a:pPr>
            <a:endParaRPr lang="en-IN" b="1">
              <a:solidFill>
                <a:schemeClr val="tx2"/>
              </a:solidFill>
              <a:latin typeface="Consolas"/>
              <a:cs typeface="Consolas"/>
            </a:endParaRPr>
          </a:p>
          <a:p>
            <a:pPr>
              <a:defRPr/>
            </a:pPr>
            <a:r>
              <a:rPr lang="en-IN" sz="2000" b="1">
                <a:solidFill>
                  <a:schemeClr val="tx2"/>
                </a:solidFill>
                <a:latin typeface="Consolas"/>
                <a:cs typeface="Consolas"/>
              </a:rPr>
              <a:t>2. [Reset Rear Pointer]</a:t>
            </a:r>
            <a:endParaRPr/>
          </a:p>
          <a:p>
            <a:pPr>
              <a:defRPr/>
            </a:pPr>
            <a:r>
              <a:rPr lang="en-IN" sz="2000" b="1">
                <a:latin typeface="Consolas"/>
                <a:cs typeface="Consolas"/>
              </a:rPr>
              <a:t>         R </a:t>
            </a:r>
            <a:r>
              <a:rPr lang="en-IN" sz="2000" b="1">
                <a:latin typeface="Consolas"/>
                <a:cs typeface="Consolas"/>
              </a:rPr>
              <a:t></a:t>
            </a:r>
            <a:r>
              <a:rPr lang="en-IN" sz="2000" b="1">
                <a:latin typeface="Consolas"/>
                <a:cs typeface="Consolas"/>
              </a:rPr>
              <a:t> (R + 1) % N</a:t>
            </a:r>
            <a:endParaRPr/>
          </a:p>
          <a:p>
            <a:pPr>
              <a:defRPr/>
            </a:pPr>
            <a:r>
              <a:rPr lang="en-IN" b="1">
                <a:latin typeface="Consolas"/>
                <a:cs typeface="Consolas"/>
              </a:rPr>
              <a:t>     </a:t>
            </a:r>
            <a:endParaRPr/>
          </a:p>
        </p:txBody>
      </p:sp>
      <p:sp>
        <p:nvSpPr>
          <p:cNvPr id="977905175" name="TextBox 4"/>
          <p:cNvSpPr txBox="1"/>
          <p:nvPr/>
        </p:nvSpPr>
        <p:spPr bwMode="auto">
          <a:xfrm>
            <a:off x="4946506" y="3072814"/>
            <a:ext cx="4140000" cy="2400657"/>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000" b="1">
                <a:solidFill>
                  <a:schemeClr val="tx2"/>
                </a:solidFill>
                <a:latin typeface="Consolas"/>
                <a:cs typeface="Consolas"/>
              </a:rPr>
              <a:t>3. [Insert element]</a:t>
            </a:r>
            <a:endParaRPr/>
          </a:p>
          <a:p>
            <a:pPr>
              <a:defRPr/>
            </a:pPr>
            <a:r>
              <a:rPr lang="en-IN" b="1">
                <a:latin typeface="Consolas"/>
                <a:cs typeface="Consolas"/>
              </a:rPr>
              <a:t>	Q[R] </a:t>
            </a:r>
            <a:r>
              <a:rPr lang="en-IN" b="1">
                <a:latin typeface="Consolas"/>
                <a:cs typeface="Consolas"/>
              </a:rPr>
              <a:t></a:t>
            </a:r>
            <a:r>
              <a:rPr lang="en-IN" b="1">
                <a:latin typeface="Consolas"/>
                <a:cs typeface="Consolas"/>
              </a:rPr>
              <a:t> Y</a:t>
            </a:r>
            <a:endParaRPr/>
          </a:p>
          <a:p>
            <a:pPr>
              <a:defRPr/>
            </a:pPr>
            <a:endParaRPr lang="en-IN" b="1">
              <a:latin typeface="Consolas"/>
              <a:cs typeface="Consolas"/>
            </a:endParaRPr>
          </a:p>
          <a:p>
            <a:pPr marL="444500" indent="-444500">
              <a:defRPr/>
            </a:pPr>
            <a:r>
              <a:rPr lang="en-IN" sz="2000" b="1">
                <a:solidFill>
                  <a:schemeClr val="tx2"/>
                </a:solidFill>
                <a:latin typeface="Consolas"/>
                <a:cs typeface="Consolas"/>
              </a:rPr>
              <a:t>4. [Is front pointer properly set?]</a:t>
            </a:r>
            <a:endParaRPr/>
          </a:p>
          <a:p>
            <a:pPr>
              <a:defRPr/>
            </a:pPr>
            <a:r>
              <a:rPr lang="en-IN">
                <a:latin typeface="Consolas"/>
                <a:cs typeface="Consolas"/>
              </a:rPr>
              <a:t>      </a:t>
            </a:r>
            <a:r>
              <a:rPr lang="en-IN" b="1">
                <a:latin typeface="Consolas"/>
                <a:cs typeface="Consolas"/>
              </a:rPr>
              <a:t> </a:t>
            </a:r>
            <a:r>
              <a:rPr lang="en-IN" b="1">
                <a:solidFill>
                  <a:schemeClr val="tx2">
                    <a:lumMod val="75000"/>
                  </a:schemeClr>
                </a:solidFill>
                <a:latin typeface="Consolas"/>
                <a:cs typeface="Consolas"/>
              </a:rPr>
              <a:t>IF</a:t>
            </a:r>
            <a:r>
              <a:rPr lang="en-IN" b="1">
                <a:latin typeface="Consolas"/>
                <a:cs typeface="Consolas"/>
              </a:rPr>
              <a:t> 	F = -1</a:t>
            </a:r>
            <a:endParaRPr/>
          </a:p>
          <a:p>
            <a:pPr>
              <a:defRPr/>
            </a:pPr>
            <a:r>
              <a:rPr lang="en-IN" b="1">
                <a:latin typeface="Consolas"/>
                <a:cs typeface="Consolas"/>
              </a:rPr>
              <a:t>       </a:t>
            </a:r>
            <a:r>
              <a:rPr lang="en-IN" b="1">
                <a:solidFill>
                  <a:schemeClr val="tx2">
                    <a:lumMod val="75000"/>
                  </a:schemeClr>
                </a:solidFill>
                <a:latin typeface="Consolas"/>
                <a:cs typeface="Consolas"/>
              </a:rPr>
              <a:t>Then</a:t>
            </a:r>
            <a:r>
              <a:rPr lang="en-IN" b="1">
                <a:latin typeface="Consolas"/>
                <a:cs typeface="Consolas"/>
              </a:rPr>
              <a:t>	F </a:t>
            </a:r>
            <a:r>
              <a:rPr lang="en-IN" b="1">
                <a:latin typeface="Consolas"/>
                <a:cs typeface="Consolas"/>
              </a:rPr>
              <a:t></a:t>
            </a:r>
            <a:r>
              <a:rPr lang="en-IN" b="1">
                <a:latin typeface="Consolas"/>
                <a:cs typeface="Consolas"/>
              </a:rPr>
              <a:t> 0</a:t>
            </a:r>
            <a:endParaRPr/>
          </a:p>
          <a:p>
            <a:pPr>
              <a:defRPr/>
            </a:pPr>
            <a:r>
              <a:rPr lang="en-IN" b="1">
                <a:latin typeface="Consolas"/>
                <a:cs typeface="Consolas"/>
              </a:rPr>
              <a:t>               Return</a:t>
            </a:r>
            <a:endParaRPr/>
          </a:p>
        </p:txBody>
      </p:sp>
      <p:grpSp>
        <p:nvGrpSpPr>
          <p:cNvPr id="1955733337" name="Group 73"/>
          <p:cNvGrpSpPr/>
          <p:nvPr/>
        </p:nvGrpSpPr>
        <p:grpSpPr bwMode="auto">
          <a:xfrm>
            <a:off x="9563924" y="796397"/>
            <a:ext cx="2286000" cy="1346778"/>
            <a:chOff x="9563924" y="796397"/>
            <a:chExt cx="2286000" cy="1346778"/>
          </a:xfrm>
        </p:grpSpPr>
        <p:grpSp>
          <p:nvGrpSpPr>
            <p:cNvPr id="72" name="Group 71"/>
            <p:cNvGrpSpPr/>
            <p:nvPr/>
          </p:nvGrpSpPr>
          <p:grpSpPr bwMode="auto">
            <a:xfrm>
              <a:off x="9563924" y="796397"/>
              <a:ext cx="2286000" cy="1306320"/>
              <a:chOff x="6324600" y="2472268"/>
              <a:chExt cx="2286000" cy="1306320"/>
            </a:xfrm>
          </p:grpSpPr>
          <p:grpSp>
            <p:nvGrpSpPr>
              <p:cNvPr id="56" name="Group 55"/>
              <p:cNvGrpSpPr/>
              <p:nvPr/>
            </p:nvGrpSpPr>
            <p:grpSpPr bwMode="auto">
              <a:xfrm>
                <a:off x="6585857" y="3168988"/>
                <a:ext cx="1828800" cy="381000"/>
                <a:chOff x="381000" y="1219200"/>
                <a:chExt cx="1828800" cy="381000"/>
              </a:xfrm>
            </p:grpSpPr>
            <p:sp>
              <p:nvSpPr>
                <p:cNvPr id="68" name="Rectangle 67"/>
                <p:cNvSpPr/>
                <p:nvPr/>
              </p:nvSpPr>
              <p:spPr bwMode="auto">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23</a:t>
                  </a:r>
                  <a:endParaRPr lang="en-US" b="1"/>
                </a:p>
              </p:txBody>
            </p:sp>
            <p:sp>
              <p:nvSpPr>
                <p:cNvPr id="69" name="Rectangle 68"/>
                <p:cNvSpPr/>
                <p:nvPr/>
              </p:nvSpPr>
              <p:spPr bwMode="auto">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6</a:t>
                  </a:r>
                  <a:endParaRPr lang="en-US" b="1"/>
                </a:p>
              </p:txBody>
            </p:sp>
            <p:sp>
              <p:nvSpPr>
                <p:cNvPr id="70" name="Rectangle 69"/>
                <p:cNvSpPr/>
                <p:nvPr/>
              </p:nvSpPr>
              <p:spPr bwMode="auto">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a:t>
                  </a:r>
                  <a:endParaRPr lang="en-US" b="1"/>
                </a:p>
              </p:txBody>
            </p:sp>
            <p:sp>
              <p:nvSpPr>
                <p:cNvPr id="71" name="Rectangle 70"/>
                <p:cNvSpPr/>
                <p:nvPr/>
              </p:nvSpPr>
              <p:spPr bwMode="auto">
                <a:xfrm>
                  <a:off x="1752599"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15</a:t>
                  </a:r>
                  <a:endParaRPr lang="en-US" b="1"/>
                </a:p>
              </p:txBody>
            </p:sp>
          </p:grpSp>
          <p:cxnSp>
            <p:nvCxnSpPr>
              <p:cNvPr id="57" name="Straight Connector 56"/>
              <p:cNvCxnSpPr>
                <a:stCxn id="71" idx="3"/>
              </p:cNvCxnSpPr>
              <p:nvPr/>
            </p:nvCxnSpPr>
            <p:spPr bwMode="auto">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58" name="Straight Connector 57"/>
              <p:cNvCxnSpPr/>
              <p:nvPr/>
            </p:nvCxnSpPr>
            <p:spPr bwMode="auto">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59" name="Straight Connector 58"/>
              <p:cNvCxnSpPr/>
              <p:nvPr/>
            </p:nvCxnSpPr>
            <p:spPr bwMode="auto">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bwMode="auto">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1" name="Straight Arrow Connector 60"/>
              <p:cNvCxnSpPr>
                <a:endCxn id="68" idx="1"/>
              </p:cNvCxnSpPr>
              <p:nvPr/>
            </p:nvCxnSpPr>
            <p:spPr bwMode="auto">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62" name="Group 61"/>
              <p:cNvGrpSpPr/>
              <p:nvPr/>
            </p:nvGrpSpPr>
            <p:grpSpPr bwMode="auto">
              <a:xfrm>
                <a:off x="8022764" y="2472280"/>
                <a:ext cx="314510" cy="680083"/>
                <a:chOff x="1937650" y="5094504"/>
                <a:chExt cx="314510" cy="680083"/>
              </a:xfrm>
            </p:grpSpPr>
            <p:sp>
              <p:nvSpPr>
                <p:cNvPr id="66" name="TextBox 65"/>
                <p:cNvSpPr txBox="1"/>
                <p:nvPr/>
              </p:nvSpPr>
              <p:spPr bwMode="auto">
                <a:xfrm>
                  <a:off x="1937650" y="5094504"/>
                  <a:ext cx="314510" cy="369332"/>
                </a:xfrm>
                <a:prstGeom prst="rect">
                  <a:avLst/>
                </a:prstGeom>
                <a:noFill/>
              </p:spPr>
              <p:txBody>
                <a:bodyPr wrap="none" rtlCol="0">
                  <a:spAutoFit/>
                </a:bodyPr>
                <a:lstStyle/>
                <a:p>
                  <a:pPr>
                    <a:defRPr/>
                  </a:pPr>
                  <a:r>
                    <a:rPr lang="en-IN" b="1">
                      <a:solidFill>
                        <a:srgbClr val="C00000"/>
                      </a:solidFill>
                    </a:rPr>
                    <a:t>R</a:t>
                  </a:r>
                  <a:endParaRPr lang="en-US" b="1">
                    <a:solidFill>
                      <a:srgbClr val="C00000"/>
                    </a:solidFill>
                  </a:endParaRPr>
                </a:p>
              </p:txBody>
            </p:sp>
            <p:cxnSp>
              <p:nvCxnSpPr>
                <p:cNvPr id="67" name="Straight Arrow Connector 66"/>
                <p:cNvCxnSpPr>
                  <a:stCxn id="66" idx="2"/>
                  <a:endCxn id="71" idx="0"/>
                </p:cNvCxnSpPr>
                <p:nvPr/>
              </p:nvCxnSpPr>
              <p:spPr bwMode="auto">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63" name="Group 62"/>
              <p:cNvGrpSpPr/>
              <p:nvPr/>
            </p:nvGrpSpPr>
            <p:grpSpPr bwMode="auto">
              <a:xfrm>
                <a:off x="6642133" y="2472268"/>
                <a:ext cx="293670" cy="696708"/>
                <a:chOff x="1936047" y="5094504"/>
                <a:chExt cx="293670" cy="696708"/>
              </a:xfrm>
            </p:grpSpPr>
            <p:sp>
              <p:nvSpPr>
                <p:cNvPr id="64" name="TextBox 63"/>
                <p:cNvSpPr txBox="1"/>
                <p:nvPr/>
              </p:nvSpPr>
              <p:spPr bwMode="auto">
                <a:xfrm>
                  <a:off x="1936047" y="5094504"/>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65" name="Straight Arrow Connector 64"/>
                <p:cNvCxnSpPr>
                  <a:stCxn id="64" idx="2"/>
                </p:cNvCxnSpPr>
                <p:nvPr/>
              </p:nvCxnSpPr>
              <p:spPr bwMode="auto">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18" name="Group 17"/>
            <p:cNvGrpSpPr/>
            <p:nvPr/>
          </p:nvGrpSpPr>
          <p:grpSpPr bwMode="auto">
            <a:xfrm>
              <a:off x="9953169" y="1820753"/>
              <a:ext cx="1506640" cy="322423"/>
              <a:chOff x="9953169" y="1820753"/>
              <a:chExt cx="1506640" cy="322423"/>
            </a:xfrm>
          </p:grpSpPr>
          <p:sp>
            <p:nvSpPr>
              <p:cNvPr id="6" name="TextBox 5"/>
              <p:cNvSpPr txBox="1"/>
              <p:nvPr/>
            </p:nvSpPr>
            <p:spPr bwMode="auto">
              <a:xfrm>
                <a:off x="9953169" y="1834020"/>
                <a:ext cx="116205" cy="307777"/>
              </a:xfrm>
              <a:prstGeom prst="rect">
                <a:avLst/>
              </a:prstGeom>
              <a:noFill/>
            </p:spPr>
            <p:txBody>
              <a:bodyPr wrap="square" rtlCol="0">
                <a:spAutoFit/>
              </a:bodyPr>
              <a:lstStyle/>
              <a:p>
                <a:pPr>
                  <a:defRPr/>
                </a:pPr>
                <a:r>
                  <a:rPr lang="en-IN" sz="1400"/>
                  <a:t>0</a:t>
                </a:r>
                <a:endParaRPr/>
              </a:p>
            </p:txBody>
          </p:sp>
          <p:sp>
            <p:nvSpPr>
              <p:cNvPr id="12" name="TextBox 11"/>
              <p:cNvSpPr txBox="1"/>
              <p:nvPr/>
            </p:nvSpPr>
            <p:spPr bwMode="auto">
              <a:xfrm>
                <a:off x="10423654" y="1835399"/>
                <a:ext cx="116205" cy="307777"/>
              </a:xfrm>
              <a:prstGeom prst="rect">
                <a:avLst/>
              </a:prstGeom>
              <a:noFill/>
            </p:spPr>
            <p:txBody>
              <a:bodyPr wrap="square" rtlCol="0">
                <a:spAutoFit/>
              </a:bodyPr>
              <a:lstStyle/>
              <a:p>
                <a:pPr>
                  <a:defRPr/>
                </a:pPr>
                <a:r>
                  <a:rPr lang="en-IN" sz="1400"/>
                  <a:t>1</a:t>
                </a:r>
                <a:endParaRPr/>
              </a:p>
            </p:txBody>
          </p:sp>
          <p:sp>
            <p:nvSpPr>
              <p:cNvPr id="14" name="TextBox 13"/>
              <p:cNvSpPr txBox="1"/>
              <p:nvPr/>
            </p:nvSpPr>
            <p:spPr bwMode="auto">
              <a:xfrm>
                <a:off x="10883629" y="1820753"/>
                <a:ext cx="116205" cy="307777"/>
              </a:xfrm>
              <a:prstGeom prst="rect">
                <a:avLst/>
              </a:prstGeom>
              <a:noFill/>
            </p:spPr>
            <p:txBody>
              <a:bodyPr wrap="square" rtlCol="0">
                <a:spAutoFit/>
              </a:bodyPr>
              <a:lstStyle/>
              <a:p>
                <a:pPr>
                  <a:defRPr/>
                </a:pPr>
                <a:r>
                  <a:rPr lang="en-IN" sz="1400"/>
                  <a:t>2</a:t>
                </a:r>
                <a:endParaRPr/>
              </a:p>
            </p:txBody>
          </p:sp>
          <p:sp>
            <p:nvSpPr>
              <p:cNvPr id="16" name="TextBox 15"/>
              <p:cNvSpPr txBox="1"/>
              <p:nvPr/>
            </p:nvSpPr>
            <p:spPr bwMode="auto">
              <a:xfrm>
                <a:off x="11343604" y="1822132"/>
                <a:ext cx="116205" cy="307777"/>
              </a:xfrm>
              <a:prstGeom prst="rect">
                <a:avLst/>
              </a:prstGeom>
              <a:noFill/>
            </p:spPr>
            <p:txBody>
              <a:bodyPr wrap="square" rtlCol="0">
                <a:spAutoFit/>
              </a:bodyPr>
              <a:lstStyle/>
              <a:p>
                <a:pPr>
                  <a:defRPr/>
                </a:pPr>
                <a:r>
                  <a:rPr lang="en-IN" sz="1400"/>
                  <a:t>3</a:t>
                </a:r>
                <a:endParaRPr/>
              </a:p>
            </p:txBody>
          </p:sp>
        </p:grpSp>
      </p:grpSp>
      <p:grpSp>
        <p:nvGrpSpPr>
          <p:cNvPr id="2002348958" name="Group 54"/>
          <p:cNvGrpSpPr/>
          <p:nvPr/>
        </p:nvGrpSpPr>
        <p:grpSpPr bwMode="auto">
          <a:xfrm>
            <a:off x="9563924" y="2413469"/>
            <a:ext cx="2286000" cy="1364179"/>
            <a:chOff x="9563924" y="2413469"/>
            <a:chExt cx="2286000" cy="1364179"/>
          </a:xfrm>
        </p:grpSpPr>
        <p:grpSp>
          <p:nvGrpSpPr>
            <p:cNvPr id="36" name="Group 35"/>
            <p:cNvGrpSpPr/>
            <p:nvPr/>
          </p:nvGrpSpPr>
          <p:grpSpPr bwMode="auto">
            <a:xfrm>
              <a:off x="9563924" y="2413469"/>
              <a:ext cx="2286000" cy="1306320"/>
              <a:chOff x="239486" y="2480130"/>
              <a:chExt cx="2286000" cy="1306320"/>
            </a:xfrm>
          </p:grpSpPr>
          <p:grpSp>
            <p:nvGrpSpPr>
              <p:cNvPr id="7" name="Group 6"/>
              <p:cNvGrpSpPr/>
              <p:nvPr/>
            </p:nvGrpSpPr>
            <p:grpSpPr bwMode="auto">
              <a:xfrm>
                <a:off x="500744" y="3176850"/>
                <a:ext cx="1828800" cy="381000"/>
                <a:chOff x="381000" y="1219200"/>
                <a:chExt cx="1828800" cy="381000"/>
              </a:xfrm>
            </p:grpSpPr>
            <p:sp>
              <p:nvSpPr>
                <p:cNvPr id="8" name="Rectangle 7"/>
                <p:cNvSpPr/>
                <p:nvPr/>
              </p:nvSpPr>
              <p:spPr bwMode="auto">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Rectangle 8"/>
                <p:cNvSpPr/>
                <p:nvPr/>
              </p:nvSpPr>
              <p:spPr bwMode="auto">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Rectangle 9"/>
                <p:cNvSpPr/>
                <p:nvPr/>
              </p:nvSpPr>
              <p:spPr bwMode="auto">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a:t>
                  </a:r>
                  <a:endParaRPr lang="en-US" b="1"/>
                </a:p>
              </p:txBody>
            </p:sp>
            <p:sp>
              <p:nvSpPr>
                <p:cNvPr id="11" name="Rectangle 10"/>
                <p:cNvSpPr/>
                <p:nvPr/>
              </p:nvSpPr>
              <p:spPr bwMode="auto">
                <a:xfrm>
                  <a:off x="1752599"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15</a:t>
                  </a:r>
                  <a:endParaRPr lang="en-US" b="1"/>
                </a:p>
              </p:txBody>
            </p:sp>
          </p:grpSp>
          <p:cxnSp>
            <p:nvCxnSpPr>
              <p:cNvPr id="13" name="Straight Connector 12"/>
              <p:cNvCxnSpPr>
                <a:stCxn id="11" idx="3"/>
              </p:cNvCxnSpPr>
              <p:nvPr/>
            </p:nvCxnSpPr>
            <p:spPr bwMode="auto">
              <a:xfrm>
                <a:off x="2329544" y="3367350"/>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bwMode="auto">
              <a:xfrm>
                <a:off x="2514602" y="3367350"/>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bwMode="auto">
              <a:xfrm flipH="1">
                <a:off x="239486" y="3786449"/>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21" name="Straight Connector 20"/>
              <p:cNvCxnSpPr/>
              <p:nvPr/>
            </p:nvCxnSpPr>
            <p:spPr bwMode="auto">
              <a:xfrm flipV="1">
                <a:off x="239486" y="3367350"/>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23" name="Straight Arrow Connector 22"/>
              <p:cNvCxnSpPr/>
              <p:nvPr/>
            </p:nvCxnSpPr>
            <p:spPr bwMode="auto">
              <a:xfrm>
                <a:off x="239486" y="3367350"/>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31" name="Group 30"/>
              <p:cNvGrpSpPr/>
              <p:nvPr/>
            </p:nvGrpSpPr>
            <p:grpSpPr bwMode="auto">
              <a:xfrm>
                <a:off x="1937650" y="2480142"/>
                <a:ext cx="314510" cy="680083"/>
                <a:chOff x="1937650" y="5094504"/>
                <a:chExt cx="314510" cy="680083"/>
              </a:xfrm>
            </p:grpSpPr>
            <p:sp>
              <p:nvSpPr>
                <p:cNvPr id="24" name="TextBox 23"/>
                <p:cNvSpPr txBox="1"/>
                <p:nvPr/>
              </p:nvSpPr>
              <p:spPr bwMode="auto">
                <a:xfrm>
                  <a:off x="1937650" y="5094504"/>
                  <a:ext cx="314510" cy="369332"/>
                </a:xfrm>
                <a:prstGeom prst="rect">
                  <a:avLst/>
                </a:prstGeom>
                <a:noFill/>
                <a:ln>
                  <a:noFill/>
                </a:ln>
              </p:spPr>
              <p:txBody>
                <a:bodyPr wrap="none" rtlCol="0">
                  <a:spAutoFit/>
                </a:bodyPr>
                <a:lstStyle/>
                <a:p>
                  <a:pPr>
                    <a:defRPr/>
                  </a:pPr>
                  <a:r>
                    <a:rPr lang="en-IN" b="1">
                      <a:solidFill>
                        <a:srgbClr val="C00000"/>
                      </a:solidFill>
                    </a:rPr>
                    <a:t>R</a:t>
                  </a:r>
                  <a:endParaRPr lang="en-US" b="1">
                    <a:solidFill>
                      <a:srgbClr val="C00000"/>
                    </a:solidFill>
                  </a:endParaRPr>
                </a:p>
              </p:txBody>
            </p:sp>
            <p:cxnSp>
              <p:nvCxnSpPr>
                <p:cNvPr id="28" name="Straight Arrow Connector 27"/>
                <p:cNvCxnSpPr>
                  <a:stCxn id="24" idx="2"/>
                  <a:endCxn id="11" idx="0"/>
                </p:cNvCxnSpPr>
                <p:nvPr/>
              </p:nvCxnSpPr>
              <p:spPr bwMode="auto">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2" name="Group 31"/>
              <p:cNvGrpSpPr/>
              <p:nvPr/>
            </p:nvGrpSpPr>
            <p:grpSpPr bwMode="auto">
              <a:xfrm>
                <a:off x="1490955" y="2480130"/>
                <a:ext cx="293670" cy="696708"/>
                <a:chOff x="1936047" y="5094504"/>
                <a:chExt cx="293670" cy="696708"/>
              </a:xfrm>
            </p:grpSpPr>
            <p:sp>
              <p:nvSpPr>
                <p:cNvPr id="33" name="TextBox 32"/>
                <p:cNvSpPr txBox="1"/>
                <p:nvPr/>
              </p:nvSpPr>
              <p:spPr bwMode="auto">
                <a:xfrm>
                  <a:off x="1936047" y="5094504"/>
                  <a:ext cx="293670" cy="369332"/>
                </a:xfrm>
                <a:prstGeom prst="rect">
                  <a:avLst/>
                </a:prstGeom>
                <a:noFill/>
                <a:ln>
                  <a:noFill/>
                </a:ln>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34" name="Straight Arrow Connector 33"/>
                <p:cNvCxnSpPr>
                  <a:stCxn id="33" idx="2"/>
                </p:cNvCxnSpPr>
                <p:nvPr/>
              </p:nvCxnSpPr>
              <p:spPr bwMode="auto">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19" name="Group 18"/>
            <p:cNvGrpSpPr/>
            <p:nvPr/>
          </p:nvGrpSpPr>
          <p:grpSpPr bwMode="auto">
            <a:xfrm>
              <a:off x="9931490" y="3455225"/>
              <a:ext cx="1506640" cy="322423"/>
              <a:chOff x="9953169" y="1820753"/>
              <a:chExt cx="1506640" cy="322423"/>
            </a:xfrm>
          </p:grpSpPr>
          <p:sp>
            <p:nvSpPr>
              <p:cNvPr id="20" name="TextBox 19"/>
              <p:cNvSpPr txBox="1"/>
              <p:nvPr/>
            </p:nvSpPr>
            <p:spPr bwMode="auto">
              <a:xfrm>
                <a:off x="9953169" y="1834020"/>
                <a:ext cx="116205" cy="307777"/>
              </a:xfrm>
              <a:prstGeom prst="rect">
                <a:avLst/>
              </a:prstGeom>
              <a:noFill/>
            </p:spPr>
            <p:txBody>
              <a:bodyPr wrap="square" rtlCol="0">
                <a:spAutoFit/>
              </a:bodyPr>
              <a:lstStyle/>
              <a:p>
                <a:pPr>
                  <a:defRPr/>
                </a:pPr>
                <a:r>
                  <a:rPr lang="en-IN" sz="1400"/>
                  <a:t>0</a:t>
                </a:r>
                <a:endParaRPr/>
              </a:p>
            </p:txBody>
          </p:sp>
          <p:sp>
            <p:nvSpPr>
              <p:cNvPr id="22" name="TextBox 21"/>
              <p:cNvSpPr txBox="1"/>
              <p:nvPr/>
            </p:nvSpPr>
            <p:spPr bwMode="auto">
              <a:xfrm>
                <a:off x="10423654" y="1835399"/>
                <a:ext cx="116205" cy="307777"/>
              </a:xfrm>
              <a:prstGeom prst="rect">
                <a:avLst/>
              </a:prstGeom>
              <a:noFill/>
            </p:spPr>
            <p:txBody>
              <a:bodyPr wrap="square" rtlCol="0">
                <a:spAutoFit/>
              </a:bodyPr>
              <a:lstStyle/>
              <a:p>
                <a:pPr>
                  <a:defRPr/>
                </a:pPr>
                <a:r>
                  <a:rPr lang="en-IN" sz="1400"/>
                  <a:t>1</a:t>
                </a:r>
                <a:endParaRPr/>
              </a:p>
            </p:txBody>
          </p:sp>
          <p:sp>
            <p:nvSpPr>
              <p:cNvPr id="25" name="TextBox 24"/>
              <p:cNvSpPr txBox="1"/>
              <p:nvPr/>
            </p:nvSpPr>
            <p:spPr bwMode="auto">
              <a:xfrm>
                <a:off x="10883629" y="1820753"/>
                <a:ext cx="116205" cy="307777"/>
              </a:xfrm>
              <a:prstGeom prst="rect">
                <a:avLst/>
              </a:prstGeom>
              <a:noFill/>
            </p:spPr>
            <p:txBody>
              <a:bodyPr wrap="square" rtlCol="0">
                <a:spAutoFit/>
              </a:bodyPr>
              <a:lstStyle/>
              <a:p>
                <a:pPr>
                  <a:defRPr/>
                </a:pPr>
                <a:r>
                  <a:rPr lang="en-IN" sz="1400"/>
                  <a:t>2</a:t>
                </a:r>
                <a:endParaRPr/>
              </a:p>
            </p:txBody>
          </p:sp>
          <p:sp>
            <p:nvSpPr>
              <p:cNvPr id="26" name="TextBox 25"/>
              <p:cNvSpPr txBox="1"/>
              <p:nvPr/>
            </p:nvSpPr>
            <p:spPr bwMode="auto">
              <a:xfrm>
                <a:off x="11343604" y="1822132"/>
                <a:ext cx="116205" cy="307777"/>
              </a:xfrm>
              <a:prstGeom prst="rect">
                <a:avLst/>
              </a:prstGeom>
              <a:noFill/>
            </p:spPr>
            <p:txBody>
              <a:bodyPr wrap="square" rtlCol="0">
                <a:spAutoFit/>
              </a:bodyPr>
              <a:lstStyle/>
              <a:p>
                <a:pPr>
                  <a:defRPr/>
                </a:pPr>
                <a:r>
                  <a:rPr lang="en-IN" sz="1400"/>
                  <a:t>3</a:t>
                </a:r>
                <a:endParaRPr/>
              </a:p>
            </p:txBody>
          </p:sp>
        </p:grpSp>
      </p:grpSp>
      <p:grpSp>
        <p:nvGrpSpPr>
          <p:cNvPr id="96038200" name="Group 37"/>
          <p:cNvGrpSpPr/>
          <p:nvPr/>
        </p:nvGrpSpPr>
        <p:grpSpPr bwMode="auto">
          <a:xfrm>
            <a:off x="9792524" y="4989341"/>
            <a:ext cx="1828800" cy="381000"/>
            <a:chOff x="381000" y="1219200"/>
            <a:chExt cx="1828800" cy="381000"/>
          </a:xfrm>
        </p:grpSpPr>
        <p:sp>
          <p:nvSpPr>
            <p:cNvPr id="50" name="Rectangle 49"/>
            <p:cNvSpPr/>
            <p:nvPr/>
          </p:nvSpPr>
          <p:spPr bwMode="auto">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51" name="Rectangle 50"/>
            <p:cNvSpPr/>
            <p:nvPr/>
          </p:nvSpPr>
          <p:spPr bwMode="auto">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52" name="Rectangle 51"/>
            <p:cNvSpPr/>
            <p:nvPr/>
          </p:nvSpPr>
          <p:spPr bwMode="auto">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t>8</a:t>
              </a:r>
              <a:endParaRPr/>
            </a:p>
          </p:txBody>
        </p:sp>
        <p:sp>
          <p:nvSpPr>
            <p:cNvPr id="53" name="Rectangle 52"/>
            <p:cNvSpPr/>
            <p:nvPr/>
          </p:nvSpPr>
          <p:spPr bwMode="auto">
            <a:xfrm>
              <a:off x="1752599"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b="1"/>
                <a:t>15</a:t>
              </a:r>
              <a:endParaRPr/>
            </a:p>
          </p:txBody>
        </p:sp>
      </p:grpSp>
      <p:grpSp>
        <p:nvGrpSpPr>
          <p:cNvPr id="379555947" name="Group 43"/>
          <p:cNvGrpSpPr/>
          <p:nvPr/>
        </p:nvGrpSpPr>
        <p:grpSpPr bwMode="auto">
          <a:xfrm>
            <a:off x="11244451" y="4309002"/>
            <a:ext cx="314510" cy="680083"/>
            <a:chOff x="1937650" y="5094504"/>
            <a:chExt cx="314510" cy="680083"/>
          </a:xfrm>
        </p:grpSpPr>
        <p:sp>
          <p:nvSpPr>
            <p:cNvPr id="48" name="TextBox 47"/>
            <p:cNvSpPr txBox="1"/>
            <p:nvPr/>
          </p:nvSpPr>
          <p:spPr bwMode="auto">
            <a:xfrm>
              <a:off x="1937650" y="5094504"/>
              <a:ext cx="314510" cy="369332"/>
            </a:xfrm>
            <a:prstGeom prst="rect">
              <a:avLst/>
            </a:prstGeom>
            <a:noFill/>
          </p:spPr>
          <p:txBody>
            <a:bodyPr wrap="none" rtlCol="0">
              <a:spAutoFit/>
            </a:bodyPr>
            <a:lstStyle/>
            <a:p>
              <a:pPr>
                <a:defRPr/>
              </a:pPr>
              <a:r>
                <a:rPr lang="en-IN" b="1">
                  <a:solidFill>
                    <a:srgbClr val="C00000"/>
                  </a:solidFill>
                </a:rPr>
                <a:t>R</a:t>
              </a:r>
              <a:endParaRPr lang="en-US" b="1">
                <a:solidFill>
                  <a:srgbClr val="C00000"/>
                </a:solidFill>
              </a:endParaRPr>
            </a:p>
          </p:txBody>
        </p:sp>
        <p:cxnSp>
          <p:nvCxnSpPr>
            <p:cNvPr id="49" name="Straight Arrow Connector 48"/>
            <p:cNvCxnSpPr>
              <a:stCxn id="48" idx="2"/>
              <a:endCxn id="53" idx="0"/>
            </p:cNvCxnSpPr>
            <p:nvPr/>
          </p:nvCxnSpPr>
          <p:spPr bwMode="auto">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001600270" name="Group 79"/>
          <p:cNvGrpSpPr/>
          <p:nvPr/>
        </p:nvGrpSpPr>
        <p:grpSpPr bwMode="auto">
          <a:xfrm>
            <a:off x="9531266" y="4292377"/>
            <a:ext cx="2286000" cy="1353476"/>
            <a:chOff x="9531266" y="4292377"/>
            <a:chExt cx="2286000" cy="1353476"/>
          </a:xfrm>
        </p:grpSpPr>
        <p:cxnSp>
          <p:nvCxnSpPr>
            <p:cNvPr id="39" name="Straight Connector 38"/>
            <p:cNvCxnSpPr>
              <a:stCxn id="53" idx="3"/>
            </p:cNvCxnSpPr>
            <p:nvPr/>
          </p:nvCxnSpPr>
          <p:spPr bwMode="auto">
            <a:xfrm>
              <a:off x="11621324" y="5179841"/>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bwMode="auto">
            <a:xfrm>
              <a:off x="11806382" y="5179841"/>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1" name="Straight Connector 40"/>
            <p:cNvCxnSpPr/>
            <p:nvPr/>
          </p:nvCxnSpPr>
          <p:spPr bwMode="auto">
            <a:xfrm flipH="1">
              <a:off x="9531266" y="5598941"/>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2" name="Straight Connector 41"/>
            <p:cNvCxnSpPr/>
            <p:nvPr/>
          </p:nvCxnSpPr>
          <p:spPr bwMode="auto">
            <a:xfrm flipV="1">
              <a:off x="9531266" y="5179841"/>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3" name="Straight Arrow Connector 42"/>
            <p:cNvCxnSpPr>
              <a:endCxn id="50" idx="1"/>
            </p:cNvCxnSpPr>
            <p:nvPr/>
          </p:nvCxnSpPr>
          <p:spPr bwMode="auto">
            <a:xfrm>
              <a:off x="9531266" y="5179841"/>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45" name="Group 44"/>
            <p:cNvGrpSpPr/>
            <p:nvPr/>
          </p:nvGrpSpPr>
          <p:grpSpPr bwMode="auto">
            <a:xfrm>
              <a:off x="10772758" y="4292377"/>
              <a:ext cx="293670" cy="696708"/>
              <a:chOff x="1936047" y="5094504"/>
              <a:chExt cx="293670" cy="696708"/>
            </a:xfrm>
          </p:grpSpPr>
          <p:sp>
            <p:nvSpPr>
              <p:cNvPr id="46" name="TextBox 45"/>
              <p:cNvSpPr txBox="1"/>
              <p:nvPr/>
            </p:nvSpPr>
            <p:spPr bwMode="auto">
              <a:xfrm>
                <a:off x="1936047" y="5094504"/>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47" name="Straight Arrow Connector 46"/>
              <p:cNvCxnSpPr>
                <a:stCxn id="46" idx="2"/>
              </p:cNvCxnSpPr>
              <p:nvPr/>
            </p:nvCxnSpPr>
            <p:spPr bwMode="auto">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7" name="Group 26"/>
            <p:cNvGrpSpPr/>
            <p:nvPr/>
          </p:nvGrpSpPr>
          <p:grpSpPr bwMode="auto">
            <a:xfrm>
              <a:off x="9931490" y="5323430"/>
              <a:ext cx="1506640" cy="322423"/>
              <a:chOff x="9953169" y="1820753"/>
              <a:chExt cx="1506640" cy="322423"/>
            </a:xfrm>
          </p:grpSpPr>
          <p:sp>
            <p:nvSpPr>
              <p:cNvPr id="29" name="TextBox 28"/>
              <p:cNvSpPr txBox="1"/>
              <p:nvPr/>
            </p:nvSpPr>
            <p:spPr bwMode="auto">
              <a:xfrm>
                <a:off x="9953169" y="1834020"/>
                <a:ext cx="116205" cy="307777"/>
              </a:xfrm>
              <a:prstGeom prst="rect">
                <a:avLst/>
              </a:prstGeom>
              <a:noFill/>
            </p:spPr>
            <p:txBody>
              <a:bodyPr wrap="square" rtlCol="0">
                <a:spAutoFit/>
              </a:bodyPr>
              <a:lstStyle/>
              <a:p>
                <a:pPr>
                  <a:defRPr/>
                </a:pPr>
                <a:r>
                  <a:rPr lang="en-IN" sz="1400"/>
                  <a:t>0</a:t>
                </a:r>
                <a:endParaRPr/>
              </a:p>
            </p:txBody>
          </p:sp>
          <p:sp>
            <p:nvSpPr>
              <p:cNvPr id="30" name="TextBox 29"/>
              <p:cNvSpPr txBox="1"/>
              <p:nvPr/>
            </p:nvSpPr>
            <p:spPr bwMode="auto">
              <a:xfrm>
                <a:off x="10423654" y="1835399"/>
                <a:ext cx="116205" cy="307777"/>
              </a:xfrm>
              <a:prstGeom prst="rect">
                <a:avLst/>
              </a:prstGeom>
              <a:noFill/>
            </p:spPr>
            <p:txBody>
              <a:bodyPr wrap="square" rtlCol="0">
                <a:spAutoFit/>
              </a:bodyPr>
              <a:lstStyle/>
              <a:p>
                <a:pPr>
                  <a:defRPr/>
                </a:pPr>
                <a:r>
                  <a:rPr lang="en-IN" sz="1400"/>
                  <a:t>1</a:t>
                </a:r>
                <a:endParaRPr/>
              </a:p>
            </p:txBody>
          </p:sp>
          <p:sp>
            <p:nvSpPr>
              <p:cNvPr id="35" name="TextBox 34"/>
              <p:cNvSpPr txBox="1"/>
              <p:nvPr/>
            </p:nvSpPr>
            <p:spPr bwMode="auto">
              <a:xfrm>
                <a:off x="10883629" y="1820753"/>
                <a:ext cx="116205" cy="307777"/>
              </a:xfrm>
              <a:prstGeom prst="rect">
                <a:avLst/>
              </a:prstGeom>
              <a:noFill/>
            </p:spPr>
            <p:txBody>
              <a:bodyPr wrap="square" rtlCol="0">
                <a:spAutoFit/>
              </a:bodyPr>
              <a:lstStyle/>
              <a:p>
                <a:pPr>
                  <a:defRPr/>
                </a:pPr>
                <a:r>
                  <a:rPr lang="en-IN" sz="1400"/>
                  <a:t>2</a:t>
                </a:r>
                <a:endParaRPr/>
              </a:p>
            </p:txBody>
          </p:sp>
          <p:sp>
            <p:nvSpPr>
              <p:cNvPr id="37" name="TextBox 36"/>
              <p:cNvSpPr txBox="1"/>
              <p:nvPr/>
            </p:nvSpPr>
            <p:spPr bwMode="auto">
              <a:xfrm>
                <a:off x="11343604" y="1822132"/>
                <a:ext cx="116205" cy="307777"/>
              </a:xfrm>
              <a:prstGeom prst="rect">
                <a:avLst/>
              </a:prstGeom>
              <a:noFill/>
            </p:spPr>
            <p:txBody>
              <a:bodyPr wrap="square" rtlCol="0">
                <a:spAutoFit/>
              </a:bodyPr>
              <a:lstStyle/>
              <a:p>
                <a:pPr>
                  <a:defRPr/>
                </a:pPr>
                <a:r>
                  <a:rPr lang="en-IN" sz="1400"/>
                  <a:t>3</a:t>
                </a:r>
                <a:endParaRPr/>
              </a:p>
            </p:txBody>
          </p:sp>
        </p:grpSp>
      </p:grpSp>
      <p:sp>
        <p:nvSpPr>
          <p:cNvPr id="742986088" name="TextBox 74"/>
          <p:cNvSpPr txBox="1"/>
          <p:nvPr/>
        </p:nvSpPr>
        <p:spPr bwMode="auto">
          <a:xfrm>
            <a:off x="7479968" y="1627897"/>
            <a:ext cx="1766830" cy="492443"/>
          </a:xfrm>
          <a:prstGeom prst="rect">
            <a:avLst/>
          </a:prstGeom>
          <a:noFill/>
        </p:spPr>
        <p:txBody>
          <a:bodyPr wrap="none" rtlCol="0">
            <a:spAutoFit/>
          </a:bodyPr>
          <a:lstStyle/>
          <a:p>
            <a:pPr>
              <a:defRPr/>
            </a:pPr>
            <a:r>
              <a:rPr lang="en-IN" sz="2600" b="1">
                <a:solidFill>
                  <a:srgbClr val="C00000"/>
                </a:solidFill>
                <a:highlight>
                  <a:srgbClr val="FFFF00"/>
                </a:highlight>
              </a:rPr>
              <a:t>(3+1)%4 = 0</a:t>
            </a:r>
            <a:endParaRPr/>
          </a:p>
        </p:txBody>
      </p:sp>
      <p:sp>
        <p:nvSpPr>
          <p:cNvPr id="1276316222" name="TextBox 75"/>
          <p:cNvSpPr txBox="1"/>
          <p:nvPr/>
        </p:nvSpPr>
        <p:spPr bwMode="auto">
          <a:xfrm>
            <a:off x="9803497" y="1928009"/>
            <a:ext cx="1782860" cy="492443"/>
          </a:xfrm>
          <a:prstGeom prst="rect">
            <a:avLst/>
          </a:prstGeom>
          <a:noFill/>
        </p:spPr>
        <p:txBody>
          <a:bodyPr wrap="none" rtlCol="0">
            <a:spAutoFit/>
          </a:bodyPr>
          <a:lstStyle/>
          <a:p>
            <a:pPr>
              <a:defRPr/>
            </a:pPr>
            <a:r>
              <a:rPr lang="en-IN" sz="2600" b="1">
                <a:solidFill>
                  <a:srgbClr val="C00000"/>
                </a:solidFill>
                <a:highlight>
                  <a:srgbClr val="FFFF00"/>
                </a:highlight>
              </a:rPr>
              <a:t>R = (3+1)%4</a:t>
            </a:r>
            <a:endParaRPr/>
          </a:p>
        </p:txBody>
      </p:sp>
      <p:grpSp>
        <p:nvGrpSpPr>
          <p:cNvPr id="1460114177" name="Group 76"/>
          <p:cNvGrpSpPr/>
          <p:nvPr/>
        </p:nvGrpSpPr>
        <p:grpSpPr bwMode="auto">
          <a:xfrm>
            <a:off x="9854016" y="4292377"/>
            <a:ext cx="314510" cy="680083"/>
            <a:chOff x="1937650" y="5094504"/>
            <a:chExt cx="314510" cy="680083"/>
          </a:xfrm>
        </p:grpSpPr>
        <p:sp>
          <p:nvSpPr>
            <p:cNvPr id="78" name="TextBox 77"/>
            <p:cNvSpPr txBox="1"/>
            <p:nvPr/>
          </p:nvSpPr>
          <p:spPr bwMode="auto">
            <a:xfrm>
              <a:off x="1937650" y="5094504"/>
              <a:ext cx="314510" cy="369332"/>
            </a:xfrm>
            <a:prstGeom prst="rect">
              <a:avLst/>
            </a:prstGeom>
            <a:noFill/>
          </p:spPr>
          <p:txBody>
            <a:bodyPr wrap="none" rtlCol="0">
              <a:spAutoFit/>
            </a:bodyPr>
            <a:lstStyle/>
            <a:p>
              <a:pPr>
                <a:defRPr/>
              </a:pPr>
              <a:r>
                <a:rPr lang="en-IN" b="1">
                  <a:solidFill>
                    <a:srgbClr val="C00000"/>
                  </a:solidFill>
                </a:rPr>
                <a:t>R</a:t>
              </a:r>
              <a:endParaRPr lang="en-US" b="1">
                <a:solidFill>
                  <a:srgbClr val="C00000"/>
                </a:solidFill>
              </a:endParaRPr>
            </a:p>
          </p:txBody>
        </p:sp>
        <p:cxnSp>
          <p:nvCxnSpPr>
            <p:cNvPr id="79" name="Straight Arrow Connector 78"/>
            <p:cNvCxnSpPr>
              <a:stCxn id="78" idx="2"/>
            </p:cNvCxnSpPr>
            <p:nvPr/>
          </p:nvCxnSpPr>
          <p:spPr bwMode="auto">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03395189" name="TextBox 80"/>
          <p:cNvSpPr txBox="1"/>
          <p:nvPr/>
        </p:nvSpPr>
        <p:spPr bwMode="auto">
          <a:xfrm>
            <a:off x="9838343" y="5005070"/>
            <a:ext cx="418704" cy="369332"/>
          </a:xfrm>
          <a:prstGeom prst="rect">
            <a:avLst/>
          </a:prstGeom>
          <a:noFill/>
        </p:spPr>
        <p:txBody>
          <a:bodyPr wrap="none" rtlCol="0">
            <a:spAutoFit/>
          </a:bodyPr>
          <a:lstStyle/>
          <a:p>
            <a:pPr>
              <a:defRPr/>
            </a:pPr>
            <a:r>
              <a:rPr lang="en-IN" b="1">
                <a:solidFill>
                  <a:schemeClr val="lt1"/>
                </a:solidFill>
              </a:rPr>
              <a:t>10</a:t>
            </a:r>
            <a:endParaRPr/>
          </a:p>
        </p:txBody>
      </p:sp>
      <p:sp>
        <p:nvSpPr>
          <p:cNvPr id="1393168115" name="TextBox 81"/>
          <p:cNvSpPr txBox="1"/>
          <p:nvPr/>
        </p:nvSpPr>
        <p:spPr bwMode="auto">
          <a:xfrm>
            <a:off x="7049214" y="2064617"/>
            <a:ext cx="2780493" cy="492443"/>
          </a:xfrm>
          <a:prstGeom prst="rect">
            <a:avLst/>
          </a:prstGeom>
          <a:noFill/>
        </p:spPr>
        <p:txBody>
          <a:bodyPr wrap="square" rtlCol="0">
            <a:spAutoFit/>
          </a:bodyPr>
          <a:lstStyle/>
          <a:p>
            <a:pPr algn="ctr">
              <a:defRPr/>
            </a:pPr>
            <a:r>
              <a:rPr lang="en-IN" sz="2600" b="1">
                <a:solidFill>
                  <a:srgbClr val="FF0000"/>
                </a:solidFill>
                <a:highlight>
                  <a:srgbClr val="FFFF00"/>
                </a:highlight>
              </a:rPr>
              <a:t>Overflow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36069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36069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36069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136069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6695149">
                                            <p:bg/>
                                          </p:spTgt>
                                        </p:tgtEl>
                                        <p:attrNameLst>
                                          <p:attrName>style.visibility</p:attrName>
                                        </p:attrNameLst>
                                      </p:cBhvr>
                                      <p:to>
                                        <p:strVal val="visible"/>
                                      </p:to>
                                    </p:set>
                                    <p:animEffect transition="in" filter="fade">
                                      <p:cBhvr>
                                        <p:cTn id="23" dur="500"/>
                                        <p:tgtEl>
                                          <p:spTgt spid="186695149">
                                            <p:bg/>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6695149">
                                            <p:txEl>
                                              <p:pRg st="7" end="7"/>
                                            </p:txEl>
                                          </p:spTgt>
                                        </p:tgtEl>
                                        <p:attrNameLst>
                                          <p:attrName>style.visibility</p:attrName>
                                        </p:attrNameLst>
                                      </p:cBhvr>
                                      <p:to>
                                        <p:strVal val="visible"/>
                                      </p:to>
                                    </p:set>
                                    <p:animEffect transition="in" filter="fade">
                                      <p:cBhvr>
                                        <p:cTn id="26" dur="500"/>
                                        <p:tgtEl>
                                          <p:spTgt spid="186695149">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86695149">
                                            <p:txEl>
                                              <p:pRg st="0" end="0"/>
                                            </p:txEl>
                                          </p:spTgt>
                                        </p:tgtEl>
                                        <p:attrNameLst>
                                          <p:attrName>style.visibility</p:attrName>
                                        </p:attrNameLst>
                                      </p:cBhvr>
                                      <p:to>
                                        <p:strVal val="visible"/>
                                      </p:to>
                                    </p:set>
                                    <p:animEffect transition="in" filter="fade">
                                      <p:cBhvr>
                                        <p:cTn id="31" dur="500"/>
                                        <p:tgtEl>
                                          <p:spTgt spid="186695149">
                                            <p:txEl>
                                              <p:pRg st="0" end="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86695149">
                                            <p:txEl>
                                              <p:pRg st="1" end="1"/>
                                            </p:txEl>
                                          </p:spTgt>
                                        </p:tgtEl>
                                        <p:attrNameLst>
                                          <p:attrName>style.visibility</p:attrName>
                                        </p:attrNameLst>
                                      </p:cBhvr>
                                      <p:to>
                                        <p:strVal val="visible"/>
                                      </p:to>
                                    </p:set>
                                    <p:animEffect transition="in" filter="fade">
                                      <p:cBhvr>
                                        <p:cTn id="34" dur="500"/>
                                        <p:tgtEl>
                                          <p:spTgt spid="186695149">
                                            <p:txEl>
                                              <p:pRg st="1" end="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86695149">
                                            <p:txEl>
                                              <p:pRg st="2" end="2"/>
                                            </p:txEl>
                                          </p:spTgt>
                                        </p:tgtEl>
                                        <p:attrNameLst>
                                          <p:attrName>style.visibility</p:attrName>
                                        </p:attrNameLst>
                                      </p:cBhvr>
                                      <p:to>
                                        <p:strVal val="visible"/>
                                      </p:to>
                                    </p:set>
                                    <p:animEffect transition="in" filter="fade">
                                      <p:cBhvr>
                                        <p:cTn id="37" dur="500"/>
                                        <p:tgtEl>
                                          <p:spTgt spid="186695149">
                                            <p:txEl>
                                              <p:pRg st="2" end="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86695149">
                                            <p:txEl>
                                              <p:pRg st="3" end="3"/>
                                            </p:txEl>
                                          </p:spTgt>
                                        </p:tgtEl>
                                        <p:attrNameLst>
                                          <p:attrName>style.visibility</p:attrName>
                                        </p:attrNameLst>
                                      </p:cBhvr>
                                      <p:to>
                                        <p:strVal val="visible"/>
                                      </p:to>
                                    </p:set>
                                    <p:animEffect transition="in" filter="fade">
                                      <p:cBhvr>
                                        <p:cTn id="40" dur="500"/>
                                        <p:tgtEl>
                                          <p:spTgt spid="186695149">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955733337"/>
                                        </p:tgtEl>
                                        <p:attrNameLst>
                                          <p:attrName>style.visibility</p:attrName>
                                        </p:attrNameLst>
                                      </p:cBhvr>
                                      <p:to>
                                        <p:strVal val="visible"/>
                                      </p:to>
                                    </p:set>
                                    <p:animEffect transition="in" filter="fade">
                                      <p:cBhvr>
                                        <p:cTn id="45" dur="500"/>
                                        <p:tgtEl>
                                          <p:spTgt spid="195573333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42986088"/>
                                        </p:tgtEl>
                                        <p:attrNameLst>
                                          <p:attrName>style.visibility</p:attrName>
                                        </p:attrNameLst>
                                      </p:cBhvr>
                                      <p:to>
                                        <p:strVal val="visible"/>
                                      </p:to>
                                    </p:set>
                                    <p:animEffect transition="in" filter="fade">
                                      <p:cBhvr>
                                        <p:cTn id="50" dur="500"/>
                                        <p:tgtEl>
                                          <p:spTgt spid="74298608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393168115"/>
                                        </p:tgtEl>
                                        <p:attrNameLst>
                                          <p:attrName>style.visibility</p:attrName>
                                        </p:attrNameLst>
                                      </p:cBhvr>
                                      <p:to>
                                        <p:strVal val="visible"/>
                                      </p:to>
                                    </p:set>
                                    <p:animEffect transition="in" filter="fade">
                                      <p:cBhvr>
                                        <p:cTn id="55" dur="500"/>
                                        <p:tgtEl>
                                          <p:spTgt spid="139316811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002348958"/>
                                        </p:tgtEl>
                                        <p:attrNameLst>
                                          <p:attrName>style.visibility</p:attrName>
                                        </p:attrNameLst>
                                      </p:cBhvr>
                                      <p:to>
                                        <p:strVal val="visible"/>
                                      </p:to>
                                    </p:set>
                                    <p:animEffect transition="in" filter="fade">
                                      <p:cBhvr>
                                        <p:cTn id="60" dur="500"/>
                                        <p:tgtEl>
                                          <p:spTgt spid="2002348958"/>
                                        </p:tgtEl>
                                      </p:cBhvr>
                                    </p:animEffect>
                                  </p:childTnLst>
                                </p:cTn>
                              </p:par>
                              <p:par>
                                <p:cTn id="61" presetID="1" presetClass="exit" presetSubtype="0" fill="hold" nodeType="withEffect">
                                  <p:stCondLst>
                                    <p:cond delay="0"/>
                                  </p:stCondLst>
                                  <p:childTnLst>
                                    <p:set>
                                      <p:cBhvr>
                                        <p:cTn id="62" dur="1" fill="hold">
                                          <p:stCondLst>
                                            <p:cond delay="0"/>
                                          </p:stCondLst>
                                        </p:cTn>
                                        <p:tgtEl>
                                          <p:spTgt spid="1955733337"/>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742986088"/>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139316811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86695149">
                                            <p:txEl>
                                              <p:pRg st="5" end="5"/>
                                            </p:txEl>
                                          </p:spTgt>
                                        </p:tgtEl>
                                        <p:attrNameLst>
                                          <p:attrName>style.visibility</p:attrName>
                                        </p:attrNameLst>
                                      </p:cBhvr>
                                      <p:to>
                                        <p:strVal val="visible"/>
                                      </p:to>
                                    </p:set>
                                    <p:animEffect transition="in" filter="fade">
                                      <p:cBhvr>
                                        <p:cTn id="71" dur="500"/>
                                        <p:tgtEl>
                                          <p:spTgt spid="186695149">
                                            <p:txEl>
                                              <p:pRg st="5" end="5"/>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186695149">
                                            <p:txEl>
                                              <p:pRg st="6" end="6"/>
                                            </p:txEl>
                                          </p:spTgt>
                                        </p:tgtEl>
                                        <p:attrNameLst>
                                          <p:attrName>style.visibility</p:attrName>
                                        </p:attrNameLst>
                                      </p:cBhvr>
                                      <p:to>
                                        <p:strVal val="visible"/>
                                      </p:to>
                                    </p:set>
                                    <p:animEffect transition="in" filter="fade">
                                      <p:cBhvr>
                                        <p:cTn id="74" dur="500"/>
                                        <p:tgtEl>
                                          <p:spTgt spid="186695149">
                                            <p:txEl>
                                              <p:pRg st="6" end="6"/>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276316222"/>
                                        </p:tgtEl>
                                        <p:attrNameLst>
                                          <p:attrName>style.visibility</p:attrName>
                                        </p:attrNameLst>
                                      </p:cBhvr>
                                      <p:to>
                                        <p:strVal val="visible"/>
                                      </p:to>
                                    </p:set>
                                    <p:animEffect transition="in" filter="fade">
                                      <p:cBhvr>
                                        <p:cTn id="79" dur="500"/>
                                        <p:tgtEl>
                                          <p:spTgt spid="127631622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96038200"/>
                                        </p:tgtEl>
                                        <p:attrNameLst>
                                          <p:attrName>style.visibility</p:attrName>
                                        </p:attrNameLst>
                                      </p:cBhvr>
                                      <p:to>
                                        <p:strVal val="visible"/>
                                      </p:to>
                                    </p:set>
                                    <p:animEffect transition="in" filter="fade">
                                      <p:cBhvr>
                                        <p:cTn id="84" dur="500"/>
                                        <p:tgtEl>
                                          <p:spTgt spid="96038200"/>
                                        </p:tgtEl>
                                      </p:cBhvr>
                                    </p:animEffect>
                                  </p:childTnLst>
                                </p:cTn>
                              </p:par>
                              <p:par>
                                <p:cTn id="85" presetID="10" presetClass="entr" presetSubtype="0" fill="hold" nodeType="withEffect">
                                  <p:stCondLst>
                                    <p:cond delay="0"/>
                                  </p:stCondLst>
                                  <p:childTnLst>
                                    <p:set>
                                      <p:cBhvr>
                                        <p:cTn id="86" dur="1" fill="hold">
                                          <p:stCondLst>
                                            <p:cond delay="0"/>
                                          </p:stCondLst>
                                        </p:cTn>
                                        <p:tgtEl>
                                          <p:spTgt spid="1001600270"/>
                                        </p:tgtEl>
                                        <p:attrNameLst>
                                          <p:attrName>style.visibility</p:attrName>
                                        </p:attrNameLst>
                                      </p:cBhvr>
                                      <p:to>
                                        <p:strVal val="visible"/>
                                      </p:to>
                                    </p:set>
                                    <p:animEffect transition="in" filter="fade">
                                      <p:cBhvr>
                                        <p:cTn id="87" dur="500"/>
                                        <p:tgtEl>
                                          <p:spTgt spid="1001600270"/>
                                        </p:tgtEl>
                                      </p:cBhvr>
                                    </p:animEffect>
                                  </p:childTnLst>
                                </p:cTn>
                              </p:par>
                              <p:par>
                                <p:cTn id="88" presetID="1" presetClass="entr" presetSubtype="0" fill="hold" nodeType="withEffect">
                                  <p:stCondLst>
                                    <p:cond delay="0"/>
                                  </p:stCondLst>
                                  <p:childTnLst>
                                    <p:set>
                                      <p:cBhvr>
                                        <p:cTn id="89" dur="1" fill="hold">
                                          <p:stCondLst>
                                            <p:cond delay="0"/>
                                          </p:stCondLst>
                                        </p:cTn>
                                        <p:tgtEl>
                                          <p:spTgt spid="379555947"/>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460114177"/>
                                        </p:tgtEl>
                                        <p:attrNameLst>
                                          <p:attrName>style.visibility</p:attrName>
                                        </p:attrNameLst>
                                      </p:cBhvr>
                                      <p:to>
                                        <p:strVal val="visible"/>
                                      </p:to>
                                    </p:set>
                                    <p:animEffect transition="in" filter="fade">
                                      <p:cBhvr>
                                        <p:cTn id="94" dur="500"/>
                                        <p:tgtEl>
                                          <p:spTgt spid="1460114177"/>
                                        </p:tgtEl>
                                      </p:cBhvr>
                                    </p:animEffect>
                                  </p:childTnLst>
                                </p:cTn>
                              </p:par>
                              <p:par>
                                <p:cTn id="95" presetID="1" presetClass="exit" presetSubtype="0" fill="hold" nodeType="withEffect">
                                  <p:stCondLst>
                                    <p:cond delay="0"/>
                                  </p:stCondLst>
                                  <p:childTnLst>
                                    <p:set>
                                      <p:cBhvr>
                                        <p:cTn id="96" dur="1" fill="hold">
                                          <p:stCondLst>
                                            <p:cond delay="0"/>
                                          </p:stCondLst>
                                        </p:cTn>
                                        <p:tgtEl>
                                          <p:spTgt spid="379555947"/>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977905175">
                                            <p:bg/>
                                          </p:spTgt>
                                        </p:tgtEl>
                                        <p:attrNameLst>
                                          <p:attrName>style.visibility</p:attrName>
                                        </p:attrNameLst>
                                      </p:cBhvr>
                                      <p:to>
                                        <p:strVal val="visible"/>
                                      </p:to>
                                    </p:set>
                                    <p:animEffect transition="in" filter="fade">
                                      <p:cBhvr>
                                        <p:cTn id="101" dur="500"/>
                                        <p:tgtEl>
                                          <p:spTgt spid="977905175">
                                            <p:bg/>
                                          </p:spTgt>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977905175">
                                            <p:txEl>
                                              <p:pRg st="0" end="0"/>
                                            </p:txEl>
                                          </p:spTgt>
                                        </p:tgtEl>
                                        <p:attrNameLst>
                                          <p:attrName>style.visibility</p:attrName>
                                        </p:attrNameLst>
                                      </p:cBhvr>
                                      <p:to>
                                        <p:strVal val="visible"/>
                                      </p:to>
                                    </p:set>
                                    <p:animEffect transition="in" filter="fade">
                                      <p:cBhvr>
                                        <p:cTn id="104" dur="500"/>
                                        <p:tgtEl>
                                          <p:spTgt spid="977905175">
                                            <p:txEl>
                                              <p:pRg st="0" end="0"/>
                                            </p:txEl>
                                          </p:spTgt>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977905175">
                                            <p:txEl>
                                              <p:pRg st="1" end="1"/>
                                            </p:txEl>
                                          </p:spTgt>
                                        </p:tgtEl>
                                        <p:attrNameLst>
                                          <p:attrName>style.visibility</p:attrName>
                                        </p:attrNameLst>
                                      </p:cBhvr>
                                      <p:to>
                                        <p:strVal val="visible"/>
                                      </p:to>
                                    </p:set>
                                    <p:animEffect transition="in" filter="fade">
                                      <p:cBhvr>
                                        <p:cTn id="107" dur="500"/>
                                        <p:tgtEl>
                                          <p:spTgt spid="977905175">
                                            <p:txEl>
                                              <p:pRg st="1" end="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03395189"/>
                                        </p:tgtEl>
                                        <p:attrNameLst>
                                          <p:attrName>style.visibility</p:attrName>
                                        </p:attrNameLst>
                                      </p:cBhvr>
                                      <p:to>
                                        <p:strVal val="visible"/>
                                      </p:to>
                                    </p:set>
                                    <p:animEffect transition="in" filter="fade">
                                      <p:cBhvr>
                                        <p:cTn id="112" dur="500"/>
                                        <p:tgtEl>
                                          <p:spTgt spid="203395189"/>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977905175">
                                            <p:txEl>
                                              <p:pRg st="3" end="3"/>
                                            </p:txEl>
                                          </p:spTgt>
                                        </p:tgtEl>
                                        <p:attrNameLst>
                                          <p:attrName>style.visibility</p:attrName>
                                        </p:attrNameLst>
                                      </p:cBhvr>
                                      <p:to>
                                        <p:strVal val="visible"/>
                                      </p:to>
                                    </p:set>
                                    <p:animEffect transition="in" filter="fade">
                                      <p:cBhvr>
                                        <p:cTn id="117" dur="500"/>
                                        <p:tgtEl>
                                          <p:spTgt spid="977905175">
                                            <p:txEl>
                                              <p:pRg st="3" end="3"/>
                                            </p:txEl>
                                          </p:spTgt>
                                        </p:tgtEl>
                                      </p:cBhvr>
                                    </p:animEffect>
                                  </p:childTnLst>
                                </p:cTn>
                              </p:par>
                              <p:par>
                                <p:cTn id="118" presetID="10" presetClass="entr" presetSubtype="0" fill="hold" nodeType="withEffect">
                                  <p:stCondLst>
                                    <p:cond delay="0"/>
                                  </p:stCondLst>
                                  <p:childTnLst>
                                    <p:set>
                                      <p:cBhvr>
                                        <p:cTn id="119" dur="1" fill="hold">
                                          <p:stCondLst>
                                            <p:cond delay="0"/>
                                          </p:stCondLst>
                                        </p:cTn>
                                        <p:tgtEl>
                                          <p:spTgt spid="977905175">
                                            <p:txEl>
                                              <p:pRg st="4" end="4"/>
                                            </p:txEl>
                                          </p:spTgt>
                                        </p:tgtEl>
                                        <p:attrNameLst>
                                          <p:attrName>style.visibility</p:attrName>
                                        </p:attrNameLst>
                                      </p:cBhvr>
                                      <p:to>
                                        <p:strVal val="visible"/>
                                      </p:to>
                                    </p:set>
                                    <p:animEffect transition="in" filter="fade">
                                      <p:cBhvr>
                                        <p:cTn id="120" dur="500"/>
                                        <p:tgtEl>
                                          <p:spTgt spid="977905175">
                                            <p:txEl>
                                              <p:pRg st="4" end="4"/>
                                            </p:txEl>
                                          </p:spTgt>
                                        </p:tgtEl>
                                      </p:cBhvr>
                                    </p:animEffect>
                                  </p:childTnLst>
                                </p:cTn>
                              </p:par>
                              <p:par>
                                <p:cTn id="121" presetID="10" presetClass="entr" presetSubtype="0" fill="hold" nodeType="withEffect">
                                  <p:stCondLst>
                                    <p:cond delay="0"/>
                                  </p:stCondLst>
                                  <p:childTnLst>
                                    <p:set>
                                      <p:cBhvr>
                                        <p:cTn id="122" dur="1" fill="hold">
                                          <p:stCondLst>
                                            <p:cond delay="0"/>
                                          </p:stCondLst>
                                        </p:cTn>
                                        <p:tgtEl>
                                          <p:spTgt spid="977905175">
                                            <p:txEl>
                                              <p:pRg st="5" end="5"/>
                                            </p:txEl>
                                          </p:spTgt>
                                        </p:tgtEl>
                                        <p:attrNameLst>
                                          <p:attrName>style.visibility</p:attrName>
                                        </p:attrNameLst>
                                      </p:cBhvr>
                                      <p:to>
                                        <p:strVal val="visible"/>
                                      </p:to>
                                    </p:set>
                                    <p:animEffect transition="in" filter="fade">
                                      <p:cBhvr>
                                        <p:cTn id="123" dur="500"/>
                                        <p:tgtEl>
                                          <p:spTgt spid="977905175">
                                            <p:txEl>
                                              <p:pRg st="5" end="5"/>
                                            </p:txEl>
                                          </p:spTgt>
                                        </p:tgtEl>
                                      </p:cBhvr>
                                    </p:animEffect>
                                  </p:childTnLst>
                                </p:cTn>
                              </p:par>
                              <p:par>
                                <p:cTn id="124" presetID="10" presetClass="entr" presetSubtype="0" fill="hold" nodeType="withEffect">
                                  <p:stCondLst>
                                    <p:cond delay="0"/>
                                  </p:stCondLst>
                                  <p:childTnLst>
                                    <p:set>
                                      <p:cBhvr>
                                        <p:cTn id="125" dur="1" fill="hold">
                                          <p:stCondLst>
                                            <p:cond delay="0"/>
                                          </p:stCondLst>
                                        </p:cTn>
                                        <p:tgtEl>
                                          <p:spTgt spid="977905175">
                                            <p:txEl>
                                              <p:pRg st="6" end="6"/>
                                            </p:txEl>
                                          </p:spTgt>
                                        </p:tgtEl>
                                        <p:attrNameLst>
                                          <p:attrName>style.visibility</p:attrName>
                                        </p:attrNameLst>
                                      </p:cBhvr>
                                      <p:to>
                                        <p:strVal val="visible"/>
                                      </p:to>
                                    </p:set>
                                    <p:animEffect transition="in" filter="fade">
                                      <p:cBhvr>
                                        <p:cTn id="126" dur="500"/>
                                        <p:tgtEl>
                                          <p:spTgt spid="9779051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695149" grpId="0" build="allAtOnce" animBg="1"/>
      <p:bldP spid="977905175" grpId="0" build="allAtOnce" animBg="1"/>
      <p:bldP spid="742986088" grpId="0"/>
      <p:bldP spid="742986088" grpId="1"/>
      <p:bldP spid="1276316222" grpId="0"/>
      <p:bldP spid="203395189" grpId="0"/>
      <p:bldP spid="1393168115" grpId="0"/>
      <p:bldP spid="1393168115"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9474261" name="Title 1"/>
          <p:cNvSpPr>
            <a:spLocks noGrp="1"/>
          </p:cNvSpPr>
          <p:nvPr>
            <p:ph type="title"/>
          </p:nvPr>
        </p:nvSpPr>
        <p:spPr bwMode="auto"/>
        <p:txBody>
          <a:bodyPr/>
          <a:lstStyle/>
          <a:p>
            <a:pPr>
              <a:defRPr/>
            </a:pPr>
            <a:r>
              <a:rPr lang="pt-BR"/>
              <a:t>Function: CQDELETE (F, R, Q, N)</a:t>
            </a:r>
            <a:endParaRPr lang="en-US"/>
          </a:p>
        </p:txBody>
      </p:sp>
      <p:sp>
        <p:nvSpPr>
          <p:cNvPr id="1472606402" name="Content Placeholder 2"/>
          <p:cNvSpPr>
            <a:spLocks noGrp="1"/>
          </p:cNvSpPr>
          <p:nvPr>
            <p:ph idx="1"/>
          </p:nvPr>
        </p:nvSpPr>
        <p:spPr bwMode="auto"/>
        <p:txBody>
          <a:bodyPr/>
          <a:lstStyle/>
          <a:p>
            <a:pPr>
              <a:defRPr/>
            </a:pPr>
            <a:r>
              <a:rPr lang="en-IN"/>
              <a:t>This function </a:t>
            </a:r>
            <a:r>
              <a:rPr lang="en-IN" b="1">
                <a:solidFill>
                  <a:srgbClr val="C00000"/>
                </a:solidFill>
              </a:rPr>
              <a:t>deletes &amp; returns</a:t>
            </a:r>
            <a:r>
              <a:rPr lang="en-IN" b="1">
                <a:solidFill>
                  <a:srgbClr val="FF0000"/>
                </a:solidFill>
              </a:rPr>
              <a:t> </a:t>
            </a:r>
            <a:r>
              <a:rPr lang="en-IN"/>
              <a:t>an element </a:t>
            </a:r>
            <a:r>
              <a:rPr lang="en-IN" b="1">
                <a:solidFill>
                  <a:srgbClr val="C00000"/>
                </a:solidFill>
              </a:rPr>
              <a:t>from front end</a:t>
            </a:r>
            <a:r>
              <a:rPr lang="en-IN" b="1">
                <a:solidFill>
                  <a:srgbClr val="FF0000"/>
                </a:solidFill>
              </a:rPr>
              <a:t> </a:t>
            </a:r>
            <a:r>
              <a:rPr lang="en-IN"/>
              <a:t>of the Circular Queue.</a:t>
            </a:r>
            <a:endParaRPr/>
          </a:p>
          <a:p>
            <a:pPr>
              <a:defRPr/>
            </a:pPr>
            <a:r>
              <a:rPr lang="en-IN" b="1">
                <a:solidFill>
                  <a:srgbClr val="C00000"/>
                </a:solidFill>
              </a:rPr>
              <a:t>Queue</a:t>
            </a:r>
            <a:r>
              <a:rPr lang="en-IN">
                <a:solidFill>
                  <a:srgbClr val="C00000"/>
                </a:solidFill>
              </a:rPr>
              <a:t> </a:t>
            </a:r>
            <a:r>
              <a:rPr lang="en-IN"/>
              <a:t>is represented by a vector </a:t>
            </a:r>
            <a:r>
              <a:rPr lang="en-IN" b="1">
                <a:solidFill>
                  <a:srgbClr val="C00000"/>
                </a:solidFill>
              </a:rPr>
              <a:t>Q</a:t>
            </a:r>
            <a:r>
              <a:rPr lang="en-IN">
                <a:solidFill>
                  <a:srgbClr val="C00000"/>
                </a:solidFill>
              </a:rPr>
              <a:t> </a:t>
            </a:r>
            <a:r>
              <a:rPr lang="en-IN"/>
              <a:t>containing </a:t>
            </a:r>
            <a:r>
              <a:rPr lang="en-IN" b="1">
                <a:solidFill>
                  <a:srgbClr val="C00000"/>
                </a:solidFill>
              </a:rPr>
              <a:t>N</a:t>
            </a:r>
            <a:r>
              <a:rPr lang="en-IN">
                <a:solidFill>
                  <a:srgbClr val="C00000"/>
                </a:solidFill>
              </a:rPr>
              <a:t> </a:t>
            </a:r>
            <a:r>
              <a:rPr lang="en-IN"/>
              <a:t>elements.</a:t>
            </a:r>
            <a:endParaRPr/>
          </a:p>
          <a:p>
            <a:pPr>
              <a:defRPr/>
            </a:pPr>
            <a:r>
              <a:rPr lang="en-IN" b="1">
                <a:solidFill>
                  <a:srgbClr val="C00000"/>
                </a:solidFill>
              </a:rPr>
              <a:t>F</a:t>
            </a:r>
            <a:r>
              <a:rPr lang="en-IN">
                <a:solidFill>
                  <a:srgbClr val="C00000"/>
                </a:solidFill>
              </a:rPr>
              <a:t> </a:t>
            </a:r>
            <a:r>
              <a:rPr lang="en-IN"/>
              <a:t>is pointer to the </a:t>
            </a:r>
            <a:r>
              <a:rPr lang="en-IN" b="1">
                <a:solidFill>
                  <a:srgbClr val="C00000"/>
                </a:solidFill>
              </a:rPr>
              <a:t>front</a:t>
            </a:r>
            <a:r>
              <a:rPr lang="en-IN" b="1">
                <a:solidFill>
                  <a:srgbClr val="FF0000"/>
                </a:solidFill>
              </a:rPr>
              <a:t> </a:t>
            </a:r>
            <a:r>
              <a:rPr lang="en-IN"/>
              <a:t>element of a queue.</a:t>
            </a:r>
            <a:endParaRPr/>
          </a:p>
          <a:p>
            <a:pPr>
              <a:defRPr/>
            </a:pPr>
            <a:r>
              <a:rPr lang="en-IN" b="1">
                <a:solidFill>
                  <a:srgbClr val="C00000"/>
                </a:solidFill>
              </a:rPr>
              <a:t>R</a:t>
            </a:r>
            <a:r>
              <a:rPr lang="en-IN">
                <a:solidFill>
                  <a:srgbClr val="C00000"/>
                </a:solidFill>
              </a:rPr>
              <a:t> </a:t>
            </a:r>
            <a:r>
              <a:rPr lang="en-IN"/>
              <a:t>is pointer to the </a:t>
            </a:r>
            <a:r>
              <a:rPr lang="en-IN" b="1">
                <a:solidFill>
                  <a:srgbClr val="C00000"/>
                </a:solidFill>
              </a:rPr>
              <a:t>rear</a:t>
            </a:r>
            <a:r>
              <a:rPr lang="en-IN">
                <a:solidFill>
                  <a:srgbClr val="C00000"/>
                </a:solidFill>
              </a:rPr>
              <a:t> </a:t>
            </a:r>
            <a:r>
              <a:rPr lang="en-IN"/>
              <a:t>element of a queue.</a:t>
            </a:r>
            <a:endParaRPr lang="en-US"/>
          </a:p>
          <a:p>
            <a:pPr marL="0" indent="0">
              <a:buNone/>
              <a:defRPr/>
            </a:pPr>
            <a:endParaRPr lang="en-US"/>
          </a:p>
        </p:txBody>
      </p:sp>
      <p:sp>
        <p:nvSpPr>
          <p:cNvPr id="500380107" name="TextBox 3"/>
          <p:cNvSpPr txBox="1"/>
          <p:nvPr/>
        </p:nvSpPr>
        <p:spPr bwMode="auto">
          <a:xfrm>
            <a:off x="415612" y="3531096"/>
            <a:ext cx="4191000" cy="2954655"/>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000" b="1">
                <a:solidFill>
                  <a:schemeClr val="tx2"/>
                </a:solidFill>
                <a:latin typeface="Consolas"/>
                <a:cs typeface="Consolas"/>
              </a:rPr>
              <a:t>1. [Underflow?]</a:t>
            </a:r>
            <a:endParaRPr/>
          </a:p>
          <a:p>
            <a:pPr>
              <a:defRPr/>
            </a:pPr>
            <a:r>
              <a:rPr lang="en-IN">
                <a:latin typeface="Consolas"/>
                <a:cs typeface="Consolas"/>
              </a:rPr>
              <a:t>   </a:t>
            </a:r>
            <a:r>
              <a:rPr lang="en-IN" b="1">
                <a:solidFill>
                  <a:schemeClr val="tx2">
                    <a:lumMod val="75000"/>
                  </a:schemeClr>
                </a:solidFill>
                <a:latin typeface="Consolas"/>
                <a:cs typeface="Consolas"/>
              </a:rPr>
              <a:t>If</a:t>
            </a:r>
            <a:r>
              <a:rPr lang="en-IN">
                <a:solidFill>
                  <a:schemeClr val="tx2">
                    <a:lumMod val="75000"/>
                  </a:schemeClr>
                </a:solidFill>
                <a:latin typeface="Consolas"/>
                <a:cs typeface="Consolas"/>
              </a:rPr>
              <a:t> </a:t>
            </a:r>
            <a:r>
              <a:rPr lang="en-IN">
                <a:latin typeface="Consolas"/>
                <a:cs typeface="Consolas"/>
              </a:rPr>
              <a:t>	  F = -1</a:t>
            </a:r>
            <a:endParaRPr/>
          </a:p>
          <a:p>
            <a:pPr>
              <a:defRPr/>
            </a:pPr>
            <a:r>
              <a:rPr lang="en-IN">
                <a:latin typeface="Consolas"/>
                <a:cs typeface="Consolas"/>
              </a:rPr>
              <a:t>   </a:t>
            </a:r>
            <a:r>
              <a:rPr lang="en-IN" b="1">
                <a:solidFill>
                  <a:schemeClr val="tx2">
                    <a:lumMod val="75000"/>
                  </a:schemeClr>
                </a:solidFill>
                <a:latin typeface="Consolas"/>
                <a:cs typeface="Consolas"/>
              </a:rPr>
              <a:t>Then</a:t>
            </a:r>
            <a:r>
              <a:rPr lang="en-IN">
                <a:latin typeface="Consolas"/>
                <a:cs typeface="Consolas"/>
              </a:rPr>
              <a:t>  Write(‘Underflow’)</a:t>
            </a:r>
            <a:endParaRPr/>
          </a:p>
          <a:p>
            <a:pPr>
              <a:defRPr/>
            </a:pPr>
            <a:r>
              <a:rPr lang="en-IN">
                <a:latin typeface="Consolas"/>
                <a:cs typeface="Consolas"/>
              </a:rPr>
              <a:t>         Return(-1)</a:t>
            </a:r>
            <a:endParaRPr/>
          </a:p>
          <a:p>
            <a:pPr>
              <a:defRPr/>
            </a:pPr>
            <a:r>
              <a:rPr lang="en-IN" sz="2000" b="1">
                <a:solidFill>
                  <a:schemeClr val="tx2"/>
                </a:solidFill>
                <a:latin typeface="Consolas"/>
                <a:cs typeface="Consolas"/>
              </a:rPr>
              <a:t>2. [Delete Element]</a:t>
            </a:r>
            <a:endParaRPr/>
          </a:p>
          <a:p>
            <a:pPr>
              <a:defRPr/>
            </a:pPr>
            <a:r>
              <a:rPr lang="en-IN" b="1">
                <a:latin typeface="Consolas"/>
                <a:cs typeface="Consolas"/>
              </a:rPr>
              <a:t>    </a:t>
            </a:r>
            <a:r>
              <a:rPr lang="en-IN">
                <a:latin typeface="Consolas"/>
                <a:cs typeface="Consolas"/>
              </a:rPr>
              <a:t>Y </a:t>
            </a:r>
            <a:r>
              <a:rPr lang="en-IN">
                <a:latin typeface="Consolas"/>
                <a:cs typeface="Consolas"/>
              </a:rPr>
              <a:t> Q[F]</a:t>
            </a:r>
            <a:endParaRPr/>
          </a:p>
          <a:p>
            <a:pPr>
              <a:defRPr/>
            </a:pPr>
            <a:r>
              <a:rPr lang="en-IN" sz="2000" b="1">
                <a:solidFill>
                  <a:schemeClr val="tx2"/>
                </a:solidFill>
                <a:latin typeface="Consolas"/>
                <a:cs typeface="Consolas"/>
              </a:rPr>
              <a:t>3. [Queue Empty?]</a:t>
            </a:r>
            <a:endParaRPr/>
          </a:p>
          <a:p>
            <a:pPr>
              <a:defRPr/>
            </a:pPr>
            <a:r>
              <a:rPr lang="en-IN" b="1">
                <a:latin typeface="Consolas"/>
                <a:cs typeface="Consolas"/>
              </a:rPr>
              <a:t>   </a:t>
            </a:r>
            <a:r>
              <a:rPr lang="en-IN" b="1">
                <a:solidFill>
                  <a:schemeClr val="tx2">
                    <a:lumMod val="75000"/>
                  </a:schemeClr>
                </a:solidFill>
                <a:latin typeface="Consolas"/>
                <a:cs typeface="Consolas"/>
              </a:rPr>
              <a:t>If</a:t>
            </a:r>
            <a:r>
              <a:rPr lang="en-IN">
                <a:latin typeface="Consolas"/>
                <a:cs typeface="Consolas"/>
              </a:rPr>
              <a:t> 	  F = R</a:t>
            </a:r>
            <a:endParaRPr/>
          </a:p>
          <a:p>
            <a:pPr>
              <a:defRPr/>
            </a:pPr>
            <a:r>
              <a:rPr lang="en-IN">
                <a:latin typeface="Consolas"/>
                <a:cs typeface="Consolas"/>
              </a:rPr>
              <a:t>   </a:t>
            </a:r>
            <a:r>
              <a:rPr lang="en-IN" b="1">
                <a:solidFill>
                  <a:schemeClr val="tx2">
                    <a:lumMod val="75000"/>
                  </a:schemeClr>
                </a:solidFill>
                <a:latin typeface="Consolas"/>
                <a:cs typeface="Consolas"/>
              </a:rPr>
              <a:t>Then</a:t>
            </a:r>
            <a:r>
              <a:rPr lang="en-IN">
                <a:latin typeface="Consolas"/>
                <a:cs typeface="Consolas"/>
              </a:rPr>
              <a:t>  F </a:t>
            </a:r>
            <a:r>
              <a:rPr lang="en-IN">
                <a:latin typeface="Consolas"/>
                <a:cs typeface="Consolas"/>
              </a:rPr>
              <a:t> R   -1</a:t>
            </a:r>
            <a:endParaRPr lang="en-IN">
              <a:latin typeface="Consolas"/>
              <a:cs typeface="Consolas"/>
            </a:endParaRPr>
          </a:p>
          <a:p>
            <a:pPr>
              <a:defRPr/>
            </a:pPr>
            <a:r>
              <a:rPr lang="en-IN">
                <a:latin typeface="Consolas"/>
                <a:cs typeface="Consolas"/>
              </a:rPr>
              <a:t>         Return(Y)</a:t>
            </a:r>
            <a:endParaRPr/>
          </a:p>
        </p:txBody>
      </p:sp>
      <p:sp>
        <p:nvSpPr>
          <p:cNvPr id="910501742" name="TextBox 4"/>
          <p:cNvSpPr txBox="1"/>
          <p:nvPr/>
        </p:nvSpPr>
        <p:spPr bwMode="auto">
          <a:xfrm>
            <a:off x="4620059" y="3526785"/>
            <a:ext cx="4191000" cy="954107"/>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000" b="1">
                <a:solidFill>
                  <a:schemeClr val="tx2"/>
                </a:solidFill>
                <a:latin typeface="Consolas"/>
                <a:cs typeface="Consolas"/>
              </a:rPr>
              <a:t>4. [Update Front Pointer]</a:t>
            </a:r>
            <a:endParaRPr/>
          </a:p>
          <a:p>
            <a:pPr>
              <a:defRPr/>
            </a:pPr>
            <a:r>
              <a:rPr lang="en-IN">
                <a:latin typeface="Consolas"/>
                <a:cs typeface="Consolas"/>
              </a:rPr>
              <a:t>    F  (F + 1) % N</a:t>
            </a:r>
            <a:endParaRPr/>
          </a:p>
          <a:p>
            <a:pPr>
              <a:defRPr/>
            </a:pPr>
            <a:r>
              <a:rPr lang="en-IN">
                <a:latin typeface="Consolas"/>
                <a:cs typeface="Consolas"/>
              </a:rPr>
              <a:t>    Return(Y)</a:t>
            </a:r>
            <a:endParaRPr lang="en-IN">
              <a:latin typeface="Consolas"/>
              <a:cs typeface="Consolas"/>
            </a:endParaRPr>
          </a:p>
        </p:txBody>
      </p:sp>
      <p:grpSp>
        <p:nvGrpSpPr>
          <p:cNvPr id="116895506" name="Group 36"/>
          <p:cNvGrpSpPr/>
          <p:nvPr/>
        </p:nvGrpSpPr>
        <p:grpSpPr bwMode="auto">
          <a:xfrm>
            <a:off x="9668038" y="865429"/>
            <a:ext cx="2109964" cy="1471788"/>
            <a:chOff x="9226890" y="1588092"/>
            <a:chExt cx="2109964" cy="1471788"/>
          </a:xfrm>
        </p:grpSpPr>
        <p:grpSp>
          <p:nvGrpSpPr>
            <p:cNvPr id="57" name="Group 56"/>
            <p:cNvGrpSpPr/>
            <p:nvPr/>
          </p:nvGrpSpPr>
          <p:grpSpPr bwMode="auto">
            <a:xfrm>
              <a:off x="9226890" y="1588092"/>
              <a:ext cx="2109964" cy="1471788"/>
              <a:chOff x="6324600" y="2457490"/>
              <a:chExt cx="2286000" cy="1321098"/>
            </a:xfrm>
          </p:grpSpPr>
          <p:grpSp>
            <p:nvGrpSpPr>
              <p:cNvPr id="58" name="Group 57"/>
              <p:cNvGrpSpPr/>
              <p:nvPr/>
            </p:nvGrpSpPr>
            <p:grpSpPr bwMode="auto">
              <a:xfrm>
                <a:off x="6585857" y="3168988"/>
                <a:ext cx="1828800" cy="381000"/>
                <a:chOff x="381000" y="1219200"/>
                <a:chExt cx="1828800" cy="381000"/>
              </a:xfrm>
            </p:grpSpPr>
            <p:sp>
              <p:nvSpPr>
                <p:cNvPr id="70" name="Rectangle 69"/>
                <p:cNvSpPr/>
                <p:nvPr/>
              </p:nvSpPr>
              <p:spPr bwMode="auto">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71" name="Rectangle 70"/>
                <p:cNvSpPr/>
                <p:nvPr/>
              </p:nvSpPr>
              <p:spPr bwMode="auto">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6</a:t>
                  </a:r>
                  <a:endParaRPr lang="en-US" b="1"/>
                </a:p>
              </p:txBody>
            </p:sp>
            <p:sp>
              <p:nvSpPr>
                <p:cNvPr id="72" name="Rectangle 71"/>
                <p:cNvSpPr/>
                <p:nvPr/>
              </p:nvSpPr>
              <p:spPr bwMode="auto">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73" name="Rectangle 72"/>
                <p:cNvSpPr/>
                <p:nvPr/>
              </p:nvSpPr>
              <p:spPr bwMode="auto">
                <a:xfrm>
                  <a:off x="1752599"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grpSp>
          <p:cxnSp>
            <p:nvCxnSpPr>
              <p:cNvPr id="59" name="Straight Connector 58"/>
              <p:cNvCxnSpPr>
                <a:stCxn id="73" idx="3"/>
              </p:cNvCxnSpPr>
              <p:nvPr/>
            </p:nvCxnSpPr>
            <p:spPr bwMode="auto">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bwMode="auto">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1" name="Straight Connector 60"/>
              <p:cNvCxnSpPr/>
              <p:nvPr/>
            </p:nvCxnSpPr>
            <p:spPr bwMode="auto">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2" name="Straight Connector 61"/>
              <p:cNvCxnSpPr/>
              <p:nvPr/>
            </p:nvCxnSpPr>
            <p:spPr bwMode="auto">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3" name="Straight Arrow Connector 62"/>
              <p:cNvCxnSpPr>
                <a:endCxn id="70" idx="1"/>
              </p:cNvCxnSpPr>
              <p:nvPr/>
            </p:nvCxnSpPr>
            <p:spPr bwMode="auto">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sp>
            <p:nvSpPr>
              <p:cNvPr id="68" name="TextBox 67"/>
              <p:cNvSpPr txBox="1"/>
              <p:nvPr/>
            </p:nvSpPr>
            <p:spPr bwMode="auto">
              <a:xfrm>
                <a:off x="6981351" y="2457490"/>
                <a:ext cx="307460" cy="331517"/>
              </a:xfrm>
              <a:prstGeom prst="rect">
                <a:avLst/>
              </a:prstGeom>
              <a:noFill/>
            </p:spPr>
            <p:txBody>
              <a:bodyPr wrap="square" rtlCol="0">
                <a:spAutoFit/>
              </a:bodyPr>
              <a:lstStyle/>
              <a:p>
                <a:pPr>
                  <a:defRPr/>
                </a:pPr>
                <a:r>
                  <a:rPr lang="en-IN" b="1">
                    <a:solidFill>
                      <a:srgbClr val="FF0000"/>
                    </a:solidFill>
                  </a:rPr>
                  <a:t>F</a:t>
                </a:r>
                <a:endParaRPr lang="en-US" b="1">
                  <a:solidFill>
                    <a:srgbClr val="FF0000"/>
                  </a:solidFill>
                </a:endParaRPr>
              </a:p>
            </p:txBody>
          </p:sp>
          <p:sp>
            <p:nvSpPr>
              <p:cNvPr id="66" name="TextBox 65"/>
              <p:cNvSpPr txBox="1"/>
              <p:nvPr/>
            </p:nvSpPr>
            <p:spPr bwMode="auto">
              <a:xfrm>
                <a:off x="7236808" y="2457490"/>
                <a:ext cx="309999" cy="331529"/>
              </a:xfrm>
              <a:prstGeom prst="rect">
                <a:avLst/>
              </a:prstGeom>
              <a:noFill/>
            </p:spPr>
            <p:txBody>
              <a:bodyPr wrap="square" rtlCol="0">
                <a:spAutoFit/>
              </a:bodyPr>
              <a:lstStyle/>
              <a:p>
                <a:pPr algn="ctr">
                  <a:defRPr/>
                </a:pPr>
                <a:r>
                  <a:rPr lang="en-IN" b="1">
                    <a:solidFill>
                      <a:srgbClr val="FF0000"/>
                    </a:solidFill>
                  </a:rPr>
                  <a:t>R</a:t>
                </a:r>
                <a:endParaRPr lang="en-US" b="1">
                  <a:solidFill>
                    <a:srgbClr val="FF0000"/>
                  </a:solidFill>
                </a:endParaRPr>
              </a:p>
            </p:txBody>
          </p:sp>
        </p:grpSp>
        <p:cxnSp>
          <p:nvCxnSpPr>
            <p:cNvPr id="30" name="Straight Arrow Connector 29"/>
            <p:cNvCxnSpPr>
              <a:stCxn id="68" idx="2"/>
            </p:cNvCxnSpPr>
            <p:nvPr/>
          </p:nvCxnSpPr>
          <p:spPr bwMode="auto">
            <a:xfrm>
              <a:off x="9974959" y="1957431"/>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6" idx="2"/>
            </p:cNvCxnSpPr>
            <p:nvPr/>
          </p:nvCxnSpPr>
          <p:spPr bwMode="auto">
            <a:xfrm>
              <a:off x="10211916" y="1957444"/>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643838929" name="Group 78"/>
          <p:cNvGrpSpPr/>
          <p:nvPr/>
        </p:nvGrpSpPr>
        <p:grpSpPr bwMode="auto">
          <a:xfrm>
            <a:off x="9668038" y="2511716"/>
            <a:ext cx="2109964" cy="1488676"/>
            <a:chOff x="9266248" y="3461060"/>
            <a:chExt cx="2109964" cy="1488676"/>
          </a:xfrm>
        </p:grpSpPr>
        <p:grpSp>
          <p:nvGrpSpPr>
            <p:cNvPr id="6" name="Group 5"/>
            <p:cNvGrpSpPr/>
            <p:nvPr/>
          </p:nvGrpSpPr>
          <p:grpSpPr bwMode="auto">
            <a:xfrm>
              <a:off x="9266248" y="4270599"/>
              <a:ext cx="2109964" cy="679137"/>
              <a:chOff x="6324600" y="3168988"/>
              <a:chExt cx="2286000" cy="609601"/>
            </a:xfrm>
          </p:grpSpPr>
          <p:grpSp>
            <p:nvGrpSpPr>
              <p:cNvPr id="7" name="Group 6"/>
              <p:cNvGrpSpPr/>
              <p:nvPr/>
            </p:nvGrpSpPr>
            <p:grpSpPr bwMode="auto">
              <a:xfrm>
                <a:off x="6585857" y="3168988"/>
                <a:ext cx="1828800" cy="381000"/>
                <a:chOff x="381000" y="1219200"/>
                <a:chExt cx="1828800" cy="381000"/>
              </a:xfrm>
            </p:grpSpPr>
            <p:sp>
              <p:nvSpPr>
                <p:cNvPr id="19" name="Rectangle 18"/>
                <p:cNvSpPr/>
                <p:nvPr/>
              </p:nvSpPr>
              <p:spPr bwMode="auto">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2</a:t>
                  </a:r>
                  <a:endParaRPr lang="en-US" b="1"/>
                </a:p>
              </p:txBody>
            </p:sp>
            <p:sp>
              <p:nvSpPr>
                <p:cNvPr id="20" name="Rectangle 19"/>
                <p:cNvSpPr/>
                <p:nvPr/>
              </p:nvSpPr>
              <p:spPr bwMode="auto">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6</a:t>
                  </a:r>
                  <a:endParaRPr lang="en-US" b="1"/>
                </a:p>
              </p:txBody>
            </p:sp>
            <p:sp>
              <p:nvSpPr>
                <p:cNvPr id="21" name="Rectangle 20"/>
                <p:cNvSpPr/>
                <p:nvPr/>
              </p:nvSpPr>
              <p:spPr bwMode="auto">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22" name="Rectangle 21"/>
                <p:cNvSpPr/>
                <p:nvPr/>
              </p:nvSpPr>
              <p:spPr bwMode="auto">
                <a:xfrm>
                  <a:off x="1752599"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4</a:t>
                  </a:r>
                  <a:endParaRPr lang="en-US" b="1"/>
                </a:p>
              </p:txBody>
            </p:sp>
          </p:grpSp>
          <p:cxnSp>
            <p:nvCxnSpPr>
              <p:cNvPr id="8" name="Straight Connector 7"/>
              <p:cNvCxnSpPr>
                <a:stCxn id="22" idx="3"/>
              </p:cNvCxnSpPr>
              <p:nvPr/>
            </p:nvCxnSpPr>
            <p:spPr bwMode="auto">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9" name="Straight Connector 8"/>
              <p:cNvCxnSpPr/>
              <p:nvPr/>
            </p:nvCxnSpPr>
            <p:spPr bwMode="auto">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bwMode="auto">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bwMode="auto">
              <a:xfrm flipV="1">
                <a:off x="6324600" y="3359489"/>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bwMode="auto">
              <a:xfrm>
                <a:off x="6324600" y="3359489"/>
                <a:ext cx="261259"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grpSp>
          <p:nvGrpSpPr>
            <p:cNvPr id="39" name="Group 38"/>
            <p:cNvGrpSpPr/>
            <p:nvPr/>
          </p:nvGrpSpPr>
          <p:grpSpPr bwMode="auto">
            <a:xfrm>
              <a:off x="10818097" y="3461060"/>
              <a:ext cx="283784" cy="800287"/>
              <a:chOff x="8932592" y="3377871"/>
              <a:chExt cx="283784" cy="800287"/>
            </a:xfrm>
          </p:grpSpPr>
          <p:sp>
            <p:nvSpPr>
              <p:cNvPr id="75" name="TextBox 74"/>
              <p:cNvSpPr txBox="1"/>
              <p:nvPr/>
            </p:nvSpPr>
            <p:spPr bwMode="auto">
              <a:xfrm>
                <a:off x="8932592" y="3377871"/>
                <a:ext cx="283784" cy="369331"/>
              </a:xfrm>
              <a:prstGeom prst="rect">
                <a:avLst/>
              </a:prstGeom>
              <a:noFill/>
            </p:spPr>
            <p:txBody>
              <a:bodyPr wrap="square" rtlCol="0">
                <a:spAutoFit/>
              </a:bodyPr>
              <a:lstStyle/>
              <a:p>
                <a:pPr>
                  <a:defRPr/>
                </a:pPr>
                <a:r>
                  <a:rPr lang="en-IN" b="1">
                    <a:solidFill>
                      <a:srgbClr val="FF0000"/>
                    </a:solidFill>
                  </a:rPr>
                  <a:t>F</a:t>
                </a:r>
                <a:endParaRPr lang="en-US" b="1">
                  <a:solidFill>
                    <a:srgbClr val="FF0000"/>
                  </a:solidFill>
                </a:endParaRPr>
              </a:p>
            </p:txBody>
          </p:sp>
          <p:cxnSp>
            <p:nvCxnSpPr>
              <p:cNvPr id="77" name="Straight Arrow Connector 76"/>
              <p:cNvCxnSpPr>
                <a:stCxn id="75" idx="2"/>
              </p:cNvCxnSpPr>
              <p:nvPr/>
            </p:nvCxnSpPr>
            <p:spPr bwMode="auto">
              <a:xfrm>
                <a:off x="9074484" y="3747210"/>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bwMode="auto">
            <a:xfrm>
              <a:off x="9997537" y="3461060"/>
              <a:ext cx="286127" cy="797968"/>
              <a:chOff x="9168377" y="3377871"/>
              <a:chExt cx="286127" cy="797968"/>
            </a:xfrm>
          </p:grpSpPr>
          <p:sp>
            <p:nvSpPr>
              <p:cNvPr id="76" name="TextBox 75"/>
              <p:cNvSpPr txBox="1"/>
              <p:nvPr/>
            </p:nvSpPr>
            <p:spPr bwMode="auto">
              <a:xfrm>
                <a:off x="9168377" y="3377871"/>
                <a:ext cx="286127" cy="369345"/>
              </a:xfrm>
              <a:prstGeom prst="rect">
                <a:avLst/>
              </a:prstGeom>
              <a:noFill/>
            </p:spPr>
            <p:txBody>
              <a:bodyPr wrap="square" rtlCol="0">
                <a:spAutoFit/>
              </a:bodyPr>
              <a:lstStyle/>
              <a:p>
                <a:pPr algn="ctr">
                  <a:defRPr/>
                </a:pPr>
                <a:r>
                  <a:rPr lang="en-IN" b="1">
                    <a:solidFill>
                      <a:srgbClr val="FF0000"/>
                    </a:solidFill>
                  </a:rPr>
                  <a:t>R</a:t>
                </a:r>
                <a:endParaRPr lang="en-US" b="1">
                  <a:solidFill>
                    <a:srgbClr val="FF0000"/>
                  </a:solidFill>
                </a:endParaRPr>
              </a:p>
            </p:txBody>
          </p:sp>
          <p:cxnSp>
            <p:nvCxnSpPr>
              <p:cNvPr id="78" name="Straight Arrow Connector 77"/>
              <p:cNvCxnSpPr>
                <a:stCxn id="76" idx="2"/>
              </p:cNvCxnSpPr>
              <p:nvPr/>
            </p:nvCxnSpPr>
            <p:spPr bwMode="auto">
              <a:xfrm>
                <a:off x="9311441" y="3747223"/>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grpSp>
        <p:nvGrpSpPr>
          <p:cNvPr id="1539306077" name="Group 85"/>
          <p:cNvGrpSpPr/>
          <p:nvPr/>
        </p:nvGrpSpPr>
        <p:grpSpPr bwMode="auto">
          <a:xfrm>
            <a:off x="9668038" y="4174891"/>
            <a:ext cx="2109964" cy="1473687"/>
            <a:chOff x="9266248" y="4604386"/>
            <a:chExt cx="2109964" cy="1473687"/>
          </a:xfrm>
        </p:grpSpPr>
        <p:grpSp>
          <p:nvGrpSpPr>
            <p:cNvPr id="40" name="Group 39"/>
            <p:cNvGrpSpPr/>
            <p:nvPr/>
          </p:nvGrpSpPr>
          <p:grpSpPr bwMode="auto">
            <a:xfrm>
              <a:off x="9266248" y="5398937"/>
              <a:ext cx="2109964" cy="679136"/>
              <a:chOff x="6324600" y="3168988"/>
              <a:chExt cx="2286000" cy="609600"/>
            </a:xfrm>
          </p:grpSpPr>
          <p:grpSp>
            <p:nvGrpSpPr>
              <p:cNvPr id="41" name="Group 40"/>
              <p:cNvGrpSpPr/>
              <p:nvPr/>
            </p:nvGrpSpPr>
            <p:grpSpPr bwMode="auto">
              <a:xfrm>
                <a:off x="6585857" y="3168988"/>
                <a:ext cx="1828800" cy="381000"/>
                <a:chOff x="381000" y="1219200"/>
                <a:chExt cx="1828800" cy="381000"/>
              </a:xfrm>
            </p:grpSpPr>
            <p:sp>
              <p:nvSpPr>
                <p:cNvPr id="53" name="Rectangle 52"/>
                <p:cNvSpPr/>
                <p:nvPr/>
              </p:nvSpPr>
              <p:spPr bwMode="auto">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54" name="Rectangle 53"/>
                <p:cNvSpPr/>
                <p:nvPr/>
              </p:nvSpPr>
              <p:spPr bwMode="auto">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6</a:t>
                  </a:r>
                  <a:endParaRPr lang="en-US" b="1"/>
                </a:p>
              </p:txBody>
            </p:sp>
            <p:sp>
              <p:nvSpPr>
                <p:cNvPr id="55" name="Rectangle 54"/>
                <p:cNvSpPr/>
                <p:nvPr/>
              </p:nvSpPr>
              <p:spPr bwMode="auto">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a:t>
                  </a:r>
                  <a:endParaRPr lang="en-US" b="1"/>
                </a:p>
              </p:txBody>
            </p:sp>
            <p:sp>
              <p:nvSpPr>
                <p:cNvPr id="56" name="Rectangle 55"/>
                <p:cNvSpPr/>
                <p:nvPr/>
              </p:nvSpPr>
              <p:spPr bwMode="auto">
                <a:xfrm>
                  <a:off x="1752599"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4</a:t>
                  </a:r>
                  <a:endParaRPr lang="en-US" b="1"/>
                </a:p>
              </p:txBody>
            </p:sp>
          </p:grpSp>
          <p:cxnSp>
            <p:nvCxnSpPr>
              <p:cNvPr id="42" name="Straight Connector 41"/>
              <p:cNvCxnSpPr>
                <a:stCxn id="56" idx="3"/>
              </p:cNvCxnSpPr>
              <p:nvPr/>
            </p:nvCxnSpPr>
            <p:spPr bwMode="auto">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3" name="Straight Connector 42"/>
              <p:cNvCxnSpPr/>
              <p:nvPr/>
            </p:nvCxnSpPr>
            <p:spPr bwMode="auto">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4" name="Straight Connector 43"/>
              <p:cNvCxnSpPr/>
              <p:nvPr/>
            </p:nvCxnSpPr>
            <p:spPr bwMode="auto">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5" name="Straight Connector 44"/>
              <p:cNvCxnSpPr/>
              <p:nvPr/>
            </p:nvCxnSpPr>
            <p:spPr bwMode="auto">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6" name="Straight Arrow Connector 45"/>
              <p:cNvCxnSpPr>
                <a:endCxn id="53" idx="1"/>
              </p:cNvCxnSpPr>
              <p:nvPr/>
            </p:nvCxnSpPr>
            <p:spPr bwMode="auto">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grpSp>
          <p:nvGrpSpPr>
            <p:cNvPr id="85" name="Group 84"/>
            <p:cNvGrpSpPr/>
            <p:nvPr/>
          </p:nvGrpSpPr>
          <p:grpSpPr bwMode="auto">
            <a:xfrm>
              <a:off x="9985235" y="4606306"/>
              <a:ext cx="283784" cy="800287"/>
              <a:chOff x="9833067" y="4719218"/>
              <a:chExt cx="283784" cy="800287"/>
            </a:xfrm>
          </p:grpSpPr>
          <p:sp>
            <p:nvSpPr>
              <p:cNvPr id="80" name="TextBox 79"/>
              <p:cNvSpPr txBox="1"/>
              <p:nvPr/>
            </p:nvSpPr>
            <p:spPr bwMode="auto">
              <a:xfrm>
                <a:off x="9833067" y="4719218"/>
                <a:ext cx="283784" cy="369331"/>
              </a:xfrm>
              <a:prstGeom prst="rect">
                <a:avLst/>
              </a:prstGeom>
              <a:noFill/>
            </p:spPr>
            <p:txBody>
              <a:bodyPr wrap="square" rtlCol="0">
                <a:spAutoFit/>
              </a:bodyPr>
              <a:lstStyle/>
              <a:p>
                <a:pPr>
                  <a:defRPr/>
                </a:pPr>
                <a:r>
                  <a:rPr lang="en-IN" b="1">
                    <a:solidFill>
                      <a:srgbClr val="FF0000"/>
                    </a:solidFill>
                  </a:rPr>
                  <a:t>F</a:t>
                </a:r>
                <a:endParaRPr lang="en-US" b="1">
                  <a:solidFill>
                    <a:srgbClr val="FF0000"/>
                  </a:solidFill>
                </a:endParaRPr>
              </a:p>
            </p:txBody>
          </p:sp>
          <p:cxnSp>
            <p:nvCxnSpPr>
              <p:cNvPr id="82" name="Straight Arrow Connector 81"/>
              <p:cNvCxnSpPr>
                <a:stCxn id="80" idx="2"/>
              </p:cNvCxnSpPr>
              <p:nvPr/>
            </p:nvCxnSpPr>
            <p:spPr bwMode="auto">
              <a:xfrm>
                <a:off x="9974959" y="5088557"/>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bwMode="auto">
            <a:xfrm>
              <a:off x="10841299" y="4604386"/>
              <a:ext cx="286127" cy="797968"/>
              <a:chOff x="10068852" y="4719218"/>
              <a:chExt cx="286127" cy="797968"/>
            </a:xfrm>
          </p:grpSpPr>
          <p:sp>
            <p:nvSpPr>
              <p:cNvPr id="81" name="TextBox 80"/>
              <p:cNvSpPr txBox="1"/>
              <p:nvPr/>
            </p:nvSpPr>
            <p:spPr bwMode="auto">
              <a:xfrm>
                <a:off x="10068852" y="4719218"/>
                <a:ext cx="286127" cy="369345"/>
              </a:xfrm>
              <a:prstGeom prst="rect">
                <a:avLst/>
              </a:prstGeom>
              <a:noFill/>
            </p:spPr>
            <p:txBody>
              <a:bodyPr wrap="square" rtlCol="0">
                <a:spAutoFit/>
              </a:bodyPr>
              <a:lstStyle/>
              <a:p>
                <a:pPr algn="ctr">
                  <a:defRPr/>
                </a:pPr>
                <a:r>
                  <a:rPr lang="en-IN" b="1">
                    <a:solidFill>
                      <a:srgbClr val="FF0000"/>
                    </a:solidFill>
                  </a:rPr>
                  <a:t>R</a:t>
                </a:r>
                <a:endParaRPr lang="en-US" b="1">
                  <a:solidFill>
                    <a:srgbClr val="FF0000"/>
                  </a:solidFill>
                </a:endParaRPr>
              </a:p>
            </p:txBody>
          </p:sp>
          <p:cxnSp>
            <p:nvCxnSpPr>
              <p:cNvPr id="83" name="Straight Arrow Connector 82"/>
              <p:cNvCxnSpPr>
                <a:stCxn id="81" idx="2"/>
              </p:cNvCxnSpPr>
              <p:nvPr/>
            </p:nvCxnSpPr>
            <p:spPr bwMode="auto">
              <a:xfrm>
                <a:off x="10211916" y="5088570"/>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grpSp>
        <p:nvGrpSpPr>
          <p:cNvPr id="467497819" name="Group 87"/>
          <p:cNvGrpSpPr/>
          <p:nvPr/>
        </p:nvGrpSpPr>
        <p:grpSpPr bwMode="auto">
          <a:xfrm>
            <a:off x="9986640" y="2050726"/>
            <a:ext cx="1506640" cy="322423"/>
            <a:chOff x="9953169" y="1820753"/>
            <a:chExt cx="1506640" cy="322423"/>
          </a:xfrm>
        </p:grpSpPr>
        <p:sp>
          <p:nvSpPr>
            <p:cNvPr id="89" name="TextBox 88"/>
            <p:cNvSpPr txBox="1"/>
            <p:nvPr/>
          </p:nvSpPr>
          <p:spPr bwMode="auto">
            <a:xfrm>
              <a:off x="9953169" y="1834020"/>
              <a:ext cx="116205" cy="307777"/>
            </a:xfrm>
            <a:prstGeom prst="rect">
              <a:avLst/>
            </a:prstGeom>
            <a:noFill/>
          </p:spPr>
          <p:txBody>
            <a:bodyPr wrap="square" rtlCol="0">
              <a:spAutoFit/>
            </a:bodyPr>
            <a:lstStyle/>
            <a:p>
              <a:pPr>
                <a:defRPr/>
              </a:pPr>
              <a:r>
                <a:rPr lang="en-IN" sz="1400"/>
                <a:t>0</a:t>
              </a:r>
              <a:endParaRPr/>
            </a:p>
          </p:txBody>
        </p:sp>
        <p:sp>
          <p:nvSpPr>
            <p:cNvPr id="90" name="TextBox 89"/>
            <p:cNvSpPr txBox="1"/>
            <p:nvPr/>
          </p:nvSpPr>
          <p:spPr bwMode="auto">
            <a:xfrm>
              <a:off x="10423654" y="1835399"/>
              <a:ext cx="116205" cy="307777"/>
            </a:xfrm>
            <a:prstGeom prst="rect">
              <a:avLst/>
            </a:prstGeom>
            <a:noFill/>
          </p:spPr>
          <p:txBody>
            <a:bodyPr wrap="square" rtlCol="0">
              <a:spAutoFit/>
            </a:bodyPr>
            <a:lstStyle/>
            <a:p>
              <a:pPr>
                <a:defRPr/>
              </a:pPr>
              <a:r>
                <a:rPr lang="en-IN" sz="1400"/>
                <a:t>1</a:t>
              </a:r>
              <a:endParaRPr/>
            </a:p>
          </p:txBody>
        </p:sp>
        <p:sp>
          <p:nvSpPr>
            <p:cNvPr id="91" name="TextBox 90"/>
            <p:cNvSpPr txBox="1"/>
            <p:nvPr/>
          </p:nvSpPr>
          <p:spPr bwMode="auto">
            <a:xfrm>
              <a:off x="10883629" y="1820753"/>
              <a:ext cx="116205" cy="307777"/>
            </a:xfrm>
            <a:prstGeom prst="rect">
              <a:avLst/>
            </a:prstGeom>
            <a:noFill/>
          </p:spPr>
          <p:txBody>
            <a:bodyPr wrap="square" rtlCol="0">
              <a:spAutoFit/>
            </a:bodyPr>
            <a:lstStyle/>
            <a:p>
              <a:pPr>
                <a:defRPr/>
              </a:pPr>
              <a:r>
                <a:rPr lang="en-IN" sz="1400"/>
                <a:t>2</a:t>
              </a:r>
              <a:endParaRPr/>
            </a:p>
          </p:txBody>
        </p:sp>
        <p:sp>
          <p:nvSpPr>
            <p:cNvPr id="92" name="TextBox 91"/>
            <p:cNvSpPr txBox="1"/>
            <p:nvPr/>
          </p:nvSpPr>
          <p:spPr bwMode="auto">
            <a:xfrm>
              <a:off x="11343604" y="1822132"/>
              <a:ext cx="116205" cy="307777"/>
            </a:xfrm>
            <a:prstGeom prst="rect">
              <a:avLst/>
            </a:prstGeom>
            <a:noFill/>
          </p:spPr>
          <p:txBody>
            <a:bodyPr wrap="square" rtlCol="0">
              <a:spAutoFit/>
            </a:bodyPr>
            <a:lstStyle/>
            <a:p>
              <a:pPr>
                <a:defRPr/>
              </a:pPr>
              <a:r>
                <a:rPr lang="en-IN" sz="1400"/>
                <a:t>3</a:t>
              </a:r>
              <a:endParaRPr/>
            </a:p>
          </p:txBody>
        </p:sp>
      </p:grpSp>
      <p:grpSp>
        <p:nvGrpSpPr>
          <p:cNvPr id="211006392" name="Group 92"/>
          <p:cNvGrpSpPr/>
          <p:nvPr/>
        </p:nvGrpSpPr>
        <p:grpSpPr bwMode="auto">
          <a:xfrm>
            <a:off x="9968452" y="3732976"/>
            <a:ext cx="1506640" cy="322423"/>
            <a:chOff x="9953169" y="1820753"/>
            <a:chExt cx="1506640" cy="322423"/>
          </a:xfrm>
        </p:grpSpPr>
        <p:sp>
          <p:nvSpPr>
            <p:cNvPr id="94" name="TextBox 93"/>
            <p:cNvSpPr txBox="1"/>
            <p:nvPr/>
          </p:nvSpPr>
          <p:spPr bwMode="auto">
            <a:xfrm>
              <a:off x="9953169" y="1834020"/>
              <a:ext cx="116205" cy="307777"/>
            </a:xfrm>
            <a:prstGeom prst="rect">
              <a:avLst/>
            </a:prstGeom>
            <a:noFill/>
          </p:spPr>
          <p:txBody>
            <a:bodyPr wrap="square" rtlCol="0">
              <a:spAutoFit/>
            </a:bodyPr>
            <a:lstStyle/>
            <a:p>
              <a:pPr>
                <a:defRPr/>
              </a:pPr>
              <a:r>
                <a:rPr lang="en-IN" sz="1400"/>
                <a:t>0</a:t>
              </a:r>
              <a:endParaRPr/>
            </a:p>
          </p:txBody>
        </p:sp>
        <p:sp>
          <p:nvSpPr>
            <p:cNvPr id="95" name="TextBox 94"/>
            <p:cNvSpPr txBox="1"/>
            <p:nvPr/>
          </p:nvSpPr>
          <p:spPr bwMode="auto">
            <a:xfrm>
              <a:off x="10423654" y="1835399"/>
              <a:ext cx="116205" cy="307777"/>
            </a:xfrm>
            <a:prstGeom prst="rect">
              <a:avLst/>
            </a:prstGeom>
            <a:noFill/>
          </p:spPr>
          <p:txBody>
            <a:bodyPr wrap="square" rtlCol="0">
              <a:spAutoFit/>
            </a:bodyPr>
            <a:lstStyle/>
            <a:p>
              <a:pPr>
                <a:defRPr/>
              </a:pPr>
              <a:r>
                <a:rPr lang="en-IN" sz="1400"/>
                <a:t>1</a:t>
              </a:r>
              <a:endParaRPr/>
            </a:p>
          </p:txBody>
        </p:sp>
        <p:sp>
          <p:nvSpPr>
            <p:cNvPr id="96" name="TextBox 95"/>
            <p:cNvSpPr txBox="1"/>
            <p:nvPr/>
          </p:nvSpPr>
          <p:spPr bwMode="auto">
            <a:xfrm>
              <a:off x="10883629" y="1820753"/>
              <a:ext cx="116205" cy="307777"/>
            </a:xfrm>
            <a:prstGeom prst="rect">
              <a:avLst/>
            </a:prstGeom>
            <a:noFill/>
          </p:spPr>
          <p:txBody>
            <a:bodyPr wrap="square" rtlCol="0">
              <a:spAutoFit/>
            </a:bodyPr>
            <a:lstStyle/>
            <a:p>
              <a:pPr>
                <a:defRPr/>
              </a:pPr>
              <a:r>
                <a:rPr lang="en-IN" sz="1400"/>
                <a:t>2</a:t>
              </a:r>
              <a:endParaRPr/>
            </a:p>
          </p:txBody>
        </p:sp>
        <p:sp>
          <p:nvSpPr>
            <p:cNvPr id="97" name="TextBox 96"/>
            <p:cNvSpPr txBox="1"/>
            <p:nvPr/>
          </p:nvSpPr>
          <p:spPr bwMode="auto">
            <a:xfrm>
              <a:off x="11343604" y="1822132"/>
              <a:ext cx="116205" cy="307777"/>
            </a:xfrm>
            <a:prstGeom prst="rect">
              <a:avLst/>
            </a:prstGeom>
            <a:noFill/>
          </p:spPr>
          <p:txBody>
            <a:bodyPr wrap="square" rtlCol="0">
              <a:spAutoFit/>
            </a:bodyPr>
            <a:lstStyle/>
            <a:p>
              <a:pPr>
                <a:defRPr/>
              </a:pPr>
              <a:r>
                <a:rPr lang="en-IN" sz="1400"/>
                <a:t>3</a:t>
              </a:r>
              <a:endParaRPr/>
            </a:p>
          </p:txBody>
        </p:sp>
      </p:grpSp>
      <p:grpSp>
        <p:nvGrpSpPr>
          <p:cNvPr id="1211686863" name="Group 97"/>
          <p:cNvGrpSpPr/>
          <p:nvPr/>
        </p:nvGrpSpPr>
        <p:grpSpPr bwMode="auto">
          <a:xfrm>
            <a:off x="9968452" y="5361815"/>
            <a:ext cx="1506640" cy="322423"/>
            <a:chOff x="9953169" y="1820753"/>
            <a:chExt cx="1506640" cy="322423"/>
          </a:xfrm>
        </p:grpSpPr>
        <p:sp>
          <p:nvSpPr>
            <p:cNvPr id="99" name="TextBox 98"/>
            <p:cNvSpPr txBox="1"/>
            <p:nvPr/>
          </p:nvSpPr>
          <p:spPr bwMode="auto">
            <a:xfrm>
              <a:off x="9953169" y="1834020"/>
              <a:ext cx="116205" cy="307777"/>
            </a:xfrm>
            <a:prstGeom prst="rect">
              <a:avLst/>
            </a:prstGeom>
            <a:noFill/>
          </p:spPr>
          <p:txBody>
            <a:bodyPr wrap="square" rtlCol="0">
              <a:spAutoFit/>
            </a:bodyPr>
            <a:lstStyle/>
            <a:p>
              <a:pPr>
                <a:defRPr/>
              </a:pPr>
              <a:r>
                <a:rPr lang="en-IN" sz="1400"/>
                <a:t>0</a:t>
              </a:r>
              <a:endParaRPr/>
            </a:p>
          </p:txBody>
        </p:sp>
        <p:sp>
          <p:nvSpPr>
            <p:cNvPr id="100" name="TextBox 99"/>
            <p:cNvSpPr txBox="1"/>
            <p:nvPr/>
          </p:nvSpPr>
          <p:spPr bwMode="auto">
            <a:xfrm>
              <a:off x="10423654" y="1835399"/>
              <a:ext cx="116205" cy="307777"/>
            </a:xfrm>
            <a:prstGeom prst="rect">
              <a:avLst/>
            </a:prstGeom>
            <a:noFill/>
          </p:spPr>
          <p:txBody>
            <a:bodyPr wrap="square" rtlCol="0">
              <a:spAutoFit/>
            </a:bodyPr>
            <a:lstStyle/>
            <a:p>
              <a:pPr>
                <a:defRPr/>
              </a:pPr>
              <a:r>
                <a:rPr lang="en-IN" sz="1400"/>
                <a:t>1</a:t>
              </a:r>
              <a:endParaRPr/>
            </a:p>
          </p:txBody>
        </p:sp>
        <p:sp>
          <p:nvSpPr>
            <p:cNvPr id="101" name="TextBox 100"/>
            <p:cNvSpPr txBox="1"/>
            <p:nvPr/>
          </p:nvSpPr>
          <p:spPr bwMode="auto">
            <a:xfrm>
              <a:off x="10883629" y="1820753"/>
              <a:ext cx="116205" cy="307777"/>
            </a:xfrm>
            <a:prstGeom prst="rect">
              <a:avLst/>
            </a:prstGeom>
            <a:noFill/>
          </p:spPr>
          <p:txBody>
            <a:bodyPr wrap="square" rtlCol="0">
              <a:spAutoFit/>
            </a:bodyPr>
            <a:lstStyle/>
            <a:p>
              <a:pPr>
                <a:defRPr/>
              </a:pPr>
              <a:r>
                <a:rPr lang="en-IN" sz="1400"/>
                <a:t>2</a:t>
              </a:r>
              <a:endParaRPr/>
            </a:p>
          </p:txBody>
        </p:sp>
        <p:sp>
          <p:nvSpPr>
            <p:cNvPr id="102" name="TextBox 101"/>
            <p:cNvSpPr txBox="1"/>
            <p:nvPr/>
          </p:nvSpPr>
          <p:spPr bwMode="auto">
            <a:xfrm>
              <a:off x="11343604" y="1822132"/>
              <a:ext cx="116205" cy="307777"/>
            </a:xfrm>
            <a:prstGeom prst="rect">
              <a:avLst/>
            </a:prstGeom>
            <a:noFill/>
          </p:spPr>
          <p:txBody>
            <a:bodyPr wrap="square" rtlCol="0">
              <a:spAutoFit/>
            </a:bodyPr>
            <a:lstStyle/>
            <a:p>
              <a:pPr>
                <a:defRPr/>
              </a:pPr>
              <a:r>
                <a:rPr lang="en-IN" sz="1400"/>
                <a:t>3</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26064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26064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26064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26064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03801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038010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0380107">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0380107">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0380107">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00380107">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00380107">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689550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674978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00380107">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00380107">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00380107">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00380107">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4383892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1100639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3930607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1168686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105017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380107" grpId="0" animBg="1"/>
      <p:bldP spid="910501742" grpId="0" animBg="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3823448" name="Title 1"/>
          <p:cNvSpPr>
            <a:spLocks noGrp="1"/>
          </p:cNvSpPr>
          <p:nvPr>
            <p:ph type="title"/>
          </p:nvPr>
        </p:nvSpPr>
        <p:spPr bwMode="auto"/>
        <p:txBody>
          <a:bodyPr/>
          <a:lstStyle/>
          <a:p>
            <a:pPr>
              <a:defRPr/>
            </a:pPr>
            <a:r>
              <a:rPr lang="en-IN"/>
              <a:t>Example of </a:t>
            </a:r>
            <a:r>
              <a:rPr lang="en-IN"/>
              <a:t>CQueue</a:t>
            </a:r>
            <a:r>
              <a:rPr lang="en-IN"/>
              <a:t> Enqueue / Dequeue</a:t>
            </a:r>
            <a:endParaRPr lang="en-US"/>
          </a:p>
        </p:txBody>
      </p:sp>
      <p:grpSp>
        <p:nvGrpSpPr>
          <p:cNvPr id="2064287104" name="Group 138"/>
          <p:cNvGrpSpPr/>
          <p:nvPr/>
        </p:nvGrpSpPr>
        <p:grpSpPr bwMode="auto">
          <a:xfrm>
            <a:off x="2286000" y="2209800"/>
            <a:ext cx="1828800" cy="381000"/>
            <a:chOff x="381000" y="1219200"/>
            <a:chExt cx="1828800" cy="381000"/>
          </a:xfrm>
          <a:solidFill>
            <a:schemeClr val="bg2">
              <a:lumMod val="95000"/>
            </a:schemeClr>
          </a:solidFill>
        </p:grpSpPr>
        <p:sp>
          <p:nvSpPr>
            <p:cNvPr id="140" name="Rectangle 139"/>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1" name="Rectangle 140"/>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2" name="Rectangle 141"/>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3" name="Rectangle 142"/>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075227505" name="Group 143"/>
          <p:cNvGrpSpPr/>
          <p:nvPr/>
        </p:nvGrpSpPr>
        <p:grpSpPr bwMode="auto">
          <a:xfrm>
            <a:off x="2286000" y="3733018"/>
            <a:ext cx="1828800" cy="381000"/>
            <a:chOff x="381000" y="1219200"/>
            <a:chExt cx="1828800" cy="381000"/>
          </a:xfrm>
          <a:solidFill>
            <a:schemeClr val="bg2">
              <a:lumMod val="95000"/>
            </a:schemeClr>
          </a:solidFill>
        </p:grpSpPr>
        <p:sp>
          <p:nvSpPr>
            <p:cNvPr id="145" name="Rectangle 144"/>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6" name="Rectangle 145"/>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7" name="Rectangle 146"/>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8" name="Rectangle 147"/>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131430482" name="Group 148"/>
          <p:cNvGrpSpPr/>
          <p:nvPr/>
        </p:nvGrpSpPr>
        <p:grpSpPr bwMode="auto">
          <a:xfrm>
            <a:off x="2286000" y="5351111"/>
            <a:ext cx="1828800" cy="381000"/>
            <a:chOff x="381000" y="1219200"/>
            <a:chExt cx="1828800" cy="381000"/>
          </a:xfrm>
          <a:solidFill>
            <a:schemeClr val="bg2">
              <a:lumMod val="95000"/>
            </a:schemeClr>
          </a:solidFill>
        </p:grpSpPr>
        <p:sp>
          <p:nvSpPr>
            <p:cNvPr id="150" name="Rectangle 149"/>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1" name="Rectangle 150"/>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2" name="Rectangle 151"/>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3" name="Rectangle 152"/>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745632446" name="Group 153"/>
          <p:cNvGrpSpPr/>
          <p:nvPr/>
        </p:nvGrpSpPr>
        <p:grpSpPr bwMode="auto">
          <a:xfrm>
            <a:off x="8534400" y="3777344"/>
            <a:ext cx="1828800" cy="381000"/>
            <a:chOff x="381000" y="1219200"/>
            <a:chExt cx="1828800" cy="381000"/>
          </a:xfrm>
          <a:solidFill>
            <a:schemeClr val="bg2">
              <a:lumMod val="95000"/>
            </a:schemeClr>
          </a:solidFill>
        </p:grpSpPr>
        <p:sp>
          <p:nvSpPr>
            <p:cNvPr id="155" name="Rectangle 154"/>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6" name="Rectangle 155"/>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7" name="Rectangle 156"/>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8" name="Rectangle 157"/>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166893987" name="Group 158"/>
          <p:cNvGrpSpPr/>
          <p:nvPr/>
        </p:nvGrpSpPr>
        <p:grpSpPr bwMode="auto">
          <a:xfrm>
            <a:off x="1598597" y="2684112"/>
            <a:ext cx="293670" cy="592488"/>
            <a:chOff x="774733" y="1681844"/>
            <a:chExt cx="293670" cy="592488"/>
          </a:xfrm>
        </p:grpSpPr>
        <p:sp>
          <p:nvSpPr>
            <p:cNvPr id="160" name="TextBox 159"/>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161" name="Straight Arrow Connector 160"/>
            <p:cNvCxnSpPr>
              <a:stCxn id="160"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927652251" name="Group 161"/>
          <p:cNvGrpSpPr/>
          <p:nvPr/>
        </p:nvGrpSpPr>
        <p:grpSpPr bwMode="auto">
          <a:xfrm>
            <a:off x="1796146" y="2684112"/>
            <a:ext cx="314510" cy="592488"/>
            <a:chOff x="764313" y="1681844"/>
            <a:chExt cx="314510" cy="592488"/>
          </a:xfrm>
        </p:grpSpPr>
        <p:sp>
          <p:nvSpPr>
            <p:cNvPr id="163" name="TextBox 162"/>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164" name="Straight Arrow Connector 163"/>
            <p:cNvCxnSpPr>
              <a:stCxn id="163"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180828421" name="TextBox 165"/>
          <p:cNvSpPr txBox="1"/>
          <p:nvPr/>
        </p:nvSpPr>
        <p:spPr bwMode="auto">
          <a:xfrm>
            <a:off x="2286000" y="1752599"/>
            <a:ext cx="1828800" cy="369332"/>
          </a:xfrm>
          <a:prstGeom prst="rect">
            <a:avLst/>
          </a:prstGeom>
          <a:noFill/>
        </p:spPr>
        <p:txBody>
          <a:bodyPr wrap="square" rtlCol="0">
            <a:spAutoFit/>
          </a:bodyPr>
          <a:lstStyle/>
          <a:p>
            <a:pPr algn="ctr">
              <a:defRPr/>
            </a:pPr>
            <a:r>
              <a:rPr lang="en-IN" b="1"/>
              <a:t>Empty Queue</a:t>
            </a:r>
            <a:endParaRPr lang="en-US" b="1"/>
          </a:p>
        </p:txBody>
      </p:sp>
      <p:sp>
        <p:nvSpPr>
          <p:cNvPr id="230580706" name="TextBox 166"/>
          <p:cNvSpPr txBox="1"/>
          <p:nvPr/>
        </p:nvSpPr>
        <p:spPr bwMode="auto">
          <a:xfrm>
            <a:off x="1495462" y="2200479"/>
            <a:ext cx="385042" cy="369332"/>
          </a:xfrm>
          <a:prstGeom prst="rect">
            <a:avLst/>
          </a:prstGeom>
          <a:noFill/>
        </p:spPr>
        <p:txBody>
          <a:bodyPr wrap="none" rtlCol="0">
            <a:spAutoFit/>
          </a:bodyPr>
          <a:lstStyle/>
          <a:p>
            <a:pPr algn="ctr">
              <a:defRPr/>
            </a:pPr>
            <a:r>
              <a:rPr lang="en-US" b="1"/>
              <a:t>-1</a:t>
            </a:r>
            <a:endParaRPr/>
          </a:p>
        </p:txBody>
      </p:sp>
      <p:sp>
        <p:nvSpPr>
          <p:cNvPr id="1170346970" name="TextBox 167"/>
          <p:cNvSpPr txBox="1"/>
          <p:nvPr/>
        </p:nvSpPr>
        <p:spPr bwMode="auto">
          <a:xfrm>
            <a:off x="1765353" y="2200479"/>
            <a:ext cx="385042" cy="369332"/>
          </a:xfrm>
          <a:prstGeom prst="rect">
            <a:avLst/>
          </a:prstGeom>
          <a:noFill/>
        </p:spPr>
        <p:txBody>
          <a:bodyPr wrap="none" rtlCol="0">
            <a:spAutoFit/>
          </a:bodyPr>
          <a:lstStyle/>
          <a:p>
            <a:pPr algn="ctr">
              <a:defRPr/>
            </a:pPr>
            <a:r>
              <a:rPr lang="en-IN" b="1"/>
              <a:t>-1</a:t>
            </a:r>
            <a:endParaRPr lang="en-US" b="1"/>
          </a:p>
        </p:txBody>
      </p:sp>
      <p:cxnSp>
        <p:nvCxnSpPr>
          <p:cNvPr id="1499028151" name="Straight Connector 168"/>
          <p:cNvCxnSpPr/>
          <p:nvPr/>
        </p:nvCxnSpPr>
        <p:spPr bwMode="auto">
          <a:xfrm>
            <a:off x="1600200" y="3276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303178548" name="TextBox 169"/>
          <p:cNvSpPr txBox="1"/>
          <p:nvPr/>
        </p:nvSpPr>
        <p:spPr bwMode="auto">
          <a:xfrm>
            <a:off x="2286000" y="3363686"/>
            <a:ext cx="1828800" cy="369332"/>
          </a:xfrm>
          <a:prstGeom prst="rect">
            <a:avLst/>
          </a:prstGeom>
          <a:noFill/>
        </p:spPr>
        <p:txBody>
          <a:bodyPr wrap="square" rtlCol="0">
            <a:spAutoFit/>
          </a:bodyPr>
          <a:lstStyle/>
          <a:p>
            <a:pPr algn="ctr">
              <a:defRPr/>
            </a:pPr>
            <a:r>
              <a:rPr lang="en-IN" b="1"/>
              <a:t>Enqueue ‘A’</a:t>
            </a:r>
            <a:endParaRPr lang="en-US" b="1"/>
          </a:p>
        </p:txBody>
      </p:sp>
      <p:grpSp>
        <p:nvGrpSpPr>
          <p:cNvPr id="627845831" name="Group 170"/>
          <p:cNvGrpSpPr/>
          <p:nvPr/>
        </p:nvGrpSpPr>
        <p:grpSpPr bwMode="auto">
          <a:xfrm>
            <a:off x="1576827" y="4125687"/>
            <a:ext cx="293670" cy="592488"/>
            <a:chOff x="774733" y="1681844"/>
            <a:chExt cx="293670" cy="592488"/>
          </a:xfrm>
        </p:grpSpPr>
        <p:sp>
          <p:nvSpPr>
            <p:cNvPr id="172" name="TextBox 171"/>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173" name="Straight Arrow Connector 172"/>
            <p:cNvCxnSpPr>
              <a:stCxn id="172"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898100491" name="Group 173"/>
          <p:cNvGrpSpPr/>
          <p:nvPr/>
        </p:nvGrpSpPr>
        <p:grpSpPr bwMode="auto">
          <a:xfrm>
            <a:off x="1752599" y="4131912"/>
            <a:ext cx="314510" cy="592488"/>
            <a:chOff x="764313" y="1681844"/>
            <a:chExt cx="314510" cy="592488"/>
          </a:xfrm>
        </p:grpSpPr>
        <p:sp>
          <p:nvSpPr>
            <p:cNvPr id="175" name="TextBox 174"/>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176" name="Straight Arrow Connector 175"/>
            <p:cNvCxnSpPr>
              <a:stCxn id="175"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764133488" name="TextBox 176"/>
          <p:cNvSpPr txBox="1"/>
          <p:nvPr/>
        </p:nvSpPr>
        <p:spPr bwMode="auto">
          <a:xfrm>
            <a:off x="1600200" y="3406447"/>
            <a:ext cx="545342" cy="369332"/>
          </a:xfrm>
          <a:prstGeom prst="rect">
            <a:avLst/>
          </a:prstGeom>
          <a:noFill/>
        </p:spPr>
        <p:txBody>
          <a:bodyPr wrap="none" rtlCol="0">
            <a:spAutoFit/>
          </a:bodyPr>
          <a:lstStyle/>
          <a:p>
            <a:pPr>
              <a:defRPr/>
            </a:pPr>
            <a:r>
              <a:rPr lang="en-IN" b="1">
                <a:solidFill>
                  <a:schemeClr val="accent3">
                    <a:lumMod val="75000"/>
                  </a:schemeClr>
                </a:solidFill>
              </a:rPr>
              <a:t>R=0</a:t>
            </a:r>
            <a:endParaRPr lang="en-US" b="1">
              <a:solidFill>
                <a:schemeClr val="accent3">
                  <a:lumMod val="75000"/>
                </a:schemeClr>
              </a:solidFill>
            </a:endParaRPr>
          </a:p>
        </p:txBody>
      </p:sp>
      <p:sp>
        <p:nvSpPr>
          <p:cNvPr id="775039894" name="TextBox 177"/>
          <p:cNvSpPr txBox="1"/>
          <p:nvPr/>
        </p:nvSpPr>
        <p:spPr bwMode="auto">
          <a:xfrm>
            <a:off x="1600200" y="3744686"/>
            <a:ext cx="527709" cy="369332"/>
          </a:xfrm>
          <a:prstGeom prst="rect">
            <a:avLst/>
          </a:prstGeom>
          <a:noFill/>
        </p:spPr>
        <p:txBody>
          <a:bodyPr wrap="none" rtlCol="0">
            <a:spAutoFit/>
          </a:bodyPr>
          <a:lstStyle/>
          <a:p>
            <a:pPr>
              <a:defRPr/>
            </a:pPr>
            <a:r>
              <a:rPr lang="en-IN" b="1">
                <a:solidFill>
                  <a:schemeClr val="accent3">
                    <a:lumMod val="75000"/>
                  </a:schemeClr>
                </a:solidFill>
              </a:rPr>
              <a:t>F=0</a:t>
            </a:r>
            <a:endParaRPr lang="en-US" b="1">
              <a:solidFill>
                <a:schemeClr val="accent3">
                  <a:lumMod val="75000"/>
                </a:schemeClr>
              </a:solidFill>
            </a:endParaRPr>
          </a:p>
        </p:txBody>
      </p:sp>
      <p:sp>
        <p:nvSpPr>
          <p:cNvPr id="1415420720" name="TextBox 178"/>
          <p:cNvSpPr txBox="1"/>
          <p:nvPr/>
        </p:nvSpPr>
        <p:spPr bwMode="auto">
          <a:xfrm>
            <a:off x="2286000" y="3721348"/>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cxnSp>
        <p:nvCxnSpPr>
          <p:cNvPr id="586148557" name="Straight Connector 179"/>
          <p:cNvCxnSpPr/>
          <p:nvPr/>
        </p:nvCxnSpPr>
        <p:spPr bwMode="auto">
          <a:xfrm>
            <a:off x="16002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16415393" name="TextBox 180"/>
          <p:cNvSpPr txBox="1"/>
          <p:nvPr/>
        </p:nvSpPr>
        <p:spPr bwMode="auto">
          <a:xfrm>
            <a:off x="2286000" y="4876800"/>
            <a:ext cx="1828800" cy="369332"/>
          </a:xfrm>
          <a:prstGeom prst="rect">
            <a:avLst/>
          </a:prstGeom>
          <a:noFill/>
        </p:spPr>
        <p:txBody>
          <a:bodyPr wrap="square" rtlCol="0">
            <a:spAutoFit/>
          </a:bodyPr>
          <a:lstStyle/>
          <a:p>
            <a:pPr algn="ctr">
              <a:defRPr/>
            </a:pPr>
            <a:r>
              <a:rPr lang="en-IN" b="1"/>
              <a:t>Enqueue ‘B’</a:t>
            </a:r>
            <a:endParaRPr lang="en-US" b="1"/>
          </a:p>
        </p:txBody>
      </p:sp>
      <p:grpSp>
        <p:nvGrpSpPr>
          <p:cNvPr id="2140227929" name="Group 181"/>
          <p:cNvGrpSpPr/>
          <p:nvPr/>
        </p:nvGrpSpPr>
        <p:grpSpPr bwMode="auto">
          <a:xfrm>
            <a:off x="5339565" y="2611024"/>
            <a:ext cx="293670" cy="592488"/>
            <a:chOff x="774733" y="1681844"/>
            <a:chExt cx="293670" cy="592488"/>
          </a:xfrm>
        </p:grpSpPr>
        <p:sp>
          <p:nvSpPr>
            <p:cNvPr id="183" name="TextBox 182"/>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184" name="Straight Arrow Connector 183"/>
            <p:cNvCxnSpPr>
              <a:stCxn id="183"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682829059" name="Group 184"/>
          <p:cNvGrpSpPr/>
          <p:nvPr/>
        </p:nvGrpSpPr>
        <p:grpSpPr bwMode="auto">
          <a:xfrm>
            <a:off x="2426377" y="5742998"/>
            <a:ext cx="314510" cy="592488"/>
            <a:chOff x="764313" y="1681844"/>
            <a:chExt cx="314510" cy="592488"/>
          </a:xfrm>
        </p:grpSpPr>
        <p:sp>
          <p:nvSpPr>
            <p:cNvPr id="186" name="TextBox 185"/>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187" name="Straight Arrow Connector 186"/>
            <p:cNvCxnSpPr>
              <a:stCxn id="186"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117758458" name="TextBox 187"/>
          <p:cNvSpPr txBox="1"/>
          <p:nvPr/>
        </p:nvSpPr>
        <p:spPr bwMode="auto">
          <a:xfrm>
            <a:off x="2293436" y="5335998"/>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sp>
        <p:nvSpPr>
          <p:cNvPr id="1373725302" name="TextBox 188"/>
          <p:cNvSpPr txBox="1"/>
          <p:nvPr/>
        </p:nvSpPr>
        <p:spPr bwMode="auto">
          <a:xfrm>
            <a:off x="1654629" y="5134180"/>
            <a:ext cx="546945" cy="646331"/>
          </a:xfrm>
          <a:prstGeom prst="rect">
            <a:avLst/>
          </a:prstGeom>
          <a:noFill/>
        </p:spPr>
        <p:txBody>
          <a:bodyPr wrap="none" rtlCol="0">
            <a:spAutoFit/>
          </a:bodyPr>
          <a:lstStyle/>
          <a:p>
            <a:pPr>
              <a:defRPr/>
            </a:pPr>
            <a:r>
              <a:rPr lang="en-IN" b="1">
                <a:solidFill>
                  <a:schemeClr val="accent3">
                    <a:lumMod val="75000"/>
                  </a:schemeClr>
                </a:solidFill>
              </a:rPr>
              <a:t>R=1</a:t>
            </a:r>
            <a:endParaRPr/>
          </a:p>
          <a:p>
            <a:pPr>
              <a:defRPr/>
            </a:pPr>
            <a:r>
              <a:rPr lang="en-IN" b="1">
                <a:solidFill>
                  <a:schemeClr val="accent3">
                    <a:lumMod val="75000"/>
                  </a:schemeClr>
                </a:solidFill>
              </a:rPr>
              <a:t>F=0</a:t>
            </a:r>
            <a:endParaRPr lang="en-US" b="1">
              <a:solidFill>
                <a:schemeClr val="accent3">
                  <a:lumMod val="75000"/>
                </a:schemeClr>
              </a:solidFill>
            </a:endParaRPr>
          </a:p>
        </p:txBody>
      </p:sp>
      <p:sp>
        <p:nvSpPr>
          <p:cNvPr id="1906077645" name="TextBox 189"/>
          <p:cNvSpPr txBox="1"/>
          <p:nvPr/>
        </p:nvSpPr>
        <p:spPr bwMode="auto">
          <a:xfrm>
            <a:off x="2743200" y="5351111"/>
            <a:ext cx="457200" cy="400110"/>
          </a:xfrm>
          <a:prstGeom prst="rect">
            <a:avLst/>
          </a:prstGeom>
          <a:noFill/>
        </p:spPr>
        <p:txBody>
          <a:bodyPr wrap="square" rtlCol="0">
            <a:spAutoFit/>
          </a:bodyPr>
          <a:lstStyle/>
          <a:p>
            <a:pPr algn="ctr">
              <a:defRPr/>
            </a:pPr>
            <a:r>
              <a:rPr lang="en-IN" sz="2000">
                <a:ln w="0"/>
              </a:rPr>
              <a:t>B</a:t>
            </a:r>
            <a:endParaRPr lang="en-US" sz="2000">
              <a:ln w="0"/>
            </a:endParaRPr>
          </a:p>
        </p:txBody>
      </p:sp>
      <p:cxnSp>
        <p:nvCxnSpPr>
          <p:cNvPr id="443822305" name="Straight Connector 190"/>
          <p:cNvCxnSpPr/>
          <p:nvPr/>
        </p:nvCxnSpPr>
        <p:spPr bwMode="auto">
          <a:xfrm>
            <a:off x="4572000" y="1752599"/>
            <a:ext cx="0" cy="4572000"/>
          </a:xfrm>
          <a:prstGeom prst="line">
            <a:avLst/>
          </a:prstGeom>
        </p:spPr>
        <p:style>
          <a:lnRef idx="2">
            <a:schemeClr val="dk1"/>
          </a:lnRef>
          <a:fillRef idx="0">
            <a:schemeClr val="dk1"/>
          </a:fillRef>
          <a:effectRef idx="1">
            <a:schemeClr val="dk1"/>
          </a:effectRef>
          <a:fontRef idx="minor">
            <a:schemeClr val="tx1"/>
          </a:fontRef>
        </p:style>
      </p:cxnSp>
      <p:sp>
        <p:nvSpPr>
          <p:cNvPr id="556626135" name="TextBox 191"/>
          <p:cNvSpPr txBox="1"/>
          <p:nvPr/>
        </p:nvSpPr>
        <p:spPr bwMode="auto">
          <a:xfrm>
            <a:off x="5257800" y="1752599"/>
            <a:ext cx="1828800" cy="369332"/>
          </a:xfrm>
          <a:prstGeom prst="rect">
            <a:avLst/>
          </a:prstGeom>
          <a:noFill/>
        </p:spPr>
        <p:txBody>
          <a:bodyPr wrap="square" rtlCol="0">
            <a:spAutoFit/>
          </a:bodyPr>
          <a:lstStyle/>
          <a:p>
            <a:pPr algn="ctr">
              <a:defRPr/>
            </a:pPr>
            <a:r>
              <a:rPr lang="en-IN" b="1"/>
              <a:t>Enqueue ‘C’</a:t>
            </a:r>
            <a:endParaRPr lang="en-US" b="1"/>
          </a:p>
        </p:txBody>
      </p:sp>
      <p:cxnSp>
        <p:nvCxnSpPr>
          <p:cNvPr id="990498789" name="Straight Connector 192"/>
          <p:cNvCxnSpPr/>
          <p:nvPr/>
        </p:nvCxnSpPr>
        <p:spPr bwMode="auto">
          <a:xfrm>
            <a:off x="4572000" y="3276600"/>
            <a:ext cx="2971800" cy="0"/>
          </a:xfrm>
          <a:prstGeom prst="line">
            <a:avLst/>
          </a:prstGeom>
        </p:spPr>
        <p:style>
          <a:lnRef idx="2">
            <a:schemeClr val="dk1"/>
          </a:lnRef>
          <a:fillRef idx="0">
            <a:schemeClr val="dk1"/>
          </a:fillRef>
          <a:effectRef idx="1">
            <a:schemeClr val="dk1"/>
          </a:effectRef>
          <a:fontRef idx="minor">
            <a:schemeClr val="tx1"/>
          </a:fontRef>
        </p:style>
      </p:cxnSp>
      <p:cxnSp>
        <p:nvCxnSpPr>
          <p:cNvPr id="1079435385" name="Straight Connector 193"/>
          <p:cNvCxnSpPr/>
          <p:nvPr/>
        </p:nvCxnSpPr>
        <p:spPr bwMode="auto">
          <a:xfrm>
            <a:off x="7543800" y="1752599"/>
            <a:ext cx="0" cy="4572000"/>
          </a:xfrm>
          <a:prstGeom prst="line">
            <a:avLst/>
          </a:prstGeom>
        </p:spPr>
        <p:style>
          <a:lnRef idx="2">
            <a:schemeClr val="dk1"/>
          </a:lnRef>
          <a:fillRef idx="0">
            <a:schemeClr val="dk1"/>
          </a:fillRef>
          <a:effectRef idx="1">
            <a:schemeClr val="dk1"/>
          </a:effectRef>
          <a:fontRef idx="minor">
            <a:schemeClr val="tx1"/>
          </a:fontRef>
        </p:style>
      </p:cxnSp>
      <p:cxnSp>
        <p:nvCxnSpPr>
          <p:cNvPr id="823779425" name="Straight Connector 194"/>
          <p:cNvCxnSpPr/>
          <p:nvPr/>
        </p:nvCxnSpPr>
        <p:spPr bwMode="auto">
          <a:xfrm>
            <a:off x="7543800" y="3276600"/>
            <a:ext cx="2971800" cy="0"/>
          </a:xfrm>
          <a:prstGeom prst="line">
            <a:avLst/>
          </a:prstGeom>
        </p:spPr>
        <p:style>
          <a:lnRef idx="2">
            <a:schemeClr val="dk1"/>
          </a:lnRef>
          <a:fillRef idx="0">
            <a:schemeClr val="dk1"/>
          </a:fillRef>
          <a:effectRef idx="1">
            <a:schemeClr val="dk1"/>
          </a:effectRef>
          <a:fontRef idx="minor">
            <a:schemeClr val="tx1"/>
          </a:fontRef>
        </p:style>
      </p:cxnSp>
      <p:grpSp>
        <p:nvGrpSpPr>
          <p:cNvPr id="183803678" name="Group 195"/>
          <p:cNvGrpSpPr/>
          <p:nvPr/>
        </p:nvGrpSpPr>
        <p:grpSpPr bwMode="auto">
          <a:xfrm>
            <a:off x="5257800" y="2209800"/>
            <a:ext cx="1828800" cy="381000"/>
            <a:chOff x="381000" y="1219200"/>
            <a:chExt cx="1828800" cy="381000"/>
          </a:xfrm>
          <a:solidFill>
            <a:schemeClr val="bg2">
              <a:lumMod val="95000"/>
            </a:schemeClr>
          </a:solidFill>
        </p:grpSpPr>
        <p:sp>
          <p:nvSpPr>
            <p:cNvPr id="197" name="Rectangle 196"/>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8" name="Rectangle 197"/>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9" name="Rectangle 198"/>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0" name="Rectangle 199"/>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49906083" name="TextBox 200"/>
          <p:cNvSpPr txBox="1"/>
          <p:nvPr/>
        </p:nvSpPr>
        <p:spPr bwMode="auto">
          <a:xfrm>
            <a:off x="5257800" y="2209800"/>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sp>
        <p:nvSpPr>
          <p:cNvPr id="446042172" name="TextBox 201"/>
          <p:cNvSpPr txBox="1"/>
          <p:nvPr/>
        </p:nvSpPr>
        <p:spPr bwMode="auto">
          <a:xfrm>
            <a:off x="5715000" y="2209800"/>
            <a:ext cx="457200" cy="400110"/>
          </a:xfrm>
          <a:prstGeom prst="rect">
            <a:avLst/>
          </a:prstGeom>
          <a:noFill/>
        </p:spPr>
        <p:txBody>
          <a:bodyPr wrap="square" rtlCol="0">
            <a:spAutoFit/>
          </a:bodyPr>
          <a:lstStyle/>
          <a:p>
            <a:pPr algn="ctr">
              <a:defRPr/>
            </a:pPr>
            <a:r>
              <a:rPr lang="en-IN" sz="2000">
                <a:ln w="0"/>
              </a:rPr>
              <a:t>B</a:t>
            </a:r>
            <a:endParaRPr lang="en-US" sz="2000">
              <a:ln w="0"/>
            </a:endParaRPr>
          </a:p>
        </p:txBody>
      </p:sp>
      <p:grpSp>
        <p:nvGrpSpPr>
          <p:cNvPr id="1333512458" name="Group 202"/>
          <p:cNvGrpSpPr/>
          <p:nvPr/>
        </p:nvGrpSpPr>
        <p:grpSpPr bwMode="auto">
          <a:xfrm>
            <a:off x="2262623" y="5750755"/>
            <a:ext cx="293670" cy="572201"/>
            <a:chOff x="774733" y="1681843"/>
            <a:chExt cx="293670" cy="629422"/>
          </a:xfrm>
        </p:grpSpPr>
        <p:sp>
          <p:nvSpPr>
            <p:cNvPr id="204" name="TextBox 203"/>
            <p:cNvSpPr txBox="1"/>
            <p:nvPr/>
          </p:nvSpPr>
          <p:spPr bwMode="auto">
            <a:xfrm>
              <a:off x="774733" y="1905000"/>
              <a:ext cx="293670" cy="406265"/>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205" name="Straight Arrow Connector 204"/>
            <p:cNvCxnSpPr>
              <a:stCxn id="204" idx="0"/>
            </p:cNvCxnSpPr>
            <p:nvPr/>
          </p:nvCxnSpPr>
          <p:spPr bwMode="auto">
            <a:xfrm flipV="1">
              <a:off x="921568" y="1681843"/>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082288049" name="Group 205"/>
          <p:cNvGrpSpPr/>
          <p:nvPr/>
        </p:nvGrpSpPr>
        <p:grpSpPr bwMode="auto">
          <a:xfrm>
            <a:off x="5804399" y="2612573"/>
            <a:ext cx="314510" cy="592488"/>
            <a:chOff x="764313" y="1681844"/>
            <a:chExt cx="314510" cy="592488"/>
          </a:xfrm>
        </p:grpSpPr>
        <p:sp>
          <p:nvSpPr>
            <p:cNvPr id="207" name="TextBox 206"/>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208" name="Straight Arrow Connector 207"/>
            <p:cNvCxnSpPr>
              <a:stCxn id="207"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289018992" name="TextBox 208"/>
          <p:cNvSpPr txBox="1"/>
          <p:nvPr/>
        </p:nvSpPr>
        <p:spPr bwMode="auto">
          <a:xfrm>
            <a:off x="4615544" y="1796145"/>
            <a:ext cx="542136" cy="646331"/>
          </a:xfrm>
          <a:prstGeom prst="rect">
            <a:avLst/>
          </a:prstGeom>
          <a:noFill/>
        </p:spPr>
        <p:txBody>
          <a:bodyPr wrap="none" rtlCol="0">
            <a:spAutoFit/>
          </a:bodyPr>
          <a:lstStyle/>
          <a:p>
            <a:pPr>
              <a:defRPr/>
            </a:pPr>
            <a:r>
              <a:rPr lang="en-IN" b="1">
                <a:solidFill>
                  <a:schemeClr val="accent3">
                    <a:lumMod val="75000"/>
                  </a:schemeClr>
                </a:solidFill>
              </a:rPr>
              <a:t>R=2</a:t>
            </a:r>
            <a:endParaRPr/>
          </a:p>
          <a:p>
            <a:pPr>
              <a:defRPr/>
            </a:pPr>
            <a:r>
              <a:rPr lang="en-IN" b="1">
                <a:solidFill>
                  <a:schemeClr val="accent3">
                    <a:lumMod val="75000"/>
                  </a:schemeClr>
                </a:solidFill>
              </a:rPr>
              <a:t>F=0</a:t>
            </a:r>
            <a:endParaRPr/>
          </a:p>
        </p:txBody>
      </p:sp>
      <p:sp>
        <p:nvSpPr>
          <p:cNvPr id="688948696" name="TextBox 209"/>
          <p:cNvSpPr txBox="1"/>
          <p:nvPr/>
        </p:nvSpPr>
        <p:spPr bwMode="auto">
          <a:xfrm>
            <a:off x="6172200" y="2209800"/>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grpSp>
        <p:nvGrpSpPr>
          <p:cNvPr id="689313594" name="Group 210"/>
          <p:cNvGrpSpPr/>
          <p:nvPr/>
        </p:nvGrpSpPr>
        <p:grpSpPr bwMode="auto">
          <a:xfrm>
            <a:off x="5257800" y="3775779"/>
            <a:ext cx="1828800" cy="381000"/>
            <a:chOff x="381000" y="1219200"/>
            <a:chExt cx="1828800" cy="381000"/>
          </a:xfrm>
          <a:solidFill>
            <a:schemeClr val="bg2">
              <a:lumMod val="95000"/>
            </a:schemeClr>
          </a:solidFill>
        </p:grpSpPr>
        <p:sp>
          <p:nvSpPr>
            <p:cNvPr id="212" name="Rectangle 211"/>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3" name="Rectangle 212"/>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4" name="Rectangle 213"/>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5" name="Rectangle 214"/>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732296957" name="TextBox 215"/>
          <p:cNvSpPr txBox="1"/>
          <p:nvPr/>
        </p:nvSpPr>
        <p:spPr bwMode="auto">
          <a:xfrm>
            <a:off x="5246913" y="3406447"/>
            <a:ext cx="1828800" cy="369332"/>
          </a:xfrm>
          <a:prstGeom prst="rect">
            <a:avLst/>
          </a:prstGeom>
          <a:noFill/>
        </p:spPr>
        <p:txBody>
          <a:bodyPr wrap="square" rtlCol="0">
            <a:spAutoFit/>
          </a:bodyPr>
          <a:lstStyle/>
          <a:p>
            <a:pPr algn="ctr">
              <a:defRPr/>
            </a:pPr>
            <a:r>
              <a:rPr lang="en-IN" b="1"/>
              <a:t>Dequeue</a:t>
            </a:r>
            <a:endParaRPr lang="en-US" b="1"/>
          </a:p>
        </p:txBody>
      </p:sp>
      <p:sp>
        <p:nvSpPr>
          <p:cNvPr id="55112975" name="TextBox 216"/>
          <p:cNvSpPr txBox="1"/>
          <p:nvPr/>
        </p:nvSpPr>
        <p:spPr bwMode="auto">
          <a:xfrm>
            <a:off x="5246913" y="3766456"/>
            <a:ext cx="457200" cy="400110"/>
          </a:xfrm>
          <a:prstGeom prst="rect">
            <a:avLst/>
          </a:prstGeom>
          <a:noFill/>
        </p:spPr>
        <p:txBody>
          <a:bodyPr wrap="square" rtlCol="0">
            <a:spAutoFit/>
          </a:bodyPr>
          <a:lstStyle/>
          <a:p>
            <a:pPr algn="ctr">
              <a:defRPr/>
            </a:pPr>
            <a:r>
              <a:rPr lang="en-IN" sz="2000">
                <a:ln w="0"/>
              </a:rPr>
              <a:t>A</a:t>
            </a:r>
            <a:endParaRPr lang="en-US" sz="2000">
              <a:ln w="0"/>
            </a:endParaRPr>
          </a:p>
        </p:txBody>
      </p:sp>
      <p:sp>
        <p:nvSpPr>
          <p:cNvPr id="1836043439" name="TextBox 217"/>
          <p:cNvSpPr txBox="1"/>
          <p:nvPr/>
        </p:nvSpPr>
        <p:spPr bwMode="auto">
          <a:xfrm>
            <a:off x="5715000" y="3766458"/>
            <a:ext cx="457200" cy="400110"/>
          </a:xfrm>
          <a:prstGeom prst="rect">
            <a:avLst/>
          </a:prstGeom>
          <a:noFill/>
        </p:spPr>
        <p:txBody>
          <a:bodyPr wrap="square" rtlCol="0">
            <a:spAutoFit/>
          </a:bodyPr>
          <a:lstStyle/>
          <a:p>
            <a:pPr algn="ctr">
              <a:defRPr/>
            </a:pPr>
            <a:r>
              <a:rPr lang="en-IN" sz="2000">
                <a:ln w="0"/>
              </a:rPr>
              <a:t>B</a:t>
            </a:r>
            <a:endParaRPr lang="en-US" sz="2000">
              <a:ln w="0"/>
            </a:endParaRPr>
          </a:p>
        </p:txBody>
      </p:sp>
      <p:sp>
        <p:nvSpPr>
          <p:cNvPr id="21522389" name="TextBox 218"/>
          <p:cNvSpPr txBox="1"/>
          <p:nvPr/>
        </p:nvSpPr>
        <p:spPr bwMode="auto">
          <a:xfrm>
            <a:off x="6172200" y="3766458"/>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grpSp>
        <p:nvGrpSpPr>
          <p:cNvPr id="2102186743" name="Group 219"/>
          <p:cNvGrpSpPr/>
          <p:nvPr/>
        </p:nvGrpSpPr>
        <p:grpSpPr bwMode="auto">
          <a:xfrm>
            <a:off x="5332397" y="4175454"/>
            <a:ext cx="293670" cy="592488"/>
            <a:chOff x="774733" y="1681844"/>
            <a:chExt cx="293670" cy="592488"/>
          </a:xfrm>
        </p:grpSpPr>
        <p:sp>
          <p:nvSpPr>
            <p:cNvPr id="221" name="TextBox 220"/>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222" name="Straight Arrow Connector 221"/>
            <p:cNvCxnSpPr>
              <a:stCxn id="221"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437536091" name="Group 222"/>
          <p:cNvGrpSpPr/>
          <p:nvPr/>
        </p:nvGrpSpPr>
        <p:grpSpPr bwMode="auto">
          <a:xfrm>
            <a:off x="6250713" y="4191001"/>
            <a:ext cx="314510" cy="592488"/>
            <a:chOff x="764313" y="1681844"/>
            <a:chExt cx="314510" cy="592488"/>
          </a:xfrm>
        </p:grpSpPr>
        <p:sp>
          <p:nvSpPr>
            <p:cNvPr id="224" name="TextBox 223"/>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225" name="Straight Arrow Connector 224"/>
            <p:cNvCxnSpPr>
              <a:stCxn id="224"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086689884" name="TextBox 225"/>
          <p:cNvSpPr txBox="1"/>
          <p:nvPr/>
        </p:nvSpPr>
        <p:spPr bwMode="auto">
          <a:xfrm>
            <a:off x="4615544" y="3320965"/>
            <a:ext cx="542136" cy="646331"/>
          </a:xfrm>
          <a:prstGeom prst="rect">
            <a:avLst/>
          </a:prstGeom>
          <a:noFill/>
        </p:spPr>
        <p:txBody>
          <a:bodyPr wrap="none" rtlCol="0">
            <a:spAutoFit/>
          </a:bodyPr>
          <a:lstStyle/>
          <a:p>
            <a:pPr>
              <a:defRPr/>
            </a:pPr>
            <a:r>
              <a:rPr lang="en-IN" b="1">
                <a:solidFill>
                  <a:schemeClr val="accent3">
                    <a:lumMod val="75000"/>
                  </a:schemeClr>
                </a:solidFill>
              </a:rPr>
              <a:t>R=2</a:t>
            </a:r>
            <a:endParaRPr/>
          </a:p>
          <a:p>
            <a:pPr>
              <a:defRPr/>
            </a:pPr>
            <a:r>
              <a:rPr lang="en-IN" b="1">
                <a:solidFill>
                  <a:schemeClr val="accent3">
                    <a:lumMod val="75000"/>
                  </a:schemeClr>
                </a:solidFill>
              </a:rPr>
              <a:t>F=1</a:t>
            </a:r>
            <a:endParaRPr/>
          </a:p>
        </p:txBody>
      </p:sp>
      <p:cxnSp>
        <p:nvCxnSpPr>
          <p:cNvPr id="12891522" name="Straight Connector 226"/>
          <p:cNvCxnSpPr/>
          <p:nvPr/>
        </p:nvCxnSpPr>
        <p:spPr bwMode="auto">
          <a:xfrm>
            <a:off x="45720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072402333" name="TextBox 227"/>
          <p:cNvSpPr txBox="1"/>
          <p:nvPr/>
        </p:nvSpPr>
        <p:spPr bwMode="auto">
          <a:xfrm>
            <a:off x="5341168" y="4876800"/>
            <a:ext cx="1828800" cy="369332"/>
          </a:xfrm>
          <a:prstGeom prst="rect">
            <a:avLst/>
          </a:prstGeom>
          <a:noFill/>
        </p:spPr>
        <p:txBody>
          <a:bodyPr wrap="square" rtlCol="0">
            <a:spAutoFit/>
          </a:bodyPr>
          <a:lstStyle/>
          <a:p>
            <a:pPr algn="ctr">
              <a:defRPr/>
            </a:pPr>
            <a:r>
              <a:rPr lang="en-IN" b="1"/>
              <a:t>Dequeue </a:t>
            </a:r>
            <a:endParaRPr lang="en-US" b="1"/>
          </a:p>
        </p:txBody>
      </p:sp>
      <p:grpSp>
        <p:nvGrpSpPr>
          <p:cNvPr id="1138525135" name="Group 228"/>
          <p:cNvGrpSpPr/>
          <p:nvPr/>
        </p:nvGrpSpPr>
        <p:grpSpPr bwMode="auto">
          <a:xfrm>
            <a:off x="5341168" y="5335998"/>
            <a:ext cx="1828800" cy="381000"/>
            <a:chOff x="381000" y="1219200"/>
            <a:chExt cx="1828800" cy="381000"/>
          </a:xfrm>
          <a:solidFill>
            <a:schemeClr val="bg2">
              <a:lumMod val="95000"/>
            </a:schemeClr>
          </a:solidFill>
        </p:grpSpPr>
        <p:sp>
          <p:nvSpPr>
            <p:cNvPr id="230" name="Rectangle 229"/>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1" name="Rectangle 230"/>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2" name="Rectangle 231"/>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3" name="Rectangle 232"/>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390340269" name="TextBox 233"/>
          <p:cNvSpPr txBox="1"/>
          <p:nvPr/>
        </p:nvSpPr>
        <p:spPr bwMode="auto">
          <a:xfrm>
            <a:off x="5793514" y="5334002"/>
            <a:ext cx="451168" cy="400110"/>
          </a:xfrm>
          <a:prstGeom prst="rect">
            <a:avLst/>
          </a:prstGeom>
          <a:noFill/>
        </p:spPr>
        <p:txBody>
          <a:bodyPr wrap="square" rtlCol="0">
            <a:spAutoFit/>
          </a:bodyPr>
          <a:lstStyle/>
          <a:p>
            <a:pPr algn="ctr">
              <a:defRPr/>
            </a:pPr>
            <a:r>
              <a:rPr lang="en-IN" sz="2000">
                <a:ln w="0"/>
              </a:rPr>
              <a:t>B</a:t>
            </a:r>
            <a:endParaRPr lang="en-US" sz="2000">
              <a:ln w="0"/>
            </a:endParaRPr>
          </a:p>
        </p:txBody>
      </p:sp>
      <p:sp>
        <p:nvSpPr>
          <p:cNvPr id="1973386294" name="TextBox 234"/>
          <p:cNvSpPr txBox="1"/>
          <p:nvPr/>
        </p:nvSpPr>
        <p:spPr bwMode="auto">
          <a:xfrm>
            <a:off x="6250714" y="5324081"/>
            <a:ext cx="451168" cy="400110"/>
          </a:xfrm>
          <a:prstGeom prst="rect">
            <a:avLst/>
          </a:prstGeom>
          <a:noFill/>
        </p:spPr>
        <p:txBody>
          <a:bodyPr wrap="square" rtlCol="0">
            <a:spAutoFit/>
          </a:bodyPr>
          <a:lstStyle/>
          <a:p>
            <a:pPr algn="ctr">
              <a:defRPr/>
            </a:pPr>
            <a:r>
              <a:rPr lang="en-IN" sz="2000">
                <a:ln w="0"/>
              </a:rPr>
              <a:t>C</a:t>
            </a:r>
            <a:endParaRPr lang="en-US" sz="2000">
              <a:ln w="0"/>
            </a:endParaRPr>
          </a:p>
        </p:txBody>
      </p:sp>
      <p:grpSp>
        <p:nvGrpSpPr>
          <p:cNvPr id="2106393588" name="Group 235"/>
          <p:cNvGrpSpPr/>
          <p:nvPr/>
        </p:nvGrpSpPr>
        <p:grpSpPr bwMode="auto">
          <a:xfrm>
            <a:off x="6423294" y="5724191"/>
            <a:ext cx="314510" cy="592488"/>
            <a:chOff x="764313" y="1681844"/>
            <a:chExt cx="314510" cy="592488"/>
          </a:xfrm>
        </p:grpSpPr>
        <p:sp>
          <p:nvSpPr>
            <p:cNvPr id="237" name="TextBox 236"/>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238" name="Straight Arrow Connector 237"/>
            <p:cNvCxnSpPr>
              <a:stCxn id="237"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441530157" name="Group 238"/>
          <p:cNvGrpSpPr/>
          <p:nvPr/>
        </p:nvGrpSpPr>
        <p:grpSpPr bwMode="auto">
          <a:xfrm>
            <a:off x="5877820" y="5725886"/>
            <a:ext cx="293670" cy="592488"/>
            <a:chOff x="774733" y="1681844"/>
            <a:chExt cx="293670" cy="592488"/>
          </a:xfrm>
        </p:grpSpPr>
        <p:sp>
          <p:nvSpPr>
            <p:cNvPr id="240" name="TextBox 239"/>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241" name="Straight Arrow Connector 240"/>
            <p:cNvCxnSpPr>
              <a:stCxn id="240"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453789075" name="TextBox 241"/>
          <p:cNvSpPr txBox="1"/>
          <p:nvPr/>
        </p:nvSpPr>
        <p:spPr bwMode="auto">
          <a:xfrm>
            <a:off x="4648200" y="4840070"/>
            <a:ext cx="542136" cy="646331"/>
          </a:xfrm>
          <a:prstGeom prst="rect">
            <a:avLst/>
          </a:prstGeom>
          <a:noFill/>
        </p:spPr>
        <p:txBody>
          <a:bodyPr wrap="none" rtlCol="0">
            <a:spAutoFit/>
          </a:bodyPr>
          <a:lstStyle/>
          <a:p>
            <a:pPr>
              <a:defRPr/>
            </a:pPr>
            <a:r>
              <a:rPr lang="en-IN" b="1">
                <a:solidFill>
                  <a:schemeClr val="accent3">
                    <a:lumMod val="75000"/>
                  </a:schemeClr>
                </a:solidFill>
              </a:rPr>
              <a:t>R=2</a:t>
            </a:r>
            <a:endParaRPr/>
          </a:p>
          <a:p>
            <a:pPr>
              <a:defRPr/>
            </a:pPr>
            <a:r>
              <a:rPr lang="en-IN" b="1">
                <a:solidFill>
                  <a:schemeClr val="accent3">
                    <a:lumMod val="75000"/>
                  </a:schemeClr>
                </a:solidFill>
              </a:rPr>
              <a:t>F=2</a:t>
            </a:r>
            <a:endParaRPr/>
          </a:p>
        </p:txBody>
      </p:sp>
      <p:sp>
        <p:nvSpPr>
          <p:cNvPr id="484267568" name="TextBox 242"/>
          <p:cNvSpPr txBox="1"/>
          <p:nvPr/>
        </p:nvSpPr>
        <p:spPr bwMode="auto">
          <a:xfrm>
            <a:off x="8382000" y="1752599"/>
            <a:ext cx="1828800" cy="369332"/>
          </a:xfrm>
          <a:prstGeom prst="rect">
            <a:avLst/>
          </a:prstGeom>
          <a:noFill/>
        </p:spPr>
        <p:txBody>
          <a:bodyPr wrap="square" rtlCol="0">
            <a:spAutoFit/>
          </a:bodyPr>
          <a:lstStyle/>
          <a:p>
            <a:pPr algn="ctr">
              <a:defRPr/>
            </a:pPr>
            <a:r>
              <a:rPr lang="en-IN" b="1"/>
              <a:t>Enqueue ‘D’</a:t>
            </a:r>
            <a:endParaRPr lang="en-US" b="1"/>
          </a:p>
        </p:txBody>
      </p:sp>
      <p:grpSp>
        <p:nvGrpSpPr>
          <p:cNvPr id="862957345" name="Group 243"/>
          <p:cNvGrpSpPr/>
          <p:nvPr/>
        </p:nvGrpSpPr>
        <p:grpSpPr bwMode="auto">
          <a:xfrm>
            <a:off x="8458200" y="2188811"/>
            <a:ext cx="1828800" cy="381000"/>
            <a:chOff x="381000" y="1219200"/>
            <a:chExt cx="1828800" cy="381000"/>
          </a:xfrm>
          <a:solidFill>
            <a:schemeClr val="bg2">
              <a:lumMod val="95000"/>
            </a:schemeClr>
          </a:solidFill>
        </p:grpSpPr>
        <p:sp>
          <p:nvSpPr>
            <p:cNvPr id="245" name="Rectangle 244"/>
            <p:cNvSpPr/>
            <p:nvPr/>
          </p:nvSpPr>
          <p:spPr bwMode="auto">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46" name="Rectangle 245"/>
            <p:cNvSpPr/>
            <p:nvPr/>
          </p:nvSpPr>
          <p:spPr bwMode="auto">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47" name="Rectangle 246"/>
            <p:cNvSpPr/>
            <p:nvPr/>
          </p:nvSpPr>
          <p:spPr bwMode="auto">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48" name="Rectangle 247"/>
            <p:cNvSpPr/>
            <p:nvPr/>
          </p:nvSpPr>
          <p:spPr bwMode="auto">
            <a:xfrm>
              <a:off x="1752599"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1826419823" name="Group 248"/>
          <p:cNvGrpSpPr/>
          <p:nvPr/>
        </p:nvGrpSpPr>
        <p:grpSpPr bwMode="auto">
          <a:xfrm>
            <a:off x="9349226" y="2572535"/>
            <a:ext cx="293670" cy="592488"/>
            <a:chOff x="774733" y="1681844"/>
            <a:chExt cx="293670" cy="592488"/>
          </a:xfrm>
        </p:grpSpPr>
        <p:sp>
          <p:nvSpPr>
            <p:cNvPr id="250" name="TextBox 249"/>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251" name="Straight Arrow Connector 250"/>
            <p:cNvCxnSpPr>
              <a:stCxn id="250"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072367687" name="Group 251"/>
          <p:cNvGrpSpPr/>
          <p:nvPr/>
        </p:nvGrpSpPr>
        <p:grpSpPr bwMode="auto">
          <a:xfrm>
            <a:off x="9556521" y="2575254"/>
            <a:ext cx="314510" cy="592488"/>
            <a:chOff x="764313" y="1681844"/>
            <a:chExt cx="314510" cy="592488"/>
          </a:xfrm>
        </p:grpSpPr>
        <p:sp>
          <p:nvSpPr>
            <p:cNvPr id="253" name="TextBox 252"/>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254" name="Straight Arrow Connector 253"/>
            <p:cNvCxnSpPr>
              <a:stCxn id="253"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02883901" name="TextBox 254"/>
          <p:cNvSpPr txBox="1"/>
          <p:nvPr/>
        </p:nvSpPr>
        <p:spPr bwMode="auto">
          <a:xfrm>
            <a:off x="9372600" y="2188811"/>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sp>
        <p:nvSpPr>
          <p:cNvPr id="311152503" name="TextBox 255"/>
          <p:cNvSpPr txBox="1"/>
          <p:nvPr/>
        </p:nvSpPr>
        <p:spPr bwMode="auto">
          <a:xfrm>
            <a:off x="7620000" y="1769907"/>
            <a:ext cx="542136" cy="646331"/>
          </a:xfrm>
          <a:prstGeom prst="rect">
            <a:avLst/>
          </a:prstGeom>
          <a:noFill/>
        </p:spPr>
        <p:txBody>
          <a:bodyPr wrap="none" rtlCol="0">
            <a:spAutoFit/>
          </a:bodyPr>
          <a:lstStyle/>
          <a:p>
            <a:pPr>
              <a:defRPr/>
            </a:pPr>
            <a:r>
              <a:rPr lang="en-IN" b="1">
                <a:solidFill>
                  <a:schemeClr val="accent3">
                    <a:lumMod val="75000"/>
                  </a:schemeClr>
                </a:solidFill>
              </a:rPr>
              <a:t>R=3</a:t>
            </a:r>
            <a:endParaRPr/>
          </a:p>
          <a:p>
            <a:pPr>
              <a:defRPr/>
            </a:pPr>
            <a:r>
              <a:rPr lang="en-IN" b="1">
                <a:solidFill>
                  <a:schemeClr val="accent3">
                    <a:lumMod val="75000"/>
                  </a:schemeClr>
                </a:solidFill>
              </a:rPr>
              <a:t>F=2</a:t>
            </a:r>
            <a:endParaRPr/>
          </a:p>
        </p:txBody>
      </p:sp>
      <p:sp>
        <p:nvSpPr>
          <p:cNvPr id="191086976" name="TextBox 256"/>
          <p:cNvSpPr txBox="1"/>
          <p:nvPr/>
        </p:nvSpPr>
        <p:spPr bwMode="auto">
          <a:xfrm>
            <a:off x="9829800" y="2188811"/>
            <a:ext cx="457200" cy="400110"/>
          </a:xfrm>
          <a:prstGeom prst="rect">
            <a:avLst/>
          </a:prstGeom>
          <a:noFill/>
        </p:spPr>
        <p:txBody>
          <a:bodyPr wrap="square" rtlCol="0">
            <a:spAutoFit/>
          </a:bodyPr>
          <a:lstStyle/>
          <a:p>
            <a:pPr algn="ctr">
              <a:defRPr/>
            </a:pPr>
            <a:r>
              <a:rPr lang="en-IN" sz="2000">
                <a:ln w="0"/>
              </a:rPr>
              <a:t>D</a:t>
            </a:r>
            <a:endParaRPr lang="en-US" sz="2000">
              <a:ln w="0"/>
            </a:endParaRPr>
          </a:p>
        </p:txBody>
      </p:sp>
      <p:sp>
        <p:nvSpPr>
          <p:cNvPr id="508355959" name="TextBox 257"/>
          <p:cNvSpPr txBox="1"/>
          <p:nvPr/>
        </p:nvSpPr>
        <p:spPr bwMode="auto">
          <a:xfrm>
            <a:off x="8476522" y="3405424"/>
            <a:ext cx="1828800" cy="369332"/>
          </a:xfrm>
          <a:prstGeom prst="rect">
            <a:avLst/>
          </a:prstGeom>
          <a:noFill/>
        </p:spPr>
        <p:txBody>
          <a:bodyPr wrap="square" rtlCol="0">
            <a:spAutoFit/>
          </a:bodyPr>
          <a:lstStyle/>
          <a:p>
            <a:pPr algn="ctr">
              <a:defRPr/>
            </a:pPr>
            <a:r>
              <a:rPr lang="en-IN" b="1"/>
              <a:t>Enqueue ‘E’</a:t>
            </a:r>
            <a:endParaRPr lang="en-US" b="1"/>
          </a:p>
        </p:txBody>
      </p:sp>
      <p:grpSp>
        <p:nvGrpSpPr>
          <p:cNvPr id="1712411466" name="Group 258"/>
          <p:cNvGrpSpPr/>
          <p:nvPr/>
        </p:nvGrpSpPr>
        <p:grpSpPr bwMode="auto">
          <a:xfrm>
            <a:off x="9972490" y="4175454"/>
            <a:ext cx="314510" cy="592488"/>
            <a:chOff x="764313" y="1681844"/>
            <a:chExt cx="314510" cy="592488"/>
          </a:xfrm>
        </p:grpSpPr>
        <p:sp>
          <p:nvSpPr>
            <p:cNvPr id="260" name="TextBox 259"/>
            <p:cNvSpPr txBox="1"/>
            <p:nvPr/>
          </p:nvSpPr>
          <p:spPr bwMode="auto">
            <a:xfrm>
              <a:off x="764313" y="1905000"/>
              <a:ext cx="314510" cy="369332"/>
            </a:xfrm>
            <a:prstGeom prst="rect">
              <a:avLst/>
            </a:prstGeom>
            <a:noFill/>
          </p:spPr>
          <p:txBody>
            <a:bodyPr wrap="none" rtlCol="0">
              <a:spAutoFit/>
            </a:bodyPr>
            <a:lstStyle/>
            <a:p>
              <a:pPr algn="ctr">
                <a:defRPr/>
              </a:pPr>
              <a:r>
                <a:rPr lang="en-IN" b="1">
                  <a:solidFill>
                    <a:srgbClr val="C00000"/>
                  </a:solidFill>
                </a:rPr>
                <a:t>R</a:t>
              </a:r>
              <a:endParaRPr lang="en-US" b="1">
                <a:solidFill>
                  <a:srgbClr val="C00000"/>
                </a:solidFill>
              </a:endParaRPr>
            </a:p>
          </p:txBody>
        </p:sp>
        <p:cxnSp>
          <p:nvCxnSpPr>
            <p:cNvPr id="261" name="Straight Arrow Connector 260"/>
            <p:cNvCxnSpPr>
              <a:stCxn id="260"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806071532" name="Group 261"/>
          <p:cNvGrpSpPr/>
          <p:nvPr/>
        </p:nvGrpSpPr>
        <p:grpSpPr bwMode="auto">
          <a:xfrm>
            <a:off x="9525710" y="4180114"/>
            <a:ext cx="293670" cy="592488"/>
            <a:chOff x="774733" y="1681844"/>
            <a:chExt cx="293670" cy="592488"/>
          </a:xfrm>
        </p:grpSpPr>
        <p:sp>
          <p:nvSpPr>
            <p:cNvPr id="263" name="TextBox 262"/>
            <p:cNvSpPr txBox="1"/>
            <p:nvPr/>
          </p:nvSpPr>
          <p:spPr bwMode="auto">
            <a:xfrm>
              <a:off x="774733" y="1905000"/>
              <a:ext cx="293670" cy="369332"/>
            </a:xfrm>
            <a:prstGeom prst="rect">
              <a:avLst/>
            </a:prstGeom>
            <a:noFill/>
          </p:spPr>
          <p:txBody>
            <a:bodyPr wrap="none" rtlCol="0">
              <a:spAutoFit/>
            </a:bodyPr>
            <a:lstStyle/>
            <a:p>
              <a:pPr algn="ctr">
                <a:defRPr/>
              </a:pPr>
              <a:r>
                <a:rPr lang="en-IN" b="1">
                  <a:solidFill>
                    <a:srgbClr val="C00000"/>
                  </a:solidFill>
                </a:rPr>
                <a:t>F</a:t>
              </a:r>
              <a:endParaRPr lang="en-US" b="1">
                <a:solidFill>
                  <a:srgbClr val="C00000"/>
                </a:solidFill>
              </a:endParaRPr>
            </a:p>
          </p:txBody>
        </p:sp>
        <p:cxnSp>
          <p:nvCxnSpPr>
            <p:cNvPr id="264" name="Straight Arrow Connector 263"/>
            <p:cNvCxnSpPr>
              <a:stCxn id="263" idx="0"/>
            </p:cNvCxnSpPr>
            <p:nvPr/>
          </p:nvCxnSpPr>
          <p:spPr bwMode="auto">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40981209" name="TextBox 264"/>
          <p:cNvSpPr txBox="1"/>
          <p:nvPr/>
        </p:nvSpPr>
        <p:spPr bwMode="auto">
          <a:xfrm>
            <a:off x="9459686" y="3777344"/>
            <a:ext cx="457200" cy="400110"/>
          </a:xfrm>
          <a:prstGeom prst="rect">
            <a:avLst/>
          </a:prstGeom>
          <a:noFill/>
        </p:spPr>
        <p:txBody>
          <a:bodyPr wrap="square" rtlCol="0">
            <a:spAutoFit/>
          </a:bodyPr>
          <a:lstStyle/>
          <a:p>
            <a:pPr algn="ctr">
              <a:defRPr/>
            </a:pPr>
            <a:r>
              <a:rPr lang="en-IN" sz="2000">
                <a:ln w="0"/>
              </a:rPr>
              <a:t>C</a:t>
            </a:r>
            <a:endParaRPr lang="en-US" sz="2000">
              <a:ln w="0"/>
            </a:endParaRPr>
          </a:p>
        </p:txBody>
      </p:sp>
      <p:sp>
        <p:nvSpPr>
          <p:cNvPr id="1182079745" name="TextBox 265"/>
          <p:cNvSpPr txBox="1"/>
          <p:nvPr/>
        </p:nvSpPr>
        <p:spPr bwMode="auto">
          <a:xfrm>
            <a:off x="9906000" y="3777344"/>
            <a:ext cx="457200" cy="400110"/>
          </a:xfrm>
          <a:prstGeom prst="rect">
            <a:avLst/>
          </a:prstGeom>
          <a:noFill/>
        </p:spPr>
        <p:txBody>
          <a:bodyPr wrap="square" rtlCol="0">
            <a:spAutoFit/>
          </a:bodyPr>
          <a:lstStyle/>
          <a:p>
            <a:pPr algn="ctr">
              <a:defRPr/>
            </a:pPr>
            <a:r>
              <a:rPr lang="en-IN" sz="2000">
                <a:ln w="0"/>
              </a:rPr>
              <a:t>D</a:t>
            </a:r>
            <a:endParaRPr lang="en-US" sz="2000">
              <a:ln w="0"/>
            </a:endParaRPr>
          </a:p>
        </p:txBody>
      </p:sp>
      <p:sp>
        <p:nvSpPr>
          <p:cNvPr id="188688323" name="TextBox 266"/>
          <p:cNvSpPr txBox="1"/>
          <p:nvPr/>
        </p:nvSpPr>
        <p:spPr bwMode="auto">
          <a:xfrm>
            <a:off x="7620000" y="3392270"/>
            <a:ext cx="542136" cy="646331"/>
          </a:xfrm>
          <a:prstGeom prst="rect">
            <a:avLst/>
          </a:prstGeom>
          <a:noFill/>
        </p:spPr>
        <p:txBody>
          <a:bodyPr wrap="none" rtlCol="0">
            <a:spAutoFit/>
          </a:bodyPr>
          <a:lstStyle/>
          <a:p>
            <a:pPr>
              <a:defRPr/>
            </a:pPr>
            <a:r>
              <a:rPr lang="en-IN" b="1">
                <a:solidFill>
                  <a:schemeClr val="accent3">
                    <a:lumMod val="75000"/>
                  </a:schemeClr>
                </a:solidFill>
              </a:rPr>
              <a:t>R=0</a:t>
            </a:r>
            <a:endParaRPr/>
          </a:p>
          <a:p>
            <a:pPr>
              <a:defRPr/>
            </a:pPr>
            <a:r>
              <a:rPr lang="en-IN" b="1">
                <a:solidFill>
                  <a:schemeClr val="accent3">
                    <a:lumMod val="75000"/>
                  </a:schemeClr>
                </a:solidFill>
              </a:rPr>
              <a:t>F=2</a:t>
            </a:r>
            <a:endParaRPr/>
          </a:p>
        </p:txBody>
      </p:sp>
      <p:cxnSp>
        <p:nvCxnSpPr>
          <p:cNvPr id="401748302" name="Straight Connector 269"/>
          <p:cNvCxnSpPr/>
          <p:nvPr/>
        </p:nvCxnSpPr>
        <p:spPr bwMode="auto">
          <a:xfrm>
            <a:off x="75438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41801097" name="TextBox 271"/>
          <p:cNvSpPr txBox="1"/>
          <p:nvPr/>
        </p:nvSpPr>
        <p:spPr bwMode="auto">
          <a:xfrm>
            <a:off x="8534400" y="3758234"/>
            <a:ext cx="475522" cy="400110"/>
          </a:xfrm>
          <a:prstGeom prst="rect">
            <a:avLst/>
          </a:prstGeom>
          <a:noFill/>
        </p:spPr>
        <p:txBody>
          <a:bodyPr wrap="square" rtlCol="0">
            <a:spAutoFit/>
          </a:bodyPr>
          <a:lstStyle/>
          <a:p>
            <a:pPr algn="ctr">
              <a:defRPr/>
            </a:pPr>
            <a:r>
              <a:rPr lang="en-IN" sz="2000">
                <a:ln w="0"/>
              </a:rPr>
              <a:t>E</a:t>
            </a:r>
            <a:endParaRPr lang="en-US" sz="2000">
              <a:ln w="0"/>
            </a:endParaRPr>
          </a:p>
        </p:txBody>
      </p:sp>
      <p:sp>
        <p:nvSpPr>
          <p:cNvPr id="1298048889" name="TextBox 134"/>
          <p:cNvSpPr txBox="1"/>
          <p:nvPr/>
        </p:nvSpPr>
        <p:spPr bwMode="auto">
          <a:xfrm>
            <a:off x="0" y="717355"/>
            <a:ext cx="12192000" cy="830997"/>
          </a:xfrm>
          <a:prstGeom prst="rect">
            <a:avLst/>
          </a:prstGeom>
          <a:solidFill>
            <a:srgbClr val="1D3064"/>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defRPr/>
            </a:pPr>
            <a:r>
              <a:rPr lang="en-IN" sz="2400" b="1">
                <a:solidFill>
                  <a:schemeClr val="bg1"/>
                </a:solidFill>
              </a:rPr>
              <a:t>Perform following operations on Circular queue with size 4 &amp; draw queue after each operation</a:t>
            </a:r>
            <a:endParaRPr/>
          </a:p>
          <a:p>
            <a:pPr algn="ctr">
              <a:defRPr/>
            </a:pPr>
            <a:r>
              <a:rPr lang="en-IN" sz="2400" b="1">
                <a:solidFill>
                  <a:schemeClr val="bg1"/>
                </a:solidFill>
              </a:rPr>
              <a:t>Enqueue ‘A’ | Enqueue ‘B’ | Enqueue ‘C’ | Dequeue | Dequeue | Enqueue ‘D’ | Enqueue ‘E’ </a:t>
            </a:r>
            <a:endParaRPr lang="en-US" sz="2400" b="1">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80488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08284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4287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68939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276522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058070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7034697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990281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031785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7522750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278458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9810049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4.16667E-7 -1.85185E-6 L 0.05794 -1.85185E-6 " pathEditMode="relative" rAng="0" ptsTypes="AA">
                                      <p:cBhvr>
                                        <p:cTn id="48" dur="2000" fill="hold"/>
                                        <p:tgtEl>
                                          <p:spTgt spid="1898100491"/>
                                        </p:tgtEl>
                                        <p:attrNameLst>
                                          <p:attrName>ppt_x</p:attrName>
                                          <p:attrName>ppt_y</p:attrName>
                                        </p:attrNameLst>
                                      </p:cBhvr>
                                      <p:rCtr x="2930"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6413348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4154207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3.75E-6 4.07407E-6 L 0.05507 4.07407E-6 " pathEditMode="relative" rAng="0" ptsTypes="AA">
                                      <p:cBhvr>
                                        <p:cTn id="60" dur="2000" fill="hold"/>
                                        <p:tgtEl>
                                          <p:spTgt spid="627845831"/>
                                        </p:tgtEl>
                                        <p:attrNameLst>
                                          <p:attrName>ppt_x</p:attrName>
                                          <p:attrName>ppt_y</p:attrName>
                                        </p:attrNameLst>
                                      </p:cBhvr>
                                      <p:rCtr x="2747" y="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7503989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8614855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1641539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13143048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1775845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3351245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8282905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63" presetClass="path" presetSubtype="0" accel="50000" decel="50000" fill="hold" nodeType="clickEffect">
                                  <p:stCondLst>
                                    <p:cond delay="0"/>
                                  </p:stCondLst>
                                  <p:childTnLst>
                                    <p:animMotion origin="layout" path="M 1.04167E-6 4.44444E-6 L 0.03164 4.44444E-6 " pathEditMode="relative" rAng="0" ptsTypes="AA">
                                      <p:cBhvr>
                                        <p:cTn id="86" dur="2000" fill="hold"/>
                                        <p:tgtEl>
                                          <p:spTgt spid="682829059"/>
                                        </p:tgtEl>
                                        <p:attrNameLst>
                                          <p:attrName>ppt_x</p:attrName>
                                          <p:attrName>ppt_y</p:attrName>
                                        </p:attrNameLst>
                                      </p:cBhvr>
                                      <p:rCtr x="1576" y="0"/>
                                    </p:animMotion>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37372530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90607764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4382230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5662613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990608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4604217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83803678"/>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140227929"/>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08228804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1.04167E-6 -4.07407E-6 L 0.03633 -4.07407E-6 " pathEditMode="relative" rAng="0" ptsTypes="AA">
                                      <p:cBhvr>
                                        <p:cTn id="118" dur="2000" fill="hold"/>
                                        <p:tgtEl>
                                          <p:spTgt spid="1082288049"/>
                                        </p:tgtEl>
                                        <p:attrNameLst>
                                          <p:attrName>ppt_x</p:attrName>
                                          <p:attrName>ppt_y</p:attrName>
                                        </p:attrNameLst>
                                      </p:cBhvr>
                                      <p:rCtr x="1849"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28901899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88948696">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99049878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73229695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5112975"/>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83604343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1522389"/>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89313594"/>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2102186743"/>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43753609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63" presetClass="path" presetSubtype="0" accel="50000" decel="50000" fill="hold" nodeType="clickEffect">
                                  <p:stCondLst>
                                    <p:cond delay="0"/>
                                  </p:stCondLst>
                                  <p:childTnLst>
                                    <p:animMotion origin="layout" path="M 1.04167E-6 -1.85185E-6 L 0.03867 -1.85185E-6 " pathEditMode="relative" rAng="0" ptsTypes="AA">
                                      <p:cBhvr>
                                        <p:cTn id="152" dur="2000" fill="hold"/>
                                        <p:tgtEl>
                                          <p:spTgt spid="2102186743"/>
                                        </p:tgtEl>
                                        <p:attrNameLst>
                                          <p:attrName>ppt_x</p:attrName>
                                          <p:attrName>ppt_y</p:attrName>
                                        </p:attrNameLst>
                                      </p:cBhvr>
                                      <p:rCtr x="1927" y="0"/>
                                    </p:animMotion>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086689884"/>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55112975"/>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1289152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072402333"/>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138525135"/>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390340269"/>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973386294"/>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441530157"/>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2106393588"/>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63" presetClass="path" presetSubtype="0" accel="50000" decel="50000" fill="hold" nodeType="clickEffect">
                                  <p:stCondLst>
                                    <p:cond delay="0"/>
                                  </p:stCondLst>
                                  <p:childTnLst>
                                    <p:animMotion origin="layout" path="M -6.25E-7 7.40741E-7 L 0.03086 7.40741E-7 " pathEditMode="relative" rAng="0" ptsTypes="AA">
                                      <p:cBhvr>
                                        <p:cTn id="184" dur="2000" fill="hold"/>
                                        <p:tgtEl>
                                          <p:spTgt spid="1441530157"/>
                                        </p:tgtEl>
                                        <p:attrNameLst>
                                          <p:attrName>ppt_x</p:attrName>
                                          <p:attrName>ppt_y</p:attrName>
                                        </p:attrNameLst>
                                      </p:cBhvr>
                                      <p:rCtr x="1536" y="0"/>
                                    </p:animMotion>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45378907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1390340269"/>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1079435385"/>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484267568"/>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862957345"/>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402883901"/>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826419823"/>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072367687"/>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63" presetClass="path" presetSubtype="0" accel="50000" decel="50000" fill="hold" nodeType="clickEffect">
                                  <p:stCondLst>
                                    <p:cond delay="0"/>
                                  </p:stCondLst>
                                  <p:childTnLst>
                                    <p:animMotion origin="layout" path="M -4.79167E-6 1.48148E-6 L 0.02865 1.48148E-6 " pathEditMode="relative" rAng="0" ptsTypes="AA">
                                      <p:cBhvr>
                                        <p:cTn id="214" dur="2000" fill="hold"/>
                                        <p:tgtEl>
                                          <p:spTgt spid="1072367687"/>
                                        </p:tgtEl>
                                        <p:attrNameLst>
                                          <p:attrName>ppt_x</p:attrName>
                                          <p:attrName>ppt_y</p:attrName>
                                        </p:attrNameLst>
                                      </p:cBhvr>
                                      <p:rCtr x="1432" y="0"/>
                                    </p:animMotion>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31115250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191086976"/>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823779425"/>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508355959"/>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745632446"/>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44098120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182079745"/>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806071532"/>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712411466"/>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35" presetClass="path" presetSubtype="0" accel="50000" decel="50000" fill="hold" nodeType="clickEffect">
                                  <p:stCondLst>
                                    <p:cond delay="0"/>
                                  </p:stCondLst>
                                  <p:childTnLst>
                                    <p:animMotion origin="layout" path="M 6.25E-7 -1.85185E-6 L -0.11211 -1.85185E-6 " pathEditMode="relative" rAng="0" ptsTypes="AA">
                                      <p:cBhvr>
                                        <p:cTn id="246" dur="2000" fill="hold"/>
                                        <p:tgtEl>
                                          <p:spTgt spid="1712411466"/>
                                        </p:tgtEl>
                                        <p:attrNameLst>
                                          <p:attrName>ppt_x</p:attrName>
                                          <p:attrName>ppt_y</p:attrName>
                                        </p:attrNameLst>
                                      </p:cBhvr>
                                      <p:rCtr x="-5612" y="0"/>
                                    </p:animMotion>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88688323"/>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41801097">
                                            <p:txEl>
                                              <p:pRg st="0" end="0"/>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401748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828421" grpId="0"/>
      <p:bldP spid="230580706" grpId="0"/>
      <p:bldP spid="1170346970" grpId="0"/>
      <p:bldP spid="1303178548" grpId="0"/>
      <p:bldP spid="1764133488" grpId="0"/>
      <p:bldP spid="775039894" grpId="0"/>
      <p:bldP spid="1415420720" grpId="0"/>
      <p:bldP spid="116415393" grpId="0"/>
      <p:bldP spid="1117758458" grpId="0"/>
      <p:bldP spid="1373725302" grpId="0"/>
      <p:bldP spid="1906077645" grpId="0"/>
      <p:bldP spid="556626135" grpId="0"/>
      <p:bldP spid="49906083" grpId="0"/>
      <p:bldP spid="446042172" grpId="0"/>
      <p:bldP spid="1289018992" grpId="0"/>
      <p:bldP spid="732296957" grpId="0"/>
      <p:bldP spid="55112975" grpId="0"/>
      <p:bldP spid="55112975" grpId="1"/>
      <p:bldP spid="1836043439" grpId="0"/>
      <p:bldP spid="21522389" grpId="0"/>
      <p:bldP spid="2086689884" grpId="0"/>
      <p:bldP spid="1072402333" grpId="0"/>
      <p:bldP spid="1390340269" grpId="0"/>
      <p:bldP spid="1390340269" grpId="1"/>
      <p:bldP spid="1973386294" grpId="0"/>
      <p:bldP spid="1453789075" grpId="0"/>
      <p:bldP spid="484267568" grpId="0"/>
      <p:bldP spid="402883901" grpId="0"/>
      <p:bldP spid="311152503" grpId="0"/>
      <p:bldP spid="191086976" grpId="0"/>
      <p:bldP spid="508355959" grpId="0"/>
      <p:bldP spid="440981209" grpId="0"/>
      <p:bldP spid="1182079745" grpId="0"/>
      <p:bldP spid="188688323" grpId="0"/>
      <p:bldP spid="1298048889" grpId="0" animBg="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86951355" name="Title 3"/>
          <p:cNvSpPr>
            <a:spLocks noGrp="1"/>
          </p:cNvSpPr>
          <p:nvPr>
            <p:ph type="title"/>
          </p:nvPr>
        </p:nvSpPr>
        <p:spPr bwMode="auto"/>
        <p:txBody>
          <a:bodyPr/>
          <a:lstStyle/>
          <a:p>
            <a:pPr>
              <a:defRPr/>
            </a:pPr>
            <a:r>
              <a:rPr lang="en-US"/>
              <a:t>Double Ended Queue</a:t>
            </a:r>
            <a:endParaRPr/>
          </a:p>
        </p:txBody>
      </p:sp>
      <p:sp>
        <p:nvSpPr>
          <p:cNvPr id="1627120485" name="Text Placeholder 4"/>
          <p:cNvSpPr>
            <a:spLocks noGrp="1"/>
          </p:cNvSpPr>
          <p:nvPr>
            <p:ph type="body" idx="1"/>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3160857" name="Title 6"/>
          <p:cNvSpPr>
            <a:spLocks noGrp="1"/>
          </p:cNvSpPr>
          <p:nvPr>
            <p:ph type="title"/>
          </p:nvPr>
        </p:nvSpPr>
        <p:spPr bwMode="auto"/>
        <p:txBody>
          <a:bodyPr/>
          <a:lstStyle/>
          <a:p>
            <a:pPr>
              <a:defRPr/>
            </a:pPr>
            <a:r>
              <a:rPr lang="en-US"/>
              <a:t>Double Ended Queue - Introduction</a:t>
            </a:r>
            <a:endParaRPr lang="en-IN"/>
          </a:p>
        </p:txBody>
      </p:sp>
      <p:graphicFrame>
        <p:nvGraphicFramePr>
          <p:cNvPr id="398416920" name="Content Placeholder 4"/>
          <p:cNvGraphicFramePr>
            <a:graphicFrameLocks xmlns:a="http://schemas.openxmlformats.org/drawingml/2006/main"/>
          </p:cNvGraphicFramePr>
          <p:nvPr/>
        </p:nvGraphicFramePr>
        <p:xfrm rot="0">
          <a:off x="4181354" y="3914719"/>
          <a:ext cx="3745150" cy="1108954"/>
        </p:xfrm>
        <a:graphic>
          <a:graphicData uri="http://schemas.openxmlformats.org/drawingml/2006/table">
            <a:tbl>
              <a:tblPr firstRow="1" firstCol="0" lastRow="0" lastCol="0" bandRow="1" bandCol="0">
                <a:tableStyleId>{9D7B26C5-4107-4FEC-AEDC-1716B250A1EF}</a:tableStyleId>
              </a:tblPr>
              <a:tblGrid>
                <a:gridCol w="749030"/>
                <a:gridCol w="749030"/>
                <a:gridCol w="749030"/>
                <a:gridCol w="749030"/>
                <a:gridCol w="749030"/>
              </a:tblGrid>
              <a:tr h="554477">
                <a:tc>
                  <a:txBody>
                    <a:bodyPr/>
                    <a:p>
                      <a:pPr algn="ctr">
                        <a:defRPr/>
                      </a:pPr>
                      <a:r>
                        <a:rPr lang="en-US"/>
                        <a:t>0</a:t>
                      </a:r>
                      <a:endParaRPr lang="en-IN"/>
                    </a:p>
                  </a:txBody>
                  <a:tcPr anchor="ctr"/>
                </a:tc>
                <a:tc>
                  <a:txBody>
                    <a:bodyPr/>
                    <a:p>
                      <a:pPr algn="ctr">
                        <a:defRPr/>
                      </a:pPr>
                      <a:r>
                        <a:rPr lang="en-US"/>
                        <a:t>1</a:t>
                      </a:r>
                      <a:endParaRPr lang="en-IN"/>
                    </a:p>
                  </a:txBody>
                  <a:tcPr anchor="ctr"/>
                </a:tc>
                <a:tc>
                  <a:txBody>
                    <a:bodyPr/>
                    <a:p>
                      <a:pPr algn="ctr">
                        <a:defRPr/>
                      </a:pPr>
                      <a:r>
                        <a:rPr lang="en-US"/>
                        <a:t>2</a:t>
                      </a:r>
                      <a:endParaRPr lang="en-IN"/>
                    </a:p>
                  </a:txBody>
                  <a:tcPr anchor="ctr"/>
                </a:tc>
                <a:tc>
                  <a:txBody>
                    <a:bodyPr/>
                    <a:p>
                      <a:pPr algn="ctr">
                        <a:defRPr/>
                      </a:pPr>
                      <a:r>
                        <a:rPr lang="en-US"/>
                        <a:t>3</a:t>
                      </a:r>
                      <a:endParaRPr lang="en-IN"/>
                    </a:p>
                  </a:txBody>
                  <a:tcPr anchor="ctr"/>
                </a:tc>
                <a:tc>
                  <a:txBody>
                    <a:bodyPr/>
                    <a:p>
                      <a:pPr algn="ctr">
                        <a:defRPr/>
                      </a:pPr>
                      <a:r>
                        <a:rPr lang="en-US"/>
                        <a:t>4</a:t>
                      </a:r>
                      <a:endParaRPr lang="en-IN"/>
                    </a:p>
                  </a:txBody>
                  <a:tcPr anchor="ctr"/>
                </a:tc>
              </a:tr>
              <a:tr h="554477">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c>
                  <a:txBody>
                    <a:bodyPr/>
                    <a:p>
                      <a:pPr algn="ctr">
                        <a:defRPr/>
                      </a:pPr>
                      <a:endParaRPr lang="en-IN"/>
                    </a:p>
                  </a:txBody>
                  <a:tcPr anchor="ctr"/>
                </a:tc>
              </a:tr>
            </a:tbl>
          </a:graphicData>
        </a:graphic>
      </p:graphicFrame>
      <p:sp>
        <p:nvSpPr>
          <p:cNvPr id="213404532" name="TextBox 9"/>
          <p:cNvSpPr txBox="1"/>
          <p:nvPr/>
        </p:nvSpPr>
        <p:spPr bwMode="auto">
          <a:xfrm>
            <a:off x="3462475" y="4455046"/>
            <a:ext cx="689612" cy="461665"/>
          </a:xfrm>
          <a:prstGeom prst="rect">
            <a:avLst/>
          </a:prstGeom>
          <a:noFill/>
        </p:spPr>
        <p:txBody>
          <a:bodyPr wrap="none" rtlCol="0">
            <a:spAutoFit/>
          </a:bodyPr>
          <a:lstStyle/>
          <a:p>
            <a:pPr>
              <a:defRPr/>
            </a:pPr>
            <a:r>
              <a:rPr lang="en-US" sz="2400" b="1">
                <a:solidFill>
                  <a:srgbClr val="FF0066"/>
                </a:solidFill>
              </a:rPr>
              <a:t>Q[] :</a:t>
            </a:r>
            <a:endParaRPr lang="en-IN" sz="2400" b="1">
              <a:solidFill>
                <a:srgbClr val="FF0066"/>
              </a:solidFill>
            </a:endParaRPr>
          </a:p>
        </p:txBody>
      </p:sp>
      <p:sp>
        <p:nvSpPr>
          <p:cNvPr id="1062434566" name="TextBox 59"/>
          <p:cNvSpPr txBox="1"/>
          <p:nvPr/>
        </p:nvSpPr>
        <p:spPr bwMode="auto">
          <a:xfrm>
            <a:off x="4378065" y="3414141"/>
            <a:ext cx="330540" cy="461665"/>
          </a:xfrm>
          <a:prstGeom prst="rect">
            <a:avLst/>
          </a:prstGeom>
          <a:noFill/>
        </p:spPr>
        <p:txBody>
          <a:bodyPr wrap="none" rtlCol="0">
            <a:spAutoFit/>
          </a:bodyPr>
          <a:lstStyle/>
          <a:p>
            <a:pPr>
              <a:defRPr/>
            </a:pPr>
            <a:r>
              <a:rPr lang="en-US" sz="2400" b="1">
                <a:solidFill>
                  <a:srgbClr val="FF0066"/>
                </a:solidFill>
              </a:rPr>
              <a:t>F</a:t>
            </a:r>
            <a:endParaRPr lang="en-IN" sz="2400" b="1">
              <a:solidFill>
                <a:srgbClr val="FF0066"/>
              </a:solidFill>
            </a:endParaRPr>
          </a:p>
        </p:txBody>
      </p:sp>
      <p:sp>
        <p:nvSpPr>
          <p:cNvPr id="362681306" name="TextBox 60"/>
          <p:cNvSpPr txBox="1"/>
          <p:nvPr/>
        </p:nvSpPr>
        <p:spPr bwMode="auto">
          <a:xfrm>
            <a:off x="4366043" y="5091124"/>
            <a:ext cx="354584" cy="461665"/>
          </a:xfrm>
          <a:prstGeom prst="rect">
            <a:avLst/>
          </a:prstGeom>
          <a:noFill/>
        </p:spPr>
        <p:txBody>
          <a:bodyPr wrap="none" rtlCol="0">
            <a:spAutoFit/>
          </a:bodyPr>
          <a:lstStyle/>
          <a:p>
            <a:pPr>
              <a:defRPr/>
            </a:pPr>
            <a:r>
              <a:rPr lang="en-US" sz="2400" b="1">
                <a:solidFill>
                  <a:srgbClr val="FF0066"/>
                </a:solidFill>
              </a:rPr>
              <a:t>R</a:t>
            </a:r>
            <a:endParaRPr lang="en-IN" sz="2400" b="1">
              <a:solidFill>
                <a:srgbClr val="FF0066"/>
              </a:solidFill>
            </a:endParaRPr>
          </a:p>
        </p:txBody>
      </p:sp>
      <p:sp>
        <p:nvSpPr>
          <p:cNvPr id="1362047272" name="TextBox 61"/>
          <p:cNvSpPr txBox="1"/>
          <p:nvPr/>
        </p:nvSpPr>
        <p:spPr bwMode="auto">
          <a:xfrm>
            <a:off x="4254322" y="4505774"/>
            <a:ext cx="495649" cy="461665"/>
          </a:xfrm>
          <a:prstGeom prst="rect">
            <a:avLst/>
          </a:prstGeom>
          <a:noFill/>
        </p:spPr>
        <p:txBody>
          <a:bodyPr wrap="none" rtlCol="0">
            <a:spAutoFit/>
          </a:bodyPr>
          <a:lstStyle/>
          <a:p>
            <a:pPr>
              <a:defRPr/>
            </a:pPr>
            <a:r>
              <a:rPr lang="en-US" sz="2400" b="1"/>
              <a:t>10</a:t>
            </a:r>
            <a:endParaRPr lang="en-IN" sz="2400" b="1"/>
          </a:p>
        </p:txBody>
      </p:sp>
      <p:sp>
        <p:nvSpPr>
          <p:cNvPr id="1992361816" name="TextBox 62"/>
          <p:cNvSpPr txBox="1"/>
          <p:nvPr/>
        </p:nvSpPr>
        <p:spPr bwMode="auto">
          <a:xfrm>
            <a:off x="-10137" y="720559"/>
            <a:ext cx="3169226" cy="523220"/>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pPr>
              <a:defRPr/>
            </a:pPr>
            <a:r>
              <a:rPr lang="en-IN"/>
              <a:t>Double Ended Queue</a:t>
            </a:r>
            <a:endParaRPr/>
          </a:p>
        </p:txBody>
      </p:sp>
      <p:sp>
        <p:nvSpPr>
          <p:cNvPr id="1178292863" name="TextBox 66"/>
          <p:cNvSpPr txBox="1"/>
          <p:nvPr/>
        </p:nvSpPr>
        <p:spPr bwMode="auto">
          <a:xfrm>
            <a:off x="8474806" y="2206970"/>
            <a:ext cx="1732568" cy="492443"/>
          </a:xfrm>
          <a:prstGeom prst="rect">
            <a:avLst/>
          </a:prstGeom>
          <a:noFill/>
        </p:spPr>
        <p:txBody>
          <a:bodyPr wrap="square" rtlCol="0">
            <a:spAutoFit/>
          </a:bodyPr>
          <a:lstStyle/>
          <a:p>
            <a:pPr>
              <a:defRPr/>
            </a:pPr>
            <a:r>
              <a:rPr lang="en-US" sz="2600" b="1">
                <a:solidFill>
                  <a:srgbClr val="FF0066"/>
                </a:solidFill>
              </a:rPr>
              <a:t>F = R = -1</a:t>
            </a:r>
            <a:endParaRPr lang="en-IN" sz="2600" b="1">
              <a:solidFill>
                <a:srgbClr val="FF0066"/>
              </a:solidFill>
            </a:endParaRPr>
          </a:p>
        </p:txBody>
      </p:sp>
      <p:sp>
        <p:nvSpPr>
          <p:cNvPr id="834202075" name="TextBox 69"/>
          <p:cNvSpPr txBox="1"/>
          <p:nvPr/>
        </p:nvSpPr>
        <p:spPr bwMode="auto">
          <a:xfrm>
            <a:off x="4993019" y="4505773"/>
            <a:ext cx="495649" cy="461665"/>
          </a:xfrm>
          <a:prstGeom prst="rect">
            <a:avLst/>
          </a:prstGeom>
          <a:noFill/>
        </p:spPr>
        <p:txBody>
          <a:bodyPr wrap="none" rtlCol="0">
            <a:spAutoFit/>
          </a:bodyPr>
          <a:lstStyle/>
          <a:p>
            <a:pPr>
              <a:defRPr/>
            </a:pPr>
            <a:r>
              <a:rPr lang="en-US" sz="2400" b="1"/>
              <a:t>20</a:t>
            </a:r>
            <a:endParaRPr lang="en-IN" sz="2400" b="1"/>
          </a:p>
        </p:txBody>
      </p:sp>
      <p:sp>
        <p:nvSpPr>
          <p:cNvPr id="1257444691" name="TextBox 71"/>
          <p:cNvSpPr txBox="1"/>
          <p:nvPr/>
        </p:nvSpPr>
        <p:spPr bwMode="auto">
          <a:xfrm>
            <a:off x="5752318" y="4493016"/>
            <a:ext cx="495649" cy="461665"/>
          </a:xfrm>
          <a:prstGeom prst="rect">
            <a:avLst/>
          </a:prstGeom>
          <a:noFill/>
        </p:spPr>
        <p:txBody>
          <a:bodyPr wrap="none" rtlCol="0">
            <a:spAutoFit/>
          </a:bodyPr>
          <a:lstStyle/>
          <a:p>
            <a:pPr>
              <a:defRPr/>
            </a:pPr>
            <a:r>
              <a:rPr lang="en-US" sz="2400" b="1"/>
              <a:t>30</a:t>
            </a:r>
            <a:endParaRPr lang="en-IN" sz="2400" b="1"/>
          </a:p>
        </p:txBody>
      </p:sp>
      <p:sp>
        <p:nvSpPr>
          <p:cNvPr id="1437073006" name="TextBox 73"/>
          <p:cNvSpPr txBox="1"/>
          <p:nvPr/>
        </p:nvSpPr>
        <p:spPr bwMode="auto">
          <a:xfrm>
            <a:off x="6511617" y="4493016"/>
            <a:ext cx="495649" cy="461665"/>
          </a:xfrm>
          <a:prstGeom prst="rect">
            <a:avLst/>
          </a:prstGeom>
          <a:noFill/>
        </p:spPr>
        <p:txBody>
          <a:bodyPr wrap="none" rtlCol="0">
            <a:spAutoFit/>
          </a:bodyPr>
          <a:lstStyle/>
          <a:p>
            <a:pPr>
              <a:defRPr/>
            </a:pPr>
            <a:r>
              <a:rPr lang="en-US" sz="2400" b="1"/>
              <a:t>40</a:t>
            </a:r>
            <a:endParaRPr lang="en-IN" sz="2400" b="1"/>
          </a:p>
        </p:txBody>
      </p:sp>
      <p:sp>
        <p:nvSpPr>
          <p:cNvPr id="361610311" name="TextBox 75"/>
          <p:cNvSpPr txBox="1"/>
          <p:nvPr/>
        </p:nvSpPr>
        <p:spPr bwMode="auto">
          <a:xfrm>
            <a:off x="7255928" y="4516686"/>
            <a:ext cx="495649" cy="461665"/>
          </a:xfrm>
          <a:prstGeom prst="rect">
            <a:avLst/>
          </a:prstGeom>
          <a:noFill/>
        </p:spPr>
        <p:txBody>
          <a:bodyPr wrap="none" rtlCol="0">
            <a:spAutoFit/>
          </a:bodyPr>
          <a:lstStyle/>
          <a:p>
            <a:pPr>
              <a:defRPr/>
            </a:pPr>
            <a:r>
              <a:rPr lang="en-US" sz="2400" b="1"/>
              <a:t>50</a:t>
            </a:r>
            <a:endParaRPr lang="en-IN" sz="2400" b="1"/>
          </a:p>
        </p:txBody>
      </p:sp>
      <p:sp>
        <p:nvSpPr>
          <p:cNvPr id="301043633" name="TextBox 1"/>
          <p:cNvSpPr txBox="1"/>
          <p:nvPr/>
        </p:nvSpPr>
        <p:spPr bwMode="auto">
          <a:xfrm flipH="1">
            <a:off x="5517115" y="2211419"/>
            <a:ext cx="3169226" cy="492443"/>
          </a:xfrm>
          <a:prstGeom prst="rect">
            <a:avLst/>
          </a:prstGeom>
          <a:noFill/>
        </p:spPr>
        <p:txBody>
          <a:bodyPr wrap="square" rtlCol="0">
            <a:spAutoFit/>
          </a:bodyPr>
          <a:lstStyle/>
          <a:p>
            <a:pPr algn="ctr">
              <a:defRPr/>
            </a:pPr>
            <a:r>
              <a:rPr lang="en-IN" sz="2600" b="1"/>
              <a:t>For an empty Queue : </a:t>
            </a:r>
            <a:endParaRPr/>
          </a:p>
        </p:txBody>
      </p:sp>
      <p:sp>
        <p:nvSpPr>
          <p:cNvPr id="198391384" name="TextBox 7"/>
          <p:cNvSpPr txBox="1"/>
          <p:nvPr/>
        </p:nvSpPr>
        <p:spPr bwMode="auto">
          <a:xfrm flipH="1">
            <a:off x="1623357" y="2183614"/>
            <a:ext cx="2814949" cy="492443"/>
          </a:xfrm>
          <a:prstGeom prst="rect">
            <a:avLst/>
          </a:prstGeom>
          <a:noFill/>
        </p:spPr>
        <p:txBody>
          <a:bodyPr wrap="square" rtlCol="0">
            <a:spAutoFit/>
          </a:bodyPr>
          <a:lstStyle/>
          <a:p>
            <a:pPr algn="ctr">
              <a:defRPr/>
            </a:pPr>
            <a:r>
              <a:rPr lang="en-IN" sz="2600" b="1"/>
              <a:t>Size of Queue :</a:t>
            </a:r>
            <a:endParaRPr/>
          </a:p>
        </p:txBody>
      </p:sp>
      <p:sp>
        <p:nvSpPr>
          <p:cNvPr id="536069593" name="TextBox 10"/>
          <p:cNvSpPr txBox="1"/>
          <p:nvPr/>
        </p:nvSpPr>
        <p:spPr bwMode="auto">
          <a:xfrm>
            <a:off x="4111539" y="2234323"/>
            <a:ext cx="1118012" cy="492443"/>
          </a:xfrm>
          <a:prstGeom prst="rect">
            <a:avLst/>
          </a:prstGeom>
          <a:noFill/>
        </p:spPr>
        <p:txBody>
          <a:bodyPr wrap="square" rtlCol="0">
            <a:spAutoFit/>
          </a:bodyPr>
          <a:lstStyle/>
          <a:p>
            <a:pPr>
              <a:defRPr/>
            </a:pPr>
            <a:r>
              <a:rPr lang="en-US" sz="2600" b="1">
                <a:solidFill>
                  <a:srgbClr val="FF0066"/>
                </a:solidFill>
              </a:rPr>
              <a:t>N = 5</a:t>
            </a:r>
            <a:endParaRPr lang="en-IN" sz="2600" b="1">
              <a:solidFill>
                <a:srgbClr val="FF0066"/>
              </a:solidFill>
            </a:endParaRPr>
          </a:p>
        </p:txBody>
      </p:sp>
      <p:sp>
        <p:nvSpPr>
          <p:cNvPr id="470445090" name="TextBox 11"/>
          <p:cNvSpPr txBox="1"/>
          <p:nvPr/>
        </p:nvSpPr>
        <p:spPr bwMode="auto">
          <a:xfrm>
            <a:off x="167523" y="1424929"/>
            <a:ext cx="1813317" cy="492443"/>
          </a:xfrm>
          <a:prstGeom prst="rect">
            <a:avLst/>
          </a:prstGeom>
          <a:noFill/>
        </p:spPr>
        <p:txBody>
          <a:bodyPr wrap="none" rtlCol="0">
            <a:spAutoFit/>
          </a:bodyPr>
          <a:lstStyle/>
          <a:p>
            <a:pPr>
              <a:defRPr/>
            </a:pPr>
            <a:r>
              <a:rPr lang="en-US" sz="2600" b="1">
                <a:solidFill>
                  <a:srgbClr val="002060"/>
                </a:solidFill>
              </a:rPr>
              <a:t>Operations :</a:t>
            </a:r>
            <a:endParaRPr lang="en-IN" sz="2600" b="1">
              <a:solidFill>
                <a:srgbClr val="002060"/>
              </a:solidFill>
            </a:endParaRPr>
          </a:p>
        </p:txBody>
      </p:sp>
      <p:sp>
        <p:nvSpPr>
          <p:cNvPr id="866017627" name="TextBox 2"/>
          <p:cNvSpPr txBox="1"/>
          <p:nvPr/>
        </p:nvSpPr>
        <p:spPr bwMode="auto">
          <a:xfrm>
            <a:off x="744622" y="1461457"/>
            <a:ext cx="10618613" cy="461665"/>
          </a:xfrm>
          <a:prstGeom prst="rect">
            <a:avLst/>
          </a:prstGeom>
          <a:solidFill>
            <a:schemeClr val="bg2">
              <a:lumMod val="85000"/>
            </a:schemeClr>
          </a:solidFill>
        </p:spPr>
        <p:txBody>
          <a:bodyPr wrap="none" rtlCol="0">
            <a:spAutoFit/>
          </a:bodyPr>
          <a:lstStyle/>
          <a:p>
            <a:pPr>
              <a:defRPr/>
            </a:pPr>
            <a:r>
              <a:rPr lang="en-IN" sz="2400" b="1">
                <a:solidFill>
                  <a:srgbClr val="1D3064"/>
                </a:solidFill>
              </a:rPr>
              <a:t>As this is Double Ended Queue, Insertion &amp; Deletion can be done from both the sides </a:t>
            </a:r>
            <a:endParaRPr/>
          </a:p>
        </p:txBody>
      </p:sp>
      <p:sp>
        <p:nvSpPr>
          <p:cNvPr id="1664206286" name="TextBox 3"/>
          <p:cNvSpPr txBox="1"/>
          <p:nvPr/>
        </p:nvSpPr>
        <p:spPr bwMode="auto">
          <a:xfrm flipH="1">
            <a:off x="3141376" y="2004698"/>
            <a:ext cx="5825104" cy="461665"/>
          </a:xfrm>
          <a:prstGeom prst="rect">
            <a:avLst/>
          </a:prstGeom>
          <a:noFill/>
        </p:spPr>
        <p:txBody>
          <a:bodyPr wrap="square" rtlCol="0">
            <a:spAutoFit/>
          </a:bodyPr>
          <a:lstStyle/>
          <a:p>
            <a:pPr>
              <a:defRPr/>
            </a:pPr>
            <a:r>
              <a:rPr lang="en-IN" sz="2400" b="1">
                <a:solidFill>
                  <a:schemeClr val="tx2"/>
                </a:solidFill>
              </a:rPr>
              <a:t>So, not only two, but four operations possible  </a:t>
            </a:r>
            <a:endParaRPr/>
          </a:p>
        </p:txBody>
      </p:sp>
      <p:sp>
        <p:nvSpPr>
          <p:cNvPr id="739590246" name="TextBox 4"/>
          <p:cNvSpPr txBox="1"/>
          <p:nvPr/>
        </p:nvSpPr>
        <p:spPr bwMode="auto">
          <a:xfrm>
            <a:off x="918150" y="2485821"/>
            <a:ext cx="2488182" cy="461665"/>
          </a:xfrm>
          <a:prstGeom prst="rect">
            <a:avLst/>
          </a:prstGeom>
          <a:noFill/>
        </p:spPr>
        <p:txBody>
          <a:bodyPr wrap="none" rtlCol="0">
            <a:spAutoFit/>
          </a:bodyPr>
          <a:lstStyle/>
          <a:p>
            <a:pPr>
              <a:defRPr/>
            </a:pPr>
            <a:r>
              <a:rPr lang="en-IN" sz="2400" b="1">
                <a:solidFill>
                  <a:srgbClr val="00B050"/>
                </a:solidFill>
              </a:rPr>
              <a:t>Insert from FRONT</a:t>
            </a:r>
            <a:endParaRPr/>
          </a:p>
        </p:txBody>
      </p:sp>
      <p:sp>
        <p:nvSpPr>
          <p:cNvPr id="1849706074" name="TextBox 5"/>
          <p:cNvSpPr txBox="1"/>
          <p:nvPr/>
        </p:nvSpPr>
        <p:spPr bwMode="auto">
          <a:xfrm>
            <a:off x="6228096" y="2485822"/>
            <a:ext cx="2305439" cy="461665"/>
          </a:xfrm>
          <a:prstGeom prst="rect">
            <a:avLst/>
          </a:prstGeom>
          <a:noFill/>
        </p:spPr>
        <p:txBody>
          <a:bodyPr wrap="none" rtlCol="0">
            <a:spAutoFit/>
          </a:bodyPr>
          <a:lstStyle/>
          <a:p>
            <a:pPr>
              <a:defRPr/>
            </a:pPr>
            <a:r>
              <a:rPr lang="en-IN" sz="2400" b="1">
                <a:solidFill>
                  <a:srgbClr val="00B050"/>
                </a:solidFill>
              </a:rPr>
              <a:t>Insert from REAR</a:t>
            </a:r>
            <a:endParaRPr/>
          </a:p>
        </p:txBody>
      </p:sp>
      <p:sp>
        <p:nvSpPr>
          <p:cNvPr id="214276525" name="TextBox 14"/>
          <p:cNvSpPr txBox="1"/>
          <p:nvPr/>
        </p:nvSpPr>
        <p:spPr bwMode="auto">
          <a:xfrm>
            <a:off x="3539460" y="2490189"/>
            <a:ext cx="2555508" cy="461665"/>
          </a:xfrm>
          <a:prstGeom prst="rect">
            <a:avLst/>
          </a:prstGeom>
          <a:noFill/>
        </p:spPr>
        <p:txBody>
          <a:bodyPr wrap="none" rtlCol="0">
            <a:spAutoFit/>
          </a:bodyPr>
          <a:lstStyle/>
          <a:p>
            <a:pPr>
              <a:defRPr/>
            </a:pPr>
            <a:r>
              <a:rPr lang="en-IN" sz="2400" b="1">
                <a:solidFill>
                  <a:srgbClr val="C00000"/>
                </a:solidFill>
              </a:rPr>
              <a:t>Delete from FRONT</a:t>
            </a:r>
            <a:endParaRPr/>
          </a:p>
        </p:txBody>
      </p:sp>
      <p:sp>
        <p:nvSpPr>
          <p:cNvPr id="1851408015" name="TextBox 15"/>
          <p:cNvSpPr txBox="1"/>
          <p:nvPr/>
        </p:nvSpPr>
        <p:spPr bwMode="auto">
          <a:xfrm>
            <a:off x="8722785" y="2485820"/>
            <a:ext cx="2372765" cy="461665"/>
          </a:xfrm>
          <a:prstGeom prst="rect">
            <a:avLst/>
          </a:prstGeom>
          <a:noFill/>
        </p:spPr>
        <p:txBody>
          <a:bodyPr wrap="none" rtlCol="0">
            <a:spAutoFit/>
          </a:bodyPr>
          <a:lstStyle/>
          <a:p>
            <a:pPr>
              <a:defRPr/>
            </a:pPr>
            <a:r>
              <a:rPr lang="en-IN" sz="2400" b="1">
                <a:solidFill>
                  <a:srgbClr val="C00000"/>
                </a:solidFill>
              </a:rPr>
              <a:t>Delete from REAR</a:t>
            </a:r>
            <a:endParaRPr/>
          </a:p>
        </p:txBody>
      </p:sp>
      <p:sp>
        <p:nvSpPr>
          <p:cNvPr id="1254352319" name="TextBox 16"/>
          <p:cNvSpPr txBox="1"/>
          <p:nvPr/>
        </p:nvSpPr>
        <p:spPr bwMode="auto">
          <a:xfrm>
            <a:off x="2148363" y="1493768"/>
            <a:ext cx="2488182" cy="461665"/>
          </a:xfrm>
          <a:prstGeom prst="rect">
            <a:avLst/>
          </a:prstGeom>
          <a:noFill/>
        </p:spPr>
        <p:txBody>
          <a:bodyPr wrap="none" rtlCol="0">
            <a:spAutoFit/>
          </a:bodyPr>
          <a:lstStyle/>
          <a:p>
            <a:pPr>
              <a:defRPr/>
            </a:pPr>
            <a:r>
              <a:rPr lang="en-IN" sz="2400" b="1">
                <a:solidFill>
                  <a:srgbClr val="00B050"/>
                </a:solidFill>
              </a:rPr>
              <a:t>Insert from FRONT</a:t>
            </a:r>
            <a:endParaRPr/>
          </a:p>
        </p:txBody>
      </p:sp>
      <p:sp>
        <p:nvSpPr>
          <p:cNvPr id="789933896" name="TextBox 17"/>
          <p:cNvSpPr txBox="1"/>
          <p:nvPr/>
        </p:nvSpPr>
        <p:spPr bwMode="auto">
          <a:xfrm>
            <a:off x="7458309" y="1493769"/>
            <a:ext cx="2305439" cy="461665"/>
          </a:xfrm>
          <a:prstGeom prst="rect">
            <a:avLst/>
          </a:prstGeom>
          <a:noFill/>
        </p:spPr>
        <p:txBody>
          <a:bodyPr wrap="none" rtlCol="0">
            <a:spAutoFit/>
          </a:bodyPr>
          <a:lstStyle/>
          <a:p>
            <a:pPr>
              <a:defRPr/>
            </a:pPr>
            <a:r>
              <a:rPr lang="en-IN" sz="2400" b="1">
                <a:solidFill>
                  <a:srgbClr val="00B050"/>
                </a:solidFill>
              </a:rPr>
              <a:t>Insert from REAR</a:t>
            </a:r>
            <a:endParaRPr/>
          </a:p>
        </p:txBody>
      </p:sp>
      <p:sp>
        <p:nvSpPr>
          <p:cNvPr id="380508203" name="TextBox 18"/>
          <p:cNvSpPr txBox="1"/>
          <p:nvPr/>
        </p:nvSpPr>
        <p:spPr bwMode="auto">
          <a:xfrm>
            <a:off x="4769673" y="1498136"/>
            <a:ext cx="2555508" cy="461665"/>
          </a:xfrm>
          <a:prstGeom prst="rect">
            <a:avLst/>
          </a:prstGeom>
          <a:noFill/>
        </p:spPr>
        <p:txBody>
          <a:bodyPr wrap="none" rtlCol="0">
            <a:spAutoFit/>
          </a:bodyPr>
          <a:lstStyle/>
          <a:p>
            <a:pPr>
              <a:defRPr/>
            </a:pPr>
            <a:r>
              <a:rPr lang="en-IN" sz="2400" b="1">
                <a:solidFill>
                  <a:srgbClr val="C00000"/>
                </a:solidFill>
              </a:rPr>
              <a:t>Delete from FRONT</a:t>
            </a:r>
            <a:endParaRPr/>
          </a:p>
        </p:txBody>
      </p:sp>
      <p:sp>
        <p:nvSpPr>
          <p:cNvPr id="437005403" name="TextBox 19"/>
          <p:cNvSpPr txBox="1"/>
          <p:nvPr/>
        </p:nvSpPr>
        <p:spPr bwMode="auto">
          <a:xfrm>
            <a:off x="9859479" y="1493767"/>
            <a:ext cx="2372765" cy="461665"/>
          </a:xfrm>
          <a:prstGeom prst="rect">
            <a:avLst/>
          </a:prstGeom>
          <a:noFill/>
        </p:spPr>
        <p:txBody>
          <a:bodyPr wrap="none" rtlCol="0">
            <a:spAutoFit/>
          </a:bodyPr>
          <a:lstStyle/>
          <a:p>
            <a:pPr>
              <a:defRPr/>
            </a:pPr>
            <a:r>
              <a:rPr lang="en-IN" sz="2400" b="1">
                <a:solidFill>
                  <a:srgbClr val="C00000"/>
                </a:solidFill>
              </a:rPr>
              <a:t>Delete from REAR</a:t>
            </a:r>
            <a:endParaRPr/>
          </a:p>
        </p:txBody>
      </p:sp>
      <p:sp>
        <p:nvSpPr>
          <p:cNvPr id="1313239150" name="Oval 20"/>
          <p:cNvSpPr/>
          <p:nvPr/>
        </p:nvSpPr>
        <p:spPr bwMode="auto">
          <a:xfrm>
            <a:off x="3912911" y="1023245"/>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IN" b="1">
                <a:solidFill>
                  <a:schemeClr val="bg1"/>
                </a:solidFill>
              </a:rPr>
              <a:t>1</a:t>
            </a:r>
            <a:endParaRPr/>
          </a:p>
        </p:txBody>
      </p:sp>
      <p:sp>
        <p:nvSpPr>
          <p:cNvPr id="1394468846" name="Oval 21"/>
          <p:cNvSpPr/>
          <p:nvPr/>
        </p:nvSpPr>
        <p:spPr bwMode="auto">
          <a:xfrm>
            <a:off x="6511617" y="1023245"/>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IN" b="1">
                <a:solidFill>
                  <a:schemeClr val="bg1"/>
                </a:solidFill>
              </a:rPr>
              <a:t>2</a:t>
            </a:r>
            <a:endParaRPr/>
          </a:p>
        </p:txBody>
      </p:sp>
      <p:sp>
        <p:nvSpPr>
          <p:cNvPr id="1004407458" name="Oval 22"/>
          <p:cNvSpPr/>
          <p:nvPr/>
        </p:nvSpPr>
        <p:spPr bwMode="auto">
          <a:xfrm>
            <a:off x="9036611" y="1020924"/>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IN" b="1">
                <a:solidFill>
                  <a:schemeClr val="bg1"/>
                </a:solidFill>
              </a:rPr>
              <a:t>3</a:t>
            </a:r>
            <a:endParaRPr/>
          </a:p>
        </p:txBody>
      </p:sp>
      <p:sp>
        <p:nvSpPr>
          <p:cNvPr id="91699009" name="Oval 23"/>
          <p:cNvSpPr/>
          <p:nvPr/>
        </p:nvSpPr>
        <p:spPr bwMode="auto">
          <a:xfrm>
            <a:off x="11653976" y="1006164"/>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IN" b="1">
                <a:solidFill>
                  <a:schemeClr val="bg1"/>
                </a:solidFill>
              </a:rPr>
              <a:t>4</a:t>
            </a:r>
            <a:endParaRPr/>
          </a:p>
        </p:txBody>
      </p:sp>
      <p:sp>
        <p:nvSpPr>
          <p:cNvPr id="712129666" name="TextBox 24"/>
          <p:cNvSpPr txBox="1"/>
          <p:nvPr/>
        </p:nvSpPr>
        <p:spPr bwMode="auto">
          <a:xfrm>
            <a:off x="133763" y="3174303"/>
            <a:ext cx="2331087" cy="400110"/>
          </a:xfrm>
          <a:prstGeom prst="rect">
            <a:avLst/>
          </a:prstGeom>
          <a:noFill/>
        </p:spPr>
        <p:txBody>
          <a:bodyPr wrap="none" rtlCol="0">
            <a:spAutoFit/>
          </a:bodyPr>
          <a:lstStyle/>
          <a:p>
            <a:pPr>
              <a:defRPr/>
            </a:pPr>
            <a:r>
              <a:rPr lang="en-IN" sz="2000" b="1"/>
              <a:t>Insert_at_FRONT</a:t>
            </a:r>
            <a:r>
              <a:rPr lang="en-IN" sz="2000" b="1"/>
              <a:t>(10)</a:t>
            </a:r>
            <a:endParaRPr/>
          </a:p>
        </p:txBody>
      </p:sp>
      <p:sp>
        <p:nvSpPr>
          <p:cNvPr id="1175765447" name="TextBox 25"/>
          <p:cNvSpPr txBox="1"/>
          <p:nvPr/>
        </p:nvSpPr>
        <p:spPr bwMode="auto">
          <a:xfrm>
            <a:off x="133762" y="3535827"/>
            <a:ext cx="2180405" cy="400110"/>
          </a:xfrm>
          <a:prstGeom prst="rect">
            <a:avLst/>
          </a:prstGeom>
          <a:noFill/>
        </p:spPr>
        <p:txBody>
          <a:bodyPr wrap="none" rtlCol="0">
            <a:spAutoFit/>
          </a:bodyPr>
          <a:lstStyle/>
          <a:p>
            <a:pPr>
              <a:defRPr/>
            </a:pPr>
            <a:r>
              <a:rPr lang="en-IN" sz="2000" b="1"/>
              <a:t>Insert_at_REAR</a:t>
            </a:r>
            <a:r>
              <a:rPr lang="en-IN" sz="2000" b="1"/>
              <a:t>(20)</a:t>
            </a:r>
            <a:endParaRPr/>
          </a:p>
        </p:txBody>
      </p:sp>
      <p:sp>
        <p:nvSpPr>
          <p:cNvPr id="1991439680" name="TextBox 26"/>
          <p:cNvSpPr txBox="1"/>
          <p:nvPr/>
        </p:nvSpPr>
        <p:spPr bwMode="auto">
          <a:xfrm>
            <a:off x="133761" y="3875488"/>
            <a:ext cx="2331087" cy="400110"/>
          </a:xfrm>
          <a:prstGeom prst="rect">
            <a:avLst/>
          </a:prstGeom>
          <a:noFill/>
        </p:spPr>
        <p:txBody>
          <a:bodyPr wrap="none" rtlCol="0">
            <a:spAutoFit/>
          </a:bodyPr>
          <a:lstStyle/>
          <a:p>
            <a:pPr>
              <a:defRPr/>
            </a:pPr>
            <a:r>
              <a:rPr lang="en-IN" sz="2000" b="1"/>
              <a:t>Insert_at_FRONT</a:t>
            </a:r>
            <a:r>
              <a:rPr lang="en-IN" sz="2000" b="1"/>
              <a:t>(30)</a:t>
            </a:r>
            <a:endParaRPr/>
          </a:p>
        </p:txBody>
      </p:sp>
      <p:sp>
        <p:nvSpPr>
          <p:cNvPr id="243920884" name="Rectangle 27"/>
          <p:cNvSpPr/>
          <p:nvPr/>
        </p:nvSpPr>
        <p:spPr bwMode="auto">
          <a:xfrm>
            <a:off x="4162223" y="3374358"/>
            <a:ext cx="830795" cy="22886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864099762" name="TextBox 28"/>
          <p:cNvSpPr txBox="1"/>
          <p:nvPr/>
        </p:nvSpPr>
        <p:spPr bwMode="auto">
          <a:xfrm>
            <a:off x="5423146" y="5394693"/>
            <a:ext cx="2560316" cy="461665"/>
          </a:xfrm>
          <a:prstGeom prst="rect">
            <a:avLst/>
          </a:prstGeom>
          <a:noFill/>
        </p:spPr>
        <p:txBody>
          <a:bodyPr wrap="none" rtlCol="0">
            <a:spAutoFit/>
          </a:bodyPr>
          <a:lstStyle/>
          <a:p>
            <a:pPr>
              <a:defRPr/>
            </a:pPr>
            <a:r>
              <a:rPr lang="en-IN" sz="2400" b="1">
                <a:solidFill>
                  <a:srgbClr val="C00000"/>
                </a:solidFill>
              </a:rPr>
              <a:t>No space at FRONT</a:t>
            </a:r>
            <a:endParaRPr/>
          </a:p>
        </p:txBody>
      </p:sp>
      <p:sp>
        <p:nvSpPr>
          <p:cNvPr id="1014742356" name="TextBox 29"/>
          <p:cNvSpPr txBox="1"/>
          <p:nvPr/>
        </p:nvSpPr>
        <p:spPr bwMode="auto">
          <a:xfrm>
            <a:off x="5313057" y="5813053"/>
            <a:ext cx="2780493" cy="492443"/>
          </a:xfrm>
          <a:prstGeom prst="rect">
            <a:avLst/>
          </a:prstGeom>
          <a:noFill/>
        </p:spPr>
        <p:txBody>
          <a:bodyPr wrap="square" rtlCol="0">
            <a:spAutoFit/>
          </a:bodyPr>
          <a:lstStyle/>
          <a:p>
            <a:pPr algn="ctr">
              <a:defRPr/>
            </a:pPr>
            <a:r>
              <a:rPr lang="en-IN" sz="2600" b="1">
                <a:solidFill>
                  <a:srgbClr val="FF0000"/>
                </a:solidFill>
                <a:highlight>
                  <a:srgbClr val="FFFF00"/>
                </a:highlight>
              </a:rPr>
              <a:t>Queue Overflow</a:t>
            </a:r>
            <a:endParaRPr/>
          </a:p>
        </p:txBody>
      </p:sp>
      <p:sp>
        <p:nvSpPr>
          <p:cNvPr id="1458929388" name="TextBox 30"/>
          <p:cNvSpPr txBox="1"/>
          <p:nvPr/>
        </p:nvSpPr>
        <p:spPr bwMode="auto">
          <a:xfrm>
            <a:off x="123625" y="4192954"/>
            <a:ext cx="2180405" cy="400110"/>
          </a:xfrm>
          <a:prstGeom prst="rect">
            <a:avLst/>
          </a:prstGeom>
          <a:noFill/>
        </p:spPr>
        <p:txBody>
          <a:bodyPr wrap="none" rtlCol="0">
            <a:spAutoFit/>
          </a:bodyPr>
          <a:lstStyle/>
          <a:p>
            <a:pPr>
              <a:defRPr/>
            </a:pPr>
            <a:r>
              <a:rPr lang="en-IN" sz="2000" b="1"/>
              <a:t>Insert_at_REAR</a:t>
            </a:r>
            <a:r>
              <a:rPr lang="en-IN" sz="2000" b="1"/>
              <a:t>(30)</a:t>
            </a:r>
            <a:endParaRPr/>
          </a:p>
        </p:txBody>
      </p:sp>
      <p:sp>
        <p:nvSpPr>
          <p:cNvPr id="2127652818" name="TextBox 31"/>
          <p:cNvSpPr txBox="1"/>
          <p:nvPr/>
        </p:nvSpPr>
        <p:spPr bwMode="auto">
          <a:xfrm>
            <a:off x="130492" y="4510420"/>
            <a:ext cx="2180405" cy="400110"/>
          </a:xfrm>
          <a:prstGeom prst="rect">
            <a:avLst/>
          </a:prstGeom>
          <a:noFill/>
        </p:spPr>
        <p:txBody>
          <a:bodyPr wrap="none" rtlCol="0">
            <a:spAutoFit/>
          </a:bodyPr>
          <a:lstStyle/>
          <a:p>
            <a:pPr>
              <a:defRPr/>
            </a:pPr>
            <a:r>
              <a:rPr lang="en-IN" sz="2000" b="1"/>
              <a:t>Insert_at_REAR</a:t>
            </a:r>
            <a:r>
              <a:rPr lang="en-IN" sz="2000" b="1"/>
              <a:t>(40)</a:t>
            </a:r>
            <a:endParaRPr/>
          </a:p>
        </p:txBody>
      </p:sp>
      <p:sp>
        <p:nvSpPr>
          <p:cNvPr id="1395339289" name="TextBox 32"/>
          <p:cNvSpPr txBox="1"/>
          <p:nvPr/>
        </p:nvSpPr>
        <p:spPr bwMode="auto">
          <a:xfrm>
            <a:off x="121131" y="4855136"/>
            <a:ext cx="2180405" cy="400110"/>
          </a:xfrm>
          <a:prstGeom prst="rect">
            <a:avLst/>
          </a:prstGeom>
          <a:noFill/>
        </p:spPr>
        <p:txBody>
          <a:bodyPr wrap="none" rtlCol="0">
            <a:spAutoFit/>
          </a:bodyPr>
          <a:lstStyle/>
          <a:p>
            <a:pPr>
              <a:defRPr/>
            </a:pPr>
            <a:r>
              <a:rPr lang="en-IN" sz="2000" b="1"/>
              <a:t>Insert_at_REAR</a:t>
            </a:r>
            <a:r>
              <a:rPr lang="en-IN" sz="2000" b="1"/>
              <a:t>(50)</a:t>
            </a:r>
            <a:endParaRPr/>
          </a:p>
        </p:txBody>
      </p:sp>
      <p:sp>
        <p:nvSpPr>
          <p:cNvPr id="656309728" name="TextBox 33"/>
          <p:cNvSpPr txBox="1"/>
          <p:nvPr/>
        </p:nvSpPr>
        <p:spPr bwMode="auto">
          <a:xfrm>
            <a:off x="121130" y="5174650"/>
            <a:ext cx="2180405" cy="400110"/>
          </a:xfrm>
          <a:prstGeom prst="rect">
            <a:avLst/>
          </a:prstGeom>
          <a:noFill/>
        </p:spPr>
        <p:txBody>
          <a:bodyPr wrap="none" rtlCol="0">
            <a:spAutoFit/>
          </a:bodyPr>
          <a:lstStyle/>
          <a:p>
            <a:pPr>
              <a:defRPr/>
            </a:pPr>
            <a:r>
              <a:rPr lang="en-IN" sz="2000" b="1"/>
              <a:t>Insert_at_REAR</a:t>
            </a:r>
            <a:r>
              <a:rPr lang="en-IN" sz="2000" b="1"/>
              <a:t>(60)</a:t>
            </a:r>
            <a:endParaRPr/>
          </a:p>
        </p:txBody>
      </p:sp>
      <p:sp>
        <p:nvSpPr>
          <p:cNvPr id="1671094696" name="Rectangle 34"/>
          <p:cNvSpPr/>
          <p:nvPr/>
        </p:nvSpPr>
        <p:spPr bwMode="auto">
          <a:xfrm>
            <a:off x="7070098" y="3379156"/>
            <a:ext cx="830795" cy="22886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521449517" name="TextBox 35"/>
          <p:cNvSpPr txBox="1"/>
          <p:nvPr/>
        </p:nvSpPr>
        <p:spPr bwMode="auto">
          <a:xfrm>
            <a:off x="8109580" y="5394693"/>
            <a:ext cx="2377574" cy="461665"/>
          </a:xfrm>
          <a:prstGeom prst="rect">
            <a:avLst/>
          </a:prstGeom>
          <a:noFill/>
        </p:spPr>
        <p:txBody>
          <a:bodyPr wrap="none" rtlCol="0">
            <a:spAutoFit/>
          </a:bodyPr>
          <a:lstStyle/>
          <a:p>
            <a:pPr>
              <a:defRPr/>
            </a:pPr>
            <a:r>
              <a:rPr lang="en-IN" sz="2400" b="1">
                <a:solidFill>
                  <a:srgbClr val="C00000"/>
                </a:solidFill>
              </a:rPr>
              <a:t>No space at REAR</a:t>
            </a:r>
            <a:endParaRPr/>
          </a:p>
        </p:txBody>
      </p:sp>
      <p:sp>
        <p:nvSpPr>
          <p:cNvPr id="1066477890" name="TextBox 36"/>
          <p:cNvSpPr txBox="1"/>
          <p:nvPr/>
        </p:nvSpPr>
        <p:spPr bwMode="auto">
          <a:xfrm>
            <a:off x="7999490" y="5813053"/>
            <a:ext cx="2780493" cy="492443"/>
          </a:xfrm>
          <a:prstGeom prst="rect">
            <a:avLst/>
          </a:prstGeom>
          <a:noFill/>
        </p:spPr>
        <p:txBody>
          <a:bodyPr wrap="square" rtlCol="0">
            <a:spAutoFit/>
          </a:bodyPr>
          <a:lstStyle/>
          <a:p>
            <a:pPr algn="ctr">
              <a:defRPr/>
            </a:pPr>
            <a:r>
              <a:rPr lang="en-IN" sz="2600" b="1">
                <a:solidFill>
                  <a:srgbClr val="FF0000"/>
                </a:solidFill>
                <a:highlight>
                  <a:srgbClr val="FFFF00"/>
                </a:highlight>
              </a:rPr>
              <a:t>Queue Overflow</a:t>
            </a:r>
            <a:endParaRPr/>
          </a:p>
        </p:txBody>
      </p:sp>
      <p:sp>
        <p:nvSpPr>
          <p:cNvPr id="535434243" name="TextBox 37"/>
          <p:cNvSpPr txBox="1"/>
          <p:nvPr/>
        </p:nvSpPr>
        <p:spPr bwMode="auto">
          <a:xfrm>
            <a:off x="9544056" y="3089031"/>
            <a:ext cx="2417650" cy="400110"/>
          </a:xfrm>
          <a:prstGeom prst="rect">
            <a:avLst/>
          </a:prstGeom>
          <a:noFill/>
        </p:spPr>
        <p:txBody>
          <a:bodyPr wrap="none" rtlCol="0">
            <a:spAutoFit/>
          </a:bodyPr>
          <a:lstStyle/>
          <a:p>
            <a:pPr>
              <a:defRPr/>
            </a:pPr>
            <a:r>
              <a:rPr lang="en-IN" sz="2000" b="1"/>
              <a:t>Delete_from_FRONT</a:t>
            </a:r>
            <a:r>
              <a:rPr lang="en-IN" sz="2000" b="1"/>
              <a:t>()</a:t>
            </a:r>
            <a:endParaRPr/>
          </a:p>
        </p:txBody>
      </p:sp>
      <p:sp>
        <p:nvSpPr>
          <p:cNvPr id="877454966" name="TextBox 38"/>
          <p:cNvSpPr txBox="1"/>
          <p:nvPr/>
        </p:nvSpPr>
        <p:spPr bwMode="auto">
          <a:xfrm>
            <a:off x="9544056" y="3439476"/>
            <a:ext cx="2266967" cy="400110"/>
          </a:xfrm>
          <a:prstGeom prst="rect">
            <a:avLst/>
          </a:prstGeom>
          <a:noFill/>
        </p:spPr>
        <p:txBody>
          <a:bodyPr wrap="none" rtlCol="0">
            <a:spAutoFit/>
          </a:bodyPr>
          <a:lstStyle/>
          <a:p>
            <a:pPr>
              <a:defRPr/>
            </a:pPr>
            <a:r>
              <a:rPr lang="en-IN" sz="2000" b="1"/>
              <a:t>Delete_from_REAR</a:t>
            </a:r>
            <a:r>
              <a:rPr lang="en-IN" sz="2000" b="1"/>
              <a:t>()</a:t>
            </a:r>
            <a:endParaRPr/>
          </a:p>
        </p:txBody>
      </p:sp>
      <p:cxnSp>
        <p:nvCxnSpPr>
          <p:cNvPr id="310693338" name="Straight Connector 40"/>
          <p:cNvCxnSpPr/>
          <p:nvPr/>
        </p:nvCxnSpPr>
        <p:spPr bwMode="auto">
          <a:xfrm>
            <a:off x="0" y="2004698"/>
            <a:ext cx="12192000" cy="0"/>
          </a:xfrm>
          <a:prstGeom prst="line">
            <a:avLst/>
          </a:prstGeom>
          <a:ln w="19050">
            <a:solidFill>
              <a:srgbClr val="1D3064"/>
            </a:solidFill>
            <a:prstDash val="sysDash"/>
          </a:ln>
        </p:spPr>
        <p:style>
          <a:lnRef idx="1">
            <a:schemeClr val="accent1"/>
          </a:lnRef>
          <a:fillRef idx="0">
            <a:schemeClr val="accent1"/>
          </a:fillRef>
          <a:effectRef idx="0">
            <a:schemeClr val="accent1"/>
          </a:effectRef>
          <a:fontRef idx="minor">
            <a:schemeClr val="tx1"/>
          </a:fontRef>
        </p:style>
      </p:cxnSp>
      <p:sp>
        <p:nvSpPr>
          <p:cNvPr id="1290378103" name="TextBox 41"/>
          <p:cNvSpPr txBox="1"/>
          <p:nvPr/>
        </p:nvSpPr>
        <p:spPr bwMode="auto">
          <a:xfrm>
            <a:off x="9542562" y="3769079"/>
            <a:ext cx="2266967" cy="400110"/>
          </a:xfrm>
          <a:prstGeom prst="rect">
            <a:avLst/>
          </a:prstGeom>
          <a:noFill/>
        </p:spPr>
        <p:txBody>
          <a:bodyPr wrap="none" rtlCol="0">
            <a:spAutoFit/>
          </a:bodyPr>
          <a:lstStyle/>
          <a:p>
            <a:pPr>
              <a:defRPr/>
            </a:pPr>
            <a:r>
              <a:rPr lang="en-IN" sz="2000" b="1"/>
              <a:t>Delete_from_REAR</a:t>
            </a:r>
            <a:r>
              <a:rPr lang="en-IN" sz="2000" b="1"/>
              <a:t>()</a:t>
            </a:r>
            <a:endParaRPr/>
          </a:p>
        </p:txBody>
      </p:sp>
      <p:sp>
        <p:nvSpPr>
          <p:cNvPr id="1796184281" name="TextBox 42"/>
          <p:cNvSpPr txBox="1"/>
          <p:nvPr/>
        </p:nvSpPr>
        <p:spPr bwMode="auto">
          <a:xfrm>
            <a:off x="9542562" y="4092906"/>
            <a:ext cx="2417650" cy="400110"/>
          </a:xfrm>
          <a:prstGeom prst="rect">
            <a:avLst/>
          </a:prstGeom>
          <a:noFill/>
        </p:spPr>
        <p:txBody>
          <a:bodyPr wrap="none" rtlCol="0">
            <a:spAutoFit/>
          </a:bodyPr>
          <a:lstStyle/>
          <a:p>
            <a:pPr>
              <a:defRPr/>
            </a:pPr>
            <a:r>
              <a:rPr lang="en-IN" sz="2000" b="1"/>
              <a:t>Delete_from_FRONT</a:t>
            </a:r>
            <a:r>
              <a:rPr lang="en-IN" sz="2000" b="1"/>
              <a:t>()</a:t>
            </a:r>
            <a:endParaRPr/>
          </a:p>
        </p:txBody>
      </p:sp>
      <p:sp>
        <p:nvSpPr>
          <p:cNvPr id="1236684929" name="TextBox 43"/>
          <p:cNvSpPr txBox="1"/>
          <p:nvPr/>
        </p:nvSpPr>
        <p:spPr bwMode="auto">
          <a:xfrm>
            <a:off x="9552699" y="4370328"/>
            <a:ext cx="2417650" cy="400110"/>
          </a:xfrm>
          <a:prstGeom prst="rect">
            <a:avLst/>
          </a:prstGeom>
          <a:noFill/>
        </p:spPr>
        <p:txBody>
          <a:bodyPr wrap="none" rtlCol="0">
            <a:spAutoFit/>
          </a:bodyPr>
          <a:lstStyle/>
          <a:p>
            <a:pPr>
              <a:defRPr/>
            </a:pPr>
            <a:r>
              <a:rPr lang="en-IN" sz="2000" b="1"/>
              <a:t>Delete_from_FRONT</a:t>
            </a:r>
            <a:r>
              <a:rPr lang="en-IN" sz="2000" b="1"/>
              <a:t>()</a:t>
            </a:r>
            <a:endParaRPr/>
          </a:p>
        </p:txBody>
      </p:sp>
      <p:sp>
        <p:nvSpPr>
          <p:cNvPr id="1689616869" name="TextBox 44"/>
          <p:cNvSpPr txBox="1"/>
          <p:nvPr/>
        </p:nvSpPr>
        <p:spPr bwMode="auto">
          <a:xfrm>
            <a:off x="8137273" y="4945555"/>
            <a:ext cx="1732568" cy="492443"/>
          </a:xfrm>
          <a:prstGeom prst="rect">
            <a:avLst/>
          </a:prstGeom>
          <a:noFill/>
        </p:spPr>
        <p:txBody>
          <a:bodyPr wrap="square" rtlCol="0">
            <a:spAutoFit/>
          </a:bodyPr>
          <a:lstStyle/>
          <a:p>
            <a:pPr>
              <a:defRPr/>
            </a:pPr>
            <a:r>
              <a:rPr lang="en-US" sz="2600" b="1">
                <a:solidFill>
                  <a:srgbClr val="FF0066"/>
                </a:solidFill>
              </a:rPr>
              <a:t>F = R = -1</a:t>
            </a:r>
            <a:endParaRPr lang="en-IN" sz="2600" b="1">
              <a:solidFill>
                <a:srgbClr val="FF0066"/>
              </a:solidFill>
            </a:endParaRPr>
          </a:p>
        </p:txBody>
      </p:sp>
      <p:sp>
        <p:nvSpPr>
          <p:cNvPr id="1024148636" name="TextBox 45"/>
          <p:cNvSpPr txBox="1"/>
          <p:nvPr/>
        </p:nvSpPr>
        <p:spPr bwMode="auto">
          <a:xfrm>
            <a:off x="9527087" y="4647750"/>
            <a:ext cx="2266967" cy="400110"/>
          </a:xfrm>
          <a:prstGeom prst="rect">
            <a:avLst/>
          </a:prstGeom>
          <a:noFill/>
        </p:spPr>
        <p:txBody>
          <a:bodyPr wrap="none" rtlCol="0">
            <a:spAutoFit/>
          </a:bodyPr>
          <a:lstStyle/>
          <a:p>
            <a:pPr>
              <a:defRPr/>
            </a:pPr>
            <a:r>
              <a:rPr lang="en-IN" sz="2000" b="1"/>
              <a:t>Delete_from_REAR</a:t>
            </a:r>
            <a:r>
              <a:rPr lang="en-IN" sz="2000" b="1"/>
              <a:t>()</a:t>
            </a:r>
            <a:endParaRPr/>
          </a:p>
        </p:txBody>
      </p:sp>
      <p:sp>
        <p:nvSpPr>
          <p:cNvPr id="419278113" name="TextBox 46"/>
          <p:cNvSpPr txBox="1"/>
          <p:nvPr/>
        </p:nvSpPr>
        <p:spPr bwMode="auto">
          <a:xfrm>
            <a:off x="7970894" y="5813052"/>
            <a:ext cx="2780493" cy="492443"/>
          </a:xfrm>
          <a:prstGeom prst="rect">
            <a:avLst/>
          </a:prstGeom>
          <a:noFill/>
        </p:spPr>
        <p:txBody>
          <a:bodyPr wrap="square" rtlCol="0">
            <a:spAutoFit/>
          </a:bodyPr>
          <a:lstStyle/>
          <a:p>
            <a:pPr algn="ctr">
              <a:defRPr/>
            </a:pPr>
            <a:r>
              <a:rPr lang="en-IN" sz="2600" b="1">
                <a:solidFill>
                  <a:srgbClr val="FF0000"/>
                </a:solidFill>
                <a:highlight>
                  <a:srgbClr val="FFFF00"/>
                </a:highlight>
              </a:rPr>
              <a:t>Queue Underflow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866017627"/>
                                        </p:tgtEl>
                                        <p:attrNameLst>
                                          <p:attrName>style.visibility</p:attrName>
                                        </p:attrNameLst>
                                      </p:cBhvr>
                                      <p:to>
                                        <p:strVal val="visible"/>
                                      </p:to>
                                    </p:set>
                                    <p:animEffect transition="in" filter="barn(outVertical)">
                                      <p:cBhvr>
                                        <p:cTn id="7" dur="500"/>
                                        <p:tgtEl>
                                          <p:spTgt spid="8660176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664206286"/>
                                        </p:tgtEl>
                                        <p:attrNameLst>
                                          <p:attrName>style.visibility</p:attrName>
                                        </p:attrNameLst>
                                      </p:cBhvr>
                                      <p:to>
                                        <p:strVal val="visible"/>
                                      </p:to>
                                    </p:set>
                                    <p:animEffect transition="in" filter="barn(outVertical)">
                                      <p:cBhvr>
                                        <p:cTn id="12" dur="500"/>
                                        <p:tgtEl>
                                          <p:spTgt spid="16642062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39590246"/>
                                        </p:tgtEl>
                                        <p:attrNameLst>
                                          <p:attrName>style.visibility</p:attrName>
                                        </p:attrNameLst>
                                      </p:cBhvr>
                                      <p:to>
                                        <p:strVal val="visible"/>
                                      </p:to>
                                    </p:set>
                                    <p:animEffect transition="in" filter="fade">
                                      <p:cBhvr>
                                        <p:cTn id="17" dur="500"/>
                                        <p:tgtEl>
                                          <p:spTgt spid="7395902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4276525"/>
                                        </p:tgtEl>
                                        <p:attrNameLst>
                                          <p:attrName>style.visibility</p:attrName>
                                        </p:attrNameLst>
                                      </p:cBhvr>
                                      <p:to>
                                        <p:strVal val="visible"/>
                                      </p:to>
                                    </p:set>
                                    <p:animEffect transition="in" filter="fade">
                                      <p:cBhvr>
                                        <p:cTn id="22" dur="500"/>
                                        <p:tgtEl>
                                          <p:spTgt spid="2142765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49706074"/>
                                        </p:tgtEl>
                                        <p:attrNameLst>
                                          <p:attrName>style.visibility</p:attrName>
                                        </p:attrNameLst>
                                      </p:cBhvr>
                                      <p:to>
                                        <p:strVal val="visible"/>
                                      </p:to>
                                    </p:set>
                                    <p:animEffect transition="in" filter="fade">
                                      <p:cBhvr>
                                        <p:cTn id="27" dur="500"/>
                                        <p:tgtEl>
                                          <p:spTgt spid="184970607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51408015"/>
                                        </p:tgtEl>
                                        <p:attrNameLst>
                                          <p:attrName>style.visibility</p:attrName>
                                        </p:attrNameLst>
                                      </p:cBhvr>
                                      <p:to>
                                        <p:strVal val="visible"/>
                                      </p:to>
                                    </p:set>
                                    <p:animEffect transition="in" filter="fade">
                                      <p:cBhvr>
                                        <p:cTn id="32" dur="500"/>
                                        <p:tgtEl>
                                          <p:spTgt spid="185140801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866017627"/>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664206286"/>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739590246"/>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14276525"/>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849706074"/>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851408015"/>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70445090"/>
                                        </p:tgtEl>
                                        <p:attrNameLst>
                                          <p:attrName>style.visibility</p:attrName>
                                        </p:attrNameLst>
                                      </p:cBhvr>
                                      <p:to>
                                        <p:strVal val="visible"/>
                                      </p:to>
                                    </p:set>
                                    <p:animEffect transition="in" filter="fade">
                                      <p:cBhvr>
                                        <p:cTn id="51" dur="500"/>
                                        <p:tgtEl>
                                          <p:spTgt spid="47044509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254352319"/>
                                        </p:tgtEl>
                                        <p:attrNameLst>
                                          <p:attrName>style.visibility</p:attrName>
                                        </p:attrNameLst>
                                      </p:cBhvr>
                                      <p:to>
                                        <p:strVal val="visible"/>
                                      </p:to>
                                    </p:set>
                                    <p:animEffect transition="in" filter="fade">
                                      <p:cBhvr>
                                        <p:cTn id="56" dur="500"/>
                                        <p:tgtEl>
                                          <p:spTgt spid="12543523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0508203"/>
                                        </p:tgtEl>
                                        <p:attrNameLst>
                                          <p:attrName>style.visibility</p:attrName>
                                        </p:attrNameLst>
                                      </p:cBhvr>
                                      <p:to>
                                        <p:strVal val="visible"/>
                                      </p:to>
                                    </p:set>
                                    <p:animEffect transition="in" filter="fade">
                                      <p:cBhvr>
                                        <p:cTn id="59" dur="500"/>
                                        <p:tgtEl>
                                          <p:spTgt spid="38050820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89933896"/>
                                        </p:tgtEl>
                                        <p:attrNameLst>
                                          <p:attrName>style.visibility</p:attrName>
                                        </p:attrNameLst>
                                      </p:cBhvr>
                                      <p:to>
                                        <p:strVal val="visible"/>
                                      </p:to>
                                    </p:set>
                                    <p:animEffect transition="in" filter="fade">
                                      <p:cBhvr>
                                        <p:cTn id="62" dur="500"/>
                                        <p:tgtEl>
                                          <p:spTgt spid="78993389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37005403"/>
                                        </p:tgtEl>
                                        <p:attrNameLst>
                                          <p:attrName>style.visibility</p:attrName>
                                        </p:attrNameLst>
                                      </p:cBhvr>
                                      <p:to>
                                        <p:strVal val="visible"/>
                                      </p:to>
                                    </p:set>
                                    <p:animEffect transition="in" filter="fade">
                                      <p:cBhvr>
                                        <p:cTn id="65" dur="500"/>
                                        <p:tgtEl>
                                          <p:spTgt spid="43700540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313239150"/>
                                        </p:tgtEl>
                                        <p:attrNameLst>
                                          <p:attrName>style.visibility</p:attrName>
                                        </p:attrNameLst>
                                      </p:cBhvr>
                                      <p:to>
                                        <p:strVal val="visible"/>
                                      </p:to>
                                    </p:set>
                                    <p:animEffect transition="in" filter="fade">
                                      <p:cBhvr>
                                        <p:cTn id="68" dur="500"/>
                                        <p:tgtEl>
                                          <p:spTgt spid="131323915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394468846"/>
                                        </p:tgtEl>
                                        <p:attrNameLst>
                                          <p:attrName>style.visibility</p:attrName>
                                        </p:attrNameLst>
                                      </p:cBhvr>
                                      <p:to>
                                        <p:strVal val="visible"/>
                                      </p:to>
                                    </p:set>
                                    <p:animEffect transition="in" filter="fade">
                                      <p:cBhvr>
                                        <p:cTn id="71" dur="500"/>
                                        <p:tgtEl>
                                          <p:spTgt spid="13944688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004407458"/>
                                        </p:tgtEl>
                                        <p:attrNameLst>
                                          <p:attrName>style.visibility</p:attrName>
                                        </p:attrNameLst>
                                      </p:cBhvr>
                                      <p:to>
                                        <p:strVal val="visible"/>
                                      </p:to>
                                    </p:set>
                                    <p:animEffect transition="in" filter="fade">
                                      <p:cBhvr>
                                        <p:cTn id="74" dur="500"/>
                                        <p:tgtEl>
                                          <p:spTgt spid="100440745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91699009"/>
                                        </p:tgtEl>
                                        <p:attrNameLst>
                                          <p:attrName>style.visibility</p:attrName>
                                        </p:attrNameLst>
                                      </p:cBhvr>
                                      <p:to>
                                        <p:strVal val="visible"/>
                                      </p:to>
                                    </p:set>
                                    <p:animEffect transition="in" filter="fade">
                                      <p:cBhvr>
                                        <p:cTn id="77" dur="500"/>
                                        <p:tgtEl>
                                          <p:spTgt spid="9169900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310693338"/>
                                        </p:tgtEl>
                                        <p:attrNameLst>
                                          <p:attrName>style.visibility</p:attrName>
                                        </p:attrNameLst>
                                      </p:cBhvr>
                                      <p:to>
                                        <p:strVal val="visible"/>
                                      </p:to>
                                    </p:set>
                                    <p:animEffect transition="in" filter="wipe(left)">
                                      <p:cBhvr>
                                        <p:cTn id="82" dur="1000"/>
                                        <p:tgtEl>
                                          <p:spTgt spid="31069333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98391384"/>
                                        </p:tgtEl>
                                        <p:attrNameLst>
                                          <p:attrName>style.visibility</p:attrName>
                                        </p:attrNameLst>
                                      </p:cBhvr>
                                      <p:to>
                                        <p:strVal val="visible"/>
                                      </p:to>
                                    </p:set>
                                    <p:animEffect transition="in" filter="fade">
                                      <p:cBhvr>
                                        <p:cTn id="87" dur="500"/>
                                        <p:tgtEl>
                                          <p:spTgt spid="19839138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36069593"/>
                                        </p:tgtEl>
                                        <p:attrNameLst>
                                          <p:attrName>style.visibility</p:attrName>
                                        </p:attrNameLst>
                                      </p:cBhvr>
                                      <p:to>
                                        <p:strVal val="visible"/>
                                      </p:to>
                                    </p:set>
                                    <p:animEffect transition="in" filter="fade">
                                      <p:cBhvr>
                                        <p:cTn id="90" dur="500"/>
                                        <p:tgtEl>
                                          <p:spTgt spid="53606959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01043633"/>
                                        </p:tgtEl>
                                        <p:attrNameLst>
                                          <p:attrName>style.visibility</p:attrName>
                                        </p:attrNameLst>
                                      </p:cBhvr>
                                      <p:to>
                                        <p:strVal val="visible"/>
                                      </p:to>
                                    </p:set>
                                    <p:animEffect transition="in" filter="fade">
                                      <p:cBhvr>
                                        <p:cTn id="93" dur="500"/>
                                        <p:tgtEl>
                                          <p:spTgt spid="3010436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178292863"/>
                                        </p:tgtEl>
                                        <p:attrNameLst>
                                          <p:attrName>style.visibility</p:attrName>
                                        </p:attrNameLst>
                                      </p:cBhvr>
                                      <p:to>
                                        <p:strVal val="visible"/>
                                      </p:to>
                                    </p:set>
                                    <p:animEffect transition="in" filter="fade">
                                      <p:cBhvr>
                                        <p:cTn id="96" dur="500"/>
                                        <p:tgtEl>
                                          <p:spTgt spid="1178292863"/>
                                        </p:tgtEl>
                                      </p:cBhvr>
                                    </p:animEffect>
                                  </p:childTnLst>
                                </p:cTn>
                              </p:par>
                              <p:par>
                                <p:cTn id="97" presetID="10" presetClass="entr" presetSubtype="0" fill="hold" nodeType="withEffect">
                                  <p:stCondLst>
                                    <p:cond delay="0"/>
                                  </p:stCondLst>
                                  <p:childTnLst>
                                    <p:set>
                                      <p:cBhvr>
                                        <p:cTn id="98" dur="1" fill="hold">
                                          <p:stCondLst>
                                            <p:cond delay="0"/>
                                          </p:stCondLst>
                                        </p:cTn>
                                        <p:tgtEl>
                                          <p:spTgt spid="398416920"/>
                                        </p:tgtEl>
                                        <p:attrNameLst>
                                          <p:attrName>style.visibility</p:attrName>
                                        </p:attrNameLst>
                                      </p:cBhvr>
                                      <p:to>
                                        <p:strVal val="visible"/>
                                      </p:to>
                                    </p:set>
                                    <p:animEffect transition="in" filter="fade">
                                      <p:cBhvr>
                                        <p:cTn id="99" dur="500"/>
                                        <p:tgtEl>
                                          <p:spTgt spid="398416920"/>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13404532"/>
                                        </p:tgtEl>
                                        <p:attrNameLst>
                                          <p:attrName>style.visibility</p:attrName>
                                        </p:attrNameLst>
                                      </p:cBhvr>
                                      <p:to>
                                        <p:strVal val="visible"/>
                                      </p:to>
                                    </p:set>
                                    <p:animEffect transition="in" filter="fade">
                                      <p:cBhvr>
                                        <p:cTn id="102" dur="500"/>
                                        <p:tgtEl>
                                          <p:spTgt spid="213404532"/>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1212966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1062434566"/>
                                        </p:tgtEl>
                                        <p:attrNameLst>
                                          <p:attrName>style.visibility</p:attrName>
                                        </p:attrNameLst>
                                      </p:cBhvr>
                                      <p:to>
                                        <p:strVal val="visible"/>
                                      </p:to>
                                    </p:set>
                                    <p:animEffect transition="in" filter="fade">
                                      <p:cBhvr>
                                        <p:cTn id="111" dur="500"/>
                                        <p:tgtEl>
                                          <p:spTgt spid="1062434566"/>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362047272"/>
                                        </p:tgtEl>
                                        <p:attrNameLst>
                                          <p:attrName>style.visibility</p:attrName>
                                        </p:attrNameLst>
                                      </p:cBhvr>
                                      <p:to>
                                        <p:strVal val="visible"/>
                                      </p:to>
                                    </p:set>
                                    <p:animEffect transition="in" filter="fade">
                                      <p:cBhvr>
                                        <p:cTn id="116" dur="500"/>
                                        <p:tgtEl>
                                          <p:spTgt spid="1362047272"/>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362681306"/>
                                        </p:tgtEl>
                                        <p:attrNameLst>
                                          <p:attrName>style.visibility</p:attrName>
                                        </p:attrNameLst>
                                      </p:cBhvr>
                                      <p:to>
                                        <p:strVal val="visible"/>
                                      </p:to>
                                    </p:set>
                                    <p:animEffect transition="in" filter="fade">
                                      <p:cBhvr>
                                        <p:cTn id="121" dur="500"/>
                                        <p:tgtEl>
                                          <p:spTgt spid="362681306"/>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1175765447"/>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63" presetClass="path" presetSubtype="0" accel="50000" decel="50000" fill="hold" grpId="1" nodeType="clickEffect">
                                  <p:stCondLst>
                                    <p:cond delay="0"/>
                                  </p:stCondLst>
                                  <p:childTnLst>
                                    <p:animMotion origin="layout" path="M 3.75E-6 4.07407E-6 L 0.06028 0.00046 " pathEditMode="relative" rAng="0" ptsTypes="AA">
                                      <p:cBhvr>
                                        <p:cTn id="129" dur="2000" fill="hold"/>
                                        <p:tgtEl>
                                          <p:spTgt spid="362681306"/>
                                        </p:tgtEl>
                                        <p:attrNameLst>
                                          <p:attrName>ppt_x</p:attrName>
                                          <p:attrName>ppt_y</p:attrName>
                                        </p:attrNameLst>
                                      </p:cBhvr>
                                      <p:rCtr x="3008" y="23"/>
                                    </p:animMotion>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834202075"/>
                                        </p:tgtEl>
                                        <p:attrNameLst>
                                          <p:attrName>style.visibility</p:attrName>
                                        </p:attrNameLst>
                                      </p:cBhvr>
                                      <p:to>
                                        <p:strVal val="visible"/>
                                      </p:to>
                                    </p:set>
                                    <p:animEffect transition="in" filter="fade">
                                      <p:cBhvr>
                                        <p:cTn id="134" dur="500"/>
                                        <p:tgtEl>
                                          <p:spTgt spid="834202075"/>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99143968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1" fill="hold" grpId="0" nodeType="clickEffect">
                                  <p:stCondLst>
                                    <p:cond delay="0"/>
                                  </p:stCondLst>
                                  <p:childTnLst>
                                    <p:set>
                                      <p:cBhvr>
                                        <p:cTn id="142" dur="1" fill="hold">
                                          <p:stCondLst>
                                            <p:cond delay="0"/>
                                          </p:stCondLst>
                                        </p:cTn>
                                        <p:tgtEl>
                                          <p:spTgt spid="243920884"/>
                                        </p:tgtEl>
                                        <p:attrNameLst>
                                          <p:attrName>style.visibility</p:attrName>
                                        </p:attrNameLst>
                                      </p:cBhvr>
                                      <p:to>
                                        <p:strVal val="visible"/>
                                      </p:to>
                                    </p:set>
                                    <p:animEffect transition="in" filter="wheel(1)">
                                      <p:cBhvr>
                                        <p:cTn id="143" dur="1750"/>
                                        <p:tgtEl>
                                          <p:spTgt spid="243920884"/>
                                        </p:tgtEl>
                                      </p:cBhvr>
                                    </p:animEffect>
                                  </p:childTnLst>
                                </p:cTn>
                              </p:par>
                            </p:childTnLst>
                          </p:cTn>
                        </p:par>
                      </p:childTnLst>
                    </p:cTn>
                  </p:par>
                  <p:par>
                    <p:cTn id="144" fill="hold">
                      <p:stCondLst>
                        <p:cond delay="indefinite"/>
                      </p:stCondLst>
                      <p:childTnLst>
                        <p:par>
                          <p:cTn id="145" fill="hold">
                            <p:stCondLst>
                              <p:cond delay="0"/>
                            </p:stCondLst>
                            <p:childTnLst>
                              <p:par>
                                <p:cTn id="146" presetID="16" presetClass="entr" presetSubtype="37" fill="hold" grpId="0" nodeType="clickEffect">
                                  <p:stCondLst>
                                    <p:cond delay="0"/>
                                  </p:stCondLst>
                                  <p:childTnLst>
                                    <p:set>
                                      <p:cBhvr>
                                        <p:cTn id="147" dur="1" fill="hold">
                                          <p:stCondLst>
                                            <p:cond delay="0"/>
                                          </p:stCondLst>
                                        </p:cTn>
                                        <p:tgtEl>
                                          <p:spTgt spid="1864099762"/>
                                        </p:tgtEl>
                                        <p:attrNameLst>
                                          <p:attrName>style.visibility</p:attrName>
                                        </p:attrNameLst>
                                      </p:cBhvr>
                                      <p:to>
                                        <p:strVal val="visible"/>
                                      </p:to>
                                    </p:set>
                                    <p:animEffect transition="in" filter="barn(outVertical)">
                                      <p:cBhvr>
                                        <p:cTn id="148" dur="500"/>
                                        <p:tgtEl>
                                          <p:spTgt spid="1864099762"/>
                                        </p:tgtEl>
                                      </p:cBhvr>
                                    </p:animEffect>
                                  </p:childTnLst>
                                </p:cTn>
                              </p:par>
                            </p:childTnLst>
                          </p:cTn>
                        </p:par>
                      </p:childTnLst>
                    </p:cTn>
                  </p:par>
                  <p:par>
                    <p:cTn id="149" fill="hold">
                      <p:stCondLst>
                        <p:cond delay="indefinite"/>
                      </p:stCondLst>
                      <p:childTnLst>
                        <p:par>
                          <p:cTn id="150" fill="hold">
                            <p:stCondLst>
                              <p:cond delay="0"/>
                            </p:stCondLst>
                            <p:childTnLst>
                              <p:par>
                                <p:cTn id="151" presetID="16" presetClass="entr" presetSubtype="37" fill="hold" grpId="0" nodeType="clickEffect">
                                  <p:stCondLst>
                                    <p:cond delay="0"/>
                                  </p:stCondLst>
                                  <p:childTnLst>
                                    <p:set>
                                      <p:cBhvr>
                                        <p:cTn id="152" dur="1" fill="hold">
                                          <p:stCondLst>
                                            <p:cond delay="0"/>
                                          </p:stCondLst>
                                        </p:cTn>
                                        <p:tgtEl>
                                          <p:spTgt spid="1014742356"/>
                                        </p:tgtEl>
                                        <p:attrNameLst>
                                          <p:attrName>style.visibility</p:attrName>
                                        </p:attrNameLst>
                                      </p:cBhvr>
                                      <p:to>
                                        <p:strVal val="visible"/>
                                      </p:to>
                                    </p:set>
                                    <p:animEffect transition="in" filter="barn(outVertical)">
                                      <p:cBhvr>
                                        <p:cTn id="153" dur="500"/>
                                        <p:tgtEl>
                                          <p:spTgt spid="1014742356"/>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0"/>
                                          </p:stCondLst>
                                        </p:cTn>
                                        <p:tgtEl>
                                          <p:spTgt spid="1458929388"/>
                                        </p:tgtEl>
                                        <p:attrNameLst>
                                          <p:attrName>style.visibility</p:attrName>
                                        </p:attrNameLst>
                                      </p:cBhvr>
                                      <p:to>
                                        <p:strVal val="visible"/>
                                      </p:to>
                                    </p:set>
                                  </p:childTnLst>
                                </p:cTn>
                              </p:par>
                              <p:par>
                                <p:cTn id="158" presetID="1" presetClass="exit" presetSubtype="0" fill="hold" grpId="1" nodeType="withEffect">
                                  <p:stCondLst>
                                    <p:cond delay="0"/>
                                  </p:stCondLst>
                                  <p:childTnLst>
                                    <p:set>
                                      <p:cBhvr>
                                        <p:cTn id="159" dur="1" fill="hold">
                                          <p:stCondLst>
                                            <p:cond delay="0"/>
                                          </p:stCondLst>
                                        </p:cTn>
                                        <p:tgtEl>
                                          <p:spTgt spid="1864099762"/>
                                        </p:tgtEl>
                                        <p:attrNameLst>
                                          <p:attrName>style.visibility</p:attrName>
                                        </p:attrNameLst>
                                      </p:cBhvr>
                                      <p:to>
                                        <p:strVal val="hidden"/>
                                      </p:to>
                                    </p:set>
                                  </p:childTnLst>
                                </p:cTn>
                              </p:par>
                              <p:par>
                                <p:cTn id="160" presetID="1" presetClass="exit" presetSubtype="0" fill="hold" grpId="1" nodeType="withEffect">
                                  <p:stCondLst>
                                    <p:cond delay="0"/>
                                  </p:stCondLst>
                                  <p:childTnLst>
                                    <p:set>
                                      <p:cBhvr>
                                        <p:cTn id="161" dur="1" fill="hold">
                                          <p:stCondLst>
                                            <p:cond delay="0"/>
                                          </p:stCondLst>
                                        </p:cTn>
                                        <p:tgtEl>
                                          <p:spTgt spid="1014742356"/>
                                        </p:tgtEl>
                                        <p:attrNameLst>
                                          <p:attrName>style.visibility</p:attrName>
                                        </p:attrNameLst>
                                      </p:cBhvr>
                                      <p:to>
                                        <p:strVal val="hidden"/>
                                      </p:to>
                                    </p:set>
                                  </p:childTnLst>
                                </p:cTn>
                              </p:par>
                              <p:par>
                                <p:cTn id="162" presetID="1" presetClass="exit" presetSubtype="0" fill="hold" grpId="1" nodeType="withEffect">
                                  <p:stCondLst>
                                    <p:cond delay="0"/>
                                  </p:stCondLst>
                                  <p:childTnLst>
                                    <p:set>
                                      <p:cBhvr>
                                        <p:cTn id="163" dur="1" fill="hold">
                                          <p:stCondLst>
                                            <p:cond delay="0"/>
                                          </p:stCondLst>
                                        </p:cTn>
                                        <p:tgtEl>
                                          <p:spTgt spid="243920884"/>
                                        </p:tgtEl>
                                        <p:attrNameLst>
                                          <p:attrName>style.visibility</p:attrName>
                                        </p:attrNameLst>
                                      </p:cBhvr>
                                      <p:to>
                                        <p:strVal val="hidden"/>
                                      </p:to>
                                    </p:set>
                                  </p:childTnLst>
                                </p:cTn>
                              </p:par>
                            </p:childTnLst>
                          </p:cTn>
                        </p:par>
                      </p:childTnLst>
                    </p:cTn>
                  </p:par>
                  <p:par>
                    <p:cTn id="164" fill="hold">
                      <p:stCondLst>
                        <p:cond delay="indefinite"/>
                      </p:stCondLst>
                      <p:childTnLst>
                        <p:par>
                          <p:cTn id="165" fill="hold">
                            <p:stCondLst>
                              <p:cond delay="0"/>
                            </p:stCondLst>
                            <p:childTnLst>
                              <p:par>
                                <p:cTn id="166" presetID="63" presetClass="path" presetSubtype="0" accel="50000" decel="50000" fill="hold" grpId="2" nodeType="clickEffect">
                                  <p:stCondLst>
                                    <p:cond delay="0"/>
                                  </p:stCondLst>
                                  <p:childTnLst>
                                    <p:animMotion origin="layout" path="M 0.06028 0.00046 L 0.11823 0.00162 " pathEditMode="relative" rAng="0" ptsTypes="AA">
                                      <p:cBhvr>
                                        <p:cTn id="167" dur="2000" fill="hold"/>
                                        <p:tgtEl>
                                          <p:spTgt spid="362681306"/>
                                        </p:tgtEl>
                                        <p:attrNameLst>
                                          <p:attrName>ppt_x</p:attrName>
                                          <p:attrName>ppt_y</p:attrName>
                                        </p:attrNameLst>
                                      </p:cBhvr>
                                      <p:rCtr x="2891" y="46"/>
                                    </p:animMotion>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1257444691"/>
                                        </p:tgtEl>
                                        <p:attrNameLst>
                                          <p:attrName>style.visibility</p:attrName>
                                        </p:attrNameLst>
                                      </p:cBhvr>
                                      <p:to>
                                        <p:strVal val="visible"/>
                                      </p:to>
                                    </p:set>
                                    <p:animEffect transition="in" filter="fade">
                                      <p:cBhvr>
                                        <p:cTn id="172" dur="500"/>
                                        <p:tgtEl>
                                          <p:spTgt spid="1257444691"/>
                                        </p:tgtEl>
                                      </p:cBhvr>
                                    </p:animEffec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2127652818"/>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63" presetClass="path" presetSubtype="0" accel="50000" decel="50000" fill="hold" grpId="3" nodeType="clickEffect">
                                  <p:stCondLst>
                                    <p:cond delay="0"/>
                                  </p:stCondLst>
                                  <p:childTnLst>
                                    <p:animMotion origin="layout" path="M 0.11823 0.00162 L 0.18216 0.00254 " pathEditMode="relative" rAng="0" ptsTypes="AA">
                                      <p:cBhvr>
                                        <p:cTn id="180" dur="2000" fill="hold"/>
                                        <p:tgtEl>
                                          <p:spTgt spid="362681306"/>
                                        </p:tgtEl>
                                        <p:attrNameLst>
                                          <p:attrName>ppt_x</p:attrName>
                                          <p:attrName>ppt_y</p:attrName>
                                        </p:attrNameLst>
                                      </p:cBhvr>
                                      <p:rCtr x="3398" y="-255"/>
                                    </p:animMotion>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1437073006"/>
                                        </p:tgtEl>
                                        <p:attrNameLst>
                                          <p:attrName>style.visibility</p:attrName>
                                        </p:attrNameLst>
                                      </p:cBhvr>
                                      <p:to>
                                        <p:strVal val="visible"/>
                                      </p:to>
                                    </p:set>
                                    <p:animEffect transition="in" filter="fade">
                                      <p:cBhvr>
                                        <p:cTn id="185" dur="500"/>
                                        <p:tgtEl>
                                          <p:spTgt spid="1437073006"/>
                                        </p:tgtEl>
                                      </p:cBhvr>
                                    </p:animEffec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1395339289"/>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63" presetClass="path" presetSubtype="0" accel="50000" decel="50000" fill="hold" grpId="4" nodeType="clickEffect">
                                  <p:stCondLst>
                                    <p:cond delay="0"/>
                                  </p:stCondLst>
                                  <p:childTnLst>
                                    <p:animMotion origin="layout" path="M 0.18216 0.00255 L 0.25 4.07407E-6 " pathEditMode="relative" rAng="0" ptsTypes="AA">
                                      <p:cBhvr>
                                        <p:cTn id="193" dur="2000" fill="hold"/>
                                        <p:tgtEl>
                                          <p:spTgt spid="362681306"/>
                                        </p:tgtEl>
                                        <p:attrNameLst>
                                          <p:attrName>ppt_x</p:attrName>
                                          <p:attrName>ppt_y</p:attrName>
                                        </p:attrNameLst>
                                      </p:cBhvr>
                                      <p:rCtr x="3398" y="-46"/>
                                    </p:animMotion>
                                  </p:childTnLst>
                                </p:cTn>
                              </p:par>
                            </p:childTnLst>
                          </p:cTn>
                        </p:par>
                      </p:childTnLst>
                    </p:cTn>
                  </p:par>
                  <p:par>
                    <p:cTn id="194" fill="hold">
                      <p:stCondLst>
                        <p:cond delay="indefinite"/>
                      </p:stCondLst>
                      <p:childTnLst>
                        <p:par>
                          <p:cTn id="195"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361610311"/>
                                        </p:tgtEl>
                                        <p:attrNameLst>
                                          <p:attrName>style.visibility</p:attrName>
                                        </p:attrNameLst>
                                      </p:cBhvr>
                                      <p:to>
                                        <p:strVal val="visible"/>
                                      </p:to>
                                    </p:set>
                                    <p:animEffect transition="in" filter="fade">
                                      <p:cBhvr>
                                        <p:cTn id="198" dur="500"/>
                                        <p:tgtEl>
                                          <p:spTgt spid="361610311"/>
                                        </p:tgtEl>
                                      </p:cBhvr>
                                    </p:animEffec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656309728"/>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21" presetClass="entr" presetSubtype="1" fill="hold" grpId="0" nodeType="clickEffect">
                                  <p:stCondLst>
                                    <p:cond delay="0"/>
                                  </p:stCondLst>
                                  <p:childTnLst>
                                    <p:set>
                                      <p:cBhvr>
                                        <p:cTn id="206" dur="1" fill="hold">
                                          <p:stCondLst>
                                            <p:cond delay="0"/>
                                          </p:stCondLst>
                                        </p:cTn>
                                        <p:tgtEl>
                                          <p:spTgt spid="1671094696"/>
                                        </p:tgtEl>
                                        <p:attrNameLst>
                                          <p:attrName>style.visibility</p:attrName>
                                        </p:attrNameLst>
                                      </p:cBhvr>
                                      <p:to>
                                        <p:strVal val="visible"/>
                                      </p:to>
                                    </p:set>
                                    <p:animEffect transition="in" filter="wheel(1)">
                                      <p:cBhvr>
                                        <p:cTn id="207" dur="1750"/>
                                        <p:tgtEl>
                                          <p:spTgt spid="1671094696"/>
                                        </p:tgtEl>
                                      </p:cBhvr>
                                    </p:animEffect>
                                  </p:childTnLst>
                                </p:cTn>
                              </p:par>
                            </p:childTnLst>
                          </p:cTn>
                        </p:par>
                      </p:childTnLst>
                    </p:cTn>
                  </p:par>
                  <p:par>
                    <p:cTn id="208" fill="hold">
                      <p:stCondLst>
                        <p:cond delay="indefinite"/>
                      </p:stCondLst>
                      <p:childTnLst>
                        <p:par>
                          <p:cTn id="209" fill="hold">
                            <p:stCondLst>
                              <p:cond delay="0"/>
                            </p:stCondLst>
                            <p:childTnLst>
                              <p:par>
                                <p:cTn id="210" presetID="16" presetClass="entr" presetSubtype="37" fill="hold" grpId="0" nodeType="clickEffect">
                                  <p:stCondLst>
                                    <p:cond delay="0"/>
                                  </p:stCondLst>
                                  <p:childTnLst>
                                    <p:set>
                                      <p:cBhvr>
                                        <p:cTn id="211" dur="1" fill="hold">
                                          <p:stCondLst>
                                            <p:cond delay="0"/>
                                          </p:stCondLst>
                                        </p:cTn>
                                        <p:tgtEl>
                                          <p:spTgt spid="521449517"/>
                                        </p:tgtEl>
                                        <p:attrNameLst>
                                          <p:attrName>style.visibility</p:attrName>
                                        </p:attrNameLst>
                                      </p:cBhvr>
                                      <p:to>
                                        <p:strVal val="visible"/>
                                      </p:to>
                                    </p:set>
                                    <p:animEffect transition="in" filter="barn(outVertical)">
                                      <p:cBhvr>
                                        <p:cTn id="212" dur="500"/>
                                        <p:tgtEl>
                                          <p:spTgt spid="521449517"/>
                                        </p:tgtEl>
                                      </p:cBhvr>
                                    </p:animEffect>
                                  </p:childTnLst>
                                </p:cTn>
                              </p:par>
                            </p:childTnLst>
                          </p:cTn>
                        </p:par>
                      </p:childTnLst>
                    </p:cTn>
                  </p:par>
                  <p:par>
                    <p:cTn id="213" fill="hold">
                      <p:stCondLst>
                        <p:cond delay="indefinite"/>
                      </p:stCondLst>
                      <p:childTnLst>
                        <p:par>
                          <p:cTn id="214" fill="hold">
                            <p:stCondLst>
                              <p:cond delay="0"/>
                            </p:stCondLst>
                            <p:childTnLst>
                              <p:par>
                                <p:cTn id="215" presetID="16" presetClass="entr" presetSubtype="37" fill="hold" grpId="0" nodeType="clickEffect">
                                  <p:stCondLst>
                                    <p:cond delay="0"/>
                                  </p:stCondLst>
                                  <p:childTnLst>
                                    <p:set>
                                      <p:cBhvr>
                                        <p:cTn id="216" dur="1" fill="hold">
                                          <p:stCondLst>
                                            <p:cond delay="0"/>
                                          </p:stCondLst>
                                        </p:cTn>
                                        <p:tgtEl>
                                          <p:spTgt spid="1066477890"/>
                                        </p:tgtEl>
                                        <p:attrNameLst>
                                          <p:attrName>style.visibility</p:attrName>
                                        </p:attrNameLst>
                                      </p:cBhvr>
                                      <p:to>
                                        <p:strVal val="visible"/>
                                      </p:to>
                                    </p:set>
                                    <p:animEffect transition="in" filter="barn(outVertical)">
                                      <p:cBhvr>
                                        <p:cTn id="217" dur="500"/>
                                        <p:tgtEl>
                                          <p:spTgt spid="1066477890"/>
                                        </p:tgtEl>
                                      </p:cBhvr>
                                    </p:animEffec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grpId="0" nodeType="clickEffect">
                                  <p:stCondLst>
                                    <p:cond delay="0"/>
                                  </p:stCondLst>
                                  <p:childTnLst>
                                    <p:set>
                                      <p:cBhvr>
                                        <p:cTn id="221" dur="1" fill="hold">
                                          <p:stCondLst>
                                            <p:cond delay="0"/>
                                          </p:stCondLst>
                                        </p:cTn>
                                        <p:tgtEl>
                                          <p:spTgt spid="535434243"/>
                                        </p:tgtEl>
                                        <p:attrNameLst>
                                          <p:attrName>style.visibility</p:attrName>
                                        </p:attrNameLst>
                                      </p:cBhvr>
                                      <p:to>
                                        <p:strVal val="visible"/>
                                      </p:to>
                                    </p:set>
                                  </p:childTnLst>
                                </p:cTn>
                              </p:par>
                              <p:par>
                                <p:cTn id="222" presetID="1" presetClass="exit" presetSubtype="0" fill="hold" grpId="1" nodeType="withEffect">
                                  <p:stCondLst>
                                    <p:cond delay="0"/>
                                  </p:stCondLst>
                                  <p:childTnLst>
                                    <p:set>
                                      <p:cBhvr>
                                        <p:cTn id="223" dur="1" fill="hold">
                                          <p:stCondLst>
                                            <p:cond delay="0"/>
                                          </p:stCondLst>
                                        </p:cTn>
                                        <p:tgtEl>
                                          <p:spTgt spid="1671094696"/>
                                        </p:tgtEl>
                                        <p:attrNameLst>
                                          <p:attrName>style.visibility</p:attrName>
                                        </p:attrNameLst>
                                      </p:cBhvr>
                                      <p:to>
                                        <p:strVal val="hidden"/>
                                      </p:to>
                                    </p:set>
                                  </p:childTnLst>
                                </p:cTn>
                              </p:par>
                              <p:par>
                                <p:cTn id="224" presetID="1" presetClass="exit" presetSubtype="0" fill="hold" grpId="1" nodeType="withEffect">
                                  <p:stCondLst>
                                    <p:cond delay="0"/>
                                  </p:stCondLst>
                                  <p:childTnLst>
                                    <p:set>
                                      <p:cBhvr>
                                        <p:cTn id="225" dur="1" fill="hold">
                                          <p:stCondLst>
                                            <p:cond delay="0"/>
                                          </p:stCondLst>
                                        </p:cTn>
                                        <p:tgtEl>
                                          <p:spTgt spid="521449517"/>
                                        </p:tgtEl>
                                        <p:attrNameLst>
                                          <p:attrName>style.visibility</p:attrName>
                                        </p:attrNameLst>
                                      </p:cBhvr>
                                      <p:to>
                                        <p:strVal val="hidden"/>
                                      </p:to>
                                    </p:set>
                                  </p:childTnLst>
                                </p:cTn>
                              </p:par>
                              <p:par>
                                <p:cTn id="226" presetID="1" presetClass="exit" presetSubtype="0" fill="hold" grpId="1" nodeType="withEffect">
                                  <p:stCondLst>
                                    <p:cond delay="0"/>
                                  </p:stCondLst>
                                  <p:childTnLst>
                                    <p:set>
                                      <p:cBhvr>
                                        <p:cTn id="227" dur="1" fill="hold">
                                          <p:stCondLst>
                                            <p:cond delay="0"/>
                                          </p:stCondLst>
                                        </p:cTn>
                                        <p:tgtEl>
                                          <p:spTgt spid="1066477890"/>
                                        </p:tgtEl>
                                        <p:attrNameLst>
                                          <p:attrName>style.visibility</p:attrName>
                                        </p:attrNameLst>
                                      </p:cBhvr>
                                      <p:to>
                                        <p:strVal val="hidden"/>
                                      </p:to>
                                    </p:set>
                                  </p:childTnLst>
                                </p:cTn>
                              </p:par>
                            </p:childTnLst>
                          </p:cTn>
                        </p:par>
                      </p:childTnLst>
                    </p:cTn>
                  </p:par>
                  <p:par>
                    <p:cTn id="228" fill="hold">
                      <p:stCondLst>
                        <p:cond delay="indefinite"/>
                      </p:stCondLst>
                      <p:childTnLst>
                        <p:par>
                          <p:cTn id="229" fill="hold">
                            <p:stCondLst>
                              <p:cond delay="0"/>
                            </p:stCondLst>
                            <p:childTnLst>
                              <p:par>
                                <p:cTn id="230" presetID="63" presetClass="path" presetSubtype="0" accel="50000" decel="50000" fill="hold" grpId="1" nodeType="clickEffect">
                                  <p:stCondLst>
                                    <p:cond delay="0"/>
                                  </p:stCondLst>
                                  <p:childTnLst>
                                    <p:animMotion origin="layout" path="M 3.75E-6 -1.48148E-6 L 0.06315 -0.00116 " pathEditMode="relative" rAng="0" ptsTypes="AA">
                                      <p:cBhvr>
                                        <p:cTn id="231" dur="2000" fill="hold"/>
                                        <p:tgtEl>
                                          <p:spTgt spid="1062434566"/>
                                        </p:tgtEl>
                                        <p:attrNameLst>
                                          <p:attrName>ppt_x</p:attrName>
                                          <p:attrName>ppt_y</p:attrName>
                                        </p:attrNameLst>
                                      </p:cBhvr>
                                      <p:rCtr x="3151" y="-69"/>
                                    </p:animMotion>
                                  </p:childTnLst>
                                </p:cTn>
                              </p:par>
                            </p:childTnLst>
                          </p:cTn>
                        </p:par>
                      </p:childTnLst>
                    </p:cTn>
                  </p:par>
                  <p:par>
                    <p:cTn id="232" fill="hold">
                      <p:stCondLst>
                        <p:cond delay="indefinite"/>
                      </p:stCondLst>
                      <p:childTnLst>
                        <p:par>
                          <p:cTn id="233" fill="hold">
                            <p:stCondLst>
                              <p:cond delay="0"/>
                            </p:stCondLst>
                            <p:childTnLst>
                              <p:par>
                                <p:cTn id="234" presetID="1" presetClass="exit" presetSubtype="0" fill="hold" grpId="1" nodeType="clickEffect">
                                  <p:stCondLst>
                                    <p:cond delay="0"/>
                                  </p:stCondLst>
                                  <p:childTnLst>
                                    <p:set>
                                      <p:cBhvr>
                                        <p:cTn id="235" dur="1" fill="hold">
                                          <p:stCondLst>
                                            <p:cond delay="0"/>
                                          </p:stCondLst>
                                        </p:cTn>
                                        <p:tgtEl>
                                          <p:spTgt spid="1362047272"/>
                                        </p:tgtEl>
                                        <p:attrNameLst>
                                          <p:attrName>style.visibility</p:attrName>
                                        </p:attrNameLst>
                                      </p:cBhvr>
                                      <p:to>
                                        <p:strVal val="hidden"/>
                                      </p:to>
                                    </p:set>
                                  </p:childTnLst>
                                </p:cTn>
                              </p:par>
                            </p:childTnLst>
                          </p:cTn>
                        </p:par>
                      </p:childTnLst>
                    </p:cTn>
                  </p:par>
                  <p:par>
                    <p:cTn id="236" fill="hold">
                      <p:stCondLst>
                        <p:cond delay="indefinite"/>
                      </p:stCondLst>
                      <p:childTnLst>
                        <p:par>
                          <p:cTn id="237" fill="hold">
                            <p:stCondLst>
                              <p:cond delay="0"/>
                            </p:stCondLst>
                            <p:childTnLst>
                              <p:par>
                                <p:cTn id="238" presetID="1" presetClass="entr" presetSubtype="0" fill="hold" grpId="0" nodeType="clickEffect">
                                  <p:stCondLst>
                                    <p:cond delay="0"/>
                                  </p:stCondLst>
                                  <p:childTnLst>
                                    <p:set>
                                      <p:cBhvr>
                                        <p:cTn id="239" dur="1" fill="hold">
                                          <p:stCondLst>
                                            <p:cond delay="0"/>
                                          </p:stCondLst>
                                        </p:cTn>
                                        <p:tgtEl>
                                          <p:spTgt spid="877454966"/>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35" presetClass="path" presetSubtype="0" accel="50000" decel="50000" fill="hold" grpId="5" nodeType="clickEffect">
                                  <p:stCondLst>
                                    <p:cond delay="0"/>
                                  </p:stCondLst>
                                  <p:childTnLst>
                                    <p:animMotion origin="layout" path="M 0.25 -3.7037E-7 L 0.18216 0.00254 " pathEditMode="relative" rAng="0" ptsTypes="AA">
                                      <p:cBhvr>
                                        <p:cTn id="243" dur="2000" fill="hold"/>
                                        <p:tgtEl>
                                          <p:spTgt spid="362681306"/>
                                        </p:tgtEl>
                                        <p:attrNameLst>
                                          <p:attrName>ppt_x</p:attrName>
                                          <p:attrName>ppt_y</p:attrName>
                                        </p:attrNameLst>
                                      </p:cBhvr>
                                      <p:rCtr x="-3073" y="93"/>
                                    </p:animMotion>
                                  </p:childTnLst>
                                </p:cTn>
                              </p:par>
                            </p:childTnLst>
                          </p:cTn>
                        </p:par>
                      </p:childTnLst>
                    </p:cTn>
                  </p:par>
                  <p:par>
                    <p:cTn id="244" fill="hold">
                      <p:stCondLst>
                        <p:cond delay="indefinite"/>
                      </p:stCondLst>
                      <p:childTnLst>
                        <p:par>
                          <p:cTn id="245" fill="hold">
                            <p:stCondLst>
                              <p:cond delay="0"/>
                            </p:stCondLst>
                            <p:childTnLst>
                              <p:par>
                                <p:cTn id="246" presetID="1" presetClass="exit" presetSubtype="0" fill="hold" grpId="1" nodeType="clickEffect">
                                  <p:stCondLst>
                                    <p:cond delay="0"/>
                                  </p:stCondLst>
                                  <p:childTnLst>
                                    <p:set>
                                      <p:cBhvr>
                                        <p:cTn id="247" dur="1" fill="hold">
                                          <p:stCondLst>
                                            <p:cond delay="0"/>
                                          </p:stCondLst>
                                        </p:cTn>
                                        <p:tgtEl>
                                          <p:spTgt spid="361610311"/>
                                        </p:tgtEl>
                                        <p:attrNameLst>
                                          <p:attrName>style.visibility</p:attrName>
                                        </p:attrNameLst>
                                      </p:cBhvr>
                                      <p:to>
                                        <p:strVal val="hidden"/>
                                      </p:to>
                                    </p:set>
                                  </p:childTnLst>
                                </p:cTn>
                              </p:par>
                            </p:childTnLst>
                          </p:cTn>
                        </p:par>
                      </p:childTnLst>
                    </p:cTn>
                  </p:par>
                  <p:par>
                    <p:cTn id="248" fill="hold">
                      <p:stCondLst>
                        <p:cond delay="indefinite"/>
                      </p:stCondLst>
                      <p:childTnLst>
                        <p:par>
                          <p:cTn id="249" fill="hold">
                            <p:stCondLst>
                              <p:cond delay="0"/>
                            </p:stCondLst>
                            <p:childTnLst>
                              <p:par>
                                <p:cTn id="250" presetID="1" presetClass="entr" presetSubtype="0" fill="hold" grpId="0" nodeType="clickEffect">
                                  <p:stCondLst>
                                    <p:cond delay="0"/>
                                  </p:stCondLst>
                                  <p:childTnLst>
                                    <p:set>
                                      <p:cBhvr>
                                        <p:cTn id="251" dur="1" fill="hold">
                                          <p:stCondLst>
                                            <p:cond delay="0"/>
                                          </p:stCondLst>
                                        </p:cTn>
                                        <p:tgtEl>
                                          <p:spTgt spid="1290378103"/>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35" presetClass="path" presetSubtype="0" accel="50000" decel="50000" fill="hold" grpId="6" nodeType="clickEffect">
                                  <p:stCondLst>
                                    <p:cond delay="0"/>
                                  </p:stCondLst>
                                  <p:childTnLst>
                                    <p:animMotion origin="layout" path="M 0.18216 0.00255 L 0.11823 0.00162 " pathEditMode="relative" rAng="0" ptsTypes="AA">
                                      <p:cBhvr>
                                        <p:cTn id="255" dur="2000" fill="hold"/>
                                        <p:tgtEl>
                                          <p:spTgt spid="362681306"/>
                                        </p:tgtEl>
                                        <p:attrNameLst>
                                          <p:attrName>ppt_x</p:attrName>
                                          <p:attrName>ppt_y</p:attrName>
                                        </p:attrNameLst>
                                      </p:cBhvr>
                                      <p:rCtr x="-3333" y="46"/>
                                    </p:animMotion>
                                  </p:childTnLst>
                                </p:cTn>
                              </p:par>
                            </p:childTnLst>
                          </p:cTn>
                        </p:par>
                      </p:childTnLst>
                    </p:cTn>
                  </p:par>
                  <p:par>
                    <p:cTn id="256" fill="hold">
                      <p:stCondLst>
                        <p:cond delay="indefinite"/>
                      </p:stCondLst>
                      <p:childTnLst>
                        <p:par>
                          <p:cTn id="257" fill="hold">
                            <p:stCondLst>
                              <p:cond delay="0"/>
                            </p:stCondLst>
                            <p:childTnLst>
                              <p:par>
                                <p:cTn id="258" presetID="1" presetClass="exit" presetSubtype="0" fill="hold" grpId="1" nodeType="clickEffect">
                                  <p:stCondLst>
                                    <p:cond delay="0"/>
                                  </p:stCondLst>
                                  <p:childTnLst>
                                    <p:set>
                                      <p:cBhvr>
                                        <p:cTn id="259" dur="1" fill="hold">
                                          <p:stCondLst>
                                            <p:cond delay="0"/>
                                          </p:stCondLst>
                                        </p:cTn>
                                        <p:tgtEl>
                                          <p:spTgt spid="1437073006"/>
                                        </p:tgtEl>
                                        <p:attrNameLst>
                                          <p:attrName>style.visibility</p:attrName>
                                        </p:attrNameLst>
                                      </p:cBhvr>
                                      <p:to>
                                        <p:strVal val="hidden"/>
                                      </p:to>
                                    </p:set>
                                  </p:childTnLst>
                                </p:cTn>
                              </p:par>
                            </p:childTnLst>
                          </p:cTn>
                        </p:par>
                      </p:childTnLst>
                    </p:cTn>
                  </p:par>
                  <p:par>
                    <p:cTn id="260" fill="hold">
                      <p:stCondLst>
                        <p:cond delay="indefinite"/>
                      </p:stCondLst>
                      <p:childTnLst>
                        <p:par>
                          <p:cTn id="261" fill="hold">
                            <p:stCondLst>
                              <p:cond delay="0"/>
                            </p:stCondLst>
                            <p:childTnLst>
                              <p:par>
                                <p:cTn id="262" presetID="1" presetClass="entr" presetSubtype="0" fill="hold" grpId="0" nodeType="clickEffect">
                                  <p:stCondLst>
                                    <p:cond delay="0"/>
                                  </p:stCondLst>
                                  <p:childTnLst>
                                    <p:set>
                                      <p:cBhvr>
                                        <p:cTn id="263" dur="1" fill="hold">
                                          <p:stCondLst>
                                            <p:cond delay="0"/>
                                          </p:stCondLst>
                                        </p:cTn>
                                        <p:tgtEl>
                                          <p:spTgt spid="1796184281"/>
                                        </p:tgtEl>
                                        <p:attrNameLst>
                                          <p:attrName>style.visibility</p:attrName>
                                        </p:attrNameLst>
                                      </p:cBhvr>
                                      <p:to>
                                        <p:strVal val="visible"/>
                                      </p:to>
                                    </p:set>
                                  </p:childTnLst>
                                </p:cTn>
                              </p:par>
                            </p:childTnLst>
                          </p:cTn>
                        </p:par>
                      </p:childTnLst>
                    </p:cTn>
                  </p:par>
                  <p:par>
                    <p:cTn id="264" fill="hold">
                      <p:stCondLst>
                        <p:cond delay="indefinite"/>
                      </p:stCondLst>
                      <p:childTnLst>
                        <p:par>
                          <p:cTn id="265" fill="hold">
                            <p:stCondLst>
                              <p:cond delay="0"/>
                            </p:stCondLst>
                            <p:childTnLst>
                              <p:par>
                                <p:cTn id="266" presetID="63" presetClass="path" presetSubtype="0" accel="50000" decel="50000" fill="hold" grpId="2" nodeType="clickEffect">
                                  <p:stCondLst>
                                    <p:cond delay="0"/>
                                  </p:stCondLst>
                                  <p:childTnLst>
                                    <p:animMotion origin="layout" path="M 0.06315 -0.00116 L 0.11914 -0.00116 " pathEditMode="relative" rAng="0" ptsTypes="AA">
                                      <p:cBhvr>
                                        <p:cTn id="267" dur="2000" fill="hold"/>
                                        <p:tgtEl>
                                          <p:spTgt spid="1062434566"/>
                                        </p:tgtEl>
                                        <p:attrNameLst>
                                          <p:attrName>ppt_x</p:attrName>
                                          <p:attrName>ppt_y</p:attrName>
                                        </p:attrNameLst>
                                      </p:cBhvr>
                                      <p:rCtr x="3138" y="0"/>
                                    </p:animMotion>
                                  </p:childTnLst>
                                </p:cTn>
                              </p:par>
                            </p:childTnLst>
                          </p:cTn>
                        </p:par>
                      </p:childTnLst>
                    </p:cTn>
                  </p:par>
                  <p:par>
                    <p:cTn id="268" fill="hold">
                      <p:stCondLst>
                        <p:cond delay="indefinite"/>
                      </p:stCondLst>
                      <p:childTnLst>
                        <p:par>
                          <p:cTn id="269" fill="hold">
                            <p:stCondLst>
                              <p:cond delay="0"/>
                            </p:stCondLst>
                            <p:childTnLst>
                              <p:par>
                                <p:cTn id="270" presetID="1" presetClass="exit" presetSubtype="0" fill="hold" grpId="1" nodeType="clickEffect">
                                  <p:stCondLst>
                                    <p:cond delay="0"/>
                                  </p:stCondLst>
                                  <p:childTnLst>
                                    <p:set>
                                      <p:cBhvr>
                                        <p:cTn id="271" dur="1" fill="hold">
                                          <p:stCondLst>
                                            <p:cond delay="0"/>
                                          </p:stCondLst>
                                        </p:cTn>
                                        <p:tgtEl>
                                          <p:spTgt spid="834202075"/>
                                        </p:tgtEl>
                                        <p:attrNameLst>
                                          <p:attrName>style.visibility</p:attrName>
                                        </p:attrNameLst>
                                      </p:cBhvr>
                                      <p:to>
                                        <p:strVal val="hidden"/>
                                      </p:to>
                                    </p:set>
                                  </p:childTnLst>
                                </p:cTn>
                              </p:par>
                            </p:childTnLst>
                          </p:cTn>
                        </p:par>
                      </p:childTnLst>
                    </p:cTn>
                  </p:par>
                  <p:par>
                    <p:cTn id="272" fill="hold">
                      <p:stCondLst>
                        <p:cond delay="indefinite"/>
                      </p:stCondLst>
                      <p:childTnLst>
                        <p:par>
                          <p:cTn id="273" fill="hold">
                            <p:stCondLst>
                              <p:cond delay="0"/>
                            </p:stCondLst>
                            <p:childTnLst>
                              <p:par>
                                <p:cTn id="274" presetID="1" presetClass="entr" presetSubtype="0" fill="hold" grpId="0" nodeType="clickEffect">
                                  <p:stCondLst>
                                    <p:cond delay="0"/>
                                  </p:stCondLst>
                                  <p:childTnLst>
                                    <p:set>
                                      <p:cBhvr>
                                        <p:cTn id="275" dur="1" fill="hold">
                                          <p:stCondLst>
                                            <p:cond delay="0"/>
                                          </p:stCondLst>
                                        </p:cTn>
                                        <p:tgtEl>
                                          <p:spTgt spid="1236684929"/>
                                        </p:tgtEl>
                                        <p:attrNameLst>
                                          <p:attrName>style.visibility</p:attrName>
                                        </p:attrNameLst>
                                      </p:cBhvr>
                                      <p:to>
                                        <p:strVal val="visible"/>
                                      </p:to>
                                    </p:set>
                                  </p:childTnLst>
                                </p:cTn>
                              </p:par>
                            </p:childTnLst>
                          </p:cTn>
                        </p:par>
                      </p:childTnLst>
                    </p:cTn>
                  </p:par>
                  <p:par>
                    <p:cTn id="276" fill="hold">
                      <p:stCondLst>
                        <p:cond delay="indefinite"/>
                      </p:stCondLst>
                      <p:childTnLst>
                        <p:par>
                          <p:cTn id="277" fill="hold">
                            <p:stCondLst>
                              <p:cond delay="0"/>
                            </p:stCondLst>
                            <p:childTnLst>
                              <p:par>
                                <p:cTn id="278" presetID="22" presetClass="exit" presetSubtype="4" fill="hold" grpId="3" nodeType="clickEffect">
                                  <p:stCondLst>
                                    <p:cond delay="0"/>
                                  </p:stCondLst>
                                  <p:childTnLst>
                                    <p:animEffect transition="out" filter="wipe(down)">
                                      <p:cBhvr>
                                        <p:cTn id="279" dur="500"/>
                                        <p:tgtEl>
                                          <p:spTgt spid="1062434566"/>
                                        </p:tgtEl>
                                      </p:cBhvr>
                                    </p:animEffect>
                                    <p:set>
                                      <p:cBhvr>
                                        <p:cTn id="280" dur="1" fill="hold">
                                          <p:stCondLst>
                                            <p:cond delay="499"/>
                                          </p:stCondLst>
                                        </p:cTn>
                                        <p:tgtEl>
                                          <p:spTgt spid="1062434566"/>
                                        </p:tgtEl>
                                        <p:attrNameLst>
                                          <p:attrName>style.visibility</p:attrName>
                                        </p:attrNameLst>
                                      </p:cBhvr>
                                      <p:to>
                                        <p:strVal val="hidden"/>
                                      </p:to>
                                    </p:set>
                                  </p:childTnLst>
                                </p:cTn>
                              </p:par>
                              <p:par>
                                <p:cTn id="281" presetID="22" presetClass="exit" presetSubtype="4" fill="hold" grpId="7" nodeType="withEffect">
                                  <p:stCondLst>
                                    <p:cond delay="0"/>
                                  </p:stCondLst>
                                  <p:childTnLst>
                                    <p:animEffect transition="out" filter="wipe(down)">
                                      <p:cBhvr>
                                        <p:cTn id="282" dur="500"/>
                                        <p:tgtEl>
                                          <p:spTgt spid="362681306"/>
                                        </p:tgtEl>
                                      </p:cBhvr>
                                    </p:animEffect>
                                    <p:set>
                                      <p:cBhvr>
                                        <p:cTn id="283" dur="1" fill="hold">
                                          <p:stCondLst>
                                            <p:cond delay="499"/>
                                          </p:stCondLst>
                                        </p:cTn>
                                        <p:tgtEl>
                                          <p:spTgt spid="362681306"/>
                                        </p:tgtEl>
                                        <p:attrNameLst>
                                          <p:attrName>style.visibility</p:attrName>
                                        </p:attrNameLst>
                                      </p:cBhvr>
                                      <p:to>
                                        <p:strVal val="hidden"/>
                                      </p:to>
                                    </p:set>
                                  </p:childTnLst>
                                </p:cTn>
                              </p:par>
                            </p:childTnLst>
                          </p:cTn>
                        </p:par>
                      </p:childTnLst>
                    </p:cTn>
                  </p:par>
                  <p:par>
                    <p:cTn id="284" fill="hold">
                      <p:stCondLst>
                        <p:cond delay="indefinite"/>
                      </p:stCondLst>
                      <p:childTnLst>
                        <p:par>
                          <p:cTn id="285" fill="hold">
                            <p:stCondLst>
                              <p:cond delay="0"/>
                            </p:stCondLst>
                            <p:childTnLst>
                              <p:par>
                                <p:cTn id="286" presetID="1" presetClass="exit" presetSubtype="0" fill="hold" grpId="1" nodeType="clickEffect">
                                  <p:stCondLst>
                                    <p:cond delay="0"/>
                                  </p:stCondLst>
                                  <p:childTnLst>
                                    <p:set>
                                      <p:cBhvr>
                                        <p:cTn id="287" dur="1" fill="hold">
                                          <p:stCondLst>
                                            <p:cond delay="0"/>
                                          </p:stCondLst>
                                        </p:cTn>
                                        <p:tgtEl>
                                          <p:spTgt spid="1257444691"/>
                                        </p:tgtEl>
                                        <p:attrNameLst>
                                          <p:attrName>style.visibility</p:attrName>
                                        </p:attrNameLst>
                                      </p:cBhvr>
                                      <p:to>
                                        <p:strVal val="hidden"/>
                                      </p:to>
                                    </p:set>
                                  </p:childTnLst>
                                </p:cTn>
                              </p:par>
                              <p:par>
                                <p:cTn id="288" presetID="10" presetClass="entr" presetSubtype="0" fill="hold" grpId="0" nodeType="withEffect">
                                  <p:stCondLst>
                                    <p:cond delay="0"/>
                                  </p:stCondLst>
                                  <p:childTnLst>
                                    <p:set>
                                      <p:cBhvr>
                                        <p:cTn id="289" dur="1" fill="hold">
                                          <p:stCondLst>
                                            <p:cond delay="0"/>
                                          </p:stCondLst>
                                        </p:cTn>
                                        <p:tgtEl>
                                          <p:spTgt spid="1689616869"/>
                                        </p:tgtEl>
                                        <p:attrNameLst>
                                          <p:attrName>style.visibility</p:attrName>
                                        </p:attrNameLst>
                                      </p:cBhvr>
                                      <p:to>
                                        <p:strVal val="visible"/>
                                      </p:to>
                                    </p:set>
                                    <p:animEffect transition="in" filter="fade">
                                      <p:cBhvr>
                                        <p:cTn id="290" dur="500"/>
                                        <p:tgtEl>
                                          <p:spTgt spid="1689616869"/>
                                        </p:tgtEl>
                                      </p:cBhvr>
                                    </p:animEffec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1024148636"/>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22" presetClass="entr" presetSubtype="8" fill="hold" grpId="0" nodeType="clickEffect">
                                  <p:stCondLst>
                                    <p:cond delay="0"/>
                                  </p:stCondLst>
                                  <p:childTnLst>
                                    <p:set>
                                      <p:cBhvr>
                                        <p:cTn id="298" dur="1" fill="hold">
                                          <p:stCondLst>
                                            <p:cond delay="0"/>
                                          </p:stCondLst>
                                        </p:cTn>
                                        <p:tgtEl>
                                          <p:spTgt spid="419278113"/>
                                        </p:tgtEl>
                                        <p:attrNameLst>
                                          <p:attrName>style.visibility</p:attrName>
                                        </p:attrNameLst>
                                      </p:cBhvr>
                                      <p:to>
                                        <p:strVal val="visible"/>
                                      </p:to>
                                    </p:set>
                                    <p:animEffect transition="in" filter="wipe(left)">
                                      <p:cBhvr>
                                        <p:cTn id="299" dur="500"/>
                                        <p:tgtEl>
                                          <p:spTgt spid="419278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404532" grpId="0"/>
      <p:bldP spid="1062434566" grpId="0"/>
      <p:bldP spid="1062434566" grpId="1"/>
      <p:bldP spid="1062434566" grpId="2"/>
      <p:bldP spid="1062434566" grpId="3"/>
      <p:bldP spid="362681306" grpId="0"/>
      <p:bldP spid="362681306" grpId="1"/>
      <p:bldP spid="362681306" grpId="2"/>
      <p:bldP spid="362681306" grpId="3"/>
      <p:bldP spid="362681306" grpId="4"/>
      <p:bldP spid="362681306" grpId="5"/>
      <p:bldP spid="362681306" grpId="6"/>
      <p:bldP spid="362681306" grpId="7"/>
      <p:bldP spid="1362047272" grpId="0"/>
      <p:bldP spid="1362047272" grpId="1"/>
      <p:bldP spid="1178292863" grpId="0"/>
      <p:bldP spid="834202075" grpId="0"/>
      <p:bldP spid="834202075" grpId="1"/>
      <p:bldP spid="1257444691" grpId="0"/>
      <p:bldP spid="1257444691" grpId="1"/>
      <p:bldP spid="1437073006" grpId="0"/>
      <p:bldP spid="1437073006" grpId="1"/>
      <p:bldP spid="361610311" grpId="0"/>
      <p:bldP spid="361610311" grpId="1"/>
      <p:bldP spid="301043633" grpId="0"/>
      <p:bldP spid="198391384" grpId="0"/>
      <p:bldP spid="536069593" grpId="0"/>
      <p:bldP spid="470445090" grpId="0"/>
      <p:bldP spid="866017627" grpId="0" animBg="1"/>
      <p:bldP spid="866017627" grpId="1" animBg="1"/>
      <p:bldP spid="1664206286" grpId="0"/>
      <p:bldP spid="1664206286" grpId="1"/>
      <p:bldP spid="739590246" grpId="0"/>
      <p:bldP spid="739590246" grpId="1"/>
      <p:bldP spid="1849706074" grpId="0"/>
      <p:bldP spid="1849706074" grpId="1"/>
      <p:bldP spid="214276525" grpId="0"/>
      <p:bldP spid="214276525" grpId="1"/>
      <p:bldP spid="1851408015" grpId="0"/>
      <p:bldP spid="1851408015" grpId="1"/>
      <p:bldP spid="1254352319" grpId="0"/>
      <p:bldP spid="789933896" grpId="0"/>
      <p:bldP spid="380508203" grpId="0"/>
      <p:bldP spid="437005403" grpId="0"/>
      <p:bldP spid="1313239150" grpId="0" animBg="1"/>
      <p:bldP spid="1394468846" grpId="0" animBg="1"/>
      <p:bldP spid="1004407458" grpId="0" animBg="1"/>
      <p:bldP spid="91699009" grpId="0" animBg="1"/>
      <p:bldP spid="712129666" grpId="0"/>
      <p:bldP spid="1175765447" grpId="0"/>
      <p:bldP spid="1991439680" grpId="0"/>
      <p:bldP spid="243920884" grpId="0" animBg="1"/>
      <p:bldP spid="243920884" grpId="1" animBg="1"/>
      <p:bldP spid="1864099762" grpId="0"/>
      <p:bldP spid="1864099762" grpId="1"/>
      <p:bldP spid="1014742356" grpId="0"/>
      <p:bldP spid="1014742356" grpId="1"/>
      <p:bldP spid="1458929388" grpId="0"/>
      <p:bldP spid="2127652818" grpId="0"/>
      <p:bldP spid="1395339289" grpId="0"/>
      <p:bldP spid="656309728" grpId="0"/>
      <p:bldP spid="1671094696" grpId="0" animBg="1"/>
      <p:bldP spid="1671094696" grpId="1" animBg="1"/>
      <p:bldP spid="521449517" grpId="0"/>
      <p:bldP spid="521449517" grpId="1"/>
      <p:bldP spid="1066477890" grpId="0"/>
      <p:bldP spid="1066477890" grpId="1"/>
      <p:bldP spid="535434243" grpId="0"/>
      <p:bldP spid="877454966" grpId="0"/>
      <p:bldP spid="1290378103" grpId="0"/>
      <p:bldP spid="1796184281" grpId="0"/>
      <p:bldP spid="1236684929" grpId="0"/>
      <p:bldP spid="1689616869" grpId="0"/>
      <p:bldP spid="1024148636" grpId="0"/>
      <p:bldP spid="419278113"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2682126" name="Title 1"/>
          <p:cNvSpPr>
            <a:spLocks noGrp="1"/>
          </p:cNvSpPr>
          <p:nvPr>
            <p:ph type="title"/>
          </p:nvPr>
        </p:nvSpPr>
        <p:spPr bwMode="auto"/>
        <p:txBody>
          <a:bodyPr/>
          <a:lstStyle/>
          <a:p>
            <a:pPr>
              <a:defRPr/>
            </a:pPr>
            <a:r>
              <a:rPr lang="en-US"/>
              <a:t>DQueue</a:t>
            </a:r>
            <a:endParaRPr lang="en-US"/>
          </a:p>
        </p:txBody>
      </p:sp>
      <p:sp>
        <p:nvSpPr>
          <p:cNvPr id="233439742" name="Content Placeholder 2"/>
          <p:cNvSpPr>
            <a:spLocks noGrp="1"/>
          </p:cNvSpPr>
          <p:nvPr>
            <p:ph idx="1"/>
          </p:nvPr>
        </p:nvSpPr>
        <p:spPr bwMode="auto"/>
        <p:txBody>
          <a:bodyPr/>
          <a:lstStyle/>
          <a:p>
            <a:pPr>
              <a:defRPr/>
            </a:pPr>
            <a:r>
              <a:rPr lang="en-IN"/>
              <a:t>A </a:t>
            </a:r>
            <a:r>
              <a:rPr lang="en-IN" b="1">
                <a:solidFill>
                  <a:srgbClr val="C00000"/>
                </a:solidFill>
              </a:rPr>
              <a:t>DQueue</a:t>
            </a:r>
            <a:r>
              <a:rPr lang="en-IN" b="1">
                <a:solidFill>
                  <a:srgbClr val="C00000"/>
                </a:solidFill>
              </a:rPr>
              <a:t> (double ended queue)</a:t>
            </a:r>
            <a:r>
              <a:rPr lang="en-IN" b="1">
                <a:solidFill>
                  <a:srgbClr val="FF0000"/>
                </a:solidFill>
              </a:rPr>
              <a:t> </a:t>
            </a:r>
            <a:r>
              <a:rPr lang="en-IN"/>
              <a:t>is a linear list in which insertion and deletion are performed </a:t>
            </a:r>
            <a:r>
              <a:rPr lang="en-IN" b="1">
                <a:solidFill>
                  <a:srgbClr val="C00000"/>
                </a:solidFill>
              </a:rPr>
              <a:t>from the either end of the structure</a:t>
            </a:r>
            <a:r>
              <a:rPr lang="en-IN"/>
              <a:t>.</a:t>
            </a:r>
            <a:endParaRPr/>
          </a:p>
          <a:p>
            <a:pPr>
              <a:defRPr/>
            </a:pPr>
            <a:r>
              <a:rPr lang="en-IN"/>
              <a:t>There are two variations of </a:t>
            </a:r>
            <a:r>
              <a:rPr lang="en-IN"/>
              <a:t>Dqueue</a:t>
            </a:r>
            <a:endParaRPr lang="en-IN"/>
          </a:p>
          <a:p>
            <a:pPr lvl="1">
              <a:buClr>
                <a:schemeClr val="tx1"/>
              </a:buClr>
              <a:defRPr/>
            </a:pPr>
            <a:r>
              <a:rPr lang="en-IN" b="1" i="1">
                <a:solidFill>
                  <a:srgbClr val="C00000"/>
                </a:solidFill>
              </a:rPr>
              <a:t>Input restricted </a:t>
            </a:r>
            <a:r>
              <a:rPr lang="en-IN" b="1" i="1">
                <a:solidFill>
                  <a:srgbClr val="C00000"/>
                </a:solidFill>
              </a:rPr>
              <a:t>dqueue</a:t>
            </a:r>
            <a:r>
              <a:rPr lang="en-IN" b="1" i="1">
                <a:solidFill>
                  <a:srgbClr val="FF0000"/>
                </a:solidFill>
              </a:rPr>
              <a:t> </a:t>
            </a:r>
            <a:r>
              <a:rPr lang="en-IN"/>
              <a:t>– allows insertion at only one end</a:t>
            </a:r>
            <a:endParaRPr/>
          </a:p>
          <a:p>
            <a:pPr lvl="1">
              <a:buClr>
                <a:schemeClr val="tx1"/>
              </a:buClr>
              <a:defRPr/>
            </a:pPr>
            <a:r>
              <a:rPr lang="en-IN" b="1" i="1">
                <a:solidFill>
                  <a:srgbClr val="C00000"/>
                </a:solidFill>
              </a:rPr>
              <a:t>Output restricted </a:t>
            </a:r>
            <a:r>
              <a:rPr lang="en-IN" b="1" i="1">
                <a:solidFill>
                  <a:srgbClr val="C00000"/>
                </a:solidFill>
              </a:rPr>
              <a:t>dqueue</a:t>
            </a:r>
            <a:r>
              <a:rPr lang="en-IN" b="1" i="1">
                <a:solidFill>
                  <a:srgbClr val="FF0000"/>
                </a:solidFill>
              </a:rPr>
              <a:t> </a:t>
            </a:r>
            <a:r>
              <a:rPr lang="en-IN"/>
              <a:t>– allows deletion from only one end</a:t>
            </a:r>
            <a:endParaRPr/>
          </a:p>
          <a:p>
            <a:pPr>
              <a:defRPr/>
            </a:pPr>
            <a:endParaRPr lang="en-IN"/>
          </a:p>
          <a:p>
            <a:pPr>
              <a:defRPr/>
            </a:pPr>
            <a:endParaRPr lang="en-IN"/>
          </a:p>
          <a:p>
            <a:pPr>
              <a:defRPr/>
            </a:pPr>
            <a:r>
              <a:rPr lang="en-IN"/>
              <a:t>Dqueue</a:t>
            </a:r>
            <a:r>
              <a:rPr lang="en-IN"/>
              <a:t> Algorithms</a:t>
            </a:r>
            <a:endParaRPr/>
          </a:p>
          <a:p>
            <a:pPr lvl="1">
              <a:defRPr/>
            </a:pPr>
            <a:r>
              <a:rPr lang="en-IN"/>
              <a:t>DQINSERT_REAR is same as QINSERT (</a:t>
            </a:r>
            <a:r>
              <a:rPr lang="en-IN"/>
              <a:t>Enqueue</a:t>
            </a:r>
            <a:r>
              <a:rPr lang="en-IN"/>
              <a:t>)</a:t>
            </a:r>
            <a:endParaRPr/>
          </a:p>
          <a:p>
            <a:pPr lvl="1">
              <a:defRPr/>
            </a:pPr>
            <a:r>
              <a:rPr lang="en-IN"/>
              <a:t>DQDELETE_FRONT is same as QDELETE (</a:t>
            </a:r>
            <a:r>
              <a:rPr lang="en-IN"/>
              <a:t>Dequeue</a:t>
            </a:r>
            <a:r>
              <a:rPr lang="en-IN"/>
              <a:t>)</a:t>
            </a:r>
            <a:endParaRPr/>
          </a:p>
          <a:p>
            <a:pPr lvl="1">
              <a:defRPr/>
            </a:pPr>
            <a:r>
              <a:rPr lang="en-IN"/>
              <a:t>DQINSERT_FRONT </a:t>
            </a:r>
            <a:endParaRPr/>
          </a:p>
          <a:p>
            <a:pPr lvl="1">
              <a:defRPr/>
            </a:pPr>
            <a:r>
              <a:rPr lang="en-IN"/>
              <a:t>DQDELETE_REAR</a:t>
            </a:r>
            <a:endParaRPr/>
          </a:p>
          <a:p>
            <a:pPr marL="0" indent="0">
              <a:buClr>
                <a:schemeClr val="tx1"/>
              </a:buClr>
              <a:buNone/>
              <a:defRPr/>
            </a:pPr>
            <a:endParaRPr lang="en-IN"/>
          </a:p>
        </p:txBody>
      </p:sp>
      <p:grpSp>
        <p:nvGrpSpPr>
          <p:cNvPr id="1147146801" name="Group 3"/>
          <p:cNvGrpSpPr/>
          <p:nvPr/>
        </p:nvGrpSpPr>
        <p:grpSpPr bwMode="auto">
          <a:xfrm>
            <a:off x="6426200" y="3467100"/>
            <a:ext cx="4081670" cy="533400"/>
            <a:chOff x="2286000" y="5257800"/>
            <a:chExt cx="4081670" cy="533400"/>
          </a:xfrm>
        </p:grpSpPr>
        <p:grpSp>
          <p:nvGrpSpPr>
            <p:cNvPr id="5" name="Group 4"/>
            <p:cNvGrpSpPr/>
            <p:nvPr/>
          </p:nvGrpSpPr>
          <p:grpSpPr bwMode="auto">
            <a:xfrm>
              <a:off x="2286000" y="5257800"/>
              <a:ext cx="4081670" cy="533400"/>
              <a:chOff x="2286000" y="5486400"/>
              <a:chExt cx="4081670" cy="533400"/>
            </a:xfrm>
          </p:grpSpPr>
          <p:cxnSp>
            <p:nvCxnSpPr>
              <p:cNvPr id="26" name="Straight Connector 25"/>
              <p:cNvCxnSpPr/>
              <p:nvPr/>
            </p:nvCxnSpPr>
            <p:spPr bwMode="auto">
              <a:xfrm>
                <a:off x="2286000" y="54864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bwMode="auto">
              <a:xfrm>
                <a:off x="2286000" y="60198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grpSp>
        <p:grpSp>
          <p:nvGrpSpPr>
            <p:cNvPr id="6" name="Group 5"/>
            <p:cNvGrpSpPr/>
            <p:nvPr/>
          </p:nvGrpSpPr>
          <p:grpSpPr bwMode="auto">
            <a:xfrm>
              <a:off x="5153960" y="5257800"/>
              <a:ext cx="533400" cy="533400"/>
              <a:chOff x="1600200" y="5486400"/>
              <a:chExt cx="533400" cy="533400"/>
            </a:xfrm>
          </p:grpSpPr>
          <p:sp>
            <p:nvSpPr>
              <p:cNvPr id="23" name="Rectangle 22"/>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cxnSp>
            <p:nvCxnSpPr>
              <p:cNvPr id="24" name="Straight Connector 23"/>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5" name="Straight Connector 24"/>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7" name="Group 6"/>
            <p:cNvGrpSpPr/>
            <p:nvPr/>
          </p:nvGrpSpPr>
          <p:grpSpPr bwMode="auto">
            <a:xfrm>
              <a:off x="4614696" y="5257800"/>
              <a:ext cx="533400" cy="533400"/>
              <a:chOff x="1600200" y="5486400"/>
              <a:chExt cx="533400" cy="533400"/>
            </a:xfrm>
          </p:grpSpPr>
          <p:sp>
            <p:nvSpPr>
              <p:cNvPr id="20" name="Rectangle 19"/>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cxnSp>
            <p:nvCxnSpPr>
              <p:cNvPr id="21" name="Straight Connector 20"/>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8" name="Group 7"/>
            <p:cNvGrpSpPr/>
            <p:nvPr/>
          </p:nvGrpSpPr>
          <p:grpSpPr bwMode="auto">
            <a:xfrm>
              <a:off x="4071248" y="5257800"/>
              <a:ext cx="533400" cy="533400"/>
              <a:chOff x="1600200" y="5486400"/>
              <a:chExt cx="533400" cy="533400"/>
            </a:xfrm>
          </p:grpSpPr>
          <p:sp>
            <p:nvSpPr>
              <p:cNvPr id="17" name="Rectangle 16"/>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cxnSp>
            <p:nvCxnSpPr>
              <p:cNvPr id="18" name="Straight Connector 17"/>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9" name="Group 8"/>
            <p:cNvGrpSpPr/>
            <p:nvPr/>
          </p:nvGrpSpPr>
          <p:grpSpPr bwMode="auto">
            <a:xfrm>
              <a:off x="3527800" y="5257800"/>
              <a:ext cx="533400" cy="533400"/>
              <a:chOff x="1600200" y="5486400"/>
              <a:chExt cx="533400" cy="533400"/>
            </a:xfrm>
          </p:grpSpPr>
          <p:sp>
            <p:nvSpPr>
              <p:cNvPr id="14" name="Rectangle 13"/>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cxnSp>
            <p:nvCxnSpPr>
              <p:cNvPr id="15" name="Straight Connector 14"/>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10" name="Group 9"/>
            <p:cNvGrpSpPr/>
            <p:nvPr/>
          </p:nvGrpSpPr>
          <p:grpSpPr bwMode="auto">
            <a:xfrm>
              <a:off x="2984352" y="5257800"/>
              <a:ext cx="533400" cy="533400"/>
              <a:chOff x="1600200" y="5486400"/>
              <a:chExt cx="533400" cy="533400"/>
            </a:xfrm>
          </p:grpSpPr>
          <p:sp>
            <p:nvSpPr>
              <p:cNvPr id="11" name="Rectangle 10"/>
              <p:cNvSpPr/>
              <p:nvPr/>
            </p:nvSpPr>
            <p:spPr bwMode="auto">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cxnSp>
            <p:nvCxnSpPr>
              <p:cNvPr id="12" name="Straight Connector 11"/>
              <p:cNvCxnSpPr/>
              <p:nvPr/>
            </p:nvCxnSpPr>
            <p:spPr bwMode="auto">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p:nvPr/>
            </p:nvCxnSpPr>
            <p:spPr bwMode="auto">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cxnSp>
        <p:nvCxnSpPr>
          <p:cNvPr id="1067146976" name="Straight Arrow Connector 30"/>
          <p:cNvCxnSpPr/>
          <p:nvPr/>
        </p:nvCxnSpPr>
        <p:spPr bwMode="auto">
          <a:xfrm flipH="1">
            <a:off x="10160000" y="3881846"/>
            <a:ext cx="9906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58194773" name="TextBox 31"/>
          <p:cNvSpPr txBox="1"/>
          <p:nvPr/>
        </p:nvSpPr>
        <p:spPr bwMode="auto">
          <a:xfrm>
            <a:off x="11158709" y="3709571"/>
            <a:ext cx="1080000" cy="369332"/>
          </a:xfrm>
          <a:prstGeom prst="rect">
            <a:avLst/>
          </a:prstGeom>
          <a:noFill/>
        </p:spPr>
        <p:txBody>
          <a:bodyPr wrap="square" rtlCol="0">
            <a:spAutoFit/>
          </a:bodyPr>
          <a:lstStyle/>
          <a:p>
            <a:pPr>
              <a:defRPr/>
            </a:pPr>
            <a:r>
              <a:rPr lang="en-IN" b="1"/>
              <a:t>Insertion</a:t>
            </a:r>
            <a:endParaRPr lang="en-US" b="1"/>
          </a:p>
        </p:txBody>
      </p:sp>
      <p:cxnSp>
        <p:nvCxnSpPr>
          <p:cNvPr id="1685429720" name="Straight Arrow Connector 32"/>
          <p:cNvCxnSpPr/>
          <p:nvPr/>
        </p:nvCxnSpPr>
        <p:spPr bwMode="auto">
          <a:xfrm flipH="1">
            <a:off x="5845060" y="3892397"/>
            <a:ext cx="9906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692041116" name="TextBox 33"/>
          <p:cNvSpPr txBox="1"/>
          <p:nvPr/>
        </p:nvSpPr>
        <p:spPr bwMode="auto">
          <a:xfrm>
            <a:off x="4693805" y="3717474"/>
            <a:ext cx="1080000" cy="369332"/>
          </a:xfrm>
          <a:prstGeom prst="rect">
            <a:avLst/>
          </a:prstGeom>
          <a:noFill/>
        </p:spPr>
        <p:txBody>
          <a:bodyPr wrap="square" rtlCol="0">
            <a:spAutoFit/>
          </a:bodyPr>
          <a:lstStyle/>
          <a:p>
            <a:pPr>
              <a:defRPr/>
            </a:pPr>
            <a:r>
              <a:rPr lang="en-IN" b="1"/>
              <a:t>Deletion</a:t>
            </a:r>
            <a:endParaRPr lang="en-US" b="1"/>
          </a:p>
        </p:txBody>
      </p:sp>
      <p:grpSp>
        <p:nvGrpSpPr>
          <p:cNvPr id="779204090" name="Group 34"/>
          <p:cNvGrpSpPr/>
          <p:nvPr/>
        </p:nvGrpSpPr>
        <p:grpSpPr bwMode="auto">
          <a:xfrm>
            <a:off x="9254403" y="4038600"/>
            <a:ext cx="612914" cy="640378"/>
            <a:chOff x="5119632" y="5829300"/>
            <a:chExt cx="612914" cy="640378"/>
          </a:xfrm>
        </p:grpSpPr>
        <p:sp>
          <p:nvSpPr>
            <p:cNvPr id="36" name="TextBox 35"/>
            <p:cNvSpPr txBox="1"/>
            <p:nvPr/>
          </p:nvSpPr>
          <p:spPr bwMode="auto">
            <a:xfrm>
              <a:off x="5119632" y="6100346"/>
              <a:ext cx="612914" cy="369332"/>
            </a:xfrm>
            <a:prstGeom prst="rect">
              <a:avLst/>
            </a:prstGeom>
            <a:noFill/>
          </p:spPr>
          <p:txBody>
            <a:bodyPr wrap="square" rtlCol="0">
              <a:spAutoFit/>
            </a:bodyPr>
            <a:lstStyle/>
            <a:p>
              <a:pPr algn="ctr">
                <a:defRPr/>
              </a:pPr>
              <a:r>
                <a:rPr lang="en-IN" b="1"/>
                <a:t>Rear</a:t>
              </a:r>
              <a:endParaRPr lang="en-US" b="1"/>
            </a:p>
          </p:txBody>
        </p:sp>
        <p:cxnSp>
          <p:nvCxnSpPr>
            <p:cNvPr id="37" name="Straight Arrow Connector 36"/>
            <p:cNvCxnSpPr>
              <a:stCxn id="36" idx="0"/>
            </p:cNvCxnSpPr>
            <p:nvPr/>
          </p:nvCxnSpPr>
          <p:spPr bwMode="auto">
            <a:xfrm flipH="1" flipV="1">
              <a:off x="5420661" y="5829300"/>
              <a:ext cx="5428" cy="27104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294949952" name="Straight Arrow Connector 38"/>
          <p:cNvCxnSpPr/>
          <p:nvPr/>
        </p:nvCxnSpPr>
        <p:spPr bwMode="auto">
          <a:xfrm>
            <a:off x="5833126" y="3619500"/>
            <a:ext cx="1002535" cy="0"/>
          </a:xfrm>
          <a:prstGeom prst="straightConnector1">
            <a:avLst/>
          </a:prstGeom>
          <a:ln w="28575">
            <a:solidFill>
              <a:schemeClr val="tx2">
                <a:lumMod val="75000"/>
              </a:schemeClr>
            </a:solidFill>
            <a:tailEnd type="arrow"/>
          </a:ln>
        </p:spPr>
        <p:style>
          <a:lnRef idx="2">
            <a:schemeClr val="accent6"/>
          </a:lnRef>
          <a:fillRef idx="0">
            <a:schemeClr val="accent6"/>
          </a:fillRef>
          <a:effectRef idx="1">
            <a:schemeClr val="accent6"/>
          </a:effectRef>
          <a:fontRef idx="minor">
            <a:schemeClr val="tx1"/>
          </a:fontRef>
        </p:style>
      </p:cxnSp>
      <p:sp>
        <p:nvSpPr>
          <p:cNvPr id="1667338640" name="TextBox 39"/>
          <p:cNvSpPr txBox="1"/>
          <p:nvPr/>
        </p:nvSpPr>
        <p:spPr bwMode="auto">
          <a:xfrm>
            <a:off x="4693805" y="3416300"/>
            <a:ext cx="1080000" cy="369332"/>
          </a:xfrm>
          <a:prstGeom prst="rect">
            <a:avLst/>
          </a:prstGeom>
          <a:noFill/>
        </p:spPr>
        <p:txBody>
          <a:bodyPr wrap="square" rtlCol="0">
            <a:spAutoFit/>
          </a:bodyPr>
          <a:lstStyle/>
          <a:p>
            <a:pPr>
              <a:defRPr/>
            </a:pPr>
            <a:r>
              <a:rPr lang="en-IN" b="1">
                <a:solidFill>
                  <a:schemeClr val="accent5">
                    <a:lumMod val="75000"/>
                  </a:schemeClr>
                </a:solidFill>
              </a:rPr>
              <a:t>Insertion</a:t>
            </a:r>
            <a:endParaRPr lang="en-US" b="1">
              <a:solidFill>
                <a:schemeClr val="accent5">
                  <a:lumMod val="75000"/>
                </a:schemeClr>
              </a:solidFill>
            </a:endParaRPr>
          </a:p>
        </p:txBody>
      </p:sp>
      <p:cxnSp>
        <p:nvCxnSpPr>
          <p:cNvPr id="18099337" name="Straight Arrow Connector 40"/>
          <p:cNvCxnSpPr/>
          <p:nvPr/>
        </p:nvCxnSpPr>
        <p:spPr bwMode="auto">
          <a:xfrm>
            <a:off x="10160000" y="3619500"/>
            <a:ext cx="1002535" cy="0"/>
          </a:xfrm>
          <a:prstGeom prst="straightConnector1">
            <a:avLst/>
          </a:prstGeom>
          <a:ln w="28575">
            <a:solidFill>
              <a:schemeClr val="tx2">
                <a:lumMod val="75000"/>
              </a:schemeClr>
            </a:solidFill>
            <a:tailEnd type="arrow"/>
          </a:ln>
        </p:spPr>
        <p:style>
          <a:lnRef idx="2">
            <a:schemeClr val="accent6"/>
          </a:lnRef>
          <a:fillRef idx="0">
            <a:schemeClr val="accent6"/>
          </a:fillRef>
          <a:effectRef idx="1">
            <a:schemeClr val="accent6"/>
          </a:effectRef>
          <a:fontRef idx="minor">
            <a:schemeClr val="tx1"/>
          </a:fontRef>
        </p:style>
      </p:cxnSp>
      <p:sp>
        <p:nvSpPr>
          <p:cNvPr id="424359835" name="TextBox 41"/>
          <p:cNvSpPr txBox="1"/>
          <p:nvPr/>
        </p:nvSpPr>
        <p:spPr bwMode="auto">
          <a:xfrm>
            <a:off x="11158709" y="3467100"/>
            <a:ext cx="1080000" cy="369332"/>
          </a:xfrm>
          <a:prstGeom prst="rect">
            <a:avLst/>
          </a:prstGeom>
          <a:noFill/>
        </p:spPr>
        <p:txBody>
          <a:bodyPr wrap="square" rtlCol="0">
            <a:spAutoFit/>
          </a:bodyPr>
          <a:lstStyle/>
          <a:p>
            <a:pPr>
              <a:defRPr/>
            </a:pPr>
            <a:r>
              <a:rPr lang="en-IN" b="1">
                <a:solidFill>
                  <a:schemeClr val="accent5">
                    <a:lumMod val="75000"/>
                  </a:schemeClr>
                </a:solidFill>
              </a:rPr>
              <a:t>Deletion</a:t>
            </a:r>
            <a:endParaRPr lang="en-US" b="1">
              <a:solidFill>
                <a:schemeClr val="accent5">
                  <a:lumMod val="75000"/>
                </a:schemeClr>
              </a:solidFill>
            </a:endParaRPr>
          </a:p>
        </p:txBody>
      </p:sp>
      <p:grpSp>
        <p:nvGrpSpPr>
          <p:cNvPr id="763722999" name="Group 44"/>
          <p:cNvGrpSpPr/>
          <p:nvPr/>
        </p:nvGrpSpPr>
        <p:grpSpPr bwMode="auto">
          <a:xfrm>
            <a:off x="7046260" y="4000332"/>
            <a:ext cx="689983" cy="674300"/>
            <a:chOff x="7046260" y="4000332"/>
            <a:chExt cx="689983" cy="674300"/>
          </a:xfrm>
        </p:grpSpPr>
        <p:sp>
          <p:nvSpPr>
            <p:cNvPr id="29" name="TextBox 28"/>
            <p:cNvSpPr txBox="1"/>
            <p:nvPr/>
          </p:nvSpPr>
          <p:spPr bwMode="auto">
            <a:xfrm>
              <a:off x="7046260" y="4305300"/>
              <a:ext cx="689983" cy="369332"/>
            </a:xfrm>
            <a:prstGeom prst="rect">
              <a:avLst/>
            </a:prstGeom>
            <a:noFill/>
          </p:spPr>
          <p:txBody>
            <a:bodyPr wrap="square" rtlCol="0">
              <a:spAutoFit/>
            </a:bodyPr>
            <a:lstStyle/>
            <a:p>
              <a:pPr algn="ctr">
                <a:defRPr/>
              </a:pPr>
              <a:r>
                <a:rPr lang="en-IN" b="1"/>
                <a:t>Front</a:t>
              </a:r>
              <a:endParaRPr lang="en-US" b="1"/>
            </a:p>
          </p:txBody>
        </p:sp>
        <p:cxnSp>
          <p:nvCxnSpPr>
            <p:cNvPr id="43" name="Straight Arrow Connector 42"/>
            <p:cNvCxnSpPr>
              <a:stCxn id="29" idx="0"/>
            </p:cNvCxnSpPr>
            <p:nvPr/>
          </p:nvCxnSpPr>
          <p:spPr bwMode="auto">
            <a:xfrm flipV="1">
              <a:off x="7391252" y="4000332"/>
              <a:ext cx="0" cy="3049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34397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714680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92040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671469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81947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920411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854297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637229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73386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49499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0993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43598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3439742">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3439742">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343974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3439742">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33439742">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3439742">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3343974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3343974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194773" grpId="0"/>
      <p:bldP spid="1692041116" grpId="0"/>
      <p:bldP spid="1667338640" grpId="0"/>
      <p:bldP spid="424359835" grpId="0"/>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6658777" name="Title 3"/>
          <p:cNvSpPr>
            <a:spLocks noGrp="1"/>
          </p:cNvSpPr>
          <p:nvPr>
            <p:ph type="title"/>
          </p:nvPr>
        </p:nvSpPr>
        <p:spPr bwMode="auto"/>
        <p:txBody>
          <a:bodyPr/>
          <a:lstStyle/>
          <a:p>
            <a:pPr>
              <a:defRPr/>
            </a:pPr>
            <a:r>
              <a:rPr lang="en-US"/>
              <a:t>Double Ended Queue - Operations</a:t>
            </a:r>
            <a:endParaRPr/>
          </a:p>
        </p:txBody>
      </p:sp>
      <p:sp>
        <p:nvSpPr>
          <p:cNvPr id="1407933922" name="Text Placeholder 4"/>
          <p:cNvSpPr>
            <a:spLocks noGrp="1"/>
          </p:cNvSpPr>
          <p:nvPr>
            <p:ph type="body" idx="1"/>
          </p:nvPr>
        </p:nvSpPr>
        <p:spPr bwMode="auto"/>
        <p:txBody>
          <a:bodyPr>
            <a:normAutofit fontScale="92500" lnSpcReduction="20000"/>
          </a:bodyPr>
          <a:lstStyle/>
          <a:p>
            <a:pPr>
              <a:defRPr/>
            </a:pPr>
            <a:r>
              <a:rPr lang="en-US">
                <a:solidFill>
                  <a:srgbClr val="0070C0"/>
                </a:solidFill>
              </a:rPr>
              <a:t>DQINSERT_REAR  (ENQUEUE)</a:t>
            </a:r>
            <a:endParaRPr/>
          </a:p>
          <a:p>
            <a:pPr>
              <a:defRPr/>
            </a:pPr>
            <a:r>
              <a:rPr lang="en-US">
                <a:solidFill>
                  <a:srgbClr val="0070C0"/>
                </a:solidFill>
              </a:rPr>
              <a:t>DQINSERT_FRONT </a:t>
            </a:r>
            <a:endParaRPr/>
          </a:p>
          <a:p>
            <a:pPr>
              <a:defRPr/>
            </a:pPr>
            <a:r>
              <a:rPr lang="en-US">
                <a:solidFill>
                  <a:srgbClr val="0070C0"/>
                </a:solidFill>
              </a:rPr>
              <a:t>DQDELETE_FRONT (DEQUEUE)</a:t>
            </a:r>
            <a:endParaRPr/>
          </a:p>
          <a:p>
            <a:pPr>
              <a:defRPr/>
            </a:pPr>
            <a:r>
              <a:rPr lang="en-US">
                <a:solidFill>
                  <a:srgbClr val="0070C0"/>
                </a:solidFill>
              </a:rPr>
              <a:t>DQDELETE_REAR</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407933922">
                                            <p:txEl>
                                              <p:pRg st="0" end="0"/>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407933922">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227128" name="Title 1"/>
          <p:cNvSpPr>
            <a:spLocks noGrp="1"/>
          </p:cNvSpPr>
          <p:nvPr>
            <p:ph type="title"/>
          </p:nvPr>
        </p:nvSpPr>
        <p:spPr bwMode="auto"/>
        <p:txBody>
          <a:bodyPr>
            <a:normAutofit/>
          </a:bodyPr>
          <a:lstStyle/>
          <a:p>
            <a:pPr>
              <a:defRPr/>
            </a:pPr>
            <a:r>
              <a:rPr lang="en-IN"/>
              <a:t>Procedure: DQINSERT_FRONT (Q,F,R,N,Y)</a:t>
            </a:r>
            <a:endParaRPr lang="en-US"/>
          </a:p>
        </p:txBody>
      </p:sp>
      <p:sp>
        <p:nvSpPr>
          <p:cNvPr id="903529632" name="Content Placeholder 2"/>
          <p:cNvSpPr>
            <a:spLocks noGrp="1"/>
          </p:cNvSpPr>
          <p:nvPr>
            <p:ph idx="1"/>
          </p:nvPr>
        </p:nvSpPr>
        <p:spPr bwMode="auto"/>
        <p:txBody>
          <a:bodyPr/>
          <a:lstStyle/>
          <a:p>
            <a:pPr>
              <a:defRPr/>
            </a:pPr>
            <a:r>
              <a:rPr lang="en-IN"/>
              <a:t>This procedure </a:t>
            </a:r>
            <a:r>
              <a:rPr lang="en-IN" b="1">
                <a:solidFill>
                  <a:srgbClr val="C00000"/>
                </a:solidFill>
              </a:rPr>
              <a:t>inserts</a:t>
            </a:r>
            <a:r>
              <a:rPr lang="en-IN">
                <a:solidFill>
                  <a:srgbClr val="C00000"/>
                </a:solidFill>
              </a:rPr>
              <a:t> </a:t>
            </a:r>
            <a:r>
              <a:rPr lang="en-IN" b="1">
                <a:solidFill>
                  <a:srgbClr val="C00000"/>
                </a:solidFill>
              </a:rPr>
              <a:t>Y</a:t>
            </a:r>
            <a:r>
              <a:rPr lang="en-IN"/>
              <a:t> at </a:t>
            </a:r>
            <a:r>
              <a:rPr lang="en-IN" b="1">
                <a:solidFill>
                  <a:srgbClr val="C00000"/>
                </a:solidFill>
              </a:rPr>
              <a:t>front</a:t>
            </a:r>
            <a:r>
              <a:rPr lang="en-IN">
                <a:solidFill>
                  <a:srgbClr val="C00000"/>
                </a:solidFill>
              </a:rPr>
              <a:t> </a:t>
            </a:r>
            <a:r>
              <a:rPr lang="en-IN"/>
              <a:t>end of the Circular Queue.</a:t>
            </a:r>
            <a:endParaRPr/>
          </a:p>
          <a:p>
            <a:pPr>
              <a:defRPr/>
            </a:pPr>
            <a:r>
              <a:rPr lang="en-IN"/>
              <a:t>Queue is represented by a vector </a:t>
            </a:r>
            <a:r>
              <a:rPr lang="en-IN" b="1">
                <a:solidFill>
                  <a:srgbClr val="C00000"/>
                </a:solidFill>
              </a:rPr>
              <a:t>Q</a:t>
            </a:r>
            <a:r>
              <a:rPr lang="en-IN">
                <a:solidFill>
                  <a:srgbClr val="C00000"/>
                </a:solidFill>
              </a:rPr>
              <a:t> </a:t>
            </a:r>
            <a:r>
              <a:rPr lang="en-IN"/>
              <a:t>containing </a:t>
            </a:r>
            <a:r>
              <a:rPr lang="en-IN" b="1">
                <a:solidFill>
                  <a:srgbClr val="C00000"/>
                </a:solidFill>
              </a:rPr>
              <a:t>N</a:t>
            </a:r>
            <a:r>
              <a:rPr lang="en-IN">
                <a:solidFill>
                  <a:srgbClr val="C00000"/>
                </a:solidFill>
              </a:rPr>
              <a:t> </a:t>
            </a:r>
            <a:r>
              <a:rPr lang="en-IN"/>
              <a:t>elements.</a:t>
            </a:r>
            <a:endParaRPr/>
          </a:p>
          <a:p>
            <a:pPr>
              <a:defRPr/>
            </a:pPr>
            <a:r>
              <a:rPr lang="en-IN" b="1">
                <a:solidFill>
                  <a:srgbClr val="C00000"/>
                </a:solidFill>
              </a:rPr>
              <a:t>F</a:t>
            </a:r>
            <a:r>
              <a:rPr lang="en-IN">
                <a:solidFill>
                  <a:srgbClr val="C00000"/>
                </a:solidFill>
              </a:rPr>
              <a:t> </a:t>
            </a:r>
            <a:r>
              <a:rPr lang="en-IN"/>
              <a:t>is pointer to the </a:t>
            </a:r>
            <a:r>
              <a:rPr lang="en-IN" b="1">
                <a:solidFill>
                  <a:srgbClr val="C00000"/>
                </a:solidFill>
              </a:rPr>
              <a:t>front</a:t>
            </a:r>
            <a:r>
              <a:rPr lang="en-IN">
                <a:solidFill>
                  <a:srgbClr val="C00000"/>
                </a:solidFill>
              </a:rPr>
              <a:t> </a:t>
            </a:r>
            <a:r>
              <a:rPr lang="en-IN"/>
              <a:t>element of a queue.</a:t>
            </a:r>
            <a:endParaRPr/>
          </a:p>
          <a:p>
            <a:pPr>
              <a:defRPr/>
            </a:pPr>
            <a:r>
              <a:rPr lang="en-IN" b="1">
                <a:solidFill>
                  <a:srgbClr val="C00000"/>
                </a:solidFill>
              </a:rPr>
              <a:t>R</a:t>
            </a:r>
            <a:r>
              <a:rPr lang="en-IN">
                <a:solidFill>
                  <a:srgbClr val="C00000"/>
                </a:solidFill>
              </a:rPr>
              <a:t> </a:t>
            </a:r>
            <a:r>
              <a:rPr lang="en-IN"/>
              <a:t>is pointer to the </a:t>
            </a:r>
            <a:r>
              <a:rPr lang="en-IN" b="1">
                <a:solidFill>
                  <a:srgbClr val="C00000"/>
                </a:solidFill>
              </a:rPr>
              <a:t>rear</a:t>
            </a:r>
            <a:r>
              <a:rPr lang="en-IN">
                <a:solidFill>
                  <a:srgbClr val="C00000"/>
                </a:solidFill>
              </a:rPr>
              <a:t> </a:t>
            </a:r>
            <a:r>
              <a:rPr lang="en-IN"/>
              <a:t>element of a queue.</a:t>
            </a:r>
            <a:endParaRPr lang="en-US"/>
          </a:p>
        </p:txBody>
      </p:sp>
      <p:sp>
        <p:nvSpPr>
          <p:cNvPr id="1682670047" name="TextBox 3"/>
          <p:cNvSpPr txBox="1"/>
          <p:nvPr/>
        </p:nvSpPr>
        <p:spPr bwMode="auto">
          <a:xfrm>
            <a:off x="424441" y="3069608"/>
            <a:ext cx="4191000" cy="3231654"/>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000" b="1">
                <a:solidFill>
                  <a:schemeClr val="tx2"/>
                </a:solidFill>
                <a:latin typeface="Consolas"/>
                <a:cs typeface="Consolas"/>
              </a:rPr>
              <a:t>1. [Overflow?]</a:t>
            </a:r>
            <a:endParaRPr/>
          </a:p>
          <a:p>
            <a:pPr>
              <a:defRPr/>
            </a:pPr>
            <a:r>
              <a:rPr lang="en-IN" b="1">
                <a:solidFill>
                  <a:schemeClr val="tx2">
                    <a:lumMod val="75000"/>
                  </a:schemeClr>
                </a:solidFill>
                <a:latin typeface="Consolas"/>
                <a:cs typeface="Consolas"/>
              </a:rPr>
              <a:t>   If</a:t>
            </a:r>
            <a:r>
              <a:rPr lang="en-IN" b="1">
                <a:latin typeface="Consolas"/>
                <a:cs typeface="Consolas"/>
              </a:rPr>
              <a:t> 	  </a:t>
            </a:r>
            <a:r>
              <a:rPr lang="en-IN">
                <a:latin typeface="Consolas"/>
                <a:cs typeface="Consolas"/>
              </a:rPr>
              <a:t>F = 0</a:t>
            </a:r>
            <a:endParaRPr/>
          </a:p>
          <a:p>
            <a:pPr>
              <a:defRPr/>
            </a:pPr>
            <a:r>
              <a:rPr lang="en-IN" b="1">
                <a:latin typeface="Consolas"/>
                <a:cs typeface="Consolas"/>
              </a:rPr>
              <a:t>   </a:t>
            </a:r>
            <a:r>
              <a:rPr lang="en-IN" b="1">
                <a:solidFill>
                  <a:schemeClr val="tx2">
                    <a:lumMod val="75000"/>
                  </a:schemeClr>
                </a:solidFill>
                <a:latin typeface="Consolas"/>
                <a:cs typeface="Consolas"/>
              </a:rPr>
              <a:t>Then</a:t>
            </a:r>
            <a:r>
              <a:rPr lang="en-IN" b="1">
                <a:latin typeface="Consolas"/>
                <a:cs typeface="Consolas"/>
              </a:rPr>
              <a:t>  </a:t>
            </a:r>
            <a:r>
              <a:rPr lang="en-IN">
                <a:latin typeface="Consolas"/>
                <a:cs typeface="Consolas"/>
              </a:rPr>
              <a:t>Write(‘Overflow’)</a:t>
            </a:r>
            <a:endParaRPr/>
          </a:p>
          <a:p>
            <a:pPr>
              <a:defRPr/>
            </a:pPr>
            <a:r>
              <a:rPr lang="en-IN" b="1">
                <a:latin typeface="Consolas"/>
                <a:cs typeface="Consolas"/>
              </a:rPr>
              <a:t>         </a:t>
            </a:r>
            <a:r>
              <a:rPr lang="en-IN">
                <a:latin typeface="Consolas"/>
                <a:cs typeface="Consolas"/>
              </a:rPr>
              <a:t>Return</a:t>
            </a:r>
            <a:endParaRPr/>
          </a:p>
          <a:p>
            <a:pPr>
              <a:defRPr/>
            </a:pPr>
            <a:r>
              <a:rPr lang="en-IN" sz="2000" b="1">
                <a:solidFill>
                  <a:schemeClr val="tx2"/>
                </a:solidFill>
                <a:latin typeface="Consolas"/>
                <a:cs typeface="Consolas"/>
              </a:rPr>
              <a:t>2. [Update front Pointer]</a:t>
            </a:r>
            <a:endParaRPr/>
          </a:p>
          <a:p>
            <a:pPr>
              <a:defRPr/>
            </a:pPr>
            <a:r>
              <a:rPr lang="en-IN" b="1">
                <a:solidFill>
                  <a:schemeClr val="tx2">
                    <a:lumMod val="75000"/>
                  </a:schemeClr>
                </a:solidFill>
                <a:latin typeface="Consolas"/>
                <a:cs typeface="Consolas"/>
              </a:rPr>
              <a:t>   If</a:t>
            </a:r>
            <a:r>
              <a:rPr lang="en-IN" b="1">
                <a:latin typeface="Consolas"/>
                <a:cs typeface="Consolas"/>
              </a:rPr>
              <a:t> 	  </a:t>
            </a:r>
            <a:r>
              <a:rPr lang="en-IN">
                <a:latin typeface="Consolas"/>
                <a:cs typeface="Consolas"/>
              </a:rPr>
              <a:t>F = -1</a:t>
            </a:r>
            <a:endParaRPr/>
          </a:p>
          <a:p>
            <a:pPr>
              <a:defRPr/>
            </a:pPr>
            <a:r>
              <a:rPr lang="en-IN" b="1">
                <a:latin typeface="Consolas"/>
                <a:cs typeface="Consolas"/>
              </a:rPr>
              <a:t>   </a:t>
            </a:r>
            <a:r>
              <a:rPr lang="en-IN" b="1">
                <a:solidFill>
                  <a:schemeClr val="tx2">
                    <a:lumMod val="75000"/>
                  </a:schemeClr>
                </a:solidFill>
                <a:latin typeface="Consolas"/>
                <a:cs typeface="Consolas"/>
              </a:rPr>
              <a:t>Then</a:t>
            </a:r>
            <a:r>
              <a:rPr lang="en-IN" b="1">
                <a:latin typeface="Consolas"/>
                <a:cs typeface="Consolas"/>
              </a:rPr>
              <a:t>  </a:t>
            </a:r>
            <a:r>
              <a:rPr lang="en-IN">
                <a:latin typeface="Consolas"/>
                <a:cs typeface="Consolas"/>
              </a:rPr>
              <a:t>F </a:t>
            </a:r>
            <a:r>
              <a:rPr lang="en-IN">
                <a:latin typeface="Consolas"/>
                <a:cs typeface="Consolas"/>
              </a:rPr>
              <a:t> R  0</a:t>
            </a:r>
            <a:endParaRPr lang="en-IN">
              <a:latin typeface="Consolas"/>
              <a:cs typeface="Consolas"/>
            </a:endParaRPr>
          </a:p>
          <a:p>
            <a:pPr>
              <a:defRPr/>
            </a:pPr>
            <a:r>
              <a:rPr lang="en-IN" b="1">
                <a:latin typeface="Consolas"/>
                <a:cs typeface="Consolas"/>
              </a:rPr>
              <a:t>   </a:t>
            </a:r>
            <a:r>
              <a:rPr lang="en-IN" b="1">
                <a:solidFill>
                  <a:schemeClr val="tx2">
                    <a:lumMod val="75000"/>
                  </a:schemeClr>
                </a:solidFill>
                <a:latin typeface="Consolas"/>
                <a:cs typeface="Consolas"/>
              </a:rPr>
              <a:t>Else</a:t>
            </a:r>
            <a:r>
              <a:rPr lang="en-IN" b="1">
                <a:latin typeface="Consolas"/>
                <a:cs typeface="Consolas"/>
              </a:rPr>
              <a:t>  </a:t>
            </a:r>
            <a:r>
              <a:rPr lang="en-IN">
                <a:latin typeface="Consolas"/>
                <a:cs typeface="Consolas"/>
              </a:rPr>
              <a:t>F </a:t>
            </a:r>
            <a:r>
              <a:rPr lang="en-IN">
                <a:latin typeface="Consolas"/>
                <a:cs typeface="Consolas"/>
              </a:rPr>
              <a:t> F - 1</a:t>
            </a:r>
            <a:endParaRPr/>
          </a:p>
          <a:p>
            <a:pPr>
              <a:defRPr/>
            </a:pPr>
            <a:r>
              <a:rPr lang="en-IN" sz="2000" b="1">
                <a:solidFill>
                  <a:schemeClr val="tx2"/>
                </a:solidFill>
                <a:latin typeface="Consolas"/>
                <a:cs typeface="Consolas"/>
              </a:rPr>
              <a:t>3. [Insert Element]</a:t>
            </a:r>
            <a:endParaRPr/>
          </a:p>
          <a:p>
            <a:pPr>
              <a:defRPr/>
            </a:pPr>
            <a:r>
              <a:rPr lang="en-IN" b="1">
                <a:latin typeface="Consolas"/>
                <a:cs typeface="Consolas"/>
              </a:rPr>
              <a:t>   </a:t>
            </a:r>
            <a:r>
              <a:rPr lang="en-IN">
                <a:latin typeface="Consolas"/>
                <a:cs typeface="Consolas"/>
              </a:rPr>
              <a:t>Q[F] </a:t>
            </a:r>
            <a:r>
              <a:rPr lang="en-IN">
                <a:latin typeface="Consolas"/>
                <a:cs typeface="Consolas"/>
              </a:rPr>
              <a:t> Y</a:t>
            </a:r>
            <a:endParaRPr/>
          </a:p>
          <a:p>
            <a:pPr>
              <a:defRPr/>
            </a:pPr>
            <a:r>
              <a:rPr lang="en-IN">
                <a:latin typeface="Consolas"/>
                <a:cs typeface="Consolas"/>
              </a:rPr>
              <a:t>   Return </a:t>
            </a:r>
            <a:endParaRPr lang="en-IN">
              <a:latin typeface="Consolas"/>
              <a:cs typeface="Consolas"/>
            </a:endParaRPr>
          </a:p>
        </p:txBody>
      </p:sp>
      <p:grpSp>
        <p:nvGrpSpPr>
          <p:cNvPr id="998914457" name="Group 4"/>
          <p:cNvGrpSpPr/>
          <p:nvPr/>
        </p:nvGrpSpPr>
        <p:grpSpPr bwMode="auto">
          <a:xfrm>
            <a:off x="4811972" y="3612054"/>
            <a:ext cx="2655064" cy="457200"/>
            <a:chOff x="5486400" y="1219200"/>
            <a:chExt cx="2655064" cy="457200"/>
          </a:xfrm>
        </p:grpSpPr>
        <p:sp>
          <p:nvSpPr>
            <p:cNvPr id="6" name="Rectangle 5"/>
            <p:cNvSpPr/>
            <p:nvPr/>
          </p:nvSpPr>
          <p:spPr bwMode="auto">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10</a:t>
              </a:r>
              <a:endParaRPr lang="en-US" b="1"/>
            </a:p>
          </p:txBody>
        </p:sp>
        <p:sp>
          <p:nvSpPr>
            <p:cNvPr id="7" name="Rectangle 6"/>
            <p:cNvSpPr/>
            <p:nvPr/>
          </p:nvSpPr>
          <p:spPr bwMode="auto">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89</a:t>
              </a:r>
              <a:endParaRPr lang="en-US" b="1"/>
            </a:p>
          </p:txBody>
        </p:sp>
        <p:sp>
          <p:nvSpPr>
            <p:cNvPr id="8" name="Rectangle 7"/>
            <p:cNvSpPr/>
            <p:nvPr/>
          </p:nvSpPr>
          <p:spPr bwMode="auto">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7</a:t>
              </a:r>
              <a:endParaRPr lang="en-US" b="1"/>
            </a:p>
          </p:txBody>
        </p:sp>
        <p:sp>
          <p:nvSpPr>
            <p:cNvPr id="9" name="Rectangle 8"/>
            <p:cNvSpPr/>
            <p:nvPr/>
          </p:nvSpPr>
          <p:spPr bwMode="auto">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Rectangle 9"/>
            <p:cNvSpPr/>
            <p:nvPr/>
          </p:nvSpPr>
          <p:spPr bwMode="auto">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nvGrpSpPr>
          <p:cNvPr id="439146007" name="Group 10"/>
          <p:cNvGrpSpPr/>
          <p:nvPr/>
        </p:nvGrpSpPr>
        <p:grpSpPr bwMode="auto">
          <a:xfrm>
            <a:off x="4811972" y="5503202"/>
            <a:ext cx="2655064" cy="457200"/>
            <a:chOff x="5486400" y="1219200"/>
            <a:chExt cx="2655064" cy="457200"/>
          </a:xfrm>
        </p:grpSpPr>
        <p:sp>
          <p:nvSpPr>
            <p:cNvPr id="12" name="Rectangle 11"/>
            <p:cNvSpPr/>
            <p:nvPr/>
          </p:nvSpPr>
          <p:spPr bwMode="auto">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Rectangle 12"/>
            <p:cNvSpPr/>
            <p:nvPr/>
          </p:nvSpPr>
          <p:spPr bwMode="auto">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 name="Rectangle 13"/>
            <p:cNvSpPr/>
            <p:nvPr/>
          </p:nvSpPr>
          <p:spPr bwMode="auto">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10</a:t>
              </a:r>
              <a:endParaRPr lang="en-US" b="1"/>
            </a:p>
          </p:txBody>
        </p:sp>
        <p:sp>
          <p:nvSpPr>
            <p:cNvPr id="15" name="Rectangle 14"/>
            <p:cNvSpPr/>
            <p:nvPr/>
          </p:nvSpPr>
          <p:spPr bwMode="auto">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89</a:t>
              </a:r>
              <a:endParaRPr lang="en-US" b="1"/>
            </a:p>
          </p:txBody>
        </p:sp>
        <p:sp>
          <p:nvSpPr>
            <p:cNvPr id="16" name="Rectangle 15"/>
            <p:cNvSpPr/>
            <p:nvPr/>
          </p:nvSpPr>
          <p:spPr bwMode="auto">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7</a:t>
              </a:r>
              <a:endParaRPr lang="en-US" b="1"/>
            </a:p>
          </p:txBody>
        </p:sp>
      </p:grpSp>
      <p:sp>
        <p:nvSpPr>
          <p:cNvPr id="354042032" name="TextBox 16"/>
          <p:cNvSpPr txBox="1"/>
          <p:nvPr/>
        </p:nvSpPr>
        <p:spPr bwMode="auto">
          <a:xfrm>
            <a:off x="4811972" y="2859198"/>
            <a:ext cx="526978" cy="371856"/>
          </a:xfrm>
          <a:prstGeom prst="rect">
            <a:avLst/>
          </a:prstGeom>
          <a:noFill/>
        </p:spPr>
        <p:txBody>
          <a:bodyPr wrap="square" rtlCol="0">
            <a:spAutoFit/>
          </a:bodyPr>
          <a:lstStyle/>
          <a:p>
            <a:pPr algn="ctr">
              <a:defRPr/>
            </a:pPr>
            <a:r>
              <a:rPr lang="en-IN" b="1">
                <a:solidFill>
                  <a:srgbClr val="C00000"/>
                </a:solidFill>
              </a:rPr>
              <a:t>F</a:t>
            </a:r>
            <a:endParaRPr lang="en-US" b="1">
              <a:solidFill>
                <a:srgbClr val="C00000"/>
              </a:solidFill>
            </a:endParaRPr>
          </a:p>
        </p:txBody>
      </p:sp>
      <p:cxnSp>
        <p:nvCxnSpPr>
          <p:cNvPr id="765335817" name="Straight Arrow Connector 24"/>
          <p:cNvCxnSpPr>
            <a:stCxn id="354042032" idx="2"/>
            <a:endCxn id="6" idx="0"/>
          </p:cNvCxnSpPr>
          <p:nvPr/>
        </p:nvCxnSpPr>
        <p:spPr bwMode="auto">
          <a:xfrm>
            <a:off x="5075462" y="3231053"/>
            <a:ext cx="3211" cy="3810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537147923" name="TextBox 25"/>
          <p:cNvSpPr txBox="1"/>
          <p:nvPr/>
        </p:nvSpPr>
        <p:spPr bwMode="auto">
          <a:xfrm>
            <a:off x="5867766" y="2850054"/>
            <a:ext cx="526978" cy="371856"/>
          </a:xfrm>
          <a:prstGeom prst="rect">
            <a:avLst/>
          </a:prstGeom>
          <a:noFill/>
        </p:spPr>
        <p:txBody>
          <a:bodyPr wrap="square" rtlCol="0">
            <a:spAutoFit/>
          </a:bodyPr>
          <a:lstStyle/>
          <a:p>
            <a:pPr algn="ctr">
              <a:defRPr/>
            </a:pPr>
            <a:r>
              <a:rPr lang="en-IN" b="1">
                <a:solidFill>
                  <a:srgbClr val="C00000"/>
                </a:solidFill>
              </a:rPr>
              <a:t>R</a:t>
            </a:r>
            <a:endParaRPr lang="en-US" b="1">
              <a:solidFill>
                <a:srgbClr val="C00000"/>
              </a:solidFill>
            </a:endParaRPr>
          </a:p>
        </p:txBody>
      </p:sp>
      <p:cxnSp>
        <p:nvCxnSpPr>
          <p:cNvPr id="1901776689" name="Straight Arrow Connector 27"/>
          <p:cNvCxnSpPr>
            <a:stCxn id="1537147923" idx="2"/>
            <a:endCxn id="8" idx="0"/>
          </p:cNvCxnSpPr>
          <p:nvPr/>
        </p:nvCxnSpPr>
        <p:spPr bwMode="auto">
          <a:xfrm>
            <a:off x="6131256" y="3221910"/>
            <a:ext cx="3211" cy="3901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1120846383" name="Group 33"/>
          <p:cNvGrpSpPr/>
          <p:nvPr/>
        </p:nvGrpSpPr>
        <p:grpSpPr bwMode="auto">
          <a:xfrm>
            <a:off x="5860674" y="4753122"/>
            <a:ext cx="526978" cy="752856"/>
            <a:chOff x="5974406" y="4300728"/>
            <a:chExt cx="526978" cy="752856"/>
          </a:xfrm>
        </p:grpSpPr>
        <p:sp>
          <p:nvSpPr>
            <p:cNvPr id="29" name="TextBox 28"/>
            <p:cNvSpPr txBox="1"/>
            <p:nvPr/>
          </p:nvSpPr>
          <p:spPr bwMode="auto">
            <a:xfrm>
              <a:off x="5974406" y="4300728"/>
              <a:ext cx="526978" cy="371856"/>
            </a:xfrm>
            <a:prstGeom prst="rect">
              <a:avLst/>
            </a:prstGeom>
            <a:noFill/>
          </p:spPr>
          <p:txBody>
            <a:bodyPr wrap="square" rtlCol="0">
              <a:spAutoFit/>
            </a:bodyPr>
            <a:lstStyle/>
            <a:p>
              <a:pPr algn="ctr">
                <a:defRPr/>
              </a:pPr>
              <a:r>
                <a:rPr lang="en-IN" b="1">
                  <a:solidFill>
                    <a:srgbClr val="C00000"/>
                  </a:solidFill>
                </a:rPr>
                <a:t>F</a:t>
              </a:r>
              <a:endParaRPr lang="en-US" b="1">
                <a:solidFill>
                  <a:srgbClr val="C00000"/>
                </a:solidFill>
              </a:endParaRPr>
            </a:p>
          </p:txBody>
        </p:sp>
        <p:cxnSp>
          <p:nvCxnSpPr>
            <p:cNvPr id="30" name="Straight Arrow Connector 29"/>
            <p:cNvCxnSpPr>
              <a:stCxn id="29" idx="2"/>
            </p:cNvCxnSpPr>
            <p:nvPr/>
          </p:nvCxnSpPr>
          <p:spPr bwMode="auto">
            <a:xfrm>
              <a:off x="6237895" y="4672584"/>
              <a:ext cx="3211" cy="3810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680576188" name="Group 34"/>
          <p:cNvGrpSpPr/>
          <p:nvPr/>
        </p:nvGrpSpPr>
        <p:grpSpPr bwMode="auto">
          <a:xfrm>
            <a:off x="6903090" y="4719594"/>
            <a:ext cx="526978" cy="762000"/>
            <a:chOff x="7016822" y="4267200"/>
            <a:chExt cx="526978" cy="762000"/>
          </a:xfrm>
        </p:grpSpPr>
        <p:sp>
          <p:nvSpPr>
            <p:cNvPr id="31" name="TextBox 30"/>
            <p:cNvSpPr txBox="1"/>
            <p:nvPr/>
          </p:nvSpPr>
          <p:spPr bwMode="auto">
            <a:xfrm>
              <a:off x="7016822" y="4267200"/>
              <a:ext cx="526978" cy="371856"/>
            </a:xfrm>
            <a:prstGeom prst="rect">
              <a:avLst/>
            </a:prstGeom>
            <a:noFill/>
          </p:spPr>
          <p:txBody>
            <a:bodyPr wrap="square" rtlCol="0">
              <a:spAutoFit/>
            </a:bodyPr>
            <a:lstStyle/>
            <a:p>
              <a:pPr algn="ctr">
                <a:defRPr/>
              </a:pPr>
              <a:r>
                <a:rPr lang="en-IN" b="1">
                  <a:solidFill>
                    <a:srgbClr val="C00000"/>
                  </a:solidFill>
                </a:rPr>
                <a:t>R</a:t>
              </a:r>
              <a:endParaRPr lang="en-US" b="1">
                <a:solidFill>
                  <a:srgbClr val="C00000"/>
                </a:solidFill>
              </a:endParaRPr>
            </a:p>
          </p:txBody>
        </p:sp>
        <p:cxnSp>
          <p:nvCxnSpPr>
            <p:cNvPr id="32" name="Straight Arrow Connector 31"/>
            <p:cNvCxnSpPr>
              <a:stCxn id="31" idx="2"/>
            </p:cNvCxnSpPr>
            <p:nvPr/>
          </p:nvCxnSpPr>
          <p:spPr bwMode="auto">
            <a:xfrm>
              <a:off x="7280311" y="4639056"/>
              <a:ext cx="3211" cy="3901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523193103" name="TextBox 32"/>
          <p:cNvSpPr txBox="1"/>
          <p:nvPr/>
        </p:nvSpPr>
        <p:spPr bwMode="auto">
          <a:xfrm>
            <a:off x="7675894" y="3651154"/>
            <a:ext cx="1098478" cy="369332"/>
          </a:xfrm>
          <a:prstGeom prst="rect">
            <a:avLst/>
          </a:prstGeom>
          <a:noFill/>
        </p:spPr>
        <p:txBody>
          <a:bodyPr wrap="square" rtlCol="0">
            <a:spAutoFit/>
          </a:bodyPr>
          <a:lstStyle/>
          <a:p>
            <a:pPr>
              <a:defRPr/>
            </a:pPr>
            <a:r>
              <a:rPr lang="en-IN" b="1">
                <a:solidFill>
                  <a:srgbClr val="C00000"/>
                </a:solidFill>
              </a:rPr>
              <a:t>Overflow</a:t>
            </a:r>
            <a:endParaRPr lang="en-US" b="1">
              <a:solidFill>
                <a:srgbClr val="C00000"/>
              </a:solidFill>
            </a:endParaRPr>
          </a:p>
        </p:txBody>
      </p:sp>
      <p:sp>
        <p:nvSpPr>
          <p:cNvPr id="1539880013" name="TextBox 35"/>
          <p:cNvSpPr txBox="1"/>
          <p:nvPr/>
        </p:nvSpPr>
        <p:spPr bwMode="auto">
          <a:xfrm>
            <a:off x="5378764" y="5640655"/>
            <a:ext cx="457200" cy="369332"/>
          </a:xfrm>
          <a:prstGeom prst="rect">
            <a:avLst/>
          </a:prstGeom>
          <a:noFill/>
        </p:spPr>
        <p:txBody>
          <a:bodyPr wrap="square" rtlCol="0">
            <a:spAutoFit/>
          </a:bodyPr>
          <a:lstStyle/>
          <a:p>
            <a:pPr algn="ctr">
              <a:defRPr/>
            </a:pPr>
            <a:r>
              <a:rPr lang="en-IN" b="1">
                <a:solidFill>
                  <a:schemeClr val="bg1"/>
                </a:solidFill>
              </a:rPr>
              <a:t>50</a:t>
            </a:r>
            <a:endParaRPr lang="en-US" b="1">
              <a:solidFill>
                <a:schemeClr val="bg1"/>
              </a:solidFill>
            </a:endParaRPr>
          </a:p>
        </p:txBody>
      </p:sp>
      <p:graphicFrame>
        <p:nvGraphicFramePr>
          <p:cNvPr id="1013983748" name="Table 17"/>
          <p:cNvGraphicFramePr>
            <a:graphicFrameLocks xmlns:a="http://schemas.openxmlformats.org/drawingml/2006/main" noGrp="1"/>
          </p:cNvGraphicFramePr>
          <p:nvPr/>
        </p:nvGraphicFramePr>
        <p:xfrm rot="0">
          <a:off x="4726817" y="3963443"/>
          <a:ext cx="2808875" cy="457200"/>
        </p:xfrm>
        <a:graphic>
          <a:graphicData uri="http://schemas.openxmlformats.org/drawingml/2006/table">
            <a:tbl>
              <a:tblPr firstRow="1" firstCol="0" lastRow="0" lastCol="0" bandRow="1" bandCol="0">
                <a:tableStyleId>{2D5ABB26-0587-4C30-8999-92F81FD0307C}</a:tableStyleId>
              </a:tblPr>
              <a:tblGrid>
                <a:gridCol w="561775"/>
                <a:gridCol w="561775"/>
                <a:gridCol w="561775"/>
                <a:gridCol w="561775"/>
                <a:gridCol w="561775"/>
              </a:tblGrid>
              <a:tr h="457200">
                <a:tc>
                  <a:txBody>
                    <a:bodyPr/>
                    <a:p>
                      <a:pPr algn="ctr">
                        <a:defRPr/>
                      </a:pPr>
                      <a:r>
                        <a:rPr lang="en-IN" sz="1600"/>
                        <a:t>0</a:t>
                      </a:r>
                      <a:endParaRPr/>
                    </a:p>
                  </a:txBody>
                  <a:tcPr anchor="ctr"/>
                </a:tc>
                <a:tc>
                  <a:txBody>
                    <a:bodyPr/>
                    <a:p>
                      <a:pPr algn="ctr">
                        <a:defRPr/>
                      </a:pPr>
                      <a:r>
                        <a:rPr lang="en-IN" sz="1600"/>
                        <a:t>1</a:t>
                      </a:r>
                      <a:endParaRPr/>
                    </a:p>
                  </a:txBody>
                  <a:tcPr anchor="ctr"/>
                </a:tc>
                <a:tc>
                  <a:txBody>
                    <a:bodyPr/>
                    <a:p>
                      <a:pPr algn="ctr">
                        <a:defRPr/>
                      </a:pPr>
                      <a:r>
                        <a:rPr lang="en-IN" sz="1600"/>
                        <a:t>2</a:t>
                      </a:r>
                      <a:endParaRPr/>
                    </a:p>
                  </a:txBody>
                  <a:tcPr anchor="ctr"/>
                </a:tc>
                <a:tc>
                  <a:txBody>
                    <a:bodyPr/>
                    <a:p>
                      <a:pPr algn="ctr">
                        <a:defRPr/>
                      </a:pPr>
                      <a:r>
                        <a:rPr lang="en-IN" sz="1600"/>
                        <a:t>3</a:t>
                      </a:r>
                      <a:endParaRPr/>
                    </a:p>
                  </a:txBody>
                  <a:tcPr anchor="ctr"/>
                </a:tc>
                <a:tc>
                  <a:txBody>
                    <a:bodyPr/>
                    <a:p>
                      <a:pPr algn="ctr">
                        <a:defRPr/>
                      </a:pPr>
                      <a:r>
                        <a:rPr lang="en-IN" sz="1600"/>
                        <a:t>4</a:t>
                      </a:r>
                      <a:endParaRPr/>
                    </a:p>
                  </a:txBody>
                  <a:tcPr anchor="ctr"/>
                </a:tc>
              </a:tr>
            </a:tbl>
          </a:graphicData>
        </a:graphic>
      </p:graphicFrame>
      <p:graphicFrame>
        <p:nvGraphicFramePr>
          <p:cNvPr id="1854287595" name="Table 18"/>
          <p:cNvGraphicFramePr>
            <a:graphicFrameLocks xmlns:a="http://schemas.openxmlformats.org/drawingml/2006/main" noGrp="1"/>
          </p:cNvGraphicFramePr>
          <p:nvPr/>
        </p:nvGraphicFramePr>
        <p:xfrm rot="0">
          <a:off x="4767686" y="5874719"/>
          <a:ext cx="2808875" cy="457200"/>
        </p:xfrm>
        <a:graphic>
          <a:graphicData uri="http://schemas.openxmlformats.org/drawingml/2006/table">
            <a:tbl>
              <a:tblPr firstRow="1" firstCol="0" lastRow="0" lastCol="0" bandRow="1" bandCol="0">
                <a:tableStyleId>{2D5ABB26-0587-4C30-8999-92F81FD0307C}</a:tableStyleId>
              </a:tblPr>
              <a:tblGrid>
                <a:gridCol w="561775"/>
                <a:gridCol w="561775"/>
                <a:gridCol w="561775"/>
                <a:gridCol w="561775"/>
                <a:gridCol w="561775"/>
              </a:tblGrid>
              <a:tr h="457200">
                <a:tc>
                  <a:txBody>
                    <a:bodyPr/>
                    <a:p>
                      <a:pPr algn="ctr">
                        <a:defRPr/>
                      </a:pPr>
                      <a:r>
                        <a:rPr lang="en-IN" sz="1600"/>
                        <a:t>0</a:t>
                      </a:r>
                      <a:endParaRPr/>
                    </a:p>
                  </a:txBody>
                  <a:tcPr anchor="ctr"/>
                </a:tc>
                <a:tc>
                  <a:txBody>
                    <a:bodyPr/>
                    <a:p>
                      <a:pPr algn="ctr">
                        <a:defRPr/>
                      </a:pPr>
                      <a:r>
                        <a:rPr lang="en-IN" sz="1600"/>
                        <a:t>1</a:t>
                      </a:r>
                      <a:endParaRPr/>
                    </a:p>
                  </a:txBody>
                  <a:tcPr anchor="ctr"/>
                </a:tc>
                <a:tc>
                  <a:txBody>
                    <a:bodyPr/>
                    <a:p>
                      <a:pPr algn="ctr">
                        <a:defRPr/>
                      </a:pPr>
                      <a:r>
                        <a:rPr lang="en-IN" sz="1600"/>
                        <a:t>2</a:t>
                      </a:r>
                      <a:endParaRPr/>
                    </a:p>
                  </a:txBody>
                  <a:tcPr anchor="ctr"/>
                </a:tc>
                <a:tc>
                  <a:txBody>
                    <a:bodyPr/>
                    <a:p>
                      <a:pPr algn="ctr">
                        <a:defRPr/>
                      </a:pPr>
                      <a:r>
                        <a:rPr lang="en-IN" sz="1600"/>
                        <a:t>3</a:t>
                      </a:r>
                      <a:endParaRPr/>
                    </a:p>
                  </a:txBody>
                  <a:tcPr anchor="ctr"/>
                </a:tc>
                <a:tc>
                  <a:txBody>
                    <a:bodyPr/>
                    <a:p>
                      <a:pPr algn="ctr">
                        <a:defRPr/>
                      </a:pPr>
                      <a:r>
                        <a:rPr lang="en-IN" sz="1600"/>
                        <a:t>4</a:t>
                      </a:r>
                      <a:endParaRPr/>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35296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35296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35296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352963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826700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8267004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82670047">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82670047">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82670047">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989144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40420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653358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371479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0177668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1398374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2319310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3914600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85428759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2084638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68057618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682670047">
                                            <p:txEl>
                                              <p:pRg st="4" end="4"/>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682670047">
                                            <p:txEl>
                                              <p:pRg st="7" end="7"/>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682670047">
                                            <p:txEl>
                                              <p:pRg st="5" end="5"/>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682670047">
                                            <p:txEl>
                                              <p:pRg st="6" end="6"/>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35" presetClass="path" presetSubtype="0" accel="50000" decel="50000" fill="hold" nodeType="clickEffect">
                                  <p:stCondLst>
                                    <p:cond delay="0"/>
                                  </p:stCondLst>
                                  <p:childTnLst>
                                    <p:animMotion origin="layout" path="M -3.75E-6 3.33333E-6 L -0.04257 3.33333E-6 " pathEditMode="relative" rAng="0" ptsTypes="AA">
                                      <p:cBhvr>
                                        <p:cTn id="80" dur="2000" fill="hold"/>
                                        <p:tgtEl>
                                          <p:spTgt spid="1120846383"/>
                                        </p:tgtEl>
                                        <p:attrNameLst>
                                          <p:attrName>ppt_x</p:attrName>
                                          <p:attrName>ppt_y</p:attrName>
                                        </p:attrNameLst>
                                      </p:cBhvr>
                                      <p:rCtr x="-2135" y="0"/>
                                    </p:animMotion>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682670047">
                                            <p:txEl>
                                              <p:pRg st="8" end="8"/>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682670047">
                                            <p:txEl>
                                              <p:pRg st="9" end="9"/>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682670047">
                                            <p:txEl>
                                              <p:pRg st="10" end="1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539880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2670047" grpId="0" animBg="1"/>
      <p:bldP spid="354042032" grpId="0"/>
      <p:bldP spid="1537147923" grpId="0"/>
      <p:bldP spid="1523193103" grpId="0"/>
      <p:bldP spid="1539880013" grpId="0"/>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465063" name="Title 1"/>
          <p:cNvSpPr>
            <a:spLocks noGrp="1"/>
          </p:cNvSpPr>
          <p:nvPr>
            <p:ph type="title"/>
          </p:nvPr>
        </p:nvSpPr>
        <p:spPr bwMode="auto"/>
        <p:txBody>
          <a:bodyPr/>
          <a:lstStyle/>
          <a:p>
            <a:pPr>
              <a:defRPr/>
            </a:pPr>
            <a:r>
              <a:rPr lang="en-IN"/>
              <a:t>Function: DQDELETE_REAR(Q,F,R)</a:t>
            </a:r>
            <a:endParaRPr lang="en-US"/>
          </a:p>
        </p:txBody>
      </p:sp>
      <p:sp>
        <p:nvSpPr>
          <p:cNvPr id="1072396793" name="Content Placeholder 2"/>
          <p:cNvSpPr>
            <a:spLocks noGrp="1"/>
          </p:cNvSpPr>
          <p:nvPr>
            <p:ph idx="1"/>
          </p:nvPr>
        </p:nvSpPr>
        <p:spPr bwMode="auto"/>
        <p:txBody>
          <a:bodyPr/>
          <a:lstStyle/>
          <a:p>
            <a:pPr>
              <a:defRPr/>
            </a:pPr>
            <a:r>
              <a:rPr lang="en-IN"/>
              <a:t>This function </a:t>
            </a:r>
            <a:r>
              <a:rPr lang="en-IN" b="1">
                <a:solidFill>
                  <a:srgbClr val="C00000"/>
                </a:solidFill>
              </a:rPr>
              <a:t>deletes &amp; returns</a:t>
            </a:r>
            <a:r>
              <a:rPr lang="en-IN" b="1">
                <a:solidFill>
                  <a:srgbClr val="FF0000"/>
                </a:solidFill>
              </a:rPr>
              <a:t> </a:t>
            </a:r>
            <a:r>
              <a:rPr lang="en-IN"/>
              <a:t>an element from </a:t>
            </a:r>
            <a:r>
              <a:rPr lang="en-IN" b="1">
                <a:solidFill>
                  <a:srgbClr val="C00000"/>
                </a:solidFill>
              </a:rPr>
              <a:t>rear end</a:t>
            </a:r>
            <a:r>
              <a:rPr lang="en-IN">
                <a:solidFill>
                  <a:srgbClr val="C00000"/>
                </a:solidFill>
              </a:rPr>
              <a:t> </a:t>
            </a:r>
            <a:r>
              <a:rPr lang="en-IN"/>
              <a:t>of the Queue.</a:t>
            </a:r>
            <a:endParaRPr/>
          </a:p>
          <a:p>
            <a:pPr>
              <a:defRPr/>
            </a:pPr>
            <a:r>
              <a:rPr lang="en-IN" b="1">
                <a:solidFill>
                  <a:srgbClr val="C00000"/>
                </a:solidFill>
              </a:rPr>
              <a:t>Queue</a:t>
            </a:r>
            <a:r>
              <a:rPr lang="en-IN">
                <a:solidFill>
                  <a:srgbClr val="C00000"/>
                </a:solidFill>
              </a:rPr>
              <a:t> </a:t>
            </a:r>
            <a:r>
              <a:rPr lang="en-IN"/>
              <a:t>is represented by a vector </a:t>
            </a:r>
            <a:r>
              <a:rPr lang="en-IN" b="1">
                <a:solidFill>
                  <a:srgbClr val="C00000"/>
                </a:solidFill>
              </a:rPr>
              <a:t>Q</a:t>
            </a:r>
            <a:r>
              <a:rPr lang="en-IN" b="1">
                <a:solidFill>
                  <a:srgbClr val="FF0000"/>
                </a:solidFill>
              </a:rPr>
              <a:t> </a:t>
            </a:r>
            <a:r>
              <a:rPr lang="en-IN"/>
              <a:t>containing </a:t>
            </a:r>
            <a:r>
              <a:rPr lang="en-IN" b="1">
                <a:solidFill>
                  <a:srgbClr val="C00000"/>
                </a:solidFill>
              </a:rPr>
              <a:t>N</a:t>
            </a:r>
            <a:r>
              <a:rPr lang="en-IN">
                <a:solidFill>
                  <a:srgbClr val="C00000"/>
                </a:solidFill>
              </a:rPr>
              <a:t> </a:t>
            </a:r>
            <a:r>
              <a:rPr lang="en-IN"/>
              <a:t>elements.</a:t>
            </a:r>
            <a:endParaRPr/>
          </a:p>
          <a:p>
            <a:pPr>
              <a:defRPr/>
            </a:pPr>
            <a:r>
              <a:rPr lang="en-IN" b="1">
                <a:solidFill>
                  <a:srgbClr val="C00000"/>
                </a:solidFill>
              </a:rPr>
              <a:t>F</a:t>
            </a:r>
            <a:r>
              <a:rPr lang="en-IN" b="1">
                <a:solidFill>
                  <a:srgbClr val="FF0000"/>
                </a:solidFill>
              </a:rPr>
              <a:t> </a:t>
            </a:r>
            <a:r>
              <a:rPr lang="en-IN"/>
              <a:t>is pointer to the </a:t>
            </a:r>
            <a:r>
              <a:rPr lang="en-IN" b="1">
                <a:solidFill>
                  <a:schemeClr val="accent6"/>
                </a:solidFill>
              </a:rPr>
              <a:t>front</a:t>
            </a:r>
            <a:r>
              <a:rPr lang="en-IN"/>
              <a:t> element of a queue.</a:t>
            </a:r>
            <a:endParaRPr/>
          </a:p>
          <a:p>
            <a:pPr>
              <a:defRPr/>
            </a:pPr>
            <a:r>
              <a:rPr lang="en-IN" b="1">
                <a:solidFill>
                  <a:srgbClr val="C00000"/>
                </a:solidFill>
              </a:rPr>
              <a:t>R</a:t>
            </a:r>
            <a:r>
              <a:rPr lang="en-IN" b="1">
                <a:solidFill>
                  <a:srgbClr val="FF0000"/>
                </a:solidFill>
              </a:rPr>
              <a:t> </a:t>
            </a:r>
            <a:r>
              <a:rPr lang="en-IN"/>
              <a:t>is pointer to the </a:t>
            </a:r>
            <a:r>
              <a:rPr lang="en-IN" b="1">
                <a:solidFill>
                  <a:srgbClr val="C00000"/>
                </a:solidFill>
              </a:rPr>
              <a:t>rear</a:t>
            </a:r>
            <a:r>
              <a:rPr lang="en-IN">
                <a:solidFill>
                  <a:srgbClr val="C00000"/>
                </a:solidFill>
              </a:rPr>
              <a:t> </a:t>
            </a:r>
            <a:r>
              <a:rPr lang="en-IN"/>
              <a:t>element of a queue.</a:t>
            </a:r>
            <a:endParaRPr lang="en-US"/>
          </a:p>
        </p:txBody>
      </p:sp>
      <p:sp>
        <p:nvSpPr>
          <p:cNvPr id="1893345663" name="TextBox 3"/>
          <p:cNvSpPr txBox="1"/>
          <p:nvPr/>
        </p:nvSpPr>
        <p:spPr bwMode="auto">
          <a:xfrm>
            <a:off x="504964" y="2947417"/>
            <a:ext cx="4191000" cy="3508653"/>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000" b="1">
                <a:solidFill>
                  <a:schemeClr val="tx2"/>
                </a:solidFill>
                <a:latin typeface="Consolas"/>
                <a:cs typeface="Consolas"/>
              </a:rPr>
              <a:t>1. [Underflow?]</a:t>
            </a:r>
            <a:endParaRPr/>
          </a:p>
          <a:p>
            <a:pPr>
              <a:defRPr/>
            </a:pPr>
            <a:r>
              <a:rPr lang="en-IN" b="1">
                <a:latin typeface="Consolas"/>
                <a:cs typeface="Consolas"/>
              </a:rPr>
              <a:t>   </a:t>
            </a:r>
            <a:r>
              <a:rPr lang="en-IN" b="1">
                <a:solidFill>
                  <a:schemeClr val="tx2">
                    <a:lumMod val="75000"/>
                  </a:schemeClr>
                </a:solidFill>
                <a:latin typeface="Consolas"/>
                <a:cs typeface="Consolas"/>
              </a:rPr>
              <a:t>If</a:t>
            </a:r>
            <a:r>
              <a:rPr lang="en-IN">
                <a:latin typeface="Consolas"/>
                <a:cs typeface="Consolas"/>
              </a:rPr>
              <a:t> 	  R = -1</a:t>
            </a:r>
            <a:endParaRPr/>
          </a:p>
          <a:p>
            <a:pPr>
              <a:defRPr/>
            </a:pPr>
            <a:r>
              <a:rPr lang="en-IN">
                <a:latin typeface="Consolas"/>
                <a:cs typeface="Consolas"/>
              </a:rPr>
              <a:t>   </a:t>
            </a:r>
            <a:r>
              <a:rPr lang="en-IN" b="1">
                <a:solidFill>
                  <a:schemeClr val="tx2">
                    <a:lumMod val="75000"/>
                  </a:schemeClr>
                </a:solidFill>
                <a:latin typeface="Consolas"/>
                <a:cs typeface="Consolas"/>
              </a:rPr>
              <a:t>Then</a:t>
            </a:r>
            <a:r>
              <a:rPr lang="en-IN">
                <a:latin typeface="Consolas"/>
                <a:cs typeface="Consolas"/>
              </a:rPr>
              <a:t>  Write(‘Underflow’)</a:t>
            </a:r>
            <a:endParaRPr/>
          </a:p>
          <a:p>
            <a:pPr>
              <a:defRPr/>
            </a:pPr>
            <a:r>
              <a:rPr lang="en-IN">
                <a:latin typeface="Consolas"/>
                <a:cs typeface="Consolas"/>
              </a:rPr>
              <a:t>         Return(-1)</a:t>
            </a:r>
            <a:endParaRPr/>
          </a:p>
          <a:p>
            <a:pPr>
              <a:defRPr/>
            </a:pPr>
            <a:r>
              <a:rPr lang="en-IN" sz="2000" b="1">
                <a:solidFill>
                  <a:schemeClr val="tx2"/>
                </a:solidFill>
                <a:latin typeface="Consolas"/>
                <a:cs typeface="Consolas"/>
              </a:rPr>
              <a:t>2. [Delete Element]</a:t>
            </a:r>
            <a:endParaRPr/>
          </a:p>
          <a:p>
            <a:pPr>
              <a:defRPr/>
            </a:pPr>
            <a:r>
              <a:rPr lang="en-IN">
                <a:latin typeface="Consolas"/>
                <a:cs typeface="Consolas"/>
              </a:rPr>
              <a:t>    Y </a:t>
            </a:r>
            <a:r>
              <a:rPr lang="en-IN">
                <a:latin typeface="Consolas"/>
                <a:cs typeface="Consolas"/>
              </a:rPr>
              <a:t> Q[R]</a:t>
            </a:r>
            <a:endParaRPr/>
          </a:p>
          <a:p>
            <a:pPr>
              <a:defRPr/>
            </a:pPr>
            <a:r>
              <a:rPr lang="en-IN" sz="2000" b="1">
                <a:solidFill>
                  <a:schemeClr val="tx2"/>
                </a:solidFill>
                <a:latin typeface="Consolas"/>
                <a:cs typeface="Consolas"/>
              </a:rPr>
              <a:t>3. [Update Rear Pointer]</a:t>
            </a:r>
            <a:endParaRPr/>
          </a:p>
          <a:p>
            <a:pPr>
              <a:defRPr/>
            </a:pPr>
            <a:r>
              <a:rPr lang="en-IN">
                <a:latin typeface="Consolas"/>
                <a:cs typeface="Consolas"/>
              </a:rPr>
              <a:t>   </a:t>
            </a:r>
            <a:r>
              <a:rPr lang="en-IN" b="1">
                <a:solidFill>
                  <a:schemeClr val="tx2">
                    <a:lumMod val="75000"/>
                  </a:schemeClr>
                </a:solidFill>
                <a:latin typeface="Consolas"/>
                <a:cs typeface="Consolas"/>
              </a:rPr>
              <a:t>IF</a:t>
            </a:r>
            <a:r>
              <a:rPr lang="en-IN">
                <a:latin typeface="Consolas"/>
                <a:cs typeface="Consolas"/>
              </a:rPr>
              <a:t>   R = F</a:t>
            </a:r>
            <a:endParaRPr/>
          </a:p>
          <a:p>
            <a:pPr>
              <a:defRPr/>
            </a:pPr>
            <a:r>
              <a:rPr lang="en-IN">
                <a:latin typeface="Consolas"/>
                <a:cs typeface="Consolas"/>
              </a:rPr>
              <a:t>   </a:t>
            </a:r>
            <a:r>
              <a:rPr lang="en-IN" b="1">
                <a:solidFill>
                  <a:schemeClr val="tx2">
                    <a:lumMod val="75000"/>
                  </a:schemeClr>
                </a:solidFill>
                <a:latin typeface="Consolas"/>
                <a:cs typeface="Consolas"/>
              </a:rPr>
              <a:t>Then</a:t>
            </a:r>
            <a:r>
              <a:rPr lang="en-IN">
                <a:latin typeface="Consolas"/>
                <a:cs typeface="Consolas"/>
              </a:rPr>
              <a:t> R  F  0</a:t>
            </a:r>
            <a:endParaRPr/>
          </a:p>
          <a:p>
            <a:pPr>
              <a:defRPr/>
            </a:pPr>
            <a:r>
              <a:rPr lang="en-IN">
                <a:latin typeface="Consolas"/>
                <a:cs typeface="Consolas"/>
              </a:rPr>
              <a:t>   </a:t>
            </a:r>
            <a:r>
              <a:rPr lang="en-IN" b="1">
                <a:solidFill>
                  <a:schemeClr val="tx2">
                    <a:lumMod val="75000"/>
                  </a:schemeClr>
                </a:solidFill>
                <a:latin typeface="Consolas"/>
                <a:cs typeface="Consolas"/>
              </a:rPr>
              <a:t>Else</a:t>
            </a:r>
            <a:r>
              <a:rPr lang="en-IN">
                <a:latin typeface="Consolas"/>
                <a:cs typeface="Consolas"/>
              </a:rPr>
              <a:t> R  R – 1</a:t>
            </a:r>
            <a:endParaRPr/>
          </a:p>
          <a:p>
            <a:pPr>
              <a:defRPr/>
            </a:pPr>
            <a:r>
              <a:rPr lang="en-IN" b="1">
                <a:solidFill>
                  <a:schemeClr val="tx2"/>
                </a:solidFill>
                <a:latin typeface="Consolas"/>
                <a:cs typeface="Consolas"/>
              </a:rPr>
              <a:t>4. [Return Element]</a:t>
            </a:r>
            <a:endParaRPr/>
          </a:p>
          <a:p>
            <a:pPr>
              <a:defRPr/>
            </a:pPr>
            <a:r>
              <a:rPr lang="en-IN">
                <a:latin typeface="Consolas"/>
                <a:cs typeface="Consolas"/>
              </a:rPr>
              <a:t>   Return(Y) </a:t>
            </a:r>
            <a:endParaRPr lang="en-IN">
              <a:latin typeface="Consolas"/>
              <a:cs typeface="Consolas"/>
            </a:endParaRPr>
          </a:p>
        </p:txBody>
      </p:sp>
      <p:grpSp>
        <p:nvGrpSpPr>
          <p:cNvPr id="490308122" name="Group 4"/>
          <p:cNvGrpSpPr/>
          <p:nvPr/>
        </p:nvGrpSpPr>
        <p:grpSpPr bwMode="auto">
          <a:xfrm>
            <a:off x="5997800" y="3709417"/>
            <a:ext cx="2655064" cy="457200"/>
            <a:chOff x="5486400" y="1219200"/>
            <a:chExt cx="2655064" cy="457200"/>
          </a:xfrm>
        </p:grpSpPr>
        <p:sp>
          <p:nvSpPr>
            <p:cNvPr id="6" name="Rectangle 5"/>
            <p:cNvSpPr/>
            <p:nvPr/>
          </p:nvSpPr>
          <p:spPr bwMode="auto">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7" name="Rectangle 6"/>
            <p:cNvSpPr/>
            <p:nvPr/>
          </p:nvSpPr>
          <p:spPr bwMode="auto">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8" name="Rectangle 7"/>
            <p:cNvSpPr/>
            <p:nvPr/>
          </p:nvSpPr>
          <p:spPr bwMode="auto">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9" name="Rectangle 8"/>
            <p:cNvSpPr/>
            <p:nvPr/>
          </p:nvSpPr>
          <p:spPr bwMode="auto">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sp>
          <p:nvSpPr>
            <p:cNvPr id="10" name="Rectangle 9"/>
            <p:cNvSpPr/>
            <p:nvPr/>
          </p:nvSpPr>
          <p:spPr bwMode="auto">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grpSp>
      <p:grpSp>
        <p:nvGrpSpPr>
          <p:cNvPr id="1211425950" name="Group 10"/>
          <p:cNvGrpSpPr/>
          <p:nvPr/>
        </p:nvGrpSpPr>
        <p:grpSpPr bwMode="auto">
          <a:xfrm>
            <a:off x="5997800" y="5309617"/>
            <a:ext cx="2655064" cy="457200"/>
            <a:chOff x="5486400" y="1219200"/>
            <a:chExt cx="2655064" cy="457200"/>
          </a:xfrm>
        </p:grpSpPr>
        <p:sp>
          <p:nvSpPr>
            <p:cNvPr id="12" name="Rectangle 11"/>
            <p:cNvSpPr/>
            <p:nvPr/>
          </p:nvSpPr>
          <p:spPr bwMode="auto">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sp>
          <p:nvSpPr>
            <p:cNvPr id="13" name="Rectangle 12"/>
            <p:cNvSpPr/>
            <p:nvPr/>
          </p:nvSpPr>
          <p:spPr bwMode="auto">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a:p>
          </p:txBody>
        </p:sp>
        <p:sp>
          <p:nvSpPr>
            <p:cNvPr id="14" name="Rectangle 13"/>
            <p:cNvSpPr/>
            <p:nvPr/>
          </p:nvSpPr>
          <p:spPr bwMode="auto">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10</a:t>
              </a:r>
              <a:endParaRPr lang="en-US" sz="2000" b="1"/>
            </a:p>
          </p:txBody>
        </p:sp>
        <p:sp>
          <p:nvSpPr>
            <p:cNvPr id="15" name="Rectangle 14"/>
            <p:cNvSpPr/>
            <p:nvPr/>
          </p:nvSpPr>
          <p:spPr bwMode="auto">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89</a:t>
              </a:r>
              <a:endParaRPr lang="en-US" sz="2000" b="1"/>
            </a:p>
          </p:txBody>
        </p:sp>
        <p:sp>
          <p:nvSpPr>
            <p:cNvPr id="16" name="Rectangle 15"/>
            <p:cNvSpPr/>
            <p:nvPr/>
          </p:nvSpPr>
          <p:spPr bwMode="auto">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901908342" name="Group 31"/>
          <p:cNvGrpSpPr/>
          <p:nvPr/>
        </p:nvGrpSpPr>
        <p:grpSpPr bwMode="auto">
          <a:xfrm>
            <a:off x="6915574" y="2947417"/>
            <a:ext cx="773866" cy="762000"/>
            <a:chOff x="5870774" y="3200400"/>
            <a:chExt cx="773866" cy="762000"/>
          </a:xfrm>
        </p:grpSpPr>
        <p:grpSp>
          <p:nvGrpSpPr>
            <p:cNvPr id="31" name="Group 30"/>
            <p:cNvGrpSpPr/>
            <p:nvPr/>
          </p:nvGrpSpPr>
          <p:grpSpPr bwMode="auto">
            <a:xfrm>
              <a:off x="5870774" y="3209544"/>
              <a:ext cx="526978" cy="752856"/>
              <a:chOff x="5870774" y="3209544"/>
              <a:chExt cx="526978" cy="752856"/>
            </a:xfrm>
          </p:grpSpPr>
          <p:sp>
            <p:nvSpPr>
              <p:cNvPr id="17" name="TextBox 16"/>
              <p:cNvSpPr txBox="1"/>
              <p:nvPr/>
            </p:nvSpPr>
            <p:spPr bwMode="auto">
              <a:xfrm>
                <a:off x="5870774" y="3209544"/>
                <a:ext cx="526978" cy="400110"/>
              </a:xfrm>
              <a:prstGeom prst="rect">
                <a:avLst/>
              </a:prstGeom>
              <a:noFill/>
            </p:spPr>
            <p:txBody>
              <a:bodyPr wrap="square" rtlCol="0">
                <a:spAutoFit/>
              </a:bodyPr>
              <a:lstStyle/>
              <a:p>
                <a:pPr algn="ctr">
                  <a:defRPr/>
                </a:pPr>
                <a:r>
                  <a:rPr lang="en-IN" sz="2000" b="1">
                    <a:solidFill>
                      <a:srgbClr val="C00000"/>
                    </a:solidFill>
                  </a:rPr>
                  <a:t>F</a:t>
                </a:r>
                <a:endParaRPr lang="en-US" sz="2000" b="1">
                  <a:solidFill>
                    <a:srgbClr val="C00000"/>
                  </a:solidFill>
                </a:endParaRPr>
              </a:p>
            </p:txBody>
          </p:sp>
          <p:cxnSp>
            <p:nvCxnSpPr>
              <p:cNvPr id="18" name="Straight Arrow Connector 17"/>
              <p:cNvCxnSpPr>
                <a:stCxn id="17" idx="2"/>
              </p:cNvCxnSpPr>
              <p:nvPr/>
            </p:nvCxnSpPr>
            <p:spPr bwMode="auto">
              <a:xfrm>
                <a:off x="6134263" y="3609654"/>
                <a:ext cx="3211" cy="35274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0" name="Group 29"/>
            <p:cNvGrpSpPr/>
            <p:nvPr/>
          </p:nvGrpSpPr>
          <p:grpSpPr bwMode="auto">
            <a:xfrm>
              <a:off x="6117662" y="3200400"/>
              <a:ext cx="526978" cy="762000"/>
              <a:chOff x="6117662" y="3200400"/>
              <a:chExt cx="526978" cy="762000"/>
            </a:xfrm>
          </p:grpSpPr>
          <p:sp>
            <p:nvSpPr>
              <p:cNvPr id="19" name="TextBox 18"/>
              <p:cNvSpPr txBox="1"/>
              <p:nvPr/>
            </p:nvSpPr>
            <p:spPr bwMode="auto">
              <a:xfrm>
                <a:off x="6117662" y="3200400"/>
                <a:ext cx="526978" cy="400110"/>
              </a:xfrm>
              <a:prstGeom prst="rect">
                <a:avLst/>
              </a:prstGeom>
              <a:noFill/>
            </p:spPr>
            <p:txBody>
              <a:bodyPr wrap="square" rtlCol="0">
                <a:spAutoFit/>
              </a:bodyPr>
              <a:lstStyle/>
              <a:p>
                <a:pPr algn="ctr">
                  <a:defRPr/>
                </a:pPr>
                <a:r>
                  <a:rPr lang="en-IN" sz="2000" b="1">
                    <a:solidFill>
                      <a:srgbClr val="C00000"/>
                    </a:solidFill>
                  </a:rPr>
                  <a:t>R</a:t>
                </a:r>
                <a:endParaRPr lang="en-US" sz="2000" b="1">
                  <a:solidFill>
                    <a:srgbClr val="C00000"/>
                  </a:solidFill>
                </a:endParaRPr>
              </a:p>
            </p:txBody>
          </p:sp>
          <p:cxnSp>
            <p:nvCxnSpPr>
              <p:cNvPr id="20" name="Straight Arrow Connector 19"/>
              <p:cNvCxnSpPr>
                <a:stCxn id="19" idx="2"/>
              </p:cNvCxnSpPr>
              <p:nvPr/>
            </p:nvCxnSpPr>
            <p:spPr bwMode="auto">
              <a:xfrm>
                <a:off x="6381151" y="3600510"/>
                <a:ext cx="3211" cy="3618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2033168666" name="Group 20"/>
          <p:cNvGrpSpPr/>
          <p:nvPr/>
        </p:nvGrpSpPr>
        <p:grpSpPr bwMode="auto">
          <a:xfrm>
            <a:off x="7019206" y="4504945"/>
            <a:ext cx="526978" cy="752856"/>
            <a:chOff x="5974406" y="4300728"/>
            <a:chExt cx="526978" cy="752856"/>
          </a:xfrm>
        </p:grpSpPr>
        <p:sp>
          <p:nvSpPr>
            <p:cNvPr id="22" name="TextBox 21"/>
            <p:cNvSpPr txBox="1"/>
            <p:nvPr/>
          </p:nvSpPr>
          <p:spPr bwMode="auto">
            <a:xfrm>
              <a:off x="5974406" y="4300728"/>
              <a:ext cx="526978" cy="400110"/>
            </a:xfrm>
            <a:prstGeom prst="rect">
              <a:avLst/>
            </a:prstGeom>
            <a:noFill/>
          </p:spPr>
          <p:txBody>
            <a:bodyPr wrap="square" rtlCol="0">
              <a:spAutoFit/>
            </a:bodyPr>
            <a:lstStyle/>
            <a:p>
              <a:pPr algn="ctr">
                <a:defRPr/>
              </a:pPr>
              <a:r>
                <a:rPr lang="en-IN" sz="2000" b="1">
                  <a:solidFill>
                    <a:srgbClr val="C00000"/>
                  </a:solidFill>
                </a:rPr>
                <a:t>F</a:t>
              </a:r>
              <a:endParaRPr lang="en-US" sz="2000" b="1">
                <a:solidFill>
                  <a:srgbClr val="C00000"/>
                </a:solidFill>
              </a:endParaRPr>
            </a:p>
          </p:txBody>
        </p:sp>
        <p:cxnSp>
          <p:nvCxnSpPr>
            <p:cNvPr id="23" name="Straight Arrow Connector 22"/>
            <p:cNvCxnSpPr>
              <a:stCxn id="22" idx="2"/>
            </p:cNvCxnSpPr>
            <p:nvPr/>
          </p:nvCxnSpPr>
          <p:spPr bwMode="auto">
            <a:xfrm>
              <a:off x="6237895" y="4700838"/>
              <a:ext cx="3211" cy="35274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397892977" name="Group 23"/>
          <p:cNvGrpSpPr/>
          <p:nvPr/>
        </p:nvGrpSpPr>
        <p:grpSpPr bwMode="auto">
          <a:xfrm>
            <a:off x="8061622" y="4498713"/>
            <a:ext cx="526978" cy="762000"/>
            <a:chOff x="7016822" y="4267200"/>
            <a:chExt cx="526978" cy="762000"/>
          </a:xfrm>
        </p:grpSpPr>
        <p:sp>
          <p:nvSpPr>
            <p:cNvPr id="25" name="TextBox 24"/>
            <p:cNvSpPr txBox="1"/>
            <p:nvPr/>
          </p:nvSpPr>
          <p:spPr bwMode="auto">
            <a:xfrm>
              <a:off x="7016822" y="4267200"/>
              <a:ext cx="526978" cy="400110"/>
            </a:xfrm>
            <a:prstGeom prst="rect">
              <a:avLst/>
            </a:prstGeom>
            <a:noFill/>
          </p:spPr>
          <p:txBody>
            <a:bodyPr wrap="square" rtlCol="0">
              <a:spAutoFit/>
            </a:bodyPr>
            <a:lstStyle/>
            <a:p>
              <a:pPr algn="ctr">
                <a:defRPr/>
              </a:pPr>
              <a:r>
                <a:rPr lang="en-IN" sz="2000" b="1">
                  <a:solidFill>
                    <a:srgbClr val="C00000"/>
                  </a:solidFill>
                </a:rPr>
                <a:t>R</a:t>
              </a:r>
              <a:endParaRPr lang="en-US" sz="2000" b="1">
                <a:solidFill>
                  <a:srgbClr val="C00000"/>
                </a:solidFill>
              </a:endParaRPr>
            </a:p>
          </p:txBody>
        </p:sp>
        <p:cxnSp>
          <p:nvCxnSpPr>
            <p:cNvPr id="26" name="Straight Arrow Connector 25"/>
            <p:cNvCxnSpPr>
              <a:stCxn id="25" idx="2"/>
            </p:cNvCxnSpPr>
            <p:nvPr/>
          </p:nvCxnSpPr>
          <p:spPr bwMode="auto">
            <a:xfrm>
              <a:off x="7280311" y="4667310"/>
              <a:ext cx="3211" cy="3618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669654452" name="TextBox 28"/>
          <p:cNvSpPr txBox="1"/>
          <p:nvPr/>
        </p:nvSpPr>
        <p:spPr bwMode="auto">
          <a:xfrm>
            <a:off x="7175825" y="3753351"/>
            <a:ext cx="314510" cy="400110"/>
          </a:xfrm>
          <a:prstGeom prst="rect">
            <a:avLst/>
          </a:prstGeom>
          <a:noFill/>
        </p:spPr>
        <p:txBody>
          <a:bodyPr wrap="none" rtlCol="0">
            <a:spAutoFit/>
          </a:bodyPr>
          <a:lstStyle/>
          <a:p>
            <a:pPr algn="ctr">
              <a:defRPr/>
            </a:pPr>
            <a:r>
              <a:rPr lang="en-IN" sz="2000" b="1">
                <a:solidFill>
                  <a:schemeClr val="bg1"/>
                </a:solidFill>
              </a:rPr>
              <a:t>7</a:t>
            </a:r>
            <a:endParaRPr lang="en-US" sz="2000" b="1">
              <a:solidFill>
                <a:schemeClr val="bg1"/>
              </a:solidFill>
            </a:endParaRPr>
          </a:p>
        </p:txBody>
      </p:sp>
      <p:sp>
        <p:nvSpPr>
          <p:cNvPr id="557534917" name="TextBox 32"/>
          <p:cNvSpPr txBox="1"/>
          <p:nvPr/>
        </p:nvSpPr>
        <p:spPr bwMode="auto">
          <a:xfrm>
            <a:off x="8204302" y="5360909"/>
            <a:ext cx="314510" cy="400110"/>
          </a:xfrm>
          <a:prstGeom prst="rect">
            <a:avLst/>
          </a:prstGeom>
          <a:noFill/>
        </p:spPr>
        <p:txBody>
          <a:bodyPr wrap="none" rtlCol="0">
            <a:spAutoFit/>
          </a:bodyPr>
          <a:lstStyle/>
          <a:p>
            <a:pPr algn="ctr">
              <a:defRPr/>
            </a:pPr>
            <a:r>
              <a:rPr lang="en-IN" sz="2000" b="1">
                <a:solidFill>
                  <a:schemeClr val="bg1"/>
                </a:solidFill>
              </a:rPr>
              <a:t>7</a:t>
            </a:r>
            <a:endParaRPr lang="en-US" sz="2000" b="1">
              <a:solidFill>
                <a:schemeClr val="bg1"/>
              </a:solidFill>
            </a:endParaRPr>
          </a:p>
        </p:txBody>
      </p:sp>
      <p:graphicFrame>
        <p:nvGraphicFramePr>
          <p:cNvPr id="1242718495" name="Table 26"/>
          <p:cNvGraphicFramePr>
            <a:graphicFrameLocks xmlns:a="http://schemas.openxmlformats.org/drawingml/2006/main" noGrp="1"/>
          </p:cNvGraphicFramePr>
          <p:nvPr/>
        </p:nvGraphicFramePr>
        <p:xfrm rot="0">
          <a:off x="5928642" y="4089804"/>
          <a:ext cx="2808875" cy="457200"/>
        </p:xfrm>
        <a:graphic>
          <a:graphicData uri="http://schemas.openxmlformats.org/drawingml/2006/table">
            <a:tbl>
              <a:tblPr firstRow="1" firstCol="0" lastRow="0" lastCol="0" bandRow="1" bandCol="0">
                <a:tableStyleId>{2D5ABB26-0587-4C30-8999-92F81FD0307C}</a:tableStyleId>
              </a:tblPr>
              <a:tblGrid>
                <a:gridCol w="561775"/>
                <a:gridCol w="561775"/>
                <a:gridCol w="561775"/>
                <a:gridCol w="561775"/>
                <a:gridCol w="561775"/>
              </a:tblGrid>
              <a:tr h="457200">
                <a:tc>
                  <a:txBody>
                    <a:bodyPr/>
                    <a:p>
                      <a:pPr algn="ctr">
                        <a:defRPr/>
                      </a:pPr>
                      <a:r>
                        <a:rPr lang="en-IN" sz="1600"/>
                        <a:t>0</a:t>
                      </a:r>
                      <a:endParaRPr/>
                    </a:p>
                  </a:txBody>
                  <a:tcPr anchor="ctr"/>
                </a:tc>
                <a:tc>
                  <a:txBody>
                    <a:bodyPr/>
                    <a:p>
                      <a:pPr algn="ctr">
                        <a:defRPr/>
                      </a:pPr>
                      <a:r>
                        <a:rPr lang="en-IN" sz="1600"/>
                        <a:t>1</a:t>
                      </a:r>
                      <a:endParaRPr/>
                    </a:p>
                  </a:txBody>
                  <a:tcPr anchor="ctr"/>
                </a:tc>
                <a:tc>
                  <a:txBody>
                    <a:bodyPr/>
                    <a:p>
                      <a:pPr algn="ctr">
                        <a:defRPr/>
                      </a:pPr>
                      <a:r>
                        <a:rPr lang="en-IN" sz="1600"/>
                        <a:t>2</a:t>
                      </a:r>
                      <a:endParaRPr/>
                    </a:p>
                  </a:txBody>
                  <a:tcPr anchor="ctr"/>
                </a:tc>
                <a:tc>
                  <a:txBody>
                    <a:bodyPr/>
                    <a:p>
                      <a:pPr algn="ctr">
                        <a:defRPr/>
                      </a:pPr>
                      <a:r>
                        <a:rPr lang="en-IN" sz="1600"/>
                        <a:t>3</a:t>
                      </a:r>
                      <a:endParaRPr/>
                    </a:p>
                  </a:txBody>
                  <a:tcPr anchor="ctr"/>
                </a:tc>
                <a:tc>
                  <a:txBody>
                    <a:bodyPr/>
                    <a:p>
                      <a:pPr algn="ctr">
                        <a:defRPr/>
                      </a:pPr>
                      <a:r>
                        <a:rPr lang="en-IN" sz="1600"/>
                        <a:t>4</a:t>
                      </a:r>
                      <a:endParaRPr/>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23967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23967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23967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23967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933456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93345663">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93345663">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93345663">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9334566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93345663">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9334566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03081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019083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96544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4271849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1142595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03316866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9789297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75349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893345663">
                                            <p:txEl>
                                              <p:pRg st="6" end="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893345663">
                                            <p:txEl>
                                              <p:pRg st="7" end="7"/>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893345663">
                                            <p:txEl>
                                              <p:pRg st="8" end="8"/>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893345663">
                                            <p:txEl>
                                              <p:pRg st="9" end="9"/>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35" presetClass="path" presetSubtype="0" accel="50000" decel="50000" fill="hold" nodeType="clickEffect">
                                  <p:stCondLst>
                                    <p:cond delay="0"/>
                                  </p:stCondLst>
                                  <p:childTnLst>
                                    <p:animMotion origin="layout" path="M 1.66667E-6 3.33333E-6 L -0.17018 3.33333E-6 " pathEditMode="relative" rAng="0" ptsTypes="AA">
                                      <p:cBhvr>
                                        <p:cTn id="72" dur="2000" fill="hold"/>
                                        <p:tgtEl>
                                          <p:spTgt spid="1901908342"/>
                                        </p:tgtEl>
                                        <p:attrNameLst>
                                          <p:attrName>ppt_x</p:attrName>
                                          <p:attrName>ppt_y</p:attrName>
                                        </p:attrNameLst>
                                      </p:cBhvr>
                                      <p:rCtr x="-8516" y="0"/>
                                    </p:animMotion>
                                  </p:childTnLst>
                                </p:cTn>
                              </p:par>
                            </p:childTnLst>
                          </p:cTn>
                        </p:par>
                      </p:childTnLst>
                    </p:cTn>
                  </p:par>
                  <p:par>
                    <p:cTn id="73" fill="hold">
                      <p:stCondLst>
                        <p:cond delay="indefinite"/>
                      </p:stCondLst>
                      <p:childTnLst>
                        <p:par>
                          <p:cTn id="74" fill="hold">
                            <p:stCondLst>
                              <p:cond delay="0"/>
                            </p:stCondLst>
                            <p:childTnLst>
                              <p:par>
                                <p:cTn id="75" presetID="35" presetClass="path" presetSubtype="0" accel="50000" decel="50000" fill="hold" nodeType="clickEffect">
                                  <p:stCondLst>
                                    <p:cond delay="0"/>
                                  </p:stCondLst>
                                  <p:childTnLst>
                                    <p:animMotion origin="layout" path="M 2.70833E-6 -4.07407E-6 L -0.0388 -4.07407E-6 " pathEditMode="relative" rAng="0" ptsTypes="AA">
                                      <p:cBhvr>
                                        <p:cTn id="76" dur="2000" fill="hold"/>
                                        <p:tgtEl>
                                          <p:spTgt spid="1397892977"/>
                                        </p:tgtEl>
                                        <p:attrNameLst>
                                          <p:attrName>ppt_x</p:attrName>
                                          <p:attrName>ppt_y</p:attrName>
                                        </p:attrNameLst>
                                      </p:cBhvr>
                                      <p:rCtr x="-2096" y="0"/>
                                    </p:animMotion>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893345663">
                                            <p:txEl>
                                              <p:pRg st="10" end="10"/>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893345663">
                                            <p:txEl>
                                              <p:pRg st="11" end="1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669654452"/>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5575349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3345663" grpId="0" animBg="1"/>
      <p:bldP spid="669654452" grpId="0"/>
      <p:bldP spid="669654452" grpId="1"/>
      <p:bldP spid="557534917" grpId="0"/>
      <p:bldP spid="557534917"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3939362" name="Title 1"/>
          <p:cNvSpPr>
            <a:spLocks noGrp="1"/>
          </p:cNvSpPr>
          <p:nvPr>
            <p:ph type="title"/>
          </p:nvPr>
        </p:nvSpPr>
        <p:spPr bwMode="auto"/>
        <p:txBody>
          <a:bodyPr/>
          <a:lstStyle/>
          <a:p>
            <a:pPr>
              <a:defRPr/>
            </a:pPr>
            <a:r>
              <a:rPr lang="en-US"/>
              <a:t>Priority Queue</a:t>
            </a:r>
            <a:endParaRPr/>
          </a:p>
        </p:txBody>
      </p:sp>
      <p:sp>
        <p:nvSpPr>
          <p:cNvPr id="1255998578" name="Content Placeholder 2"/>
          <p:cNvSpPr>
            <a:spLocks noGrp="1"/>
          </p:cNvSpPr>
          <p:nvPr>
            <p:ph idx="1"/>
          </p:nvPr>
        </p:nvSpPr>
        <p:spPr bwMode="auto"/>
        <p:txBody>
          <a:bodyPr/>
          <a:lstStyle/>
          <a:p>
            <a:pPr>
              <a:defRPr/>
            </a:pPr>
            <a:r>
              <a:rPr lang="en-US"/>
              <a:t>A priority queue is a special type of queue data structure in which </a:t>
            </a:r>
            <a:r>
              <a:rPr lang="en-US" b="1">
                <a:solidFill>
                  <a:schemeClr val="accent6"/>
                </a:solidFill>
              </a:rPr>
              <a:t>each element is associated with a priority</a:t>
            </a:r>
            <a:r>
              <a:rPr lang="en-US"/>
              <a:t>, and elements are </a:t>
            </a:r>
            <a:r>
              <a:rPr lang="en-US" b="1">
                <a:solidFill>
                  <a:schemeClr val="accent6"/>
                </a:solidFill>
              </a:rPr>
              <a:t>served based on their priority </a:t>
            </a:r>
            <a:r>
              <a:rPr lang="en-US" b="1"/>
              <a:t>rather than just their order of arrival</a:t>
            </a:r>
            <a:r>
              <a:rPr lang="en-US"/>
              <a:t>.</a:t>
            </a:r>
            <a:endParaRPr/>
          </a:p>
          <a:p>
            <a:pPr>
              <a:defRPr/>
            </a:pPr>
            <a:r>
              <a:rPr lang="en-US"/>
              <a:t>In a </a:t>
            </a:r>
            <a:r>
              <a:rPr lang="en-US" b="1"/>
              <a:t>normal queue</a:t>
            </a:r>
            <a:r>
              <a:rPr lang="en-US"/>
              <a:t>, elements follow </a:t>
            </a:r>
            <a:r>
              <a:rPr lang="en-US" b="1"/>
              <a:t>FIFO (First In, First Out)</a:t>
            </a:r>
            <a:r>
              <a:rPr lang="en-US"/>
              <a:t>.</a:t>
            </a:r>
            <a:endParaRPr/>
          </a:p>
          <a:p>
            <a:pPr>
              <a:defRPr/>
            </a:pPr>
            <a:r>
              <a:rPr lang="en-US"/>
              <a:t>In a </a:t>
            </a:r>
            <a:r>
              <a:rPr lang="en-US" b="1"/>
              <a:t>priority queue</a:t>
            </a:r>
            <a:r>
              <a:rPr lang="en-US"/>
              <a:t>, the element with </a:t>
            </a:r>
            <a:r>
              <a:rPr lang="en-US" b="1"/>
              <a:t>higher priority</a:t>
            </a:r>
            <a:r>
              <a:rPr lang="en-US"/>
              <a:t> is dequeued first.</a:t>
            </a:r>
            <a:endParaRPr/>
          </a:p>
          <a:p>
            <a:pPr>
              <a:defRPr/>
            </a:pPr>
            <a:r>
              <a:rPr lang="en-US"/>
              <a:t>If two elements have the </a:t>
            </a:r>
            <a:r>
              <a:rPr lang="en-US" b="1"/>
              <a:t>same priority</a:t>
            </a:r>
            <a:r>
              <a:rPr lang="en-US"/>
              <a:t>, they are served according to their order of arrival (like a normal queue).</a:t>
            </a:r>
            <a:endParaRPr/>
          </a:p>
          <a:p>
            <a:pPr>
              <a:defRPr/>
            </a:pPr>
            <a:r>
              <a:rPr lang="en-US"/>
              <a:t>Example :</a:t>
            </a:r>
            <a:endParaRPr/>
          </a:p>
          <a:p>
            <a:pPr lvl="1">
              <a:defRPr/>
            </a:pPr>
            <a:r>
              <a:rPr lang="en-US"/>
              <a:t>In hospitals, a patient with a </a:t>
            </a:r>
            <a:r>
              <a:rPr lang="en-US" b="1"/>
              <a:t>heart attack</a:t>
            </a:r>
            <a:r>
              <a:rPr lang="en-US"/>
              <a:t> is treated before a patient with a </a:t>
            </a:r>
            <a:r>
              <a:rPr lang="en-US" b="1"/>
              <a:t>minor cut</a:t>
            </a:r>
            <a:r>
              <a:rPr lang="en-US"/>
              <a:t>, even if the latter came earlier.</a:t>
            </a:r>
            <a:endParaRPr/>
          </a:p>
          <a:p>
            <a:pPr lvl="1">
              <a:defRPr/>
            </a:pPr>
            <a:r>
              <a:rPr lang="en-US"/>
              <a:t>In airports, a flight needing an </a:t>
            </a:r>
            <a:r>
              <a:rPr lang="en-US" b="1"/>
              <a:t>emergency landing</a:t>
            </a:r>
            <a:r>
              <a:rPr lang="en-US"/>
              <a:t> gets runway clearance before a </a:t>
            </a:r>
            <a:r>
              <a:rPr lang="en-US" b="1"/>
              <a:t>scheduled passenger flight</a:t>
            </a:r>
            <a:r>
              <a:rPr lang="en-US"/>
              <a:t>.</a:t>
            </a:r>
            <a:endParaRPr/>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59985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59985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59985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59985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5599857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5599857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5599857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9858061" name="Title 1"/>
          <p:cNvSpPr>
            <a:spLocks noGrp="1"/>
          </p:cNvSpPr>
          <p:nvPr>
            <p:ph type="title"/>
          </p:nvPr>
        </p:nvSpPr>
        <p:spPr bwMode="auto"/>
        <p:txBody>
          <a:bodyPr/>
          <a:lstStyle/>
          <a:p>
            <a:pPr>
              <a:defRPr/>
            </a:pPr>
            <a:r>
              <a:rPr lang="en-IN"/>
              <a:t>Types of Priority Queue</a:t>
            </a:r>
            <a:endParaRPr lang="en-US"/>
          </a:p>
        </p:txBody>
      </p:sp>
      <p:sp>
        <p:nvSpPr>
          <p:cNvPr id="298139865" name="Content Placeholder 2"/>
          <p:cNvSpPr>
            <a:spLocks noGrp="1"/>
          </p:cNvSpPr>
          <p:nvPr>
            <p:ph idx="1"/>
          </p:nvPr>
        </p:nvSpPr>
        <p:spPr bwMode="auto"/>
        <p:txBody>
          <a:bodyPr/>
          <a:lstStyle/>
          <a:p>
            <a:pPr marL="0" indent="0">
              <a:buNone/>
              <a:defRPr/>
            </a:pPr>
            <a:r>
              <a:rPr lang="en-US" sz="2600" b="1">
                <a:solidFill>
                  <a:schemeClr val="accent6"/>
                </a:solidFill>
              </a:rPr>
              <a:t>Ascending Priority Queue:</a:t>
            </a:r>
            <a:endParaRPr/>
          </a:p>
          <a:p>
            <a:pPr>
              <a:defRPr/>
            </a:pPr>
            <a:r>
              <a:rPr lang="en-US"/>
              <a:t>Elements with </a:t>
            </a:r>
            <a:r>
              <a:rPr lang="en-US" b="1"/>
              <a:t>lower priority </a:t>
            </a:r>
            <a:r>
              <a:rPr lang="en-US"/>
              <a:t>number (or smaller key value) </a:t>
            </a:r>
            <a:r>
              <a:rPr lang="en-US" b="1"/>
              <a:t>are dequeued first</a:t>
            </a:r>
            <a:r>
              <a:rPr lang="en-US"/>
              <a:t>.</a:t>
            </a:r>
            <a:endParaRPr/>
          </a:p>
          <a:p>
            <a:pPr>
              <a:defRPr/>
            </a:pPr>
            <a:r>
              <a:rPr lang="en-US"/>
              <a:t>Example: {A, 1}, {B, 3}, {C, 5} → A removed first.</a:t>
            </a:r>
            <a:endParaRPr/>
          </a:p>
          <a:p>
            <a:pPr marL="0" indent="0">
              <a:buNone/>
              <a:defRPr/>
            </a:pPr>
            <a:endParaRPr lang="en-US"/>
          </a:p>
          <a:p>
            <a:pPr marL="0" indent="0">
              <a:buNone/>
              <a:defRPr/>
            </a:pPr>
            <a:r>
              <a:rPr lang="en-US" sz="2600" b="1">
                <a:solidFill>
                  <a:schemeClr val="accent6"/>
                </a:solidFill>
              </a:rPr>
              <a:t>Descending Priority Queue:</a:t>
            </a:r>
            <a:endParaRPr/>
          </a:p>
          <a:p>
            <a:pPr>
              <a:defRPr/>
            </a:pPr>
            <a:r>
              <a:rPr lang="en-US"/>
              <a:t>Elements with </a:t>
            </a:r>
            <a:r>
              <a:rPr lang="en-US" b="1"/>
              <a:t>higher priority</a:t>
            </a:r>
            <a:r>
              <a:rPr lang="en-US"/>
              <a:t> number (or larger key value) </a:t>
            </a:r>
            <a:r>
              <a:rPr lang="en-US" b="1"/>
              <a:t>are dequeued first</a:t>
            </a:r>
            <a:r>
              <a:rPr lang="en-US"/>
              <a:t>.</a:t>
            </a:r>
            <a:endParaRPr/>
          </a:p>
          <a:p>
            <a:pPr>
              <a:defRPr/>
            </a:pPr>
            <a:r>
              <a:rPr lang="en-US"/>
              <a:t>Example: {X,10}, {Y, 7}, {Z,3} → X removed first.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81398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81398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81398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813986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813986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813986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0583656" name="Rectangle 3"/>
          <p:cNvSpPr/>
          <p:nvPr/>
        </p:nvSpPr>
        <p:spPr bwMode="auto">
          <a:xfrm>
            <a:off x="719091" y="2015231"/>
            <a:ext cx="3409026" cy="260115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2014479534" name="Title 1"/>
          <p:cNvSpPr>
            <a:spLocks noGrp="1"/>
          </p:cNvSpPr>
          <p:nvPr>
            <p:ph type="title"/>
          </p:nvPr>
        </p:nvSpPr>
        <p:spPr bwMode="auto"/>
        <p:txBody>
          <a:bodyPr/>
          <a:lstStyle/>
          <a:p>
            <a:pPr>
              <a:defRPr/>
            </a:pPr>
            <a:r>
              <a:rPr lang="en-US"/>
              <a:t>Priority Queue</a:t>
            </a:r>
            <a:endParaRPr/>
          </a:p>
        </p:txBody>
      </p:sp>
      <p:sp>
        <p:nvSpPr>
          <p:cNvPr id="1068205071" name="Content Placeholder 2"/>
          <p:cNvSpPr>
            <a:spLocks noGrp="1"/>
          </p:cNvSpPr>
          <p:nvPr>
            <p:ph idx="1"/>
          </p:nvPr>
        </p:nvSpPr>
        <p:spPr bwMode="auto">
          <a:xfrm>
            <a:off x="131180" y="876144"/>
            <a:ext cx="11929641" cy="1245619"/>
          </a:xfrm>
        </p:spPr>
        <p:txBody>
          <a:bodyPr/>
          <a:lstStyle/>
          <a:p>
            <a:pPr>
              <a:defRPr/>
            </a:pPr>
            <a:r>
              <a:rPr lang="en-US"/>
              <a:t>To implement Priority Queue, we need to take a </a:t>
            </a:r>
            <a:r>
              <a:rPr lang="en-US" b="1"/>
              <a:t>c structure </a:t>
            </a:r>
            <a:r>
              <a:rPr lang="en-US"/>
              <a:t>because we have to store both : </a:t>
            </a:r>
            <a:r>
              <a:rPr lang="en-US" b="1"/>
              <a:t>data</a:t>
            </a:r>
            <a:r>
              <a:rPr lang="en-US"/>
              <a:t> &amp; </a:t>
            </a:r>
            <a:r>
              <a:rPr lang="en-US" b="1"/>
              <a:t>it’s priority</a:t>
            </a:r>
            <a:r>
              <a:rPr lang="en-US"/>
              <a:t>.</a:t>
            </a:r>
            <a:endParaRPr/>
          </a:p>
          <a:p>
            <a:pPr>
              <a:defRPr/>
            </a:pPr>
            <a:endParaRPr lang="en-US"/>
          </a:p>
          <a:p>
            <a:pPr marL="0" indent="893763">
              <a:buNone/>
              <a:defRPr/>
            </a:pPr>
            <a:r>
              <a:rPr lang="en-US">
                <a:solidFill>
                  <a:srgbClr val="558ED5"/>
                </a:solidFill>
              </a:rPr>
              <a:t>struct</a:t>
            </a:r>
            <a:r>
              <a:rPr lang="en-US"/>
              <a:t> </a:t>
            </a:r>
            <a:r>
              <a:rPr lang="en-US"/>
              <a:t>PriorityQueue</a:t>
            </a:r>
            <a:r>
              <a:rPr lang="en-US"/>
              <a:t> </a:t>
            </a:r>
            <a:endParaRPr/>
          </a:p>
          <a:p>
            <a:pPr marL="0" indent="893763">
              <a:buNone/>
              <a:defRPr/>
            </a:pPr>
            <a:r>
              <a:rPr lang="en-US"/>
              <a:t>{</a:t>
            </a:r>
            <a:endParaRPr/>
          </a:p>
          <a:p>
            <a:pPr marL="0" indent="893763">
              <a:buNone/>
              <a:defRPr/>
            </a:pPr>
            <a:r>
              <a:rPr lang="en-US"/>
              <a:t>   </a:t>
            </a:r>
            <a:r>
              <a:rPr lang="en-US">
                <a:solidFill>
                  <a:srgbClr val="558ED5"/>
                </a:solidFill>
              </a:rPr>
              <a:t> int </a:t>
            </a:r>
            <a:r>
              <a:rPr lang="en-US"/>
              <a:t>data;</a:t>
            </a:r>
            <a:endParaRPr/>
          </a:p>
          <a:p>
            <a:pPr marL="0" indent="893763">
              <a:buNone/>
              <a:defRPr/>
            </a:pPr>
            <a:r>
              <a:rPr lang="en-US"/>
              <a:t>   </a:t>
            </a:r>
            <a:r>
              <a:rPr lang="en-US">
                <a:solidFill>
                  <a:srgbClr val="558ED5"/>
                </a:solidFill>
              </a:rPr>
              <a:t> int</a:t>
            </a:r>
            <a:r>
              <a:rPr lang="en-US"/>
              <a:t> priority</a:t>
            </a:r>
            <a:r>
              <a:rPr lang="en-US"/>
              <a:t>;</a:t>
            </a:r>
            <a:r>
              <a:rPr lang="en-US">
                <a:solidFill>
                  <a:srgbClr val="558ED5"/>
                </a:solidFill>
              </a:rPr>
              <a:t> </a:t>
            </a:r>
            <a:endParaRPr lang="en-US"/>
          </a:p>
          <a:p>
            <a:pPr marL="0" indent="893763">
              <a:buNone/>
              <a:defRPr/>
            </a:pPr>
            <a:r>
              <a:rPr lang="en-US"/>
              <a:t>};</a:t>
            </a:r>
            <a:r>
              <a:rPr lang="en-US">
                <a:solidFill>
                  <a:srgbClr val="558ED5"/>
                </a:solidFill>
              </a:rPr>
              <a:t> </a:t>
            </a:r>
            <a:endParaRPr lang="en-US"/>
          </a:p>
          <a:p>
            <a:pPr marL="0" indent="0">
              <a:buNone/>
              <a:defRPr/>
            </a:pPr>
            <a:endParaRPr lang="en-US" b="1"/>
          </a:p>
          <a:p>
            <a:pPr marL="0" indent="0">
              <a:buNone/>
              <a:defRPr/>
            </a:pPr>
            <a:endParaRPr lang="en-US"/>
          </a:p>
        </p:txBody>
      </p:sp>
      <p:sp>
        <p:nvSpPr>
          <p:cNvPr id="733248124" name="Rectangle 6"/>
          <p:cNvSpPr/>
          <p:nvPr/>
        </p:nvSpPr>
        <p:spPr bwMode="auto">
          <a:xfrm>
            <a:off x="227680" y="4780171"/>
            <a:ext cx="3764492" cy="369332"/>
          </a:xfrm>
          <a:prstGeom prst="rect">
            <a:avLst/>
          </a:prstGeom>
        </p:spPr>
        <p:txBody>
          <a:bodyPr wrap="none">
            <a:spAutoFit/>
          </a:bodyPr>
          <a:lstStyle/>
          <a:p>
            <a:pPr indent="893763">
              <a:defRPr/>
            </a:pPr>
            <a:r>
              <a:rPr lang="en-US">
                <a:solidFill>
                  <a:srgbClr val="558ED5"/>
                </a:solidFill>
              </a:rPr>
              <a:t>struct</a:t>
            </a:r>
            <a:r>
              <a:rPr lang="en-US"/>
              <a:t> </a:t>
            </a:r>
            <a:r>
              <a:rPr lang="en-US"/>
              <a:t>PriorityQueue</a:t>
            </a:r>
            <a:r>
              <a:rPr lang="en-US"/>
              <a:t> </a:t>
            </a:r>
            <a:r>
              <a:rPr lang="en-US"/>
              <a:t>pq</a:t>
            </a:r>
            <a:r>
              <a:rPr lang="en-US"/>
              <a:t>[SIZE];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82050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82050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682050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6820507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6820507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682050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0358166" name="Title 1"/>
          <p:cNvSpPr>
            <a:spLocks noGrp="1"/>
          </p:cNvSpPr>
          <p:nvPr>
            <p:ph type="title"/>
          </p:nvPr>
        </p:nvSpPr>
        <p:spPr bwMode="auto"/>
        <p:txBody>
          <a:bodyPr/>
          <a:lstStyle/>
          <a:p>
            <a:pPr>
              <a:defRPr/>
            </a:pPr>
            <a:r>
              <a:rPr lang="en-US"/>
              <a:t>Priority Queue </a:t>
            </a:r>
            <a:r>
              <a:rPr lang="en-US"/>
              <a:t>Cont</a:t>
            </a:r>
            <a:r>
              <a:rPr lang="en-US"/>
              <a:t>…</a:t>
            </a:r>
            <a:endParaRPr/>
          </a:p>
        </p:txBody>
      </p:sp>
      <p:graphicFrame>
        <p:nvGraphicFramePr>
          <p:cNvPr id="95688145" name="Table 3"/>
          <p:cNvGraphicFramePr>
            <a:graphicFrameLocks xmlns:a="http://schemas.openxmlformats.org/drawingml/2006/main" noGrp="1"/>
          </p:cNvGraphicFramePr>
          <p:nvPr/>
        </p:nvGraphicFramePr>
        <p:xfrm rot="0">
          <a:off x="2514596" y="950793"/>
          <a:ext cx="7924804" cy="750332"/>
        </p:xfrm>
        <a:graphic>
          <a:graphicData uri="http://schemas.openxmlformats.org/drawingml/2006/table">
            <a:tbl>
              <a:tblPr firstRow="1" firstCol="1" lastRow="0" lastCol="0" bandRow="1" bandCol="0">
                <a:tableStyleId>{3B4B98B0-60AC-42C2-AFA5-B58CD77FA1E5}</a:tableStyleId>
              </a:tblPr>
              <a:tblGrid>
                <a:gridCol w="573922"/>
                <a:gridCol w="573922"/>
                <a:gridCol w="531657"/>
                <a:gridCol w="657342"/>
                <a:gridCol w="603954"/>
                <a:gridCol w="603954"/>
                <a:gridCol w="531657"/>
                <a:gridCol w="688485"/>
                <a:gridCol w="828629"/>
                <a:gridCol w="575035"/>
                <a:gridCol w="531657"/>
                <a:gridCol w="692933"/>
                <a:gridCol w="531657"/>
              </a:tblGrid>
              <a:tr h="375166">
                <a:tc>
                  <a:txBody>
                    <a:bodyPr/>
                    <a:p>
                      <a:pPr algn="ctr">
                        <a:lnSpc>
                          <a:spcPct val="114999"/>
                        </a:lnSpc>
                        <a:spcAft>
                          <a:spcPts val="0"/>
                        </a:spcAft>
                        <a:defRPr/>
                      </a:pPr>
                      <a:r>
                        <a:rPr lang="en-US" sz="1900"/>
                        <a:t>R</a:t>
                      </a:r>
                      <a:r>
                        <a:rPr lang="en-US" sz="1900" baseline="-25000"/>
                        <a:t>1</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R</a:t>
                      </a:r>
                      <a:r>
                        <a:rPr lang="en-US" sz="1900" baseline="-25000"/>
                        <a:t>2</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R</a:t>
                      </a:r>
                      <a:r>
                        <a:rPr lang="en-US" sz="1900" baseline="-25000"/>
                        <a:t>i-1</a:t>
                      </a:r>
                      <a:endParaRPr lang="en-US" sz="1900">
                        <a:latin typeface="Calibri"/>
                        <a:ea typeface="Calibri"/>
                        <a:cs typeface="Shruti"/>
                      </a:endParaRPr>
                    </a:p>
                  </a:txBody>
                  <a:tcPr marL="64906" marR="64906" marT="0" marB="0">
                    <a:lnR w="12700" algn="ctr">
                      <a:solidFill>
                        <a:schemeClr val="tx1"/>
                      </a:solidFill>
                    </a:lnR>
                  </a:tcPr>
                </a:tc>
                <a:tc>
                  <a:txBody>
                    <a:bodyPr/>
                    <a:p>
                      <a:pPr algn="ctr">
                        <a:lnSpc>
                          <a:spcPct val="114999"/>
                        </a:lnSpc>
                        <a:spcAft>
                          <a:spcPts val="0"/>
                        </a:spcAft>
                        <a:defRPr/>
                      </a:pPr>
                      <a:r>
                        <a:rPr lang="en-US" sz="1900"/>
                        <a:t>O</a:t>
                      </a:r>
                      <a:r>
                        <a:rPr lang="en-US" sz="1900" baseline="-25000"/>
                        <a:t>1</a:t>
                      </a:r>
                      <a:endParaRPr lang="en-US" sz="1900">
                        <a:latin typeface="Calibri"/>
                        <a:ea typeface="Calibri"/>
                        <a:cs typeface="Shruti"/>
                      </a:endParaRPr>
                    </a:p>
                  </a:txBody>
                  <a:tcPr marL="64906" marR="64906" marT="0" marB="0">
                    <a:lnL w="12700" algn="ctr">
                      <a:solidFill>
                        <a:schemeClr val="tx1"/>
                      </a:solidFill>
                    </a:lnL>
                  </a:tcPr>
                </a:tc>
                <a:tc>
                  <a:txBody>
                    <a:bodyPr/>
                    <a:p>
                      <a:pPr algn="ctr">
                        <a:lnSpc>
                          <a:spcPct val="114999"/>
                        </a:lnSpc>
                        <a:spcAft>
                          <a:spcPts val="0"/>
                        </a:spcAft>
                        <a:defRPr/>
                      </a:pPr>
                      <a:r>
                        <a:rPr lang="en-US" sz="1900"/>
                        <a:t>O</a:t>
                      </a:r>
                      <a:r>
                        <a:rPr lang="en-US" sz="1900" baseline="-25000"/>
                        <a:t>2</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O</a:t>
                      </a:r>
                      <a:r>
                        <a:rPr lang="en-US" sz="1900" baseline="-25000"/>
                        <a:t>j-1</a:t>
                      </a:r>
                      <a:endParaRPr lang="en-US" sz="1900">
                        <a:latin typeface="Calibri"/>
                        <a:ea typeface="Calibri"/>
                        <a:cs typeface="Shruti"/>
                      </a:endParaRPr>
                    </a:p>
                  </a:txBody>
                  <a:tcPr marL="64906" marR="64906" marT="0" marB="0">
                    <a:lnR w="12700" algn="ctr">
                      <a:solidFill>
                        <a:schemeClr val="tx1"/>
                      </a:solidFill>
                    </a:lnR>
                  </a:tcPr>
                </a:tc>
                <a:tc>
                  <a:txBody>
                    <a:bodyPr/>
                    <a:p>
                      <a:pPr algn="ctr">
                        <a:lnSpc>
                          <a:spcPct val="114999"/>
                        </a:lnSpc>
                        <a:spcAft>
                          <a:spcPts val="0"/>
                        </a:spcAft>
                        <a:defRPr/>
                      </a:pPr>
                      <a:r>
                        <a:rPr lang="en-US" sz="1900"/>
                        <a:t>B</a:t>
                      </a:r>
                      <a:r>
                        <a:rPr lang="en-US" sz="1900" baseline="-25000"/>
                        <a:t>1</a:t>
                      </a:r>
                      <a:endParaRPr lang="en-US" sz="1900">
                        <a:latin typeface="Calibri"/>
                        <a:ea typeface="Calibri"/>
                        <a:cs typeface="Shruti"/>
                      </a:endParaRPr>
                    </a:p>
                  </a:txBody>
                  <a:tcPr marL="64906" marR="64906" marT="0" marB="0">
                    <a:lnL w="12700" algn="ctr">
                      <a:solidFill>
                        <a:schemeClr val="tx1"/>
                      </a:solidFill>
                    </a:lnL>
                  </a:tcPr>
                </a:tc>
                <a:tc>
                  <a:txBody>
                    <a:bodyPr/>
                    <a:p>
                      <a:pPr algn="ctr">
                        <a:lnSpc>
                          <a:spcPct val="114999"/>
                        </a:lnSpc>
                        <a:spcAft>
                          <a:spcPts val="0"/>
                        </a:spcAft>
                        <a:defRPr/>
                      </a:pPr>
                      <a:r>
                        <a:rPr lang="en-US" sz="1900"/>
                        <a:t>B</a:t>
                      </a:r>
                      <a:r>
                        <a:rPr lang="en-US" sz="1900" baseline="-25000"/>
                        <a:t>2</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B</a:t>
                      </a:r>
                      <a:r>
                        <a:rPr lang="en-US" sz="1900" baseline="-25000"/>
                        <a:t>k-1</a:t>
                      </a:r>
                      <a:endParaRPr lang="en-US" sz="1900">
                        <a:latin typeface="Calibri"/>
                        <a:ea typeface="Calibri"/>
                        <a:cs typeface="Shruti"/>
                      </a:endParaRPr>
                    </a:p>
                  </a:txBody>
                  <a:tcPr marL="64906" marR="64906" marT="0" marB="0">
                    <a:lnR w="12700" algn="ctr">
                      <a:solidFill>
                        <a:schemeClr val="tx1"/>
                      </a:solidFill>
                    </a:lnR>
                  </a:tcPr>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lnL w="12700" algn="ctr">
                      <a:solidFill>
                        <a:schemeClr val="tx1"/>
                      </a:solidFill>
                    </a:lnL>
                  </a:tcPr>
                </a:tc>
              </a:tr>
              <a:tr h="375166">
                <a:tc>
                  <a:txBody>
                    <a:bodyPr/>
                    <a:p>
                      <a:pPr algn="ctr">
                        <a:lnSpc>
                          <a:spcPct val="114999"/>
                        </a:lnSpc>
                        <a:spcAft>
                          <a:spcPts val="0"/>
                        </a:spcAft>
                        <a:defRPr/>
                      </a:pPr>
                      <a:r>
                        <a:rPr lang="en-US" sz="1900"/>
                        <a:t>1</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1</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1</a:t>
                      </a:r>
                      <a:endParaRPr lang="en-US" sz="1900">
                        <a:latin typeface="Calibri"/>
                        <a:ea typeface="Calibri"/>
                        <a:cs typeface="Shruti"/>
                      </a:endParaRPr>
                    </a:p>
                  </a:txBody>
                  <a:tcPr marL="64906" marR="64906" marT="0" marB="0">
                    <a:lnR w="12700" algn="ctr">
                      <a:solidFill>
                        <a:schemeClr val="tx1"/>
                      </a:solidFill>
                    </a:lnR>
                  </a:tcPr>
                </a:tc>
                <a:tc>
                  <a:txBody>
                    <a:bodyPr/>
                    <a:p>
                      <a:pPr algn="ctr">
                        <a:lnSpc>
                          <a:spcPct val="114999"/>
                        </a:lnSpc>
                        <a:spcAft>
                          <a:spcPts val="0"/>
                        </a:spcAft>
                        <a:defRPr/>
                      </a:pPr>
                      <a:r>
                        <a:rPr lang="en-US" sz="1900"/>
                        <a:t>2</a:t>
                      </a:r>
                      <a:endParaRPr lang="en-US" sz="1900">
                        <a:latin typeface="Calibri"/>
                        <a:ea typeface="Calibri"/>
                        <a:cs typeface="Shruti"/>
                      </a:endParaRPr>
                    </a:p>
                  </a:txBody>
                  <a:tcPr marL="64906" marR="64906" marT="0" marB="0">
                    <a:lnL w="12700" algn="ctr">
                      <a:solidFill>
                        <a:schemeClr val="tx1"/>
                      </a:solidFill>
                    </a:lnL>
                  </a:tcPr>
                </a:tc>
                <a:tc>
                  <a:txBody>
                    <a:bodyPr/>
                    <a:p>
                      <a:pPr algn="ctr">
                        <a:lnSpc>
                          <a:spcPct val="114999"/>
                        </a:lnSpc>
                        <a:spcAft>
                          <a:spcPts val="0"/>
                        </a:spcAft>
                        <a:defRPr/>
                      </a:pPr>
                      <a:r>
                        <a:rPr lang="en-US" sz="1900"/>
                        <a:t>2</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2</a:t>
                      </a:r>
                      <a:endParaRPr lang="en-US" sz="1900">
                        <a:latin typeface="Calibri"/>
                        <a:ea typeface="Calibri"/>
                        <a:cs typeface="Shruti"/>
                      </a:endParaRPr>
                    </a:p>
                  </a:txBody>
                  <a:tcPr marL="64906" marR="64906" marT="0" marB="0">
                    <a:lnR w="12700" algn="ctr">
                      <a:solidFill>
                        <a:schemeClr val="tx1"/>
                      </a:solidFill>
                    </a:lnR>
                  </a:tcPr>
                </a:tc>
                <a:tc>
                  <a:txBody>
                    <a:bodyPr/>
                    <a:p>
                      <a:pPr algn="ctr">
                        <a:lnSpc>
                          <a:spcPct val="114999"/>
                        </a:lnSpc>
                        <a:spcAft>
                          <a:spcPts val="0"/>
                        </a:spcAft>
                        <a:defRPr/>
                      </a:pPr>
                      <a:r>
                        <a:rPr lang="en-US" sz="1900"/>
                        <a:t>3</a:t>
                      </a:r>
                      <a:endParaRPr lang="en-US" sz="1900">
                        <a:latin typeface="Calibri"/>
                        <a:ea typeface="Calibri"/>
                        <a:cs typeface="Shruti"/>
                      </a:endParaRPr>
                    </a:p>
                  </a:txBody>
                  <a:tcPr marL="64906" marR="64906" marT="0" marB="0">
                    <a:lnL w="12700" algn="ctr">
                      <a:solidFill>
                        <a:schemeClr val="tx1"/>
                      </a:solidFill>
                    </a:lnL>
                  </a:tcPr>
                </a:tc>
                <a:tc>
                  <a:txBody>
                    <a:bodyPr/>
                    <a:p>
                      <a:pPr algn="ctr">
                        <a:lnSpc>
                          <a:spcPct val="114999"/>
                        </a:lnSpc>
                        <a:spcAft>
                          <a:spcPts val="0"/>
                        </a:spcAft>
                        <a:defRPr/>
                      </a:pPr>
                      <a:r>
                        <a:rPr lang="en-US" sz="1900"/>
                        <a:t>3</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tc>
                <a:tc>
                  <a:txBody>
                    <a:bodyPr/>
                    <a:p>
                      <a:pPr algn="ctr">
                        <a:lnSpc>
                          <a:spcPct val="114999"/>
                        </a:lnSpc>
                        <a:spcAft>
                          <a:spcPts val="0"/>
                        </a:spcAft>
                        <a:defRPr/>
                      </a:pPr>
                      <a:r>
                        <a:rPr lang="en-US" sz="1900"/>
                        <a:t>3</a:t>
                      </a:r>
                      <a:endParaRPr lang="en-US" sz="1900">
                        <a:latin typeface="Calibri"/>
                        <a:ea typeface="Calibri"/>
                        <a:cs typeface="Shruti"/>
                      </a:endParaRPr>
                    </a:p>
                  </a:txBody>
                  <a:tcPr marL="64906" marR="64906" marT="0" marB="0">
                    <a:lnR w="12700" algn="ctr">
                      <a:solidFill>
                        <a:schemeClr val="tx1"/>
                      </a:solidFill>
                    </a:lnR>
                  </a:tcPr>
                </a:tc>
                <a:tc>
                  <a:txBody>
                    <a:bodyPr/>
                    <a:p>
                      <a:pPr algn="ctr">
                        <a:lnSpc>
                          <a:spcPct val="114999"/>
                        </a:lnSpc>
                        <a:spcAft>
                          <a:spcPts val="0"/>
                        </a:spcAft>
                        <a:defRPr/>
                      </a:pPr>
                      <a:r>
                        <a:rPr lang="en-US" sz="1900"/>
                        <a:t>…</a:t>
                      </a:r>
                      <a:endParaRPr lang="en-US" sz="1900">
                        <a:latin typeface="Calibri"/>
                        <a:ea typeface="Calibri"/>
                        <a:cs typeface="Shruti"/>
                      </a:endParaRPr>
                    </a:p>
                  </a:txBody>
                  <a:tcPr marL="64906" marR="64906" marT="0" marB="0">
                    <a:lnL w="12700" algn="ctr">
                      <a:solidFill>
                        <a:schemeClr val="tx1"/>
                      </a:solidFill>
                    </a:lnL>
                  </a:tcPr>
                </a:tc>
              </a:tr>
            </a:tbl>
          </a:graphicData>
        </a:graphic>
      </p:graphicFrame>
      <p:sp>
        <p:nvSpPr>
          <p:cNvPr id="431977767" name="TextBox 4"/>
          <p:cNvSpPr txBox="1"/>
          <p:nvPr/>
        </p:nvSpPr>
        <p:spPr bwMode="auto">
          <a:xfrm>
            <a:off x="1578578" y="1331793"/>
            <a:ext cx="896399" cy="369332"/>
          </a:xfrm>
          <a:prstGeom prst="rect">
            <a:avLst/>
          </a:prstGeom>
          <a:noFill/>
        </p:spPr>
        <p:txBody>
          <a:bodyPr wrap="none" rtlCol="0">
            <a:spAutoFit/>
          </a:bodyPr>
          <a:lstStyle/>
          <a:p>
            <a:pPr>
              <a:defRPr/>
            </a:pPr>
            <a:r>
              <a:rPr lang="en-IN" b="1">
                <a:solidFill>
                  <a:srgbClr val="C00000"/>
                </a:solidFill>
              </a:rPr>
              <a:t>Priority</a:t>
            </a:r>
            <a:endParaRPr lang="en-US" b="1">
              <a:solidFill>
                <a:srgbClr val="C00000"/>
              </a:solidFill>
            </a:endParaRPr>
          </a:p>
        </p:txBody>
      </p:sp>
      <p:sp>
        <p:nvSpPr>
          <p:cNvPr id="602788782" name="TextBox 5"/>
          <p:cNvSpPr txBox="1"/>
          <p:nvPr/>
        </p:nvSpPr>
        <p:spPr bwMode="auto">
          <a:xfrm>
            <a:off x="1600201" y="935553"/>
            <a:ext cx="633507" cy="369332"/>
          </a:xfrm>
          <a:prstGeom prst="rect">
            <a:avLst/>
          </a:prstGeom>
          <a:noFill/>
        </p:spPr>
        <p:txBody>
          <a:bodyPr wrap="none" rtlCol="0">
            <a:spAutoFit/>
          </a:bodyPr>
          <a:lstStyle/>
          <a:p>
            <a:pPr>
              <a:defRPr/>
            </a:pPr>
            <a:r>
              <a:rPr lang="en-IN" b="1">
                <a:solidFill>
                  <a:srgbClr val="C00000"/>
                </a:solidFill>
              </a:rPr>
              <a:t>Task</a:t>
            </a:r>
            <a:endParaRPr lang="en-US" b="1">
              <a:solidFill>
                <a:srgbClr val="C00000"/>
              </a:solidFill>
            </a:endParaRPr>
          </a:p>
        </p:txBody>
      </p:sp>
      <p:sp>
        <p:nvSpPr>
          <p:cNvPr id="2069041924" name="TextBox 6"/>
          <p:cNvSpPr txBox="1"/>
          <p:nvPr/>
        </p:nvSpPr>
        <p:spPr bwMode="auto">
          <a:xfrm>
            <a:off x="4371418" y="2169993"/>
            <a:ext cx="352982" cy="369332"/>
          </a:xfrm>
          <a:prstGeom prst="rect">
            <a:avLst/>
          </a:prstGeom>
          <a:noFill/>
        </p:spPr>
        <p:txBody>
          <a:bodyPr wrap="none" rtlCol="0">
            <a:spAutoFit/>
          </a:bodyPr>
          <a:lstStyle/>
          <a:p>
            <a:pPr>
              <a:defRPr/>
            </a:pPr>
            <a:r>
              <a:rPr lang="en-IN" b="1">
                <a:solidFill>
                  <a:srgbClr val="C00000"/>
                </a:solidFill>
              </a:rPr>
              <a:t>R</a:t>
            </a:r>
            <a:r>
              <a:rPr lang="en-IN" b="1" baseline="-25000">
                <a:solidFill>
                  <a:srgbClr val="C00000"/>
                </a:solidFill>
              </a:rPr>
              <a:t>i</a:t>
            </a:r>
            <a:endParaRPr lang="en-US" b="1" baseline="-25000">
              <a:solidFill>
                <a:srgbClr val="C00000"/>
              </a:solidFill>
            </a:endParaRPr>
          </a:p>
        </p:txBody>
      </p:sp>
      <p:cxnSp>
        <p:nvCxnSpPr>
          <p:cNvPr id="1148199213" name="Straight Arrow Connector 8"/>
          <p:cNvCxnSpPr>
            <a:stCxn id="2069041924" idx="0"/>
          </p:cNvCxnSpPr>
          <p:nvPr/>
        </p:nvCxnSpPr>
        <p:spPr bwMode="auto">
          <a:xfrm flipV="1">
            <a:off x="4547909" y="1701125"/>
            <a:ext cx="0" cy="4688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6824836" name="TextBox 9"/>
          <p:cNvSpPr txBox="1"/>
          <p:nvPr/>
        </p:nvSpPr>
        <p:spPr bwMode="auto">
          <a:xfrm>
            <a:off x="6809818" y="2181661"/>
            <a:ext cx="362600" cy="369332"/>
          </a:xfrm>
          <a:prstGeom prst="rect">
            <a:avLst/>
          </a:prstGeom>
          <a:noFill/>
        </p:spPr>
        <p:txBody>
          <a:bodyPr wrap="none" rtlCol="0">
            <a:spAutoFit/>
          </a:bodyPr>
          <a:lstStyle/>
          <a:p>
            <a:pPr>
              <a:defRPr/>
            </a:pPr>
            <a:r>
              <a:rPr lang="en-IN" b="1">
                <a:solidFill>
                  <a:srgbClr val="C00000"/>
                </a:solidFill>
              </a:rPr>
              <a:t>O</a:t>
            </a:r>
            <a:r>
              <a:rPr lang="en-IN" b="1" baseline="-25000">
                <a:solidFill>
                  <a:srgbClr val="C00000"/>
                </a:solidFill>
              </a:rPr>
              <a:t>j</a:t>
            </a:r>
            <a:endParaRPr lang="en-US" b="1" baseline="-25000">
              <a:solidFill>
                <a:srgbClr val="C00000"/>
              </a:solidFill>
            </a:endParaRPr>
          </a:p>
        </p:txBody>
      </p:sp>
      <p:sp>
        <p:nvSpPr>
          <p:cNvPr id="404593170" name="TextBox 11"/>
          <p:cNvSpPr txBox="1"/>
          <p:nvPr/>
        </p:nvSpPr>
        <p:spPr bwMode="auto">
          <a:xfrm>
            <a:off x="9449568" y="2181661"/>
            <a:ext cx="388248" cy="369332"/>
          </a:xfrm>
          <a:prstGeom prst="rect">
            <a:avLst/>
          </a:prstGeom>
          <a:noFill/>
        </p:spPr>
        <p:txBody>
          <a:bodyPr wrap="none" rtlCol="0">
            <a:spAutoFit/>
          </a:bodyPr>
          <a:lstStyle/>
          <a:p>
            <a:pPr>
              <a:defRPr/>
            </a:pPr>
            <a:r>
              <a:rPr lang="en-IN" b="1">
                <a:solidFill>
                  <a:srgbClr val="C00000"/>
                </a:solidFill>
              </a:rPr>
              <a:t>B</a:t>
            </a:r>
            <a:r>
              <a:rPr lang="en-IN" b="1" baseline="-25000">
                <a:solidFill>
                  <a:srgbClr val="C00000"/>
                </a:solidFill>
              </a:rPr>
              <a:t>k</a:t>
            </a:r>
            <a:endParaRPr lang="en-US" b="1" baseline="-25000">
              <a:solidFill>
                <a:srgbClr val="C00000"/>
              </a:solidFill>
            </a:endParaRPr>
          </a:p>
        </p:txBody>
      </p:sp>
      <p:cxnSp>
        <p:nvCxnSpPr>
          <p:cNvPr id="793380737" name="Straight Arrow Connector 14"/>
          <p:cNvCxnSpPr>
            <a:stCxn id="16824836" idx="0"/>
          </p:cNvCxnSpPr>
          <p:nvPr/>
        </p:nvCxnSpPr>
        <p:spPr bwMode="auto">
          <a:xfrm flipV="1">
            <a:off x="6991118" y="1701125"/>
            <a:ext cx="8816" cy="480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1688671" name="Straight Arrow Connector 16"/>
          <p:cNvCxnSpPr>
            <a:stCxn id="404593170" idx="0"/>
          </p:cNvCxnSpPr>
          <p:nvPr/>
        </p:nvCxnSpPr>
        <p:spPr bwMode="auto">
          <a:xfrm flipV="1">
            <a:off x="9643692" y="1701125"/>
            <a:ext cx="0" cy="480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678813722" name="TextBox 17"/>
          <p:cNvSpPr txBox="1"/>
          <p:nvPr/>
        </p:nvSpPr>
        <p:spPr bwMode="auto">
          <a:xfrm>
            <a:off x="2416948" y="2627193"/>
            <a:ext cx="7358104" cy="369332"/>
          </a:xfrm>
          <a:prstGeom prst="rect">
            <a:avLst/>
          </a:prstGeom>
          <a:noFill/>
        </p:spPr>
        <p:txBody>
          <a:bodyPr wrap="none" rtlCol="0">
            <a:spAutoFit/>
          </a:bodyPr>
          <a:lstStyle/>
          <a:p>
            <a:pPr algn="ctr">
              <a:defRPr/>
            </a:pPr>
            <a:r>
              <a:rPr lang="en-IN" b="1"/>
              <a:t>Priority Queue viewed as a single queue with insertion allowed at any position</a:t>
            </a:r>
            <a:endParaRPr lang="en-US" b="1"/>
          </a:p>
        </p:txBody>
      </p:sp>
      <p:graphicFrame>
        <p:nvGraphicFramePr>
          <p:cNvPr id="1661263574" name="Table 18"/>
          <p:cNvGraphicFramePr>
            <a:graphicFrameLocks xmlns:a="http://schemas.openxmlformats.org/drawingml/2006/main" noGrp="1"/>
          </p:cNvGraphicFramePr>
          <p:nvPr/>
        </p:nvGraphicFramePr>
        <p:xfrm rot="0">
          <a:off x="2971800" y="3514161"/>
          <a:ext cx="2336843" cy="375166"/>
        </p:xfrm>
        <a:graphic>
          <a:graphicData uri="http://schemas.openxmlformats.org/drawingml/2006/table">
            <a:tbl>
              <a:tblPr firstRow="1" firstCol="1" lastRow="0" lastCol="0" bandRow="1" bandCol="0">
                <a:tableStyleId>{BC89EF96-8CEA-46FF-86C4-4CE0E7609802}</a:tableStyleId>
              </a:tblPr>
              <a:tblGrid>
                <a:gridCol w="573922"/>
                <a:gridCol w="573922"/>
                <a:gridCol w="531657"/>
                <a:gridCol w="657342"/>
              </a:tblGrid>
              <a:tr h="375166">
                <a:tc>
                  <a:txBody>
                    <a:bodyPr/>
                    <a:p>
                      <a:pPr algn="ctr">
                        <a:lnSpc>
                          <a:spcPct val="114999"/>
                        </a:lnSpc>
                        <a:spcAft>
                          <a:spcPts val="0"/>
                        </a:spcAft>
                        <a:defRPr/>
                      </a:pPr>
                      <a:r>
                        <a:rPr lang="en-US" sz="2100"/>
                        <a:t>R</a:t>
                      </a:r>
                      <a:r>
                        <a:rPr lang="en-US" sz="2100" baseline="-25000"/>
                        <a:t>1</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R</a:t>
                      </a:r>
                      <a:r>
                        <a:rPr lang="en-US" sz="2100" baseline="-25000"/>
                        <a:t>2</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R</a:t>
                      </a:r>
                      <a:r>
                        <a:rPr lang="en-US" sz="2100" baseline="-25000"/>
                        <a:t>i-1</a:t>
                      </a:r>
                      <a:endParaRPr lang="en-US" sz="2100">
                        <a:latin typeface="Calibri"/>
                        <a:ea typeface="Calibri"/>
                        <a:cs typeface="Shruti"/>
                      </a:endParaRPr>
                    </a:p>
                  </a:txBody>
                  <a:tcPr marL="64906" marR="64906" marT="0" marB="0"/>
                </a:tc>
              </a:tr>
            </a:tbl>
          </a:graphicData>
        </a:graphic>
      </p:graphicFrame>
      <p:graphicFrame>
        <p:nvGraphicFramePr>
          <p:cNvPr id="1954375309" name="Table 19"/>
          <p:cNvGraphicFramePr>
            <a:graphicFrameLocks xmlns:a="http://schemas.openxmlformats.org/drawingml/2006/main" noGrp="1"/>
          </p:cNvGraphicFramePr>
          <p:nvPr/>
        </p:nvGraphicFramePr>
        <p:xfrm rot="0">
          <a:off x="2971800" y="4074993"/>
          <a:ext cx="2350877" cy="375166"/>
        </p:xfrm>
        <a:graphic>
          <a:graphicData uri="http://schemas.openxmlformats.org/drawingml/2006/table">
            <a:tbl>
              <a:tblPr firstRow="1" firstCol="1" lastRow="0" lastCol="0" bandRow="1" bandCol="0">
                <a:tableStyleId>{BC89EF96-8CEA-46FF-86C4-4CE0E7609802}</a:tableStyleId>
              </a:tblPr>
              <a:tblGrid>
                <a:gridCol w="584758"/>
                <a:gridCol w="584758"/>
                <a:gridCol w="514759"/>
                <a:gridCol w="666602"/>
              </a:tblGrid>
              <a:tr h="375166">
                <a:tc>
                  <a:txBody>
                    <a:bodyPr/>
                    <a:p>
                      <a:pPr algn="ctr">
                        <a:lnSpc>
                          <a:spcPct val="114999"/>
                        </a:lnSpc>
                        <a:spcAft>
                          <a:spcPts val="0"/>
                        </a:spcAft>
                        <a:defRPr/>
                      </a:pPr>
                      <a:r>
                        <a:rPr lang="en-US" sz="2100"/>
                        <a:t>O</a:t>
                      </a:r>
                      <a:r>
                        <a:rPr lang="en-US" sz="2100" baseline="-25000"/>
                        <a:t>1</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O</a:t>
                      </a:r>
                      <a:r>
                        <a:rPr lang="en-US" sz="2100" baseline="-25000"/>
                        <a:t>2</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O</a:t>
                      </a:r>
                      <a:r>
                        <a:rPr lang="en-US" sz="2100" baseline="-25000"/>
                        <a:t>j-1</a:t>
                      </a:r>
                      <a:endParaRPr lang="en-US" sz="2100">
                        <a:latin typeface="Calibri"/>
                        <a:ea typeface="Calibri"/>
                        <a:cs typeface="Shruti"/>
                      </a:endParaRPr>
                    </a:p>
                  </a:txBody>
                  <a:tcPr marL="64906" marR="64906" marT="0" marB="0"/>
                </a:tc>
              </a:tr>
            </a:tbl>
          </a:graphicData>
        </a:graphic>
      </p:graphicFrame>
      <p:graphicFrame>
        <p:nvGraphicFramePr>
          <p:cNvPr id="901552083" name="Table 20"/>
          <p:cNvGraphicFramePr>
            <a:graphicFrameLocks xmlns:a="http://schemas.openxmlformats.org/drawingml/2006/main" noGrp="1"/>
          </p:cNvGraphicFramePr>
          <p:nvPr/>
        </p:nvGraphicFramePr>
        <p:xfrm rot="0">
          <a:off x="2971800" y="4678759"/>
          <a:ext cx="2358180" cy="375166"/>
        </p:xfrm>
        <a:graphic>
          <a:graphicData uri="http://schemas.openxmlformats.org/drawingml/2006/table">
            <a:tbl>
              <a:tblPr firstRow="1" firstCol="1" lastRow="0" lastCol="0" bandRow="1" bandCol="0">
                <a:tableStyleId>{BC89EF96-8CEA-46FF-86C4-4CE0E7609802}</a:tableStyleId>
              </a:tblPr>
              <a:tblGrid>
                <a:gridCol w="546959"/>
                <a:gridCol w="546959"/>
                <a:gridCol w="478588"/>
                <a:gridCol w="785673"/>
              </a:tblGrid>
              <a:tr h="375166">
                <a:tc>
                  <a:txBody>
                    <a:bodyPr/>
                    <a:p>
                      <a:pPr algn="ctr">
                        <a:lnSpc>
                          <a:spcPct val="114999"/>
                        </a:lnSpc>
                        <a:spcAft>
                          <a:spcPts val="0"/>
                        </a:spcAft>
                        <a:defRPr/>
                      </a:pPr>
                      <a:r>
                        <a:rPr lang="en-US" sz="2100"/>
                        <a:t>B</a:t>
                      </a:r>
                      <a:r>
                        <a:rPr lang="en-US" sz="2100" baseline="-25000"/>
                        <a:t>1</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B</a:t>
                      </a:r>
                      <a:r>
                        <a:rPr lang="en-US" sz="2100" baseline="-25000"/>
                        <a:t>2</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a:t>
                      </a:r>
                      <a:endParaRPr lang="en-US" sz="2100">
                        <a:latin typeface="Calibri"/>
                        <a:ea typeface="Calibri"/>
                        <a:cs typeface="Shruti"/>
                      </a:endParaRPr>
                    </a:p>
                  </a:txBody>
                  <a:tcPr marL="64906" marR="64906" marT="0" marB="0"/>
                </a:tc>
                <a:tc>
                  <a:txBody>
                    <a:bodyPr/>
                    <a:p>
                      <a:pPr algn="ctr">
                        <a:lnSpc>
                          <a:spcPct val="114999"/>
                        </a:lnSpc>
                        <a:spcAft>
                          <a:spcPts val="0"/>
                        </a:spcAft>
                        <a:defRPr/>
                      </a:pPr>
                      <a:r>
                        <a:rPr lang="en-US" sz="2100"/>
                        <a:t>B</a:t>
                      </a:r>
                      <a:r>
                        <a:rPr lang="en-US" sz="2100" baseline="-25000"/>
                        <a:t>k-1</a:t>
                      </a:r>
                      <a:endParaRPr lang="en-US" sz="2100">
                        <a:latin typeface="Calibri"/>
                        <a:ea typeface="Calibri"/>
                        <a:cs typeface="Shruti"/>
                      </a:endParaRPr>
                    </a:p>
                  </a:txBody>
                  <a:tcPr marL="64906" marR="64906" marT="0" marB="0"/>
                </a:tc>
              </a:tr>
            </a:tbl>
          </a:graphicData>
        </a:graphic>
      </p:graphicFrame>
      <p:sp>
        <p:nvSpPr>
          <p:cNvPr id="1851486341" name="TextBox 21"/>
          <p:cNvSpPr txBox="1"/>
          <p:nvPr/>
        </p:nvSpPr>
        <p:spPr bwMode="auto">
          <a:xfrm>
            <a:off x="1743169" y="3513637"/>
            <a:ext cx="1242648" cy="369332"/>
          </a:xfrm>
          <a:prstGeom prst="rect">
            <a:avLst/>
          </a:prstGeom>
          <a:noFill/>
        </p:spPr>
        <p:txBody>
          <a:bodyPr wrap="none" rtlCol="0">
            <a:spAutoFit/>
          </a:bodyPr>
          <a:lstStyle/>
          <a:p>
            <a:pPr>
              <a:defRPr/>
            </a:pPr>
            <a:r>
              <a:rPr lang="en-IN" b="1">
                <a:solidFill>
                  <a:srgbClr val="C00000"/>
                </a:solidFill>
              </a:rPr>
              <a:t>Priority  - 1</a:t>
            </a:r>
            <a:endParaRPr lang="en-US" b="1">
              <a:solidFill>
                <a:srgbClr val="C00000"/>
              </a:solidFill>
            </a:endParaRPr>
          </a:p>
        </p:txBody>
      </p:sp>
      <p:sp>
        <p:nvSpPr>
          <p:cNvPr id="513808257" name="TextBox 22"/>
          <p:cNvSpPr txBox="1"/>
          <p:nvPr/>
        </p:nvSpPr>
        <p:spPr bwMode="auto">
          <a:xfrm>
            <a:off x="1743169" y="4074993"/>
            <a:ext cx="1189749" cy="369332"/>
          </a:xfrm>
          <a:prstGeom prst="rect">
            <a:avLst/>
          </a:prstGeom>
          <a:noFill/>
        </p:spPr>
        <p:txBody>
          <a:bodyPr wrap="none" rtlCol="0">
            <a:spAutoFit/>
          </a:bodyPr>
          <a:lstStyle/>
          <a:p>
            <a:pPr>
              <a:defRPr/>
            </a:pPr>
            <a:r>
              <a:rPr lang="en-IN" b="1">
                <a:solidFill>
                  <a:srgbClr val="C00000"/>
                </a:solidFill>
              </a:rPr>
              <a:t>Priority - 2</a:t>
            </a:r>
            <a:endParaRPr lang="en-US" b="1">
              <a:solidFill>
                <a:srgbClr val="C00000"/>
              </a:solidFill>
            </a:endParaRPr>
          </a:p>
        </p:txBody>
      </p:sp>
      <p:sp>
        <p:nvSpPr>
          <p:cNvPr id="1486421379" name="TextBox 23"/>
          <p:cNvSpPr txBox="1"/>
          <p:nvPr/>
        </p:nvSpPr>
        <p:spPr bwMode="auto">
          <a:xfrm>
            <a:off x="1743169" y="4684069"/>
            <a:ext cx="1189749" cy="369332"/>
          </a:xfrm>
          <a:prstGeom prst="rect">
            <a:avLst/>
          </a:prstGeom>
          <a:noFill/>
        </p:spPr>
        <p:txBody>
          <a:bodyPr wrap="none" rtlCol="0">
            <a:spAutoFit/>
          </a:bodyPr>
          <a:lstStyle/>
          <a:p>
            <a:pPr>
              <a:defRPr/>
            </a:pPr>
            <a:r>
              <a:rPr lang="en-IN" b="1">
                <a:solidFill>
                  <a:srgbClr val="C00000"/>
                </a:solidFill>
              </a:rPr>
              <a:t>Priority - 3</a:t>
            </a:r>
            <a:endParaRPr lang="en-US" b="1">
              <a:solidFill>
                <a:srgbClr val="C00000"/>
              </a:solidFill>
            </a:endParaRPr>
          </a:p>
        </p:txBody>
      </p:sp>
      <p:sp>
        <p:nvSpPr>
          <p:cNvPr id="390781851" name="TextBox 24"/>
          <p:cNvSpPr txBox="1"/>
          <p:nvPr/>
        </p:nvSpPr>
        <p:spPr bwMode="auto">
          <a:xfrm>
            <a:off x="7366562" y="3513637"/>
            <a:ext cx="352982" cy="369332"/>
          </a:xfrm>
          <a:prstGeom prst="rect">
            <a:avLst/>
          </a:prstGeom>
          <a:noFill/>
        </p:spPr>
        <p:txBody>
          <a:bodyPr wrap="none" rtlCol="0">
            <a:spAutoFit/>
          </a:bodyPr>
          <a:lstStyle/>
          <a:p>
            <a:pPr>
              <a:defRPr/>
            </a:pPr>
            <a:r>
              <a:rPr lang="en-IN" b="1">
                <a:solidFill>
                  <a:srgbClr val="C00000"/>
                </a:solidFill>
              </a:rPr>
              <a:t>R</a:t>
            </a:r>
            <a:r>
              <a:rPr lang="en-IN" b="1" baseline="-25000">
                <a:solidFill>
                  <a:srgbClr val="C00000"/>
                </a:solidFill>
              </a:rPr>
              <a:t>i</a:t>
            </a:r>
            <a:endParaRPr lang="en-US" b="1" baseline="-25000">
              <a:solidFill>
                <a:srgbClr val="C00000"/>
              </a:solidFill>
            </a:endParaRPr>
          </a:p>
        </p:txBody>
      </p:sp>
      <p:sp>
        <p:nvSpPr>
          <p:cNvPr id="365512581" name="TextBox 25"/>
          <p:cNvSpPr txBox="1"/>
          <p:nvPr/>
        </p:nvSpPr>
        <p:spPr bwMode="auto">
          <a:xfrm>
            <a:off x="7361753" y="4056181"/>
            <a:ext cx="362600" cy="369332"/>
          </a:xfrm>
          <a:prstGeom prst="rect">
            <a:avLst/>
          </a:prstGeom>
          <a:noFill/>
        </p:spPr>
        <p:txBody>
          <a:bodyPr wrap="none" rtlCol="0">
            <a:spAutoFit/>
          </a:bodyPr>
          <a:lstStyle/>
          <a:p>
            <a:pPr>
              <a:defRPr/>
            </a:pPr>
            <a:r>
              <a:rPr lang="en-IN" b="1">
                <a:solidFill>
                  <a:srgbClr val="C00000"/>
                </a:solidFill>
              </a:rPr>
              <a:t>O</a:t>
            </a:r>
            <a:r>
              <a:rPr lang="en-IN" b="1" baseline="-25000">
                <a:solidFill>
                  <a:srgbClr val="C00000"/>
                </a:solidFill>
              </a:rPr>
              <a:t>j</a:t>
            </a:r>
            <a:endParaRPr lang="en-US" b="1" baseline="-25000">
              <a:solidFill>
                <a:srgbClr val="C00000"/>
              </a:solidFill>
            </a:endParaRPr>
          </a:p>
        </p:txBody>
      </p:sp>
      <p:sp>
        <p:nvSpPr>
          <p:cNvPr id="1531571665" name="TextBox 26"/>
          <p:cNvSpPr txBox="1"/>
          <p:nvPr/>
        </p:nvSpPr>
        <p:spPr bwMode="auto">
          <a:xfrm>
            <a:off x="7348929" y="4671484"/>
            <a:ext cx="388248" cy="369332"/>
          </a:xfrm>
          <a:prstGeom prst="rect">
            <a:avLst/>
          </a:prstGeom>
          <a:noFill/>
        </p:spPr>
        <p:txBody>
          <a:bodyPr wrap="none" rtlCol="0">
            <a:spAutoFit/>
          </a:bodyPr>
          <a:lstStyle/>
          <a:p>
            <a:pPr>
              <a:defRPr/>
            </a:pPr>
            <a:r>
              <a:rPr lang="en-IN" b="1">
                <a:solidFill>
                  <a:srgbClr val="C00000"/>
                </a:solidFill>
              </a:rPr>
              <a:t>B</a:t>
            </a:r>
            <a:r>
              <a:rPr lang="en-IN" b="1" baseline="-25000">
                <a:solidFill>
                  <a:srgbClr val="C00000"/>
                </a:solidFill>
              </a:rPr>
              <a:t>k</a:t>
            </a:r>
            <a:endParaRPr lang="en-US" b="1" baseline="-25000">
              <a:solidFill>
                <a:srgbClr val="C00000"/>
              </a:solidFill>
            </a:endParaRPr>
          </a:p>
        </p:txBody>
      </p:sp>
      <p:cxnSp>
        <p:nvCxnSpPr>
          <p:cNvPr id="1695310340" name="Straight Arrow Connector 29"/>
          <p:cNvCxnSpPr/>
          <p:nvPr/>
        </p:nvCxnSpPr>
        <p:spPr bwMode="auto">
          <a:xfrm flipH="1">
            <a:off x="5482380" y="4248337"/>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50993309" name="Straight Arrow Connector 32"/>
          <p:cNvCxnSpPr/>
          <p:nvPr/>
        </p:nvCxnSpPr>
        <p:spPr bwMode="auto">
          <a:xfrm flipH="1">
            <a:off x="5482379" y="4856151"/>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45313791" name="Straight Arrow Connector 34"/>
          <p:cNvCxnSpPr/>
          <p:nvPr/>
        </p:nvCxnSpPr>
        <p:spPr bwMode="auto">
          <a:xfrm flipH="1">
            <a:off x="5486401" y="3690553"/>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631643933" name="TextBox 35"/>
          <p:cNvSpPr txBox="1"/>
          <p:nvPr/>
        </p:nvSpPr>
        <p:spPr bwMode="auto">
          <a:xfrm>
            <a:off x="3502726" y="5370393"/>
            <a:ext cx="5186548" cy="369332"/>
          </a:xfrm>
          <a:prstGeom prst="rect">
            <a:avLst/>
          </a:prstGeom>
          <a:noFill/>
        </p:spPr>
        <p:txBody>
          <a:bodyPr wrap="none" rtlCol="0">
            <a:spAutoFit/>
          </a:bodyPr>
          <a:lstStyle/>
          <a:p>
            <a:pPr algn="ctr">
              <a:defRPr/>
            </a:pPr>
            <a:r>
              <a:rPr lang="en-IN" b="1"/>
              <a:t>Priority Queue viewed as a Viewed as a set of queue</a:t>
            </a:r>
            <a:endParaRPr lang="en-US" b="1"/>
          </a:p>
        </p:txBody>
      </p:sp>
      <p:cxnSp>
        <p:nvCxnSpPr>
          <p:cNvPr id="652296579" name="Straight Connector 37"/>
          <p:cNvCxnSpPr/>
          <p:nvPr/>
        </p:nvCxnSpPr>
        <p:spPr bwMode="auto">
          <a:xfrm>
            <a:off x="1709785" y="3160593"/>
            <a:ext cx="8772431"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6881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197776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27887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81992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690419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933807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8248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6886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459317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788137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5229657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6126357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5437530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0155208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514863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38082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8642137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078185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551258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53157166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69531034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099330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4531379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6316439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977767" grpId="0"/>
      <p:bldP spid="602788782" grpId="0"/>
      <p:bldP spid="2069041924" grpId="0"/>
      <p:bldP spid="16824836" grpId="0"/>
      <p:bldP spid="404593170" grpId="0"/>
      <p:bldP spid="1678813722" grpId="0"/>
      <p:bldP spid="1851486341" grpId="0"/>
      <p:bldP spid="513808257" grpId="0"/>
      <p:bldP spid="1486421379" grpId="0"/>
      <p:bldP spid="390781851" grpId="0"/>
      <p:bldP spid="365512581" grpId="0"/>
      <p:bldP spid="1531571665" grpId="0"/>
      <p:bldP spid="1631643933" grpId="0"/>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4646747" name="Title 1"/>
          <p:cNvSpPr>
            <a:spLocks noGrp="1"/>
          </p:cNvSpPr>
          <p:nvPr>
            <p:ph type="title"/>
          </p:nvPr>
        </p:nvSpPr>
        <p:spPr bwMode="auto"/>
        <p:txBody>
          <a:bodyPr>
            <a:normAutofit/>
          </a:bodyPr>
          <a:lstStyle/>
          <a:p>
            <a:pPr>
              <a:defRPr/>
            </a:pPr>
            <a:r>
              <a:rPr lang="en-IN"/>
              <a:t>Frequently asked questions:</a:t>
            </a:r>
            <a:endParaRPr lang="en-US"/>
          </a:p>
        </p:txBody>
      </p:sp>
      <p:sp>
        <p:nvSpPr>
          <p:cNvPr id="1800273359" name="Content Placeholder 2"/>
          <p:cNvSpPr>
            <a:spLocks noGrp="1"/>
          </p:cNvSpPr>
          <p:nvPr>
            <p:ph idx="1"/>
          </p:nvPr>
        </p:nvSpPr>
        <p:spPr bwMode="auto">
          <a:xfrm>
            <a:off x="131179" y="944238"/>
            <a:ext cx="11929641" cy="5590565"/>
          </a:xfrm>
        </p:spPr>
        <p:txBody>
          <a:bodyPr/>
          <a:lstStyle/>
          <a:p>
            <a:pPr>
              <a:defRPr/>
            </a:pPr>
            <a:r>
              <a:rPr lang="en-US"/>
              <a:t>Illustrate the working of priority queue with suitable example.</a:t>
            </a:r>
            <a:endParaRPr/>
          </a:p>
          <a:p>
            <a:pPr>
              <a:defRPr/>
            </a:pPr>
            <a:r>
              <a:rPr lang="en-US"/>
              <a:t>Write an algorithm for inserting and deleting an element in circular queue. </a:t>
            </a:r>
            <a:endParaRPr/>
          </a:p>
          <a:p>
            <a:pPr>
              <a:defRPr/>
            </a:pPr>
            <a:r>
              <a:rPr lang="en-US"/>
              <a:t>Consider an example where the size of the circular queue is four elements. Initially the queue is empty. It is required to insert symbols ‘A’,’B’ and ‘C’. Delete ‘A’ and ‘B’ and insert ‘D’ and ‘E’. Show the trace of the contents of the queue. </a:t>
            </a:r>
            <a:endParaRPr/>
          </a:p>
          <a:p>
            <a:pPr>
              <a:defRPr/>
            </a:pPr>
            <a:r>
              <a:rPr lang="en-US"/>
              <a:t>Discuss an algorithm to delete an element from the Simple Queue. </a:t>
            </a:r>
            <a:endParaRPr/>
          </a:p>
          <a:p>
            <a:pPr>
              <a:defRPr/>
            </a:pPr>
            <a:r>
              <a:rPr lang="en-US"/>
              <a:t>Define Queue. Also state applications of Queue. </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6504996" name="Text Placeholder 1"/>
          <p:cNvSpPr>
            <a:spLocks noGrp="1"/>
          </p:cNvSpPr>
          <p:nvPr>
            <p:ph type="body" sz="quarter" idx="11"/>
          </p:nvPr>
        </p:nvSpPr>
        <p:spPr bwMode="auto"/>
        <p:txBody>
          <a:bodyPr/>
          <a:lstStyle/>
          <a:p>
            <a:pPr>
              <a:defRPr/>
            </a:pPr>
            <a:r>
              <a:rPr lang="en-US"/>
              <a:t>pradyuman.jadeja@darshan.ac.in</a:t>
            </a:r>
            <a:endParaRPr/>
          </a:p>
        </p:txBody>
      </p:sp>
      <p:sp>
        <p:nvSpPr>
          <p:cNvPr id="755798525" name="Text Placeholder 2"/>
          <p:cNvSpPr>
            <a:spLocks noGrp="1"/>
          </p:cNvSpPr>
          <p:nvPr>
            <p:ph type="body" sz="quarter" idx="12"/>
          </p:nvPr>
        </p:nvSpPr>
        <p:spPr bwMode="auto"/>
        <p:txBody>
          <a:bodyPr/>
          <a:lstStyle/>
          <a:p>
            <a:pPr>
              <a:defRPr/>
            </a:pPr>
            <a:r>
              <a:rPr lang="en-US"/>
              <a:t>+91 9879461848</a:t>
            </a:r>
            <a:endParaRPr/>
          </a:p>
        </p:txBody>
      </p:sp>
      <p:sp>
        <p:nvSpPr>
          <p:cNvPr id="1089981125" name="Text Placeholder 3"/>
          <p:cNvSpPr>
            <a:spLocks noGrp="1"/>
          </p:cNvSpPr>
          <p:nvPr>
            <p:ph type="body" sz="quarter" idx="13"/>
          </p:nvPr>
        </p:nvSpPr>
        <p:spPr bwMode="auto"/>
        <p:txBody>
          <a:bodyPr/>
          <a:lstStyle/>
          <a:p>
            <a:pPr>
              <a:defRPr/>
            </a:pPr>
            <a:r>
              <a:rPr lang="en-US"/>
              <a:t>Computer Engineering Department</a:t>
            </a:r>
            <a:endParaRPr/>
          </a:p>
        </p:txBody>
      </p:sp>
      <p:sp>
        <p:nvSpPr>
          <p:cNvPr id="1561985178" name="Text Placeholder 4"/>
          <p:cNvSpPr>
            <a:spLocks noGrp="1"/>
          </p:cNvSpPr>
          <p:nvPr>
            <p:ph type="body" sz="quarter" idx="14"/>
          </p:nvPr>
        </p:nvSpPr>
        <p:spPr bwMode="auto"/>
        <p:txBody>
          <a:bodyPr/>
          <a:lstStyle/>
          <a:p>
            <a:pPr>
              <a:defRPr/>
            </a:pPr>
            <a:r>
              <a:rPr lang="en-IN"/>
              <a:t>Dr.</a:t>
            </a:r>
            <a:r>
              <a:rPr lang="en-IN"/>
              <a:t> </a:t>
            </a:r>
            <a:r>
              <a:rPr lang="en-IN"/>
              <a:t>Pradyumansinh</a:t>
            </a:r>
            <a:r>
              <a:rPr lang="en-IN"/>
              <a:t> </a:t>
            </a:r>
            <a:r>
              <a:rPr lang="en-IN"/>
              <a:t>Jadeja</a:t>
            </a:r>
            <a:endParaRPr lang="en-IN"/>
          </a:p>
        </p:txBody>
      </p:sp>
      <p:sp>
        <p:nvSpPr>
          <p:cNvPr id="1790604441" name="Text Placeholder 1026"/>
          <p:cNvSpPr>
            <a:spLocks noGrp="1"/>
          </p:cNvSpPr>
          <p:nvPr>
            <p:ph type="body" sz="quarter" idx="16"/>
          </p:nvPr>
        </p:nvSpPr>
        <p:spPr bwMode="auto"/>
        <p:txBody>
          <a:bodyPr/>
          <a:lstStyle/>
          <a:p>
            <a:pPr>
              <a:defRPr/>
            </a:pPr>
            <a:r>
              <a:rPr lang="en-US" b="1"/>
              <a:t>Data Structures </a:t>
            </a:r>
            <a:r>
              <a:rPr lang="en-US">
                <a:latin typeface="Roboto Condensed Light"/>
                <a:ea typeface="Roboto Condensed Light"/>
              </a:rPr>
              <a:t>(DS)</a:t>
            </a:r>
            <a:endParaRPr/>
          </a:p>
          <a:p>
            <a:pPr>
              <a:defRPr/>
            </a:pPr>
            <a:r>
              <a:rPr lang="en-US">
                <a:latin typeface="Roboto Condensed Light"/>
                <a:ea typeface="Roboto Condensed Light"/>
              </a:rPr>
              <a:t>DU #2301CS301</a:t>
            </a:r>
            <a:endParaRPr/>
          </a:p>
        </p:txBody>
      </p:sp>
      <p:pic>
        <p:nvPicPr>
          <p:cNvPr id="725987878" name="Picture Placeholder 6"/>
          <p:cNvPicPr>
            <a:picLocks noChangeAspect="1" noGrp="1"/>
          </p:cNvPicPr>
          <p:nvPr>
            <p:ph type="pic" sz="quarter" idx="10"/>
          </p:nvPr>
        </p:nvPicPr>
        <p:blipFill rotWithShape="1">
          <a:blip r:embed="rId3"/>
          <a:stretch/>
        </p:blipFill>
        <p:spPr bwMode="auto"/>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Arial"/>
        <a:cs typeface="Arial"/>
      </a:majorFont>
      <a:minorFont>
        <a:latin typeface="Roboto Condensed"/>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30</Slides>
  <Notes>30</Notes>
  <HiddenSlides>0</HiddenSlides>
  <MMClips>2</MMClips>
  <ScaleCrop>0</ScaleCrop>
  <HeadingPairs>
    <vt:vector size="4" baseType="variant">
      <vt:variant>
        <vt:lpstr>Theme</vt:lpstr>
      </vt:variant>
      <vt:variant>
        <vt:i4>1</vt:i4>
      </vt:variant>
      <vt:variant>
        <vt:lpstr>Slide Titles</vt:lpstr>
      </vt:variant>
      <vt:variant>
        <vt:i4>30</vt:i4>
      </vt:variant>
    </vt:vector>
  </HeadingPairs>
  <TitlesOfParts>
    <vt:vector size="3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 - Linear Data Structure</dc:title>
  <dc:creator>ADMIN</dc:creator>
  <cp:keywords>Queue, Data Structure, Darshan Institute of Engineering &amp; Technology, DIET</cp:keywords>
  <cp:lastModifiedBy/>
  <cp:revision>431</cp:revision>
  <dcterms:created xsi:type="dcterms:W3CDTF">2020-05-01T05:09:15Z</dcterms:created>
  <dcterms:modified xsi:type="dcterms:W3CDTF">2026-08-07T16:18:22Z</dcterms:modified>
</cp:coreProperties>
</file>