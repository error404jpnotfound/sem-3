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383" r:id="rId2"/>
    <p:sldId id="292" r:id="rId3"/>
    <p:sldId id="377" r:id="rId4"/>
    <p:sldId id="357" r:id="rId5"/>
    <p:sldId id="374" r:id="rId6"/>
    <p:sldId id="378" r:id="rId7"/>
    <p:sldId id="367" r:id="rId8"/>
    <p:sldId id="375" r:id="rId9"/>
    <p:sldId id="348" r:id="rId10"/>
    <p:sldId id="349" r:id="rId11"/>
    <p:sldId id="376" r:id="rId12"/>
    <p:sldId id="370" r:id="rId13"/>
    <p:sldId id="380" r:id="rId14"/>
    <p:sldId id="371" r:id="rId15"/>
    <p:sldId id="379" r:id="rId16"/>
    <p:sldId id="350" r:id="rId17"/>
    <p:sldId id="351" r:id="rId18"/>
    <p:sldId id="358" r:id="rId19"/>
    <p:sldId id="353" r:id="rId20"/>
    <p:sldId id="354" r:id="rId21"/>
    <p:sldId id="381" r:id="rId22"/>
    <p:sldId id="384" r:id="rId23"/>
  </p:sldIdLst>
  <p:sldSz cx="12192000" cy="6858000"/>
  <p:notesSz cx="6858000" cy="9144000"/>
  <p:embeddedFontLst>
    <p:embeddedFont>
      <p:font typeface="Roboto Condensed Light" panose="02000000000000000000" pitchFamily="2" charset="0"/>
      <p:regular r:id="rId26"/>
      <p:italic r:id="rId27"/>
    </p:embeddedFont>
    <p:embeddedFont>
      <p:font typeface="Segoe UI Black" panose="020B0A02040204020203" pitchFamily="34" charset="0"/>
      <p:bold r:id="rId28"/>
      <p:boldItalic r:id="rId29"/>
    </p:embeddedFont>
    <p:embeddedFont>
      <p:font typeface="Wingdings 3" panose="05040102010807070707" pitchFamily="18" charset="2"/>
      <p:regular r:id="rId30"/>
    </p:embeddedFont>
    <p:embeddedFont>
      <p:font typeface="Shruti" panose="020B0604020202020204" charset="0"/>
      <p:regular r:id="rId31"/>
      <p:bold r:id="rId32"/>
    </p:embeddedFont>
    <p:embeddedFont>
      <p:font typeface="Wingdings 2" panose="05020102010507070707" pitchFamily="18" charset="2"/>
      <p:regular r:id="rId33"/>
    </p:embeddedFont>
    <p:embeddedFont>
      <p:font typeface="Open Sans Semibold" panose="020B0604020202020204" charset="0"/>
      <p:bold r:id="rId34"/>
      <p:boldItalic r:id="rId35"/>
    </p:embeddedFont>
    <p:embeddedFont>
      <p:font typeface="Calibri" panose="020F0502020204030204" pitchFamily="34" charset="0"/>
      <p:regular r:id="rId36"/>
      <p:bold r:id="rId37"/>
      <p:italic r:id="rId38"/>
      <p:boldItalic r:id="rId39"/>
    </p:embeddedFont>
    <p:embeddedFont>
      <p:font typeface="Open Sans" panose="020B0604020202020204" charset="0"/>
      <p:regular r:id="rId40"/>
      <p:bold r:id="rId41"/>
      <p:italic r:id="rId42"/>
      <p:boldItalic r:id="rId43"/>
    </p:embeddedFont>
    <p:embeddedFont>
      <p:font typeface="Roboto Condensed" panose="02000000000000000000" pitchFamily="2" charset="0"/>
      <p:regular r:id="rId44"/>
      <p:bold r:id="rId45"/>
      <p:italic r:id="rId46"/>
      <p:boldItalic r:id="rId47"/>
    </p:embeddedFont>
    <p:embeddedFont>
      <p:font typeface="Consolas" panose="020B0609020204030204" pitchFamily="49" charset="0"/>
      <p:regular r:id="rId48"/>
      <p:bold r:id="rId49"/>
      <p:italic r:id="rId50"/>
      <p:boldItalic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mPq6+TSsnSKvvtpACm7g6A==" hashData="QZT6fJwwnIYyAYSex+A7kBGrq0krxmNBTfBMOay2eBvIkCAHxoZAoiF9FNglRPjAXBJEoh6cxYj4PDp76a5w2A=="/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4337"/>
    <a:srgbClr val="673BB7"/>
    <a:srgbClr val="B84742"/>
    <a:srgbClr val="5C0000"/>
    <a:srgbClr val="1D3064"/>
    <a:srgbClr val="ED524F"/>
    <a:srgbClr val="3366FF"/>
    <a:srgbClr val="301B92"/>
    <a:srgbClr val="607D8B"/>
    <a:srgbClr val="B71B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1" autoAdjust="0"/>
    <p:restoredTop sz="94660"/>
  </p:normalViewPr>
  <p:slideViewPr>
    <p:cSldViewPr snapToGrid="0">
      <p:cViewPr varScale="1">
        <p:scale>
          <a:sx n="83" d="100"/>
          <a:sy n="83" d="100"/>
        </p:scale>
        <p:origin x="41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1944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47" Type="http://schemas.openxmlformats.org/officeDocument/2006/relationships/font" Target="fonts/font22.fntdata"/><Relationship Id="rId50" Type="http://schemas.openxmlformats.org/officeDocument/2006/relationships/font" Target="fonts/font25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font" Target="fonts/font20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font" Target="fonts/font19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48" Type="http://schemas.openxmlformats.org/officeDocument/2006/relationships/font" Target="fonts/font23.fntdata"/><Relationship Id="rId8" Type="http://schemas.openxmlformats.org/officeDocument/2006/relationships/slide" Target="slides/slide7.xml"/><Relationship Id="rId51" Type="http://schemas.openxmlformats.org/officeDocument/2006/relationships/font" Target="fonts/font2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font" Target="fonts/font21.fntdata"/><Relationship Id="rId20" Type="http://schemas.openxmlformats.org/officeDocument/2006/relationships/slide" Target="slides/slide19.xml"/><Relationship Id="rId41" Type="http://schemas.openxmlformats.org/officeDocument/2006/relationships/font" Target="fonts/font16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49" Type="http://schemas.openxmlformats.org/officeDocument/2006/relationships/font" Target="fonts/font2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87FD0-6366-498E-B5AA-8D5EAADA1318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5F676-4FC3-4D3C-BE37-3352AFB19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25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7.jpeg"/><Relationship Id="rId5" Type="http://schemas.openxmlformats.org/officeDocument/2006/relationships/image" Target="../media/image3.png"/><Relationship Id="rId10" Type="http://schemas.openxmlformats.org/officeDocument/2006/relationships/image" Target="../media/image14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8434" y="2201220"/>
            <a:ext cx="4109921" cy="178457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162" y="307556"/>
            <a:ext cx="2704049" cy="82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0" name="Hexagon 2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1D3064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34" name="Rectangle 33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162" y="307556"/>
            <a:ext cx="2704049" cy="82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701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678496" y="861192"/>
            <a:ext cx="2554142" cy="587454"/>
            <a:chOff x="9424496" y="8611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5018" y="8611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24496" y="8611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053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#2101CS301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(Part 2) – Array - Linear Data Structure</a:t>
            </a:r>
          </a:p>
        </p:txBody>
      </p:sp>
      <p:sp>
        <p:nvSpPr>
          <p:cNvPr id="27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792796" y="5890392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053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(Part 2) – Array - Linear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87F626DE-BC90-B225-C758-D782C2DC12AE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-49704" y="5915792"/>
            <a:ext cx="2554142" cy="587454"/>
            <a:chOff x="2423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918" y="58903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2423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053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(Part 2) – Array - Linear Data Structure</a:t>
            </a:r>
          </a:p>
        </p:txBody>
      </p:sp>
      <p:sp>
        <p:nvSpPr>
          <p:cNvPr id="27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>
          <a:xfrm>
            <a:off x="9792796" y="6169792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752158" y="102445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053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(Part 2) – Array - Linear Data Structure</a:t>
            </a:r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AD09D4-8661-48ED-B451-69A660112782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726758" y="6003345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053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(Part 2) – Array - Linear Data Structure</a:t>
            </a:r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F94B54-735F-1F29-A9FC-A11684A6DEDD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-249812" y="5990021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053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(Part 2) – Array - Linear Data Structure</a:t>
            </a:r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9748F8-E37C-8C0C-B4E9-9113EF39A514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Maniar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>
            <a:normAutofit/>
          </a:bodyPr>
          <a:lstStyle>
            <a:lvl1pPr algn="l">
              <a:defRPr lang="en-US" sz="4400" b="0" kern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0485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lang="en-US" sz="23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68375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2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239837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0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454150" indent="-28575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1600" kern="1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marL="625475" lvl="1" indent="-263525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896938" lvl="2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dirty="0"/>
              <a:t>Third level</a:t>
            </a:r>
          </a:p>
          <a:p>
            <a:pPr marL="1168400" lvl="3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–"/>
            </a:pPr>
            <a:r>
              <a:rPr lang="en-US" dirty="0"/>
              <a:t>Fourth level</a:t>
            </a:r>
          </a:p>
          <a:p>
            <a:pPr marL="1439863" lvl="4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»"/>
            </a:pPr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5384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da-DK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Unit</a:t>
            </a:r>
            <a:r>
              <a:rPr lang="da-DK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– 2: </a:t>
            </a:r>
            <a:r>
              <a:rPr lang="en-US" sz="1800" dirty="0"/>
              <a:t>Linear Data Structure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ktangel 11"/>
          <p:cNvSpPr/>
          <p:nvPr userDrawn="1"/>
        </p:nvSpPr>
        <p:spPr>
          <a:xfrm>
            <a:off x="6197600" y="6480727"/>
            <a:ext cx="59944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en-US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Darshan</a:t>
            </a:r>
            <a:r>
              <a:rPr lang="en-US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Institute of Engineering &amp; Technology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ktangel 11"/>
          <p:cNvSpPr/>
          <p:nvPr userDrawn="1"/>
        </p:nvSpPr>
        <p:spPr>
          <a:xfrm>
            <a:off x="5384800" y="6477000"/>
            <a:ext cx="812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fld id="{4CCBBDC9-ADEB-48F3-A42C-1AD0249F062A}" type="slidenum">
              <a:rPr lang="da-DK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 algn="ctr">
                <a:defRPr/>
              </a:pPr>
              <a:t>‹#›</a:t>
            </a:fld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571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3" r:id="rId2"/>
    <p:sldLayoutId id="2147483670" r:id="rId3"/>
    <p:sldLayoutId id="2147483687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91" r:id="rId11"/>
    <p:sldLayoutId id="2147483674" r:id="rId12"/>
    <p:sldLayoutId id="2147483676" r:id="rId13"/>
    <p:sldLayoutId id="2147483677" r:id="rId14"/>
    <p:sldLayoutId id="2147483678" r:id="rId15"/>
    <p:sldLayoutId id="2147483679" r:id="rId16"/>
    <p:sldLayoutId id="2147483681" r:id="rId17"/>
    <p:sldLayoutId id="2147483683" r:id="rId18"/>
    <p:sldLayoutId id="2147483682" r:id="rId19"/>
    <p:sldLayoutId id="2147483684" r:id="rId20"/>
    <p:sldLayoutId id="2147483685" r:id="rId21"/>
    <p:sldLayoutId id="2147483686" r:id="rId22"/>
    <p:sldLayoutId id="2147483694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60510" cy="2563094"/>
          </a:xfrm>
        </p:spPr>
        <p:txBody>
          <a:bodyPr/>
          <a:lstStyle/>
          <a:p>
            <a:r>
              <a:rPr lang="en-US" sz="3200" b="0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Unit-1 (Part 2)</a:t>
            </a:r>
            <a:r>
              <a:rPr lang="en-US" sz="4400" dirty="0" smtClean="0"/>
              <a:t> </a:t>
            </a:r>
            <a:br>
              <a:rPr lang="en-US" sz="4400" dirty="0" smtClean="0"/>
            </a:br>
            <a:r>
              <a:rPr lang="en-US" sz="4400" dirty="0" smtClean="0"/>
              <a:t>Array</a:t>
            </a:r>
            <a:br>
              <a:rPr lang="en-US" sz="4400" dirty="0" smtClean="0"/>
            </a:br>
            <a:r>
              <a:rPr lang="en-US" sz="4400" b="0" dirty="0" smtClean="0"/>
              <a:t>Linear Data Structure</a:t>
            </a:r>
            <a:endParaRPr lang="en-US" sz="6000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pradyuman.jadeja@darshan.ac.in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+91 9879461848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Dr. </a:t>
            </a:r>
            <a:r>
              <a:rPr lang="en-US" dirty="0" err="1"/>
              <a:t>Pradyumansinh</a:t>
            </a:r>
            <a:r>
              <a:rPr lang="en-US" dirty="0"/>
              <a:t> </a:t>
            </a:r>
            <a:r>
              <a:rPr lang="en-US" dirty="0" err="1"/>
              <a:t>Jadeja</a:t>
            </a:r>
            <a:endParaRPr lang="en-US" dirty="0"/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 Structures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(DS)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#2301CS301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6607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1157831"/>
            <a:ext cx="96886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Topics to be covered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Array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Representation of Array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One Dimensional Array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Two Dimensional Array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Applications of Array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Matrix Representation of Polynomial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Sparse Matrix</a:t>
            </a: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Dimensional Array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81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85A7EB-767D-D7F5-DE0C-DD81A4380884}"/>
              </a:ext>
            </a:extLst>
          </p:cNvPr>
          <p:cNvSpPr/>
          <p:nvPr/>
        </p:nvSpPr>
        <p:spPr>
          <a:xfrm>
            <a:off x="4775824" y="5948917"/>
            <a:ext cx="3625225" cy="600232"/>
          </a:xfrm>
          <a:prstGeom prst="rect">
            <a:avLst/>
          </a:prstGeom>
          <a:solidFill>
            <a:schemeClr val="bg2">
              <a:lumMod val="9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6E7447-CADA-0332-7114-F6863AF9FC96}"/>
              </a:ext>
            </a:extLst>
          </p:cNvPr>
          <p:cNvSpPr/>
          <p:nvPr/>
        </p:nvSpPr>
        <p:spPr>
          <a:xfrm>
            <a:off x="4770008" y="4721990"/>
            <a:ext cx="3631041" cy="490946"/>
          </a:xfrm>
          <a:prstGeom prst="rect">
            <a:avLst/>
          </a:prstGeom>
          <a:solidFill>
            <a:schemeClr val="bg2">
              <a:lumMod val="9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Dimensional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Simplest data structure that makes use of computed address to locate its elements is the one-dimensional array or </a:t>
            </a:r>
            <a:r>
              <a:rPr lang="en-IN" b="1" dirty="0">
                <a:solidFill>
                  <a:srgbClr val="C00000"/>
                </a:solidFill>
              </a:rPr>
              <a:t>vector</a:t>
            </a:r>
            <a:r>
              <a:rPr lang="en-IN" dirty="0"/>
              <a:t>.</a:t>
            </a:r>
          </a:p>
          <a:p>
            <a:r>
              <a:rPr lang="en-IN" dirty="0"/>
              <a:t>Number of </a:t>
            </a:r>
            <a:r>
              <a:rPr lang="en-IN" b="1" dirty="0">
                <a:solidFill>
                  <a:srgbClr val="C00000"/>
                </a:solidFill>
              </a:rPr>
              <a:t>memory locations </a:t>
            </a:r>
            <a:r>
              <a:rPr lang="en-IN" dirty="0"/>
              <a:t>is </a:t>
            </a:r>
            <a:r>
              <a:rPr lang="en-IN" b="1" dirty="0">
                <a:solidFill>
                  <a:srgbClr val="C00000"/>
                </a:solidFill>
              </a:rPr>
              <a:t>sequentially allocated </a:t>
            </a:r>
            <a:r>
              <a:rPr lang="en-IN" dirty="0"/>
              <a:t>to the vector.</a:t>
            </a:r>
          </a:p>
          <a:p>
            <a:r>
              <a:rPr lang="en-IN" dirty="0"/>
              <a:t>A vector </a:t>
            </a:r>
            <a:r>
              <a:rPr lang="en-IN" b="1" dirty="0">
                <a:solidFill>
                  <a:srgbClr val="C00000"/>
                </a:solidFill>
              </a:rPr>
              <a:t>size is fixed </a:t>
            </a:r>
            <a:r>
              <a:rPr lang="en-IN" dirty="0"/>
              <a:t>and therefore requires a fixed number of memory locations.</a:t>
            </a:r>
          </a:p>
          <a:p>
            <a:r>
              <a:rPr lang="en-IN" dirty="0"/>
              <a:t>Vector A is represented as below : </a:t>
            </a:r>
            <a:endParaRPr lang="en-US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4017533" y="3429430"/>
            <a:ext cx="7408026" cy="31197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0485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lang="en-US" sz="23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68375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•"/>
              <a:defRPr lang="en-US" sz="22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239837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–"/>
              <a:defRPr lang="en-US" sz="20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454150" indent="-28575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»"/>
              <a:defRPr lang="en-US" sz="1600" kern="1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34000"/>
              </a:lnSpc>
            </a:pPr>
            <a:r>
              <a:rPr lang="en-IN" sz="1800" dirty="0">
                <a:solidFill>
                  <a:srgbClr val="C00000"/>
                </a:solidFill>
              </a:rPr>
              <a:t>L</a:t>
            </a:r>
            <a:r>
              <a:rPr lang="en-IN" sz="1800" baseline="-25000" dirty="0">
                <a:solidFill>
                  <a:srgbClr val="C00000"/>
                </a:solidFill>
              </a:rPr>
              <a:t>0</a:t>
            </a:r>
            <a:r>
              <a:rPr lang="en-IN" sz="1800" dirty="0"/>
              <a:t> is the address of the first word allocated to the first element of vector A (base address) and  C is byte size of each element </a:t>
            </a:r>
          </a:p>
          <a:p>
            <a:pPr lvl="1">
              <a:lnSpc>
                <a:spcPct val="134000"/>
              </a:lnSpc>
            </a:pPr>
            <a:r>
              <a:rPr lang="en-IN" sz="1800" dirty="0"/>
              <a:t>The address of element A</a:t>
            </a:r>
            <a:r>
              <a:rPr lang="en-IN" sz="1800" baseline="-25000" dirty="0"/>
              <a:t>i</a:t>
            </a:r>
            <a:r>
              <a:rPr lang="en-IN" sz="1800" dirty="0"/>
              <a:t> is : </a:t>
            </a:r>
          </a:p>
          <a:p>
            <a:pPr marL="361950" lvl="1" indent="0">
              <a:lnSpc>
                <a:spcPct val="134000"/>
              </a:lnSpc>
              <a:buNone/>
            </a:pPr>
            <a:r>
              <a:rPr lang="en-IN" sz="1800" b="1" dirty="0">
                <a:solidFill>
                  <a:srgbClr val="E40524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Loc(A</a:t>
            </a:r>
            <a:r>
              <a:rPr lang="en-IN" sz="2000" b="1" baseline="-25000" dirty="0">
                <a:latin typeface="Consolas" pitchFamily="49" charset="0"/>
                <a:cs typeface="Consolas" pitchFamily="49" charset="0"/>
              </a:rPr>
              <a:t>i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) = L</a:t>
            </a:r>
            <a:r>
              <a:rPr lang="en-IN" sz="2000" b="1" baseline="-25000" dirty="0">
                <a:latin typeface="Consolas" pitchFamily="49" charset="0"/>
                <a:cs typeface="Consolas" pitchFamily="49" charset="0"/>
              </a:rPr>
              <a:t>0 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+ C*(i-1)</a:t>
            </a:r>
            <a:endParaRPr lang="en-IN" sz="2000" b="1" dirty="0"/>
          </a:p>
          <a:p>
            <a:pPr lvl="1">
              <a:lnSpc>
                <a:spcPct val="134000"/>
              </a:lnSpc>
            </a:pPr>
            <a:r>
              <a:rPr lang="en-IN" sz="1800" dirty="0"/>
              <a:t>Considering the more general case of a vector A with lower bound given by LB , the address of element A</a:t>
            </a:r>
            <a:r>
              <a:rPr lang="en-IN" sz="1800" b="1" baseline="-25000" dirty="0">
                <a:latin typeface="Consolas" pitchFamily="49" charset="0"/>
                <a:cs typeface="Consolas" pitchFamily="49" charset="0"/>
              </a:rPr>
              <a:t>i</a:t>
            </a:r>
            <a:r>
              <a:rPr lang="en-IN" sz="1800" dirty="0"/>
              <a:t> is </a:t>
            </a:r>
            <a:r>
              <a:rPr lang="en-IN" sz="1800" dirty="0">
                <a:latin typeface="Consolas" panose="020B0609020204030204" pitchFamily="49" charset="0"/>
              </a:rPr>
              <a:t>:</a:t>
            </a:r>
          </a:p>
          <a:p>
            <a:pPr marL="361950" lvl="1" indent="0">
              <a:lnSpc>
                <a:spcPct val="134000"/>
              </a:lnSpc>
              <a:buNone/>
            </a:pPr>
            <a:r>
              <a:rPr lang="en-IN" sz="1800" b="1" dirty="0">
                <a:solidFill>
                  <a:srgbClr val="E40524"/>
                </a:solidFill>
                <a:latin typeface="Consolas" panose="020B0609020204030204" pitchFamily="49" charset="0"/>
              </a:rPr>
              <a:t>	</a:t>
            </a:r>
            <a:r>
              <a:rPr lang="en-IN" sz="2000" b="1" dirty="0">
                <a:latin typeface="Consolas" panose="020B0609020204030204" pitchFamily="49" charset="0"/>
              </a:rPr>
              <a:t>Loc(A</a:t>
            </a:r>
            <a:r>
              <a:rPr lang="en-IN" sz="2000" b="1" baseline="-25000" dirty="0">
                <a:latin typeface="Consolas" pitchFamily="49" charset="0"/>
                <a:cs typeface="Consolas" pitchFamily="49" charset="0"/>
              </a:rPr>
              <a:t>i</a:t>
            </a:r>
            <a:r>
              <a:rPr lang="en-IN" sz="2000" b="1" dirty="0">
                <a:latin typeface="Consolas" panose="020B0609020204030204" pitchFamily="49" charset="0"/>
              </a:rPr>
              <a:t>) = L</a:t>
            </a:r>
            <a:r>
              <a:rPr lang="en-IN" sz="2000" b="1" baseline="-25000" dirty="0">
                <a:latin typeface="Consolas" panose="020B0609020204030204" pitchFamily="49" charset="0"/>
              </a:rPr>
              <a:t>0</a:t>
            </a:r>
            <a:r>
              <a:rPr lang="en-IN" sz="2000" b="1" dirty="0">
                <a:latin typeface="Consolas" panose="020B0609020204030204" pitchFamily="49" charset="0"/>
              </a:rPr>
              <a:t> + C*(</a:t>
            </a:r>
            <a:r>
              <a:rPr lang="en-IN" sz="2000" b="1" dirty="0" err="1">
                <a:latin typeface="Consolas" panose="020B0609020204030204" pitchFamily="49" charset="0"/>
              </a:rPr>
              <a:t>i</a:t>
            </a:r>
            <a:r>
              <a:rPr lang="en-IN" sz="2000" b="1" dirty="0">
                <a:latin typeface="Consolas" panose="020B0609020204030204" pitchFamily="49" charset="0"/>
              </a:rPr>
              <a:t>-LB)</a:t>
            </a:r>
            <a:endParaRPr lang="en-IN" sz="1800" b="1" dirty="0">
              <a:latin typeface="Consolas" panose="020B0609020204030204" pitchFamily="49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85800" y="3650836"/>
            <a:ext cx="1600200" cy="45720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85800" y="4108036"/>
            <a:ext cx="1600200" cy="45720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85800" y="4565236"/>
            <a:ext cx="1600200" cy="129540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A[i]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85800" y="5860636"/>
            <a:ext cx="1600200" cy="45720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14675" y="3460336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E40524"/>
                </a:solidFill>
                <a:latin typeface="+mj-lt"/>
              </a:rPr>
              <a:t>L</a:t>
            </a:r>
            <a:r>
              <a:rPr lang="en-IN" b="1" baseline="-25000" dirty="0">
                <a:solidFill>
                  <a:srgbClr val="E40524"/>
                </a:solidFill>
                <a:latin typeface="+mj-lt"/>
              </a:rPr>
              <a:t>0</a:t>
            </a:r>
            <a:endParaRPr lang="en-US" b="1" baseline="-25000" dirty="0">
              <a:solidFill>
                <a:srgbClr val="E40524"/>
              </a:solidFill>
              <a:latin typeface="+mj-lt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124200" y="4374736"/>
            <a:ext cx="1123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E40524"/>
                </a:solidFill>
                <a:latin typeface="+mj-lt"/>
              </a:rPr>
              <a:t>L</a:t>
            </a:r>
            <a:r>
              <a:rPr lang="en-IN" b="1" baseline="-25000" dirty="0">
                <a:solidFill>
                  <a:srgbClr val="E40524"/>
                </a:solidFill>
                <a:latin typeface="+mj-lt"/>
              </a:rPr>
              <a:t>0</a:t>
            </a:r>
            <a:r>
              <a:rPr lang="en-IN" b="1" dirty="0">
                <a:solidFill>
                  <a:srgbClr val="E40524"/>
                </a:solidFill>
                <a:latin typeface="+mj-lt"/>
              </a:rPr>
              <a:t>+C(i-1)</a:t>
            </a:r>
            <a:endParaRPr lang="en-US" b="1" dirty="0">
              <a:solidFill>
                <a:srgbClr val="E40524"/>
              </a:solidFill>
              <a:latin typeface="+mj-lt"/>
            </a:endParaRPr>
          </a:p>
        </p:txBody>
      </p:sp>
      <p:cxnSp>
        <p:nvCxnSpPr>
          <p:cNvPr id="35" name="Straight Arrow Connector 34"/>
          <p:cNvCxnSpPr>
            <a:stCxn id="33" idx="1"/>
          </p:cNvCxnSpPr>
          <p:nvPr/>
        </p:nvCxnSpPr>
        <p:spPr>
          <a:xfrm flipH="1">
            <a:off x="2286000" y="3650836"/>
            <a:ext cx="828675" cy="0"/>
          </a:xfrm>
          <a:prstGeom prst="straightConnector1">
            <a:avLst/>
          </a:prstGeom>
          <a:noFill/>
          <a:ln w="25400" cap="flat" cmpd="sng" algn="ctr">
            <a:solidFill>
              <a:srgbClr val="C0504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36" name="Straight Arrow Connector 35"/>
          <p:cNvCxnSpPr/>
          <p:nvPr/>
        </p:nvCxnSpPr>
        <p:spPr>
          <a:xfrm flipH="1">
            <a:off x="2286000" y="4559402"/>
            <a:ext cx="800100" cy="0"/>
          </a:xfrm>
          <a:prstGeom prst="straightConnector1">
            <a:avLst/>
          </a:prstGeom>
          <a:noFill/>
          <a:ln w="25400" cap="flat" cmpd="sng" algn="ctr">
            <a:solidFill>
              <a:srgbClr val="C0504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37" name="Rectangle 36"/>
          <p:cNvSpPr/>
          <p:nvPr/>
        </p:nvSpPr>
        <p:spPr>
          <a:xfrm>
            <a:off x="685800" y="3655190"/>
            <a:ext cx="1600200" cy="457200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85800" y="4108036"/>
            <a:ext cx="1600200" cy="457200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514600" y="388379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prstClr val="black"/>
                </a:solidFill>
                <a:latin typeface="+mj-lt"/>
              </a:rPr>
              <a:t>i-1</a:t>
            </a:r>
            <a:endParaRPr lang="en-US" b="1" dirty="0">
              <a:solidFill>
                <a:prstClr val="black"/>
              </a:solidFill>
              <a:latin typeface="+mj-lt"/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2514600" y="3650836"/>
            <a:ext cx="0" cy="91440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4250468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3" grpId="0" build="p"/>
      <p:bldP spid="16" grpId="0" build="allAtOnce"/>
      <p:bldP spid="29" grpId="0" animBg="1"/>
      <p:bldP spid="30" grpId="0" animBg="1"/>
      <p:bldP spid="31" grpId="0" animBg="1"/>
      <p:bldP spid="32" grpId="0" animBg="1"/>
      <p:bldP spid="33" grpId="0"/>
      <p:bldP spid="34" grpId="0"/>
      <p:bldP spid="37" grpId="0" animBg="1"/>
      <p:bldP spid="38" grpId="0" animBg="1"/>
      <p:bldP spid="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5506" y="4204448"/>
            <a:ext cx="6006353" cy="2178424"/>
          </a:xfrm>
          <a:prstGeom prst="rect">
            <a:avLst/>
          </a:prstGeom>
          <a:solidFill>
            <a:schemeClr val="bg2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Address calculation of 1-D Array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an array int A[] = {99, 67, 78, 56, 88, 90, 34, 85}, calculate the address of A[4], if the base address is 1000.</a:t>
            </a:r>
          </a:p>
          <a:p>
            <a:pPr lvl="1"/>
            <a:r>
              <a:rPr lang="en-US" dirty="0"/>
              <a:t>i = 4</a:t>
            </a:r>
          </a:p>
          <a:p>
            <a:pPr lvl="1"/>
            <a:r>
              <a:rPr lang="en-US" dirty="0"/>
              <a:t>L</a:t>
            </a:r>
            <a:r>
              <a:rPr lang="en-US" baseline="-25000" dirty="0"/>
              <a:t>0</a:t>
            </a:r>
            <a:r>
              <a:rPr lang="en-US" dirty="0"/>
              <a:t>= 1000</a:t>
            </a:r>
          </a:p>
          <a:p>
            <a:pPr lvl="1"/>
            <a:r>
              <a:rPr lang="en-US" dirty="0"/>
              <a:t>Storing an integer value requires 2 bytes. So C=2.</a:t>
            </a:r>
          </a:p>
          <a:p>
            <a:pPr lvl="1"/>
            <a:r>
              <a:rPr lang="en-US" dirty="0"/>
              <a:t>Lower bound = 0</a:t>
            </a:r>
          </a:p>
          <a:p>
            <a:pPr marL="0" indent="287338">
              <a:buNone/>
            </a:pPr>
            <a:endParaRPr lang="it-IT" b="1" dirty="0"/>
          </a:p>
          <a:p>
            <a:pPr marL="0" indent="287338">
              <a:buNone/>
            </a:pPr>
            <a:r>
              <a:rPr lang="it-IT" b="1" dirty="0"/>
              <a:t>Loc(A</a:t>
            </a:r>
            <a:r>
              <a:rPr lang="it-IT" b="1" baseline="-25000" dirty="0"/>
              <a:t>i</a:t>
            </a:r>
            <a:r>
              <a:rPr lang="it-IT" b="1" dirty="0"/>
              <a:t>) = L</a:t>
            </a:r>
            <a:r>
              <a:rPr lang="it-IT" b="1" baseline="-25000" dirty="0"/>
              <a:t>0</a:t>
            </a:r>
            <a:r>
              <a:rPr lang="it-IT" b="1" dirty="0"/>
              <a:t> + C * (i-LB) </a:t>
            </a:r>
          </a:p>
          <a:p>
            <a:pPr marL="0" indent="287338">
              <a:buNone/>
            </a:pPr>
            <a:r>
              <a:rPr lang="en-US" b="1" dirty="0"/>
              <a:t>Loc(A</a:t>
            </a:r>
            <a:r>
              <a:rPr lang="en-US" b="1" baseline="-25000" dirty="0"/>
              <a:t>4</a:t>
            </a:r>
            <a:r>
              <a:rPr lang="en-US" b="1" dirty="0"/>
              <a:t>)= 1000 + 2 (4-0)</a:t>
            </a:r>
          </a:p>
          <a:p>
            <a:pPr marL="0" indent="287338">
              <a:buNone/>
            </a:pPr>
            <a:r>
              <a:rPr lang="en-US" b="1" dirty="0"/>
              <a:t>             = 1000 + 8</a:t>
            </a:r>
          </a:p>
          <a:p>
            <a:pPr marL="0" indent="287338">
              <a:buNone/>
            </a:pPr>
            <a:r>
              <a:rPr lang="en-US" b="1" dirty="0"/>
              <a:t>             = 1008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25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Dimensional Array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Column Major Order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Row Major Order</a:t>
            </a:r>
          </a:p>
        </p:txBody>
      </p:sp>
    </p:spTree>
    <p:extLst>
      <p:ext uri="{BB962C8B-B14F-4D97-AF65-F5344CB8AC3E}">
        <p14:creationId xmlns:p14="http://schemas.microsoft.com/office/powerpoint/2010/main" val="2725294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Dimensional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Although the rectangular picture of two-dimensional array is shown, </a:t>
            </a:r>
            <a:r>
              <a:rPr lang="en-US" b="1" dirty="0">
                <a:solidFill>
                  <a:srgbClr val="C00000"/>
                </a:solidFill>
              </a:rPr>
              <a:t>but in memory these elements will actually be stored in sequential manner</a:t>
            </a:r>
            <a:r>
              <a:rPr lang="en-US" dirty="0"/>
              <a:t>.</a:t>
            </a:r>
          </a:p>
          <a:p>
            <a:r>
              <a:rPr lang="en-US" dirty="0"/>
              <a:t>There are two ways to store them in memory: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Row major order : </a:t>
            </a:r>
          </a:p>
          <a:p>
            <a:pPr marL="1001712" lvl="1" indent="-457200"/>
            <a:r>
              <a:rPr lang="en-US" dirty="0"/>
              <a:t>Two dimensional array in which elements are stored row by row is called as row major matrix.</a:t>
            </a:r>
          </a:p>
          <a:p>
            <a:pPr marL="1001712" lvl="1" indent="-457200"/>
            <a:r>
              <a:rPr lang="en-US" dirty="0"/>
              <a:t>For example, 2-D array elements of 2 X 4 dimension will be stored in sequential manner as follows: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2D5120D-322A-C43A-F41E-BF7FFC3A3ECF}"/>
              </a:ext>
            </a:extLst>
          </p:cNvPr>
          <p:cNvGrpSpPr/>
          <p:nvPr/>
        </p:nvGrpSpPr>
        <p:grpSpPr>
          <a:xfrm>
            <a:off x="195704" y="3876555"/>
            <a:ext cx="4221482" cy="1309373"/>
            <a:chOff x="4541518" y="4439424"/>
            <a:chExt cx="4221482" cy="130937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33937D4-60AF-8B78-27C2-7AB18A4A6947}"/>
                </a:ext>
              </a:extLst>
            </p:cNvPr>
            <p:cNvGrpSpPr/>
            <p:nvPr/>
          </p:nvGrpSpPr>
          <p:grpSpPr>
            <a:xfrm>
              <a:off x="4541518" y="4439424"/>
              <a:ext cx="4069082" cy="1303556"/>
              <a:chOff x="350518" y="4640044"/>
              <a:chExt cx="4069082" cy="1303556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6F2045D-761F-7761-DB91-A38A56BE78F6}"/>
                  </a:ext>
                </a:extLst>
              </p:cNvPr>
              <p:cNvSpPr txBox="1"/>
              <p:nvPr/>
            </p:nvSpPr>
            <p:spPr>
              <a:xfrm>
                <a:off x="1219200" y="5029200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[1,1]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01EDD5D-1B2C-988E-A691-EAFADBAF0125}"/>
                  </a:ext>
                </a:extLst>
              </p:cNvPr>
              <p:cNvSpPr txBox="1"/>
              <p:nvPr/>
            </p:nvSpPr>
            <p:spPr>
              <a:xfrm>
                <a:off x="2057400" y="5029200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[1,2]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907291C-CDB7-202D-EE0D-1D7770B651F3}"/>
                  </a:ext>
                </a:extLst>
              </p:cNvPr>
              <p:cNvSpPr txBox="1"/>
              <p:nvPr/>
            </p:nvSpPr>
            <p:spPr>
              <a:xfrm>
                <a:off x="2895600" y="5029200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[1,3]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2AD3958-E36D-5982-BFA5-BEAF4A5840B4}"/>
                  </a:ext>
                </a:extLst>
              </p:cNvPr>
              <p:cNvSpPr txBox="1"/>
              <p:nvPr/>
            </p:nvSpPr>
            <p:spPr>
              <a:xfrm>
                <a:off x="3733800" y="5029200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[1,4]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3CCE3C6-74DA-E1DA-97B5-042B0570EE9C}"/>
                  </a:ext>
                </a:extLst>
              </p:cNvPr>
              <p:cNvSpPr txBox="1"/>
              <p:nvPr/>
            </p:nvSpPr>
            <p:spPr>
              <a:xfrm>
                <a:off x="1219200" y="5574268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[2,1]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91A79FE-468E-46E0-60B8-A8CD6D8881A4}"/>
                  </a:ext>
                </a:extLst>
              </p:cNvPr>
              <p:cNvSpPr txBox="1"/>
              <p:nvPr/>
            </p:nvSpPr>
            <p:spPr>
              <a:xfrm>
                <a:off x="2057400" y="5574268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[2,2]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F66C2B3-70B1-4248-45B7-BE4A8B8497F6}"/>
                  </a:ext>
                </a:extLst>
              </p:cNvPr>
              <p:cNvSpPr txBox="1"/>
              <p:nvPr/>
            </p:nvSpPr>
            <p:spPr>
              <a:xfrm>
                <a:off x="2895600" y="5574268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[2,3]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FA699F7-0C60-9083-E685-0F5EC185DC02}"/>
                  </a:ext>
                </a:extLst>
              </p:cNvPr>
              <p:cNvSpPr txBox="1"/>
              <p:nvPr/>
            </p:nvSpPr>
            <p:spPr>
              <a:xfrm>
                <a:off x="3733800" y="5574268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[2,4]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9A0ACA4-C2FB-8984-52F6-8A91D35A85D2}"/>
                  </a:ext>
                </a:extLst>
              </p:cNvPr>
              <p:cNvSpPr txBox="1"/>
              <p:nvPr/>
            </p:nvSpPr>
            <p:spPr>
              <a:xfrm>
                <a:off x="350519" y="5029200"/>
                <a:ext cx="7924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j-lt"/>
                  </a:rPr>
                  <a:t>Row-1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475A096-6BF4-CC33-D3FE-1065CFF1E6E5}"/>
                  </a:ext>
                </a:extLst>
              </p:cNvPr>
              <p:cNvSpPr txBox="1"/>
              <p:nvPr/>
            </p:nvSpPr>
            <p:spPr>
              <a:xfrm>
                <a:off x="350518" y="5574268"/>
                <a:ext cx="7924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j-lt"/>
                  </a:rPr>
                  <a:t>Row-2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B46BBEC-8A7A-F3BE-39DE-8E5EDD828C19}"/>
                  </a:ext>
                </a:extLst>
              </p:cNvPr>
              <p:cNvSpPr txBox="1"/>
              <p:nvPr/>
            </p:nvSpPr>
            <p:spPr>
              <a:xfrm>
                <a:off x="1162050" y="4640044"/>
                <a:ext cx="7429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j-lt"/>
                  </a:rPr>
                  <a:t>Col-1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319C7DE-65D0-6F1A-808B-29C5CCC86769}"/>
                  </a:ext>
                </a:extLst>
              </p:cNvPr>
              <p:cNvSpPr txBox="1"/>
              <p:nvPr/>
            </p:nvSpPr>
            <p:spPr>
              <a:xfrm>
                <a:off x="1990725" y="4640044"/>
                <a:ext cx="7429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j-lt"/>
                  </a:rPr>
                  <a:t>Col-2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5C42FD0-809C-715C-191C-CFEAC7DBC4BB}"/>
                  </a:ext>
                </a:extLst>
              </p:cNvPr>
              <p:cNvSpPr txBox="1"/>
              <p:nvPr/>
            </p:nvSpPr>
            <p:spPr>
              <a:xfrm>
                <a:off x="2838450" y="4640044"/>
                <a:ext cx="7429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j-lt"/>
                  </a:rPr>
                  <a:t>Col-3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35B7E62-32D4-289D-A94F-4441008A5B69}"/>
                  </a:ext>
                </a:extLst>
              </p:cNvPr>
              <p:cNvSpPr txBox="1"/>
              <p:nvPr/>
            </p:nvSpPr>
            <p:spPr>
              <a:xfrm>
                <a:off x="3600450" y="4640044"/>
                <a:ext cx="7429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j-lt"/>
                  </a:rPr>
                  <a:t>Col-4</a:t>
                </a:r>
              </a:p>
            </p:txBody>
          </p:sp>
        </p:grpSp>
        <p:sp>
          <p:nvSpPr>
            <p:cNvPr id="16" name="Left Bracket 15">
              <a:extLst>
                <a:ext uri="{FF2B5EF4-FFF2-40B4-BE49-F238E27FC236}">
                  <a16:creationId xmlns:a16="http://schemas.microsoft.com/office/drawing/2014/main" id="{372EB95F-7DBF-43DB-7FF9-87331D545DF8}"/>
                </a:ext>
              </a:extLst>
            </p:cNvPr>
            <p:cNvSpPr/>
            <p:nvPr/>
          </p:nvSpPr>
          <p:spPr>
            <a:xfrm>
              <a:off x="5257800" y="4789706"/>
              <a:ext cx="45719" cy="958317"/>
            </a:xfrm>
            <a:prstGeom prst="leftBracket">
              <a:avLst/>
            </a:prstGeom>
            <a:noFill/>
            <a:ln w="25400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7" name="Right Bracket 16">
              <a:extLst>
                <a:ext uri="{FF2B5EF4-FFF2-40B4-BE49-F238E27FC236}">
                  <a16:creationId xmlns:a16="http://schemas.microsoft.com/office/drawing/2014/main" id="{D1E100A6-F0D9-84DB-78D3-F20013F9B18B}"/>
                </a:ext>
              </a:extLst>
            </p:cNvPr>
            <p:cNvSpPr/>
            <p:nvPr/>
          </p:nvSpPr>
          <p:spPr>
            <a:xfrm>
              <a:off x="8686800" y="4788932"/>
              <a:ext cx="76200" cy="959865"/>
            </a:xfrm>
            <a:prstGeom prst="rightBracket">
              <a:avLst/>
            </a:prstGeom>
            <a:noFill/>
            <a:ln w="25400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</p:grp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64441ED-180D-9F4B-A026-D7DCD22513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726688"/>
              </p:ext>
            </p:extLst>
          </p:nvPr>
        </p:nvGraphicFramePr>
        <p:xfrm>
          <a:off x="5558706" y="4426799"/>
          <a:ext cx="5568904" cy="383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6113">
                  <a:extLst>
                    <a:ext uri="{9D8B030D-6E8A-4147-A177-3AD203B41FA5}">
                      <a16:colId xmlns:a16="http://schemas.microsoft.com/office/drawing/2014/main" val="3008958240"/>
                    </a:ext>
                  </a:extLst>
                </a:gridCol>
                <a:gridCol w="696113">
                  <a:extLst>
                    <a:ext uri="{9D8B030D-6E8A-4147-A177-3AD203B41FA5}">
                      <a16:colId xmlns:a16="http://schemas.microsoft.com/office/drawing/2014/main" val="978175939"/>
                    </a:ext>
                  </a:extLst>
                </a:gridCol>
                <a:gridCol w="696113">
                  <a:extLst>
                    <a:ext uri="{9D8B030D-6E8A-4147-A177-3AD203B41FA5}">
                      <a16:colId xmlns:a16="http://schemas.microsoft.com/office/drawing/2014/main" val="360089141"/>
                    </a:ext>
                  </a:extLst>
                </a:gridCol>
                <a:gridCol w="696113">
                  <a:extLst>
                    <a:ext uri="{9D8B030D-6E8A-4147-A177-3AD203B41FA5}">
                      <a16:colId xmlns:a16="http://schemas.microsoft.com/office/drawing/2014/main" val="184800352"/>
                    </a:ext>
                  </a:extLst>
                </a:gridCol>
                <a:gridCol w="696113">
                  <a:extLst>
                    <a:ext uri="{9D8B030D-6E8A-4147-A177-3AD203B41FA5}">
                      <a16:colId xmlns:a16="http://schemas.microsoft.com/office/drawing/2014/main" val="389928716"/>
                    </a:ext>
                  </a:extLst>
                </a:gridCol>
                <a:gridCol w="696113">
                  <a:extLst>
                    <a:ext uri="{9D8B030D-6E8A-4147-A177-3AD203B41FA5}">
                      <a16:colId xmlns:a16="http://schemas.microsoft.com/office/drawing/2014/main" val="2826071002"/>
                    </a:ext>
                  </a:extLst>
                </a:gridCol>
                <a:gridCol w="696113">
                  <a:extLst>
                    <a:ext uri="{9D8B030D-6E8A-4147-A177-3AD203B41FA5}">
                      <a16:colId xmlns:a16="http://schemas.microsoft.com/office/drawing/2014/main" val="2172550363"/>
                    </a:ext>
                  </a:extLst>
                </a:gridCol>
                <a:gridCol w="696113">
                  <a:extLst>
                    <a:ext uri="{9D8B030D-6E8A-4147-A177-3AD203B41FA5}">
                      <a16:colId xmlns:a16="http://schemas.microsoft.com/office/drawing/2014/main" val="3567349529"/>
                    </a:ext>
                  </a:extLst>
                </a:gridCol>
              </a:tblGrid>
              <a:tr h="3839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644155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328F94E8-EFB3-99CE-E5BF-EF010A7ED381}"/>
              </a:ext>
            </a:extLst>
          </p:cNvPr>
          <p:cNvSpPr txBox="1"/>
          <p:nvPr/>
        </p:nvSpPr>
        <p:spPr>
          <a:xfrm>
            <a:off x="5628767" y="4426799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+mj-lt"/>
              </a:rPr>
              <a:t>[1,1]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F9F3E7-A787-A3BE-565A-8D3C49B4CA0B}"/>
              </a:ext>
            </a:extLst>
          </p:cNvPr>
          <p:cNvSpPr txBox="1"/>
          <p:nvPr/>
        </p:nvSpPr>
        <p:spPr>
          <a:xfrm>
            <a:off x="6314567" y="4434123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+mj-lt"/>
              </a:rPr>
              <a:t>[1,2]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2C92AD-CF47-C69C-811F-1D049B0CCE90}"/>
              </a:ext>
            </a:extLst>
          </p:cNvPr>
          <p:cNvSpPr txBox="1"/>
          <p:nvPr/>
        </p:nvSpPr>
        <p:spPr>
          <a:xfrm>
            <a:off x="6972107" y="4445109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+mj-lt"/>
              </a:rPr>
              <a:t>[1,3]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F8B33A-6C7C-DB90-F596-904D7663DFDF}"/>
              </a:ext>
            </a:extLst>
          </p:cNvPr>
          <p:cNvSpPr txBox="1"/>
          <p:nvPr/>
        </p:nvSpPr>
        <p:spPr>
          <a:xfrm>
            <a:off x="7684056" y="4436231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+mj-lt"/>
              </a:rPr>
              <a:t>[1,4]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CBC7A59-8ED5-0262-7AF6-B94ED082CBAB}"/>
              </a:ext>
            </a:extLst>
          </p:cNvPr>
          <p:cNvSpPr txBox="1"/>
          <p:nvPr/>
        </p:nvSpPr>
        <p:spPr>
          <a:xfrm>
            <a:off x="8368740" y="4450377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+mj-lt"/>
              </a:rPr>
              <a:t>[2,1]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1F2569-DF6A-AF2F-8884-52A036B04A9B}"/>
              </a:ext>
            </a:extLst>
          </p:cNvPr>
          <p:cNvSpPr txBox="1"/>
          <p:nvPr/>
        </p:nvSpPr>
        <p:spPr>
          <a:xfrm>
            <a:off x="9082236" y="4441447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+mj-lt"/>
              </a:rPr>
              <a:t>[2,2]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16969DD-E6A1-E38A-7C2D-D3010AA6FD2F}"/>
              </a:ext>
            </a:extLst>
          </p:cNvPr>
          <p:cNvSpPr txBox="1"/>
          <p:nvPr/>
        </p:nvSpPr>
        <p:spPr>
          <a:xfrm>
            <a:off x="9770901" y="444031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+mj-lt"/>
              </a:rPr>
              <a:t>[2,3]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E0CEE4D-0AE9-9B4D-28F1-A424507663CF}"/>
              </a:ext>
            </a:extLst>
          </p:cNvPr>
          <p:cNvSpPr txBox="1"/>
          <p:nvPr/>
        </p:nvSpPr>
        <p:spPr>
          <a:xfrm>
            <a:off x="10480416" y="4450377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+mj-lt"/>
              </a:rPr>
              <a:t>[2,4]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A5549D2-1025-F604-31CF-2CF8EB08EF1A}"/>
              </a:ext>
            </a:extLst>
          </p:cNvPr>
          <p:cNvCxnSpPr>
            <a:cxnSpLocks/>
          </p:cNvCxnSpPr>
          <p:nvPr/>
        </p:nvCxnSpPr>
        <p:spPr>
          <a:xfrm>
            <a:off x="1054861" y="4627066"/>
            <a:ext cx="3126614" cy="0"/>
          </a:xfrm>
          <a:prstGeom prst="straightConnector1">
            <a:avLst/>
          </a:prstGeom>
          <a:noFill/>
          <a:ln w="25400" cap="flat" cmpd="sng" algn="ctr">
            <a:solidFill>
              <a:srgbClr val="C0504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DA121A6-D75C-86C8-9377-2BAE527AE88F}"/>
              </a:ext>
            </a:extLst>
          </p:cNvPr>
          <p:cNvCxnSpPr>
            <a:cxnSpLocks/>
          </p:cNvCxnSpPr>
          <p:nvPr/>
        </p:nvCxnSpPr>
        <p:spPr>
          <a:xfrm>
            <a:off x="1054861" y="5169991"/>
            <a:ext cx="3126614" cy="0"/>
          </a:xfrm>
          <a:prstGeom prst="straightConnector1">
            <a:avLst/>
          </a:prstGeom>
          <a:noFill/>
          <a:ln w="25400" cap="flat" cmpd="sng" algn="ctr">
            <a:solidFill>
              <a:srgbClr val="C0504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469800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Dimensional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ClrTx/>
              <a:buFont typeface="+mj-lt"/>
              <a:buAutoNum type="arabicPeriod" startAt="2"/>
            </a:pPr>
            <a:r>
              <a:rPr lang="en-US" b="1" dirty="0">
                <a:solidFill>
                  <a:srgbClr val="C00000"/>
                </a:solidFill>
              </a:rPr>
              <a:t>Column major order : </a:t>
            </a:r>
          </a:p>
          <a:p>
            <a:pPr marL="1001712" lvl="1" indent="-457200"/>
            <a:r>
              <a:rPr lang="en-IN" dirty="0"/>
              <a:t>Two dimensional array in which elements are stored column by column is called as column major matrix</a:t>
            </a:r>
            <a:r>
              <a:rPr lang="en-US" dirty="0"/>
              <a:t>.</a:t>
            </a:r>
          </a:p>
          <a:p>
            <a:pPr marL="1001712" lvl="1" indent="-457200"/>
            <a:r>
              <a:rPr lang="en-US" dirty="0"/>
              <a:t>For example, 2-D array elements of 2 X 4 dimension will be stored in sequential manner as follows: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12F1D5E-8108-5A79-D797-B3DC00F02777}"/>
              </a:ext>
            </a:extLst>
          </p:cNvPr>
          <p:cNvGrpSpPr/>
          <p:nvPr/>
        </p:nvGrpSpPr>
        <p:grpSpPr>
          <a:xfrm>
            <a:off x="435402" y="3601346"/>
            <a:ext cx="4221482" cy="1309373"/>
            <a:chOff x="4541518" y="4439424"/>
            <a:chExt cx="4221482" cy="130937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E07F7F5-0D91-1F65-F4FF-DE04DB8494D7}"/>
                </a:ext>
              </a:extLst>
            </p:cNvPr>
            <p:cNvGrpSpPr/>
            <p:nvPr/>
          </p:nvGrpSpPr>
          <p:grpSpPr>
            <a:xfrm>
              <a:off x="4541518" y="4439424"/>
              <a:ext cx="4069082" cy="1303556"/>
              <a:chOff x="350518" y="4640044"/>
              <a:chExt cx="4069082" cy="1303556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26942E7-8F6B-8022-57AC-D08E836F48E8}"/>
                  </a:ext>
                </a:extLst>
              </p:cNvPr>
              <p:cNvSpPr txBox="1"/>
              <p:nvPr/>
            </p:nvSpPr>
            <p:spPr>
              <a:xfrm>
                <a:off x="1219200" y="5029200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[1,1]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AD9A872-D5EA-7450-3C3A-E57CCB4C23CE}"/>
                  </a:ext>
                </a:extLst>
              </p:cNvPr>
              <p:cNvSpPr txBox="1"/>
              <p:nvPr/>
            </p:nvSpPr>
            <p:spPr>
              <a:xfrm>
                <a:off x="2057400" y="5029200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[1,2]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03EBCF7-99D8-606A-4A53-47B419FBC098}"/>
                  </a:ext>
                </a:extLst>
              </p:cNvPr>
              <p:cNvSpPr txBox="1"/>
              <p:nvPr/>
            </p:nvSpPr>
            <p:spPr>
              <a:xfrm>
                <a:off x="2895600" y="5029200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[1,3]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2EA96CF-13AF-31ED-D8D1-B1DCE6C903F3}"/>
                  </a:ext>
                </a:extLst>
              </p:cNvPr>
              <p:cNvSpPr txBox="1"/>
              <p:nvPr/>
            </p:nvSpPr>
            <p:spPr>
              <a:xfrm>
                <a:off x="3733800" y="5029200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[1,4]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54729C8-09DA-EE00-99FC-249C9ECA6D0F}"/>
                  </a:ext>
                </a:extLst>
              </p:cNvPr>
              <p:cNvSpPr txBox="1"/>
              <p:nvPr/>
            </p:nvSpPr>
            <p:spPr>
              <a:xfrm>
                <a:off x="1219200" y="5574268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[2,1]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E1604A1-000A-54E9-EE2B-887BC2F6316F}"/>
                  </a:ext>
                </a:extLst>
              </p:cNvPr>
              <p:cNvSpPr txBox="1"/>
              <p:nvPr/>
            </p:nvSpPr>
            <p:spPr>
              <a:xfrm>
                <a:off x="2057400" y="5574268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[2,2]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DDA30A3-EB00-3283-8696-695CACAA45F3}"/>
                  </a:ext>
                </a:extLst>
              </p:cNvPr>
              <p:cNvSpPr txBox="1"/>
              <p:nvPr/>
            </p:nvSpPr>
            <p:spPr>
              <a:xfrm>
                <a:off x="2895600" y="5574268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[2,3]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83961F7-5984-F096-66DC-9BA413854A45}"/>
                  </a:ext>
                </a:extLst>
              </p:cNvPr>
              <p:cNvSpPr txBox="1"/>
              <p:nvPr/>
            </p:nvSpPr>
            <p:spPr>
              <a:xfrm>
                <a:off x="3733800" y="5574268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[2,4]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6F30317-4F55-1F9B-2535-A39E45445C97}"/>
                  </a:ext>
                </a:extLst>
              </p:cNvPr>
              <p:cNvSpPr txBox="1"/>
              <p:nvPr/>
            </p:nvSpPr>
            <p:spPr>
              <a:xfrm>
                <a:off x="350519" y="5029200"/>
                <a:ext cx="7924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j-lt"/>
                  </a:rPr>
                  <a:t>Row-1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C7ACAB1-04C3-CCB7-ADA0-5F19D940BCBB}"/>
                  </a:ext>
                </a:extLst>
              </p:cNvPr>
              <p:cNvSpPr txBox="1"/>
              <p:nvPr/>
            </p:nvSpPr>
            <p:spPr>
              <a:xfrm>
                <a:off x="350518" y="5574268"/>
                <a:ext cx="7924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j-lt"/>
                  </a:rPr>
                  <a:t>Row-2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90C6F0-3A6F-2F53-124C-521DD2551A35}"/>
                  </a:ext>
                </a:extLst>
              </p:cNvPr>
              <p:cNvSpPr txBox="1"/>
              <p:nvPr/>
            </p:nvSpPr>
            <p:spPr>
              <a:xfrm>
                <a:off x="1162050" y="4640044"/>
                <a:ext cx="7429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j-lt"/>
                  </a:rPr>
                  <a:t>Col-1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9BC8DFC-E4CF-CD0D-9155-F8773CDDA4AB}"/>
                  </a:ext>
                </a:extLst>
              </p:cNvPr>
              <p:cNvSpPr txBox="1"/>
              <p:nvPr/>
            </p:nvSpPr>
            <p:spPr>
              <a:xfrm>
                <a:off x="1990725" y="4640044"/>
                <a:ext cx="7429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j-lt"/>
                  </a:rPr>
                  <a:t>Col-2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3A1AE3B-A4A9-70FF-F7F9-1208DC2A4094}"/>
                  </a:ext>
                </a:extLst>
              </p:cNvPr>
              <p:cNvSpPr txBox="1"/>
              <p:nvPr/>
            </p:nvSpPr>
            <p:spPr>
              <a:xfrm>
                <a:off x="2838450" y="4640044"/>
                <a:ext cx="7429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j-lt"/>
                  </a:rPr>
                  <a:t>Col-3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CEC54C6-AD61-B2DC-0878-959D35A48A87}"/>
                  </a:ext>
                </a:extLst>
              </p:cNvPr>
              <p:cNvSpPr txBox="1"/>
              <p:nvPr/>
            </p:nvSpPr>
            <p:spPr>
              <a:xfrm>
                <a:off x="3600450" y="4640044"/>
                <a:ext cx="7429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j-lt"/>
                  </a:rPr>
                  <a:t>Col-4</a:t>
                </a:r>
              </a:p>
            </p:txBody>
          </p:sp>
        </p:grpSp>
        <p:sp>
          <p:nvSpPr>
            <p:cNvPr id="10" name="Left Bracket 9">
              <a:extLst>
                <a:ext uri="{FF2B5EF4-FFF2-40B4-BE49-F238E27FC236}">
                  <a16:creationId xmlns:a16="http://schemas.microsoft.com/office/drawing/2014/main" id="{5B42B9F3-CCF8-6507-12FB-E1C8E84CAC9A}"/>
                </a:ext>
              </a:extLst>
            </p:cNvPr>
            <p:cNvSpPr/>
            <p:nvPr/>
          </p:nvSpPr>
          <p:spPr>
            <a:xfrm>
              <a:off x="5257800" y="4789706"/>
              <a:ext cx="45719" cy="958317"/>
            </a:xfrm>
            <a:prstGeom prst="leftBracket">
              <a:avLst/>
            </a:prstGeom>
            <a:noFill/>
            <a:ln w="25400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1" name="Right Bracket 10">
              <a:extLst>
                <a:ext uri="{FF2B5EF4-FFF2-40B4-BE49-F238E27FC236}">
                  <a16:creationId xmlns:a16="http://schemas.microsoft.com/office/drawing/2014/main" id="{1AA69149-9D29-92E8-3F4D-CBB5B8C2AF67}"/>
                </a:ext>
              </a:extLst>
            </p:cNvPr>
            <p:cNvSpPr/>
            <p:nvPr/>
          </p:nvSpPr>
          <p:spPr>
            <a:xfrm>
              <a:off x="8686800" y="4788932"/>
              <a:ext cx="76200" cy="959865"/>
            </a:xfrm>
            <a:prstGeom prst="rightBracket">
              <a:avLst/>
            </a:prstGeom>
            <a:noFill/>
            <a:ln w="25400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</p:grp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625AD57-28A0-4E94-3DA1-D4BA4979C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068393"/>
              </p:ext>
            </p:extLst>
          </p:nvPr>
        </p:nvGraphicFramePr>
        <p:xfrm>
          <a:off x="5571284" y="4175168"/>
          <a:ext cx="5568904" cy="383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6113">
                  <a:extLst>
                    <a:ext uri="{9D8B030D-6E8A-4147-A177-3AD203B41FA5}">
                      <a16:colId xmlns:a16="http://schemas.microsoft.com/office/drawing/2014/main" val="3008958240"/>
                    </a:ext>
                  </a:extLst>
                </a:gridCol>
                <a:gridCol w="696113">
                  <a:extLst>
                    <a:ext uri="{9D8B030D-6E8A-4147-A177-3AD203B41FA5}">
                      <a16:colId xmlns:a16="http://schemas.microsoft.com/office/drawing/2014/main" val="978175939"/>
                    </a:ext>
                  </a:extLst>
                </a:gridCol>
                <a:gridCol w="696113">
                  <a:extLst>
                    <a:ext uri="{9D8B030D-6E8A-4147-A177-3AD203B41FA5}">
                      <a16:colId xmlns:a16="http://schemas.microsoft.com/office/drawing/2014/main" val="360089141"/>
                    </a:ext>
                  </a:extLst>
                </a:gridCol>
                <a:gridCol w="696113">
                  <a:extLst>
                    <a:ext uri="{9D8B030D-6E8A-4147-A177-3AD203B41FA5}">
                      <a16:colId xmlns:a16="http://schemas.microsoft.com/office/drawing/2014/main" val="184800352"/>
                    </a:ext>
                  </a:extLst>
                </a:gridCol>
                <a:gridCol w="696113">
                  <a:extLst>
                    <a:ext uri="{9D8B030D-6E8A-4147-A177-3AD203B41FA5}">
                      <a16:colId xmlns:a16="http://schemas.microsoft.com/office/drawing/2014/main" val="389928716"/>
                    </a:ext>
                  </a:extLst>
                </a:gridCol>
                <a:gridCol w="696113">
                  <a:extLst>
                    <a:ext uri="{9D8B030D-6E8A-4147-A177-3AD203B41FA5}">
                      <a16:colId xmlns:a16="http://schemas.microsoft.com/office/drawing/2014/main" val="2826071002"/>
                    </a:ext>
                  </a:extLst>
                </a:gridCol>
                <a:gridCol w="696113">
                  <a:extLst>
                    <a:ext uri="{9D8B030D-6E8A-4147-A177-3AD203B41FA5}">
                      <a16:colId xmlns:a16="http://schemas.microsoft.com/office/drawing/2014/main" val="2172550363"/>
                    </a:ext>
                  </a:extLst>
                </a:gridCol>
                <a:gridCol w="696113">
                  <a:extLst>
                    <a:ext uri="{9D8B030D-6E8A-4147-A177-3AD203B41FA5}">
                      <a16:colId xmlns:a16="http://schemas.microsoft.com/office/drawing/2014/main" val="3567349529"/>
                    </a:ext>
                  </a:extLst>
                </a:gridCol>
              </a:tblGrid>
              <a:tr h="3839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6441559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F8CCD89-D797-8254-FF29-20F8B719248C}"/>
              </a:ext>
            </a:extLst>
          </p:cNvPr>
          <p:cNvCxnSpPr>
            <a:cxnSpLocks/>
          </p:cNvCxnSpPr>
          <p:nvPr/>
        </p:nvCxnSpPr>
        <p:spPr>
          <a:xfrm>
            <a:off x="1917577" y="4121937"/>
            <a:ext cx="0" cy="654249"/>
          </a:xfrm>
          <a:prstGeom prst="straightConnector1">
            <a:avLst/>
          </a:prstGeom>
          <a:noFill/>
          <a:ln w="25400" cap="flat" cmpd="sng" algn="ctr">
            <a:solidFill>
              <a:srgbClr val="C0504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3F6C844-C2F9-F011-F967-3906AEE9185E}"/>
              </a:ext>
            </a:extLst>
          </p:cNvPr>
          <p:cNvSpPr txBox="1"/>
          <p:nvPr/>
        </p:nvSpPr>
        <p:spPr>
          <a:xfrm>
            <a:off x="5646907" y="416623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+mj-lt"/>
              </a:rPr>
              <a:t>[1,1]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A01C39-7CAD-8DDE-80F4-001C643CA037}"/>
              </a:ext>
            </a:extLst>
          </p:cNvPr>
          <p:cNvSpPr txBox="1"/>
          <p:nvPr/>
        </p:nvSpPr>
        <p:spPr>
          <a:xfrm>
            <a:off x="6270551" y="41751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+mj-lt"/>
              </a:rPr>
              <a:t>[2,1]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7F2954E-3314-71CB-AFC3-0BA8F0A4C985}"/>
              </a:ext>
            </a:extLst>
          </p:cNvPr>
          <p:cNvCxnSpPr>
            <a:cxnSpLocks/>
          </p:cNvCxnSpPr>
          <p:nvPr/>
        </p:nvCxnSpPr>
        <p:spPr>
          <a:xfrm>
            <a:off x="2818559" y="4121937"/>
            <a:ext cx="0" cy="654249"/>
          </a:xfrm>
          <a:prstGeom prst="straightConnector1">
            <a:avLst/>
          </a:prstGeom>
          <a:noFill/>
          <a:ln w="25400" cap="flat" cmpd="sng" algn="ctr">
            <a:solidFill>
              <a:srgbClr val="C0504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05F7B51-F4BD-AABF-2A76-F1BDA880FE84}"/>
              </a:ext>
            </a:extLst>
          </p:cNvPr>
          <p:cNvSpPr txBox="1"/>
          <p:nvPr/>
        </p:nvSpPr>
        <p:spPr>
          <a:xfrm>
            <a:off x="6969818" y="4168901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+mj-lt"/>
              </a:rPr>
              <a:t>[1,2]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208876E-C712-8E11-3B0D-B6FC6DE61EB9}"/>
              </a:ext>
            </a:extLst>
          </p:cNvPr>
          <p:cNvSpPr txBox="1"/>
          <p:nvPr/>
        </p:nvSpPr>
        <p:spPr>
          <a:xfrm>
            <a:off x="7707747" y="4182492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+mj-lt"/>
              </a:rPr>
              <a:t>[2,2]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1AC2A05-550B-D286-FE6F-509F8D067367}"/>
              </a:ext>
            </a:extLst>
          </p:cNvPr>
          <p:cNvCxnSpPr>
            <a:cxnSpLocks/>
          </p:cNvCxnSpPr>
          <p:nvPr/>
        </p:nvCxnSpPr>
        <p:spPr>
          <a:xfrm>
            <a:off x="3666284" y="4121937"/>
            <a:ext cx="0" cy="654249"/>
          </a:xfrm>
          <a:prstGeom prst="straightConnector1">
            <a:avLst/>
          </a:prstGeom>
          <a:noFill/>
          <a:ln w="25400" cap="flat" cmpd="sng" algn="ctr">
            <a:solidFill>
              <a:srgbClr val="C0504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881FBD2-B226-B6C9-FDCA-22F5336E6D2F}"/>
              </a:ext>
            </a:extLst>
          </p:cNvPr>
          <p:cNvSpPr txBox="1"/>
          <p:nvPr/>
        </p:nvSpPr>
        <p:spPr>
          <a:xfrm>
            <a:off x="8384379" y="4177779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+mj-lt"/>
              </a:rPr>
              <a:t>[1,3]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8E52097-43B9-6CC7-71B3-6B8EC961B831}"/>
              </a:ext>
            </a:extLst>
          </p:cNvPr>
          <p:cNvSpPr txBox="1"/>
          <p:nvPr/>
        </p:nvSpPr>
        <p:spPr>
          <a:xfrm>
            <a:off x="9055003" y="4182492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+mj-lt"/>
              </a:rPr>
              <a:t>[2,3]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CFD0919-7A0B-DA32-7FCA-EA67FA9C38B7}"/>
              </a:ext>
            </a:extLst>
          </p:cNvPr>
          <p:cNvCxnSpPr>
            <a:cxnSpLocks/>
          </p:cNvCxnSpPr>
          <p:nvPr/>
        </p:nvCxnSpPr>
        <p:spPr>
          <a:xfrm>
            <a:off x="4447325" y="4121937"/>
            <a:ext cx="0" cy="654249"/>
          </a:xfrm>
          <a:prstGeom prst="straightConnector1">
            <a:avLst/>
          </a:prstGeom>
          <a:noFill/>
          <a:ln w="25400" cap="flat" cmpd="sng" algn="ctr">
            <a:solidFill>
              <a:srgbClr val="C0504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1F0EB093-5CBA-6C39-3C7D-6EDAFC0B430A}"/>
              </a:ext>
            </a:extLst>
          </p:cNvPr>
          <p:cNvSpPr txBox="1"/>
          <p:nvPr/>
        </p:nvSpPr>
        <p:spPr>
          <a:xfrm>
            <a:off x="9756499" y="4177866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+mj-lt"/>
              </a:rPr>
              <a:t>[1,4]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80A0ADB-E9CD-AAB0-B008-574F478CCEC0}"/>
              </a:ext>
            </a:extLst>
          </p:cNvPr>
          <p:cNvSpPr txBox="1"/>
          <p:nvPr/>
        </p:nvSpPr>
        <p:spPr>
          <a:xfrm>
            <a:off x="10480453" y="41751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+mj-lt"/>
              </a:rPr>
              <a:t>[2,4]</a:t>
            </a:r>
          </a:p>
        </p:txBody>
      </p:sp>
    </p:spTree>
    <p:extLst>
      <p:ext uri="{BB962C8B-B14F-4D97-AF65-F5344CB8AC3E}">
        <p14:creationId xmlns:p14="http://schemas.microsoft.com/office/powerpoint/2010/main" val="72177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4" grpId="0"/>
      <p:bldP spid="35" grpId="0"/>
      <p:bldP spid="37" grpId="0"/>
      <p:bldP spid="38" grpId="0"/>
      <p:bldP spid="40" grpId="0"/>
      <p:bldP spid="4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6F97C01-855D-531D-F510-B6F5423ADAF7}"/>
              </a:ext>
            </a:extLst>
          </p:cNvPr>
          <p:cNvSpPr txBox="1"/>
          <p:nvPr/>
        </p:nvSpPr>
        <p:spPr>
          <a:xfrm>
            <a:off x="7077075" y="3789823"/>
            <a:ext cx="2731834" cy="919401"/>
          </a:xfrm>
          <a:prstGeom prst="roundRect">
            <a:avLst/>
          </a:prstGeom>
          <a:solidFill>
            <a:schemeClr val="bg2">
              <a:lumMod val="95000"/>
            </a:schemeClr>
          </a:solidFill>
          <a:ln w="28575"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Assumption :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</a:p>
          <a:p>
            <a:pPr algn="ctr"/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LB</a:t>
            </a:r>
            <a:r>
              <a:rPr lang="en-US" sz="2400" b="1" baseline="-25000" dirty="0" err="1">
                <a:solidFill>
                  <a:srgbClr val="C00000"/>
                </a:solidFill>
              </a:rPr>
              <a:t>r</a:t>
            </a:r>
            <a:r>
              <a:rPr lang="en-US" sz="2400" b="1" dirty="0">
                <a:solidFill>
                  <a:srgbClr val="C00000"/>
                </a:solidFill>
              </a:rPr>
              <a:t> = </a:t>
            </a:r>
            <a:r>
              <a:rPr lang="en-US" sz="2400" b="1" dirty="0" err="1">
                <a:solidFill>
                  <a:srgbClr val="C00000"/>
                </a:solidFill>
              </a:rPr>
              <a:t>LB</a:t>
            </a:r>
            <a:r>
              <a:rPr lang="en-US" sz="2400" b="1" baseline="-25000" dirty="0" err="1">
                <a:solidFill>
                  <a:srgbClr val="C00000"/>
                </a:solidFill>
              </a:rPr>
              <a:t>c</a:t>
            </a:r>
            <a:r>
              <a:rPr lang="en-US" sz="2400" b="1" dirty="0">
                <a:solidFill>
                  <a:srgbClr val="C00000"/>
                </a:solidFill>
              </a:rPr>
              <a:t> = 1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E40185E-69BD-8973-62A4-0618810E5692}"/>
              </a:ext>
            </a:extLst>
          </p:cNvPr>
          <p:cNvCxnSpPr>
            <a:cxnSpLocks/>
          </p:cNvCxnSpPr>
          <p:nvPr/>
        </p:nvCxnSpPr>
        <p:spPr>
          <a:xfrm flipV="1">
            <a:off x="2270630" y="4594378"/>
            <a:ext cx="4634995" cy="464103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20B3573-9DF3-3BC0-876E-F741CEFAB488}"/>
              </a:ext>
            </a:extLst>
          </p:cNvPr>
          <p:cNvCxnSpPr>
            <a:cxnSpLocks/>
          </p:cNvCxnSpPr>
          <p:nvPr/>
        </p:nvCxnSpPr>
        <p:spPr>
          <a:xfrm flipV="1">
            <a:off x="1506790" y="4615926"/>
            <a:ext cx="5398835" cy="928273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45CA9F88-964A-6478-16C4-92296FB5A649}"/>
              </a:ext>
            </a:extLst>
          </p:cNvPr>
          <p:cNvSpPr/>
          <p:nvPr/>
        </p:nvSpPr>
        <p:spPr>
          <a:xfrm>
            <a:off x="790508" y="5276850"/>
            <a:ext cx="697232" cy="533286"/>
          </a:xfrm>
          <a:prstGeom prst="ellipse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5805C4D-338D-57DE-5A00-3474ED5AD433}"/>
              </a:ext>
            </a:extLst>
          </p:cNvPr>
          <p:cNvSpPr/>
          <p:nvPr/>
        </p:nvSpPr>
        <p:spPr>
          <a:xfrm>
            <a:off x="1659190" y="4924062"/>
            <a:ext cx="619125" cy="428804"/>
          </a:xfrm>
          <a:prstGeom prst="ellipse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E7BF19C-6997-BD26-CAEA-E7546F26B2CA}"/>
              </a:ext>
            </a:extLst>
          </p:cNvPr>
          <p:cNvGrpSpPr/>
          <p:nvPr/>
        </p:nvGrpSpPr>
        <p:grpSpPr>
          <a:xfrm>
            <a:off x="790508" y="4963710"/>
            <a:ext cx="4221482" cy="1309373"/>
            <a:chOff x="4541518" y="4439424"/>
            <a:chExt cx="4221482" cy="130937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578F394-4B89-0CFC-99F6-E6F36A96CBD5}"/>
                </a:ext>
              </a:extLst>
            </p:cNvPr>
            <p:cNvGrpSpPr/>
            <p:nvPr/>
          </p:nvGrpSpPr>
          <p:grpSpPr>
            <a:xfrm>
              <a:off x="4541518" y="4439424"/>
              <a:ext cx="4069082" cy="1303556"/>
              <a:chOff x="350518" y="4640044"/>
              <a:chExt cx="4069082" cy="1303556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BA93C8-5E5D-3DCA-2239-720FAD8AD3AF}"/>
                  </a:ext>
                </a:extLst>
              </p:cNvPr>
              <p:cNvSpPr txBox="1"/>
              <p:nvPr/>
            </p:nvSpPr>
            <p:spPr>
              <a:xfrm>
                <a:off x="1219200" y="5029200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[1,1]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A6F8584-C31A-8BAA-1314-6D7DD1737CDE}"/>
                  </a:ext>
                </a:extLst>
              </p:cNvPr>
              <p:cNvSpPr txBox="1"/>
              <p:nvPr/>
            </p:nvSpPr>
            <p:spPr>
              <a:xfrm>
                <a:off x="2057400" y="5029200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[1,2]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9F98301-6D72-9FAD-E055-EDBC11E21104}"/>
                  </a:ext>
                </a:extLst>
              </p:cNvPr>
              <p:cNvSpPr txBox="1"/>
              <p:nvPr/>
            </p:nvSpPr>
            <p:spPr>
              <a:xfrm>
                <a:off x="2895600" y="5029200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[1,3]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96FA58-0F04-C470-21F7-706BD2B8F04C}"/>
                  </a:ext>
                </a:extLst>
              </p:cNvPr>
              <p:cNvSpPr txBox="1"/>
              <p:nvPr/>
            </p:nvSpPr>
            <p:spPr>
              <a:xfrm>
                <a:off x="3733800" y="5029200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[1,4]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CB5EB47-651A-2484-2885-709802932DAF}"/>
                  </a:ext>
                </a:extLst>
              </p:cNvPr>
              <p:cNvSpPr txBox="1"/>
              <p:nvPr/>
            </p:nvSpPr>
            <p:spPr>
              <a:xfrm>
                <a:off x="1219200" y="5574268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[2,1]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5106C25-A819-1995-31DB-359A0AD9D082}"/>
                  </a:ext>
                </a:extLst>
              </p:cNvPr>
              <p:cNvSpPr txBox="1"/>
              <p:nvPr/>
            </p:nvSpPr>
            <p:spPr>
              <a:xfrm>
                <a:off x="2057400" y="5574268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[2,2]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D78917B-A86D-1FCC-BF26-4BA60B50DDC0}"/>
                  </a:ext>
                </a:extLst>
              </p:cNvPr>
              <p:cNvSpPr txBox="1"/>
              <p:nvPr/>
            </p:nvSpPr>
            <p:spPr>
              <a:xfrm>
                <a:off x="2895600" y="5574268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[2,3]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4D0EAF8-90B5-A11C-BBB9-135B24D5E361}"/>
                  </a:ext>
                </a:extLst>
              </p:cNvPr>
              <p:cNvSpPr txBox="1"/>
              <p:nvPr/>
            </p:nvSpPr>
            <p:spPr>
              <a:xfrm>
                <a:off x="3733800" y="5574268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[2,4]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225D322-9288-2415-5404-9C6740C4B590}"/>
                  </a:ext>
                </a:extLst>
              </p:cNvPr>
              <p:cNvSpPr txBox="1"/>
              <p:nvPr/>
            </p:nvSpPr>
            <p:spPr>
              <a:xfrm>
                <a:off x="350519" y="5029200"/>
                <a:ext cx="7924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j-lt"/>
                  </a:rPr>
                  <a:t>Row-1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8D0EA58-0104-2B49-01CB-E94763AC300A}"/>
                  </a:ext>
                </a:extLst>
              </p:cNvPr>
              <p:cNvSpPr txBox="1"/>
              <p:nvPr/>
            </p:nvSpPr>
            <p:spPr>
              <a:xfrm>
                <a:off x="350518" y="5574268"/>
                <a:ext cx="7924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j-lt"/>
                  </a:rPr>
                  <a:t>Row-2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DCC149E-26A9-EA6A-49D0-036EB17230E9}"/>
                  </a:ext>
                </a:extLst>
              </p:cNvPr>
              <p:cNvSpPr txBox="1"/>
              <p:nvPr/>
            </p:nvSpPr>
            <p:spPr>
              <a:xfrm>
                <a:off x="1162050" y="4640044"/>
                <a:ext cx="7429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j-lt"/>
                  </a:rPr>
                  <a:t>Col-1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BC7A3F0-6C83-E9E8-EEA0-8BC89F0E5081}"/>
                  </a:ext>
                </a:extLst>
              </p:cNvPr>
              <p:cNvSpPr txBox="1"/>
              <p:nvPr/>
            </p:nvSpPr>
            <p:spPr>
              <a:xfrm>
                <a:off x="1990725" y="4640044"/>
                <a:ext cx="7429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j-lt"/>
                  </a:rPr>
                  <a:t>Col-2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B977E17-E1F9-F933-18B5-458F685B3E93}"/>
                  </a:ext>
                </a:extLst>
              </p:cNvPr>
              <p:cNvSpPr txBox="1"/>
              <p:nvPr/>
            </p:nvSpPr>
            <p:spPr>
              <a:xfrm>
                <a:off x="2838450" y="4640044"/>
                <a:ext cx="7429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j-lt"/>
                  </a:rPr>
                  <a:t>Col-3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CBBCC2F-A8E6-875E-80B6-BF01D4069F66}"/>
                  </a:ext>
                </a:extLst>
              </p:cNvPr>
              <p:cNvSpPr txBox="1"/>
              <p:nvPr/>
            </p:nvSpPr>
            <p:spPr>
              <a:xfrm>
                <a:off x="3600450" y="4640044"/>
                <a:ext cx="7429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j-lt"/>
                  </a:rPr>
                  <a:t>Col-4</a:t>
                </a:r>
              </a:p>
            </p:txBody>
          </p:sp>
        </p:grpSp>
        <p:sp>
          <p:nvSpPr>
            <p:cNvPr id="8" name="Left Bracket 7">
              <a:extLst>
                <a:ext uri="{FF2B5EF4-FFF2-40B4-BE49-F238E27FC236}">
                  <a16:creationId xmlns:a16="http://schemas.microsoft.com/office/drawing/2014/main" id="{3AA25A97-2D3D-05AD-89E2-419D79E98931}"/>
                </a:ext>
              </a:extLst>
            </p:cNvPr>
            <p:cNvSpPr/>
            <p:nvPr/>
          </p:nvSpPr>
          <p:spPr>
            <a:xfrm>
              <a:off x="5257800" y="4789706"/>
              <a:ext cx="45719" cy="958317"/>
            </a:xfrm>
            <a:prstGeom prst="leftBracket">
              <a:avLst/>
            </a:prstGeom>
            <a:noFill/>
            <a:ln w="25400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9" name="Right Bracket 8">
              <a:extLst>
                <a:ext uri="{FF2B5EF4-FFF2-40B4-BE49-F238E27FC236}">
                  <a16:creationId xmlns:a16="http://schemas.microsoft.com/office/drawing/2014/main" id="{7B0199D8-0C5C-D983-6D56-BFC0D2009E8A}"/>
                </a:ext>
              </a:extLst>
            </p:cNvPr>
            <p:cNvSpPr/>
            <p:nvPr/>
          </p:nvSpPr>
          <p:spPr>
            <a:xfrm>
              <a:off x="8686800" y="4788932"/>
              <a:ext cx="76200" cy="959865"/>
            </a:xfrm>
            <a:prstGeom prst="rightBracket">
              <a:avLst/>
            </a:prstGeom>
            <a:noFill/>
            <a:ln w="25400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4A8B0BB7-51FB-3850-B8F2-87BD9E0460C8}"/>
              </a:ext>
            </a:extLst>
          </p:cNvPr>
          <p:cNvSpPr/>
          <p:nvPr/>
        </p:nvSpPr>
        <p:spPr>
          <a:xfrm>
            <a:off x="847078" y="3933517"/>
            <a:ext cx="5248922" cy="632015"/>
          </a:xfrm>
          <a:prstGeom prst="rect">
            <a:avLst/>
          </a:prstGeom>
          <a:solidFill>
            <a:schemeClr val="bg2">
              <a:lumMod val="9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F1D3FD-5E4F-002A-E857-35B9E517376A}"/>
              </a:ext>
            </a:extLst>
          </p:cNvPr>
          <p:cNvSpPr/>
          <p:nvPr/>
        </p:nvSpPr>
        <p:spPr>
          <a:xfrm>
            <a:off x="923278" y="2239112"/>
            <a:ext cx="5172722" cy="632015"/>
          </a:xfrm>
          <a:prstGeom prst="rect">
            <a:avLst/>
          </a:prstGeom>
          <a:solidFill>
            <a:schemeClr val="bg2">
              <a:lumMod val="9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calculation of 2-D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03564"/>
            <a:ext cx="11929641" cy="5673436"/>
          </a:xfrm>
        </p:spPr>
        <p:txBody>
          <a:bodyPr/>
          <a:lstStyle/>
          <a:p>
            <a:r>
              <a:rPr lang="en-IN" dirty="0"/>
              <a:t>In general for two dimensional array consisting of </a:t>
            </a:r>
            <a:r>
              <a:rPr lang="en-IN" b="1" dirty="0">
                <a:solidFill>
                  <a:srgbClr val="C00000"/>
                </a:solidFill>
              </a:rPr>
              <a:t>n rows </a:t>
            </a:r>
            <a:r>
              <a:rPr lang="en-IN" dirty="0"/>
              <a:t>and </a:t>
            </a:r>
            <a:r>
              <a:rPr lang="en-IN" b="1" dirty="0">
                <a:solidFill>
                  <a:srgbClr val="C00000"/>
                </a:solidFill>
              </a:rPr>
              <a:t>m columns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the address element A [ i , j ] is given by :</a:t>
            </a:r>
          </a:p>
          <a:p>
            <a:r>
              <a:rPr lang="en-IN" b="1" dirty="0">
                <a:solidFill>
                  <a:srgbClr val="C00000"/>
                </a:solidFill>
              </a:rPr>
              <a:t>Column major order:</a:t>
            </a:r>
          </a:p>
          <a:p>
            <a:pPr marL="0" indent="0">
              <a:buNone/>
            </a:pPr>
            <a:r>
              <a:rPr lang="en-IN" b="1" dirty="0"/>
              <a:t>	Loc(A[ </a:t>
            </a:r>
            <a:r>
              <a:rPr lang="en-IN" b="1" dirty="0" err="1"/>
              <a:t>i</a:t>
            </a:r>
            <a:r>
              <a:rPr lang="en-IN" b="1" dirty="0"/>
              <a:t> , j ]) = L</a:t>
            </a:r>
            <a:r>
              <a:rPr lang="en-IN" b="1" baseline="-25000" dirty="0"/>
              <a:t>0</a:t>
            </a:r>
            <a:r>
              <a:rPr lang="en-IN" b="1" dirty="0"/>
              <a:t> + C * [ (</a:t>
            </a:r>
            <a:r>
              <a:rPr lang="en-IN" b="1" dirty="0" err="1"/>
              <a:t>i</a:t>
            </a:r>
            <a:r>
              <a:rPr lang="en-IN" b="1" dirty="0"/>
              <a:t>–1) + n*(j-1) ]</a:t>
            </a:r>
          </a:p>
          <a:p>
            <a:endParaRPr lang="en-IN" dirty="0"/>
          </a:p>
          <a:p>
            <a:r>
              <a:rPr lang="en-IN" b="1" dirty="0">
                <a:solidFill>
                  <a:srgbClr val="C00000"/>
                </a:solidFill>
              </a:rPr>
              <a:t>Row major order:</a:t>
            </a:r>
          </a:p>
          <a:p>
            <a:pPr marL="0" indent="0">
              <a:buNone/>
            </a:pPr>
            <a:r>
              <a:rPr lang="en-IN" b="1" dirty="0"/>
              <a:t>	Loc (A [ </a:t>
            </a:r>
            <a:r>
              <a:rPr lang="en-IN" b="1" dirty="0" err="1"/>
              <a:t>i</a:t>
            </a:r>
            <a:r>
              <a:rPr lang="en-IN" b="1" dirty="0"/>
              <a:t> , j ]) = L</a:t>
            </a:r>
            <a:r>
              <a:rPr lang="en-IN" b="1" baseline="-25000" dirty="0"/>
              <a:t>0</a:t>
            </a:r>
            <a:r>
              <a:rPr lang="en-IN" b="1" dirty="0"/>
              <a:t> + C * [m*(i-1) + (j–1)]</a:t>
            </a: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207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55" grpId="0" animBg="1"/>
      <p:bldP spid="53" grpId="0" animBg="1"/>
      <p:bldP spid="5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Row major order matrix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2791E5-24C7-36A5-8238-42ADDF393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sz="2400" dirty="0"/>
              <a:t>In general the address of an element A [ </a:t>
            </a:r>
            <a:r>
              <a:rPr lang="en-IN" sz="2400" dirty="0" err="1"/>
              <a:t>i</a:t>
            </a:r>
            <a:r>
              <a:rPr lang="en-IN" sz="2400" dirty="0"/>
              <a:t> , j ] is given by following using row major order :</a:t>
            </a:r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5121564" y="1241353"/>
            <a:ext cx="4022436" cy="707886"/>
          </a:xfrm>
          <a:prstGeom prst="rect">
            <a:avLst/>
          </a:prstGeom>
          <a:solidFill>
            <a:schemeClr val="bg2">
              <a:lumMod val="9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n </a:t>
            </a:r>
            <a:r>
              <a:rPr lang="en-IN" sz="2000" b="1" dirty="0"/>
              <a:t>= </a:t>
            </a:r>
            <a:r>
              <a:rPr lang="en-IN" sz="2000" dirty="0"/>
              <a:t>no of rows</a:t>
            </a:r>
            <a:r>
              <a:rPr lang="en-IN" sz="2000" b="1" dirty="0">
                <a:solidFill>
                  <a:srgbClr val="FF0000"/>
                </a:solidFill>
              </a:rPr>
              <a:t> </a:t>
            </a:r>
          </a:p>
          <a:p>
            <a:r>
              <a:rPr lang="en-IN" sz="2000" b="1" dirty="0">
                <a:solidFill>
                  <a:srgbClr val="FF0000"/>
                </a:solidFill>
              </a:rPr>
              <a:t>m </a:t>
            </a:r>
            <a:r>
              <a:rPr lang="en-IN" sz="2000" b="1" dirty="0"/>
              <a:t>= </a:t>
            </a:r>
            <a:r>
              <a:rPr lang="en-IN" sz="2000" dirty="0"/>
              <a:t>no of columns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05400" y="2097561"/>
            <a:ext cx="4038600" cy="1015663"/>
          </a:xfrm>
          <a:prstGeom prst="rect">
            <a:avLst/>
          </a:prstGeom>
          <a:solidFill>
            <a:schemeClr val="bg2">
              <a:lumMod val="9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IN" sz="2000" b="1" dirty="0" err="1">
                <a:solidFill>
                  <a:srgbClr val="FF0000"/>
                </a:solidFill>
                <a:latin typeface="Calibri"/>
              </a:rPr>
              <a:t>LB</a:t>
            </a:r>
            <a:r>
              <a:rPr lang="en-IN" sz="2000" b="1" baseline="-25000" dirty="0" err="1">
                <a:solidFill>
                  <a:srgbClr val="FF0000"/>
                </a:solidFill>
                <a:latin typeface="Calibri"/>
              </a:rPr>
              <a:t>r</a:t>
            </a:r>
            <a:r>
              <a:rPr lang="en-IN" sz="2000" b="1" dirty="0">
                <a:solidFill>
                  <a:srgbClr val="FF0000"/>
                </a:solidFill>
              </a:rPr>
              <a:t> </a:t>
            </a:r>
            <a:r>
              <a:rPr lang="en-IN" sz="2000" dirty="0"/>
              <a:t>= lower bound of row</a:t>
            </a:r>
          </a:p>
          <a:p>
            <a:r>
              <a:rPr lang="en-IN" sz="2000" b="1" dirty="0" err="1">
                <a:solidFill>
                  <a:srgbClr val="FF0000"/>
                </a:solidFill>
                <a:latin typeface="Calibri"/>
              </a:rPr>
              <a:t>UB</a:t>
            </a:r>
            <a:r>
              <a:rPr lang="en-IN" sz="2000" b="1" baseline="-25000" dirty="0" err="1">
                <a:solidFill>
                  <a:srgbClr val="FF0000"/>
                </a:solidFill>
                <a:latin typeface="Calibri"/>
              </a:rPr>
              <a:t>r</a:t>
            </a:r>
            <a:r>
              <a:rPr lang="en-IN" sz="2000" dirty="0"/>
              <a:t> = upper bound of row</a:t>
            </a:r>
          </a:p>
          <a:p>
            <a:r>
              <a:rPr lang="en-IN" sz="2000" b="1" dirty="0">
                <a:solidFill>
                  <a:srgbClr val="FF0000"/>
                </a:solidFill>
              </a:rPr>
              <a:t>n </a:t>
            </a:r>
            <a:r>
              <a:rPr lang="en-IN" sz="2000" dirty="0"/>
              <a:t>= </a:t>
            </a:r>
            <a:r>
              <a:rPr lang="en-IN" sz="2000" b="1" dirty="0" err="1">
                <a:solidFill>
                  <a:srgbClr val="FF0000"/>
                </a:solidFill>
                <a:latin typeface="Calibri"/>
              </a:rPr>
              <a:t>UB</a:t>
            </a:r>
            <a:r>
              <a:rPr lang="en-IN" sz="2000" b="1" baseline="-25000" dirty="0" err="1">
                <a:solidFill>
                  <a:srgbClr val="FF0000"/>
                </a:solidFill>
                <a:latin typeface="Calibri"/>
              </a:rPr>
              <a:t>r</a:t>
            </a:r>
            <a:r>
              <a:rPr lang="en-IN" sz="2000" dirty="0"/>
              <a:t> – </a:t>
            </a:r>
            <a:r>
              <a:rPr lang="en-IN" sz="2000" b="1" dirty="0" err="1">
                <a:solidFill>
                  <a:srgbClr val="FF0000"/>
                </a:solidFill>
                <a:latin typeface="Calibri"/>
              </a:rPr>
              <a:t>LB</a:t>
            </a:r>
            <a:r>
              <a:rPr lang="en-IN" sz="2000" b="1" baseline="-25000" dirty="0" err="1">
                <a:solidFill>
                  <a:srgbClr val="FF0000"/>
                </a:solidFill>
                <a:latin typeface="Calibri"/>
              </a:rPr>
              <a:t>r</a:t>
            </a:r>
            <a:r>
              <a:rPr lang="en-IN" sz="2000" dirty="0"/>
              <a:t> + 1</a:t>
            </a:r>
            <a:endParaRPr lang="en-US" sz="2000" dirty="0"/>
          </a:p>
        </p:txBody>
      </p:sp>
      <p:sp>
        <p:nvSpPr>
          <p:cNvPr id="29" name="TextBox 28"/>
          <p:cNvSpPr txBox="1"/>
          <p:nvPr/>
        </p:nvSpPr>
        <p:spPr>
          <a:xfrm>
            <a:off x="5105400" y="3222106"/>
            <a:ext cx="4038600" cy="1015663"/>
          </a:xfrm>
          <a:prstGeom prst="rect">
            <a:avLst/>
          </a:prstGeom>
          <a:solidFill>
            <a:schemeClr val="bg2">
              <a:lumMod val="9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IN" sz="2000" b="1" dirty="0" err="1">
                <a:solidFill>
                  <a:srgbClr val="FF0000"/>
                </a:solidFill>
                <a:latin typeface="Calibri"/>
              </a:rPr>
              <a:t>LB</a:t>
            </a:r>
            <a:r>
              <a:rPr lang="en-IN" sz="2000" b="1" baseline="-25000" dirty="0" err="1">
                <a:solidFill>
                  <a:srgbClr val="FF0000"/>
                </a:solidFill>
                <a:latin typeface="Calibri"/>
              </a:rPr>
              <a:t>c</a:t>
            </a:r>
            <a:r>
              <a:rPr lang="en-IN" sz="2000" b="1" dirty="0">
                <a:solidFill>
                  <a:srgbClr val="FF0000"/>
                </a:solidFill>
              </a:rPr>
              <a:t> </a:t>
            </a:r>
            <a:r>
              <a:rPr lang="en-IN" sz="2000" dirty="0"/>
              <a:t>= lower bound of column</a:t>
            </a:r>
          </a:p>
          <a:p>
            <a:r>
              <a:rPr lang="en-IN" sz="2000" b="1" dirty="0" err="1">
                <a:solidFill>
                  <a:srgbClr val="FF0000"/>
                </a:solidFill>
                <a:latin typeface="Calibri"/>
              </a:rPr>
              <a:t>UB</a:t>
            </a:r>
            <a:r>
              <a:rPr lang="en-IN" sz="2000" b="1" baseline="-25000" dirty="0" err="1">
                <a:solidFill>
                  <a:srgbClr val="FF0000"/>
                </a:solidFill>
                <a:latin typeface="Calibri"/>
              </a:rPr>
              <a:t>r</a:t>
            </a:r>
            <a:r>
              <a:rPr lang="en-IN" sz="2000" dirty="0"/>
              <a:t> = upper bound of column</a:t>
            </a:r>
          </a:p>
          <a:p>
            <a:r>
              <a:rPr lang="en-IN" sz="2000" b="1" dirty="0">
                <a:solidFill>
                  <a:srgbClr val="FF0000"/>
                </a:solidFill>
              </a:rPr>
              <a:t>m</a:t>
            </a:r>
            <a:r>
              <a:rPr lang="en-IN" sz="2000" dirty="0"/>
              <a:t> = </a:t>
            </a:r>
            <a:r>
              <a:rPr lang="en-IN" sz="2000" b="1" dirty="0" err="1">
                <a:solidFill>
                  <a:srgbClr val="FF0000"/>
                </a:solidFill>
                <a:latin typeface="Calibri"/>
              </a:rPr>
              <a:t>UB</a:t>
            </a:r>
            <a:r>
              <a:rPr lang="en-IN" sz="2000" b="1" baseline="-25000" dirty="0" err="1">
                <a:solidFill>
                  <a:srgbClr val="FF0000"/>
                </a:solidFill>
                <a:latin typeface="Calibri"/>
              </a:rPr>
              <a:t>c</a:t>
            </a:r>
            <a:r>
              <a:rPr lang="en-IN" sz="2000" dirty="0"/>
              <a:t> – </a:t>
            </a:r>
            <a:r>
              <a:rPr lang="en-IN" sz="2000" b="1" dirty="0" err="1">
                <a:solidFill>
                  <a:srgbClr val="FF0000"/>
                </a:solidFill>
                <a:latin typeface="Calibri"/>
              </a:rPr>
              <a:t>LB</a:t>
            </a:r>
            <a:r>
              <a:rPr lang="en-IN" sz="2000" b="1" baseline="-25000" dirty="0" err="1">
                <a:solidFill>
                  <a:srgbClr val="FF0000"/>
                </a:solidFill>
                <a:latin typeface="Calibri"/>
              </a:rPr>
              <a:t>c</a:t>
            </a:r>
            <a:r>
              <a:rPr lang="en-IN" sz="2000" b="1" dirty="0">
                <a:solidFill>
                  <a:srgbClr val="FF0000"/>
                </a:solidFill>
              </a:rPr>
              <a:t> </a:t>
            </a:r>
            <a:r>
              <a:rPr lang="en-IN" sz="2000" dirty="0"/>
              <a:t> + 1</a:t>
            </a:r>
            <a:endParaRPr lang="en-US" sz="2000" dirty="0"/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808809" y="1858923"/>
            <a:ext cx="3581400" cy="0"/>
          </a:xfrm>
          <a:prstGeom prst="straightConnector1">
            <a:avLst/>
          </a:prstGeom>
          <a:noFill/>
          <a:ln w="25400" cap="flat" cmpd="sng" algn="ctr">
            <a:solidFill>
              <a:srgbClr val="C0504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33" name="Straight Arrow Connector 32"/>
          <p:cNvCxnSpPr/>
          <p:nvPr/>
        </p:nvCxnSpPr>
        <p:spPr>
          <a:xfrm>
            <a:off x="828675" y="2288143"/>
            <a:ext cx="3581400" cy="0"/>
          </a:xfrm>
          <a:prstGeom prst="straightConnector1">
            <a:avLst/>
          </a:prstGeom>
          <a:noFill/>
          <a:ln w="25400" cap="flat" cmpd="sng" algn="ctr">
            <a:solidFill>
              <a:srgbClr val="C0504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35" name="Straight Arrow Connector 34"/>
          <p:cNvCxnSpPr/>
          <p:nvPr/>
        </p:nvCxnSpPr>
        <p:spPr>
          <a:xfrm>
            <a:off x="828675" y="3393556"/>
            <a:ext cx="3581400" cy="0"/>
          </a:xfrm>
          <a:prstGeom prst="straightConnector1">
            <a:avLst/>
          </a:prstGeom>
          <a:noFill/>
          <a:ln w="25400" cap="flat" cmpd="sng" algn="ctr">
            <a:solidFill>
              <a:srgbClr val="C0504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grpSp>
        <p:nvGrpSpPr>
          <p:cNvPr id="36" name="Group 35"/>
          <p:cNvGrpSpPr/>
          <p:nvPr/>
        </p:nvGrpSpPr>
        <p:grpSpPr>
          <a:xfrm>
            <a:off x="838200" y="1381125"/>
            <a:ext cx="3581400" cy="2286000"/>
            <a:chOff x="381000" y="1981200"/>
            <a:chExt cx="3581400" cy="2286000"/>
          </a:xfrm>
        </p:grpSpPr>
        <p:sp>
          <p:nvSpPr>
            <p:cNvPr id="37" name="TextBox 36"/>
            <p:cNvSpPr txBox="1"/>
            <p:nvPr/>
          </p:nvSpPr>
          <p:spPr>
            <a:xfrm>
              <a:off x="533400" y="2089666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[1,1]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143000" y="2089666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[1,2]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752600" y="2097048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[1,3]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124200" y="2089666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[1,m]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33400" y="2518886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[2,1]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143000" y="2518886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[2,2]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752600" y="2526268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[2,3]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124200" y="2518886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[2,m]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33400" y="3585686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[n,1]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143000" y="3585686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[n,2]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752600" y="3593068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[n,3]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124200" y="3585686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</a:t>
              </a:r>
              <a:r>
                <a:rPr kumimoji="0" lang="en-US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n,m</a:t>
              </a: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]</a:t>
              </a:r>
            </a:p>
          </p:txBody>
        </p:sp>
        <p:sp>
          <p:nvSpPr>
            <p:cNvPr id="49" name="Double Bracket 48"/>
            <p:cNvSpPr/>
            <p:nvPr/>
          </p:nvSpPr>
          <p:spPr>
            <a:xfrm>
              <a:off x="381000" y="1981200"/>
              <a:ext cx="3581400" cy="2286000"/>
            </a:xfrm>
            <a:prstGeom prst="bracketPair">
              <a:avLst/>
            </a:prstGeom>
            <a:noFill/>
            <a:ln w="25400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4410075" y="3324225"/>
            <a:ext cx="701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alibri"/>
              </a:rPr>
              <a:t>n x m</a:t>
            </a:r>
            <a:endParaRPr lang="en-US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04800" y="1518352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rgbClr val="FF0000"/>
                </a:solidFill>
                <a:latin typeface="Calibri"/>
              </a:rPr>
              <a:t>LB</a:t>
            </a:r>
            <a:r>
              <a:rPr lang="en-IN" b="1" baseline="-25000" dirty="0" err="1">
                <a:solidFill>
                  <a:srgbClr val="FF0000"/>
                </a:solidFill>
                <a:latin typeface="Calibri"/>
              </a:rPr>
              <a:t>r</a:t>
            </a:r>
            <a:endParaRPr lang="en-US" b="1" baseline="-250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75409" y="2992993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rgbClr val="FF0000"/>
                </a:solidFill>
                <a:latin typeface="Calibri"/>
              </a:rPr>
              <a:t>UB</a:t>
            </a:r>
            <a:r>
              <a:rPr lang="en-IN" b="1" baseline="-25000" dirty="0" err="1">
                <a:solidFill>
                  <a:srgbClr val="FF0000"/>
                </a:solidFill>
                <a:latin typeface="Calibri"/>
              </a:rPr>
              <a:t>r</a:t>
            </a:r>
            <a:endParaRPr lang="en-US" b="1" baseline="-250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116448" y="1005736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rgbClr val="FF0000"/>
                </a:solidFill>
                <a:latin typeface="Calibri"/>
              </a:rPr>
              <a:t>LB</a:t>
            </a:r>
            <a:r>
              <a:rPr lang="en-IN" b="1" baseline="-25000" dirty="0" err="1">
                <a:solidFill>
                  <a:srgbClr val="FF0000"/>
                </a:solidFill>
                <a:latin typeface="Calibri"/>
              </a:rPr>
              <a:t>c</a:t>
            </a:r>
            <a:endParaRPr lang="en-US" b="1" baseline="-250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609975" y="1087993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rgbClr val="FF0000"/>
                </a:solidFill>
                <a:latin typeface="Calibri"/>
              </a:rPr>
              <a:t>UB</a:t>
            </a:r>
            <a:r>
              <a:rPr lang="en-IN" b="1" baseline="-25000" dirty="0" err="1">
                <a:solidFill>
                  <a:srgbClr val="FF0000"/>
                </a:solidFill>
                <a:latin typeface="Calibri"/>
              </a:rPr>
              <a:t>c</a:t>
            </a:r>
            <a:endParaRPr lang="en-US" b="1" baseline="-250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542109" y="4705402"/>
            <a:ext cx="8047808" cy="766621"/>
          </a:xfrm>
          <a:prstGeom prst="rect">
            <a:avLst/>
          </a:prstGeom>
          <a:solidFill>
            <a:schemeClr val="bg2">
              <a:lumMod val="95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Loc (A [ i , j ]) = L</a:t>
            </a:r>
            <a:r>
              <a:rPr lang="en-IN" sz="2400" b="1" baseline="-25000" dirty="0">
                <a:solidFill>
                  <a:schemeClr val="tx1"/>
                </a:solidFill>
              </a:rPr>
              <a:t>0</a:t>
            </a:r>
            <a:r>
              <a:rPr lang="en-IN" sz="2400" b="1" dirty="0">
                <a:solidFill>
                  <a:schemeClr val="tx1"/>
                </a:solidFill>
              </a:rPr>
              <a:t> + C * [ (UB</a:t>
            </a:r>
            <a:r>
              <a:rPr lang="en-IN" sz="2400" b="1" baseline="-25000" dirty="0">
                <a:solidFill>
                  <a:schemeClr val="tx1"/>
                </a:solidFill>
              </a:rPr>
              <a:t>c</a:t>
            </a:r>
            <a:r>
              <a:rPr lang="en-IN" sz="2400" b="1" dirty="0">
                <a:solidFill>
                  <a:schemeClr val="tx1"/>
                </a:solidFill>
              </a:rPr>
              <a:t>-LB</a:t>
            </a:r>
            <a:r>
              <a:rPr lang="en-IN" sz="2400" b="1" baseline="-25000" dirty="0">
                <a:solidFill>
                  <a:schemeClr val="tx1"/>
                </a:solidFill>
              </a:rPr>
              <a:t>c</a:t>
            </a:r>
            <a:r>
              <a:rPr lang="en-IN" sz="2400" b="1" dirty="0">
                <a:solidFill>
                  <a:schemeClr val="tx1"/>
                </a:solidFill>
              </a:rPr>
              <a:t>+1) *(</a:t>
            </a:r>
            <a:r>
              <a:rPr lang="en-IN" sz="2400" b="1" dirty="0" err="1">
                <a:solidFill>
                  <a:schemeClr val="tx1"/>
                </a:solidFill>
              </a:rPr>
              <a:t>i-LB</a:t>
            </a:r>
            <a:r>
              <a:rPr lang="en-IN" sz="2400" b="1" baseline="-25000" dirty="0" err="1">
                <a:solidFill>
                  <a:schemeClr val="tx1"/>
                </a:solidFill>
              </a:rPr>
              <a:t>r</a:t>
            </a:r>
            <a:r>
              <a:rPr lang="en-IN" sz="2400" b="1" dirty="0">
                <a:solidFill>
                  <a:schemeClr val="tx1"/>
                </a:solidFill>
              </a:rPr>
              <a:t>) + (j – </a:t>
            </a:r>
            <a:r>
              <a:rPr lang="en-IN" sz="2400" b="1" dirty="0" err="1">
                <a:solidFill>
                  <a:schemeClr val="tx1"/>
                </a:solidFill>
              </a:rPr>
              <a:t>LB</a:t>
            </a:r>
            <a:r>
              <a:rPr lang="en-IN" sz="2400" b="1" baseline="-25000" dirty="0" err="1">
                <a:solidFill>
                  <a:schemeClr val="tx1"/>
                </a:solidFill>
              </a:rPr>
              <a:t>c</a:t>
            </a:r>
            <a:r>
              <a:rPr lang="en-IN" sz="2400" b="1" dirty="0">
                <a:solidFill>
                  <a:schemeClr val="tx1"/>
                </a:solidFill>
              </a:rPr>
              <a:t>)]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7A91C5-5636-1837-6553-D4663BEA0405}"/>
              </a:ext>
            </a:extLst>
          </p:cNvPr>
          <p:cNvSpPr/>
          <p:nvPr/>
        </p:nvSpPr>
        <p:spPr>
          <a:xfrm>
            <a:off x="542109" y="5636657"/>
            <a:ext cx="8047808" cy="632015"/>
          </a:xfrm>
          <a:prstGeom prst="rect">
            <a:avLst/>
          </a:prstGeom>
          <a:solidFill>
            <a:schemeClr val="bg2">
              <a:lumMod val="9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</a:rPr>
              <a:t>       </a:t>
            </a:r>
            <a:r>
              <a:rPr lang="pl-PL" sz="2400" b="1" dirty="0">
                <a:solidFill>
                  <a:schemeClr val="tx1"/>
                </a:solidFill>
              </a:rPr>
              <a:t>Loc (A [ i , j ]) = L</a:t>
            </a:r>
            <a:r>
              <a:rPr lang="pl-PL" sz="2400" b="1" baseline="-25000" dirty="0">
                <a:solidFill>
                  <a:schemeClr val="tx1"/>
                </a:solidFill>
              </a:rPr>
              <a:t>0</a:t>
            </a:r>
            <a:r>
              <a:rPr lang="pl-PL" sz="2400" b="1" dirty="0">
                <a:solidFill>
                  <a:schemeClr val="tx1"/>
                </a:solidFill>
              </a:rPr>
              <a:t> + C * [</a:t>
            </a:r>
            <a:r>
              <a:rPr lang="en-US" sz="2400" b="1" dirty="0">
                <a:solidFill>
                  <a:schemeClr val="tx1"/>
                </a:solidFill>
              </a:rPr>
              <a:t>             </a:t>
            </a:r>
            <a:r>
              <a:rPr lang="pl-PL" sz="2400" b="1" dirty="0">
                <a:solidFill>
                  <a:schemeClr val="tx1"/>
                </a:solidFill>
              </a:rPr>
              <a:t>m</a:t>
            </a:r>
            <a:r>
              <a:rPr lang="en-US" sz="2400" b="1" dirty="0">
                <a:solidFill>
                  <a:schemeClr val="tx1"/>
                </a:solidFill>
              </a:rPr>
              <a:t>       </a:t>
            </a:r>
            <a:r>
              <a:rPr lang="pl-PL" sz="2400" b="1" dirty="0">
                <a:solidFill>
                  <a:schemeClr val="tx1"/>
                </a:solidFill>
              </a:rPr>
              <a:t>*(i-1) </a:t>
            </a:r>
            <a:r>
              <a:rPr lang="en-US" sz="2400" b="1" dirty="0">
                <a:solidFill>
                  <a:schemeClr val="tx1"/>
                </a:solidFill>
              </a:rPr>
              <a:t>   </a:t>
            </a:r>
            <a:r>
              <a:rPr lang="pl-PL" sz="2400" b="1" dirty="0">
                <a:solidFill>
                  <a:schemeClr val="tx1"/>
                </a:solidFill>
              </a:rPr>
              <a:t>+ (j–1)</a:t>
            </a:r>
            <a:r>
              <a:rPr lang="en-US" sz="2400" b="1" dirty="0">
                <a:solidFill>
                  <a:schemeClr val="tx1"/>
                </a:solidFill>
              </a:rPr>
              <a:t>      </a:t>
            </a:r>
            <a:r>
              <a:rPr lang="pl-PL" sz="2400" b="1" dirty="0">
                <a:solidFill>
                  <a:schemeClr val="tx1"/>
                </a:solidFill>
              </a:rPr>
              <a:t>]</a:t>
            </a:r>
            <a:endParaRPr 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136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23" grpId="0" animBg="1"/>
      <p:bldP spid="28" grpId="0" animBg="1"/>
      <p:bldP spid="29" grpId="0" animBg="1"/>
      <p:bldP spid="50" grpId="0"/>
      <p:bldP spid="50" grpId="1"/>
      <p:bldP spid="51" grpId="0"/>
      <p:bldP spid="52" grpId="0"/>
      <p:bldP spid="53" grpId="0"/>
      <p:bldP spid="54" grpId="0"/>
      <p:bldP spid="56" grpId="0" animBg="1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Column major order matrix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2791E5-24C7-36A5-8238-42ADDF393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sz="2400" dirty="0"/>
              <a:t>In general the address of an element A [ </a:t>
            </a:r>
            <a:r>
              <a:rPr lang="en-IN" sz="2400" dirty="0" err="1"/>
              <a:t>i</a:t>
            </a:r>
            <a:r>
              <a:rPr lang="en-IN" sz="2400" dirty="0"/>
              <a:t> , j ] is given by following using column major order :</a:t>
            </a:r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5121564" y="1241353"/>
            <a:ext cx="4022436" cy="707886"/>
          </a:xfrm>
          <a:prstGeom prst="rect">
            <a:avLst/>
          </a:prstGeom>
          <a:solidFill>
            <a:schemeClr val="bg2">
              <a:lumMod val="9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n </a:t>
            </a:r>
            <a:r>
              <a:rPr lang="en-IN" sz="2000" b="1" dirty="0"/>
              <a:t>= </a:t>
            </a:r>
            <a:r>
              <a:rPr lang="en-IN" sz="2000" dirty="0"/>
              <a:t>no of rows</a:t>
            </a:r>
            <a:r>
              <a:rPr lang="en-IN" sz="2000" b="1" dirty="0">
                <a:solidFill>
                  <a:srgbClr val="FF0000"/>
                </a:solidFill>
              </a:rPr>
              <a:t> </a:t>
            </a:r>
          </a:p>
          <a:p>
            <a:r>
              <a:rPr lang="en-IN" sz="2000" b="1" dirty="0">
                <a:solidFill>
                  <a:srgbClr val="FF0000"/>
                </a:solidFill>
              </a:rPr>
              <a:t>m </a:t>
            </a:r>
            <a:r>
              <a:rPr lang="en-IN" sz="2000" b="1" dirty="0"/>
              <a:t>= </a:t>
            </a:r>
            <a:r>
              <a:rPr lang="en-IN" sz="2000" dirty="0"/>
              <a:t>no of columns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05400" y="2097561"/>
            <a:ext cx="4038600" cy="1015663"/>
          </a:xfrm>
          <a:prstGeom prst="rect">
            <a:avLst/>
          </a:prstGeom>
          <a:solidFill>
            <a:schemeClr val="bg2">
              <a:lumMod val="9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IN" sz="2000" b="1" dirty="0" err="1">
                <a:solidFill>
                  <a:srgbClr val="FF0000"/>
                </a:solidFill>
                <a:latin typeface="Calibri"/>
              </a:rPr>
              <a:t>LB</a:t>
            </a:r>
            <a:r>
              <a:rPr lang="en-IN" sz="2000" b="1" baseline="-25000" dirty="0" err="1">
                <a:solidFill>
                  <a:srgbClr val="FF0000"/>
                </a:solidFill>
                <a:latin typeface="Calibri"/>
              </a:rPr>
              <a:t>r</a:t>
            </a:r>
            <a:r>
              <a:rPr lang="en-IN" sz="2000" b="1" dirty="0">
                <a:solidFill>
                  <a:srgbClr val="FF0000"/>
                </a:solidFill>
              </a:rPr>
              <a:t> </a:t>
            </a:r>
            <a:r>
              <a:rPr lang="en-IN" sz="2000" dirty="0"/>
              <a:t>= lower bound of row</a:t>
            </a:r>
          </a:p>
          <a:p>
            <a:r>
              <a:rPr lang="en-IN" sz="2000" b="1" dirty="0" err="1">
                <a:solidFill>
                  <a:srgbClr val="FF0000"/>
                </a:solidFill>
                <a:latin typeface="Calibri"/>
              </a:rPr>
              <a:t>UB</a:t>
            </a:r>
            <a:r>
              <a:rPr lang="en-IN" sz="2000" b="1" baseline="-25000" dirty="0" err="1">
                <a:solidFill>
                  <a:srgbClr val="FF0000"/>
                </a:solidFill>
                <a:latin typeface="Calibri"/>
              </a:rPr>
              <a:t>r</a:t>
            </a:r>
            <a:r>
              <a:rPr lang="en-IN" sz="2000" dirty="0"/>
              <a:t> = upper bound of row</a:t>
            </a:r>
          </a:p>
          <a:p>
            <a:r>
              <a:rPr lang="en-IN" sz="2000" b="1" dirty="0">
                <a:solidFill>
                  <a:srgbClr val="FF0000"/>
                </a:solidFill>
              </a:rPr>
              <a:t>n </a:t>
            </a:r>
            <a:r>
              <a:rPr lang="en-IN" sz="2000" dirty="0"/>
              <a:t>= </a:t>
            </a:r>
            <a:r>
              <a:rPr lang="en-IN" sz="2000" b="1" dirty="0" err="1">
                <a:solidFill>
                  <a:srgbClr val="FF0000"/>
                </a:solidFill>
                <a:latin typeface="Calibri"/>
              </a:rPr>
              <a:t>UB</a:t>
            </a:r>
            <a:r>
              <a:rPr lang="en-IN" sz="2000" b="1" baseline="-25000" dirty="0" err="1">
                <a:solidFill>
                  <a:srgbClr val="FF0000"/>
                </a:solidFill>
                <a:latin typeface="Calibri"/>
              </a:rPr>
              <a:t>r</a:t>
            </a:r>
            <a:r>
              <a:rPr lang="en-IN" sz="2000" dirty="0"/>
              <a:t> – </a:t>
            </a:r>
            <a:r>
              <a:rPr lang="en-IN" sz="2000" b="1" dirty="0" err="1">
                <a:solidFill>
                  <a:srgbClr val="FF0000"/>
                </a:solidFill>
                <a:latin typeface="Calibri"/>
              </a:rPr>
              <a:t>LB</a:t>
            </a:r>
            <a:r>
              <a:rPr lang="en-IN" sz="2000" b="1" baseline="-25000" dirty="0" err="1">
                <a:solidFill>
                  <a:srgbClr val="FF0000"/>
                </a:solidFill>
                <a:latin typeface="Calibri"/>
              </a:rPr>
              <a:t>r</a:t>
            </a:r>
            <a:r>
              <a:rPr lang="en-IN" sz="2000" dirty="0"/>
              <a:t> + 1</a:t>
            </a:r>
            <a:endParaRPr lang="en-US" sz="2000" dirty="0"/>
          </a:p>
        </p:txBody>
      </p:sp>
      <p:sp>
        <p:nvSpPr>
          <p:cNvPr id="29" name="TextBox 28"/>
          <p:cNvSpPr txBox="1"/>
          <p:nvPr/>
        </p:nvSpPr>
        <p:spPr>
          <a:xfrm>
            <a:off x="5105400" y="3222106"/>
            <a:ext cx="4038600" cy="1015663"/>
          </a:xfrm>
          <a:prstGeom prst="rect">
            <a:avLst/>
          </a:prstGeom>
          <a:solidFill>
            <a:schemeClr val="bg2">
              <a:lumMod val="9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IN" sz="2000" b="1" dirty="0" err="1">
                <a:solidFill>
                  <a:srgbClr val="FF0000"/>
                </a:solidFill>
                <a:latin typeface="Calibri"/>
              </a:rPr>
              <a:t>LB</a:t>
            </a:r>
            <a:r>
              <a:rPr lang="en-IN" sz="2000" b="1" baseline="-25000" dirty="0" err="1">
                <a:solidFill>
                  <a:srgbClr val="FF0000"/>
                </a:solidFill>
                <a:latin typeface="Calibri"/>
              </a:rPr>
              <a:t>c</a:t>
            </a:r>
            <a:r>
              <a:rPr lang="en-IN" sz="2000" b="1" dirty="0">
                <a:solidFill>
                  <a:srgbClr val="FF0000"/>
                </a:solidFill>
              </a:rPr>
              <a:t> </a:t>
            </a:r>
            <a:r>
              <a:rPr lang="en-IN" sz="2000" dirty="0"/>
              <a:t>= lower bound of column</a:t>
            </a:r>
          </a:p>
          <a:p>
            <a:r>
              <a:rPr lang="en-IN" sz="2000" b="1" dirty="0" err="1">
                <a:solidFill>
                  <a:srgbClr val="FF0000"/>
                </a:solidFill>
                <a:latin typeface="Calibri"/>
              </a:rPr>
              <a:t>UB</a:t>
            </a:r>
            <a:r>
              <a:rPr lang="en-IN" sz="2000" b="1" baseline="-25000" dirty="0" err="1">
                <a:solidFill>
                  <a:srgbClr val="FF0000"/>
                </a:solidFill>
                <a:latin typeface="Calibri"/>
              </a:rPr>
              <a:t>r</a:t>
            </a:r>
            <a:r>
              <a:rPr lang="en-IN" sz="2000" dirty="0"/>
              <a:t> = upper bound of column</a:t>
            </a:r>
          </a:p>
          <a:p>
            <a:r>
              <a:rPr lang="en-IN" sz="2000" b="1" dirty="0">
                <a:solidFill>
                  <a:srgbClr val="FF0000"/>
                </a:solidFill>
              </a:rPr>
              <a:t>m</a:t>
            </a:r>
            <a:r>
              <a:rPr lang="en-IN" sz="2000" dirty="0"/>
              <a:t> = </a:t>
            </a:r>
            <a:r>
              <a:rPr lang="en-IN" sz="2000" b="1" dirty="0" err="1">
                <a:solidFill>
                  <a:srgbClr val="FF0000"/>
                </a:solidFill>
                <a:latin typeface="Calibri"/>
              </a:rPr>
              <a:t>UB</a:t>
            </a:r>
            <a:r>
              <a:rPr lang="en-IN" sz="2000" b="1" baseline="-25000" dirty="0" err="1">
                <a:solidFill>
                  <a:srgbClr val="FF0000"/>
                </a:solidFill>
                <a:latin typeface="Calibri"/>
              </a:rPr>
              <a:t>c</a:t>
            </a:r>
            <a:r>
              <a:rPr lang="en-IN" sz="2000" dirty="0"/>
              <a:t> – </a:t>
            </a:r>
            <a:r>
              <a:rPr lang="en-IN" sz="2000" b="1" dirty="0" err="1">
                <a:solidFill>
                  <a:srgbClr val="FF0000"/>
                </a:solidFill>
                <a:latin typeface="Calibri"/>
              </a:rPr>
              <a:t>LB</a:t>
            </a:r>
            <a:r>
              <a:rPr lang="en-IN" sz="2000" b="1" baseline="-25000" dirty="0" err="1">
                <a:solidFill>
                  <a:srgbClr val="FF0000"/>
                </a:solidFill>
                <a:latin typeface="Calibri"/>
              </a:rPr>
              <a:t>c</a:t>
            </a:r>
            <a:r>
              <a:rPr lang="en-IN" sz="2000" b="1" dirty="0">
                <a:solidFill>
                  <a:srgbClr val="FF0000"/>
                </a:solidFill>
              </a:rPr>
              <a:t> </a:t>
            </a:r>
            <a:r>
              <a:rPr lang="en-IN" sz="2000" dirty="0"/>
              <a:t> + 1</a:t>
            </a:r>
            <a:endParaRPr lang="en-US" sz="2000" dirty="0"/>
          </a:p>
        </p:txBody>
      </p:sp>
      <p:cxnSp>
        <p:nvCxnSpPr>
          <p:cNvPr id="32" name="Straight Arrow Connector 31"/>
          <p:cNvCxnSpPr>
            <a:cxnSpLocks/>
          </p:cNvCxnSpPr>
          <p:nvPr/>
        </p:nvCxnSpPr>
        <p:spPr>
          <a:xfrm>
            <a:off x="1023848" y="1666752"/>
            <a:ext cx="0" cy="1805651"/>
          </a:xfrm>
          <a:prstGeom prst="straightConnector1">
            <a:avLst/>
          </a:prstGeom>
          <a:noFill/>
          <a:ln w="25400" cap="flat" cmpd="sng" algn="ctr">
            <a:solidFill>
              <a:srgbClr val="C0504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33" name="Straight Arrow Connector 32"/>
          <p:cNvCxnSpPr>
            <a:cxnSpLocks/>
          </p:cNvCxnSpPr>
          <p:nvPr/>
        </p:nvCxnSpPr>
        <p:spPr>
          <a:xfrm>
            <a:off x="1600200" y="1593232"/>
            <a:ext cx="0" cy="1879171"/>
          </a:xfrm>
          <a:prstGeom prst="straightConnector1">
            <a:avLst/>
          </a:prstGeom>
          <a:noFill/>
          <a:ln w="25400" cap="flat" cmpd="sng" algn="ctr">
            <a:solidFill>
              <a:srgbClr val="C0504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35" name="Straight Arrow Connector 34"/>
          <p:cNvCxnSpPr>
            <a:cxnSpLocks/>
          </p:cNvCxnSpPr>
          <p:nvPr/>
        </p:nvCxnSpPr>
        <p:spPr>
          <a:xfrm>
            <a:off x="2209800" y="1643602"/>
            <a:ext cx="0" cy="1840376"/>
          </a:xfrm>
          <a:prstGeom prst="straightConnector1">
            <a:avLst/>
          </a:prstGeom>
          <a:noFill/>
          <a:ln w="25400" cap="flat" cmpd="sng" algn="ctr">
            <a:solidFill>
              <a:srgbClr val="C0504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grpSp>
        <p:nvGrpSpPr>
          <p:cNvPr id="36" name="Group 35"/>
          <p:cNvGrpSpPr/>
          <p:nvPr/>
        </p:nvGrpSpPr>
        <p:grpSpPr>
          <a:xfrm>
            <a:off x="838200" y="1381125"/>
            <a:ext cx="3581400" cy="2286000"/>
            <a:chOff x="381000" y="1981200"/>
            <a:chExt cx="3581400" cy="2286000"/>
          </a:xfrm>
        </p:grpSpPr>
        <p:sp>
          <p:nvSpPr>
            <p:cNvPr id="37" name="TextBox 36"/>
            <p:cNvSpPr txBox="1"/>
            <p:nvPr/>
          </p:nvSpPr>
          <p:spPr>
            <a:xfrm>
              <a:off x="533400" y="2089666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[1,1]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143000" y="2089666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[1,2]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752600" y="2097048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[1,3]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124200" y="2089666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[1,m]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33400" y="2518886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[2,1]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143000" y="2518886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[2,2]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752600" y="2526268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[2,3]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124200" y="2518886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[2,m]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33400" y="3585686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[n,1]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143000" y="3585686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[n,2]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752600" y="3593068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[n,3]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124200" y="3585686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</a:t>
              </a:r>
              <a:r>
                <a:rPr kumimoji="0" lang="en-US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n,m</a:t>
              </a: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]</a:t>
              </a:r>
            </a:p>
          </p:txBody>
        </p:sp>
        <p:sp>
          <p:nvSpPr>
            <p:cNvPr id="49" name="Double Bracket 48"/>
            <p:cNvSpPr/>
            <p:nvPr/>
          </p:nvSpPr>
          <p:spPr>
            <a:xfrm>
              <a:off x="381000" y="1981200"/>
              <a:ext cx="3581400" cy="2286000"/>
            </a:xfrm>
            <a:prstGeom prst="bracketPair">
              <a:avLst/>
            </a:prstGeom>
            <a:noFill/>
            <a:ln w="25400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4410075" y="3324225"/>
            <a:ext cx="824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alibri"/>
              </a:rPr>
              <a:t>n X m</a:t>
            </a:r>
            <a:endParaRPr lang="en-US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04800" y="1518352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rgbClr val="FF0000"/>
                </a:solidFill>
                <a:latin typeface="Calibri"/>
              </a:rPr>
              <a:t>LB</a:t>
            </a:r>
            <a:r>
              <a:rPr lang="en-IN" b="1" baseline="-25000" dirty="0" err="1">
                <a:solidFill>
                  <a:srgbClr val="FF0000"/>
                </a:solidFill>
                <a:latin typeface="Calibri"/>
              </a:rPr>
              <a:t>r</a:t>
            </a:r>
            <a:endParaRPr lang="en-US" b="1" baseline="-250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75409" y="2992993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rgbClr val="FF0000"/>
                </a:solidFill>
                <a:latin typeface="Calibri"/>
              </a:rPr>
              <a:t>UB</a:t>
            </a:r>
            <a:r>
              <a:rPr lang="en-IN" b="1" baseline="-25000" dirty="0" err="1">
                <a:solidFill>
                  <a:srgbClr val="FF0000"/>
                </a:solidFill>
                <a:latin typeface="Calibri"/>
              </a:rPr>
              <a:t>r</a:t>
            </a:r>
            <a:endParaRPr lang="en-US" b="1" baseline="-250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116448" y="1005736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rgbClr val="FF0000"/>
                </a:solidFill>
                <a:latin typeface="Calibri"/>
              </a:rPr>
              <a:t>LB</a:t>
            </a:r>
            <a:r>
              <a:rPr lang="en-IN" b="1" baseline="-25000" dirty="0" err="1">
                <a:solidFill>
                  <a:srgbClr val="FF0000"/>
                </a:solidFill>
                <a:latin typeface="Calibri"/>
              </a:rPr>
              <a:t>c</a:t>
            </a:r>
            <a:endParaRPr lang="en-US" b="1" baseline="-250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609975" y="1087993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rgbClr val="FF0000"/>
                </a:solidFill>
                <a:latin typeface="Calibri"/>
              </a:rPr>
              <a:t>UB</a:t>
            </a:r>
            <a:r>
              <a:rPr lang="en-IN" b="1" baseline="-25000" dirty="0" err="1">
                <a:solidFill>
                  <a:srgbClr val="FF0000"/>
                </a:solidFill>
                <a:latin typeface="Calibri"/>
              </a:rPr>
              <a:t>c</a:t>
            </a:r>
            <a:endParaRPr lang="en-US" b="1" baseline="-25000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542109" y="4994657"/>
            <a:ext cx="8047808" cy="766621"/>
          </a:xfrm>
          <a:prstGeom prst="rect">
            <a:avLst/>
          </a:prstGeom>
          <a:solidFill>
            <a:schemeClr val="bg2">
              <a:lumMod val="95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Loc (A [ i , j ]) = L</a:t>
            </a:r>
            <a:r>
              <a:rPr lang="en-IN" sz="2400" b="1" baseline="-25000" dirty="0">
                <a:solidFill>
                  <a:schemeClr val="tx1"/>
                </a:solidFill>
              </a:rPr>
              <a:t>0</a:t>
            </a:r>
            <a:r>
              <a:rPr lang="en-IN" sz="2400" b="1" dirty="0">
                <a:solidFill>
                  <a:schemeClr val="tx1"/>
                </a:solidFill>
              </a:rPr>
              <a:t> + C * [ (</a:t>
            </a:r>
            <a:r>
              <a:rPr lang="en-IN" sz="2400" b="1" dirty="0" err="1">
                <a:solidFill>
                  <a:schemeClr val="tx1"/>
                </a:solidFill>
              </a:rPr>
              <a:t>i-LB</a:t>
            </a:r>
            <a:r>
              <a:rPr lang="en-IN" sz="2400" b="1" baseline="-25000" dirty="0" err="1">
                <a:solidFill>
                  <a:schemeClr val="tx1"/>
                </a:solidFill>
              </a:rPr>
              <a:t>r</a:t>
            </a:r>
            <a:r>
              <a:rPr lang="en-IN" sz="2400" b="1" dirty="0">
                <a:solidFill>
                  <a:schemeClr val="tx1"/>
                </a:solidFill>
              </a:rPr>
              <a:t>) + (UB</a:t>
            </a:r>
            <a:r>
              <a:rPr lang="en-IN" sz="2400" b="1" baseline="-25000" dirty="0">
                <a:solidFill>
                  <a:schemeClr val="tx1"/>
                </a:solidFill>
              </a:rPr>
              <a:t>r</a:t>
            </a:r>
            <a:r>
              <a:rPr lang="en-IN" sz="2400" b="1" dirty="0">
                <a:solidFill>
                  <a:schemeClr val="tx1"/>
                </a:solidFill>
              </a:rPr>
              <a:t>-LB</a:t>
            </a:r>
            <a:r>
              <a:rPr lang="en-IN" sz="2400" b="1" baseline="-25000" dirty="0">
                <a:solidFill>
                  <a:schemeClr val="tx1"/>
                </a:solidFill>
              </a:rPr>
              <a:t>r</a:t>
            </a:r>
            <a:r>
              <a:rPr lang="en-IN" sz="2400" b="1" dirty="0">
                <a:solidFill>
                  <a:schemeClr val="tx1"/>
                </a:solidFill>
              </a:rPr>
              <a:t>+1) * (j – </a:t>
            </a:r>
            <a:r>
              <a:rPr lang="en-IN" sz="2400" b="1" dirty="0" err="1">
                <a:solidFill>
                  <a:schemeClr val="tx1"/>
                </a:solidFill>
              </a:rPr>
              <a:t>LB</a:t>
            </a:r>
            <a:r>
              <a:rPr lang="en-IN" sz="2400" b="1" baseline="-25000" dirty="0" err="1">
                <a:solidFill>
                  <a:schemeClr val="tx1"/>
                </a:solidFill>
              </a:rPr>
              <a:t>c</a:t>
            </a:r>
            <a:r>
              <a:rPr lang="en-IN" sz="2400" b="1" dirty="0">
                <a:solidFill>
                  <a:schemeClr val="tx1"/>
                </a:solidFill>
              </a:rPr>
              <a:t>) ]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C071E5D-DEFB-4673-EFFE-47A65A49B04D}"/>
              </a:ext>
            </a:extLst>
          </p:cNvPr>
          <p:cNvCxnSpPr>
            <a:cxnSpLocks/>
          </p:cNvCxnSpPr>
          <p:nvPr/>
        </p:nvCxnSpPr>
        <p:spPr>
          <a:xfrm>
            <a:off x="3600695" y="1643602"/>
            <a:ext cx="0" cy="1840376"/>
          </a:xfrm>
          <a:prstGeom prst="straightConnector1">
            <a:avLst/>
          </a:prstGeom>
          <a:noFill/>
          <a:ln w="25400" cap="flat" cmpd="sng" algn="ctr">
            <a:solidFill>
              <a:srgbClr val="C0504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F65A240A-7F18-BB18-711E-6A96EA1CE359}"/>
              </a:ext>
            </a:extLst>
          </p:cNvPr>
          <p:cNvSpPr/>
          <p:nvPr/>
        </p:nvSpPr>
        <p:spPr>
          <a:xfrm>
            <a:off x="556806" y="5852264"/>
            <a:ext cx="8047808" cy="632015"/>
          </a:xfrm>
          <a:prstGeom prst="rect">
            <a:avLst/>
          </a:prstGeom>
          <a:solidFill>
            <a:schemeClr val="bg2">
              <a:lumMod val="9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tx1"/>
                </a:solidFill>
              </a:rPr>
              <a:t>       Loc (A[ </a:t>
            </a:r>
            <a:r>
              <a:rPr lang="en-IN" sz="2400" b="1" dirty="0" err="1">
                <a:solidFill>
                  <a:schemeClr val="tx1"/>
                </a:solidFill>
              </a:rPr>
              <a:t>i</a:t>
            </a:r>
            <a:r>
              <a:rPr lang="en-IN" sz="2400" b="1" dirty="0">
                <a:solidFill>
                  <a:schemeClr val="tx1"/>
                </a:solidFill>
              </a:rPr>
              <a:t> , j ]) = L</a:t>
            </a:r>
            <a:r>
              <a:rPr lang="en-IN" sz="2400" b="1" baseline="-25000" dirty="0">
                <a:solidFill>
                  <a:schemeClr val="tx1"/>
                </a:solidFill>
              </a:rPr>
              <a:t>0</a:t>
            </a:r>
            <a:r>
              <a:rPr lang="en-IN" sz="2400" b="1" dirty="0">
                <a:solidFill>
                  <a:schemeClr val="tx1"/>
                </a:solidFill>
              </a:rPr>
              <a:t> + C * [ (</a:t>
            </a:r>
            <a:r>
              <a:rPr lang="en-IN" sz="2400" b="1" dirty="0" err="1">
                <a:solidFill>
                  <a:schemeClr val="tx1"/>
                </a:solidFill>
              </a:rPr>
              <a:t>i</a:t>
            </a:r>
            <a:r>
              <a:rPr lang="en-IN" sz="2400" b="1" dirty="0">
                <a:solidFill>
                  <a:schemeClr val="tx1"/>
                </a:solidFill>
              </a:rPr>
              <a:t>–1)    +         n           * (j-1) ]</a:t>
            </a:r>
          </a:p>
        </p:txBody>
      </p:sp>
    </p:spTree>
    <p:extLst>
      <p:ext uri="{BB962C8B-B14F-4D97-AF65-F5344CB8AC3E}">
        <p14:creationId xmlns:p14="http://schemas.microsoft.com/office/powerpoint/2010/main" val="107442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23" grpId="0" animBg="1"/>
      <p:bldP spid="28" grpId="0" animBg="1"/>
      <p:bldP spid="29" grpId="0" animBg="1"/>
      <p:bldP spid="50" grpId="0"/>
      <p:bldP spid="50" grpId="1"/>
      <p:bldP spid="51" grpId="0"/>
      <p:bldP spid="52" grpId="0"/>
      <p:bldP spid="53" grpId="0"/>
      <p:bldP spid="54" grpId="0"/>
      <p:bldP spid="56" grpId="0" animBg="1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Address calculation of 2-D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</a:t>
            </a:r>
            <a:r>
              <a:rPr lang="en-US" b="1" dirty="0">
                <a:solidFill>
                  <a:srgbClr val="C00000"/>
                </a:solidFill>
              </a:rPr>
              <a:t>20 * 5 </a:t>
            </a:r>
            <a:r>
              <a:rPr lang="en-US" u="sng" dirty="0"/>
              <a:t>two dimensional array </a:t>
            </a:r>
            <a:r>
              <a:rPr lang="en-US" dirty="0"/>
              <a:t>A which has its </a:t>
            </a:r>
            <a:r>
              <a:rPr lang="en-US" b="1" dirty="0">
                <a:solidFill>
                  <a:srgbClr val="C00000"/>
                </a:solidFill>
              </a:rPr>
              <a:t>base address = 1000 </a:t>
            </a:r>
            <a:r>
              <a:rPr lang="en-US" dirty="0"/>
              <a:t>and the byte </a:t>
            </a:r>
            <a:r>
              <a:rPr lang="en-US" b="1" dirty="0">
                <a:solidFill>
                  <a:srgbClr val="C00000"/>
                </a:solidFill>
              </a:rPr>
              <a:t>size of an element = 2</a:t>
            </a:r>
            <a:r>
              <a:rPr lang="en-US" dirty="0"/>
              <a:t>. Now compute the address of the element, </a:t>
            </a:r>
            <a:r>
              <a:rPr lang="en-US" b="1" dirty="0">
                <a:solidFill>
                  <a:srgbClr val="C00000"/>
                </a:solidFill>
              </a:rPr>
              <a:t>A[18][4]</a:t>
            </a:r>
            <a:r>
              <a:rPr lang="en-US" dirty="0"/>
              <a:t> assuming that the elements are stored in </a:t>
            </a:r>
            <a:r>
              <a:rPr lang="en-US" sz="2800" b="1" dirty="0">
                <a:solidFill>
                  <a:srgbClr val="C00000"/>
                </a:solidFill>
              </a:rPr>
              <a:t>row major order</a:t>
            </a:r>
            <a:r>
              <a:rPr lang="en-US" dirty="0"/>
              <a:t>. (Assume </a:t>
            </a:r>
            <a:r>
              <a:rPr lang="en-US" b="1" dirty="0" err="1"/>
              <a:t>LB</a:t>
            </a:r>
            <a:r>
              <a:rPr lang="en-US" b="1" baseline="-25000" dirty="0" err="1"/>
              <a:t>r</a:t>
            </a:r>
            <a:r>
              <a:rPr lang="en-US" b="1" dirty="0"/>
              <a:t>=</a:t>
            </a:r>
            <a:r>
              <a:rPr lang="en-US" b="1" dirty="0" err="1"/>
              <a:t>LB</a:t>
            </a:r>
            <a:r>
              <a:rPr lang="en-US" b="1" baseline="-25000" dirty="0" err="1"/>
              <a:t>c</a:t>
            </a:r>
            <a:r>
              <a:rPr lang="en-US" b="1" baseline="-25000" dirty="0"/>
              <a:t> </a:t>
            </a:r>
            <a:r>
              <a:rPr lang="en-US" b="1" dirty="0"/>
              <a:t>=1</a:t>
            </a:r>
            <a:r>
              <a:rPr lang="en-US" dirty="0"/>
              <a:t>)</a:t>
            </a:r>
          </a:p>
          <a:p>
            <a:r>
              <a:rPr lang="en-US" dirty="0"/>
              <a:t>Here,</a:t>
            </a:r>
          </a:p>
          <a:p>
            <a:pPr lvl="1"/>
            <a:r>
              <a:rPr lang="en-US" dirty="0"/>
              <a:t>C=2, n=20, m=5, i=18, j=4, L</a:t>
            </a:r>
            <a:r>
              <a:rPr lang="en-US" baseline="-25000" dirty="0"/>
              <a:t>0</a:t>
            </a:r>
            <a:r>
              <a:rPr lang="en-US" dirty="0"/>
              <a:t>=1000</a:t>
            </a:r>
          </a:p>
          <a:p>
            <a:r>
              <a:rPr lang="en-US" dirty="0"/>
              <a:t>If the array elements are stored in </a:t>
            </a:r>
            <a:r>
              <a:rPr lang="en-US" b="1" dirty="0"/>
              <a:t>row-major</a:t>
            </a:r>
            <a:r>
              <a:rPr lang="en-US" dirty="0"/>
              <a:t> order: </a:t>
            </a:r>
          </a:p>
          <a:p>
            <a:pPr marL="0" indent="0">
              <a:buNone/>
            </a:pPr>
            <a:r>
              <a:rPr lang="en-IN" b="1" dirty="0"/>
              <a:t>	Loc (A [ </a:t>
            </a:r>
            <a:r>
              <a:rPr lang="en-IN" b="1" dirty="0" err="1"/>
              <a:t>i</a:t>
            </a:r>
            <a:r>
              <a:rPr lang="en-IN" b="1" dirty="0"/>
              <a:t> , j ]) = L</a:t>
            </a:r>
            <a:r>
              <a:rPr lang="en-IN" b="1" baseline="-25000" dirty="0"/>
              <a:t>0</a:t>
            </a:r>
            <a:r>
              <a:rPr lang="en-IN" b="1" dirty="0"/>
              <a:t> + C * [m*(i-1) + (j–1)]</a:t>
            </a:r>
            <a:endParaRPr lang="en-IN" dirty="0"/>
          </a:p>
          <a:p>
            <a:pPr marL="0" indent="0" algn="l">
              <a:buNone/>
            </a:pPr>
            <a:r>
              <a:rPr lang="en-IN" b="1" dirty="0"/>
              <a:t>	Loc (A[18,4]) </a:t>
            </a:r>
            <a:r>
              <a:rPr lang="en-US" dirty="0"/>
              <a:t>= 1000 + 2 * [5*(18-1) + (4-1)]</a:t>
            </a:r>
          </a:p>
          <a:p>
            <a:pPr marL="0" indent="0" algn="l">
              <a:buNone/>
            </a:pPr>
            <a:r>
              <a:rPr lang="en-US" dirty="0"/>
              <a:t>                                     = 1000 + 2 [5(17) + 3]</a:t>
            </a:r>
          </a:p>
          <a:p>
            <a:pPr marL="0" indent="0" algn="l">
              <a:buNone/>
            </a:pPr>
            <a:r>
              <a:rPr lang="en-US" dirty="0"/>
              <a:t>		           = 1000 + 2[88]</a:t>
            </a:r>
          </a:p>
          <a:p>
            <a:pPr marL="0" indent="0" algn="l">
              <a:buNone/>
            </a:pPr>
            <a:r>
              <a:rPr lang="en-US" dirty="0"/>
              <a:t>		           = 1176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746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Address calculation of 2-D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</a:t>
            </a:r>
            <a:r>
              <a:rPr lang="en-US" b="1" dirty="0">
                <a:solidFill>
                  <a:srgbClr val="C00000"/>
                </a:solidFill>
              </a:rPr>
              <a:t>20 * 5 </a:t>
            </a:r>
            <a:r>
              <a:rPr lang="en-US" u="sng" dirty="0"/>
              <a:t>two dimensional array </a:t>
            </a:r>
            <a:r>
              <a:rPr lang="en-US" dirty="0"/>
              <a:t>A which has its </a:t>
            </a:r>
            <a:r>
              <a:rPr lang="en-US" b="1" dirty="0">
                <a:solidFill>
                  <a:srgbClr val="C00000"/>
                </a:solidFill>
              </a:rPr>
              <a:t>base address = 1000 </a:t>
            </a:r>
            <a:r>
              <a:rPr lang="en-US" dirty="0"/>
              <a:t>and the </a:t>
            </a:r>
            <a:r>
              <a:rPr lang="en-US" b="1" dirty="0">
                <a:solidFill>
                  <a:srgbClr val="C00000"/>
                </a:solidFill>
              </a:rPr>
              <a:t>size of an element = 2</a:t>
            </a:r>
            <a:r>
              <a:rPr lang="en-US" dirty="0"/>
              <a:t>. Now compute the address of the element, </a:t>
            </a:r>
            <a:r>
              <a:rPr lang="en-US" b="1" dirty="0">
                <a:solidFill>
                  <a:srgbClr val="C00000"/>
                </a:solidFill>
              </a:rPr>
              <a:t>A[18][4]</a:t>
            </a:r>
            <a:r>
              <a:rPr lang="en-US" dirty="0"/>
              <a:t> assuming that the elements are stored in </a:t>
            </a:r>
            <a:r>
              <a:rPr lang="en-US" sz="2800" b="1" dirty="0">
                <a:solidFill>
                  <a:srgbClr val="C00000"/>
                </a:solidFill>
              </a:rPr>
              <a:t>column major order</a:t>
            </a:r>
            <a:r>
              <a:rPr lang="en-US" dirty="0"/>
              <a:t>. (Assume </a:t>
            </a:r>
            <a:r>
              <a:rPr lang="en-US" b="1" dirty="0" err="1"/>
              <a:t>LB</a:t>
            </a:r>
            <a:r>
              <a:rPr lang="en-US" b="1" baseline="-25000" dirty="0" err="1"/>
              <a:t>r</a:t>
            </a:r>
            <a:r>
              <a:rPr lang="en-US" b="1" dirty="0"/>
              <a:t>=</a:t>
            </a:r>
            <a:r>
              <a:rPr lang="en-US" b="1" dirty="0" err="1"/>
              <a:t>LB</a:t>
            </a:r>
            <a:r>
              <a:rPr lang="en-US" b="1" baseline="-25000" dirty="0" err="1"/>
              <a:t>c</a:t>
            </a:r>
            <a:r>
              <a:rPr lang="en-US" b="1" baseline="-25000" dirty="0"/>
              <a:t> </a:t>
            </a:r>
            <a:r>
              <a:rPr lang="en-US" b="1" dirty="0"/>
              <a:t>=1</a:t>
            </a:r>
            <a:r>
              <a:rPr lang="en-US" dirty="0"/>
              <a:t>)</a:t>
            </a:r>
          </a:p>
          <a:p>
            <a:r>
              <a:rPr lang="en-US" dirty="0"/>
              <a:t>Here,</a:t>
            </a:r>
          </a:p>
          <a:p>
            <a:pPr lvl="1"/>
            <a:r>
              <a:rPr lang="en-US" dirty="0"/>
              <a:t>C=2, n=20, m=5, i=18, j=4, L</a:t>
            </a:r>
            <a:r>
              <a:rPr lang="en-US" baseline="-25000" dirty="0"/>
              <a:t>0</a:t>
            </a:r>
            <a:r>
              <a:rPr lang="en-US" dirty="0"/>
              <a:t>=1000</a:t>
            </a:r>
          </a:p>
          <a:p>
            <a:r>
              <a:rPr lang="en-US" dirty="0"/>
              <a:t>If the array elements are stored in </a:t>
            </a:r>
            <a:r>
              <a:rPr lang="en-US" b="1" dirty="0"/>
              <a:t>column-major</a:t>
            </a:r>
            <a:r>
              <a:rPr lang="en-US" dirty="0"/>
              <a:t> order: </a:t>
            </a:r>
          </a:p>
          <a:p>
            <a:pPr marL="0" indent="0">
              <a:buNone/>
            </a:pPr>
            <a:r>
              <a:rPr lang="en-IN" b="1" dirty="0"/>
              <a:t>	Loc (A [ </a:t>
            </a:r>
            <a:r>
              <a:rPr lang="en-IN" b="1" dirty="0" err="1"/>
              <a:t>i</a:t>
            </a:r>
            <a:r>
              <a:rPr lang="en-IN" b="1" dirty="0"/>
              <a:t> , j ]) = L</a:t>
            </a:r>
            <a:r>
              <a:rPr lang="en-IN" b="1" baseline="-25000" dirty="0"/>
              <a:t>0</a:t>
            </a:r>
            <a:r>
              <a:rPr lang="en-IN" b="1" dirty="0"/>
              <a:t> + C * [(i-1) + n*(j–1)]</a:t>
            </a:r>
            <a:endParaRPr lang="en-IN" dirty="0"/>
          </a:p>
          <a:p>
            <a:pPr marL="0" indent="0" algn="l">
              <a:buNone/>
            </a:pPr>
            <a:r>
              <a:rPr lang="en-IN" b="1" dirty="0"/>
              <a:t>	Loc (A[18,4 ]) </a:t>
            </a:r>
            <a:r>
              <a:rPr lang="en-US" dirty="0"/>
              <a:t>= 1000 + 2 * [(18-1) + 20*(4-1)]</a:t>
            </a:r>
          </a:p>
          <a:p>
            <a:pPr marL="0" indent="0" algn="l">
              <a:buNone/>
            </a:pPr>
            <a:r>
              <a:rPr lang="en-US" dirty="0"/>
              <a:t>                                     = 1000 + 2 [17 + 20*(3)]</a:t>
            </a:r>
          </a:p>
          <a:p>
            <a:pPr marL="0" indent="0" algn="l">
              <a:buNone/>
            </a:pPr>
            <a:r>
              <a:rPr lang="en-US" dirty="0"/>
              <a:t>		           = 1000 + 2[17 + 60]</a:t>
            </a:r>
          </a:p>
          <a:p>
            <a:pPr marL="0" indent="0" algn="l">
              <a:buNone/>
            </a:pPr>
            <a:r>
              <a:rPr lang="en-US" dirty="0"/>
              <a:t>		           = 1154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809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Address calculation of 2-D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15 x 20 two dimensional array A which has its base address = 4000 and the size of an element is 4 bytes. Now compute the address of the element A[10][10], assuming that the elements are stored in row major order and column major order. (Assume </a:t>
            </a:r>
            <a:r>
              <a:rPr lang="en-US" b="1" dirty="0" err="1"/>
              <a:t>LB</a:t>
            </a:r>
            <a:r>
              <a:rPr lang="en-US" b="1" baseline="-25000" dirty="0" err="1"/>
              <a:t>r</a:t>
            </a:r>
            <a:r>
              <a:rPr lang="en-US" b="1" dirty="0"/>
              <a:t>=</a:t>
            </a:r>
            <a:r>
              <a:rPr lang="en-US" b="1" dirty="0" err="1"/>
              <a:t>LB</a:t>
            </a:r>
            <a:r>
              <a:rPr lang="en-US" b="1" baseline="-25000" dirty="0" err="1"/>
              <a:t>c</a:t>
            </a:r>
            <a:r>
              <a:rPr lang="en-US" b="1" baseline="-25000" dirty="0"/>
              <a:t> </a:t>
            </a:r>
            <a:r>
              <a:rPr lang="en-US" b="1" dirty="0"/>
              <a:t>=1)</a:t>
            </a:r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65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Array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Matrix representation of Polynomial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Sparse Matrix</a:t>
            </a:r>
          </a:p>
        </p:txBody>
      </p:sp>
    </p:spTree>
    <p:extLst>
      <p:ext uri="{BB962C8B-B14F-4D97-AF65-F5344CB8AC3E}">
        <p14:creationId xmlns:p14="http://schemas.microsoft.com/office/powerpoint/2010/main" val="1890915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Representation of Polynomial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can use array for different kind of operations on polynomial equation such as addition, subtraction, division, differentiation etc…</a:t>
            </a:r>
          </a:p>
          <a:p>
            <a:r>
              <a:rPr lang="en-IN" dirty="0"/>
              <a:t>We are interested in finding suitable representation for polynomial so that different operations like addition, subtraction etc… can be performed in efficient manner.</a:t>
            </a:r>
          </a:p>
          <a:p>
            <a:r>
              <a:rPr lang="en-IN" dirty="0"/>
              <a:t>Array can be used to represent Polynomial equation.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98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5500688" y="3627714"/>
            <a:ext cx="4291762" cy="2209800"/>
            <a:chOff x="1233488" y="3633787"/>
            <a:chExt cx="4291762" cy="2209800"/>
          </a:xfrm>
        </p:grpSpPr>
        <p:graphicFrame>
          <p:nvGraphicFramePr>
            <p:cNvPr id="88" name="Content Placeholder 4">
              <a:extLst>
                <a:ext uri="{FF2B5EF4-FFF2-40B4-BE49-F238E27FC236}">
                  <a16:creationId xmlns:a16="http://schemas.microsoft.com/office/drawing/2014/main" id="{2486BC6F-42B7-4A1D-889E-1B1818D1D5F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810191455"/>
                </p:ext>
              </p:extLst>
            </p:nvPr>
          </p:nvGraphicFramePr>
          <p:xfrm>
            <a:off x="1828050" y="3966291"/>
            <a:ext cx="3697200" cy="1854000"/>
          </p:xfrm>
          <a:graphic>
            <a:graphicData uri="http://schemas.openxmlformats.org/drawingml/2006/table">
              <a:tbl>
                <a:tblPr firstRow="1" bandRow="1">
                  <a:tableStyleId>{8EC20E35-A176-4012-BC5E-935CFFF8708E}</a:tableStyleId>
                </a:tblPr>
                <a:tblGrid>
                  <a:gridCol w="73944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73944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73944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73944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73944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708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dirty="0">
                            <a:solidFill>
                              <a:schemeClr val="tx1"/>
                            </a:solidFill>
                          </a:rPr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IN" dirty="0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>
                            <a:solidFill>
                              <a:schemeClr val="tx1"/>
                            </a:solidFill>
                          </a:rPr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>
                            <a:solidFill>
                              <a:schemeClr val="tx1"/>
                            </a:solidFill>
                          </a:rPr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>
                            <a:solidFill>
                              <a:schemeClr val="tx1"/>
                            </a:solidFill>
                          </a:rPr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708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708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marL="0" marR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marL="0" marR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marL="0" marR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marL="0" marR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3708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3708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</a:tbl>
            </a:graphicData>
          </a:graphic>
        </p:graphicFrame>
        <p:sp>
          <p:nvSpPr>
            <p:cNvPr id="89" name="TextBox 88"/>
            <p:cNvSpPr txBox="1"/>
            <p:nvPr/>
          </p:nvSpPr>
          <p:spPr>
            <a:xfrm>
              <a:off x="1309688" y="4319587"/>
              <a:ext cx="381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X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233488" y="4700587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X</a:t>
              </a:r>
              <a:r>
                <a:rPr kumimoji="0" lang="en-IN" sz="1800" b="1" i="0" u="none" strike="noStrike" kern="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2</a:t>
              </a:r>
              <a:endParaRPr kumimoji="0" lang="en-US" sz="1800" b="1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233488" y="5093255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X</a:t>
              </a:r>
              <a:r>
                <a:rPr kumimoji="0" lang="en-IN" sz="1800" b="1" i="0" u="none" strike="noStrike" kern="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3</a:t>
              </a:r>
              <a:endParaRPr kumimoji="0" lang="en-US" sz="1800" b="1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1233488" y="5474255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X</a:t>
              </a:r>
              <a:r>
                <a:rPr kumimoji="0" lang="en-IN" sz="1800" b="1" i="0" u="none" strike="noStrike" kern="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4</a:t>
              </a:r>
              <a:endParaRPr kumimoji="0" lang="en-US" sz="1800" b="1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2757488" y="3645455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Y</a:t>
              </a:r>
              <a:endParaRPr kumimoji="0" lang="en-US" sz="1800" b="1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3519488" y="3645455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Y</a:t>
              </a:r>
              <a:r>
                <a:rPr kumimoji="0" lang="en-IN" sz="1800" b="1" i="0" u="none" strike="noStrike" kern="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2</a:t>
              </a:r>
              <a:endParaRPr kumimoji="0" lang="en-US" sz="1800" b="1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4205288" y="3645455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Y</a:t>
              </a:r>
              <a:r>
                <a:rPr kumimoji="0" lang="en-IN" sz="1800" b="1" i="0" u="none" strike="noStrike" kern="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3</a:t>
              </a:r>
              <a:endParaRPr kumimoji="0" lang="en-US" sz="1800" b="1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4967288" y="3633787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Y</a:t>
              </a:r>
              <a:r>
                <a:rPr kumimoji="0" lang="en-IN" sz="1800" b="1" i="0" u="none" strike="noStrike" kern="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4</a:t>
              </a:r>
              <a:endParaRPr kumimoji="0" lang="en-US" sz="1800" b="1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Matrix Representation of Polynomial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66888" y="3252787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prstClr val="black"/>
                </a:solidFill>
                <a:latin typeface="Calibri"/>
              </a:rPr>
              <a:t>2X</a:t>
            </a:r>
            <a:r>
              <a:rPr lang="en-IN" b="1" baseline="30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IN" b="1" dirty="0">
                <a:solidFill>
                  <a:prstClr val="black"/>
                </a:solidFill>
                <a:latin typeface="Calibri"/>
              </a:rPr>
              <a:t> + 5XY + Y</a:t>
            </a:r>
            <a:r>
              <a:rPr lang="en-IN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US" b="1" baseline="30000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86" name="Group 85"/>
          <p:cNvGrpSpPr/>
          <p:nvPr/>
        </p:nvGrpSpPr>
        <p:grpSpPr>
          <a:xfrm>
            <a:off x="1233488" y="3627714"/>
            <a:ext cx="4291762" cy="2209800"/>
            <a:chOff x="1233488" y="3633787"/>
            <a:chExt cx="4291762" cy="2209800"/>
          </a:xfrm>
        </p:grpSpPr>
        <p:graphicFrame>
          <p:nvGraphicFramePr>
            <p:cNvPr id="70" name="Content Placeholder 4">
              <a:extLst>
                <a:ext uri="{FF2B5EF4-FFF2-40B4-BE49-F238E27FC236}">
                  <a16:creationId xmlns:a16="http://schemas.microsoft.com/office/drawing/2014/main" id="{2486BC6F-42B7-4A1D-889E-1B1818D1D5F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199224062"/>
                </p:ext>
              </p:extLst>
            </p:nvPr>
          </p:nvGraphicFramePr>
          <p:xfrm>
            <a:off x="1828050" y="3966291"/>
            <a:ext cx="3697200" cy="1854000"/>
          </p:xfrm>
          <a:graphic>
            <a:graphicData uri="http://schemas.openxmlformats.org/drawingml/2006/table">
              <a:tbl>
                <a:tblPr firstRow="1" bandRow="1">
                  <a:tableStyleId>{8EC20E35-A176-4012-BC5E-935CFFF8708E}</a:tableStyleId>
                </a:tblPr>
                <a:tblGrid>
                  <a:gridCol w="73944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73944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73944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73944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73944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708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dirty="0">
                            <a:solidFill>
                              <a:schemeClr val="tx1"/>
                            </a:solidFill>
                          </a:rPr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IN" dirty="0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>
                            <a:solidFill>
                              <a:schemeClr val="tx1"/>
                            </a:solidFill>
                          </a:rPr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>
                            <a:solidFill>
                              <a:schemeClr val="tx1"/>
                            </a:solidFill>
                          </a:rPr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>
                            <a:solidFill>
                              <a:schemeClr val="tx1"/>
                            </a:solidFill>
                          </a:rPr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708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708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marL="0" marR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marL="0" marR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marL="0" marR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marL="0" marR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3708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3708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</a:tbl>
            </a:graphicData>
          </a:graphic>
        </p:graphicFrame>
        <p:sp>
          <p:nvSpPr>
            <p:cNvPr id="40" name="TextBox 39"/>
            <p:cNvSpPr txBox="1"/>
            <p:nvPr/>
          </p:nvSpPr>
          <p:spPr>
            <a:xfrm>
              <a:off x="1309688" y="4319587"/>
              <a:ext cx="381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X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233488" y="4700587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X</a:t>
              </a:r>
              <a:r>
                <a:rPr kumimoji="0" lang="en-IN" sz="1800" b="1" i="0" u="none" strike="noStrike" kern="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2</a:t>
              </a:r>
              <a:endParaRPr kumimoji="0" lang="en-US" sz="1800" b="1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233488" y="5093255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X</a:t>
              </a:r>
              <a:r>
                <a:rPr kumimoji="0" lang="en-IN" sz="1800" b="1" i="0" u="none" strike="noStrike" kern="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3</a:t>
              </a:r>
              <a:endParaRPr kumimoji="0" lang="en-US" sz="1800" b="1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233488" y="5474255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X</a:t>
              </a:r>
              <a:r>
                <a:rPr kumimoji="0" lang="en-IN" sz="1800" b="1" i="0" u="none" strike="noStrike" kern="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4</a:t>
              </a:r>
              <a:endParaRPr kumimoji="0" lang="en-US" sz="1800" b="1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757488" y="3645455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Y</a:t>
              </a:r>
              <a:endParaRPr kumimoji="0" lang="en-US" sz="1800" b="1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519488" y="3645455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Y</a:t>
              </a:r>
              <a:r>
                <a:rPr kumimoji="0" lang="en-IN" sz="1800" b="1" i="0" u="none" strike="noStrike" kern="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2</a:t>
              </a:r>
              <a:endParaRPr kumimoji="0" lang="en-US" sz="1800" b="1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205288" y="3645455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Y</a:t>
              </a:r>
              <a:r>
                <a:rPr kumimoji="0" lang="en-IN" sz="1800" b="1" i="0" u="none" strike="noStrike" kern="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3</a:t>
              </a:r>
              <a:endParaRPr kumimoji="0" lang="en-US" sz="1800" b="1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967288" y="3633787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Y</a:t>
              </a:r>
              <a:r>
                <a:rPr kumimoji="0" lang="en-IN" sz="1800" b="1" i="0" u="none" strike="noStrike" kern="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4</a:t>
              </a:r>
              <a:endParaRPr kumimoji="0" lang="en-US" sz="1800" b="1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48" name="Rectangle 47"/>
          <p:cNvSpPr/>
          <p:nvPr/>
        </p:nvSpPr>
        <p:spPr>
          <a:xfrm>
            <a:off x="1811868" y="4711397"/>
            <a:ext cx="738000" cy="372484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2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571494" y="4350788"/>
            <a:ext cx="738000" cy="348734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5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3312095" y="3982728"/>
            <a:ext cx="738000" cy="348734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1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262688" y="3252787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IN" b="1" baseline="30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IN" b="1" dirty="0">
                <a:solidFill>
                  <a:prstClr val="black"/>
                </a:solidFill>
                <a:latin typeface="Calibri"/>
              </a:rPr>
              <a:t> + 3XY + Y</a:t>
            </a:r>
            <a:r>
              <a:rPr lang="en-IN" b="1" baseline="30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IN" b="1" dirty="0">
                <a:solidFill>
                  <a:prstClr val="black"/>
                </a:solidFill>
                <a:latin typeface="Calibri"/>
              </a:rPr>
              <a:t>+Y-X</a:t>
            </a:r>
            <a:endParaRPr lang="en-US" b="1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086538" y="4699522"/>
            <a:ext cx="738000" cy="349200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1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834453" y="4338859"/>
            <a:ext cx="738000" cy="349200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3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7582088" y="3963678"/>
            <a:ext cx="738000" cy="347669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1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37392" y="3963677"/>
            <a:ext cx="738000" cy="349200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1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086538" y="4339927"/>
            <a:ext cx="738000" cy="349200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-1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graphicFrame>
        <p:nvGraphicFramePr>
          <p:cNvPr id="68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6803028"/>
              </p:ext>
            </p:extLst>
          </p:nvPr>
        </p:nvGraphicFramePr>
        <p:xfrm>
          <a:off x="3946207" y="927530"/>
          <a:ext cx="3697200" cy="18540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58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2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62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62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XY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XY</a:t>
                      </a:r>
                      <a:r>
                        <a:rPr lang="en-IN" baseline="30000" dirty="0"/>
                        <a:t>2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XY</a:t>
                      </a:r>
                      <a:r>
                        <a:rPr lang="en-IN" baseline="30000" dirty="0"/>
                        <a:t>3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XY</a:t>
                      </a:r>
                      <a:r>
                        <a:rPr lang="en-IN" baseline="30000" dirty="0"/>
                        <a:t>4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2</a:t>
                      </a:r>
                      <a:endParaRPr lang="en-US" baseline="30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3</a:t>
                      </a:r>
                      <a:r>
                        <a:rPr lang="en-IN" dirty="0"/>
                        <a:t>Y</a:t>
                      </a:r>
                      <a:endParaRPr lang="en-US" baseline="30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2</a:t>
                      </a:r>
                      <a:r>
                        <a:rPr lang="en-IN" dirty="0"/>
                        <a:t>Y</a:t>
                      </a:r>
                      <a:r>
                        <a:rPr lang="en-IN" baseline="30000" dirty="0"/>
                        <a:t>2</a:t>
                      </a:r>
                      <a:endParaRPr lang="en-US" baseline="30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2</a:t>
                      </a:r>
                      <a:r>
                        <a:rPr lang="en-IN" dirty="0"/>
                        <a:t>Y</a:t>
                      </a:r>
                      <a:r>
                        <a:rPr lang="en-IN" baseline="30000" dirty="0"/>
                        <a:t>3</a:t>
                      </a:r>
                      <a:endParaRPr lang="en-US" baseline="30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2</a:t>
                      </a:r>
                      <a:r>
                        <a:rPr lang="en-IN" dirty="0"/>
                        <a:t>Y</a:t>
                      </a:r>
                      <a:r>
                        <a:rPr lang="en-IN" baseline="30000" dirty="0"/>
                        <a:t>4</a:t>
                      </a:r>
                      <a:endParaRPr lang="en-US" baseline="30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3</a:t>
                      </a:r>
                      <a:endParaRPr lang="en-US" baseline="30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3</a:t>
                      </a:r>
                      <a:r>
                        <a:rPr lang="en-IN" dirty="0"/>
                        <a:t>Y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3</a:t>
                      </a:r>
                      <a:r>
                        <a:rPr lang="en-IN" dirty="0"/>
                        <a:t>Y</a:t>
                      </a:r>
                      <a:r>
                        <a:rPr lang="en-IN" baseline="30000" dirty="0"/>
                        <a:t>2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3</a:t>
                      </a:r>
                      <a:r>
                        <a:rPr lang="en-IN" dirty="0"/>
                        <a:t>Y</a:t>
                      </a:r>
                      <a:r>
                        <a:rPr lang="en-IN" baseline="30000" dirty="0"/>
                        <a:t>3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3</a:t>
                      </a:r>
                      <a:r>
                        <a:rPr lang="en-IN" dirty="0"/>
                        <a:t>Y</a:t>
                      </a:r>
                      <a:r>
                        <a:rPr lang="en-IN" baseline="30000" dirty="0"/>
                        <a:t>4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4</a:t>
                      </a:r>
                      <a:endParaRPr lang="en-US" baseline="30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4</a:t>
                      </a:r>
                      <a:r>
                        <a:rPr lang="en-IN" dirty="0"/>
                        <a:t>Y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4</a:t>
                      </a:r>
                      <a:r>
                        <a:rPr lang="en-IN" dirty="0"/>
                        <a:t>Y</a:t>
                      </a:r>
                      <a:r>
                        <a:rPr lang="en-IN" baseline="30000" dirty="0"/>
                        <a:t>2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4</a:t>
                      </a:r>
                      <a:r>
                        <a:rPr lang="en-IN" dirty="0"/>
                        <a:t>Y</a:t>
                      </a:r>
                      <a:r>
                        <a:rPr lang="en-IN" baseline="30000" dirty="0"/>
                        <a:t>3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4</a:t>
                      </a:r>
                      <a:r>
                        <a:rPr lang="en-IN" dirty="0"/>
                        <a:t>Y</a:t>
                      </a:r>
                      <a:r>
                        <a:rPr lang="en-IN" baseline="30000" dirty="0"/>
                        <a:t>4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03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8" grpId="0" animBg="1"/>
      <p:bldP spid="49" grpId="0" animBg="1"/>
      <p:bldP spid="50" grpId="0" animBg="1"/>
      <p:bldP spid="51" grpId="0"/>
      <p:bldP spid="62" grpId="0" animBg="1"/>
      <p:bldP spid="63" grpId="0" animBg="1"/>
      <p:bldP spid="64" grpId="0" animBg="1"/>
      <p:bldP spid="65" grpId="0" animBg="1"/>
      <p:bldP spid="6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 </a:t>
            </a:r>
            <a:r>
              <a:rPr lang="en-IN" b="1" dirty="0">
                <a:solidFill>
                  <a:srgbClr val="C00000"/>
                </a:solidFill>
              </a:rPr>
              <a:t>n x m </a:t>
            </a:r>
            <a:r>
              <a:rPr lang="en-IN" dirty="0"/>
              <a:t>matrix is said to be </a:t>
            </a:r>
            <a:r>
              <a:rPr lang="en-IN" b="1" i="1" dirty="0">
                <a:solidFill>
                  <a:srgbClr val="C00000"/>
                </a:solidFill>
              </a:rPr>
              <a:t>sparse</a:t>
            </a:r>
            <a:r>
              <a:rPr lang="en-IN" dirty="0"/>
              <a:t> if </a:t>
            </a:r>
            <a:r>
              <a:rPr lang="en-IN" b="1" dirty="0">
                <a:solidFill>
                  <a:srgbClr val="C00000"/>
                </a:solidFill>
              </a:rPr>
              <a:t>“many” </a:t>
            </a:r>
            <a:r>
              <a:rPr lang="en-IN" dirty="0"/>
              <a:t>of its elements are zero.</a:t>
            </a:r>
          </a:p>
          <a:p>
            <a:r>
              <a:rPr lang="en-IN" dirty="0"/>
              <a:t>A matrix that is not sparse is called a </a:t>
            </a:r>
            <a:r>
              <a:rPr lang="en-IN" b="1" i="1" dirty="0">
                <a:solidFill>
                  <a:srgbClr val="C00000"/>
                </a:solidFill>
              </a:rPr>
              <a:t>dense</a:t>
            </a:r>
            <a:r>
              <a:rPr lang="en-IN" b="1" i="1" dirty="0">
                <a:solidFill>
                  <a:srgbClr val="FF0000"/>
                </a:solidFill>
              </a:rPr>
              <a:t> </a:t>
            </a:r>
            <a:r>
              <a:rPr lang="en-IN" dirty="0"/>
              <a:t>matrix.</a:t>
            </a:r>
          </a:p>
          <a:p>
            <a:r>
              <a:rPr lang="en-IN" dirty="0"/>
              <a:t>We can device a simple representation scheme whose space requirement equals the size of the non-zero elements. 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4600" y="4114800"/>
          <a:ext cx="1936816" cy="15240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42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1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1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2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21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21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10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6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7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9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8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4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5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712986"/>
              </p:ext>
            </p:extLst>
          </p:nvPr>
        </p:nvGraphicFramePr>
        <p:xfrm>
          <a:off x="4845370" y="4106104"/>
          <a:ext cx="5517830" cy="12618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77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3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33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33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33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33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332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332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26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Terms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Row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Column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Value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1676400" y="2945010"/>
            <a:ext cx="3276600" cy="3063123"/>
            <a:chOff x="152400" y="2945009"/>
            <a:chExt cx="3276600" cy="3063123"/>
          </a:xfrm>
        </p:grpSpPr>
        <p:sp>
          <p:nvSpPr>
            <p:cNvPr id="5" name="Double Bracket 4"/>
            <p:cNvSpPr/>
            <p:nvPr/>
          </p:nvSpPr>
          <p:spPr>
            <a:xfrm>
              <a:off x="914400" y="4038600"/>
              <a:ext cx="2057400" cy="1752600"/>
            </a:xfrm>
            <a:prstGeom prst="bracketPair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819400" y="563880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4x8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52400" y="4172635"/>
              <a:ext cx="106680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Row - 1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2400" y="4553635"/>
              <a:ext cx="106680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Row - 2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52400" y="4934635"/>
              <a:ext cx="106680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Row - 3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2400" y="5315635"/>
              <a:ext cx="106680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Row - 4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14400" y="2971800"/>
              <a:ext cx="415498" cy="104843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Column - 1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165578" y="2971800"/>
              <a:ext cx="415498" cy="104843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Column - 2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413302" y="2956298"/>
              <a:ext cx="415498" cy="104843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Column - 3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622778" y="2963334"/>
              <a:ext cx="415498" cy="104843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Column - 4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870502" y="2956298"/>
              <a:ext cx="415498" cy="104843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Column - 5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099102" y="2960511"/>
              <a:ext cx="415498" cy="104843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Column - 6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327702" y="2956298"/>
              <a:ext cx="415498" cy="104843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Column - 7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556302" y="2945009"/>
              <a:ext cx="415498" cy="104843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Column - 8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5410200" y="5498068"/>
            <a:ext cx="472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Linear Representation of given matrix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943600" y="410389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4" name="Oval 23"/>
          <p:cNvSpPr/>
          <p:nvPr/>
        </p:nvSpPr>
        <p:spPr>
          <a:xfrm>
            <a:off x="3242332" y="4202372"/>
            <a:ext cx="232202" cy="24696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5943600" y="441268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5936166" y="470034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4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943600" y="500875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6434253" y="410416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29" name="Oval 28"/>
          <p:cNvSpPr/>
          <p:nvPr/>
        </p:nvSpPr>
        <p:spPr>
          <a:xfrm>
            <a:off x="3973666" y="4205869"/>
            <a:ext cx="232202" cy="24696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6437970" y="4419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6426819" y="470023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7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6430536" y="501113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6923049" y="410364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34" name="Oval 33"/>
          <p:cNvSpPr/>
          <p:nvPr/>
        </p:nvSpPr>
        <p:spPr>
          <a:xfrm>
            <a:off x="2761785" y="4575718"/>
            <a:ext cx="232202" cy="24696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6923049" y="442011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6926766" y="470024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6923049" y="501061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6</a:t>
            </a:r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7424853" y="410364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39" name="Oval 38"/>
          <p:cNvSpPr/>
          <p:nvPr/>
        </p:nvSpPr>
        <p:spPr>
          <a:xfrm>
            <a:off x="3490447" y="4575718"/>
            <a:ext cx="232202" cy="24696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7421136" y="441588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7421136" y="470209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5</a:t>
            </a:r>
            <a:endParaRPr lang="en-US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7421136" y="501484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7</a:t>
            </a:r>
            <a:endParaRPr lang="en-US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7917366" y="409993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4</a:t>
            </a:r>
            <a:endParaRPr lang="en-US" b="1" dirty="0"/>
          </a:p>
        </p:txBody>
      </p:sp>
      <p:sp>
        <p:nvSpPr>
          <p:cNvPr id="44" name="Oval 43"/>
          <p:cNvSpPr/>
          <p:nvPr/>
        </p:nvSpPr>
        <p:spPr>
          <a:xfrm>
            <a:off x="4207843" y="4575718"/>
            <a:ext cx="232202" cy="24696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7913649" y="441588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7913649" y="470261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8</a:t>
            </a:r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7913649" y="501484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8409879" y="410005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5</a:t>
            </a:r>
            <a:endParaRPr lang="en-US" b="1" dirty="0"/>
          </a:p>
        </p:txBody>
      </p:sp>
      <p:sp>
        <p:nvSpPr>
          <p:cNvPr id="50" name="Oval 49"/>
          <p:cNvSpPr/>
          <p:nvPr/>
        </p:nvSpPr>
        <p:spPr>
          <a:xfrm>
            <a:off x="3243147" y="4960435"/>
            <a:ext cx="232202" cy="24696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8409879" y="441588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8406162" y="470261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4</a:t>
            </a:r>
            <a:endParaRPr lang="en-US" b="1" dirty="0"/>
          </a:p>
        </p:txBody>
      </p:sp>
      <p:sp>
        <p:nvSpPr>
          <p:cNvPr id="53" name="TextBox 52"/>
          <p:cNvSpPr txBox="1"/>
          <p:nvPr/>
        </p:nvSpPr>
        <p:spPr>
          <a:xfrm>
            <a:off x="8406162" y="501484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9</a:t>
            </a:r>
            <a:endParaRPr lang="en-US" b="1" dirty="0"/>
          </a:p>
        </p:txBody>
      </p:sp>
      <p:sp>
        <p:nvSpPr>
          <p:cNvPr id="54" name="TextBox 53"/>
          <p:cNvSpPr txBox="1"/>
          <p:nvPr/>
        </p:nvSpPr>
        <p:spPr>
          <a:xfrm>
            <a:off x="8904249" y="410044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6</a:t>
            </a:r>
            <a:endParaRPr lang="en-US" b="1" dirty="0"/>
          </a:p>
        </p:txBody>
      </p:sp>
      <p:sp>
        <p:nvSpPr>
          <p:cNvPr id="55" name="Oval 54"/>
          <p:cNvSpPr/>
          <p:nvPr/>
        </p:nvSpPr>
        <p:spPr>
          <a:xfrm>
            <a:off x="3722764" y="4956938"/>
            <a:ext cx="232202" cy="24696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8900532" y="441588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57" name="TextBox 56"/>
          <p:cNvSpPr txBox="1"/>
          <p:nvPr/>
        </p:nvSpPr>
        <p:spPr>
          <a:xfrm>
            <a:off x="8900532" y="470261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6</a:t>
            </a:r>
            <a:endParaRPr lang="en-US" b="1" dirty="0"/>
          </a:p>
        </p:txBody>
      </p:sp>
      <p:sp>
        <p:nvSpPr>
          <p:cNvPr id="58" name="TextBox 57"/>
          <p:cNvSpPr txBox="1"/>
          <p:nvPr/>
        </p:nvSpPr>
        <p:spPr>
          <a:xfrm>
            <a:off x="8896815" y="501113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8</a:t>
            </a:r>
            <a:endParaRPr lang="en-US" b="1" dirty="0"/>
          </a:p>
        </p:txBody>
      </p:sp>
      <p:sp>
        <p:nvSpPr>
          <p:cNvPr id="59" name="TextBox 58"/>
          <p:cNvSpPr txBox="1"/>
          <p:nvPr/>
        </p:nvSpPr>
        <p:spPr>
          <a:xfrm>
            <a:off x="9394902" y="409993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7</a:t>
            </a:r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2761785" y="5352586"/>
            <a:ext cx="232202" cy="24696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9394902" y="441588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4</a:t>
            </a:r>
            <a:endParaRPr lang="en-US" b="1" dirty="0"/>
          </a:p>
        </p:txBody>
      </p:sp>
      <p:sp>
        <p:nvSpPr>
          <p:cNvPr id="62" name="TextBox 61"/>
          <p:cNvSpPr txBox="1"/>
          <p:nvPr/>
        </p:nvSpPr>
        <p:spPr>
          <a:xfrm>
            <a:off x="9394902" y="470209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63" name="TextBox 62"/>
          <p:cNvSpPr txBox="1"/>
          <p:nvPr/>
        </p:nvSpPr>
        <p:spPr>
          <a:xfrm>
            <a:off x="9391185" y="501804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4</a:t>
            </a:r>
            <a:endParaRPr lang="en-US" b="1" dirty="0"/>
          </a:p>
        </p:txBody>
      </p:sp>
      <p:sp>
        <p:nvSpPr>
          <p:cNvPr id="64" name="TextBox 63"/>
          <p:cNvSpPr txBox="1"/>
          <p:nvPr/>
        </p:nvSpPr>
        <p:spPr>
          <a:xfrm>
            <a:off x="9883698" y="409993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8</a:t>
            </a:r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3007228" y="5364910"/>
            <a:ext cx="232202" cy="24696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9887415" y="441216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4</a:t>
            </a:r>
            <a:endParaRPr lang="en-US" b="1" dirty="0"/>
          </a:p>
        </p:txBody>
      </p:sp>
      <p:sp>
        <p:nvSpPr>
          <p:cNvPr id="67" name="TextBox 66"/>
          <p:cNvSpPr txBox="1"/>
          <p:nvPr/>
        </p:nvSpPr>
        <p:spPr>
          <a:xfrm>
            <a:off x="9887415" y="470261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68" name="TextBox 67"/>
          <p:cNvSpPr txBox="1"/>
          <p:nvPr/>
        </p:nvSpPr>
        <p:spPr>
          <a:xfrm>
            <a:off x="9887415" y="501856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71713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5" grpId="0"/>
      <p:bldP spid="26" grpId="0"/>
      <p:bldP spid="27" grpId="0"/>
      <p:bldP spid="28" grpId="0"/>
      <p:bldP spid="29" grpId="0" animBg="1"/>
      <p:bldP spid="30" grpId="0"/>
      <p:bldP spid="31" grpId="0"/>
      <p:bldP spid="32" grpId="0"/>
      <p:bldP spid="33" grpId="0"/>
      <p:bldP spid="34" grpId="0" animBg="1"/>
      <p:bldP spid="35" grpId="0"/>
      <p:bldP spid="36" grpId="0"/>
      <p:bldP spid="37" grpId="0"/>
      <p:bldP spid="38" grpId="0"/>
      <p:bldP spid="39" grpId="0" animBg="1"/>
      <p:bldP spid="40" grpId="0"/>
      <p:bldP spid="41" grpId="0"/>
      <p:bldP spid="42" grpId="0"/>
      <p:bldP spid="43" grpId="0"/>
      <p:bldP spid="44" grpId="0" animBg="1"/>
      <p:bldP spid="45" grpId="0"/>
      <p:bldP spid="46" grpId="0"/>
      <p:bldP spid="47" grpId="0"/>
      <p:bldP spid="48" grpId="0"/>
      <p:bldP spid="50" grpId="0" animBg="1"/>
      <p:bldP spid="51" grpId="0"/>
      <p:bldP spid="52" grpId="0"/>
      <p:bldP spid="53" grpId="0"/>
      <p:bldP spid="54" grpId="0"/>
      <p:bldP spid="55" grpId="0" animBg="1"/>
      <p:bldP spid="56" grpId="0"/>
      <p:bldP spid="57" grpId="0"/>
      <p:bldP spid="58" grpId="0"/>
      <p:bldP spid="59" grpId="0"/>
      <p:bldP spid="60" grpId="0" animBg="1"/>
      <p:bldP spid="61" grpId="0"/>
      <p:bldP spid="62" grpId="0"/>
      <p:bldP spid="63" grpId="0"/>
      <p:bldP spid="64" grpId="0"/>
      <p:bldP spid="65" grpId="0" animBg="1"/>
      <p:bldP spid="66" grpId="0"/>
      <p:bldP spid="67" grpId="0"/>
      <p:bldP spid="6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construct matrix structure from liner representation we need to record.</a:t>
            </a:r>
          </a:p>
          <a:p>
            <a:pPr lvl="1"/>
            <a:r>
              <a:rPr lang="en-IN" dirty="0"/>
              <a:t>Original row and columns of each non zero entries.</a:t>
            </a:r>
          </a:p>
          <a:p>
            <a:pPr lvl="1"/>
            <a:r>
              <a:rPr lang="en-IN" dirty="0"/>
              <a:t>Number of rows and columns in the matrix.</a:t>
            </a:r>
          </a:p>
          <a:p>
            <a:r>
              <a:rPr lang="en-IN" dirty="0"/>
              <a:t>So each element of the array into which the sparse matrix is mapped need to have three fields:</a:t>
            </a:r>
          </a:p>
          <a:p>
            <a:pPr lvl="1"/>
            <a:r>
              <a:rPr lang="en-IN" b="1" dirty="0"/>
              <a:t>Row number</a:t>
            </a:r>
          </a:p>
          <a:p>
            <a:pPr lvl="1"/>
            <a:r>
              <a:rPr lang="en-IN" b="1" dirty="0"/>
              <a:t>column number </a:t>
            </a:r>
          </a:p>
          <a:p>
            <a:pPr lvl="1"/>
            <a:r>
              <a:rPr lang="en-IN" b="1" dirty="0"/>
              <a:t>value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875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635686"/>
              </p:ext>
            </p:extLst>
          </p:nvPr>
        </p:nvGraphicFramePr>
        <p:xfrm>
          <a:off x="1347671" y="1198688"/>
          <a:ext cx="3222173" cy="210312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538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2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92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92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92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46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0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6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9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6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2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0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7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8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0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4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6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10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0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6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12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6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0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6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0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3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0</a:t>
                      </a:r>
                      <a:endParaRPr lang="en-US" sz="20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0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5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092666"/>
              </p:ext>
            </p:extLst>
          </p:nvPr>
        </p:nvGraphicFramePr>
        <p:xfrm>
          <a:off x="5399314" y="1338948"/>
          <a:ext cx="990600" cy="441960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1782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Row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879276"/>
              </p:ext>
            </p:extLst>
          </p:nvPr>
        </p:nvGraphicFramePr>
        <p:xfrm>
          <a:off x="6847114" y="1338948"/>
          <a:ext cx="990600" cy="441960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1782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Column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186640"/>
              </p:ext>
            </p:extLst>
          </p:nvPr>
        </p:nvGraphicFramePr>
        <p:xfrm>
          <a:off x="8294914" y="1338948"/>
          <a:ext cx="990600" cy="4419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1782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22" name="Group 21"/>
          <p:cNvGrpSpPr/>
          <p:nvPr/>
        </p:nvGrpSpPr>
        <p:grpSpPr>
          <a:xfrm>
            <a:off x="1043768" y="707240"/>
            <a:ext cx="4059476" cy="2797338"/>
            <a:chOff x="-3132688" y="504596"/>
            <a:chExt cx="4059476" cy="2797338"/>
          </a:xfrm>
        </p:grpSpPr>
        <p:sp>
          <p:nvSpPr>
            <p:cNvPr id="5" name="Double Bracket 4"/>
            <p:cNvSpPr/>
            <p:nvPr/>
          </p:nvSpPr>
          <p:spPr>
            <a:xfrm>
              <a:off x="-2823780" y="826457"/>
              <a:ext cx="3227027" cy="2364331"/>
            </a:xfrm>
            <a:prstGeom prst="bracketPair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17188" y="293260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6x7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-3132688" y="1008971"/>
              <a:ext cx="18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FF0000"/>
                  </a:solidFill>
                </a:rPr>
                <a:t>1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-3132688" y="1350647"/>
              <a:ext cx="18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FF0000"/>
                  </a:solidFill>
                </a:rPr>
                <a:t>2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-3132688" y="1692323"/>
              <a:ext cx="18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FF0000"/>
                  </a:solidFill>
                </a:rPr>
                <a:t>3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 flipH="1">
              <a:off x="-3132688" y="2033999"/>
              <a:ext cx="18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FF0000"/>
                  </a:solidFill>
                </a:rPr>
                <a:t>4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-3132688" y="2375675"/>
              <a:ext cx="18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FF0000"/>
                  </a:solidFill>
                </a:rPr>
                <a:t>5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-3132688" y="2717352"/>
              <a:ext cx="18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FF0000"/>
                  </a:solidFill>
                </a:rPr>
                <a:t>6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-2709040" y="504596"/>
              <a:ext cx="152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FF0000"/>
                  </a:solidFill>
                </a:rPr>
                <a:t>1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-2219167" y="504596"/>
              <a:ext cx="152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FF0000"/>
                  </a:solidFill>
                </a:rPr>
                <a:t>2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-1742233" y="504596"/>
              <a:ext cx="152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FF0000"/>
                  </a:solidFill>
                </a:rPr>
                <a:t>3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-1248097" y="504596"/>
              <a:ext cx="152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FF0000"/>
                  </a:solidFill>
                </a:rPr>
                <a:t>4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-817172" y="504596"/>
              <a:ext cx="152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FF0000"/>
                  </a:solidFill>
                </a:rPr>
                <a:t>5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-386246" y="504596"/>
              <a:ext cx="152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FF0000"/>
                  </a:solidFill>
                </a:rPr>
                <a:t>6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0388" y="504596"/>
              <a:ext cx="152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FF0000"/>
                  </a:solidFill>
                </a:rPr>
                <a:t>7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099185" y="3641350"/>
            <a:ext cx="3581400" cy="1351020"/>
            <a:chOff x="0" y="3124200"/>
            <a:chExt cx="3581400" cy="1447800"/>
          </a:xfrm>
        </p:grpSpPr>
        <p:sp>
          <p:nvSpPr>
            <p:cNvPr id="25" name="Rectangle 24"/>
            <p:cNvSpPr/>
            <p:nvPr/>
          </p:nvSpPr>
          <p:spPr>
            <a:xfrm>
              <a:off x="152400" y="3124200"/>
              <a:ext cx="3352800" cy="144780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9050">
                  <a:solidFill>
                    <a:schemeClr val="tx1"/>
                  </a:solidFill>
                </a:ln>
                <a:solidFill>
                  <a:schemeClr val="bg2">
                    <a:lumMod val="95000"/>
                  </a:schemeClr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0" y="3133383"/>
              <a:ext cx="3581400" cy="6926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/>
                <a:t>Memory Space required to store </a:t>
              </a:r>
            </a:p>
            <a:p>
              <a:pPr algn="ctr"/>
              <a:r>
                <a:rPr lang="en-IN" dirty="0"/>
                <a:t>6x7 matrix</a:t>
              </a:r>
              <a:endParaRPr lang="en-US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81000" y="3971583"/>
              <a:ext cx="2819400" cy="3957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/>
                <a:t>42 x 2  = 84 bytes</a:t>
              </a:r>
              <a:endParaRPr lang="en-US" b="1" dirty="0"/>
            </a:p>
          </p:txBody>
        </p:sp>
      </p:grpSp>
      <p:cxnSp>
        <p:nvCxnSpPr>
          <p:cNvPr id="27" name="Straight Arrow Connector 26"/>
          <p:cNvCxnSpPr>
            <a:stCxn id="25" idx="0"/>
          </p:cNvCxnSpPr>
          <p:nvPr/>
        </p:nvCxnSpPr>
        <p:spPr>
          <a:xfrm flipV="1">
            <a:off x="2927985" y="3336551"/>
            <a:ext cx="0" cy="304799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1116348" y="5098642"/>
            <a:ext cx="3581400" cy="1288394"/>
            <a:chOff x="457200" y="4909454"/>
            <a:chExt cx="3581400" cy="1447800"/>
          </a:xfrm>
        </p:grpSpPr>
        <p:sp>
          <p:nvSpPr>
            <p:cNvPr id="28" name="Rectangle 27"/>
            <p:cNvSpPr/>
            <p:nvPr/>
          </p:nvSpPr>
          <p:spPr>
            <a:xfrm>
              <a:off x="609600" y="4909454"/>
              <a:ext cx="3352800" cy="1447800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57200" y="5025123"/>
              <a:ext cx="3581400" cy="726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/>
                <a:t>Memory Space required to store </a:t>
              </a:r>
            </a:p>
            <a:p>
              <a:pPr algn="ctr"/>
              <a:r>
                <a:rPr lang="en-IN" dirty="0"/>
                <a:t>Linear Representation</a:t>
              </a:r>
              <a:endParaRPr lang="en-US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16428" y="5747654"/>
              <a:ext cx="2819400" cy="415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/>
                <a:t>30 x 2  = 60 bytes</a:t>
              </a:r>
              <a:endParaRPr lang="en-US" b="1" dirty="0"/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5780315" y="914400"/>
            <a:ext cx="3179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Linear representation of Matrix</a:t>
            </a:r>
            <a:endParaRPr lang="en-US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391490" y="1879578"/>
            <a:ext cx="7540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</a:rPr>
              <a:t>A =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38" name="Oval 37"/>
          <p:cNvSpPr/>
          <p:nvPr/>
        </p:nvSpPr>
        <p:spPr>
          <a:xfrm>
            <a:off x="2426802" y="1217326"/>
            <a:ext cx="324000" cy="324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5399314" y="17526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6847114" y="17526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8294914" y="17526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6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3324652" y="1217326"/>
            <a:ext cx="324000" cy="324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5399314" y="2156604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6847114" y="2156604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5</a:t>
            </a:r>
            <a:endParaRPr lang="en-US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8294914" y="2145268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9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1451924" y="1555992"/>
            <a:ext cx="324000" cy="324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5399314" y="2555023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6847114" y="2556294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8294914" y="2556294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2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50" name="Oval 49"/>
          <p:cNvSpPr/>
          <p:nvPr/>
        </p:nvSpPr>
        <p:spPr>
          <a:xfrm>
            <a:off x="2899544" y="1555992"/>
            <a:ext cx="324000" cy="324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5399314" y="2954713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6847114" y="2948962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4</a:t>
            </a:r>
            <a:endParaRPr lang="en-US" b="1" dirty="0"/>
          </a:p>
        </p:txBody>
      </p:sp>
      <p:sp>
        <p:nvSpPr>
          <p:cNvPr id="53" name="TextBox 52"/>
          <p:cNvSpPr txBox="1"/>
          <p:nvPr/>
        </p:nvSpPr>
        <p:spPr>
          <a:xfrm>
            <a:off x="8294914" y="2948962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7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54" name="Oval 53"/>
          <p:cNvSpPr/>
          <p:nvPr/>
        </p:nvSpPr>
        <p:spPr>
          <a:xfrm>
            <a:off x="3324652" y="1555992"/>
            <a:ext cx="324000" cy="324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5399314" y="3364468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6847114" y="3364468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5</a:t>
            </a:r>
            <a:endParaRPr lang="en-US" b="1" dirty="0"/>
          </a:p>
        </p:txBody>
      </p:sp>
      <p:sp>
        <p:nvSpPr>
          <p:cNvPr id="57" name="TextBox 56"/>
          <p:cNvSpPr txBox="1"/>
          <p:nvPr/>
        </p:nvSpPr>
        <p:spPr>
          <a:xfrm>
            <a:off x="8294914" y="3364468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8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58" name="Oval 57"/>
          <p:cNvSpPr/>
          <p:nvPr/>
        </p:nvSpPr>
        <p:spPr>
          <a:xfrm>
            <a:off x="4184898" y="1555992"/>
            <a:ext cx="324000" cy="324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5399314" y="3768472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60" name="TextBox 59"/>
          <p:cNvSpPr txBox="1"/>
          <p:nvPr/>
        </p:nvSpPr>
        <p:spPr>
          <a:xfrm>
            <a:off x="6847114" y="3768472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7</a:t>
            </a:r>
            <a:endParaRPr lang="en-US" b="1" dirty="0"/>
          </a:p>
        </p:txBody>
      </p:sp>
      <p:sp>
        <p:nvSpPr>
          <p:cNvPr id="61" name="TextBox 60"/>
          <p:cNvSpPr txBox="1"/>
          <p:nvPr/>
        </p:nvSpPr>
        <p:spPr>
          <a:xfrm>
            <a:off x="8294914" y="3762721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4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2" name="Oval 61"/>
          <p:cNvSpPr/>
          <p:nvPr/>
        </p:nvSpPr>
        <p:spPr>
          <a:xfrm>
            <a:off x="1451924" y="1933136"/>
            <a:ext cx="324000" cy="324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5399314" y="4168162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64" name="TextBox 63"/>
          <p:cNvSpPr txBox="1"/>
          <p:nvPr/>
        </p:nvSpPr>
        <p:spPr>
          <a:xfrm>
            <a:off x="6847114" y="4168162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65" name="TextBox 64"/>
          <p:cNvSpPr txBox="1"/>
          <p:nvPr/>
        </p:nvSpPr>
        <p:spPr>
          <a:xfrm>
            <a:off x="8294914" y="415666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10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6" name="Oval 65"/>
          <p:cNvSpPr/>
          <p:nvPr/>
        </p:nvSpPr>
        <p:spPr>
          <a:xfrm>
            <a:off x="2426802" y="2260651"/>
            <a:ext cx="324000" cy="324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5399314" y="4560664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4</a:t>
            </a:r>
            <a:endParaRPr lang="en-US" b="1" dirty="0"/>
          </a:p>
        </p:txBody>
      </p:sp>
      <p:sp>
        <p:nvSpPr>
          <p:cNvPr id="68" name="TextBox 67"/>
          <p:cNvSpPr txBox="1"/>
          <p:nvPr/>
        </p:nvSpPr>
        <p:spPr>
          <a:xfrm>
            <a:off x="6847114" y="4577917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69" name="TextBox 68"/>
          <p:cNvSpPr txBox="1"/>
          <p:nvPr/>
        </p:nvSpPr>
        <p:spPr>
          <a:xfrm>
            <a:off x="8294914" y="4566415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12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70" name="Oval 69"/>
          <p:cNvSpPr/>
          <p:nvPr/>
        </p:nvSpPr>
        <p:spPr>
          <a:xfrm>
            <a:off x="2899544" y="2935123"/>
            <a:ext cx="324000" cy="324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5399314" y="4964668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6</a:t>
            </a:r>
            <a:endParaRPr lang="en-US" b="1" dirty="0"/>
          </a:p>
        </p:txBody>
      </p:sp>
      <p:sp>
        <p:nvSpPr>
          <p:cNvPr id="72" name="TextBox 71"/>
          <p:cNvSpPr txBox="1"/>
          <p:nvPr/>
        </p:nvSpPr>
        <p:spPr>
          <a:xfrm>
            <a:off x="6847114" y="4964668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4</a:t>
            </a:r>
            <a:endParaRPr lang="en-US" b="1" dirty="0"/>
          </a:p>
        </p:txBody>
      </p:sp>
      <p:sp>
        <p:nvSpPr>
          <p:cNvPr id="73" name="TextBox 72"/>
          <p:cNvSpPr txBox="1"/>
          <p:nvPr/>
        </p:nvSpPr>
        <p:spPr>
          <a:xfrm>
            <a:off x="8294914" y="4964668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3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74" name="Oval 73"/>
          <p:cNvSpPr/>
          <p:nvPr/>
        </p:nvSpPr>
        <p:spPr>
          <a:xfrm>
            <a:off x="4184898" y="2935123"/>
            <a:ext cx="324000" cy="324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/>
          <p:cNvSpPr txBox="1"/>
          <p:nvPr/>
        </p:nvSpPr>
        <p:spPr>
          <a:xfrm>
            <a:off x="5399314" y="5368672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6</a:t>
            </a:r>
            <a:endParaRPr lang="en-US" b="1" dirty="0"/>
          </a:p>
        </p:txBody>
      </p:sp>
      <p:sp>
        <p:nvSpPr>
          <p:cNvPr id="76" name="TextBox 75"/>
          <p:cNvSpPr txBox="1"/>
          <p:nvPr/>
        </p:nvSpPr>
        <p:spPr>
          <a:xfrm>
            <a:off x="6847114" y="5364192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7</a:t>
            </a:r>
            <a:endParaRPr lang="en-US" b="1" dirty="0"/>
          </a:p>
        </p:txBody>
      </p:sp>
      <p:sp>
        <p:nvSpPr>
          <p:cNvPr id="77" name="TextBox 76"/>
          <p:cNvSpPr txBox="1"/>
          <p:nvPr/>
        </p:nvSpPr>
        <p:spPr>
          <a:xfrm>
            <a:off x="8294914" y="5362921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5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5399314" y="5886290"/>
            <a:ext cx="3886200" cy="50074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Space Saved = 84 – 60 = 24 bytes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161541C-08DC-D4C5-6E71-57D9549810C9}"/>
              </a:ext>
            </a:extLst>
          </p:cNvPr>
          <p:cNvCxnSpPr>
            <a:cxnSpLocks/>
          </p:cNvCxnSpPr>
          <p:nvPr/>
        </p:nvCxnSpPr>
        <p:spPr>
          <a:xfrm>
            <a:off x="3080759" y="4801421"/>
            <a:ext cx="4120141" cy="1275529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63BDD29-FEFC-B224-38A0-3634E3B8D664}"/>
              </a:ext>
            </a:extLst>
          </p:cNvPr>
          <p:cNvCxnSpPr>
            <a:cxnSpLocks/>
          </p:cNvCxnSpPr>
          <p:nvPr/>
        </p:nvCxnSpPr>
        <p:spPr>
          <a:xfrm>
            <a:off x="3080759" y="6150760"/>
            <a:ext cx="4653541" cy="145265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3619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 animBg="1"/>
      <p:bldP spid="39" grpId="0"/>
      <p:bldP spid="40" grpId="0"/>
      <p:bldP spid="41" grpId="0"/>
      <p:bldP spid="42" grpId="0" animBg="1"/>
      <p:bldP spid="43" grpId="0"/>
      <p:bldP spid="44" grpId="0"/>
      <p:bldP spid="45" grpId="0"/>
      <p:bldP spid="46" grpId="0" animBg="1"/>
      <p:bldP spid="47" grpId="0"/>
      <p:bldP spid="48" grpId="0"/>
      <p:bldP spid="49" grpId="0"/>
      <p:bldP spid="50" grpId="0" animBg="1"/>
      <p:bldP spid="51" grpId="0"/>
      <p:bldP spid="52" grpId="0"/>
      <p:bldP spid="53" grpId="0"/>
      <p:bldP spid="54" grpId="0" animBg="1"/>
      <p:bldP spid="55" grpId="0"/>
      <p:bldP spid="56" grpId="0"/>
      <p:bldP spid="57" grpId="0"/>
      <p:bldP spid="58" grpId="0" animBg="1"/>
      <p:bldP spid="59" grpId="0"/>
      <p:bldP spid="60" grpId="0"/>
      <p:bldP spid="61" grpId="0"/>
      <p:bldP spid="62" grpId="0" animBg="1"/>
      <p:bldP spid="63" grpId="0"/>
      <p:bldP spid="64" grpId="0"/>
      <p:bldP spid="65" grpId="0"/>
      <p:bldP spid="66" grpId="0" animBg="1"/>
      <p:bldP spid="67" grpId="0"/>
      <p:bldP spid="68" grpId="0"/>
      <p:bldP spid="69" grpId="0"/>
      <p:bldP spid="70" grpId="0" animBg="1"/>
      <p:bldP spid="71" grpId="0"/>
      <p:bldP spid="72" grpId="0"/>
      <p:bldP spid="73" grpId="0"/>
      <p:bldP spid="74" grpId="0" animBg="1"/>
      <p:bldP spid="75" grpId="0"/>
      <p:bldP spid="76" grpId="0"/>
      <p:bldP spid="77" grpId="0"/>
      <p:bldP spid="7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Frequently asked questions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Examples on Address Calculation of 2-D Array using Row/Column major order.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9230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pradyuman.jadeja@darshan.ac.in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+91 9879461848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Pradyumansinh</a:t>
            </a:r>
            <a:r>
              <a:rPr lang="en-IN" dirty="0"/>
              <a:t> </a:t>
            </a:r>
            <a:r>
              <a:rPr lang="en-IN" dirty="0" err="1"/>
              <a:t>Jadeja</a:t>
            </a:r>
            <a:endParaRPr lang="en-IN" dirty="0"/>
          </a:p>
        </p:txBody>
      </p:sp>
      <p:sp>
        <p:nvSpPr>
          <p:cNvPr id="9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 Structures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(DS)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#2301CS301</a:t>
            </a: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995231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eptPPT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2728</TotalTime>
  <Words>1695</Words>
  <Application>Microsoft Office PowerPoint</Application>
  <PresentationFormat>Widescreen</PresentationFormat>
  <Paragraphs>535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6" baseType="lpstr">
      <vt:lpstr>Arial</vt:lpstr>
      <vt:lpstr>Roboto Condensed Light</vt:lpstr>
      <vt:lpstr>Segoe UI Black</vt:lpstr>
      <vt:lpstr>Wingdings 3</vt:lpstr>
      <vt:lpstr>Shruti</vt:lpstr>
      <vt:lpstr>Wingdings 2</vt:lpstr>
      <vt:lpstr>Open Sans Semibold</vt:lpstr>
      <vt:lpstr>Times New Roman</vt:lpstr>
      <vt:lpstr>Wingdings</vt:lpstr>
      <vt:lpstr>Calibri</vt:lpstr>
      <vt:lpstr>Open Sans</vt:lpstr>
      <vt:lpstr>Roboto Condensed</vt:lpstr>
      <vt:lpstr>Consolas</vt:lpstr>
      <vt:lpstr>Office Theme</vt:lpstr>
      <vt:lpstr>Unit-1 (Part 2)  Array Linear Data Structure</vt:lpstr>
      <vt:lpstr>PowerPoint Presentation</vt:lpstr>
      <vt:lpstr>One Dimensional Array</vt:lpstr>
      <vt:lpstr>One Dimensional Array</vt:lpstr>
      <vt:lpstr>EXAMPLE : Address calculation of 1-D Array </vt:lpstr>
      <vt:lpstr>Two Dimensional Array</vt:lpstr>
      <vt:lpstr>Two Dimensional Array</vt:lpstr>
      <vt:lpstr>Two Dimensional Array</vt:lpstr>
      <vt:lpstr>Address calculation of 2-D Array</vt:lpstr>
      <vt:lpstr>Row major order matrix</vt:lpstr>
      <vt:lpstr>Column major order matrix</vt:lpstr>
      <vt:lpstr>EXAMPLE : Address calculation of 2-D Array</vt:lpstr>
      <vt:lpstr>EXAMPLE : Address calculation of 2-D Array</vt:lpstr>
      <vt:lpstr>EXAMPLE : Address calculation of 2-D Array</vt:lpstr>
      <vt:lpstr>Applications of Array</vt:lpstr>
      <vt:lpstr>Matrix Representation of Polynomial</vt:lpstr>
      <vt:lpstr>Matrix Representation of Polynomial </vt:lpstr>
      <vt:lpstr>Sparse Matrix</vt:lpstr>
      <vt:lpstr>Sparse Matrix</vt:lpstr>
      <vt:lpstr>Sparse Matrix</vt:lpstr>
      <vt:lpstr>Frequently asked questions 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 - Linear Data Structure</dc:title>
  <dc:creator>ADMIN</dc:creator>
  <cp:keywords>Array, Data Structure, Darshan University, Dr. Pradyumansinh Jadeja</cp:keywords>
  <cp:lastModifiedBy>DELL</cp:lastModifiedBy>
  <cp:revision>257</cp:revision>
  <dcterms:created xsi:type="dcterms:W3CDTF">2020-05-01T05:09:15Z</dcterms:created>
  <dcterms:modified xsi:type="dcterms:W3CDTF">2026-07-27T05:52:40Z</dcterms:modified>
</cp:coreProperties>
</file>