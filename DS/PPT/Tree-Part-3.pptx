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4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38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slides/slide43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23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21.xml" ContentType="application/vnd.openxmlformats-officedocument.presentationml.notesSlide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32.xml" ContentType="application/vnd.openxmlformats-officedocument.presentationml.slide+xml"/>
  <Override PartName="/ppt/slideLayouts/slideLayout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s/slide8.xml" ContentType="application/vnd.openxmlformats-officedocument.presentationml.slide+xml"/>
  <Override PartName="/ppt/notesSlides/notesSlide37.xml" ContentType="application/vnd.openxmlformats-officedocument.presentationml.notesSlide+xml"/>
  <Override PartName="/ppt/notesSlides/notesSlide7.xml" ContentType="application/vnd.openxmlformats-officedocument.presentationml.notesSlide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s/slide7.xml" ContentType="application/vnd.openxmlformats-officedocument.presentationml.slide+xml"/>
  <Override PartName="/ppt/slides/slide41.xml" ContentType="application/vnd.openxmlformats-officedocument.presentationml.slide+xml"/>
  <Override PartName="/ppt/notesSlides/notesSlide31.xml" ContentType="application/vnd.openxmlformats-officedocument.presentationml.notesSlide+xml"/>
  <Override PartName="/ppt/slideLayouts/slideLayout1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30.xml" ContentType="application/vnd.openxmlformats-officedocument.presentationml.slid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28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29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slideLayouts/slideLayout16.xml" ContentType="application/vnd.openxmlformats-officedocument.presentationml.slideLayout+xml"/>
  <Override PartName="/ppt/slides/slide19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0.xml" ContentType="application/vnd.openxmlformats-officedocument.presentationml.slide+xml"/>
  <Override PartName="/ppt/slides/slide28.xml" ContentType="application/vnd.openxmlformats-officedocument.presentationml.slide+xml"/>
  <Override PartName="/ppt/notesSlides/notesSlide27.xml" ContentType="application/vnd.openxmlformats-officedocument.presentationml.notesSlide+xml"/>
  <Override PartName="/ppt/presProps.xml" ContentType="application/vnd.openxmlformats-officedocument.presentationml.presProps+xml"/>
  <Override PartName="/ppt/slides/slide21.xml" ContentType="application/vnd.openxmlformats-officedocument.presentationml.slide+xml"/>
  <Override PartName="/ppt/notesSlides/notesSlide10.xml" ContentType="application/vnd.openxmlformats-officedocument.presentationml.notesSlide+xml"/>
  <Override PartName="/ppt/slideLayouts/slideLayout24.xml" ContentType="application/vnd.openxmlformats-officedocument.presentationml.slideLayout+xml"/>
  <Override PartName="/ppt/slides/slide23.xml" ContentType="application/vnd.openxmlformats-officedocument.presentationml.slide+xml"/>
  <Override PartName="/ppt/slides/slide1.xml" ContentType="application/vnd.openxmlformats-officedocument.presentationml.slide+xml"/>
  <Override PartName="/ppt/slides/slide25.xml" ContentType="application/vnd.openxmlformats-officedocument.presentationml.slide+xml"/>
  <Override PartName="/ppt/notesSlides/notesSlide42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6.xml" ContentType="application/vnd.openxmlformats-officedocument.presentationml.slide+xml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24.xml" ContentType="application/vnd.openxmlformats-officedocument.presentationml.slide+xml"/>
  <Override PartName="/ppt/slides/slide40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9.xml" ContentType="application/vnd.openxmlformats-officedocument.presentationml.slide+xml"/>
  <Override PartName="/ppt/presentation.xml" ContentType="application/vnd.openxmlformats-officedocument.presentationml.presentation.main+xml"/>
  <Override PartName="/ppt/slides/slide4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4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8" d="100"/>
          <a:sy n="68" d="100"/>
        </p:scale>
        <p:origin x="894" y="66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 /><Relationship Id="rId49" Type="http://schemas.openxmlformats.org/officeDocument/2006/relationships/tableStyles" Target="tableStyles.xml" /><Relationship Id="rId5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461257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61155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648E3F3-8B31-41D2-AA9B-9796555DB866}" type="datetimeFigureOut">
              <a:rPr lang="en-US"/>
              <a:t>8/14/2024</a:t>
            </a:fld>
            <a:endParaRPr lang="en-US"/>
          </a:p>
        </p:txBody>
      </p:sp>
      <p:sp>
        <p:nvSpPr>
          <p:cNvPr id="61870860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3709681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8597815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6692573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C79BDEF-6165-4E72-B1A6-6E8034CEC248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 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 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 ?>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4ACC1A-2C03-DED9-55DB-EDB77189E0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7A4388-18DC-B858-1204-4AE28C1EEAF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DE572F-3A4E-9671-21F6-9BC1967B477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1B870C-9227-A728-534A-F2B9813F46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1079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00845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69626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7A3D7D-4DD0-4519-9573-665089B66871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5B91CA-6FF1-DEB2-FA76-8C4842CB2F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D4CB8C-E0D8-4473-6A31-DD3BE0C1CE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D3A801-5649-EC93-1FC6-6BF29EC8CB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263726-7D24-B0F0-C697-8A932AAD39D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166417-CBA4-3140-3012-ED0F5D66B7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29B7C1-D507-91B0-EF99-0556210915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18CB56-6D2B-2071-AB60-34A4CD10543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348A81-9729-D8DF-3166-268B0B96EC1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A12E0C-37DC-F4EB-0C28-11B79DE6BF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F02695-46B3-ED3A-BAA2-0F67837495C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E32B1-4CB1-5FB3-B8D2-A6EA4BF98C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6E57AA-57ED-37F8-1A62-791FCF8CFC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D77E69-E0D4-D629-F829-6DB7C0AED9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FDE80-C8CF-C661-2CED-EEDB5430F94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E9BCBC-81C3-05F0-F5A7-01312F91BAF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043A9E-760D-300D-4803-1DAACF22527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818638-620C-4903-FE0E-D556BA9299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F4E105-0936-1897-B643-955880D29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223B9-7E24-C7E6-CAE9-B4D4F38F73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192DD4-F84D-40B8-A47C-F6D71E41FF9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409CB9-78F7-DC47-C2A1-D911FCCD18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A591E5-93DF-E948-3C4A-090A9768FC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A476B-049D-453A-65AC-220DC82A93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72B603-2CB4-CA42-DD04-3E5DCDC1C1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B15083-929B-7859-3A87-3B74A6E75B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115799-0171-AC77-1DFC-9C0D6374A9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CF4820-47EE-9414-8180-EC65A240607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804D56-EE42-8A62-813C-5F4866C23E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BC51B4-943F-62F1-56BD-BAF39F6EC8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C0CC8-498F-8BEB-4EC4-4A1D481B63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C00137-9EA6-FA8E-6FE8-871B1582D5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0968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60265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64644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7A3D7D-4DD0-4519-9573-665089B66871}" type="slidenum">
              <a:rPr lang="en-US"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E3DB2A-4582-027F-0424-6A336C057E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E92C01-D67B-07D5-BA5F-FE567FB406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790032-014B-EF85-9DD8-7DE2DECBA23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D18944-71A1-6B92-DD26-BF05E2CDF2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0592D7-1940-BF30-228D-816CB472B16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D834D5-B585-FD52-1C51-E1D4B69704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jp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jpg"/><Relationship Id="rId9" Type="http://schemas.openxmlformats.org/officeDocument/2006/relationships/image" Target="../media/image9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2.png"/><Relationship Id="rId8" Type="http://schemas.openxmlformats.org/officeDocument/2006/relationships/image" Target="../media/image5.png"/><Relationship Id="rId9" Type="http://schemas.openxmlformats.org/officeDocument/2006/relationships/image" Target="../media/image7.jp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2.png"/><Relationship Id="rId8" Type="http://schemas.openxmlformats.org/officeDocument/2006/relationships/image" Target="../media/image5.png"/><Relationship Id="rId9" Type="http://schemas.openxmlformats.org/officeDocument/2006/relationships/image" Target="../media/image7.jp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2.png"/><Relationship Id="rId8" Type="http://schemas.openxmlformats.org/officeDocument/2006/relationships/image" Target="../media/image5.png"/><Relationship Id="rId9" Type="http://schemas.openxmlformats.org/officeDocument/2006/relationships/image" Target="../media/image7.jp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2.png"/><Relationship Id="rId8" Type="http://schemas.openxmlformats.org/officeDocument/2006/relationships/image" Target="../media/image5.png"/><Relationship Id="rId9" Type="http://schemas.openxmlformats.org/officeDocument/2006/relationships/image" Target="../media/image7.jp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2.png"/><Relationship Id="rId8" Type="http://schemas.openxmlformats.org/officeDocument/2006/relationships/image" Target="../media/image5.png"/><Relationship Id="rId9" Type="http://schemas.openxmlformats.org/officeDocument/2006/relationships/image" Target="../media/image7.jp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2.png"/><Relationship Id="rId8" Type="http://schemas.openxmlformats.org/officeDocument/2006/relationships/image" Target="../media/image5.png"/><Relationship Id="rId9" Type="http://schemas.openxmlformats.org/officeDocument/2006/relationships/image" Target="../media/image7.jpg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2.png"/><Relationship Id="rId8" Type="http://schemas.openxmlformats.org/officeDocument/2006/relationships/image" Target="../media/image5.png"/><Relationship Id="rId9" Type="http://schemas.openxmlformats.org/officeDocument/2006/relationships/image" Target="../media/image7.jpg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2.png"/><Relationship Id="rId8" Type="http://schemas.openxmlformats.org/officeDocument/2006/relationships/image" Target="../media/image5.png"/><Relationship Id="rId9" Type="http://schemas.openxmlformats.org/officeDocument/2006/relationships/image" Target="../media/image7.jpg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2.png"/><Relationship Id="rId8" Type="http://schemas.openxmlformats.org/officeDocument/2006/relationships/image" Target="../media/image5.png"/><Relationship Id="rId9" Type="http://schemas.openxmlformats.org/officeDocument/2006/relationships/image" Target="../media/image7.jpg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2.png"/><Relationship Id="rId8" Type="http://schemas.openxmlformats.org/officeDocument/2006/relationships/image" Target="../media/image5.png"/><Relationship Id="rId9" Type="http://schemas.openxmlformats.org/officeDocument/2006/relationships/image" Target="../media/image14.jpg"/><Relationship Id="rId10" Type="http://schemas.openxmlformats.org/officeDocument/2006/relationships/image" Target="../media/image7.jpg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2.png"/><Relationship Id="rId8" Type="http://schemas.openxmlformats.org/officeDocument/2006/relationships/image" Target="../media/image5.png"/><Relationship Id="rId9" Type="http://schemas.openxmlformats.org/officeDocument/2006/relationships/image" Target="../media/image7.jpg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Slide - Default Colo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98789671" name="Picture 24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0" t="18750" r="0" b="2500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6911056" name="TextBox 2"/>
          <p:cNvSpPr txBox="1"/>
          <p:nvPr userDrawn="1"/>
        </p:nvSpPr>
        <p:spPr bwMode="auto"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/>
              <a:t>Darshan</a:t>
            </a:r>
            <a:r>
              <a:rPr lang="en-US" sz="1600"/>
              <a:t> University, Rajkot</a:t>
            </a:r>
            <a:endParaRPr/>
          </a:p>
        </p:txBody>
      </p:sp>
      <p:sp>
        <p:nvSpPr>
          <p:cNvPr id="445968934" name="Freeform 13"/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 fill="norm" stroke="1" extrusionOk="0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17979053" name="Freeform 17"/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 fill="norm" stroke="1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pic>
        <p:nvPicPr>
          <p:cNvPr id="620413205" name="Picture 31"/>
          <p:cNvPicPr>
            <a:picLocks noChangeAspect="1"/>
          </p:cNvPicPr>
          <p:nvPr userDrawn="1"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1844865900" name="Straight Connector 44"/>
          <p:cNvCxnSpPr/>
          <p:nvPr/>
        </p:nvCxnSpPr>
        <p:spPr bwMode="auto"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0606283" name="Title 1"/>
          <p:cNvSpPr>
            <a:spLocks noGrp="1"/>
          </p:cNvSpPr>
          <p:nvPr userDrawn="1">
            <p:ph type="ctrTitle"/>
          </p:nvPr>
        </p:nvSpPr>
        <p:spPr bwMode="auto"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Segoe UI Black"/>
                <a:cs typeface="+mn-cs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pic>
        <p:nvPicPr>
          <p:cNvPr id="2003505101" name="Picture 25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1446681417" name="Picture 26"/>
          <p:cNvPicPr>
            <a:picLocks noChangeAspect="1"/>
          </p:cNvPicPr>
          <p:nvPr userDrawn="1"/>
        </p:nvPicPr>
        <p:blipFill rotWithShape="1">
          <a:blip r:embed="rId5"/>
          <a:stretch/>
        </p:blipFill>
        <p:spPr bwMode="auto"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1889853402" name="Text Placeholder 2"/>
          <p:cNvSpPr>
            <a:spLocks noGrp="1"/>
          </p:cNvSpPr>
          <p:nvPr userDrawn="1">
            <p:ph type="body" sz="quarter" idx="11" hasCustomPrompt="1"/>
          </p:nvPr>
        </p:nvSpPr>
        <p:spPr bwMode="auto"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 b="0">
                <a:solidFill>
                  <a:schemeClr val="tx1"/>
                </a:solidFill>
                <a:latin typeface="Roboto Condensed Light"/>
                <a:ea typeface="Roboto Condensed Light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Email Address</a:t>
            </a:r>
            <a:endParaRPr/>
          </a:p>
        </p:txBody>
      </p:sp>
      <p:sp>
        <p:nvSpPr>
          <p:cNvPr id="296510361" name="Text Placeholder 2"/>
          <p:cNvSpPr>
            <a:spLocks noGrp="1"/>
          </p:cNvSpPr>
          <p:nvPr userDrawn="1">
            <p:ph type="body" sz="quarter" idx="12" hasCustomPrompt="1"/>
          </p:nvPr>
        </p:nvSpPr>
        <p:spPr bwMode="auto"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 b="0">
                <a:solidFill>
                  <a:schemeClr val="tx1"/>
                </a:solidFill>
                <a:latin typeface="Roboto Condensed Light"/>
                <a:ea typeface="Roboto Condensed Light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Phone No.</a:t>
            </a:r>
            <a:endParaRPr/>
          </a:p>
        </p:txBody>
      </p:sp>
      <p:sp>
        <p:nvSpPr>
          <p:cNvPr id="510946415" name="Text Placeholder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here Department Name</a:t>
            </a:r>
            <a:endParaRPr/>
          </a:p>
        </p:txBody>
      </p:sp>
      <p:sp>
        <p:nvSpPr>
          <p:cNvPr id="2043334760" name="Text Placeholder 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837677" y="5273332"/>
            <a:ext cx="558103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800" b="1">
                <a:gradFill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</a:gra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here your Author Name (i.e. Prof. Jay R </a:t>
            </a:r>
            <a:r>
              <a:rPr lang="en-US"/>
              <a:t>Dhamsaniya</a:t>
            </a:r>
            <a:r>
              <a:rPr lang="en-US"/>
              <a:t>)</a:t>
            </a:r>
            <a:endParaRPr/>
          </a:p>
        </p:txBody>
      </p:sp>
      <p:pic>
        <p:nvPicPr>
          <p:cNvPr id="206101622" name="Picture 54"/>
          <p:cNvPicPr>
            <a:picLocks noChangeAspect="1"/>
          </p:cNvPicPr>
          <p:nvPr userDrawn="1"/>
        </p:nvPicPr>
        <p:blipFill rotWithShape="1">
          <a:blip r:embed="rId6"/>
          <a:srcRect l="62023" t="18062" r="2730" b="17724"/>
          <a:stretch/>
        </p:blipFill>
        <p:spPr bwMode="auto"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915312450" name="Text Placeholder 2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2581756" y="20384"/>
            <a:ext cx="4646357" cy="734653"/>
          </a:xfrm>
        </p:spPr>
        <p:txBody>
          <a:bodyPr anchor="ctr">
            <a:no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0"/>
              </a:spcBef>
              <a:buNone/>
              <a:defRPr lang="en-US" sz="1800" b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Subject Name (Short Name)</a:t>
            </a:r>
            <a:endParaRPr/>
          </a:p>
          <a:p>
            <a:pPr lvl="0">
              <a:defRPr/>
            </a:pPr>
            <a:r>
              <a:rPr lang="en-US"/>
              <a:t># Subject Code</a:t>
            </a:r>
            <a:endParaRPr/>
          </a:p>
        </p:txBody>
      </p:sp>
      <p:pic>
        <p:nvPicPr>
          <p:cNvPr id="268007325" name="Picture 19"/>
          <p:cNvPicPr>
            <a:picLocks noChangeAspect="1"/>
          </p:cNvPicPr>
          <p:nvPr userDrawn="1"/>
        </p:nvPicPr>
        <p:blipFill rotWithShape="1">
          <a:blip r:embed="rId7"/>
          <a:srcRect l="144383" t="-16142" r="-144383" b="22103"/>
          <a:stretch/>
        </p:blipFill>
        <p:spPr bwMode="auto"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1193627057" name="Picture 35" descr="User icon Royalty Free Vector Image - VectorStock"/>
          <p:cNvPicPr>
            <a:picLocks noChangeAspect="1" noChangeArrowheads="1"/>
          </p:cNvPicPr>
          <p:nvPr userDrawn="1"/>
        </p:nvPicPr>
        <p:blipFill rotWithShape="1">
          <a:blip r:embed="rId8">
            <a:lum bright="70000" contrast="-70000"/>
          </a:blip>
          <a:srcRect l="26030" t="21389" r="26030" b="34222"/>
          <a:stretch/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 fill="norm" stroke="1" extrusionOk="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</p:pic>
      <p:sp>
        <p:nvSpPr>
          <p:cNvPr id="1330209797" name="Picture Placeholder 36"/>
          <p:cNvSpPr>
            <a:spLocks noGrp="1"/>
          </p:cNvSpPr>
          <p:nvPr>
            <p:ph type="pic" sz="quarter" idx="10"/>
          </p:nvPr>
        </p:nvSpPr>
        <p:spPr bwMode="auto"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 fill="norm" stroke="1" extrusionOk="0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330861924" name="Picture 4" descr="http://btechsmartclass.com/DS/images/Tree.png"/>
          <p:cNvPicPr>
            <a:picLocks noChangeAspect="1" noChangeArrowheads="1"/>
          </p:cNvPicPr>
          <p:nvPr userDrawn="1"/>
        </p:nvPicPr>
        <p:blipFill rotWithShape="1"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0" t="0" r="46857" b="0"/>
          <a:stretch/>
        </p:blipFill>
        <p:spPr bwMode="auto">
          <a:xfrm>
            <a:off x="8145345" y="1822751"/>
            <a:ext cx="3573396" cy="2881771"/>
          </a:xfrm>
          <a:prstGeom prst="rect">
            <a:avLst/>
          </a:prstGeom>
          <a:noFill/>
        </p:spPr>
      </p:pic>
      <p:pic>
        <p:nvPicPr>
          <p:cNvPr id="653451266" name="Picture 30"/>
          <p:cNvPicPr>
            <a:picLocks noChangeAspect="1"/>
          </p:cNvPicPr>
          <p:nvPr userDrawn="1"/>
        </p:nvPicPr>
        <p:blipFill rotWithShape="1">
          <a:blip r:embed="rId10"/>
          <a:stretch/>
        </p:blipFill>
        <p:spPr bwMode="auto">
          <a:xfrm>
            <a:off x="9137162" y="307556"/>
            <a:ext cx="2704049" cy="8219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Thank You Slide - Default Colo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2029100" name="Picture 24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0" t="18750" r="0" b="2500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05054196" name="TextBox 2"/>
          <p:cNvSpPr txBox="1"/>
          <p:nvPr userDrawn="1"/>
        </p:nvSpPr>
        <p:spPr bwMode="auto"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/>
              <a:t>Darshan</a:t>
            </a:r>
            <a:r>
              <a:rPr lang="en-US" sz="1600"/>
              <a:t> University, Rajkot</a:t>
            </a:r>
            <a:endParaRPr/>
          </a:p>
        </p:txBody>
      </p:sp>
      <p:sp>
        <p:nvSpPr>
          <p:cNvPr id="27627649" name="Freeform 13"/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 fill="norm" stroke="1" extrusionOk="0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943521673" name="Freeform 17"/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 fill="norm" stroke="1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pic>
        <p:nvPicPr>
          <p:cNvPr id="1880694642" name="Picture 31"/>
          <p:cNvPicPr>
            <a:picLocks noChangeAspect="1"/>
          </p:cNvPicPr>
          <p:nvPr userDrawn="1"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1861237977" name="Straight Connector 44"/>
          <p:cNvCxnSpPr/>
          <p:nvPr/>
        </p:nvCxnSpPr>
        <p:spPr bwMode="auto"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18447500" name="Picture 25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1974668295" name="Picture 26"/>
          <p:cNvPicPr>
            <a:picLocks noChangeAspect="1"/>
          </p:cNvPicPr>
          <p:nvPr userDrawn="1"/>
        </p:nvPicPr>
        <p:blipFill rotWithShape="1">
          <a:blip r:embed="rId5"/>
          <a:stretch/>
        </p:blipFill>
        <p:spPr bwMode="auto"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008858779" name="Text Placeholder 2"/>
          <p:cNvSpPr>
            <a:spLocks noGrp="1"/>
          </p:cNvSpPr>
          <p:nvPr userDrawn="1">
            <p:ph type="body" sz="quarter" idx="11" hasCustomPrompt="1"/>
          </p:nvPr>
        </p:nvSpPr>
        <p:spPr bwMode="auto"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 b="0">
                <a:solidFill>
                  <a:schemeClr val="tx1"/>
                </a:solidFill>
                <a:latin typeface="Roboto Condensed Light"/>
                <a:ea typeface="Roboto Condensed Light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Email Address</a:t>
            </a:r>
            <a:endParaRPr/>
          </a:p>
        </p:txBody>
      </p:sp>
      <p:sp>
        <p:nvSpPr>
          <p:cNvPr id="1885112430" name="Text Placeholder 2"/>
          <p:cNvSpPr>
            <a:spLocks noGrp="1"/>
          </p:cNvSpPr>
          <p:nvPr userDrawn="1">
            <p:ph type="body" sz="quarter" idx="12" hasCustomPrompt="1"/>
          </p:nvPr>
        </p:nvSpPr>
        <p:spPr bwMode="auto"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 b="0">
                <a:solidFill>
                  <a:schemeClr val="tx1"/>
                </a:solidFill>
                <a:latin typeface="Roboto Condensed Light"/>
                <a:ea typeface="Roboto Condensed Light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Phone No.</a:t>
            </a:r>
            <a:endParaRPr/>
          </a:p>
        </p:txBody>
      </p:sp>
      <p:sp>
        <p:nvSpPr>
          <p:cNvPr id="504553395" name="Text Placeholder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here Department Name</a:t>
            </a:r>
            <a:endParaRPr/>
          </a:p>
        </p:txBody>
      </p:sp>
      <p:sp>
        <p:nvSpPr>
          <p:cNvPr id="1075229199" name="Text Placeholder 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837677" y="5273332"/>
            <a:ext cx="558103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800" b="1">
                <a:gradFill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</a:gra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here your Author Name (i.e. Prof. Jay R </a:t>
            </a:r>
            <a:r>
              <a:rPr lang="en-US"/>
              <a:t>Dhamsaniya</a:t>
            </a:r>
            <a:r>
              <a:rPr lang="en-US"/>
              <a:t>)</a:t>
            </a:r>
            <a:endParaRPr/>
          </a:p>
        </p:txBody>
      </p:sp>
      <p:pic>
        <p:nvPicPr>
          <p:cNvPr id="683508965" name="Picture 54"/>
          <p:cNvPicPr>
            <a:picLocks noChangeAspect="1"/>
          </p:cNvPicPr>
          <p:nvPr userDrawn="1"/>
        </p:nvPicPr>
        <p:blipFill rotWithShape="1">
          <a:blip r:embed="rId6"/>
          <a:srcRect l="62023" t="18062" r="2730" b="17724"/>
          <a:stretch/>
        </p:blipFill>
        <p:spPr bwMode="auto"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318512803" name="Text Placeholder 2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2581756" y="20384"/>
            <a:ext cx="4646357" cy="734653"/>
          </a:xfrm>
        </p:spPr>
        <p:txBody>
          <a:bodyPr anchor="ctr">
            <a:no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0"/>
              </a:spcBef>
              <a:buNone/>
              <a:defRPr lang="en-US" sz="1800" b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Subject Name (Short Name)</a:t>
            </a:r>
            <a:endParaRPr/>
          </a:p>
          <a:p>
            <a:pPr lvl="0">
              <a:defRPr/>
            </a:pPr>
            <a:r>
              <a:rPr lang="en-US"/>
              <a:t># Subject Code</a:t>
            </a:r>
            <a:endParaRPr/>
          </a:p>
        </p:txBody>
      </p:sp>
      <p:pic>
        <p:nvPicPr>
          <p:cNvPr id="2115800755" name="Picture 19"/>
          <p:cNvPicPr>
            <a:picLocks noChangeAspect="1"/>
          </p:cNvPicPr>
          <p:nvPr userDrawn="1"/>
        </p:nvPicPr>
        <p:blipFill rotWithShape="1">
          <a:blip r:embed="rId7"/>
          <a:srcRect l="144383" t="-16142" r="-144383" b="22103"/>
          <a:stretch/>
        </p:blipFill>
        <p:spPr bwMode="auto"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1190629086" name="Picture 35" descr="User icon Royalty Free Vector Image - VectorStock"/>
          <p:cNvPicPr>
            <a:picLocks noChangeAspect="1" noChangeArrowheads="1"/>
          </p:cNvPicPr>
          <p:nvPr userDrawn="1"/>
        </p:nvPicPr>
        <p:blipFill rotWithShape="1">
          <a:blip r:embed="rId8">
            <a:lum bright="70000" contrast="-70000"/>
          </a:blip>
          <a:srcRect l="26030" t="21389" r="26030" b="34222"/>
          <a:stretch/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 fill="norm" stroke="1" extrusionOk="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</p:pic>
      <p:sp>
        <p:nvSpPr>
          <p:cNvPr id="1579824387" name="Picture Placeholder 36"/>
          <p:cNvSpPr>
            <a:spLocks noGrp="1"/>
          </p:cNvSpPr>
          <p:nvPr>
            <p:ph type="pic" sz="quarter" idx="10"/>
          </p:nvPr>
        </p:nvSpPr>
        <p:spPr bwMode="auto"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 fill="norm" stroke="1" extrusionOk="0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8704695" name="Hexagon 29"/>
          <p:cNvSpPr/>
          <p:nvPr userDrawn="1"/>
        </p:nvSpPr>
        <p:spPr bwMode="auto">
          <a:xfrm rot="5400000">
            <a:off x="4309292" y="1717040"/>
            <a:ext cx="3461658" cy="2984188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bg1">
              <a:lumMod val="95000"/>
            </a:schemeClr>
          </a:solidFill>
          <a:ln w="57150">
            <a:solidFill>
              <a:srgbClr val="1D3064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8776105" name="TextBox 30"/>
          <p:cNvSpPr txBox="1"/>
          <p:nvPr userDrawn="1"/>
        </p:nvSpPr>
        <p:spPr bwMode="auto"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sz="6000" b="1" i="1"/>
              <a:t>Thank</a:t>
            </a:r>
            <a:endParaRPr/>
          </a:p>
          <a:p>
            <a:pPr algn="ctr">
              <a:defRPr/>
            </a:pPr>
            <a:r>
              <a:rPr lang="en-US" sz="6000" b="1" i="1"/>
              <a:t>You</a:t>
            </a:r>
            <a:endParaRPr/>
          </a:p>
        </p:txBody>
      </p:sp>
      <p:sp>
        <p:nvSpPr>
          <p:cNvPr id="780420156" name="Rectangle 33"/>
          <p:cNvSpPr/>
          <p:nvPr userDrawn="1"/>
        </p:nvSpPr>
        <p:spPr bwMode="auto">
          <a:xfrm>
            <a:off x="7678346" y="2221532"/>
            <a:ext cx="4513654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47972283" name="Rectangle 34"/>
          <p:cNvSpPr/>
          <p:nvPr userDrawn="1"/>
        </p:nvSpPr>
        <p:spPr bwMode="auto">
          <a:xfrm>
            <a:off x="0" y="2221532"/>
            <a:ext cx="4402106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550475032" name="Picture 32"/>
          <p:cNvPicPr>
            <a:picLocks noChangeAspect="1"/>
          </p:cNvPicPr>
          <p:nvPr userDrawn="1"/>
        </p:nvPicPr>
        <p:blipFill rotWithShape="1">
          <a:blip r:embed="rId9"/>
          <a:stretch/>
        </p:blipFill>
        <p:spPr bwMode="auto">
          <a:xfrm>
            <a:off x="9137162" y="307556"/>
            <a:ext cx="2704049" cy="8219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ontent - Logo on T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48938705" name="Group 13"/>
          <p:cNvGrpSpPr/>
          <p:nvPr userDrawn="1"/>
        </p:nvGrpSpPr>
        <p:grpSpPr bwMode="auto">
          <a:xfrm>
            <a:off x="9678496" y="861192"/>
            <a:ext cx="2554142" cy="587454"/>
            <a:chOff x="9424496" y="861192"/>
            <a:chExt cx="2554142" cy="587454"/>
          </a:xfrm>
        </p:grpSpPr>
        <p:pic>
          <p:nvPicPr>
            <p:cNvPr id="15" name="Picture 14"/>
            <p:cNvPicPr>
              <a:picLocks noChangeAspect="1"/>
            </p:cNvPicPr>
            <p:nvPr userDrawn="1"/>
          </p:nvPicPr>
          <p:blipFill rotWithShape="1">
            <a:blip r:embed="rId2"/>
            <a:stretch/>
          </p:blipFill>
          <p:spPr bwMode="auto">
            <a:xfrm>
              <a:off x="9875018" y="8611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 userDrawn="1"/>
          </p:nvSpPr>
          <p:spPr bwMode="auto">
            <a:xfrm>
              <a:off x="9424496" y="8611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820189918" name="Shape 56"/>
          <p:cNvPicPr/>
          <p:nvPr userDrawn="1"/>
        </p:nvPicPr>
        <p:blipFill rotWithShape="1">
          <a:blip r:embed="rId3">
            <a:alphaModFix/>
          </a:blip>
          <a:srcRect l="0" t="86739" r="1768" b="3534"/>
          <a:stretch/>
        </p:blipFill>
        <p:spPr bwMode="auto"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45424148" name="Title 1"/>
          <p:cNvSpPr>
            <a:spLocks noGrp="1"/>
          </p:cNvSpPr>
          <p:nvPr>
            <p:ph type="title"/>
          </p:nvPr>
        </p:nvSpPr>
        <p:spPr bwMode="auto"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60246291" name="Content Placeholder 2"/>
          <p:cNvSpPr>
            <a:spLocks noGrp="1"/>
          </p:cNvSpPr>
          <p:nvPr>
            <p:ph idx="1"/>
          </p:nvPr>
        </p:nvSpPr>
        <p:spPr bwMode="auto"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lnSpc>
                <a:spcPct val="113999"/>
              </a:lnSpc>
              <a:buClr>
                <a:schemeClr val="accent6"/>
              </a:buClr>
              <a:buFont typeface="Wingdings 3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lnSpc>
                <a:spcPct val="113999"/>
              </a:lnSpc>
              <a:buClr>
                <a:schemeClr val="accent6"/>
              </a:buClr>
              <a:buFont typeface="Wingdings 3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lnSpc>
                <a:spcPct val="113999"/>
              </a:lnSpc>
              <a:buClr>
                <a:schemeClr val="accent6"/>
              </a:buClr>
              <a:buFont typeface="Wingdings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lnSpc>
                <a:spcPct val="113999"/>
              </a:lnSpc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lnSpc>
                <a:spcPct val="113999"/>
              </a:lnSpc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cxnSp>
        <p:nvCxnSpPr>
          <p:cNvPr id="1617830558" name="Straight Connector 19"/>
          <p:cNvCxnSpPr/>
          <p:nvPr userDrawn="1"/>
        </p:nvCxnSpPr>
        <p:spPr bwMode="auto"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5380224" name="Rectangle: Rounded Corners 16"/>
          <p:cNvSpPr/>
          <p:nvPr userDrawn="1"/>
        </p:nvSpPr>
        <p:spPr bwMode="auto"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17818612" name="Date Placeholder 1"/>
          <p:cNvSpPr txBox="1"/>
          <p:nvPr userDrawn="1"/>
        </p:nvSpPr>
        <p:spPr bwMode="auto"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Dr.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Pradyumansinh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 U.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Jadeja</a:t>
            </a:r>
            <a:endParaRPr lang="en-US">
              <a:solidFill>
                <a:schemeClr val="tx1">
                  <a:lumMod val="90000"/>
                  <a:lumOff val="10000"/>
                </a:schemeClr>
              </a:solidFill>
              <a:latin typeface="Roboto Condensed Light"/>
              <a:ea typeface="Roboto Condensed Light"/>
            </a:endParaRPr>
          </a:p>
        </p:txBody>
      </p:sp>
      <p:sp>
        <p:nvSpPr>
          <p:cNvPr id="166099111" name="Slide Number Placeholder 3"/>
          <p:cNvSpPr txBox="1"/>
          <p:nvPr userDrawn="1"/>
        </p:nvSpPr>
        <p:spPr bwMode="auto"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ADF2434F-F1F1-4B15-80AA-A2C3BF057F48}" type="slidenum">
              <a:rPr lang="en-US" b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1799550994" name="Straight Connector 26"/>
          <p:cNvCxnSpPr/>
          <p:nvPr userDrawn="1"/>
        </p:nvCxnSpPr>
        <p:spPr bwMode="auto"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342294" name="Footer Placeholder 2"/>
          <p:cNvSpPr txBox="1"/>
          <p:nvPr userDrawn="1"/>
        </p:nvSpPr>
        <p:spPr bwMode="auto">
          <a:xfrm>
            <a:off x="4038600" y="6604000"/>
            <a:ext cx="466751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#2301CS301 (DS)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/>
                <a:ea typeface="Roboto Condensed Light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   Unit 3 (Part 3) – Tree -  Non-Linear Data Structure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ontent - Logo on B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02789032" name="Group 13"/>
          <p:cNvGrpSpPr/>
          <p:nvPr userDrawn="1"/>
        </p:nvGrpSpPr>
        <p:grpSpPr bwMode="auto">
          <a:xfrm>
            <a:off x="9792796" y="5890392"/>
            <a:ext cx="2554142" cy="587454"/>
            <a:chOff x="9475296" y="5890392"/>
            <a:chExt cx="2554142" cy="587454"/>
          </a:xfrm>
        </p:grpSpPr>
        <p:pic>
          <p:nvPicPr>
            <p:cNvPr id="15" name="Picture 14"/>
            <p:cNvPicPr>
              <a:picLocks noChangeAspect="1"/>
            </p:cNvPicPr>
            <p:nvPr userDrawn="1"/>
          </p:nvPicPr>
          <p:blipFill rotWithShape="1">
            <a:blip r:embed="rId2"/>
            <a:stretch/>
          </p:blipFill>
          <p:spPr bwMode="auto"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 userDrawn="1"/>
          </p:nvSpPr>
          <p:spPr bwMode="auto"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855738947" name="Shape 56"/>
          <p:cNvPicPr/>
          <p:nvPr userDrawn="1"/>
        </p:nvPicPr>
        <p:blipFill rotWithShape="1">
          <a:blip r:embed="rId3">
            <a:alphaModFix/>
          </a:blip>
          <a:srcRect l="0" t="86739" r="1768" b="3534"/>
          <a:stretch/>
        </p:blipFill>
        <p:spPr bwMode="auto"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633641787" name="Title 1"/>
          <p:cNvSpPr>
            <a:spLocks noGrp="1"/>
          </p:cNvSpPr>
          <p:nvPr>
            <p:ph type="title"/>
          </p:nvPr>
        </p:nvSpPr>
        <p:spPr bwMode="auto"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44947729" name="Content Placeholder 2"/>
          <p:cNvSpPr>
            <a:spLocks noGrp="1"/>
          </p:cNvSpPr>
          <p:nvPr>
            <p:ph idx="1"/>
          </p:nvPr>
        </p:nvSpPr>
        <p:spPr bwMode="auto"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lnSpc>
                <a:spcPct val="113999"/>
              </a:lnSpc>
              <a:spcBef>
                <a:spcPts val="1000"/>
              </a:spcBef>
              <a:buClr>
                <a:schemeClr val="accent6"/>
              </a:buClr>
              <a:buFont typeface="Wingdings 3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lnSpc>
                <a:spcPct val="113999"/>
              </a:lnSpc>
              <a:spcBef>
                <a:spcPts val="1000"/>
              </a:spcBef>
              <a:buClr>
                <a:schemeClr val="accent6"/>
              </a:buClr>
              <a:buFont typeface="Wingdings 3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lnSpc>
                <a:spcPct val="113999"/>
              </a:lnSpc>
              <a:spcBef>
                <a:spcPts val="1000"/>
              </a:spcBef>
              <a:buClr>
                <a:schemeClr val="accent6"/>
              </a:buClr>
              <a:buFont typeface="Wingdings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lnSpc>
                <a:spcPct val="113999"/>
              </a:lnSpc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lnSpc>
                <a:spcPct val="113999"/>
              </a:lnSpc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cxnSp>
        <p:nvCxnSpPr>
          <p:cNvPr id="1944087957" name="Straight Connector 19"/>
          <p:cNvCxnSpPr/>
          <p:nvPr userDrawn="1"/>
        </p:nvCxnSpPr>
        <p:spPr bwMode="auto"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6688963" name="Rectangle: Rounded Corners 16"/>
          <p:cNvSpPr/>
          <p:nvPr userDrawn="1"/>
        </p:nvSpPr>
        <p:spPr bwMode="auto"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22253785" name="Date Placeholder 1"/>
          <p:cNvSpPr txBox="1"/>
          <p:nvPr userDrawn="1"/>
        </p:nvSpPr>
        <p:spPr bwMode="auto"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Dr.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Pradyumansinh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 U.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Jadeja</a:t>
            </a:r>
            <a:endParaRPr lang="en-US">
              <a:solidFill>
                <a:schemeClr val="tx1">
                  <a:lumMod val="90000"/>
                  <a:lumOff val="10000"/>
                </a:schemeClr>
              </a:solidFill>
              <a:latin typeface="Roboto Condensed Light"/>
              <a:ea typeface="Roboto Condensed Light"/>
            </a:endParaRPr>
          </a:p>
        </p:txBody>
      </p:sp>
      <p:sp>
        <p:nvSpPr>
          <p:cNvPr id="737699875" name="Slide Number Placeholder 3"/>
          <p:cNvSpPr txBox="1"/>
          <p:nvPr userDrawn="1"/>
        </p:nvSpPr>
        <p:spPr bwMode="auto"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ADF2434F-F1F1-4B15-80AA-A2C3BF057F48}" type="slidenum">
              <a:rPr lang="en-US" b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1908848155" name="Straight Connector 26"/>
          <p:cNvCxnSpPr/>
          <p:nvPr userDrawn="1"/>
        </p:nvCxnSpPr>
        <p:spPr bwMode="auto"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9946402" name="Footer Placeholder 2"/>
          <p:cNvSpPr txBox="1"/>
          <p:nvPr userDrawn="1"/>
        </p:nvSpPr>
        <p:spPr bwMode="auto">
          <a:xfrm>
            <a:off x="4038600" y="6604000"/>
            <a:ext cx="466751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#2301CS301 (DS)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/>
                <a:ea typeface="Roboto Condensed Light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   Unit 3 (Part 3) – Tree -  Non-Linear Data Structure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ontent - Logo on B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47580235" name="Group 13"/>
          <p:cNvGrpSpPr/>
          <p:nvPr userDrawn="1"/>
        </p:nvGrpSpPr>
        <p:grpSpPr bwMode="auto">
          <a:xfrm>
            <a:off x="-49704" y="5915792"/>
            <a:ext cx="2554142" cy="587454"/>
            <a:chOff x="242396" y="5890392"/>
            <a:chExt cx="2554142" cy="587454"/>
          </a:xfrm>
        </p:grpSpPr>
        <p:pic>
          <p:nvPicPr>
            <p:cNvPr id="15" name="Picture 14"/>
            <p:cNvPicPr>
              <a:picLocks noChangeAspect="1"/>
            </p:cNvPicPr>
            <p:nvPr userDrawn="1"/>
          </p:nvPicPr>
          <p:blipFill rotWithShape="1">
            <a:blip r:embed="rId2"/>
            <a:stretch/>
          </p:blipFill>
          <p:spPr bwMode="auto">
            <a:xfrm>
              <a:off x="438918" y="58903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 userDrawn="1"/>
          </p:nvSpPr>
          <p:spPr bwMode="auto">
            <a:xfrm>
              <a:off x="2423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829852911" name="Shape 56"/>
          <p:cNvPicPr/>
          <p:nvPr userDrawn="1"/>
        </p:nvPicPr>
        <p:blipFill rotWithShape="1">
          <a:blip r:embed="rId3">
            <a:alphaModFix/>
          </a:blip>
          <a:srcRect l="0" t="86739" r="1768" b="3534"/>
          <a:stretch/>
        </p:blipFill>
        <p:spPr bwMode="auto"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60204131" name="Title 1"/>
          <p:cNvSpPr>
            <a:spLocks noGrp="1"/>
          </p:cNvSpPr>
          <p:nvPr>
            <p:ph type="title"/>
          </p:nvPr>
        </p:nvSpPr>
        <p:spPr bwMode="auto"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06659661" name="Content Placeholder 2"/>
          <p:cNvSpPr>
            <a:spLocks noGrp="1"/>
          </p:cNvSpPr>
          <p:nvPr>
            <p:ph idx="1"/>
          </p:nvPr>
        </p:nvSpPr>
        <p:spPr bwMode="auto"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spcBef>
                <a:spcPts val="1000"/>
              </a:spcBef>
              <a:buClr>
                <a:schemeClr val="accent6"/>
              </a:buClr>
              <a:buFont typeface="Wingdings 3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spcBef>
                <a:spcPts val="1000"/>
              </a:spcBef>
              <a:buClr>
                <a:schemeClr val="accent6"/>
              </a:buClr>
              <a:buFont typeface="Wingdings 3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spcBef>
                <a:spcPts val="1000"/>
              </a:spcBef>
              <a:buClr>
                <a:schemeClr val="accent6"/>
              </a:buClr>
              <a:buFont typeface="Wingdings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cxnSp>
        <p:nvCxnSpPr>
          <p:cNvPr id="234241310" name="Straight Connector 19"/>
          <p:cNvCxnSpPr/>
          <p:nvPr userDrawn="1"/>
        </p:nvCxnSpPr>
        <p:spPr bwMode="auto"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4212027" name="Rectangle: Rounded Corners 16"/>
          <p:cNvSpPr/>
          <p:nvPr userDrawn="1"/>
        </p:nvSpPr>
        <p:spPr bwMode="auto"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55474617" name="Date Placeholder 1"/>
          <p:cNvSpPr txBox="1"/>
          <p:nvPr userDrawn="1"/>
        </p:nvSpPr>
        <p:spPr bwMode="auto"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Dr.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Pradyumansinh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 U.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Jadeja</a:t>
            </a:r>
            <a:endParaRPr lang="en-US">
              <a:solidFill>
                <a:schemeClr val="tx1">
                  <a:lumMod val="90000"/>
                  <a:lumOff val="10000"/>
                </a:schemeClr>
              </a:solidFill>
              <a:latin typeface="Roboto Condensed Light"/>
              <a:ea typeface="Roboto Condensed Light"/>
            </a:endParaRPr>
          </a:p>
        </p:txBody>
      </p:sp>
      <p:sp>
        <p:nvSpPr>
          <p:cNvPr id="1725657691" name="Slide Number Placeholder 3"/>
          <p:cNvSpPr txBox="1"/>
          <p:nvPr userDrawn="1"/>
        </p:nvSpPr>
        <p:spPr bwMode="auto"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ADF2434F-F1F1-4B15-80AA-A2C3BF057F48}" type="slidenum">
              <a:rPr lang="en-US" b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1000281259" name="Straight Connector 23"/>
          <p:cNvCxnSpPr/>
          <p:nvPr userDrawn="1"/>
        </p:nvCxnSpPr>
        <p:spPr bwMode="auto"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8188048" name="Footer Placeholder 2"/>
          <p:cNvSpPr txBox="1"/>
          <p:nvPr userDrawn="1"/>
        </p:nvSpPr>
        <p:spPr bwMode="auto">
          <a:xfrm>
            <a:off x="4038600" y="6604000"/>
            <a:ext cx="466751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#2301CS301 (DS)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/>
                <a:ea typeface="Roboto Condensed Light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   Unit 3 (Part 3) – Tree -  Non-Linear Data Structure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0737667" name="Picture 10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0" t="0" r="11581" b="21180"/>
          <a:stretch/>
        </p:blipFill>
        <p:spPr bwMode="auto">
          <a:xfrm rot="16199999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842700690" name="Picture 11"/>
          <p:cNvPicPr>
            <a:picLocks noChangeAspect="1"/>
          </p:cNvPicPr>
          <p:nvPr userDrawn="1"/>
        </p:nvPicPr>
        <p:blipFill rotWithShape="1">
          <a:blip r:embed="rId3"/>
          <a:srcRect l="79646" t="18062" r="2730" b="17724"/>
          <a:stretch/>
        </p:blipFill>
        <p:spPr bwMode="auto"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199377977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>
                <a:gradFill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</a:gra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Write here Section Title</a:t>
            </a:r>
            <a:endParaRPr/>
          </a:p>
        </p:txBody>
      </p:sp>
      <p:sp>
        <p:nvSpPr>
          <p:cNvPr id="1817752062" name="Text Placeholder 2"/>
          <p:cNvSpPr>
            <a:spLocks noGrp="1"/>
          </p:cNvSpPr>
          <p:nvPr>
            <p:ph type="body" idx="1" hasCustomPrompt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Write here Section Subtitle</a:t>
            </a:r>
            <a:endParaRPr/>
          </a:p>
        </p:txBody>
      </p:sp>
      <p:sp>
        <p:nvSpPr>
          <p:cNvPr id="447898143" name="Freeform 17"/>
          <p:cNvSpPr/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 fill="norm" stroke="1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grpSp>
        <p:nvGrpSpPr>
          <p:cNvPr id="296048453" name="Group 8"/>
          <p:cNvGrpSpPr/>
          <p:nvPr userDrawn="1"/>
        </p:nvGrpSpPr>
        <p:grpSpPr bwMode="auto">
          <a:xfrm>
            <a:off x="9437223" y="6087939"/>
            <a:ext cx="2554142" cy="587454"/>
            <a:chOff x="131177" y="5775962"/>
            <a:chExt cx="2530239" cy="581956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 rotWithShape="1">
            <a:blip r:embed="rId4"/>
            <a:stretch/>
          </p:blipFill>
          <p:spPr bwMode="auto"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 userDrawn="1"/>
          </p:nvSpPr>
          <p:spPr bwMode="auto"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Blanck - Logo on T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18779050" name="Group 13"/>
          <p:cNvGrpSpPr/>
          <p:nvPr userDrawn="1"/>
        </p:nvGrpSpPr>
        <p:grpSpPr bwMode="auto">
          <a:xfrm>
            <a:off x="9752158" y="102445"/>
            <a:ext cx="2554142" cy="587454"/>
            <a:chOff x="9475296" y="5890392"/>
            <a:chExt cx="2554142" cy="587454"/>
          </a:xfrm>
        </p:grpSpPr>
        <p:pic>
          <p:nvPicPr>
            <p:cNvPr id="15" name="Picture 14"/>
            <p:cNvPicPr>
              <a:picLocks noChangeAspect="1"/>
            </p:cNvPicPr>
            <p:nvPr userDrawn="1"/>
          </p:nvPicPr>
          <p:blipFill rotWithShape="1">
            <a:blip r:embed="rId2"/>
            <a:stretch/>
          </p:blipFill>
          <p:spPr bwMode="auto"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 userDrawn="1"/>
          </p:nvSpPr>
          <p:spPr bwMode="auto"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081997730" name="Rectangle: Rounded Corners 16"/>
          <p:cNvSpPr/>
          <p:nvPr userDrawn="1"/>
        </p:nvSpPr>
        <p:spPr bwMode="auto"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95930372" name="Date Placeholder 1"/>
          <p:cNvSpPr txBox="1"/>
          <p:nvPr userDrawn="1"/>
        </p:nvSpPr>
        <p:spPr bwMode="auto"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Dr.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Pradyumansinh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 U.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Jadeja</a:t>
            </a:r>
            <a:endParaRPr lang="en-US">
              <a:solidFill>
                <a:schemeClr val="tx1">
                  <a:lumMod val="90000"/>
                  <a:lumOff val="10000"/>
                </a:schemeClr>
              </a:solidFill>
              <a:latin typeface="Roboto Condensed Light"/>
              <a:ea typeface="Roboto Condensed Light"/>
            </a:endParaRPr>
          </a:p>
        </p:txBody>
      </p:sp>
      <p:sp>
        <p:nvSpPr>
          <p:cNvPr id="335315849" name="Slide Number Placeholder 3"/>
          <p:cNvSpPr txBox="1"/>
          <p:nvPr userDrawn="1"/>
        </p:nvSpPr>
        <p:spPr bwMode="auto"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ADF2434F-F1F1-4B15-80AA-A2C3BF057F48}" type="slidenum">
              <a:rPr lang="en-US" b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017414721" name="Straight Connector 20"/>
          <p:cNvCxnSpPr/>
          <p:nvPr userDrawn="1"/>
        </p:nvCxnSpPr>
        <p:spPr bwMode="auto"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5989462" name="Footer Placeholder 2"/>
          <p:cNvSpPr txBox="1"/>
          <p:nvPr userDrawn="1"/>
        </p:nvSpPr>
        <p:spPr bwMode="auto">
          <a:xfrm>
            <a:off x="4038600" y="6604000"/>
            <a:ext cx="466751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#2301CS301 (DS)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/>
                <a:ea typeface="Roboto Condensed Light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   Unit 3 (Part 3) – Tree -  Non-Linear Data Structure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Blanck - Logo on B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40619348" name="Group 13"/>
          <p:cNvGrpSpPr/>
          <p:nvPr userDrawn="1"/>
        </p:nvGrpSpPr>
        <p:grpSpPr bwMode="auto">
          <a:xfrm>
            <a:off x="9726758" y="6003345"/>
            <a:ext cx="2554142" cy="587454"/>
            <a:chOff x="9475296" y="5890392"/>
            <a:chExt cx="2554142" cy="587454"/>
          </a:xfrm>
        </p:grpSpPr>
        <p:pic>
          <p:nvPicPr>
            <p:cNvPr id="15" name="Picture 14"/>
            <p:cNvPicPr>
              <a:picLocks noChangeAspect="1"/>
            </p:cNvPicPr>
            <p:nvPr userDrawn="1"/>
          </p:nvPicPr>
          <p:blipFill rotWithShape="1">
            <a:blip r:embed="rId2"/>
            <a:stretch/>
          </p:blipFill>
          <p:spPr bwMode="auto"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 userDrawn="1"/>
          </p:nvSpPr>
          <p:spPr bwMode="auto"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887675670" name="Rectangle: Rounded Corners 16"/>
          <p:cNvSpPr/>
          <p:nvPr userDrawn="1"/>
        </p:nvSpPr>
        <p:spPr bwMode="auto"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20586421" name="Date Placeholder 1"/>
          <p:cNvSpPr txBox="1"/>
          <p:nvPr userDrawn="1"/>
        </p:nvSpPr>
        <p:spPr bwMode="auto"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Dr.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Pradyumansinh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 U.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Jadeja</a:t>
            </a:r>
            <a:endParaRPr lang="en-US">
              <a:solidFill>
                <a:schemeClr val="tx1">
                  <a:lumMod val="90000"/>
                  <a:lumOff val="10000"/>
                </a:schemeClr>
              </a:solidFill>
              <a:latin typeface="Roboto Condensed Light"/>
              <a:ea typeface="Roboto Condensed Light"/>
            </a:endParaRPr>
          </a:p>
        </p:txBody>
      </p:sp>
      <p:sp>
        <p:nvSpPr>
          <p:cNvPr id="1688911789" name="Slide Number Placeholder 3"/>
          <p:cNvSpPr txBox="1"/>
          <p:nvPr userDrawn="1"/>
        </p:nvSpPr>
        <p:spPr bwMode="auto"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ADF2434F-F1F1-4B15-80AA-A2C3BF057F48}" type="slidenum">
              <a:rPr lang="en-US" b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565606070" name="Straight Connector 20"/>
          <p:cNvCxnSpPr/>
          <p:nvPr userDrawn="1"/>
        </p:nvCxnSpPr>
        <p:spPr bwMode="auto"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8578996" name="Footer Placeholder 2"/>
          <p:cNvSpPr txBox="1"/>
          <p:nvPr userDrawn="1"/>
        </p:nvSpPr>
        <p:spPr bwMode="auto">
          <a:xfrm>
            <a:off x="4038600" y="6604000"/>
            <a:ext cx="466751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#2301CS301 (DS)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/>
                <a:ea typeface="Roboto Condensed Light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   Unit 3 (Part 3) – Tree -  Non-Linear Data Structure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Blanck - Logo on B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76933165" name="Group 13"/>
          <p:cNvGrpSpPr/>
          <p:nvPr userDrawn="1"/>
        </p:nvGrpSpPr>
        <p:grpSpPr bwMode="auto">
          <a:xfrm>
            <a:off x="-249812" y="5990021"/>
            <a:ext cx="2554142" cy="587454"/>
            <a:chOff x="9475296" y="5890392"/>
            <a:chExt cx="2554142" cy="587454"/>
          </a:xfrm>
        </p:grpSpPr>
        <p:pic>
          <p:nvPicPr>
            <p:cNvPr id="15" name="Picture 14"/>
            <p:cNvPicPr>
              <a:picLocks noChangeAspect="1"/>
            </p:cNvPicPr>
            <p:nvPr userDrawn="1"/>
          </p:nvPicPr>
          <p:blipFill rotWithShape="1">
            <a:blip r:embed="rId2"/>
            <a:stretch/>
          </p:blipFill>
          <p:spPr bwMode="auto"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 userDrawn="1"/>
          </p:nvSpPr>
          <p:spPr bwMode="auto"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24911745" name="Rectangle: Rounded Corners 16"/>
          <p:cNvSpPr/>
          <p:nvPr userDrawn="1"/>
        </p:nvSpPr>
        <p:spPr bwMode="auto"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11540758" name="Date Placeholder 1"/>
          <p:cNvSpPr txBox="1"/>
          <p:nvPr userDrawn="1"/>
        </p:nvSpPr>
        <p:spPr bwMode="auto"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Dr.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Pradyumansinh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 U.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Jadeja</a:t>
            </a:r>
            <a:endParaRPr lang="en-US">
              <a:solidFill>
                <a:schemeClr val="tx1">
                  <a:lumMod val="90000"/>
                  <a:lumOff val="10000"/>
                </a:schemeClr>
              </a:solidFill>
              <a:latin typeface="Roboto Condensed Light"/>
              <a:ea typeface="Roboto Condensed Light"/>
            </a:endParaRPr>
          </a:p>
        </p:txBody>
      </p:sp>
      <p:sp>
        <p:nvSpPr>
          <p:cNvPr id="1815784417" name="Slide Number Placeholder 3"/>
          <p:cNvSpPr txBox="1"/>
          <p:nvPr userDrawn="1"/>
        </p:nvSpPr>
        <p:spPr bwMode="auto"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ADF2434F-F1F1-4B15-80AA-A2C3BF057F48}" type="slidenum">
              <a:rPr lang="en-US" b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981756351" name="Straight Connector 20"/>
          <p:cNvCxnSpPr/>
          <p:nvPr userDrawn="1"/>
        </p:nvCxnSpPr>
        <p:spPr bwMode="auto"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3808486" name="Footer Placeholder 2"/>
          <p:cNvSpPr txBox="1"/>
          <p:nvPr userDrawn="1"/>
        </p:nvSpPr>
        <p:spPr bwMode="auto">
          <a:xfrm>
            <a:off x="4038600" y="6604000"/>
            <a:ext cx="466751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#2301CS301 (DS)   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Wingdings"/>
                <a:ea typeface="Roboto Condensed Light"/>
              </a:rPr>
              <a:t></a:t>
            </a:r>
            <a:r>
              <a:rPr lang="en-US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/>
                <a:ea typeface="Roboto Condensed Light"/>
              </a:rPr>
              <a:t>   Unit 3 (Part 3) – Tree -  Non-Linear Data Structure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omplete Blanc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Complete Blanc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552420" name="TextBox 6"/>
          <p:cNvSpPr txBox="1"/>
          <p:nvPr userDrawn="1"/>
        </p:nvSpPr>
        <p:spPr bwMode="auto"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FF0000"/>
                </a:solidFill>
              </a:rPr>
              <a:t>How to Crop Circular Photo?</a:t>
            </a:r>
            <a:endParaRPr/>
          </a:p>
        </p:txBody>
      </p:sp>
      <p:sp>
        <p:nvSpPr>
          <p:cNvPr id="1752884220" name="Picture Placeholder 10"/>
          <p:cNvSpPr>
            <a:spLocks noGrp="1"/>
          </p:cNvSpPr>
          <p:nvPr>
            <p:ph type="pic" sz="quarter" idx="10"/>
          </p:nvPr>
        </p:nvSpPr>
        <p:spPr bwMode="auto"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 fill="norm" stroke="1" extrusionOk="0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Slide - Te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6474415" name="Picture 24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0" t="18750" r="0" b="2500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0491502" name="TextBox 2"/>
          <p:cNvSpPr txBox="1"/>
          <p:nvPr userDrawn="1"/>
        </p:nvSpPr>
        <p:spPr bwMode="auto"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/>
              <a:t>Darshan Institute of Engineering &amp; Technology, Rajkot</a:t>
            </a:r>
            <a:endParaRPr/>
          </a:p>
        </p:txBody>
      </p:sp>
      <p:sp>
        <p:nvSpPr>
          <p:cNvPr id="294077825" name="Freeform 13"/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 fill="norm" stroke="1" extrusionOk="0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endParaRPr lang="en-US"/>
          </a:p>
        </p:txBody>
      </p:sp>
      <p:sp>
        <p:nvSpPr>
          <p:cNvPr id="1519391775" name="Freeform 17"/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 fill="norm" stroke="1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endParaRPr lang="en-US"/>
          </a:p>
        </p:txBody>
      </p:sp>
      <p:pic>
        <p:nvPicPr>
          <p:cNvPr id="749232646" name="Picture 31"/>
          <p:cNvPicPr>
            <a:picLocks noChangeAspect="1"/>
          </p:cNvPicPr>
          <p:nvPr userDrawn="1"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1171088296" name="Picture 32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1599123981" name="Straight Connector 44"/>
          <p:cNvCxnSpPr/>
          <p:nvPr/>
        </p:nvCxnSpPr>
        <p:spPr bwMode="auto"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881488" name="Title 1"/>
          <p:cNvSpPr>
            <a:spLocks noGrp="1"/>
          </p:cNvSpPr>
          <p:nvPr userDrawn="1">
            <p:ph type="ctrTitle"/>
          </p:nvPr>
        </p:nvSpPr>
        <p:spPr bwMode="auto"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Segoe UI Black"/>
                <a:cs typeface="+mn-cs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pic>
        <p:nvPicPr>
          <p:cNvPr id="1527872047" name="Picture 25"/>
          <p:cNvPicPr>
            <a:picLocks noChangeAspect="1"/>
          </p:cNvPicPr>
          <p:nvPr userDrawn="1"/>
        </p:nvPicPr>
        <p:blipFill rotWithShape="1">
          <a:blip r:embed="rId5"/>
          <a:stretch/>
        </p:blipFill>
        <p:spPr bwMode="auto"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962163339" name="Picture 26"/>
          <p:cNvPicPr>
            <a:picLocks noChangeAspect="1"/>
          </p:cNvPicPr>
          <p:nvPr userDrawn="1"/>
        </p:nvPicPr>
        <p:blipFill rotWithShape="1">
          <a:blip r:embed="rId6"/>
          <a:stretch/>
        </p:blipFill>
        <p:spPr bwMode="auto"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660760451" name="Text Placeholder 2"/>
          <p:cNvSpPr>
            <a:spLocks noGrp="1"/>
          </p:cNvSpPr>
          <p:nvPr userDrawn="1">
            <p:ph type="body" sz="quarter" idx="11" hasCustomPrompt="1"/>
          </p:nvPr>
        </p:nvSpPr>
        <p:spPr bwMode="auto"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 b="0">
                <a:solidFill>
                  <a:schemeClr val="tx1"/>
                </a:solidFill>
                <a:latin typeface="Roboto Condensed Light"/>
                <a:ea typeface="Roboto Condensed Light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Email Address</a:t>
            </a:r>
            <a:endParaRPr/>
          </a:p>
        </p:txBody>
      </p:sp>
      <p:sp>
        <p:nvSpPr>
          <p:cNvPr id="1974030779" name="Text Placeholder 2"/>
          <p:cNvSpPr>
            <a:spLocks noGrp="1"/>
          </p:cNvSpPr>
          <p:nvPr userDrawn="1">
            <p:ph type="body" sz="quarter" idx="12" hasCustomPrompt="1"/>
          </p:nvPr>
        </p:nvSpPr>
        <p:spPr bwMode="auto"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 b="0">
                <a:solidFill>
                  <a:schemeClr val="tx1"/>
                </a:solidFill>
                <a:latin typeface="Roboto Condensed Light"/>
                <a:ea typeface="Roboto Condensed Light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Phone No.</a:t>
            </a:r>
            <a:endParaRPr/>
          </a:p>
        </p:txBody>
      </p:sp>
      <p:sp>
        <p:nvSpPr>
          <p:cNvPr id="549653123" name="Text Placeholder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here Department Name</a:t>
            </a:r>
            <a:endParaRPr/>
          </a:p>
        </p:txBody>
      </p:sp>
      <p:sp>
        <p:nvSpPr>
          <p:cNvPr id="1861952827" name="Text Placeholder 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837677" y="5273332"/>
            <a:ext cx="558103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800" b="1">
                <a:gradFill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</a:gra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here your Author Name (i.e. Prof. Jay R </a:t>
            </a:r>
            <a:r>
              <a:rPr lang="en-US"/>
              <a:t>Dhamsaniya</a:t>
            </a:r>
            <a:r>
              <a:rPr lang="en-US"/>
              <a:t>)</a:t>
            </a:r>
            <a:endParaRPr/>
          </a:p>
        </p:txBody>
      </p:sp>
      <p:pic>
        <p:nvPicPr>
          <p:cNvPr id="2013618652" name="Picture 53"/>
          <p:cNvPicPr>
            <a:picLocks noChangeAspect="1"/>
          </p:cNvPicPr>
          <p:nvPr userDrawn="1"/>
        </p:nvPicPr>
        <p:blipFill rotWithShape="1">
          <a:blip r:embed="rId7"/>
          <a:stretch/>
        </p:blipFill>
        <p:spPr bwMode="auto"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343983923" name="Picture 54"/>
          <p:cNvPicPr>
            <a:picLocks noChangeAspect="1"/>
          </p:cNvPicPr>
          <p:nvPr userDrawn="1"/>
        </p:nvPicPr>
        <p:blipFill rotWithShape="1">
          <a:blip r:embed="rId8"/>
          <a:srcRect l="62023" t="18062" r="2730" b="17724"/>
          <a:stretch/>
        </p:blipFill>
        <p:spPr bwMode="auto"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940496200" name="Text Placeholder 2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2581756" y="20384"/>
            <a:ext cx="4646357" cy="734653"/>
          </a:xfrm>
        </p:spPr>
        <p:txBody>
          <a:bodyPr anchor="ctr">
            <a:no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0"/>
              </a:spcBef>
              <a:buNone/>
              <a:defRPr lang="en-US" sz="1800" b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Subject Name (Short Name)</a:t>
            </a:r>
            <a:endParaRPr/>
          </a:p>
          <a:p>
            <a:pPr lvl="0">
              <a:defRPr/>
            </a:pPr>
            <a:r>
              <a:rPr lang="en-US"/>
              <a:t>GTU # Subject Code</a:t>
            </a:r>
            <a:endParaRPr/>
          </a:p>
        </p:txBody>
      </p:sp>
      <p:pic>
        <p:nvPicPr>
          <p:cNvPr id="1369075808" name="Picture 19" descr="User icon Royalty Free Vector Image - VectorStock"/>
          <p:cNvPicPr>
            <a:picLocks noChangeAspect="1" noChangeArrowheads="1"/>
          </p:cNvPicPr>
          <p:nvPr userDrawn="1"/>
        </p:nvPicPr>
        <p:blipFill rotWithShape="1">
          <a:blip r:embed="rId9">
            <a:lum bright="70000" contrast="-70000"/>
          </a:blip>
          <a:srcRect l="26030" t="21389" r="26030" b="34222"/>
          <a:stretch/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 fill="norm" stroke="1" extrusionOk="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</p:pic>
      <p:sp>
        <p:nvSpPr>
          <p:cNvPr id="644759753" name="Picture Placeholder 20"/>
          <p:cNvSpPr>
            <a:spLocks noGrp="1"/>
          </p:cNvSpPr>
          <p:nvPr>
            <p:ph type="pic" sz="quarter" idx="10"/>
          </p:nvPr>
        </p:nvSpPr>
        <p:spPr bwMode="auto"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 fill="norm" stroke="1" extrusionOk="0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Slide - Cya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9785327" name="Picture 24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0" t="18750" r="0" b="2500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31660614" name="TextBox 2"/>
          <p:cNvSpPr txBox="1"/>
          <p:nvPr userDrawn="1"/>
        </p:nvSpPr>
        <p:spPr bwMode="auto"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/>
              <a:t>Darshan Institute of Engineering &amp; Technology, Rajkot</a:t>
            </a:r>
            <a:endParaRPr/>
          </a:p>
        </p:txBody>
      </p:sp>
      <p:sp>
        <p:nvSpPr>
          <p:cNvPr id="2046911571" name="Freeform 13"/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 fill="norm" stroke="1" extrusionOk="0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endParaRPr lang="en-US"/>
          </a:p>
        </p:txBody>
      </p:sp>
      <p:sp>
        <p:nvSpPr>
          <p:cNvPr id="497374931" name="Freeform 17"/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 fill="norm" stroke="1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endParaRPr lang="en-US"/>
          </a:p>
        </p:txBody>
      </p:sp>
      <p:pic>
        <p:nvPicPr>
          <p:cNvPr id="1137563103" name="Picture 31"/>
          <p:cNvPicPr>
            <a:picLocks noChangeAspect="1"/>
          </p:cNvPicPr>
          <p:nvPr userDrawn="1"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1148653475" name="Picture 32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1903270298" name="Straight Connector 44"/>
          <p:cNvCxnSpPr/>
          <p:nvPr/>
        </p:nvCxnSpPr>
        <p:spPr bwMode="auto"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5180076" name="Title 1"/>
          <p:cNvSpPr>
            <a:spLocks noGrp="1"/>
          </p:cNvSpPr>
          <p:nvPr userDrawn="1">
            <p:ph type="ctrTitle"/>
          </p:nvPr>
        </p:nvSpPr>
        <p:spPr bwMode="auto"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Segoe UI Black"/>
                <a:cs typeface="+mn-cs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pic>
        <p:nvPicPr>
          <p:cNvPr id="84452295" name="Picture 25"/>
          <p:cNvPicPr>
            <a:picLocks noChangeAspect="1"/>
          </p:cNvPicPr>
          <p:nvPr userDrawn="1"/>
        </p:nvPicPr>
        <p:blipFill rotWithShape="1">
          <a:blip r:embed="rId5"/>
          <a:stretch/>
        </p:blipFill>
        <p:spPr bwMode="auto"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1170684455" name="Picture 26"/>
          <p:cNvPicPr>
            <a:picLocks noChangeAspect="1"/>
          </p:cNvPicPr>
          <p:nvPr userDrawn="1"/>
        </p:nvPicPr>
        <p:blipFill rotWithShape="1">
          <a:blip r:embed="rId6"/>
          <a:stretch/>
        </p:blipFill>
        <p:spPr bwMode="auto"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573836122" name="Text Placeholder 2"/>
          <p:cNvSpPr>
            <a:spLocks noGrp="1"/>
          </p:cNvSpPr>
          <p:nvPr userDrawn="1">
            <p:ph type="body" sz="quarter" idx="11" hasCustomPrompt="1"/>
          </p:nvPr>
        </p:nvSpPr>
        <p:spPr bwMode="auto"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 b="0">
                <a:solidFill>
                  <a:schemeClr val="tx1"/>
                </a:solidFill>
                <a:latin typeface="Roboto Condensed Light"/>
                <a:ea typeface="Roboto Condensed Light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Email Address</a:t>
            </a:r>
            <a:endParaRPr/>
          </a:p>
        </p:txBody>
      </p:sp>
      <p:sp>
        <p:nvSpPr>
          <p:cNvPr id="354019932" name="Text Placeholder 2"/>
          <p:cNvSpPr>
            <a:spLocks noGrp="1"/>
          </p:cNvSpPr>
          <p:nvPr userDrawn="1">
            <p:ph type="body" sz="quarter" idx="12" hasCustomPrompt="1"/>
          </p:nvPr>
        </p:nvSpPr>
        <p:spPr bwMode="auto"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 b="0">
                <a:solidFill>
                  <a:schemeClr val="tx1"/>
                </a:solidFill>
                <a:latin typeface="Roboto Condensed Light"/>
                <a:ea typeface="Roboto Condensed Light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Phone No.</a:t>
            </a:r>
            <a:endParaRPr/>
          </a:p>
        </p:txBody>
      </p:sp>
      <p:sp>
        <p:nvSpPr>
          <p:cNvPr id="1247579751" name="Text Placeholder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here Department Name</a:t>
            </a:r>
            <a:endParaRPr/>
          </a:p>
        </p:txBody>
      </p:sp>
      <p:sp>
        <p:nvSpPr>
          <p:cNvPr id="676442433" name="Text Placeholder 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837677" y="5273332"/>
            <a:ext cx="558103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800" b="1">
                <a:gradFill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</a:gra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here your Author Name (i.e. Prof. Jay R </a:t>
            </a:r>
            <a:r>
              <a:rPr lang="en-US"/>
              <a:t>Dhamsaniya</a:t>
            </a:r>
            <a:r>
              <a:rPr lang="en-US"/>
              <a:t>)</a:t>
            </a:r>
            <a:endParaRPr/>
          </a:p>
        </p:txBody>
      </p:sp>
      <p:pic>
        <p:nvPicPr>
          <p:cNvPr id="735424685" name="Picture 53"/>
          <p:cNvPicPr>
            <a:picLocks noChangeAspect="1"/>
          </p:cNvPicPr>
          <p:nvPr userDrawn="1"/>
        </p:nvPicPr>
        <p:blipFill rotWithShape="1">
          <a:blip r:embed="rId7"/>
          <a:stretch/>
        </p:blipFill>
        <p:spPr bwMode="auto"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447386503" name="Picture 54"/>
          <p:cNvPicPr>
            <a:picLocks noChangeAspect="1"/>
          </p:cNvPicPr>
          <p:nvPr userDrawn="1"/>
        </p:nvPicPr>
        <p:blipFill rotWithShape="1">
          <a:blip r:embed="rId8"/>
          <a:srcRect l="62023" t="18062" r="2730" b="17724"/>
          <a:stretch/>
        </p:blipFill>
        <p:spPr bwMode="auto"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042961906" name="Text Placeholder 2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2581756" y="20384"/>
            <a:ext cx="4646357" cy="734653"/>
          </a:xfrm>
        </p:spPr>
        <p:txBody>
          <a:bodyPr anchor="ctr">
            <a:no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0"/>
              </a:spcBef>
              <a:buNone/>
              <a:defRPr lang="en-US" sz="1800" b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Subject Name (Short Name)</a:t>
            </a:r>
            <a:endParaRPr/>
          </a:p>
          <a:p>
            <a:pPr lvl="0">
              <a:defRPr/>
            </a:pPr>
            <a:r>
              <a:rPr lang="en-US"/>
              <a:t>GTU # Subject Code</a:t>
            </a:r>
            <a:endParaRPr/>
          </a:p>
        </p:txBody>
      </p:sp>
      <p:pic>
        <p:nvPicPr>
          <p:cNvPr id="2073124074" name="Picture 29" descr="User icon Royalty Free Vector Image - VectorStock"/>
          <p:cNvPicPr>
            <a:picLocks noChangeAspect="1" noChangeArrowheads="1"/>
          </p:cNvPicPr>
          <p:nvPr userDrawn="1"/>
        </p:nvPicPr>
        <p:blipFill rotWithShape="1">
          <a:blip r:embed="rId9">
            <a:lum bright="70000" contrast="-70000"/>
          </a:blip>
          <a:srcRect l="26030" t="21389" r="26030" b="34222"/>
          <a:stretch/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 fill="norm" stroke="1" extrusionOk="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</p:pic>
      <p:sp>
        <p:nvSpPr>
          <p:cNvPr id="1977939544" name="Picture Placeholder 33"/>
          <p:cNvSpPr>
            <a:spLocks noGrp="1"/>
          </p:cNvSpPr>
          <p:nvPr>
            <p:ph type="pic" sz="quarter" idx="10"/>
          </p:nvPr>
        </p:nvSpPr>
        <p:spPr bwMode="auto"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 fill="norm" stroke="1" extrusionOk="0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Slide - Light Gree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263355" name="Picture 24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0" t="18750" r="0" b="2500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63728819" name="TextBox 2"/>
          <p:cNvSpPr txBox="1"/>
          <p:nvPr userDrawn="1"/>
        </p:nvSpPr>
        <p:spPr bwMode="auto"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/>
              <a:t>Darshan Institute of Engineering &amp; Technology, Rajkot</a:t>
            </a:r>
            <a:endParaRPr/>
          </a:p>
        </p:txBody>
      </p:sp>
      <p:sp>
        <p:nvSpPr>
          <p:cNvPr id="1858345565" name="Freeform 13"/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 fill="norm" stroke="1" extrusionOk="0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endParaRPr lang="en-US"/>
          </a:p>
        </p:txBody>
      </p:sp>
      <p:sp>
        <p:nvSpPr>
          <p:cNvPr id="1937054577" name="Freeform 17"/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 fill="norm" stroke="1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endParaRPr lang="en-US"/>
          </a:p>
        </p:txBody>
      </p:sp>
      <p:pic>
        <p:nvPicPr>
          <p:cNvPr id="577258164" name="Picture 31"/>
          <p:cNvPicPr>
            <a:picLocks noChangeAspect="1"/>
          </p:cNvPicPr>
          <p:nvPr userDrawn="1"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186798611" name="Picture 32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1251240215" name="Straight Connector 44"/>
          <p:cNvCxnSpPr/>
          <p:nvPr/>
        </p:nvCxnSpPr>
        <p:spPr bwMode="auto"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9088542" name="Title 1"/>
          <p:cNvSpPr>
            <a:spLocks noGrp="1"/>
          </p:cNvSpPr>
          <p:nvPr userDrawn="1">
            <p:ph type="ctrTitle"/>
          </p:nvPr>
        </p:nvSpPr>
        <p:spPr bwMode="auto"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Segoe UI Black"/>
                <a:cs typeface="+mn-cs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pic>
        <p:nvPicPr>
          <p:cNvPr id="1348437863" name="Picture 25"/>
          <p:cNvPicPr>
            <a:picLocks noChangeAspect="1"/>
          </p:cNvPicPr>
          <p:nvPr userDrawn="1"/>
        </p:nvPicPr>
        <p:blipFill rotWithShape="1">
          <a:blip r:embed="rId5"/>
          <a:stretch/>
        </p:blipFill>
        <p:spPr bwMode="auto"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730349817" name="Picture 26"/>
          <p:cNvPicPr>
            <a:picLocks noChangeAspect="1"/>
          </p:cNvPicPr>
          <p:nvPr userDrawn="1"/>
        </p:nvPicPr>
        <p:blipFill rotWithShape="1">
          <a:blip r:embed="rId6"/>
          <a:stretch/>
        </p:blipFill>
        <p:spPr bwMode="auto"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1955398975" name="Text Placeholder 2"/>
          <p:cNvSpPr>
            <a:spLocks noGrp="1"/>
          </p:cNvSpPr>
          <p:nvPr userDrawn="1">
            <p:ph type="body" sz="quarter" idx="11" hasCustomPrompt="1"/>
          </p:nvPr>
        </p:nvSpPr>
        <p:spPr bwMode="auto"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 b="0">
                <a:solidFill>
                  <a:schemeClr val="tx1"/>
                </a:solidFill>
                <a:latin typeface="Roboto Condensed Light"/>
                <a:ea typeface="Roboto Condensed Light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Email Address</a:t>
            </a:r>
            <a:endParaRPr/>
          </a:p>
        </p:txBody>
      </p:sp>
      <p:sp>
        <p:nvSpPr>
          <p:cNvPr id="2085853358" name="Text Placeholder 2"/>
          <p:cNvSpPr>
            <a:spLocks noGrp="1"/>
          </p:cNvSpPr>
          <p:nvPr userDrawn="1">
            <p:ph type="body" sz="quarter" idx="12" hasCustomPrompt="1"/>
          </p:nvPr>
        </p:nvSpPr>
        <p:spPr bwMode="auto"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 b="0">
                <a:solidFill>
                  <a:schemeClr val="tx1"/>
                </a:solidFill>
                <a:latin typeface="Roboto Condensed Light"/>
                <a:ea typeface="Roboto Condensed Light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Phone No.</a:t>
            </a:r>
            <a:endParaRPr/>
          </a:p>
        </p:txBody>
      </p:sp>
      <p:sp>
        <p:nvSpPr>
          <p:cNvPr id="1050719110" name="Text Placeholder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here Department Name</a:t>
            </a:r>
            <a:endParaRPr/>
          </a:p>
        </p:txBody>
      </p:sp>
      <p:sp>
        <p:nvSpPr>
          <p:cNvPr id="960765162" name="Text Placeholder 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837677" y="5273332"/>
            <a:ext cx="558103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800" b="1">
                <a:gradFill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</a:gra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here your Author Name (i.e. Prof. Jay R </a:t>
            </a:r>
            <a:r>
              <a:rPr lang="en-US"/>
              <a:t>Dhamsaniya</a:t>
            </a:r>
            <a:r>
              <a:rPr lang="en-US"/>
              <a:t>)</a:t>
            </a:r>
            <a:endParaRPr/>
          </a:p>
        </p:txBody>
      </p:sp>
      <p:pic>
        <p:nvPicPr>
          <p:cNvPr id="978787012" name="Picture 53"/>
          <p:cNvPicPr>
            <a:picLocks noChangeAspect="1"/>
          </p:cNvPicPr>
          <p:nvPr userDrawn="1"/>
        </p:nvPicPr>
        <p:blipFill rotWithShape="1">
          <a:blip r:embed="rId7"/>
          <a:stretch/>
        </p:blipFill>
        <p:spPr bwMode="auto"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262080359" name="Picture 54"/>
          <p:cNvPicPr>
            <a:picLocks noChangeAspect="1"/>
          </p:cNvPicPr>
          <p:nvPr userDrawn="1"/>
        </p:nvPicPr>
        <p:blipFill rotWithShape="1">
          <a:blip r:embed="rId8"/>
          <a:srcRect l="62023" t="18062" r="2730" b="17724"/>
          <a:stretch/>
        </p:blipFill>
        <p:spPr bwMode="auto"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108421822" name="Text Placeholder 2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2581756" y="20384"/>
            <a:ext cx="4646357" cy="734653"/>
          </a:xfrm>
        </p:spPr>
        <p:txBody>
          <a:bodyPr anchor="ctr">
            <a:no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0"/>
              </a:spcBef>
              <a:buNone/>
              <a:defRPr lang="en-US" sz="1800" b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Subject Name (Short Name)</a:t>
            </a:r>
            <a:endParaRPr/>
          </a:p>
          <a:p>
            <a:pPr lvl="0">
              <a:defRPr/>
            </a:pPr>
            <a:r>
              <a:rPr lang="en-US"/>
              <a:t>GTU # Subject Code</a:t>
            </a:r>
            <a:endParaRPr/>
          </a:p>
        </p:txBody>
      </p:sp>
      <p:pic>
        <p:nvPicPr>
          <p:cNvPr id="1000928815" name="Picture 20" descr="User icon Royalty Free Vector Image - VectorStock"/>
          <p:cNvPicPr>
            <a:picLocks noChangeAspect="1" noChangeArrowheads="1"/>
          </p:cNvPicPr>
          <p:nvPr userDrawn="1"/>
        </p:nvPicPr>
        <p:blipFill rotWithShape="1">
          <a:blip r:embed="rId9">
            <a:lum bright="70000" contrast="-70000"/>
          </a:blip>
          <a:srcRect l="26030" t="21389" r="26030" b="34222"/>
          <a:stretch/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 fill="norm" stroke="1" extrusionOk="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</p:pic>
      <p:sp>
        <p:nvSpPr>
          <p:cNvPr id="457177753" name="Picture Placeholder 29"/>
          <p:cNvSpPr>
            <a:spLocks noGrp="1"/>
          </p:cNvSpPr>
          <p:nvPr>
            <p:ph type="pic" sz="quarter" idx="10"/>
          </p:nvPr>
        </p:nvSpPr>
        <p:spPr bwMode="auto"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 fill="norm" stroke="1" extrusionOk="0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Slide - A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0743446" name="Picture 24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0" t="18750" r="0" b="2500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13065854" name="TextBox 2"/>
          <p:cNvSpPr txBox="1"/>
          <p:nvPr userDrawn="1"/>
        </p:nvSpPr>
        <p:spPr bwMode="auto"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/>
              <a:t>Darshan Institute of Engineering &amp; Technology, Rajkot</a:t>
            </a:r>
            <a:endParaRPr/>
          </a:p>
        </p:txBody>
      </p:sp>
      <p:sp>
        <p:nvSpPr>
          <p:cNvPr id="968885624" name="Freeform 13"/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 fill="norm" stroke="1" extrusionOk="0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endParaRPr lang="en-US"/>
          </a:p>
        </p:txBody>
      </p:sp>
      <p:sp>
        <p:nvSpPr>
          <p:cNvPr id="1366032311" name="Freeform 17"/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 fill="norm" stroke="1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endParaRPr lang="en-US"/>
          </a:p>
        </p:txBody>
      </p:sp>
      <p:pic>
        <p:nvPicPr>
          <p:cNvPr id="1066392783" name="Picture 31"/>
          <p:cNvPicPr>
            <a:picLocks noChangeAspect="1"/>
          </p:cNvPicPr>
          <p:nvPr userDrawn="1"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1632110467" name="Picture 32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30513107" name="Straight Connector 44"/>
          <p:cNvCxnSpPr/>
          <p:nvPr/>
        </p:nvCxnSpPr>
        <p:spPr bwMode="auto"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8045412" name="Title 1"/>
          <p:cNvSpPr>
            <a:spLocks noGrp="1"/>
          </p:cNvSpPr>
          <p:nvPr userDrawn="1">
            <p:ph type="ctrTitle"/>
          </p:nvPr>
        </p:nvSpPr>
        <p:spPr bwMode="auto"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Segoe UI Black"/>
                <a:cs typeface="+mn-cs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pic>
        <p:nvPicPr>
          <p:cNvPr id="1006528941" name="Picture 25"/>
          <p:cNvPicPr>
            <a:picLocks noChangeAspect="1"/>
          </p:cNvPicPr>
          <p:nvPr userDrawn="1"/>
        </p:nvPicPr>
        <p:blipFill rotWithShape="1">
          <a:blip r:embed="rId5"/>
          <a:stretch/>
        </p:blipFill>
        <p:spPr bwMode="auto"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1071844957" name="Picture 26"/>
          <p:cNvPicPr>
            <a:picLocks noChangeAspect="1"/>
          </p:cNvPicPr>
          <p:nvPr userDrawn="1"/>
        </p:nvPicPr>
        <p:blipFill rotWithShape="1">
          <a:blip r:embed="rId6"/>
          <a:stretch/>
        </p:blipFill>
        <p:spPr bwMode="auto"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1015779535" name="Text Placeholder 2"/>
          <p:cNvSpPr>
            <a:spLocks noGrp="1"/>
          </p:cNvSpPr>
          <p:nvPr userDrawn="1">
            <p:ph type="body" sz="quarter" idx="11" hasCustomPrompt="1"/>
          </p:nvPr>
        </p:nvSpPr>
        <p:spPr bwMode="auto"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 b="0">
                <a:solidFill>
                  <a:schemeClr val="tx1"/>
                </a:solidFill>
                <a:latin typeface="Roboto Condensed Light"/>
                <a:ea typeface="Roboto Condensed Light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Email Address</a:t>
            </a:r>
            <a:endParaRPr/>
          </a:p>
        </p:txBody>
      </p:sp>
      <p:sp>
        <p:nvSpPr>
          <p:cNvPr id="666771037" name="Text Placeholder 2"/>
          <p:cNvSpPr>
            <a:spLocks noGrp="1"/>
          </p:cNvSpPr>
          <p:nvPr userDrawn="1">
            <p:ph type="body" sz="quarter" idx="12" hasCustomPrompt="1"/>
          </p:nvPr>
        </p:nvSpPr>
        <p:spPr bwMode="auto"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 b="0">
                <a:solidFill>
                  <a:schemeClr val="tx1"/>
                </a:solidFill>
                <a:latin typeface="Roboto Condensed Light"/>
                <a:ea typeface="Roboto Condensed Light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Phone No.</a:t>
            </a:r>
            <a:endParaRPr/>
          </a:p>
        </p:txBody>
      </p:sp>
      <p:sp>
        <p:nvSpPr>
          <p:cNvPr id="408216693" name="Text Placeholder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here Department Name</a:t>
            </a:r>
            <a:endParaRPr/>
          </a:p>
        </p:txBody>
      </p:sp>
      <p:sp>
        <p:nvSpPr>
          <p:cNvPr id="1596811118" name="Text Placeholder 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837677" y="5273332"/>
            <a:ext cx="558103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800" b="1">
                <a:gradFill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</a:gra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here your Author Name (i.e. Prof. Jay R </a:t>
            </a:r>
            <a:r>
              <a:rPr lang="en-US"/>
              <a:t>Dhamsaniya</a:t>
            </a:r>
            <a:r>
              <a:rPr lang="en-US"/>
              <a:t>)</a:t>
            </a:r>
            <a:endParaRPr/>
          </a:p>
        </p:txBody>
      </p:sp>
      <p:pic>
        <p:nvPicPr>
          <p:cNvPr id="1027842277" name="Picture 53"/>
          <p:cNvPicPr>
            <a:picLocks noChangeAspect="1"/>
          </p:cNvPicPr>
          <p:nvPr userDrawn="1"/>
        </p:nvPicPr>
        <p:blipFill rotWithShape="1">
          <a:blip r:embed="rId7"/>
          <a:stretch/>
        </p:blipFill>
        <p:spPr bwMode="auto"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138530095" name="Picture 54"/>
          <p:cNvPicPr>
            <a:picLocks noChangeAspect="1"/>
          </p:cNvPicPr>
          <p:nvPr userDrawn="1"/>
        </p:nvPicPr>
        <p:blipFill rotWithShape="1">
          <a:blip r:embed="rId8"/>
          <a:srcRect l="62023" t="18062" r="2730" b="17724"/>
          <a:stretch/>
        </p:blipFill>
        <p:spPr bwMode="auto"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960934943" name="Text Placeholder 2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2581756" y="20384"/>
            <a:ext cx="4646357" cy="734653"/>
          </a:xfrm>
        </p:spPr>
        <p:txBody>
          <a:bodyPr anchor="ctr">
            <a:no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0"/>
              </a:spcBef>
              <a:buNone/>
              <a:defRPr lang="en-US" sz="1800" b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Subject Name (Short Name)</a:t>
            </a:r>
            <a:endParaRPr/>
          </a:p>
          <a:p>
            <a:pPr lvl="0">
              <a:defRPr/>
            </a:pPr>
            <a:r>
              <a:rPr lang="en-US"/>
              <a:t>GTU # Subject Code</a:t>
            </a:r>
            <a:endParaRPr/>
          </a:p>
        </p:txBody>
      </p:sp>
      <p:pic>
        <p:nvPicPr>
          <p:cNvPr id="462326205" name="Picture 20" descr="User icon Royalty Free Vector Image - VectorStock"/>
          <p:cNvPicPr>
            <a:picLocks noChangeAspect="1" noChangeArrowheads="1"/>
          </p:cNvPicPr>
          <p:nvPr userDrawn="1"/>
        </p:nvPicPr>
        <p:blipFill rotWithShape="1">
          <a:blip r:embed="rId9">
            <a:lum bright="70000" contrast="-70000"/>
          </a:blip>
          <a:srcRect l="26030" t="21389" r="26030" b="34222"/>
          <a:stretch/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 fill="norm" stroke="1" extrusionOk="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</p:pic>
      <p:sp>
        <p:nvSpPr>
          <p:cNvPr id="337068784" name="Picture Placeholder 29"/>
          <p:cNvSpPr>
            <a:spLocks noGrp="1"/>
          </p:cNvSpPr>
          <p:nvPr>
            <p:ph type="pic" sz="quarter" idx="10"/>
          </p:nvPr>
        </p:nvSpPr>
        <p:spPr bwMode="auto"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 fill="norm" stroke="1" extrusionOk="0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Slide - Maro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0158016" name="Picture 24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0" t="18750" r="0" b="2500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32522593" name="TextBox 2"/>
          <p:cNvSpPr txBox="1"/>
          <p:nvPr userDrawn="1"/>
        </p:nvSpPr>
        <p:spPr bwMode="auto"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/>
              <a:t>Darshan Institute of Engineering &amp; Technology, Rajkot</a:t>
            </a:r>
            <a:endParaRPr/>
          </a:p>
        </p:txBody>
      </p:sp>
      <p:sp>
        <p:nvSpPr>
          <p:cNvPr id="878282630" name="Freeform 13"/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 fill="norm" stroke="1" extrusionOk="0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endParaRPr lang="en-US"/>
          </a:p>
        </p:txBody>
      </p:sp>
      <p:sp>
        <p:nvSpPr>
          <p:cNvPr id="1268563024" name="Freeform 17"/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 fill="norm" stroke="1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endParaRPr lang="en-US"/>
          </a:p>
        </p:txBody>
      </p:sp>
      <p:pic>
        <p:nvPicPr>
          <p:cNvPr id="392800659" name="Picture 31"/>
          <p:cNvPicPr>
            <a:picLocks noChangeAspect="1"/>
          </p:cNvPicPr>
          <p:nvPr userDrawn="1"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2083526745" name="Picture 32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1258591548" name="Straight Connector 44"/>
          <p:cNvCxnSpPr/>
          <p:nvPr/>
        </p:nvCxnSpPr>
        <p:spPr bwMode="auto"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2771544" name="Title 1"/>
          <p:cNvSpPr>
            <a:spLocks noGrp="1"/>
          </p:cNvSpPr>
          <p:nvPr userDrawn="1">
            <p:ph type="ctrTitle"/>
          </p:nvPr>
        </p:nvSpPr>
        <p:spPr bwMode="auto"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Segoe UI Black"/>
                <a:cs typeface="+mn-cs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pic>
        <p:nvPicPr>
          <p:cNvPr id="966747011" name="Picture 25"/>
          <p:cNvPicPr>
            <a:picLocks noChangeAspect="1"/>
          </p:cNvPicPr>
          <p:nvPr userDrawn="1"/>
        </p:nvPicPr>
        <p:blipFill rotWithShape="1">
          <a:blip r:embed="rId5"/>
          <a:stretch/>
        </p:blipFill>
        <p:spPr bwMode="auto"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372282680" name="Picture 26"/>
          <p:cNvPicPr>
            <a:picLocks noChangeAspect="1"/>
          </p:cNvPicPr>
          <p:nvPr userDrawn="1"/>
        </p:nvPicPr>
        <p:blipFill rotWithShape="1">
          <a:blip r:embed="rId6"/>
          <a:stretch/>
        </p:blipFill>
        <p:spPr bwMode="auto"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1964221338" name="Text Placeholder 2"/>
          <p:cNvSpPr>
            <a:spLocks noGrp="1"/>
          </p:cNvSpPr>
          <p:nvPr userDrawn="1">
            <p:ph type="body" sz="quarter" idx="11" hasCustomPrompt="1"/>
          </p:nvPr>
        </p:nvSpPr>
        <p:spPr bwMode="auto"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 b="0">
                <a:solidFill>
                  <a:schemeClr val="tx1"/>
                </a:solidFill>
                <a:latin typeface="Roboto Condensed Light"/>
                <a:ea typeface="Roboto Condensed Light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Email Address</a:t>
            </a:r>
            <a:endParaRPr/>
          </a:p>
        </p:txBody>
      </p:sp>
      <p:sp>
        <p:nvSpPr>
          <p:cNvPr id="1635159129" name="Text Placeholder 2"/>
          <p:cNvSpPr>
            <a:spLocks noGrp="1"/>
          </p:cNvSpPr>
          <p:nvPr userDrawn="1">
            <p:ph type="body" sz="quarter" idx="12" hasCustomPrompt="1"/>
          </p:nvPr>
        </p:nvSpPr>
        <p:spPr bwMode="auto"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 b="0">
                <a:solidFill>
                  <a:schemeClr val="tx1"/>
                </a:solidFill>
                <a:latin typeface="Roboto Condensed Light"/>
                <a:ea typeface="Roboto Condensed Light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Phone No.</a:t>
            </a:r>
            <a:endParaRPr/>
          </a:p>
        </p:txBody>
      </p:sp>
      <p:sp>
        <p:nvSpPr>
          <p:cNvPr id="985001883" name="Text Placeholder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here Department Name</a:t>
            </a:r>
            <a:endParaRPr/>
          </a:p>
        </p:txBody>
      </p:sp>
      <p:sp>
        <p:nvSpPr>
          <p:cNvPr id="164067482" name="Text Placeholder 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837677" y="5273332"/>
            <a:ext cx="558103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800" b="1">
                <a:gradFill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</a:gra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here your Author Name (i.e. Prof. Jay R </a:t>
            </a:r>
            <a:r>
              <a:rPr lang="en-US"/>
              <a:t>Dhamsaniya</a:t>
            </a:r>
            <a:r>
              <a:rPr lang="en-US"/>
              <a:t>)</a:t>
            </a:r>
            <a:endParaRPr/>
          </a:p>
        </p:txBody>
      </p:sp>
      <p:pic>
        <p:nvPicPr>
          <p:cNvPr id="1788870511" name="Picture 53"/>
          <p:cNvPicPr>
            <a:picLocks noChangeAspect="1"/>
          </p:cNvPicPr>
          <p:nvPr userDrawn="1"/>
        </p:nvPicPr>
        <p:blipFill rotWithShape="1">
          <a:blip r:embed="rId7"/>
          <a:stretch/>
        </p:blipFill>
        <p:spPr bwMode="auto"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172575816" name="Picture 54"/>
          <p:cNvPicPr>
            <a:picLocks noChangeAspect="1"/>
          </p:cNvPicPr>
          <p:nvPr userDrawn="1"/>
        </p:nvPicPr>
        <p:blipFill rotWithShape="1">
          <a:blip r:embed="rId8"/>
          <a:srcRect l="62023" t="18062" r="2730" b="17724"/>
          <a:stretch/>
        </p:blipFill>
        <p:spPr bwMode="auto"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1800879137" name="Text Placeholder 2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2581756" y="20384"/>
            <a:ext cx="4646357" cy="734653"/>
          </a:xfrm>
        </p:spPr>
        <p:txBody>
          <a:bodyPr anchor="ctr">
            <a:no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0"/>
              </a:spcBef>
              <a:buNone/>
              <a:defRPr lang="en-US" sz="1800" b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Subject Name (Short Name)</a:t>
            </a:r>
            <a:endParaRPr/>
          </a:p>
          <a:p>
            <a:pPr lvl="0">
              <a:defRPr/>
            </a:pPr>
            <a:r>
              <a:rPr lang="en-US"/>
              <a:t>GTU # Subject Code</a:t>
            </a:r>
            <a:endParaRPr/>
          </a:p>
        </p:txBody>
      </p:sp>
      <p:pic>
        <p:nvPicPr>
          <p:cNvPr id="1867923157" name="Picture 20" descr="User icon Royalty Free Vector Image - VectorStock"/>
          <p:cNvPicPr>
            <a:picLocks noChangeAspect="1" noChangeArrowheads="1"/>
          </p:cNvPicPr>
          <p:nvPr userDrawn="1"/>
        </p:nvPicPr>
        <p:blipFill rotWithShape="1">
          <a:blip r:embed="rId9">
            <a:lum bright="70000" contrast="-70000"/>
          </a:blip>
          <a:srcRect l="26030" t="21389" r="26030" b="34222"/>
          <a:stretch/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 fill="norm" stroke="1" extrusionOk="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</p:pic>
      <p:sp>
        <p:nvSpPr>
          <p:cNvPr id="471384890" name="Picture Placeholder 29"/>
          <p:cNvSpPr>
            <a:spLocks noGrp="1"/>
          </p:cNvSpPr>
          <p:nvPr>
            <p:ph type="pic" sz="quarter" idx="10"/>
          </p:nvPr>
        </p:nvSpPr>
        <p:spPr bwMode="auto"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 fill="norm" stroke="1" extrusionOk="0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Slide - Blue Gra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2713632" name="Picture 24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0" t="18750" r="0" b="2500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08064965" name="TextBox 2"/>
          <p:cNvSpPr txBox="1"/>
          <p:nvPr userDrawn="1"/>
        </p:nvSpPr>
        <p:spPr bwMode="auto"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/>
              <a:t>Darshan Institute of Engineering &amp; Technology, Rajkot</a:t>
            </a:r>
            <a:endParaRPr/>
          </a:p>
        </p:txBody>
      </p:sp>
      <p:sp>
        <p:nvSpPr>
          <p:cNvPr id="621274418" name="Freeform 13"/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 fill="norm" stroke="1" extrusionOk="0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endParaRPr lang="en-US"/>
          </a:p>
        </p:txBody>
      </p:sp>
      <p:sp>
        <p:nvSpPr>
          <p:cNvPr id="1527309698" name="Freeform 17"/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 fill="norm" stroke="1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endParaRPr lang="en-US"/>
          </a:p>
        </p:txBody>
      </p:sp>
      <p:pic>
        <p:nvPicPr>
          <p:cNvPr id="2030357714" name="Picture 31"/>
          <p:cNvPicPr>
            <a:picLocks noChangeAspect="1"/>
          </p:cNvPicPr>
          <p:nvPr userDrawn="1"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232693227" name="Picture 32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1044055037" name="Straight Connector 44"/>
          <p:cNvCxnSpPr/>
          <p:nvPr/>
        </p:nvCxnSpPr>
        <p:spPr bwMode="auto"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4226458" name="Title 1"/>
          <p:cNvSpPr>
            <a:spLocks noGrp="1"/>
          </p:cNvSpPr>
          <p:nvPr userDrawn="1">
            <p:ph type="ctrTitle"/>
          </p:nvPr>
        </p:nvSpPr>
        <p:spPr bwMode="auto"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Segoe UI Black"/>
                <a:cs typeface="+mn-cs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pic>
        <p:nvPicPr>
          <p:cNvPr id="348247675" name="Picture 25"/>
          <p:cNvPicPr>
            <a:picLocks noChangeAspect="1"/>
          </p:cNvPicPr>
          <p:nvPr userDrawn="1"/>
        </p:nvPicPr>
        <p:blipFill rotWithShape="1">
          <a:blip r:embed="rId5"/>
          <a:stretch/>
        </p:blipFill>
        <p:spPr bwMode="auto"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734329716" name="Picture 26"/>
          <p:cNvPicPr>
            <a:picLocks noChangeAspect="1"/>
          </p:cNvPicPr>
          <p:nvPr userDrawn="1"/>
        </p:nvPicPr>
        <p:blipFill rotWithShape="1">
          <a:blip r:embed="rId6"/>
          <a:stretch/>
        </p:blipFill>
        <p:spPr bwMode="auto"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1826671174" name="Text Placeholder 2"/>
          <p:cNvSpPr>
            <a:spLocks noGrp="1"/>
          </p:cNvSpPr>
          <p:nvPr userDrawn="1">
            <p:ph type="body" sz="quarter" idx="11" hasCustomPrompt="1"/>
          </p:nvPr>
        </p:nvSpPr>
        <p:spPr bwMode="auto"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 b="0">
                <a:solidFill>
                  <a:schemeClr val="tx1"/>
                </a:solidFill>
                <a:latin typeface="Roboto Condensed Light"/>
                <a:ea typeface="Roboto Condensed Light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Email Address</a:t>
            </a:r>
            <a:endParaRPr/>
          </a:p>
        </p:txBody>
      </p:sp>
      <p:sp>
        <p:nvSpPr>
          <p:cNvPr id="2099685554" name="Text Placeholder 2"/>
          <p:cNvSpPr>
            <a:spLocks noGrp="1"/>
          </p:cNvSpPr>
          <p:nvPr userDrawn="1">
            <p:ph type="body" sz="quarter" idx="12" hasCustomPrompt="1"/>
          </p:nvPr>
        </p:nvSpPr>
        <p:spPr bwMode="auto"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 b="0">
                <a:solidFill>
                  <a:schemeClr val="tx1"/>
                </a:solidFill>
                <a:latin typeface="Roboto Condensed Light"/>
                <a:ea typeface="Roboto Condensed Light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Phone No.</a:t>
            </a:r>
            <a:endParaRPr/>
          </a:p>
        </p:txBody>
      </p:sp>
      <p:sp>
        <p:nvSpPr>
          <p:cNvPr id="1629846623" name="Text Placeholder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here Department Name</a:t>
            </a:r>
            <a:endParaRPr/>
          </a:p>
        </p:txBody>
      </p:sp>
      <p:sp>
        <p:nvSpPr>
          <p:cNvPr id="1951366455" name="Text Placeholder 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837677" y="5273332"/>
            <a:ext cx="558103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800" b="1">
                <a:gradFill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</a:gra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here your Author Name (i.e. Prof. Jay R </a:t>
            </a:r>
            <a:r>
              <a:rPr lang="en-US"/>
              <a:t>Dhamsaniya</a:t>
            </a:r>
            <a:r>
              <a:rPr lang="en-US"/>
              <a:t>)</a:t>
            </a:r>
            <a:endParaRPr/>
          </a:p>
        </p:txBody>
      </p:sp>
      <p:pic>
        <p:nvPicPr>
          <p:cNvPr id="1983944119" name="Picture 53"/>
          <p:cNvPicPr>
            <a:picLocks noChangeAspect="1"/>
          </p:cNvPicPr>
          <p:nvPr userDrawn="1"/>
        </p:nvPicPr>
        <p:blipFill rotWithShape="1">
          <a:blip r:embed="rId7"/>
          <a:stretch/>
        </p:blipFill>
        <p:spPr bwMode="auto"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600504338" name="Picture 54"/>
          <p:cNvPicPr>
            <a:picLocks noChangeAspect="1"/>
          </p:cNvPicPr>
          <p:nvPr userDrawn="1"/>
        </p:nvPicPr>
        <p:blipFill rotWithShape="1">
          <a:blip r:embed="rId8"/>
          <a:srcRect l="62023" t="18062" r="2730" b="17724"/>
          <a:stretch/>
        </p:blipFill>
        <p:spPr bwMode="auto"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458759436" name="Text Placeholder 2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2581756" y="20384"/>
            <a:ext cx="4646357" cy="734653"/>
          </a:xfrm>
        </p:spPr>
        <p:txBody>
          <a:bodyPr anchor="ctr">
            <a:no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0"/>
              </a:spcBef>
              <a:buNone/>
              <a:defRPr lang="en-US" sz="1800" b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Subject Name (Short Name)</a:t>
            </a:r>
            <a:endParaRPr/>
          </a:p>
          <a:p>
            <a:pPr lvl="0">
              <a:defRPr/>
            </a:pPr>
            <a:r>
              <a:rPr lang="en-US"/>
              <a:t>GTU # Subject Code</a:t>
            </a:r>
            <a:endParaRPr/>
          </a:p>
        </p:txBody>
      </p:sp>
      <p:pic>
        <p:nvPicPr>
          <p:cNvPr id="14793905" name="Picture 20" descr="User icon Royalty Free Vector Image - VectorStock"/>
          <p:cNvPicPr>
            <a:picLocks noChangeAspect="1" noChangeArrowheads="1"/>
          </p:cNvPicPr>
          <p:nvPr userDrawn="1"/>
        </p:nvPicPr>
        <p:blipFill rotWithShape="1">
          <a:blip r:embed="rId9">
            <a:lum bright="70000" contrast="-70000"/>
          </a:blip>
          <a:srcRect l="26030" t="21389" r="26030" b="34222"/>
          <a:stretch/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 fill="norm" stroke="1" extrusionOk="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</p:pic>
      <p:sp>
        <p:nvSpPr>
          <p:cNvPr id="958898899" name="Picture Placeholder 29"/>
          <p:cNvSpPr>
            <a:spLocks noGrp="1"/>
          </p:cNvSpPr>
          <p:nvPr>
            <p:ph type="pic" sz="quarter" idx="10"/>
          </p:nvPr>
        </p:nvSpPr>
        <p:spPr bwMode="auto"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 fill="norm" stroke="1" extrusionOk="0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Slide - Brow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3467294" name="Picture 24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0" t="18750" r="0" b="2500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37686974" name="TextBox 2"/>
          <p:cNvSpPr txBox="1"/>
          <p:nvPr userDrawn="1"/>
        </p:nvSpPr>
        <p:spPr bwMode="auto"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/>
              <a:t>Darshan Institute of Engineering &amp; Technology, Rajkot</a:t>
            </a:r>
            <a:endParaRPr/>
          </a:p>
        </p:txBody>
      </p:sp>
      <p:sp>
        <p:nvSpPr>
          <p:cNvPr id="701758968" name="Freeform 13"/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 fill="norm" stroke="1" extrusionOk="0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endParaRPr lang="en-US"/>
          </a:p>
        </p:txBody>
      </p:sp>
      <p:sp>
        <p:nvSpPr>
          <p:cNvPr id="1549746619" name="Freeform 17"/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 fill="norm" stroke="1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endParaRPr lang="en-US"/>
          </a:p>
        </p:txBody>
      </p:sp>
      <p:pic>
        <p:nvPicPr>
          <p:cNvPr id="789845883" name="Picture 31"/>
          <p:cNvPicPr>
            <a:picLocks noChangeAspect="1"/>
          </p:cNvPicPr>
          <p:nvPr userDrawn="1"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216976880" name="Picture 32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2117272402" name="Straight Connector 44"/>
          <p:cNvCxnSpPr/>
          <p:nvPr/>
        </p:nvCxnSpPr>
        <p:spPr bwMode="auto"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2441078" name="Title 1"/>
          <p:cNvSpPr>
            <a:spLocks noGrp="1"/>
          </p:cNvSpPr>
          <p:nvPr userDrawn="1">
            <p:ph type="ctrTitle"/>
          </p:nvPr>
        </p:nvSpPr>
        <p:spPr bwMode="auto"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Segoe UI Black"/>
                <a:cs typeface="+mn-cs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pic>
        <p:nvPicPr>
          <p:cNvPr id="1346732344" name="Picture 25"/>
          <p:cNvPicPr>
            <a:picLocks noChangeAspect="1"/>
          </p:cNvPicPr>
          <p:nvPr userDrawn="1"/>
        </p:nvPicPr>
        <p:blipFill rotWithShape="1">
          <a:blip r:embed="rId5"/>
          <a:stretch/>
        </p:blipFill>
        <p:spPr bwMode="auto"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0190754" name="Picture 26"/>
          <p:cNvPicPr>
            <a:picLocks noChangeAspect="1"/>
          </p:cNvPicPr>
          <p:nvPr userDrawn="1"/>
        </p:nvPicPr>
        <p:blipFill rotWithShape="1">
          <a:blip r:embed="rId6"/>
          <a:stretch/>
        </p:blipFill>
        <p:spPr bwMode="auto"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1785203112" name="Text Placeholder 2"/>
          <p:cNvSpPr>
            <a:spLocks noGrp="1"/>
          </p:cNvSpPr>
          <p:nvPr userDrawn="1">
            <p:ph type="body" sz="quarter" idx="11" hasCustomPrompt="1"/>
          </p:nvPr>
        </p:nvSpPr>
        <p:spPr bwMode="auto"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 b="0">
                <a:solidFill>
                  <a:schemeClr val="tx1"/>
                </a:solidFill>
                <a:latin typeface="Roboto Condensed Light"/>
                <a:ea typeface="Roboto Condensed Light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Email Address</a:t>
            </a:r>
            <a:endParaRPr/>
          </a:p>
        </p:txBody>
      </p:sp>
      <p:sp>
        <p:nvSpPr>
          <p:cNvPr id="1428237122" name="Text Placeholder 2"/>
          <p:cNvSpPr>
            <a:spLocks noGrp="1"/>
          </p:cNvSpPr>
          <p:nvPr userDrawn="1">
            <p:ph type="body" sz="quarter" idx="12" hasCustomPrompt="1"/>
          </p:nvPr>
        </p:nvSpPr>
        <p:spPr bwMode="auto"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 b="0">
                <a:solidFill>
                  <a:schemeClr val="tx1"/>
                </a:solidFill>
                <a:latin typeface="Roboto Condensed Light"/>
                <a:ea typeface="Roboto Condensed Light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Phone No.</a:t>
            </a:r>
            <a:endParaRPr/>
          </a:p>
        </p:txBody>
      </p:sp>
      <p:sp>
        <p:nvSpPr>
          <p:cNvPr id="1792216214" name="Text Placeholder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here Department Name</a:t>
            </a:r>
            <a:endParaRPr/>
          </a:p>
        </p:txBody>
      </p:sp>
      <p:sp>
        <p:nvSpPr>
          <p:cNvPr id="475326145" name="Text Placeholder 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837677" y="5273332"/>
            <a:ext cx="558103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800" b="1">
                <a:gradFill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</a:gra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here your Author Name (i.e. Prof. Jay R </a:t>
            </a:r>
            <a:r>
              <a:rPr lang="en-US"/>
              <a:t>Dhamsaniya</a:t>
            </a:r>
            <a:r>
              <a:rPr lang="en-US"/>
              <a:t>)</a:t>
            </a:r>
            <a:endParaRPr/>
          </a:p>
        </p:txBody>
      </p:sp>
      <p:pic>
        <p:nvPicPr>
          <p:cNvPr id="15677327" name="Picture 53"/>
          <p:cNvPicPr>
            <a:picLocks noChangeAspect="1"/>
          </p:cNvPicPr>
          <p:nvPr userDrawn="1"/>
        </p:nvPicPr>
        <p:blipFill rotWithShape="1">
          <a:blip r:embed="rId7"/>
          <a:stretch/>
        </p:blipFill>
        <p:spPr bwMode="auto"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1194240918" name="Picture 54"/>
          <p:cNvPicPr>
            <a:picLocks noChangeAspect="1"/>
          </p:cNvPicPr>
          <p:nvPr userDrawn="1"/>
        </p:nvPicPr>
        <p:blipFill rotWithShape="1">
          <a:blip r:embed="rId8"/>
          <a:srcRect l="62023" t="18062" r="2730" b="17724"/>
          <a:stretch/>
        </p:blipFill>
        <p:spPr bwMode="auto"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951735801" name="Text Placeholder 2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2581756" y="20384"/>
            <a:ext cx="4646357" cy="734653"/>
          </a:xfrm>
        </p:spPr>
        <p:txBody>
          <a:bodyPr anchor="ctr">
            <a:no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0"/>
              </a:spcBef>
              <a:buNone/>
              <a:defRPr lang="en-US" sz="1800" b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Subject Name (Short Name)</a:t>
            </a:r>
            <a:endParaRPr/>
          </a:p>
          <a:p>
            <a:pPr lvl="0">
              <a:defRPr/>
            </a:pPr>
            <a:r>
              <a:rPr lang="en-US"/>
              <a:t>GTU # Subject Code</a:t>
            </a:r>
            <a:endParaRPr/>
          </a:p>
        </p:txBody>
      </p:sp>
      <p:pic>
        <p:nvPicPr>
          <p:cNvPr id="927489503" name="Picture 20" descr="User icon Royalty Free Vector Image - VectorStock"/>
          <p:cNvPicPr>
            <a:picLocks noChangeAspect="1" noChangeArrowheads="1"/>
          </p:cNvPicPr>
          <p:nvPr userDrawn="1"/>
        </p:nvPicPr>
        <p:blipFill rotWithShape="1">
          <a:blip r:embed="rId9">
            <a:lum bright="70000" contrast="-70000"/>
          </a:blip>
          <a:srcRect l="26030" t="21389" r="26030" b="34222"/>
          <a:stretch/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 fill="norm" stroke="1" extrusionOk="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</p:pic>
      <p:sp>
        <p:nvSpPr>
          <p:cNvPr id="924914369" name="Picture Placeholder 29"/>
          <p:cNvSpPr>
            <a:spLocks noGrp="1"/>
          </p:cNvSpPr>
          <p:nvPr>
            <p:ph type="pic" sz="quarter" idx="10"/>
          </p:nvPr>
        </p:nvSpPr>
        <p:spPr bwMode="auto"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 fill="norm" stroke="1" extrusionOk="0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Slide - Deep Pup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6231104" name="Picture 24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0" t="18750" r="0" b="2500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48935229" name="TextBox 2"/>
          <p:cNvSpPr txBox="1"/>
          <p:nvPr userDrawn="1"/>
        </p:nvSpPr>
        <p:spPr bwMode="auto"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/>
              <a:t>Darshan Institute of Engineering &amp; Technology, Rajkot</a:t>
            </a:r>
            <a:endParaRPr/>
          </a:p>
        </p:txBody>
      </p:sp>
      <p:sp>
        <p:nvSpPr>
          <p:cNvPr id="17293483" name="Freeform 13"/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 fill="norm" stroke="1" extrusionOk="0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endParaRPr lang="en-US"/>
          </a:p>
        </p:txBody>
      </p:sp>
      <p:sp>
        <p:nvSpPr>
          <p:cNvPr id="19787924" name="Freeform 17"/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 fill="norm" stroke="1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endParaRPr lang="en-US"/>
          </a:p>
        </p:txBody>
      </p:sp>
      <p:pic>
        <p:nvPicPr>
          <p:cNvPr id="1339473527" name="Picture 31"/>
          <p:cNvPicPr>
            <a:picLocks noChangeAspect="1"/>
          </p:cNvPicPr>
          <p:nvPr userDrawn="1"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983055183" name="Picture 32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807906324" name="Straight Connector 44"/>
          <p:cNvCxnSpPr/>
          <p:nvPr/>
        </p:nvCxnSpPr>
        <p:spPr bwMode="auto"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8565705" name="Title 1"/>
          <p:cNvSpPr>
            <a:spLocks noGrp="1"/>
          </p:cNvSpPr>
          <p:nvPr userDrawn="1">
            <p:ph type="ctrTitle"/>
          </p:nvPr>
        </p:nvSpPr>
        <p:spPr bwMode="auto"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Segoe UI Black"/>
                <a:cs typeface="+mn-cs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pic>
        <p:nvPicPr>
          <p:cNvPr id="1834265805" name="Picture 25"/>
          <p:cNvPicPr>
            <a:picLocks noChangeAspect="1"/>
          </p:cNvPicPr>
          <p:nvPr userDrawn="1"/>
        </p:nvPicPr>
        <p:blipFill rotWithShape="1">
          <a:blip r:embed="rId5"/>
          <a:stretch/>
        </p:blipFill>
        <p:spPr bwMode="auto"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560587978" name="Picture 26"/>
          <p:cNvPicPr>
            <a:picLocks noChangeAspect="1"/>
          </p:cNvPicPr>
          <p:nvPr userDrawn="1"/>
        </p:nvPicPr>
        <p:blipFill rotWithShape="1">
          <a:blip r:embed="rId6"/>
          <a:stretch/>
        </p:blipFill>
        <p:spPr bwMode="auto"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102259927" name="Text Placeholder 2"/>
          <p:cNvSpPr>
            <a:spLocks noGrp="1"/>
          </p:cNvSpPr>
          <p:nvPr userDrawn="1">
            <p:ph type="body" sz="quarter" idx="11" hasCustomPrompt="1"/>
          </p:nvPr>
        </p:nvSpPr>
        <p:spPr bwMode="auto"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 b="0">
                <a:solidFill>
                  <a:schemeClr val="tx1"/>
                </a:solidFill>
                <a:latin typeface="Roboto Condensed Light"/>
                <a:ea typeface="Roboto Condensed Light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Email Address</a:t>
            </a:r>
            <a:endParaRPr/>
          </a:p>
        </p:txBody>
      </p:sp>
      <p:sp>
        <p:nvSpPr>
          <p:cNvPr id="1861188160" name="Text Placeholder 2"/>
          <p:cNvSpPr>
            <a:spLocks noGrp="1"/>
          </p:cNvSpPr>
          <p:nvPr userDrawn="1">
            <p:ph type="body" sz="quarter" idx="12" hasCustomPrompt="1"/>
          </p:nvPr>
        </p:nvSpPr>
        <p:spPr bwMode="auto"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 b="0">
                <a:solidFill>
                  <a:schemeClr val="tx1"/>
                </a:solidFill>
                <a:latin typeface="Roboto Condensed Light"/>
                <a:ea typeface="Roboto Condensed Light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Phone No.</a:t>
            </a:r>
            <a:endParaRPr/>
          </a:p>
        </p:txBody>
      </p:sp>
      <p:sp>
        <p:nvSpPr>
          <p:cNvPr id="1908561379" name="Text Placeholder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here Department Name</a:t>
            </a:r>
            <a:endParaRPr/>
          </a:p>
        </p:txBody>
      </p:sp>
      <p:sp>
        <p:nvSpPr>
          <p:cNvPr id="611906673" name="Text Placeholder 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837677" y="5273332"/>
            <a:ext cx="558103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800" b="1">
                <a:gradFill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</a:gra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here your Author Name (i.e. Prof. Jay R </a:t>
            </a:r>
            <a:r>
              <a:rPr lang="en-US"/>
              <a:t>Dhamsaniya</a:t>
            </a:r>
            <a:r>
              <a:rPr lang="en-US"/>
              <a:t>)</a:t>
            </a:r>
            <a:endParaRPr/>
          </a:p>
        </p:txBody>
      </p:sp>
      <p:pic>
        <p:nvPicPr>
          <p:cNvPr id="1880328978" name="Picture 53"/>
          <p:cNvPicPr>
            <a:picLocks noChangeAspect="1"/>
          </p:cNvPicPr>
          <p:nvPr userDrawn="1"/>
        </p:nvPicPr>
        <p:blipFill rotWithShape="1">
          <a:blip r:embed="rId7"/>
          <a:stretch/>
        </p:blipFill>
        <p:spPr bwMode="auto"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1428169894" name="Picture 54"/>
          <p:cNvPicPr>
            <a:picLocks noChangeAspect="1"/>
          </p:cNvPicPr>
          <p:nvPr userDrawn="1"/>
        </p:nvPicPr>
        <p:blipFill rotWithShape="1">
          <a:blip r:embed="rId8"/>
          <a:srcRect l="62023" t="18062" r="2730" b="17724"/>
          <a:stretch/>
        </p:blipFill>
        <p:spPr bwMode="auto"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066965168" name="Text Placeholder 2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2581756" y="20384"/>
            <a:ext cx="4646357" cy="734653"/>
          </a:xfrm>
        </p:spPr>
        <p:txBody>
          <a:bodyPr anchor="ctr">
            <a:no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0"/>
              </a:spcBef>
              <a:buNone/>
              <a:defRPr lang="en-US" sz="1800" b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Subject Name (Short Name)</a:t>
            </a:r>
            <a:endParaRPr/>
          </a:p>
          <a:p>
            <a:pPr lvl="0">
              <a:defRPr/>
            </a:pPr>
            <a:r>
              <a:rPr lang="en-US"/>
              <a:t>GTU # Subject Code</a:t>
            </a:r>
            <a:endParaRPr/>
          </a:p>
        </p:txBody>
      </p:sp>
      <p:pic>
        <p:nvPicPr>
          <p:cNvPr id="1194186511" name="Picture 20" descr="User icon Royalty Free Vector Image - VectorStock"/>
          <p:cNvPicPr>
            <a:picLocks noChangeAspect="1" noChangeArrowheads="1"/>
          </p:cNvPicPr>
          <p:nvPr userDrawn="1"/>
        </p:nvPicPr>
        <p:blipFill rotWithShape="1">
          <a:blip r:embed="rId9">
            <a:lum bright="70000" contrast="-70000"/>
          </a:blip>
          <a:srcRect l="26030" t="21389" r="26030" b="34222"/>
          <a:stretch/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 fill="norm" stroke="1" extrusionOk="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</p:pic>
      <p:sp>
        <p:nvSpPr>
          <p:cNvPr id="1067908802" name="Picture Placeholder 29"/>
          <p:cNvSpPr>
            <a:spLocks noGrp="1"/>
          </p:cNvSpPr>
          <p:nvPr>
            <p:ph type="pic" sz="quarter" idx="10"/>
          </p:nvPr>
        </p:nvSpPr>
        <p:spPr bwMode="auto"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 fill="norm" stroke="1" extrusionOk="0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Slide - Blu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741154" name="Picture 24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0" t="18750" r="0" b="2500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50554946" name="TextBox 2"/>
          <p:cNvSpPr txBox="1"/>
          <p:nvPr userDrawn="1"/>
        </p:nvSpPr>
        <p:spPr bwMode="auto"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/>
              <a:t>Darshan Institute of Engineering &amp; Technology, Rajkot</a:t>
            </a:r>
            <a:endParaRPr/>
          </a:p>
        </p:txBody>
      </p:sp>
      <p:sp>
        <p:nvSpPr>
          <p:cNvPr id="615555053" name="Freeform 13"/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 fill="norm" stroke="1" extrusionOk="0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endParaRPr lang="en-US"/>
          </a:p>
        </p:txBody>
      </p:sp>
      <p:sp>
        <p:nvSpPr>
          <p:cNvPr id="1655618150" name="Freeform 17"/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 fill="norm" stroke="1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endParaRPr lang="en-US"/>
          </a:p>
        </p:txBody>
      </p:sp>
      <p:pic>
        <p:nvPicPr>
          <p:cNvPr id="624937214" name="Picture 31"/>
          <p:cNvPicPr>
            <a:picLocks noChangeAspect="1"/>
          </p:cNvPicPr>
          <p:nvPr userDrawn="1"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1784253964" name="Picture 32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980726655" name="Straight Connector 44"/>
          <p:cNvCxnSpPr/>
          <p:nvPr/>
        </p:nvCxnSpPr>
        <p:spPr bwMode="auto"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6644201" name="Title 1"/>
          <p:cNvSpPr>
            <a:spLocks noGrp="1"/>
          </p:cNvSpPr>
          <p:nvPr userDrawn="1">
            <p:ph type="ctrTitle"/>
          </p:nvPr>
        </p:nvSpPr>
        <p:spPr bwMode="auto"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Segoe UI Black"/>
                <a:cs typeface="+mn-cs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pic>
        <p:nvPicPr>
          <p:cNvPr id="925187681" name="Picture 25"/>
          <p:cNvPicPr>
            <a:picLocks noChangeAspect="1"/>
          </p:cNvPicPr>
          <p:nvPr userDrawn="1"/>
        </p:nvPicPr>
        <p:blipFill rotWithShape="1">
          <a:blip r:embed="rId5"/>
          <a:stretch/>
        </p:blipFill>
        <p:spPr bwMode="auto"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304351073" name="Picture 26"/>
          <p:cNvPicPr>
            <a:picLocks noChangeAspect="1"/>
          </p:cNvPicPr>
          <p:nvPr userDrawn="1"/>
        </p:nvPicPr>
        <p:blipFill rotWithShape="1">
          <a:blip r:embed="rId6"/>
          <a:stretch/>
        </p:blipFill>
        <p:spPr bwMode="auto"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1697131976" name="Text Placeholder 2"/>
          <p:cNvSpPr>
            <a:spLocks noGrp="1"/>
          </p:cNvSpPr>
          <p:nvPr userDrawn="1">
            <p:ph type="body" sz="quarter" idx="11" hasCustomPrompt="1"/>
          </p:nvPr>
        </p:nvSpPr>
        <p:spPr bwMode="auto"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 b="0">
                <a:solidFill>
                  <a:schemeClr val="tx1"/>
                </a:solidFill>
                <a:latin typeface="Roboto Condensed Light"/>
                <a:ea typeface="Roboto Condensed Light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Email Address</a:t>
            </a:r>
            <a:endParaRPr/>
          </a:p>
        </p:txBody>
      </p:sp>
      <p:sp>
        <p:nvSpPr>
          <p:cNvPr id="182639554" name="Text Placeholder 2"/>
          <p:cNvSpPr>
            <a:spLocks noGrp="1"/>
          </p:cNvSpPr>
          <p:nvPr userDrawn="1">
            <p:ph type="body" sz="quarter" idx="12" hasCustomPrompt="1"/>
          </p:nvPr>
        </p:nvSpPr>
        <p:spPr bwMode="auto"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 b="0">
                <a:solidFill>
                  <a:schemeClr val="tx1"/>
                </a:solidFill>
                <a:latin typeface="Roboto Condensed Light"/>
                <a:ea typeface="Roboto Condensed Light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Phone No.</a:t>
            </a:r>
            <a:endParaRPr/>
          </a:p>
        </p:txBody>
      </p:sp>
      <p:sp>
        <p:nvSpPr>
          <p:cNvPr id="851768086" name="Text Placeholder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here Department Name</a:t>
            </a:r>
            <a:endParaRPr/>
          </a:p>
        </p:txBody>
      </p:sp>
      <p:sp>
        <p:nvSpPr>
          <p:cNvPr id="979893062" name="Text Placeholder 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837677" y="5273332"/>
            <a:ext cx="558103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800" b="1">
                <a:gradFill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</a:gra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here your Author Name (i.e. Prof. Jay R </a:t>
            </a:r>
            <a:r>
              <a:rPr lang="en-US"/>
              <a:t>Dhamsaniya</a:t>
            </a:r>
            <a:r>
              <a:rPr lang="en-US"/>
              <a:t>)</a:t>
            </a:r>
            <a:endParaRPr/>
          </a:p>
        </p:txBody>
      </p:sp>
      <p:pic>
        <p:nvPicPr>
          <p:cNvPr id="970510512" name="Picture 53"/>
          <p:cNvPicPr>
            <a:picLocks noChangeAspect="1"/>
          </p:cNvPicPr>
          <p:nvPr userDrawn="1"/>
        </p:nvPicPr>
        <p:blipFill rotWithShape="1">
          <a:blip r:embed="rId7"/>
          <a:stretch/>
        </p:blipFill>
        <p:spPr bwMode="auto"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86180570" name="Picture 54"/>
          <p:cNvPicPr>
            <a:picLocks noChangeAspect="1"/>
          </p:cNvPicPr>
          <p:nvPr userDrawn="1"/>
        </p:nvPicPr>
        <p:blipFill rotWithShape="1">
          <a:blip r:embed="rId8"/>
          <a:srcRect l="62023" t="18062" r="2730" b="17724"/>
          <a:stretch/>
        </p:blipFill>
        <p:spPr bwMode="auto"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934058594" name="Text Placeholder 2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2581756" y="20384"/>
            <a:ext cx="4646357" cy="734653"/>
          </a:xfrm>
        </p:spPr>
        <p:txBody>
          <a:bodyPr anchor="ctr">
            <a:no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0"/>
              </a:spcBef>
              <a:buNone/>
              <a:defRPr lang="en-US" sz="1800" b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Subject Name (Short Name)</a:t>
            </a:r>
            <a:endParaRPr/>
          </a:p>
          <a:p>
            <a:pPr lvl="0">
              <a:defRPr/>
            </a:pPr>
            <a:r>
              <a:rPr lang="en-US"/>
              <a:t>GTU # Subject Code</a:t>
            </a:r>
            <a:endParaRPr/>
          </a:p>
        </p:txBody>
      </p:sp>
      <p:pic>
        <p:nvPicPr>
          <p:cNvPr id="1643215484" name="Picture 20" descr="User icon Royalty Free Vector Image - VectorStock"/>
          <p:cNvPicPr>
            <a:picLocks noChangeAspect="1" noChangeArrowheads="1"/>
          </p:cNvPicPr>
          <p:nvPr userDrawn="1"/>
        </p:nvPicPr>
        <p:blipFill rotWithShape="1">
          <a:blip r:embed="rId9">
            <a:lum bright="70000" contrast="-70000"/>
          </a:blip>
          <a:srcRect l="26030" t="21389" r="26030" b="34222"/>
          <a:stretch/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 fill="norm" stroke="1" extrusionOk="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</p:pic>
      <p:sp>
        <p:nvSpPr>
          <p:cNvPr id="1340313146" name="Picture Placeholder 29"/>
          <p:cNvSpPr>
            <a:spLocks noGrp="1"/>
          </p:cNvSpPr>
          <p:nvPr>
            <p:ph type="pic" sz="quarter" idx="10"/>
          </p:nvPr>
        </p:nvSpPr>
        <p:spPr bwMode="auto"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 fill="norm" stroke="1" extrusionOk="0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Slide - Re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892597" name="Picture 24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0" t="18750" r="0" b="2500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32422247" name="TextBox 2"/>
          <p:cNvSpPr txBox="1"/>
          <p:nvPr userDrawn="1"/>
        </p:nvSpPr>
        <p:spPr bwMode="auto"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/>
              <a:t>Darshan Institute of Engineering &amp; Technology, Rajkot</a:t>
            </a:r>
            <a:endParaRPr/>
          </a:p>
        </p:txBody>
      </p:sp>
      <p:sp>
        <p:nvSpPr>
          <p:cNvPr id="1446545025" name="Freeform 13"/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 fill="norm" stroke="1" extrusionOk="0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endParaRPr lang="en-US"/>
          </a:p>
        </p:txBody>
      </p:sp>
      <p:sp>
        <p:nvSpPr>
          <p:cNvPr id="630156489" name="Freeform 17"/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 fill="norm" stroke="1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endParaRPr lang="en-US"/>
          </a:p>
        </p:txBody>
      </p:sp>
      <p:pic>
        <p:nvPicPr>
          <p:cNvPr id="881756146" name="Picture 31"/>
          <p:cNvPicPr>
            <a:picLocks noChangeAspect="1"/>
          </p:cNvPicPr>
          <p:nvPr userDrawn="1"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1727594836" name="Picture 32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2085097228" name="Straight Connector 44"/>
          <p:cNvCxnSpPr/>
          <p:nvPr/>
        </p:nvCxnSpPr>
        <p:spPr bwMode="auto"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7313953" name="Title 1"/>
          <p:cNvSpPr>
            <a:spLocks noGrp="1"/>
          </p:cNvSpPr>
          <p:nvPr userDrawn="1">
            <p:ph type="ctrTitle"/>
          </p:nvPr>
        </p:nvSpPr>
        <p:spPr bwMode="auto"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Segoe UI Black"/>
                <a:cs typeface="+mn-cs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pic>
        <p:nvPicPr>
          <p:cNvPr id="1932521961" name="Picture 25"/>
          <p:cNvPicPr>
            <a:picLocks noChangeAspect="1"/>
          </p:cNvPicPr>
          <p:nvPr userDrawn="1"/>
        </p:nvPicPr>
        <p:blipFill rotWithShape="1">
          <a:blip r:embed="rId5"/>
          <a:stretch/>
        </p:blipFill>
        <p:spPr bwMode="auto"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1013636161" name="Picture 26"/>
          <p:cNvPicPr>
            <a:picLocks noChangeAspect="1"/>
          </p:cNvPicPr>
          <p:nvPr userDrawn="1"/>
        </p:nvPicPr>
        <p:blipFill rotWithShape="1">
          <a:blip r:embed="rId6"/>
          <a:stretch/>
        </p:blipFill>
        <p:spPr bwMode="auto"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007177323" name="Text Placeholder 2"/>
          <p:cNvSpPr>
            <a:spLocks noGrp="1"/>
          </p:cNvSpPr>
          <p:nvPr userDrawn="1">
            <p:ph type="body" sz="quarter" idx="11" hasCustomPrompt="1"/>
          </p:nvPr>
        </p:nvSpPr>
        <p:spPr bwMode="auto"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 b="0">
                <a:solidFill>
                  <a:schemeClr val="tx1"/>
                </a:solidFill>
                <a:latin typeface="Roboto Condensed Light"/>
                <a:ea typeface="Roboto Condensed Light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Email Address</a:t>
            </a:r>
            <a:endParaRPr/>
          </a:p>
        </p:txBody>
      </p:sp>
      <p:sp>
        <p:nvSpPr>
          <p:cNvPr id="842156304" name="Text Placeholder 2"/>
          <p:cNvSpPr>
            <a:spLocks noGrp="1"/>
          </p:cNvSpPr>
          <p:nvPr userDrawn="1">
            <p:ph type="body" sz="quarter" idx="12" hasCustomPrompt="1"/>
          </p:nvPr>
        </p:nvSpPr>
        <p:spPr bwMode="auto"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 b="0">
                <a:solidFill>
                  <a:schemeClr val="tx1"/>
                </a:solidFill>
                <a:latin typeface="Roboto Condensed Light"/>
                <a:ea typeface="Roboto Condensed Light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Phone No.</a:t>
            </a:r>
            <a:endParaRPr/>
          </a:p>
        </p:txBody>
      </p:sp>
      <p:sp>
        <p:nvSpPr>
          <p:cNvPr id="1348368645" name="Text Placeholder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here Department Name</a:t>
            </a:r>
            <a:endParaRPr/>
          </a:p>
        </p:txBody>
      </p:sp>
      <p:sp>
        <p:nvSpPr>
          <p:cNvPr id="670014917" name="Text Placeholder 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837677" y="5273332"/>
            <a:ext cx="558103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800" b="1">
                <a:gradFill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</a:gra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here your Author Name (i.e. Prof. Jay R </a:t>
            </a:r>
            <a:r>
              <a:rPr lang="en-US"/>
              <a:t>Dhamsaniya</a:t>
            </a:r>
            <a:r>
              <a:rPr lang="en-US"/>
              <a:t>)</a:t>
            </a:r>
            <a:endParaRPr/>
          </a:p>
        </p:txBody>
      </p:sp>
      <p:pic>
        <p:nvPicPr>
          <p:cNvPr id="364415925" name="Picture 53"/>
          <p:cNvPicPr>
            <a:picLocks noChangeAspect="1"/>
          </p:cNvPicPr>
          <p:nvPr userDrawn="1"/>
        </p:nvPicPr>
        <p:blipFill rotWithShape="1">
          <a:blip r:embed="rId7"/>
          <a:stretch/>
        </p:blipFill>
        <p:spPr bwMode="auto"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986699857" name="Picture 54"/>
          <p:cNvPicPr>
            <a:picLocks noChangeAspect="1"/>
          </p:cNvPicPr>
          <p:nvPr userDrawn="1"/>
        </p:nvPicPr>
        <p:blipFill rotWithShape="1">
          <a:blip r:embed="rId8"/>
          <a:srcRect l="62023" t="18062" r="2730" b="17724"/>
          <a:stretch/>
        </p:blipFill>
        <p:spPr bwMode="auto"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725256970" name="Text Placeholder 2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2581756" y="20384"/>
            <a:ext cx="4646357" cy="734653"/>
          </a:xfrm>
        </p:spPr>
        <p:txBody>
          <a:bodyPr anchor="ctr">
            <a:no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0"/>
              </a:spcBef>
              <a:buNone/>
              <a:defRPr lang="en-US" sz="1800" b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Subject Name (Short Name)</a:t>
            </a:r>
            <a:endParaRPr/>
          </a:p>
          <a:p>
            <a:pPr lvl="0">
              <a:defRPr/>
            </a:pPr>
            <a:r>
              <a:rPr lang="en-US"/>
              <a:t>GTU # Subject Code</a:t>
            </a:r>
            <a:endParaRPr/>
          </a:p>
        </p:txBody>
      </p:sp>
      <p:pic>
        <p:nvPicPr>
          <p:cNvPr id="382279313" name="Picture 30"/>
          <p:cNvPicPr>
            <a:picLocks noChangeAspect="1"/>
          </p:cNvPicPr>
          <p:nvPr userDrawn="1"/>
        </p:nvPicPr>
        <p:blipFill rotWithShape="1">
          <a:blip r:embed="rId9"/>
          <a:srcRect l="24746" t="7575" r="25760" b="18186"/>
          <a:stretch/>
        </p:blipFill>
        <p:spPr bwMode="auto"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 fill="norm" stroke="1" extrusionOk="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875982853" name="Picture 20" descr="User icon Royalty Free Vector Image - VectorStock"/>
          <p:cNvPicPr>
            <a:picLocks noChangeAspect="1" noChangeArrowheads="1"/>
          </p:cNvPicPr>
          <p:nvPr userDrawn="1"/>
        </p:nvPicPr>
        <p:blipFill rotWithShape="1">
          <a:blip r:embed="rId10">
            <a:lum bright="70000" contrast="-70000"/>
          </a:blip>
          <a:srcRect l="26030" t="21389" r="26030" b="34222"/>
          <a:stretch/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 fill="norm" stroke="1" extrusionOk="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</p:pic>
      <p:sp>
        <p:nvSpPr>
          <p:cNvPr id="1795982009" name="Picture Placeholder 29"/>
          <p:cNvSpPr>
            <a:spLocks noGrp="1"/>
          </p:cNvSpPr>
          <p:nvPr>
            <p:ph type="pic" sz="quarter" idx="10"/>
          </p:nvPr>
        </p:nvSpPr>
        <p:spPr bwMode="auto"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 fill="norm" stroke="1" extrusionOk="0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Slide - Pi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46339076" name="Picture 24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0" t="18750" r="0" b="2500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84831225" name="TextBox 2"/>
          <p:cNvSpPr txBox="1"/>
          <p:nvPr userDrawn="1"/>
        </p:nvSpPr>
        <p:spPr bwMode="auto"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/>
              <a:t>Darshan Institute of Engineering &amp; Technology, Rajkot</a:t>
            </a:r>
            <a:endParaRPr/>
          </a:p>
        </p:txBody>
      </p:sp>
      <p:sp>
        <p:nvSpPr>
          <p:cNvPr id="47296885" name="Freeform 13"/>
          <p:cNvSpPr/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 fill="norm" stroke="1" extrusionOk="0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endParaRPr lang="en-US"/>
          </a:p>
        </p:txBody>
      </p:sp>
      <p:sp>
        <p:nvSpPr>
          <p:cNvPr id="138955387" name="Freeform 17"/>
          <p:cNvSpPr/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 fill="norm" stroke="1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endParaRPr lang="en-US"/>
          </a:p>
        </p:txBody>
      </p:sp>
      <p:pic>
        <p:nvPicPr>
          <p:cNvPr id="903610428" name="Picture 31"/>
          <p:cNvPicPr>
            <a:picLocks noChangeAspect="1"/>
          </p:cNvPicPr>
          <p:nvPr userDrawn="1"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1460444695" name="Picture 32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885041885" name="Straight Connector 44"/>
          <p:cNvCxnSpPr/>
          <p:nvPr/>
        </p:nvCxnSpPr>
        <p:spPr bwMode="auto"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4085598" name="Title 1"/>
          <p:cNvSpPr>
            <a:spLocks noGrp="1"/>
          </p:cNvSpPr>
          <p:nvPr userDrawn="1">
            <p:ph type="ctrTitle"/>
          </p:nvPr>
        </p:nvSpPr>
        <p:spPr bwMode="auto"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Segoe UI Black"/>
                <a:cs typeface="+mn-cs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pic>
        <p:nvPicPr>
          <p:cNvPr id="1750741945" name="Picture 25"/>
          <p:cNvPicPr>
            <a:picLocks noChangeAspect="1"/>
          </p:cNvPicPr>
          <p:nvPr userDrawn="1"/>
        </p:nvPicPr>
        <p:blipFill rotWithShape="1">
          <a:blip r:embed="rId5"/>
          <a:stretch/>
        </p:blipFill>
        <p:spPr bwMode="auto"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985539437" name="Picture 26"/>
          <p:cNvPicPr>
            <a:picLocks noChangeAspect="1"/>
          </p:cNvPicPr>
          <p:nvPr userDrawn="1"/>
        </p:nvPicPr>
        <p:blipFill rotWithShape="1">
          <a:blip r:embed="rId6"/>
          <a:stretch/>
        </p:blipFill>
        <p:spPr bwMode="auto"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1784555413" name="Text Placeholder 2"/>
          <p:cNvSpPr>
            <a:spLocks noGrp="1"/>
          </p:cNvSpPr>
          <p:nvPr userDrawn="1">
            <p:ph type="body" sz="quarter" idx="11" hasCustomPrompt="1"/>
          </p:nvPr>
        </p:nvSpPr>
        <p:spPr bwMode="auto"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 b="0">
                <a:solidFill>
                  <a:schemeClr val="tx1"/>
                </a:solidFill>
                <a:latin typeface="Roboto Condensed Light"/>
                <a:ea typeface="Roboto Condensed Light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Email Address</a:t>
            </a:r>
            <a:endParaRPr/>
          </a:p>
        </p:txBody>
      </p:sp>
      <p:sp>
        <p:nvSpPr>
          <p:cNvPr id="2127802055" name="Text Placeholder 2"/>
          <p:cNvSpPr>
            <a:spLocks noGrp="1"/>
          </p:cNvSpPr>
          <p:nvPr userDrawn="1">
            <p:ph type="body" sz="quarter" idx="12" hasCustomPrompt="1"/>
          </p:nvPr>
        </p:nvSpPr>
        <p:spPr bwMode="auto"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 b="0">
                <a:solidFill>
                  <a:schemeClr val="tx1"/>
                </a:solidFill>
                <a:latin typeface="Roboto Condensed Light"/>
                <a:ea typeface="Roboto Condensed Light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Click to edit Phone No.</a:t>
            </a:r>
            <a:endParaRPr/>
          </a:p>
        </p:txBody>
      </p:sp>
      <p:sp>
        <p:nvSpPr>
          <p:cNvPr id="1194752182" name="Text Placeholder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here Department Name</a:t>
            </a:r>
            <a:endParaRPr/>
          </a:p>
        </p:txBody>
      </p:sp>
      <p:sp>
        <p:nvSpPr>
          <p:cNvPr id="1710098580" name="Text Placeholder 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837677" y="5273332"/>
            <a:ext cx="5581038" cy="290081"/>
          </a:xfrm>
        </p:spPr>
        <p:txBody>
          <a:bodyPr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buNone/>
              <a:defRPr lang="en-US" sz="1800" b="1">
                <a:gradFill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</a:gra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here your Author Name (i.e. Prof. Jay R </a:t>
            </a:r>
            <a:r>
              <a:rPr lang="en-US"/>
              <a:t>Dhamsaniya</a:t>
            </a:r>
            <a:r>
              <a:rPr lang="en-US"/>
              <a:t>)</a:t>
            </a:r>
            <a:endParaRPr/>
          </a:p>
        </p:txBody>
      </p:sp>
      <p:pic>
        <p:nvPicPr>
          <p:cNvPr id="2134856726" name="Picture 53"/>
          <p:cNvPicPr>
            <a:picLocks noChangeAspect="1"/>
          </p:cNvPicPr>
          <p:nvPr userDrawn="1"/>
        </p:nvPicPr>
        <p:blipFill rotWithShape="1">
          <a:blip r:embed="rId7"/>
          <a:stretch/>
        </p:blipFill>
        <p:spPr bwMode="auto"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1494065286" name="Picture 54"/>
          <p:cNvPicPr>
            <a:picLocks noChangeAspect="1"/>
          </p:cNvPicPr>
          <p:nvPr userDrawn="1"/>
        </p:nvPicPr>
        <p:blipFill rotWithShape="1">
          <a:blip r:embed="rId8"/>
          <a:srcRect l="62023" t="18062" r="2730" b="17724"/>
          <a:stretch/>
        </p:blipFill>
        <p:spPr bwMode="auto"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1332239203" name="Text Placeholder 2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2581756" y="20384"/>
            <a:ext cx="4646357" cy="734653"/>
          </a:xfrm>
        </p:spPr>
        <p:txBody>
          <a:bodyPr anchor="ctr">
            <a:noAutofit/>
          </a:bodyPr>
          <a:lstStyle>
            <a:lvl1pPr marL="0" indent="0" algn="ctr" defTabSz="914400" rtl="0">
              <a:lnSpc>
                <a:spcPct val="90000"/>
              </a:lnSpc>
              <a:spcBef>
                <a:spcPts val="0"/>
              </a:spcBef>
              <a:buNone/>
              <a:defRPr lang="en-US" sz="1800" b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defRPr/>
            </a:pPr>
            <a:r>
              <a:rPr lang="en-US"/>
              <a:t>Write Subject Name (Short Name)</a:t>
            </a:r>
            <a:endParaRPr/>
          </a:p>
          <a:p>
            <a:pPr lvl="0">
              <a:defRPr/>
            </a:pPr>
            <a:r>
              <a:rPr lang="en-US"/>
              <a:t>GTU # Subject Code</a:t>
            </a:r>
            <a:endParaRPr/>
          </a:p>
        </p:txBody>
      </p:sp>
      <p:pic>
        <p:nvPicPr>
          <p:cNvPr id="792207033" name="Picture 20" descr="User icon Royalty Free Vector Image - VectorStock"/>
          <p:cNvPicPr>
            <a:picLocks noChangeAspect="1" noChangeArrowheads="1"/>
          </p:cNvPicPr>
          <p:nvPr userDrawn="1"/>
        </p:nvPicPr>
        <p:blipFill rotWithShape="1">
          <a:blip r:embed="rId9">
            <a:lum bright="70000" contrast="-70000"/>
          </a:blip>
          <a:srcRect l="26030" t="21389" r="26030" b="34222"/>
          <a:stretch/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 fill="norm" stroke="1" extrusionOk="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</p:pic>
      <p:sp>
        <p:nvSpPr>
          <p:cNvPr id="253224535" name="Picture Placeholder 29"/>
          <p:cNvSpPr>
            <a:spLocks noGrp="1"/>
          </p:cNvSpPr>
          <p:nvPr>
            <p:ph type="pic" sz="quarter" idx="10"/>
          </p:nvPr>
        </p:nvSpPr>
        <p:spPr bwMode="auto"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 fill="norm" stroke="1" extrusionOk="0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931274" name="Title 1"/>
          <p:cNvSpPr>
            <a:spLocks noGrp="1"/>
          </p:cNvSpPr>
          <p:nvPr>
            <p:ph type="title"/>
          </p:nvPr>
        </p:nvSpPr>
        <p:spPr bwMode="auto">
          <a:xfrm>
            <a:off x="254000" y="106364"/>
            <a:ext cx="11684000" cy="808037"/>
          </a:xfrm>
        </p:spPr>
        <p:txBody>
          <a:bodyPr>
            <a:normAutofit/>
          </a:bodyPr>
          <a:lstStyle>
            <a:lvl1pPr algn="l">
              <a:defRPr lang="en-US" sz="4400" b="0">
                <a:solidFill>
                  <a:schemeClr val="tx1"/>
                </a:solidFill>
                <a:latin typeface="+mj-lt"/>
                <a:ea typeface="Open Sans Semibold"/>
                <a:cs typeface="Open Sans Semibold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74949850" name="Content Placeholder 2"/>
          <p:cNvSpPr>
            <a:spLocks noGrp="1"/>
          </p:cNvSpPr>
          <p:nvPr>
            <p:ph idx="1"/>
          </p:nvPr>
        </p:nvSpPr>
        <p:spPr bwMode="auto"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 defTabSz="914400" rtl="0">
              <a:lnSpc>
                <a:spcPct val="90000"/>
              </a:lnSpc>
              <a:spcBef>
                <a:spcPts val="600"/>
              </a:spcBef>
              <a:buClrTx/>
              <a:buFont typeface="Wingdings"/>
              <a:buChar char="§"/>
              <a:defRPr lang="en-US" sz="2400">
                <a:solidFill>
                  <a:schemeClr val="tx1"/>
                </a:solidFill>
                <a:latin typeface="+mj-lt"/>
                <a:ea typeface="Times New Roman"/>
                <a:cs typeface="Times New Roman"/>
              </a:defRPr>
            </a:lvl1pPr>
            <a:lvl2pPr marL="704850" indent="-342900" algn="just" defTabSz="914400" rtl="0">
              <a:lnSpc>
                <a:spcPct val="90000"/>
              </a:lnSpc>
              <a:spcBef>
                <a:spcPts val="600"/>
              </a:spcBef>
              <a:buClrTx/>
              <a:buFont typeface="Arial"/>
              <a:buChar char="•"/>
              <a:defRPr lang="en-US" sz="2300">
                <a:solidFill>
                  <a:schemeClr val="tx1"/>
                </a:solidFill>
                <a:latin typeface="+mj-lt"/>
                <a:ea typeface="Times New Roman"/>
                <a:cs typeface="Times New Roman"/>
              </a:defRPr>
            </a:lvl2pPr>
            <a:lvl3pPr marL="968375" indent="-342900" algn="just" defTabSz="914400" rtl="0">
              <a:lnSpc>
                <a:spcPct val="90000"/>
              </a:lnSpc>
              <a:spcBef>
                <a:spcPts val="600"/>
              </a:spcBef>
              <a:buClrTx/>
              <a:defRPr lang="en-US" sz="2200">
                <a:solidFill>
                  <a:schemeClr val="tx1"/>
                </a:solidFill>
                <a:latin typeface="+mj-lt"/>
                <a:ea typeface="Times New Roman"/>
                <a:cs typeface="Times New Roman"/>
              </a:defRPr>
            </a:lvl3pPr>
            <a:lvl4pPr marL="1239837" indent="-342900" algn="just" defTabSz="914400" rtl="0">
              <a:lnSpc>
                <a:spcPct val="90000"/>
              </a:lnSpc>
              <a:spcBef>
                <a:spcPts val="600"/>
              </a:spcBef>
              <a:buClrTx/>
              <a:defRPr lang="en-US" sz="2000">
                <a:solidFill>
                  <a:schemeClr val="tx1"/>
                </a:solidFill>
                <a:latin typeface="+mj-lt"/>
                <a:ea typeface="Times New Roman"/>
                <a:cs typeface="Times New Roman"/>
              </a:defRPr>
            </a:lvl4pPr>
            <a:lvl5pPr marL="1454150" indent="-285750" algn="just" defTabSz="914400" rtl="0">
              <a:lnSpc>
                <a:spcPct val="90000"/>
              </a:lnSpc>
              <a:spcBef>
                <a:spcPts val="600"/>
              </a:spcBef>
              <a:buClrTx/>
              <a:defRPr lang="en-US" sz="1600">
                <a:solidFill>
                  <a:schemeClr val="tx1"/>
                </a:solidFill>
                <a:latin typeface="+mj-lt"/>
                <a:ea typeface="Times New Roman"/>
                <a:cs typeface="Times New Roman"/>
              </a:defRPr>
            </a:lvl5pPr>
          </a:lstStyle>
          <a:p>
            <a:pPr marL="342900" lvl="0" indent="-342900" algn="l" defTabSz="914400" rtl="0">
              <a:lnSpc>
                <a:spcPct val="90000"/>
              </a:lnSpc>
              <a:spcBef>
                <a:spcPts val="600"/>
              </a:spcBef>
              <a:buClrTx/>
              <a:buFont typeface="Wingdings"/>
              <a:buChar char="§"/>
              <a:defRPr/>
            </a:pPr>
            <a:r>
              <a:rPr lang="en-US"/>
              <a:t>Click to edit Master text styles</a:t>
            </a:r>
            <a:endParaRPr/>
          </a:p>
          <a:p>
            <a:pPr marL="625475" lvl="1" indent="-263525" algn="just" defTabSz="914400" rtl="0">
              <a:lnSpc>
                <a:spcPct val="90000"/>
              </a:lnSpc>
              <a:spcBef>
                <a:spcPts val="600"/>
              </a:spcBef>
              <a:buClrTx/>
              <a:buFont typeface="Arial"/>
              <a:buChar char="•"/>
              <a:defRPr/>
            </a:pPr>
            <a:r>
              <a:rPr lang="en-US"/>
              <a:t>Second level</a:t>
            </a:r>
            <a:endParaRPr/>
          </a:p>
          <a:p>
            <a:pPr marL="896938" lvl="2" indent="-271463" algn="just" defTabSz="914400" rtl="0">
              <a:lnSpc>
                <a:spcPct val="90000"/>
              </a:lnSpc>
              <a:spcBef>
                <a:spcPts val="600"/>
              </a:spcBef>
              <a:buClrTx/>
              <a:buFont typeface="Arial"/>
              <a:buChar char="•"/>
              <a:defRPr/>
            </a:pPr>
            <a:r>
              <a:rPr lang="en-US"/>
              <a:t>Third level</a:t>
            </a:r>
            <a:endParaRPr/>
          </a:p>
          <a:p>
            <a:pPr marL="1168400" lvl="3" indent="-271463" algn="just" defTabSz="914400" rtl="0">
              <a:lnSpc>
                <a:spcPct val="90000"/>
              </a:lnSpc>
              <a:spcBef>
                <a:spcPts val="600"/>
              </a:spcBef>
              <a:buClrTx/>
              <a:buFont typeface="Arial"/>
              <a:buChar char="–"/>
              <a:defRPr/>
            </a:pPr>
            <a:r>
              <a:rPr lang="en-US"/>
              <a:t>Fourth level</a:t>
            </a:r>
            <a:endParaRPr/>
          </a:p>
          <a:p>
            <a:pPr marL="1439863" lvl="4" indent="-271463" algn="just" defTabSz="914400" rtl="0">
              <a:lnSpc>
                <a:spcPct val="90000"/>
              </a:lnSpc>
              <a:spcBef>
                <a:spcPts val="600"/>
              </a:spcBef>
              <a:buClrTx/>
              <a:buFont typeface="Arial"/>
              <a:buChar char="»"/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16263884" name="Rektangel 11"/>
          <p:cNvSpPr/>
          <p:nvPr userDrawn="1"/>
        </p:nvSpPr>
        <p:spPr bwMode="auto">
          <a:xfrm>
            <a:off x="0" y="6477000"/>
            <a:ext cx="5384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da-DK" sz="1800">
                <a:solidFill>
                  <a:srgbClr val="FFFFFF"/>
                </a:solidFill>
                <a:latin typeface="+mj-lt"/>
                <a:ea typeface="Open Sans"/>
                <a:cs typeface="Open Sans"/>
              </a:rPr>
              <a:t>Unit</a:t>
            </a:r>
            <a:r>
              <a:rPr lang="da-DK" sz="1800">
                <a:solidFill>
                  <a:srgbClr val="FFFFFF"/>
                </a:solidFill>
                <a:latin typeface="+mj-lt"/>
                <a:ea typeface="Open Sans"/>
                <a:cs typeface="Open Sans"/>
              </a:rPr>
              <a:t> – 2: </a:t>
            </a:r>
            <a:r>
              <a:rPr lang="en-US" sz="1800"/>
              <a:t>Linear Data Structure</a:t>
            </a:r>
            <a:endParaRPr lang="da-DK" sz="1800">
              <a:solidFill>
                <a:srgbClr val="FFFFFF"/>
              </a:solidFill>
              <a:latin typeface="+mj-lt"/>
              <a:ea typeface="Open Sans"/>
              <a:cs typeface="Open Sans"/>
            </a:endParaRPr>
          </a:p>
        </p:txBody>
      </p:sp>
      <p:cxnSp>
        <p:nvCxnSpPr>
          <p:cNvPr id="398144265" name="Straight Connector 5"/>
          <p:cNvCxnSpPr/>
          <p:nvPr userDrawn="1"/>
        </p:nvCxnSpPr>
        <p:spPr bwMode="auto"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667446" name="Rektangel 11"/>
          <p:cNvSpPr/>
          <p:nvPr userDrawn="1"/>
        </p:nvSpPr>
        <p:spPr bwMode="auto">
          <a:xfrm>
            <a:off x="6197600" y="6480727"/>
            <a:ext cx="59944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en-US" sz="1800">
                <a:solidFill>
                  <a:srgbClr val="FFFFFF"/>
                </a:solidFill>
                <a:latin typeface="+mj-lt"/>
                <a:ea typeface="Open Sans"/>
                <a:cs typeface="Open Sans"/>
              </a:rPr>
              <a:t>Darshan</a:t>
            </a:r>
            <a:r>
              <a:rPr lang="en-US" sz="1800">
                <a:solidFill>
                  <a:srgbClr val="FFFFFF"/>
                </a:solidFill>
                <a:latin typeface="+mj-lt"/>
                <a:ea typeface="Open Sans"/>
                <a:cs typeface="Open Sans"/>
              </a:rPr>
              <a:t> Institute of Engineering &amp; Technology</a:t>
            </a:r>
            <a:endParaRPr lang="da-DK" sz="1800">
              <a:solidFill>
                <a:srgbClr val="FFFFFF"/>
              </a:solidFill>
              <a:latin typeface="+mj-lt"/>
              <a:ea typeface="Open Sans"/>
              <a:cs typeface="Open Sans"/>
            </a:endParaRPr>
          </a:p>
        </p:txBody>
      </p:sp>
      <p:sp>
        <p:nvSpPr>
          <p:cNvPr id="329992160" name="Rektangel 11"/>
          <p:cNvSpPr/>
          <p:nvPr userDrawn="1"/>
        </p:nvSpPr>
        <p:spPr bwMode="auto">
          <a:xfrm>
            <a:off x="5384800" y="6477000"/>
            <a:ext cx="812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fld id="{4CCBBDC9-ADEB-48F3-A42C-1AD0249F062A}" type="slidenum">
              <a:rPr lang="da-DK" sz="1800">
                <a:solidFill>
                  <a:srgbClr val="FFFFFF"/>
                </a:solidFill>
                <a:latin typeface="+mj-lt"/>
                <a:ea typeface="Open Sans"/>
                <a:cs typeface="Open Sans"/>
              </a:rPr>
              <a:t>‹#›</a:t>
            </a:fld>
            <a:endParaRPr lang="da-DK" sz="1800">
              <a:solidFill>
                <a:srgbClr val="FFFFFF"/>
              </a:solidFill>
              <a:latin typeface="+mj-lt"/>
              <a:ea typeface="Open Sans"/>
              <a:cs typeface="Open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174384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481880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964031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EA8BEFB-AE5B-48F9-BBAD-B489CDE48C8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075939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9165712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1276993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CD21B45-1703-4330-B544-825BD8F37AF2}" type="datetimeFigureOut">
              <a:rPr lang="en-US"/>
              <a:t>8/14/2024</a:t>
            </a:fld>
            <a:endParaRPr lang="en-US"/>
          </a:p>
        </p:txBody>
      </p:sp>
      <p:sp>
        <p:nvSpPr>
          <p:cNvPr id="98405295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952525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641F3C7-36DD-4595-AA08-2525D86280BD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439813" name="Title 1"/>
          <p:cNvSpPr>
            <a:spLocks noGrp="1"/>
          </p:cNvSpPr>
          <p:nvPr>
            <p:ph type="ctrTitle"/>
          </p:nvPr>
        </p:nvSpPr>
        <p:spPr bwMode="auto">
          <a:xfrm>
            <a:off x="559489" y="1122364"/>
            <a:ext cx="8571448" cy="2563094"/>
          </a:xfrm>
        </p:spPr>
        <p:txBody>
          <a:bodyPr/>
          <a:lstStyle/>
          <a:p>
            <a:pPr>
              <a:defRPr/>
            </a:pPr>
            <a:r>
              <a:rPr lang="en-US" sz="4400" b="0">
                <a:latin typeface="Roboto Condensed Light"/>
                <a:ea typeface="Roboto Condensed Light"/>
              </a:rPr>
              <a:t>Unit-3 (Part 3)</a:t>
            </a:r>
            <a:r>
              <a:rPr lang="en-US" sz="6000"/>
              <a:t> </a:t>
            </a:r>
            <a:br>
              <a:rPr lang="en-US" sz="6000"/>
            </a:br>
            <a:r>
              <a:rPr lang="en-US" sz="6000"/>
              <a:t>Tree</a:t>
            </a:r>
            <a:br>
              <a:rPr lang="en-US" sz="6000"/>
            </a:br>
            <a:r>
              <a:rPr lang="en-US" sz="4000" b="0"/>
              <a:t>Non-Linear Data Structure </a:t>
            </a:r>
            <a:br>
              <a:rPr lang="en-US" sz="6000" b="0"/>
            </a:br>
            <a:endParaRPr lang="en-US" sz="5400" b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91701864" name="Text Placeholder 2"/>
          <p:cNvSpPr>
            <a:spLocks noGrp="1"/>
          </p:cNvSpPr>
          <p:nvPr>
            <p:ph type="body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pradyuman.jadeja@darshan.ac.in</a:t>
            </a:r>
            <a:endParaRPr/>
          </a:p>
        </p:txBody>
      </p:sp>
      <p:sp>
        <p:nvSpPr>
          <p:cNvPr id="1442885234" name="Text Placeholder 3"/>
          <p:cNvSpPr>
            <a:spLocks noGrp="1"/>
          </p:cNvSpPr>
          <p:nvPr>
            <p:ph type="body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+91 9879461848</a:t>
            </a:r>
            <a:endParaRPr/>
          </a:p>
        </p:txBody>
      </p:sp>
      <p:sp>
        <p:nvSpPr>
          <p:cNvPr id="463816914" name="Text Placeholder 4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Computer Engineering Department</a:t>
            </a:r>
            <a:endParaRPr/>
          </a:p>
        </p:txBody>
      </p:sp>
      <p:sp>
        <p:nvSpPr>
          <p:cNvPr id="1000660103" name="Text Placeholder 5"/>
          <p:cNvSpPr>
            <a:spLocks noGrp="1"/>
          </p:cNvSpPr>
          <p:nvPr>
            <p:ph type="body" sz="quarter" idx="14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Dr. </a:t>
            </a:r>
            <a:r>
              <a:rPr lang="en-US"/>
              <a:t>Pradyumansinh</a:t>
            </a:r>
            <a:r>
              <a:rPr lang="en-US"/>
              <a:t> </a:t>
            </a:r>
            <a:r>
              <a:rPr lang="en-US"/>
              <a:t>Jadeja</a:t>
            </a:r>
            <a:endParaRPr lang="en-US"/>
          </a:p>
        </p:txBody>
      </p:sp>
      <p:sp>
        <p:nvSpPr>
          <p:cNvPr id="318697859" name="Text Placeholder 1026"/>
          <p:cNvSpPr>
            <a:spLocks noGrp="1"/>
          </p:cNvSpPr>
          <p:nvPr>
            <p:ph type="body" sz="quarter" idx="16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/>
              <a:t>Data Structures </a:t>
            </a:r>
            <a:r>
              <a:rPr lang="en-US">
                <a:latin typeface="Roboto Condensed Light"/>
                <a:ea typeface="Roboto Condensed Light"/>
              </a:rPr>
              <a:t>(DS)</a:t>
            </a:r>
            <a:endParaRPr/>
          </a:p>
          <a:p>
            <a:pPr>
              <a:defRPr/>
            </a:pPr>
            <a:r>
              <a:rPr lang="en-US">
                <a:latin typeface="Roboto Condensed Light"/>
                <a:ea typeface="Roboto Condensed Light"/>
              </a:rPr>
              <a:t>#2301CS301</a:t>
            </a:r>
            <a:endParaRPr/>
          </a:p>
        </p:txBody>
      </p:sp>
      <p:sp>
        <p:nvSpPr>
          <p:cNvPr id="267587373" name="AutoShape 3"/>
          <p:cNvSpPr>
            <a:spLocks noChangeArrowheads="1" noChangeAspect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grpSp>
        <p:nvGrpSpPr>
          <p:cNvPr id="1644271340" name="Group 9"/>
          <p:cNvGrpSpPr/>
          <p:nvPr/>
        </p:nvGrpSpPr>
        <p:grpSpPr bwMode="auto">
          <a:xfrm>
            <a:off x="559489" y="3395398"/>
            <a:ext cx="7457419" cy="1323439"/>
            <a:chOff x="711890" y="3337431"/>
            <a:chExt cx="7457419" cy="1323439"/>
          </a:xfrm>
        </p:grpSpPr>
        <p:sp>
          <p:nvSpPr>
            <p:cNvPr id="13" name="Rectangle 12"/>
            <p:cNvSpPr/>
            <p:nvPr/>
          </p:nvSpPr>
          <p:spPr bwMode="auto">
            <a:xfrm>
              <a:off x="711890" y="3337431"/>
              <a:ext cx="7457419" cy="1323439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3200">
                  <a:solidFill>
                    <a:srgbClr val="1D3064"/>
                  </a:solidFill>
                  <a:latin typeface="Roboto Condensed Light"/>
                  <a:ea typeface="Roboto Condensed Light"/>
                </a:rPr>
                <a:t>Part 3</a:t>
              </a:r>
              <a:endParaRPr/>
            </a:p>
            <a:p>
              <a:pPr>
                <a:defRPr/>
              </a:pPr>
              <a:r>
                <a:rPr lang="en-US" sz="2400">
                  <a:solidFill>
                    <a:srgbClr val="1D3064"/>
                  </a:solidFill>
                  <a:latin typeface="Wingdings"/>
                  <a:ea typeface="Roboto Condensed Light"/>
                </a:rPr>
                <a:t></a:t>
              </a:r>
              <a:r>
                <a:rPr lang="en-US" sz="2400">
                  <a:solidFill>
                    <a:srgbClr val="BF2323"/>
                  </a:solidFill>
                  <a:latin typeface="Roboto Condensed Light"/>
                  <a:ea typeface="Roboto Condensed Light"/>
                </a:rPr>
                <a:t> </a:t>
              </a:r>
              <a:r>
                <a:rPr lang="en-US" sz="2400">
                  <a:solidFill>
                    <a:schemeClr val="tx1">
                      <a:lumMod val="90000"/>
                      <a:lumOff val="10000"/>
                    </a:schemeClr>
                  </a:solidFill>
                  <a:latin typeface="+mj-lt"/>
                  <a:ea typeface="Segoe UI Black"/>
                </a:rPr>
                <a:t>Height/Weight – Balanced Tree</a:t>
              </a:r>
              <a:endParaRPr lang="en-US" sz="2400">
                <a:solidFill>
                  <a:schemeClr val="tx1">
                    <a:lumMod val="90000"/>
                    <a:lumOff val="10000"/>
                  </a:schemeClr>
                </a:solidFill>
                <a:ea typeface="Segoe UI Black"/>
              </a:endParaRPr>
            </a:p>
            <a:p>
              <a:pPr>
                <a:defRPr/>
              </a:pPr>
              <a:r>
                <a:rPr lang="en-US" sz="2400">
                  <a:solidFill>
                    <a:srgbClr val="1D3064"/>
                  </a:solidFill>
                  <a:latin typeface="Wingdings"/>
                  <a:ea typeface="Roboto Condensed Light"/>
                </a:rPr>
                <a:t></a:t>
              </a:r>
              <a:r>
                <a:rPr lang="en-US" sz="2400">
                  <a:solidFill>
                    <a:srgbClr val="BF2323"/>
                  </a:solidFill>
                  <a:latin typeface="Roboto Condensed Light"/>
                  <a:ea typeface="Roboto Condensed Light"/>
                </a:rPr>
                <a:t> </a:t>
              </a:r>
              <a:r>
                <a:rPr lang="en-US" sz="2400">
                  <a:solidFill>
                    <a:schemeClr val="tx1">
                      <a:lumMod val="90000"/>
                      <a:lumOff val="10000"/>
                    </a:schemeClr>
                  </a:solidFill>
                  <a:latin typeface="+mj-lt"/>
                  <a:ea typeface="Segoe UI Black"/>
                </a:rPr>
                <a:t>Multiway Search Tree (B-Tree)</a:t>
              </a:r>
              <a:endParaRPr/>
            </a:p>
          </p:txBody>
        </p:sp>
        <p:cxnSp>
          <p:nvCxnSpPr>
            <p:cNvPr id="14" name="Straight Connector 13"/>
            <p:cNvCxnSpPr/>
            <p:nvPr/>
          </p:nvCxnSpPr>
          <p:spPr bwMode="auto">
            <a:xfrm>
              <a:off x="1822292" y="3618440"/>
              <a:ext cx="6347018" cy="0"/>
            </a:xfrm>
            <a:prstGeom prst="line">
              <a:avLst/>
            </a:prstGeom>
            <a:ln w="19050">
              <a:solidFill>
                <a:srgbClr val="1D306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90003310" name="Picture Placeholder 7"/>
          <p:cNvPicPr>
            <a:picLocks noChangeAspect="1" noGrp="1"/>
          </p:cNvPicPr>
          <p:nvPr>
            <p:ph type="pic" sz="quarter" idx="10"/>
          </p:nvPr>
        </p:nvPicPr>
        <p:blipFill rotWithShape="1">
          <a:blip r:embed="rId3"/>
          <a:stretch/>
        </p:blipFill>
        <p:spPr bwMode="auto"/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34529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/>
              <a:t>Balanced Tree</a:t>
            </a:r>
            <a:endParaRPr lang="en-US"/>
          </a:p>
        </p:txBody>
      </p:sp>
      <p:sp>
        <p:nvSpPr>
          <p:cNvPr id="26839834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IN"/>
              <a:t>Binary Search Tree gives advantage of Fast Search, but sometimes in few cases we are not able to get this advantage. E.g. look into worst case BST</a:t>
            </a:r>
            <a:endParaRPr/>
          </a:p>
          <a:p>
            <a:pPr>
              <a:defRPr/>
            </a:pPr>
            <a:r>
              <a:rPr lang="en-IN"/>
              <a:t>Balanced binary trees are classified into two categories</a:t>
            </a:r>
            <a:endParaRPr/>
          </a:p>
          <a:p>
            <a:pPr lvl="1">
              <a:defRPr/>
            </a:pPr>
            <a:r>
              <a:rPr lang="en-IN"/>
              <a:t>Height Balanced Tree (AVL Tree)</a:t>
            </a:r>
            <a:endParaRPr/>
          </a:p>
          <a:p>
            <a:pPr lvl="1">
              <a:defRPr/>
            </a:pPr>
            <a:r>
              <a:rPr lang="en-IN"/>
              <a:t>Weight Balanced Tree</a:t>
            </a:r>
            <a:endParaRPr lang="en-US"/>
          </a:p>
        </p:txBody>
      </p:sp>
      <p:grpSp>
        <p:nvGrpSpPr>
          <p:cNvPr id="1825160099" name="Group 75"/>
          <p:cNvGrpSpPr/>
          <p:nvPr/>
        </p:nvGrpSpPr>
        <p:grpSpPr bwMode="auto">
          <a:xfrm>
            <a:off x="822955" y="3505199"/>
            <a:ext cx="1813200" cy="2651400"/>
            <a:chOff x="304800" y="3505199"/>
            <a:chExt cx="1813200" cy="2651400"/>
          </a:xfrm>
        </p:grpSpPr>
        <p:sp>
          <p:nvSpPr>
            <p:cNvPr id="4" name="Oval 3"/>
            <p:cNvSpPr/>
            <p:nvPr/>
          </p:nvSpPr>
          <p:spPr bwMode="auto">
            <a:xfrm>
              <a:off x="1524000" y="3505199"/>
              <a:ext cx="594000" cy="59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IN" b="1"/>
                <a:t>50</a:t>
              </a:r>
              <a:endParaRPr lang="en-US" b="1"/>
            </a:p>
          </p:txBody>
        </p:sp>
        <p:sp>
          <p:nvSpPr>
            <p:cNvPr id="5" name="Oval 4"/>
            <p:cNvSpPr/>
            <p:nvPr/>
          </p:nvSpPr>
          <p:spPr bwMode="auto">
            <a:xfrm>
              <a:off x="1066800" y="4114800"/>
              <a:ext cx="594000" cy="59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IN" b="1"/>
                <a:t>40</a:t>
              </a:r>
              <a:endParaRPr lang="en-US" b="1"/>
            </a:p>
          </p:txBody>
        </p:sp>
        <p:sp>
          <p:nvSpPr>
            <p:cNvPr id="6" name="Oval 5"/>
            <p:cNvSpPr/>
            <p:nvPr/>
          </p:nvSpPr>
          <p:spPr bwMode="auto">
            <a:xfrm>
              <a:off x="685800" y="4800600"/>
              <a:ext cx="594000" cy="59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IN" b="1"/>
                <a:t>30</a:t>
              </a:r>
              <a:endParaRPr lang="en-US" b="1"/>
            </a:p>
          </p:txBody>
        </p:sp>
        <p:sp>
          <p:nvSpPr>
            <p:cNvPr id="7" name="Oval 6"/>
            <p:cNvSpPr/>
            <p:nvPr/>
          </p:nvSpPr>
          <p:spPr bwMode="auto">
            <a:xfrm>
              <a:off x="304800" y="5562600"/>
              <a:ext cx="594000" cy="59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IN" b="1"/>
                <a:t>20</a:t>
              </a:r>
              <a:endParaRPr lang="en-US" b="1"/>
            </a:p>
          </p:txBody>
        </p:sp>
        <p:cxnSp>
          <p:nvCxnSpPr>
            <p:cNvPr id="13" name="Straight Arrow Connector 12"/>
            <p:cNvCxnSpPr>
              <a:stCxn id="4" idx="3"/>
              <a:endCxn id="5" idx="0"/>
            </p:cNvCxnSpPr>
            <p:nvPr/>
          </p:nvCxnSpPr>
          <p:spPr bwMode="auto">
            <a:xfrm flipH="1">
              <a:off x="1363800" y="4012211"/>
              <a:ext cx="247189" cy="102589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5" idx="3"/>
              <a:endCxn id="6" idx="0"/>
            </p:cNvCxnSpPr>
            <p:nvPr/>
          </p:nvCxnSpPr>
          <p:spPr bwMode="auto">
            <a:xfrm flipH="1">
              <a:off x="982800" y="4621811"/>
              <a:ext cx="170989" cy="178789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6" idx="3"/>
              <a:endCxn id="7" idx="0"/>
            </p:cNvCxnSpPr>
            <p:nvPr/>
          </p:nvCxnSpPr>
          <p:spPr bwMode="auto">
            <a:xfrm flipH="1">
              <a:off x="601799" y="5307611"/>
              <a:ext cx="170989" cy="254989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684470587" name="Group 76"/>
          <p:cNvGrpSpPr/>
          <p:nvPr/>
        </p:nvGrpSpPr>
        <p:grpSpPr bwMode="auto">
          <a:xfrm>
            <a:off x="3261355" y="3505199"/>
            <a:ext cx="1828800" cy="2749138"/>
            <a:chOff x="2743200" y="3505199"/>
            <a:chExt cx="1828800" cy="2749138"/>
          </a:xfrm>
        </p:grpSpPr>
        <p:sp>
          <p:nvSpPr>
            <p:cNvPr id="8" name="Oval 7"/>
            <p:cNvSpPr/>
            <p:nvPr/>
          </p:nvSpPr>
          <p:spPr bwMode="auto">
            <a:xfrm>
              <a:off x="3962400" y="5720938"/>
              <a:ext cx="6096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IN" b="1"/>
                <a:t>50</a:t>
              </a:r>
              <a:endParaRPr lang="en-US" b="1"/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3581400" y="4953000"/>
              <a:ext cx="6096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IN" b="1"/>
                <a:t>40</a:t>
              </a:r>
              <a:endParaRPr lang="en-US" b="1"/>
            </a:p>
          </p:txBody>
        </p:sp>
        <p:sp>
          <p:nvSpPr>
            <p:cNvPr id="10" name="Oval 9"/>
            <p:cNvSpPr/>
            <p:nvPr/>
          </p:nvSpPr>
          <p:spPr bwMode="auto">
            <a:xfrm>
              <a:off x="3200400" y="4191000"/>
              <a:ext cx="6096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IN" b="1"/>
                <a:t>30</a:t>
              </a:r>
              <a:endParaRPr lang="en-US" b="1"/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2743200" y="3505199"/>
              <a:ext cx="6096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IN" b="1"/>
                <a:t>20</a:t>
              </a:r>
              <a:endParaRPr lang="en-US" b="1"/>
            </a:p>
          </p:txBody>
        </p:sp>
        <p:cxnSp>
          <p:nvCxnSpPr>
            <p:cNvPr id="21" name="Straight Arrow Connector 20"/>
            <p:cNvCxnSpPr>
              <a:stCxn id="11" idx="5"/>
              <a:endCxn id="10" idx="0"/>
            </p:cNvCxnSpPr>
            <p:nvPr/>
          </p:nvCxnSpPr>
          <p:spPr bwMode="auto">
            <a:xfrm>
              <a:off x="3263526" y="3960485"/>
              <a:ext cx="241674" cy="230515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10" idx="5"/>
              <a:endCxn id="9" idx="0"/>
            </p:cNvCxnSpPr>
            <p:nvPr/>
          </p:nvCxnSpPr>
          <p:spPr bwMode="auto">
            <a:xfrm>
              <a:off x="3720726" y="4646285"/>
              <a:ext cx="165474" cy="306715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9" idx="5"/>
              <a:endCxn id="8" idx="0"/>
            </p:cNvCxnSpPr>
            <p:nvPr/>
          </p:nvCxnSpPr>
          <p:spPr bwMode="auto">
            <a:xfrm>
              <a:off x="4101726" y="5408285"/>
              <a:ext cx="165474" cy="312653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802474245" name="Straight Connector 27"/>
          <p:cNvCxnSpPr/>
          <p:nvPr/>
        </p:nvCxnSpPr>
        <p:spPr bwMode="auto">
          <a:xfrm>
            <a:off x="2956555" y="3505199"/>
            <a:ext cx="0" cy="27491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36760785" name="Group 77"/>
          <p:cNvGrpSpPr/>
          <p:nvPr/>
        </p:nvGrpSpPr>
        <p:grpSpPr bwMode="auto">
          <a:xfrm>
            <a:off x="5928355" y="3352800"/>
            <a:ext cx="990600" cy="2819400"/>
            <a:chOff x="5410200" y="3352800"/>
            <a:chExt cx="990600" cy="2819400"/>
          </a:xfrm>
        </p:grpSpPr>
        <p:sp>
          <p:nvSpPr>
            <p:cNvPr id="29" name="Oval 28"/>
            <p:cNvSpPr/>
            <p:nvPr/>
          </p:nvSpPr>
          <p:spPr bwMode="auto">
            <a:xfrm>
              <a:off x="5410200" y="3352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0" name="Oval 29"/>
            <p:cNvSpPr/>
            <p:nvPr/>
          </p:nvSpPr>
          <p:spPr bwMode="auto">
            <a:xfrm>
              <a:off x="6096000" y="3733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1" name="Oval 30"/>
            <p:cNvSpPr/>
            <p:nvPr/>
          </p:nvSpPr>
          <p:spPr bwMode="auto">
            <a:xfrm>
              <a:off x="5410200" y="41910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2" name="Oval 31"/>
            <p:cNvSpPr/>
            <p:nvPr/>
          </p:nvSpPr>
          <p:spPr bwMode="auto">
            <a:xfrm>
              <a:off x="6096000" y="45720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3" name="Oval 32"/>
            <p:cNvSpPr/>
            <p:nvPr/>
          </p:nvSpPr>
          <p:spPr bwMode="auto">
            <a:xfrm>
              <a:off x="5410200" y="49530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4" name="Oval 33"/>
            <p:cNvSpPr/>
            <p:nvPr/>
          </p:nvSpPr>
          <p:spPr bwMode="auto">
            <a:xfrm>
              <a:off x="6096000" y="54102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5" name="Oval 34"/>
            <p:cNvSpPr/>
            <p:nvPr/>
          </p:nvSpPr>
          <p:spPr bwMode="auto">
            <a:xfrm>
              <a:off x="5410200" y="5867399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44" name="Straight Arrow Connector 43"/>
            <p:cNvCxnSpPr>
              <a:stCxn id="29" idx="5"/>
              <a:endCxn id="30" idx="1"/>
            </p:cNvCxnSpPr>
            <p:nvPr/>
          </p:nvCxnSpPr>
          <p:spPr bwMode="auto">
            <a:xfrm>
              <a:off x="5670363" y="3612963"/>
              <a:ext cx="470274" cy="165474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30" idx="3"/>
              <a:endCxn id="31" idx="7"/>
            </p:cNvCxnSpPr>
            <p:nvPr/>
          </p:nvCxnSpPr>
          <p:spPr bwMode="auto">
            <a:xfrm flipH="1">
              <a:off x="5670363" y="3993963"/>
              <a:ext cx="470274" cy="241674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>
              <a:stCxn id="32" idx="3"/>
              <a:endCxn id="33" idx="7"/>
            </p:cNvCxnSpPr>
            <p:nvPr/>
          </p:nvCxnSpPr>
          <p:spPr bwMode="auto">
            <a:xfrm flipH="1">
              <a:off x="5670363" y="4832163"/>
              <a:ext cx="470274" cy="165474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33" idx="5"/>
              <a:endCxn id="34" idx="1"/>
            </p:cNvCxnSpPr>
            <p:nvPr/>
          </p:nvCxnSpPr>
          <p:spPr bwMode="auto">
            <a:xfrm>
              <a:off x="5670363" y="5213163"/>
              <a:ext cx="470274" cy="241674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stCxn id="34" idx="3"/>
              <a:endCxn id="35" idx="7"/>
            </p:cNvCxnSpPr>
            <p:nvPr/>
          </p:nvCxnSpPr>
          <p:spPr bwMode="auto">
            <a:xfrm flipH="1">
              <a:off x="5670363" y="5670363"/>
              <a:ext cx="470274" cy="241674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31" idx="5"/>
              <a:endCxn id="32" idx="1"/>
            </p:cNvCxnSpPr>
            <p:nvPr/>
          </p:nvCxnSpPr>
          <p:spPr bwMode="auto">
            <a:xfrm>
              <a:off x="5670363" y="4451163"/>
              <a:ext cx="470274" cy="165474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014247533" name="Group 78"/>
          <p:cNvGrpSpPr/>
          <p:nvPr/>
        </p:nvGrpSpPr>
        <p:grpSpPr bwMode="auto">
          <a:xfrm>
            <a:off x="8214355" y="3352800"/>
            <a:ext cx="914400" cy="2819400"/>
            <a:chOff x="7696200" y="3352800"/>
            <a:chExt cx="914400" cy="2819400"/>
          </a:xfrm>
        </p:grpSpPr>
        <p:sp>
          <p:nvSpPr>
            <p:cNvPr id="36" name="Oval 35"/>
            <p:cNvSpPr/>
            <p:nvPr/>
          </p:nvSpPr>
          <p:spPr bwMode="auto">
            <a:xfrm>
              <a:off x="8305800" y="3352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7" name="Oval 36"/>
            <p:cNvSpPr/>
            <p:nvPr/>
          </p:nvSpPr>
          <p:spPr bwMode="auto">
            <a:xfrm>
              <a:off x="7696200" y="37338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8" name="Oval 37"/>
            <p:cNvSpPr/>
            <p:nvPr/>
          </p:nvSpPr>
          <p:spPr bwMode="auto">
            <a:xfrm>
              <a:off x="8305800" y="41910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9" name="Oval 38"/>
            <p:cNvSpPr/>
            <p:nvPr/>
          </p:nvSpPr>
          <p:spPr bwMode="auto">
            <a:xfrm>
              <a:off x="7696200" y="45720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0" name="Oval 39"/>
            <p:cNvSpPr/>
            <p:nvPr/>
          </p:nvSpPr>
          <p:spPr bwMode="auto">
            <a:xfrm>
              <a:off x="8305800" y="49530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1" name="Oval 40"/>
            <p:cNvSpPr/>
            <p:nvPr/>
          </p:nvSpPr>
          <p:spPr bwMode="auto">
            <a:xfrm>
              <a:off x="7696200" y="54102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2" name="Oval 41"/>
            <p:cNvSpPr/>
            <p:nvPr/>
          </p:nvSpPr>
          <p:spPr bwMode="auto">
            <a:xfrm>
              <a:off x="8305800" y="5867399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60" name="Straight Arrow Connector 59"/>
            <p:cNvCxnSpPr>
              <a:stCxn id="36" idx="3"/>
              <a:endCxn id="37" idx="7"/>
            </p:cNvCxnSpPr>
            <p:nvPr/>
          </p:nvCxnSpPr>
          <p:spPr bwMode="auto">
            <a:xfrm flipH="1">
              <a:off x="7956363" y="3612963"/>
              <a:ext cx="394074" cy="165474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>
              <a:stCxn id="37" idx="5"/>
              <a:endCxn id="38" idx="1"/>
            </p:cNvCxnSpPr>
            <p:nvPr/>
          </p:nvCxnSpPr>
          <p:spPr bwMode="auto">
            <a:xfrm>
              <a:off x="7956363" y="3993963"/>
              <a:ext cx="394074" cy="241674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>
              <a:stCxn id="38" idx="3"/>
              <a:endCxn id="39" idx="7"/>
            </p:cNvCxnSpPr>
            <p:nvPr/>
          </p:nvCxnSpPr>
          <p:spPr bwMode="auto">
            <a:xfrm flipH="1">
              <a:off x="7956363" y="4451163"/>
              <a:ext cx="394074" cy="165474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>
              <a:stCxn id="39" idx="5"/>
              <a:endCxn id="40" idx="1"/>
            </p:cNvCxnSpPr>
            <p:nvPr/>
          </p:nvCxnSpPr>
          <p:spPr bwMode="auto">
            <a:xfrm>
              <a:off x="7956363" y="4832163"/>
              <a:ext cx="394074" cy="165474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stCxn id="40" idx="3"/>
              <a:endCxn id="41" idx="7"/>
            </p:cNvCxnSpPr>
            <p:nvPr/>
          </p:nvCxnSpPr>
          <p:spPr bwMode="auto">
            <a:xfrm flipH="1">
              <a:off x="7956363" y="5213163"/>
              <a:ext cx="394074" cy="241674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>
              <a:stCxn id="41" idx="5"/>
              <a:endCxn id="42" idx="1"/>
            </p:cNvCxnSpPr>
            <p:nvPr/>
          </p:nvCxnSpPr>
          <p:spPr bwMode="auto">
            <a:xfrm>
              <a:off x="7956363" y="5670363"/>
              <a:ext cx="394074" cy="241674"/>
            </a:xfrm>
            <a:prstGeom prst="straightConnector1">
              <a:avLst/>
            </a:prstGeom>
            <a:ln w="28575">
              <a:solidFill>
                <a:srgbClr val="B84742"/>
              </a:solidFill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320300749" name="Straight Connector 72"/>
          <p:cNvCxnSpPr/>
          <p:nvPr/>
        </p:nvCxnSpPr>
        <p:spPr bwMode="auto">
          <a:xfrm>
            <a:off x="5318755" y="3505199"/>
            <a:ext cx="0" cy="27491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1650630" name="Straight Connector 73"/>
          <p:cNvCxnSpPr/>
          <p:nvPr/>
        </p:nvCxnSpPr>
        <p:spPr bwMode="auto">
          <a:xfrm>
            <a:off x="7528555" y="3505199"/>
            <a:ext cx="0" cy="27491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05149881" name="TextBox 74"/>
          <p:cNvSpPr txBox="1"/>
          <p:nvPr/>
        </p:nvSpPr>
        <p:spPr bwMode="auto">
          <a:xfrm>
            <a:off x="5393400" y="2767148"/>
            <a:ext cx="50786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2000" b="1">
                <a:solidFill>
                  <a:srgbClr val="C00000"/>
                </a:solidFill>
              </a:rPr>
              <a:t>Worst search time cases for Binary Search Tree</a:t>
            </a:r>
            <a:endParaRPr lang="en-US" sz="2000" b="1">
              <a:solidFill>
                <a:srgbClr val="C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98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160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474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470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30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760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650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4247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14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98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983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983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514988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189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/>
              <a:t>Height Balanced Tree (AVL Tree)</a:t>
            </a:r>
            <a:endParaRPr lang="en-US"/>
          </a:p>
        </p:txBody>
      </p:sp>
      <p:sp>
        <p:nvSpPr>
          <p:cNvPr id="192348165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IN"/>
              <a:t>A tree is called </a:t>
            </a:r>
            <a:r>
              <a:rPr lang="en-IN" b="1">
                <a:solidFill>
                  <a:srgbClr val="C00000"/>
                </a:solidFill>
              </a:rPr>
              <a:t>AVL tree (Height Balanced Tree)</a:t>
            </a:r>
            <a:r>
              <a:rPr lang="en-IN"/>
              <a:t>, if each node possessed one of the following properties</a:t>
            </a:r>
            <a:endParaRPr/>
          </a:p>
          <a:p>
            <a:pPr lvl="1">
              <a:defRPr/>
            </a:pPr>
            <a:r>
              <a:rPr lang="en-IN"/>
              <a:t>A </a:t>
            </a:r>
            <a:r>
              <a:rPr lang="en-IN" b="1">
                <a:solidFill>
                  <a:srgbClr val="C00000"/>
                </a:solidFill>
              </a:rPr>
              <a:t>node</a:t>
            </a:r>
            <a:r>
              <a:rPr lang="en-IN">
                <a:solidFill>
                  <a:srgbClr val="C00000"/>
                </a:solidFill>
              </a:rPr>
              <a:t> </a:t>
            </a:r>
            <a:r>
              <a:rPr lang="en-IN"/>
              <a:t>is called </a:t>
            </a:r>
            <a:r>
              <a:rPr lang="en-IN" b="1">
                <a:solidFill>
                  <a:srgbClr val="C00000"/>
                </a:solidFill>
              </a:rPr>
              <a:t>left heavy</a:t>
            </a:r>
            <a:r>
              <a:rPr lang="en-IN"/>
              <a:t>, if the </a:t>
            </a:r>
            <a:r>
              <a:rPr lang="en-IN" b="1">
                <a:solidFill>
                  <a:srgbClr val="C00000"/>
                </a:solidFill>
              </a:rPr>
              <a:t>longest path in its left sub tree </a:t>
            </a:r>
            <a:r>
              <a:rPr lang="en-IN"/>
              <a:t>is </a:t>
            </a:r>
            <a:r>
              <a:rPr lang="en-IN" b="1">
                <a:solidFill>
                  <a:srgbClr val="C00000"/>
                </a:solidFill>
              </a:rPr>
              <a:t>one</a:t>
            </a:r>
            <a:r>
              <a:rPr lang="en-IN">
                <a:solidFill>
                  <a:srgbClr val="C00000"/>
                </a:solidFill>
              </a:rPr>
              <a:t> </a:t>
            </a:r>
            <a:r>
              <a:rPr lang="en-IN"/>
              <a:t>longer than the</a:t>
            </a:r>
            <a:r>
              <a:rPr lang="en-IN" b="1">
                <a:solidFill>
                  <a:srgbClr val="C00000"/>
                </a:solidFill>
              </a:rPr>
              <a:t> longest path of its right sub tree</a:t>
            </a:r>
            <a:endParaRPr/>
          </a:p>
          <a:p>
            <a:pPr lvl="1">
              <a:defRPr/>
            </a:pPr>
            <a:r>
              <a:rPr lang="en-IN"/>
              <a:t>A </a:t>
            </a:r>
            <a:r>
              <a:rPr lang="en-IN" b="1">
                <a:solidFill>
                  <a:srgbClr val="C00000"/>
                </a:solidFill>
              </a:rPr>
              <a:t>node</a:t>
            </a:r>
            <a:r>
              <a:rPr lang="en-IN">
                <a:solidFill>
                  <a:srgbClr val="C00000"/>
                </a:solidFill>
              </a:rPr>
              <a:t> </a:t>
            </a:r>
            <a:r>
              <a:rPr lang="en-IN"/>
              <a:t>is called </a:t>
            </a:r>
            <a:r>
              <a:rPr lang="en-IN" b="1">
                <a:solidFill>
                  <a:srgbClr val="C00000"/>
                </a:solidFill>
              </a:rPr>
              <a:t>right heavy</a:t>
            </a:r>
            <a:r>
              <a:rPr lang="en-IN"/>
              <a:t>, if the </a:t>
            </a:r>
            <a:r>
              <a:rPr lang="en-IN" b="1">
                <a:solidFill>
                  <a:srgbClr val="C00000"/>
                </a:solidFill>
              </a:rPr>
              <a:t>longest path in its right </a:t>
            </a:r>
            <a:r>
              <a:rPr lang="en-IN" b="1">
                <a:solidFill>
                  <a:srgbClr val="C00000"/>
                </a:solidFill>
              </a:rPr>
              <a:t>subtree</a:t>
            </a:r>
            <a:r>
              <a:rPr lang="en-IN">
                <a:solidFill>
                  <a:srgbClr val="C00000"/>
                </a:solidFill>
              </a:rPr>
              <a:t> </a:t>
            </a:r>
            <a:r>
              <a:rPr lang="en-IN"/>
              <a:t>is </a:t>
            </a:r>
            <a:r>
              <a:rPr lang="en-IN" b="1">
                <a:solidFill>
                  <a:srgbClr val="C00000"/>
                </a:solidFill>
              </a:rPr>
              <a:t>one</a:t>
            </a:r>
            <a:r>
              <a:rPr lang="en-IN">
                <a:solidFill>
                  <a:srgbClr val="C00000"/>
                </a:solidFill>
              </a:rPr>
              <a:t> </a:t>
            </a:r>
            <a:r>
              <a:rPr lang="en-IN"/>
              <a:t>longer than </a:t>
            </a:r>
            <a:r>
              <a:rPr lang="en-IN" b="1">
                <a:solidFill>
                  <a:srgbClr val="C00000"/>
                </a:solidFill>
              </a:rPr>
              <a:t>the longest path of its left sub tree</a:t>
            </a:r>
            <a:endParaRPr/>
          </a:p>
          <a:p>
            <a:pPr lvl="1">
              <a:defRPr/>
            </a:pPr>
            <a:r>
              <a:rPr lang="en-IN"/>
              <a:t>A </a:t>
            </a:r>
            <a:r>
              <a:rPr lang="en-IN" b="1">
                <a:solidFill>
                  <a:srgbClr val="C00000"/>
                </a:solidFill>
              </a:rPr>
              <a:t>node</a:t>
            </a:r>
            <a:r>
              <a:rPr lang="en-IN">
                <a:solidFill>
                  <a:srgbClr val="C00000"/>
                </a:solidFill>
              </a:rPr>
              <a:t> </a:t>
            </a:r>
            <a:r>
              <a:rPr lang="en-IN"/>
              <a:t>is called </a:t>
            </a:r>
            <a:r>
              <a:rPr lang="en-IN" b="1">
                <a:solidFill>
                  <a:srgbClr val="C00000"/>
                </a:solidFill>
              </a:rPr>
              <a:t>balanced</a:t>
            </a:r>
            <a:r>
              <a:rPr lang="en-IN"/>
              <a:t>, if the longest path in </a:t>
            </a:r>
            <a:r>
              <a:rPr lang="en-IN" b="1">
                <a:solidFill>
                  <a:srgbClr val="C00000"/>
                </a:solidFill>
              </a:rPr>
              <a:t>both the right and left sub-trees</a:t>
            </a:r>
            <a:r>
              <a:rPr lang="en-IN">
                <a:solidFill>
                  <a:srgbClr val="C00000"/>
                </a:solidFill>
              </a:rPr>
              <a:t> </a:t>
            </a:r>
            <a:r>
              <a:rPr lang="en-IN"/>
              <a:t>are equal</a:t>
            </a:r>
            <a:endParaRPr/>
          </a:p>
          <a:p>
            <a:pPr>
              <a:defRPr/>
            </a:pPr>
            <a:r>
              <a:rPr lang="en-IN"/>
              <a:t>In height balanced tree,  each node must be in one of these states</a:t>
            </a:r>
            <a:endParaRPr/>
          </a:p>
          <a:p>
            <a:pPr>
              <a:defRPr/>
            </a:pPr>
            <a:r>
              <a:rPr lang="en-IN"/>
              <a:t>If there exists a node in a tree where this is not true, then such a tree is called </a:t>
            </a:r>
            <a:r>
              <a:rPr lang="en-IN" b="1">
                <a:solidFill>
                  <a:srgbClr val="C00000"/>
                </a:solidFill>
              </a:rPr>
              <a:t>Unbalanced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481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481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481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481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481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481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644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/>
              <a:t>AVL Tree</a:t>
            </a:r>
            <a:endParaRPr lang="en-US"/>
          </a:p>
        </p:txBody>
      </p:sp>
      <p:cxnSp>
        <p:nvCxnSpPr>
          <p:cNvPr id="1267945848" name="Straight Arrow Connector 4"/>
          <p:cNvCxnSpPr>
            <a:stCxn id="1873336106" idx="5"/>
            <a:endCxn id="867441906" idx="1"/>
          </p:cNvCxnSpPr>
          <p:nvPr/>
        </p:nvCxnSpPr>
        <p:spPr bwMode="auto">
          <a:xfrm>
            <a:off x="1724623" y="1291019"/>
            <a:ext cx="311512" cy="442978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95500171" name="Straight Arrow Connector 5"/>
          <p:cNvCxnSpPr>
            <a:stCxn id="867441906" idx="3"/>
            <a:endCxn id="878605585" idx="0"/>
          </p:cNvCxnSpPr>
          <p:nvPr/>
        </p:nvCxnSpPr>
        <p:spPr bwMode="auto">
          <a:xfrm flipH="1">
            <a:off x="1730686" y="2003405"/>
            <a:ext cx="305451" cy="39914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7333748" name="Straight Arrow Connector 6"/>
          <p:cNvCxnSpPr>
            <a:stCxn id="867441906" idx="5"/>
            <a:endCxn id="638790982" idx="1"/>
          </p:cNvCxnSpPr>
          <p:nvPr/>
        </p:nvCxnSpPr>
        <p:spPr bwMode="auto">
          <a:xfrm>
            <a:off x="2305545" y="2003406"/>
            <a:ext cx="281037" cy="449513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73336106" name="Oval 7"/>
          <p:cNvSpPr/>
          <p:nvPr/>
        </p:nvSpPr>
        <p:spPr bwMode="auto">
          <a:xfrm>
            <a:off x="1399419" y="965815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b="1"/>
          </a:p>
        </p:txBody>
      </p:sp>
      <p:sp>
        <p:nvSpPr>
          <p:cNvPr id="1072476726" name="Oval 8"/>
          <p:cNvSpPr/>
          <p:nvPr/>
        </p:nvSpPr>
        <p:spPr bwMode="auto">
          <a:xfrm>
            <a:off x="778185" y="1665393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b="1"/>
          </a:p>
        </p:txBody>
      </p:sp>
      <p:sp>
        <p:nvSpPr>
          <p:cNvPr id="867441906" name="Oval 9"/>
          <p:cNvSpPr/>
          <p:nvPr/>
        </p:nvSpPr>
        <p:spPr bwMode="auto">
          <a:xfrm>
            <a:off x="1980340" y="16782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b="1"/>
          </a:p>
        </p:txBody>
      </p:sp>
      <p:sp>
        <p:nvSpPr>
          <p:cNvPr id="126941067" name="Oval 10"/>
          <p:cNvSpPr/>
          <p:nvPr/>
        </p:nvSpPr>
        <p:spPr bwMode="auto">
          <a:xfrm>
            <a:off x="244785" y="2372737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b="1"/>
          </a:p>
        </p:txBody>
      </p:sp>
      <p:sp>
        <p:nvSpPr>
          <p:cNvPr id="878605585" name="Oval 11"/>
          <p:cNvSpPr/>
          <p:nvPr/>
        </p:nvSpPr>
        <p:spPr bwMode="auto">
          <a:xfrm>
            <a:off x="1540185" y="2402545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b="1"/>
          </a:p>
        </p:txBody>
      </p:sp>
      <p:sp>
        <p:nvSpPr>
          <p:cNvPr id="638790982" name="Oval 12"/>
          <p:cNvSpPr/>
          <p:nvPr/>
        </p:nvSpPr>
        <p:spPr bwMode="auto">
          <a:xfrm>
            <a:off x="2530785" y="2397122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b="1"/>
          </a:p>
        </p:txBody>
      </p:sp>
      <p:cxnSp>
        <p:nvCxnSpPr>
          <p:cNvPr id="1114738180" name="Straight Arrow Connector 13"/>
          <p:cNvCxnSpPr>
            <a:stCxn id="1072476726" idx="3"/>
            <a:endCxn id="126941067" idx="0"/>
          </p:cNvCxnSpPr>
          <p:nvPr/>
        </p:nvCxnSpPr>
        <p:spPr bwMode="auto">
          <a:xfrm flipH="1">
            <a:off x="435285" y="1990597"/>
            <a:ext cx="398696" cy="38214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87346465" name="Straight Arrow Connector 14"/>
          <p:cNvCxnSpPr>
            <a:stCxn id="1873336106" idx="3"/>
            <a:endCxn id="1072476726" idx="7"/>
          </p:cNvCxnSpPr>
          <p:nvPr/>
        </p:nvCxnSpPr>
        <p:spPr bwMode="auto">
          <a:xfrm flipH="1">
            <a:off x="1103389" y="1291019"/>
            <a:ext cx="351826" cy="43017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96751451" name="TextBox 175"/>
          <p:cNvSpPr txBox="1"/>
          <p:nvPr/>
        </p:nvSpPr>
        <p:spPr bwMode="auto">
          <a:xfrm>
            <a:off x="1432664" y="66101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227075303" name="TextBox 182"/>
          <p:cNvSpPr txBox="1"/>
          <p:nvPr/>
        </p:nvSpPr>
        <p:spPr bwMode="auto">
          <a:xfrm>
            <a:off x="2265559" y="144097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856835224" name="TextBox 183"/>
          <p:cNvSpPr txBox="1"/>
          <p:nvPr/>
        </p:nvSpPr>
        <p:spPr bwMode="auto">
          <a:xfrm>
            <a:off x="150474" y="205920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607222487" name="TextBox 185"/>
          <p:cNvSpPr txBox="1"/>
          <p:nvPr/>
        </p:nvSpPr>
        <p:spPr bwMode="auto">
          <a:xfrm>
            <a:off x="654175" y="1373401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b="1"/>
              <a:t>L</a:t>
            </a:r>
            <a:endParaRPr lang="en-US" b="1"/>
          </a:p>
        </p:txBody>
      </p:sp>
      <p:sp>
        <p:nvSpPr>
          <p:cNvPr id="1184381541" name="TextBox 192"/>
          <p:cNvSpPr txBox="1"/>
          <p:nvPr/>
        </p:nvSpPr>
        <p:spPr bwMode="auto">
          <a:xfrm>
            <a:off x="1481671" y="205920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962313759" name="TextBox 193"/>
          <p:cNvSpPr txBox="1"/>
          <p:nvPr/>
        </p:nvSpPr>
        <p:spPr bwMode="auto">
          <a:xfrm>
            <a:off x="2684191" y="205920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b="1"/>
              <a:t>B</a:t>
            </a:r>
            <a:endParaRPr lang="en-US" b="1"/>
          </a:p>
        </p:txBody>
      </p:sp>
      <p:cxnSp>
        <p:nvCxnSpPr>
          <p:cNvPr id="1342961813" name="Straight Arrow Connector 22"/>
          <p:cNvCxnSpPr>
            <a:stCxn id="737539165" idx="5"/>
            <a:endCxn id="1975201800" idx="1"/>
          </p:cNvCxnSpPr>
          <p:nvPr/>
        </p:nvCxnSpPr>
        <p:spPr bwMode="auto">
          <a:xfrm>
            <a:off x="2628395" y="3504213"/>
            <a:ext cx="745612" cy="545158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32094705" name="Straight Arrow Connector 23"/>
          <p:cNvCxnSpPr>
            <a:stCxn id="47042538" idx="5"/>
            <a:endCxn id="1165132537" idx="0"/>
          </p:cNvCxnSpPr>
          <p:nvPr/>
        </p:nvCxnSpPr>
        <p:spPr bwMode="auto">
          <a:xfrm>
            <a:off x="1409195" y="4342523"/>
            <a:ext cx="651716" cy="436687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2370365" name="Straight Arrow Connector 24"/>
          <p:cNvCxnSpPr>
            <a:stCxn id="1975201800" idx="3"/>
            <a:endCxn id="1838400437" idx="0"/>
          </p:cNvCxnSpPr>
          <p:nvPr/>
        </p:nvCxnSpPr>
        <p:spPr bwMode="auto">
          <a:xfrm flipH="1">
            <a:off x="2865071" y="4318779"/>
            <a:ext cx="508936" cy="46043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89862015" name="Straight Arrow Connector 25"/>
          <p:cNvCxnSpPr>
            <a:stCxn id="1975201800" idx="5"/>
            <a:endCxn id="1742315578" idx="1"/>
          </p:cNvCxnSpPr>
          <p:nvPr/>
        </p:nvCxnSpPr>
        <p:spPr bwMode="auto">
          <a:xfrm>
            <a:off x="3643415" y="4318779"/>
            <a:ext cx="416392" cy="516226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37539165" name="Oval 26"/>
          <p:cNvSpPr/>
          <p:nvPr/>
        </p:nvSpPr>
        <p:spPr bwMode="auto">
          <a:xfrm>
            <a:off x="2303191" y="3179009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b="1"/>
          </a:p>
        </p:txBody>
      </p:sp>
      <p:sp>
        <p:nvSpPr>
          <p:cNvPr id="47042538" name="Oval 27"/>
          <p:cNvSpPr/>
          <p:nvPr/>
        </p:nvSpPr>
        <p:spPr bwMode="auto">
          <a:xfrm>
            <a:off x="1083991" y="4017318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b="1"/>
          </a:p>
        </p:txBody>
      </p:sp>
      <p:sp>
        <p:nvSpPr>
          <p:cNvPr id="1975201800" name="Oval 28"/>
          <p:cNvSpPr/>
          <p:nvPr/>
        </p:nvSpPr>
        <p:spPr bwMode="auto">
          <a:xfrm>
            <a:off x="3318211" y="3993575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b="1"/>
          </a:p>
        </p:txBody>
      </p:sp>
      <p:sp>
        <p:nvSpPr>
          <p:cNvPr id="1326987747" name="Oval 29"/>
          <p:cNvSpPr/>
          <p:nvPr/>
        </p:nvSpPr>
        <p:spPr bwMode="auto">
          <a:xfrm>
            <a:off x="194011" y="4779209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b="1"/>
          </a:p>
        </p:txBody>
      </p:sp>
      <p:sp>
        <p:nvSpPr>
          <p:cNvPr id="1165132537" name="Oval 30"/>
          <p:cNvSpPr/>
          <p:nvPr/>
        </p:nvSpPr>
        <p:spPr bwMode="auto">
          <a:xfrm>
            <a:off x="1870411" y="4779209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b="1"/>
          </a:p>
        </p:txBody>
      </p:sp>
      <p:sp>
        <p:nvSpPr>
          <p:cNvPr id="1838400437" name="Oval 31"/>
          <p:cNvSpPr/>
          <p:nvPr/>
        </p:nvSpPr>
        <p:spPr bwMode="auto">
          <a:xfrm>
            <a:off x="2674571" y="4779209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b="1"/>
          </a:p>
        </p:txBody>
      </p:sp>
      <p:sp>
        <p:nvSpPr>
          <p:cNvPr id="1742315578" name="Oval 32"/>
          <p:cNvSpPr/>
          <p:nvPr/>
        </p:nvSpPr>
        <p:spPr bwMode="auto">
          <a:xfrm>
            <a:off x="4004011" y="4779209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b="1"/>
          </a:p>
        </p:txBody>
      </p:sp>
      <p:sp>
        <p:nvSpPr>
          <p:cNvPr id="2063689395" name="Oval 33"/>
          <p:cNvSpPr/>
          <p:nvPr/>
        </p:nvSpPr>
        <p:spPr bwMode="auto">
          <a:xfrm>
            <a:off x="1337011" y="5465009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b="1"/>
          </a:p>
        </p:txBody>
      </p:sp>
      <p:sp>
        <p:nvSpPr>
          <p:cNvPr id="1946664474" name="Oval 34"/>
          <p:cNvSpPr/>
          <p:nvPr/>
        </p:nvSpPr>
        <p:spPr bwMode="auto">
          <a:xfrm>
            <a:off x="2326935" y="5464455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b="1"/>
          </a:p>
        </p:txBody>
      </p:sp>
      <p:sp>
        <p:nvSpPr>
          <p:cNvPr id="206938272" name="Oval 35"/>
          <p:cNvSpPr/>
          <p:nvPr/>
        </p:nvSpPr>
        <p:spPr bwMode="auto">
          <a:xfrm>
            <a:off x="4356731" y="5464455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b="1"/>
          </a:p>
        </p:txBody>
      </p:sp>
      <p:cxnSp>
        <p:nvCxnSpPr>
          <p:cNvPr id="1338898316" name="Straight Arrow Connector 36"/>
          <p:cNvCxnSpPr>
            <a:stCxn id="47042538" idx="3"/>
            <a:endCxn id="1326987747" idx="0"/>
          </p:cNvCxnSpPr>
          <p:nvPr/>
        </p:nvCxnSpPr>
        <p:spPr bwMode="auto">
          <a:xfrm flipH="1">
            <a:off x="384511" y="4342523"/>
            <a:ext cx="755276" cy="436687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19736234" name="Straight Arrow Connector 37"/>
          <p:cNvCxnSpPr>
            <a:stCxn id="737539165" idx="3"/>
            <a:endCxn id="47042538" idx="7"/>
          </p:cNvCxnSpPr>
          <p:nvPr/>
        </p:nvCxnSpPr>
        <p:spPr bwMode="auto">
          <a:xfrm flipH="1">
            <a:off x="1409195" y="3504214"/>
            <a:ext cx="949792" cy="568901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697889" name="Straight Arrow Connector 38"/>
          <p:cNvCxnSpPr>
            <a:stCxn id="1165132537" idx="3"/>
            <a:endCxn id="2063689395" idx="0"/>
          </p:cNvCxnSpPr>
          <p:nvPr/>
        </p:nvCxnSpPr>
        <p:spPr bwMode="auto">
          <a:xfrm flipH="1">
            <a:off x="1527511" y="5104413"/>
            <a:ext cx="398696" cy="360596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705498" name="Straight Arrow Connector 39"/>
          <p:cNvCxnSpPr>
            <a:stCxn id="1838400437" idx="3"/>
            <a:endCxn id="1946664474" idx="0"/>
          </p:cNvCxnSpPr>
          <p:nvPr/>
        </p:nvCxnSpPr>
        <p:spPr bwMode="auto">
          <a:xfrm flipH="1">
            <a:off x="2517435" y="5104413"/>
            <a:ext cx="212932" cy="360042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39719424" name="Straight Arrow Connector 40"/>
          <p:cNvCxnSpPr>
            <a:stCxn id="1742315578" idx="5"/>
            <a:endCxn id="206938272" idx="0"/>
          </p:cNvCxnSpPr>
          <p:nvPr/>
        </p:nvCxnSpPr>
        <p:spPr bwMode="auto">
          <a:xfrm>
            <a:off x="4329215" y="5104413"/>
            <a:ext cx="218016" cy="360042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3889757" name="TextBox 141"/>
          <p:cNvSpPr txBox="1"/>
          <p:nvPr/>
        </p:nvSpPr>
        <p:spPr bwMode="auto">
          <a:xfrm>
            <a:off x="2336436" y="287420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b="1"/>
              <a:t>R</a:t>
            </a:r>
            <a:endParaRPr lang="en-US" b="1"/>
          </a:p>
        </p:txBody>
      </p:sp>
      <p:cxnSp>
        <p:nvCxnSpPr>
          <p:cNvPr id="2080939053" name="Straight Arrow Connector 42"/>
          <p:cNvCxnSpPr>
            <a:stCxn id="1326987747" idx="5"/>
            <a:endCxn id="1558635299" idx="0"/>
          </p:cNvCxnSpPr>
          <p:nvPr/>
        </p:nvCxnSpPr>
        <p:spPr bwMode="auto">
          <a:xfrm>
            <a:off x="519215" y="5104413"/>
            <a:ext cx="398696" cy="360596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58635299" name="Oval 43"/>
          <p:cNvSpPr/>
          <p:nvPr/>
        </p:nvSpPr>
        <p:spPr bwMode="auto">
          <a:xfrm>
            <a:off x="727411" y="5465009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b="1"/>
          </a:p>
        </p:txBody>
      </p:sp>
      <p:sp>
        <p:nvSpPr>
          <p:cNvPr id="1898811701" name="Oval 44"/>
          <p:cNvSpPr/>
          <p:nvPr/>
        </p:nvSpPr>
        <p:spPr bwMode="auto">
          <a:xfrm>
            <a:off x="3546811" y="5464455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b="1"/>
          </a:p>
        </p:txBody>
      </p:sp>
      <p:cxnSp>
        <p:nvCxnSpPr>
          <p:cNvPr id="1475504349" name="Straight Arrow Connector 45"/>
          <p:cNvCxnSpPr>
            <a:stCxn id="1742315578" idx="3"/>
            <a:endCxn id="1898811701" idx="0"/>
          </p:cNvCxnSpPr>
          <p:nvPr/>
        </p:nvCxnSpPr>
        <p:spPr bwMode="auto">
          <a:xfrm flipH="1">
            <a:off x="3737311" y="5104413"/>
            <a:ext cx="322496" cy="360042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92649122" name="Oval 46"/>
          <p:cNvSpPr/>
          <p:nvPr/>
        </p:nvSpPr>
        <p:spPr bwMode="auto">
          <a:xfrm>
            <a:off x="3904103" y="6168555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b="1"/>
          </a:p>
        </p:txBody>
      </p:sp>
      <p:cxnSp>
        <p:nvCxnSpPr>
          <p:cNvPr id="2110634940" name="Straight Arrow Connector 47"/>
          <p:cNvCxnSpPr>
            <a:stCxn id="1898811701" idx="5"/>
            <a:endCxn id="1292649122" idx="0"/>
          </p:cNvCxnSpPr>
          <p:nvPr/>
        </p:nvCxnSpPr>
        <p:spPr bwMode="auto">
          <a:xfrm>
            <a:off x="3872015" y="5789659"/>
            <a:ext cx="222588" cy="378896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40605612" name="TextBox 95"/>
          <p:cNvSpPr txBox="1"/>
          <p:nvPr/>
        </p:nvSpPr>
        <p:spPr bwMode="auto">
          <a:xfrm>
            <a:off x="3351456" y="3673683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2111236823" name="TextBox 96"/>
          <p:cNvSpPr txBox="1"/>
          <p:nvPr/>
        </p:nvSpPr>
        <p:spPr bwMode="auto">
          <a:xfrm>
            <a:off x="99700" y="4465673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44235054" name="TextBox 97"/>
          <p:cNvSpPr txBox="1"/>
          <p:nvPr/>
        </p:nvSpPr>
        <p:spPr bwMode="auto">
          <a:xfrm>
            <a:off x="3458456" y="517232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1831739330" name="TextBox 107"/>
          <p:cNvSpPr txBox="1"/>
          <p:nvPr/>
        </p:nvSpPr>
        <p:spPr bwMode="auto">
          <a:xfrm>
            <a:off x="959981" y="372532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499122243" name="TextBox 112"/>
          <p:cNvSpPr txBox="1"/>
          <p:nvPr/>
        </p:nvSpPr>
        <p:spPr bwMode="auto">
          <a:xfrm>
            <a:off x="498811" y="566078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437740361" name="TextBox 114"/>
          <p:cNvSpPr txBox="1"/>
          <p:nvPr/>
        </p:nvSpPr>
        <p:spPr bwMode="auto">
          <a:xfrm>
            <a:off x="1108411" y="565495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418854764" name="TextBox 115"/>
          <p:cNvSpPr txBox="1"/>
          <p:nvPr/>
        </p:nvSpPr>
        <p:spPr bwMode="auto">
          <a:xfrm>
            <a:off x="2094156" y="565495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315888161" name="TextBox 116"/>
          <p:cNvSpPr txBox="1"/>
          <p:nvPr/>
        </p:nvSpPr>
        <p:spPr bwMode="auto">
          <a:xfrm>
            <a:off x="3643415" y="626220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2054209557" name="TextBox 117"/>
          <p:cNvSpPr txBox="1"/>
          <p:nvPr/>
        </p:nvSpPr>
        <p:spPr bwMode="auto">
          <a:xfrm>
            <a:off x="4536689" y="582328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491857095" name="TextBox 118"/>
          <p:cNvSpPr txBox="1"/>
          <p:nvPr/>
        </p:nvSpPr>
        <p:spPr bwMode="auto">
          <a:xfrm>
            <a:off x="2059126" y="4433156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b="1"/>
              <a:t>L</a:t>
            </a:r>
            <a:endParaRPr lang="en-US" b="1"/>
          </a:p>
        </p:txBody>
      </p:sp>
      <p:sp>
        <p:nvSpPr>
          <p:cNvPr id="1999961178" name="TextBox 120"/>
          <p:cNvSpPr txBox="1"/>
          <p:nvPr/>
        </p:nvSpPr>
        <p:spPr bwMode="auto">
          <a:xfrm>
            <a:off x="2616057" y="4435865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b="1"/>
              <a:t>L</a:t>
            </a:r>
            <a:endParaRPr lang="en-US" b="1"/>
          </a:p>
        </p:txBody>
      </p:sp>
      <p:sp>
        <p:nvSpPr>
          <p:cNvPr id="436633101" name="TextBox 121"/>
          <p:cNvSpPr txBox="1"/>
          <p:nvPr/>
        </p:nvSpPr>
        <p:spPr bwMode="auto">
          <a:xfrm>
            <a:off x="4128131" y="444128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b="1"/>
              <a:t>L</a:t>
            </a:r>
            <a:endParaRPr lang="en-US" b="1"/>
          </a:p>
        </p:txBody>
      </p:sp>
      <p:sp>
        <p:nvSpPr>
          <p:cNvPr id="1543447540" name="TextBox 194"/>
          <p:cNvSpPr txBox="1"/>
          <p:nvPr/>
        </p:nvSpPr>
        <p:spPr bwMode="auto">
          <a:xfrm>
            <a:off x="2534438" y="880537"/>
            <a:ext cx="211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IN" sz="2400" b="1"/>
              <a:t>Balanced Trees</a:t>
            </a:r>
            <a:endParaRPr/>
          </a:p>
        </p:txBody>
      </p:sp>
      <p:cxnSp>
        <p:nvCxnSpPr>
          <p:cNvPr id="1526759394" name="Straight Connector 62"/>
          <p:cNvCxnSpPr/>
          <p:nvPr/>
        </p:nvCxnSpPr>
        <p:spPr bwMode="auto">
          <a:xfrm>
            <a:off x="4904987" y="732059"/>
            <a:ext cx="0" cy="57989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2347538" name="Straight Arrow Connector 61"/>
          <p:cNvCxnSpPr>
            <a:stCxn id="826105939" idx="5"/>
            <a:endCxn id="711926119" idx="0"/>
          </p:cNvCxnSpPr>
          <p:nvPr/>
        </p:nvCxnSpPr>
        <p:spPr bwMode="auto">
          <a:xfrm>
            <a:off x="6060704" y="1820803"/>
            <a:ext cx="515492" cy="387182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36853591" name="Straight Arrow Connector 63"/>
          <p:cNvCxnSpPr>
            <a:stCxn id="711926119" idx="3"/>
            <a:endCxn id="1279264367" idx="0"/>
          </p:cNvCxnSpPr>
          <p:nvPr/>
        </p:nvCxnSpPr>
        <p:spPr bwMode="auto">
          <a:xfrm flipH="1">
            <a:off x="6066766" y="2533189"/>
            <a:ext cx="374726" cy="39914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62365962" name="Straight Arrow Connector 64"/>
          <p:cNvCxnSpPr>
            <a:stCxn id="711926119" idx="5"/>
            <a:endCxn id="89574204" idx="0"/>
          </p:cNvCxnSpPr>
          <p:nvPr/>
        </p:nvCxnSpPr>
        <p:spPr bwMode="auto">
          <a:xfrm>
            <a:off x="6710900" y="2533189"/>
            <a:ext cx="346466" cy="393717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26105939" name="Oval 65"/>
          <p:cNvSpPr/>
          <p:nvPr/>
        </p:nvSpPr>
        <p:spPr bwMode="auto">
          <a:xfrm>
            <a:off x="5735500" y="1495598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b="1"/>
          </a:p>
        </p:txBody>
      </p:sp>
      <p:sp>
        <p:nvSpPr>
          <p:cNvPr id="1769522652" name="Oval 66"/>
          <p:cNvSpPr/>
          <p:nvPr/>
        </p:nvSpPr>
        <p:spPr bwMode="auto">
          <a:xfrm>
            <a:off x="5114266" y="2195177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b="1"/>
          </a:p>
        </p:txBody>
      </p:sp>
      <p:sp>
        <p:nvSpPr>
          <p:cNvPr id="711926119" name="Oval 67"/>
          <p:cNvSpPr/>
          <p:nvPr/>
        </p:nvSpPr>
        <p:spPr bwMode="auto">
          <a:xfrm>
            <a:off x="6385696" y="2207985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b="1"/>
          </a:p>
        </p:txBody>
      </p:sp>
      <p:sp>
        <p:nvSpPr>
          <p:cNvPr id="1430257332" name="Oval 68"/>
          <p:cNvSpPr/>
          <p:nvPr/>
        </p:nvSpPr>
        <p:spPr bwMode="auto">
          <a:xfrm>
            <a:off x="6385319" y="3618129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b="1"/>
          </a:p>
        </p:txBody>
      </p:sp>
      <p:sp>
        <p:nvSpPr>
          <p:cNvPr id="1279264367" name="Oval 69"/>
          <p:cNvSpPr/>
          <p:nvPr/>
        </p:nvSpPr>
        <p:spPr bwMode="auto">
          <a:xfrm>
            <a:off x="5876265" y="2932329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b="1"/>
          </a:p>
        </p:txBody>
      </p:sp>
      <p:sp>
        <p:nvSpPr>
          <p:cNvPr id="89574204" name="Oval 70"/>
          <p:cNvSpPr/>
          <p:nvPr/>
        </p:nvSpPr>
        <p:spPr bwMode="auto">
          <a:xfrm>
            <a:off x="6866866" y="2926906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b="1"/>
          </a:p>
        </p:txBody>
      </p:sp>
      <p:cxnSp>
        <p:nvCxnSpPr>
          <p:cNvPr id="907468355" name="Straight Arrow Connector 71"/>
          <p:cNvCxnSpPr>
            <a:stCxn id="826105939" idx="3"/>
            <a:endCxn id="1769522652" idx="0"/>
          </p:cNvCxnSpPr>
          <p:nvPr/>
        </p:nvCxnSpPr>
        <p:spPr bwMode="auto">
          <a:xfrm flipH="1">
            <a:off x="5304765" y="1820803"/>
            <a:ext cx="486530" cy="374374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38576663" name="TextBox 175"/>
          <p:cNvSpPr txBox="1"/>
          <p:nvPr/>
        </p:nvSpPr>
        <p:spPr bwMode="auto">
          <a:xfrm>
            <a:off x="5768746" y="838198"/>
            <a:ext cx="17972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b="1"/>
              <a:t>Critical Node </a:t>
            </a:r>
            <a:endParaRPr/>
          </a:p>
          <a:p>
            <a:pPr>
              <a:defRPr/>
            </a:pPr>
            <a:r>
              <a:rPr lang="en-IN" b="1"/>
              <a:t>Unbalanced Node</a:t>
            </a:r>
            <a:endParaRPr lang="en-US" b="1"/>
          </a:p>
        </p:txBody>
      </p:sp>
      <p:sp>
        <p:nvSpPr>
          <p:cNvPr id="1998446632" name="TextBox 182"/>
          <p:cNvSpPr txBox="1"/>
          <p:nvPr/>
        </p:nvSpPr>
        <p:spPr bwMode="auto">
          <a:xfrm>
            <a:off x="6670915" y="1970758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1314333838" name="TextBox 183"/>
          <p:cNvSpPr txBox="1"/>
          <p:nvPr/>
        </p:nvSpPr>
        <p:spPr bwMode="auto">
          <a:xfrm>
            <a:off x="6088193" y="381164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632855664" name="TextBox 185"/>
          <p:cNvSpPr txBox="1"/>
          <p:nvPr/>
        </p:nvSpPr>
        <p:spPr bwMode="auto">
          <a:xfrm>
            <a:off x="4990256" y="190318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291414058" name="TextBox 192"/>
          <p:cNvSpPr txBox="1"/>
          <p:nvPr/>
        </p:nvSpPr>
        <p:spPr bwMode="auto">
          <a:xfrm>
            <a:off x="5817752" y="258898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680277577" name="TextBox 193"/>
          <p:cNvSpPr txBox="1"/>
          <p:nvPr/>
        </p:nvSpPr>
        <p:spPr bwMode="auto">
          <a:xfrm>
            <a:off x="7020272" y="2588985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b="1"/>
              <a:t>L</a:t>
            </a:r>
            <a:endParaRPr lang="en-US" b="1"/>
          </a:p>
        </p:txBody>
      </p:sp>
      <p:cxnSp>
        <p:nvCxnSpPr>
          <p:cNvPr id="724401571" name="Straight Arrow Connector 78"/>
          <p:cNvCxnSpPr>
            <a:stCxn id="89574204" idx="3"/>
            <a:endCxn id="1430257332" idx="0"/>
          </p:cNvCxnSpPr>
          <p:nvPr/>
        </p:nvCxnSpPr>
        <p:spPr bwMode="auto">
          <a:xfrm flipH="1">
            <a:off x="6575819" y="3252110"/>
            <a:ext cx="346843" cy="366019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10821451" name="Straight Connector 79"/>
          <p:cNvCxnSpPr/>
          <p:nvPr/>
        </p:nvCxnSpPr>
        <p:spPr bwMode="auto">
          <a:xfrm>
            <a:off x="7648927" y="732059"/>
            <a:ext cx="0" cy="33427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51691778" name="Oval 80"/>
          <p:cNvSpPr/>
          <p:nvPr/>
        </p:nvSpPr>
        <p:spPr bwMode="auto">
          <a:xfrm>
            <a:off x="7954628" y="1583467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b="1"/>
          </a:p>
        </p:txBody>
      </p:sp>
      <p:cxnSp>
        <p:nvCxnSpPr>
          <p:cNvPr id="519377070" name="Straight Arrow Connector 81"/>
          <p:cNvCxnSpPr>
            <a:stCxn id="1451691778" idx="5"/>
            <a:endCxn id="2064756752" idx="1"/>
          </p:cNvCxnSpPr>
          <p:nvPr/>
        </p:nvCxnSpPr>
        <p:spPr bwMode="auto">
          <a:xfrm>
            <a:off x="8279833" y="1908672"/>
            <a:ext cx="367308" cy="448401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48799467" name="Straight Arrow Connector 82"/>
          <p:cNvCxnSpPr>
            <a:stCxn id="2064756752" idx="5"/>
            <a:endCxn id="979661454" idx="1"/>
          </p:cNvCxnSpPr>
          <p:nvPr/>
        </p:nvCxnSpPr>
        <p:spPr bwMode="auto">
          <a:xfrm>
            <a:off x="8916550" y="2626481"/>
            <a:ext cx="281037" cy="449513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64756752" name="Oval 83"/>
          <p:cNvSpPr/>
          <p:nvPr/>
        </p:nvSpPr>
        <p:spPr bwMode="auto">
          <a:xfrm>
            <a:off x="8591345" y="2301276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b="1"/>
          </a:p>
        </p:txBody>
      </p:sp>
      <p:sp>
        <p:nvSpPr>
          <p:cNvPr id="979661454" name="Oval 84"/>
          <p:cNvSpPr/>
          <p:nvPr/>
        </p:nvSpPr>
        <p:spPr bwMode="auto">
          <a:xfrm>
            <a:off x="9141790" y="3020197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b="1"/>
          </a:p>
        </p:txBody>
      </p:sp>
      <p:sp>
        <p:nvSpPr>
          <p:cNvPr id="514720665" name="TextBox 183"/>
          <p:cNvSpPr txBox="1"/>
          <p:nvPr/>
        </p:nvSpPr>
        <p:spPr bwMode="auto">
          <a:xfrm>
            <a:off x="9478628" y="324879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591711169" name="TextBox 183"/>
          <p:cNvSpPr txBox="1"/>
          <p:nvPr/>
        </p:nvSpPr>
        <p:spPr bwMode="auto">
          <a:xfrm>
            <a:off x="8945228" y="218199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1122758440" name="TextBox 175"/>
          <p:cNvSpPr txBox="1"/>
          <p:nvPr/>
        </p:nvSpPr>
        <p:spPr bwMode="auto">
          <a:xfrm>
            <a:off x="7901274" y="838198"/>
            <a:ext cx="17972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b="1"/>
              <a:t>Critical Node </a:t>
            </a:r>
            <a:endParaRPr/>
          </a:p>
          <a:p>
            <a:pPr>
              <a:defRPr/>
            </a:pPr>
            <a:r>
              <a:rPr lang="en-IN" b="1"/>
              <a:t>Unbalanced Node</a:t>
            </a:r>
            <a:endParaRPr lang="en-US" b="1"/>
          </a:p>
        </p:txBody>
      </p:sp>
      <p:sp>
        <p:nvSpPr>
          <p:cNvPr id="1145533836" name="Content Placeholder 2"/>
          <p:cNvSpPr>
            <a:spLocks noGrp="1"/>
          </p:cNvSpPr>
          <p:nvPr>
            <p:ph idx="1"/>
          </p:nvPr>
        </p:nvSpPr>
        <p:spPr bwMode="auto">
          <a:xfrm>
            <a:off x="5084021" y="4424108"/>
            <a:ext cx="6915722" cy="2250142"/>
          </a:xfrm>
        </p:spPr>
        <p:txBody>
          <a:bodyPr/>
          <a:lstStyle/>
          <a:p>
            <a:pPr>
              <a:spcBef>
                <a:spcPts val="600"/>
              </a:spcBef>
              <a:defRPr/>
            </a:pPr>
            <a:r>
              <a:rPr lang="en-US" sz="2000"/>
              <a:t>Sometimes tree becomes unbalanced by inserting or deleting any node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lang="en-US" sz="2000"/>
              <a:t>Then based on position of insertion, we need to rotate the unbalanced node 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lang="en-US" sz="2000" b="1">
                <a:solidFill>
                  <a:srgbClr val="C00000"/>
                </a:solidFill>
              </a:rPr>
              <a:t>Rotation </a:t>
            </a:r>
            <a:r>
              <a:rPr lang="en-US" sz="2000"/>
              <a:t>is the </a:t>
            </a:r>
            <a:r>
              <a:rPr lang="en-US" sz="2000" b="1">
                <a:solidFill>
                  <a:srgbClr val="C00000"/>
                </a:solidFill>
              </a:rPr>
              <a:t>process </a:t>
            </a:r>
            <a:r>
              <a:rPr lang="en-US" sz="2000"/>
              <a:t>to </a:t>
            </a:r>
            <a:r>
              <a:rPr lang="en-US" sz="2000" b="1">
                <a:solidFill>
                  <a:srgbClr val="C00000"/>
                </a:solidFill>
              </a:rPr>
              <a:t>make tree balanced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33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346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476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73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4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0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500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33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94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44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79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313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38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07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835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22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75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7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3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736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4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89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987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939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09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13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63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68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96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520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7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840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6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15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5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64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50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81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634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38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649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71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12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236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74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57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5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996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888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5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20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63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73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60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9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447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347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85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36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105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522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92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25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26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7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468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40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333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277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414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44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855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57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10" fill="hold"/>
                                        <p:tgtEl>
                                          <p:spTgt spid="8261059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15" dur="10" fill="hold"/>
                                        <p:tgtEl>
                                          <p:spTgt spid="8261059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6" dur="10" fill="hold"/>
                                        <p:tgtEl>
                                          <p:spTgt spid="8261059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82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66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79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756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377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69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72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71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75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8" dur="10" fill="hold"/>
                                        <p:tgtEl>
                                          <p:spTgt spid="14516917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49" dur="10" fill="hold"/>
                                        <p:tgtEl>
                                          <p:spTgt spid="14516917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0" dur="10" fill="hold"/>
                                        <p:tgtEl>
                                          <p:spTgt spid="14516917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533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5338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5338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336106" grpId="0" animBg="1"/>
      <p:bldP spid="1072476726" grpId="0" animBg="1"/>
      <p:bldP spid="867441906" grpId="0" animBg="1"/>
      <p:bldP spid="126941067" grpId="0" animBg="1"/>
      <p:bldP spid="878605585" grpId="0" animBg="1"/>
      <p:bldP spid="638790982" grpId="0" animBg="1"/>
      <p:bldP spid="496751451" grpId="0"/>
      <p:bldP spid="227075303" grpId="0"/>
      <p:bldP spid="856835224" grpId="0"/>
      <p:bldP spid="607222487" grpId="0"/>
      <p:bldP spid="1184381541" grpId="0"/>
      <p:bldP spid="962313759" grpId="0"/>
      <p:bldP spid="737539165" grpId="0" animBg="1"/>
      <p:bldP spid="47042538" grpId="0" animBg="1"/>
      <p:bldP spid="1975201800" grpId="0" animBg="1"/>
      <p:bldP spid="1326987747" grpId="0" animBg="1"/>
      <p:bldP spid="1165132537" grpId="0" animBg="1"/>
      <p:bldP spid="1838400437" grpId="0" animBg="1"/>
      <p:bldP spid="1742315578" grpId="0" animBg="1"/>
      <p:bldP spid="2063689395" grpId="0" animBg="1"/>
      <p:bldP spid="1946664474" grpId="0" animBg="1"/>
      <p:bldP spid="206938272" grpId="0" animBg="1"/>
      <p:bldP spid="163889757" grpId="0"/>
      <p:bldP spid="1558635299" grpId="0" animBg="1"/>
      <p:bldP spid="1898811701" grpId="0" animBg="1"/>
      <p:bldP spid="1292649122" grpId="0" animBg="1"/>
      <p:bldP spid="1140605612" grpId="0"/>
      <p:bldP spid="2111236823" grpId="0"/>
      <p:bldP spid="44235054" grpId="0"/>
      <p:bldP spid="1831739330" grpId="0"/>
      <p:bldP spid="1499122243" grpId="0"/>
      <p:bldP spid="437740361" grpId="0"/>
      <p:bldP spid="418854764" grpId="0"/>
      <p:bldP spid="315888161" grpId="0"/>
      <p:bldP spid="2054209557" grpId="0"/>
      <p:bldP spid="491857095" grpId="0"/>
      <p:bldP spid="1999961178" grpId="0"/>
      <p:bldP spid="436633101" grpId="0"/>
      <p:bldP spid="1543447540" grpId="0"/>
      <p:bldP spid="826105939" grpId="0" animBg="1"/>
      <p:bldP spid="1769522652" grpId="0" animBg="1"/>
      <p:bldP spid="711926119" grpId="0" animBg="1"/>
      <p:bldP spid="1430257332" grpId="0" animBg="1"/>
      <p:bldP spid="1279264367" grpId="0" animBg="1"/>
      <p:bldP spid="89574204" grpId="0" animBg="1"/>
      <p:bldP spid="1138576663" grpId="0"/>
      <p:bldP spid="1998446632" grpId="0"/>
      <p:bldP spid="1314333838" grpId="0"/>
      <p:bldP spid="1632855664" grpId="0"/>
      <p:bldP spid="291414058" grpId="0"/>
      <p:bldP spid="1680277577" grpId="0"/>
      <p:bldP spid="1451691778" grpId="0" animBg="1"/>
      <p:bldP spid="2064756752" grpId="0" animBg="1"/>
      <p:bldP spid="979661454" grpId="0" animBg="1"/>
      <p:bldP spid="514720665" grpId="0"/>
      <p:bldP spid="591711169" grpId="0"/>
      <p:bldP spid="11227584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7062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/>
              <a:t>Right Rotation</a:t>
            </a:r>
            <a:endParaRPr lang="en-US"/>
          </a:p>
        </p:txBody>
      </p:sp>
      <p:sp>
        <p:nvSpPr>
          <p:cNvPr id="756913916" name="Content Placeholder 2"/>
          <p:cNvSpPr>
            <a:spLocks noGrp="1"/>
          </p:cNvSpPr>
          <p:nvPr>
            <p:ph idx="1"/>
          </p:nvPr>
        </p:nvSpPr>
        <p:spPr bwMode="auto">
          <a:xfrm>
            <a:off x="131180" y="863445"/>
            <a:ext cx="11929641" cy="2295924"/>
          </a:xfrm>
        </p:spPr>
        <p:txBody>
          <a:bodyPr/>
          <a:lstStyle/>
          <a:p>
            <a:pPr marL="457200" indent="-457200">
              <a:buFont typeface="+mj-lt"/>
              <a:buAutoNum type="alphaLcPeriod"/>
              <a:defRPr/>
            </a:pP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Detach</a:t>
            </a:r>
            <a:r>
              <a:rPr lang="en-IN">
                <a:solidFill>
                  <a:srgbClr val="C00000"/>
                </a:solidFill>
              </a:rPr>
              <a:t> </a:t>
            </a:r>
            <a:r>
              <a:rPr lang="en-IN"/>
              <a:t>left child’s right sub-tree</a:t>
            </a:r>
            <a:endParaRPr/>
          </a:p>
          <a:p>
            <a:pPr marL="457200" indent="-457200">
              <a:buFont typeface="+mj-lt"/>
              <a:buAutoNum type="alphaLcPeriod"/>
              <a:defRPr/>
            </a:pPr>
            <a:r>
              <a:rPr lang="en-IN" b="1"/>
              <a:t> </a:t>
            </a:r>
            <a:r>
              <a:rPr lang="en-IN"/>
              <a:t>Consider </a:t>
            </a:r>
            <a:r>
              <a:rPr lang="en-IN" b="1">
                <a:solidFill>
                  <a:srgbClr val="C00000"/>
                </a:solidFill>
              </a:rPr>
              <a:t>left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child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/>
              <a:t>to be the </a:t>
            </a:r>
            <a:r>
              <a:rPr lang="en-IN" b="1">
                <a:solidFill>
                  <a:srgbClr val="C00000"/>
                </a:solidFill>
              </a:rPr>
              <a:t>new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parent</a:t>
            </a:r>
            <a:endParaRPr/>
          </a:p>
          <a:p>
            <a:pPr marL="457200" indent="-457200">
              <a:buFont typeface="+mj-lt"/>
              <a:buAutoNum type="alphaLcPeriod"/>
              <a:defRPr/>
            </a:pP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Attach</a:t>
            </a:r>
            <a:r>
              <a:rPr lang="en-IN">
                <a:solidFill>
                  <a:srgbClr val="C0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old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parent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/>
              <a:t>onto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right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of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new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parent</a:t>
            </a:r>
            <a:endParaRPr/>
          </a:p>
          <a:p>
            <a:pPr marL="457200" indent="-457200">
              <a:buFont typeface="+mj-lt"/>
              <a:buAutoNum type="alphaLcPeriod"/>
              <a:defRPr/>
            </a:pP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Attach</a:t>
            </a:r>
            <a:r>
              <a:rPr lang="en-IN">
                <a:solidFill>
                  <a:srgbClr val="C0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old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left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child’s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old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right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sub-tree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/>
              <a:t>as </a:t>
            </a:r>
            <a:r>
              <a:rPr lang="en-IN" b="1">
                <a:solidFill>
                  <a:srgbClr val="C00000"/>
                </a:solidFill>
              </a:rPr>
              <a:t>left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sub-tree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of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new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right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child</a:t>
            </a:r>
            <a:endParaRPr/>
          </a:p>
        </p:txBody>
      </p:sp>
      <p:sp>
        <p:nvSpPr>
          <p:cNvPr id="566188753" name="Rectangle 28"/>
          <p:cNvSpPr>
            <a:spLocks noChangeArrowheads="1"/>
          </p:cNvSpPr>
          <p:nvPr/>
        </p:nvSpPr>
        <p:spPr bwMode="auto">
          <a:xfrm>
            <a:off x="1676401" y="-32266"/>
            <a:ext cx="18473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/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64198258" name="Oval 26" descr="20%"/>
          <p:cNvSpPr>
            <a:spLocks noChangeArrowheads="1"/>
          </p:cNvSpPr>
          <p:nvPr/>
        </p:nvSpPr>
        <p:spPr bwMode="auto">
          <a:xfrm>
            <a:off x="3500147" y="3561973"/>
            <a:ext cx="554577" cy="569789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80467" tIns="40234" rIns="80467" bIns="40234" numCol="1" anchor="ctr" anchorCtr="0" compatLnSpc="1">
            <a:prstTxWarp prst="textNoShape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gu-IN" sz="2400" b="1">
                <a:solidFill>
                  <a:schemeClr val="bg1"/>
                </a:solidFill>
                <a:latin typeface="+mj-lt"/>
                <a:ea typeface="Roboto Condensed"/>
                <a:cs typeface="Shruti"/>
              </a:rPr>
              <a:t>J</a:t>
            </a:r>
            <a:endParaRPr lang="gu-IN" sz="2400">
              <a:solidFill>
                <a:schemeClr val="bg1"/>
              </a:solidFill>
              <a:latin typeface="+mj-lt"/>
              <a:ea typeface="Roboto Condensed"/>
              <a:cs typeface="Arial"/>
            </a:endParaRPr>
          </a:p>
        </p:txBody>
      </p:sp>
      <p:sp>
        <p:nvSpPr>
          <p:cNvPr id="182454524" name="Oval 25"/>
          <p:cNvSpPr>
            <a:spLocks noChangeArrowheads="1"/>
          </p:cNvSpPr>
          <p:nvPr/>
        </p:nvSpPr>
        <p:spPr bwMode="auto">
          <a:xfrm>
            <a:off x="2765707" y="4344145"/>
            <a:ext cx="554577" cy="569789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39600" tIns="39600" rIns="39600" bIns="40234" numCol="1" anchor="ctr" anchorCtr="0" compatLnSpc="1">
            <a:prstTxWarp prst="textNoShape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gu-IN" sz="2400" b="1">
                <a:solidFill>
                  <a:schemeClr val="bg1"/>
                </a:solidFill>
                <a:latin typeface="+mj-lt"/>
                <a:ea typeface="Calibri"/>
                <a:cs typeface="Shruti"/>
              </a:rPr>
              <a:t>K</a:t>
            </a:r>
            <a:endParaRPr/>
          </a:p>
        </p:txBody>
      </p:sp>
      <p:sp>
        <p:nvSpPr>
          <p:cNvPr id="405926023" name="Oval 24"/>
          <p:cNvSpPr>
            <a:spLocks noChangeArrowheads="1"/>
          </p:cNvSpPr>
          <p:nvPr/>
        </p:nvSpPr>
        <p:spPr bwMode="auto">
          <a:xfrm>
            <a:off x="4294541" y="4329150"/>
            <a:ext cx="554577" cy="569789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80467" tIns="40234" rIns="80467" bIns="40234" numCol="1" anchor="ctr" anchorCtr="0" compatLnSpc="1">
            <a:prstTxWarp prst="textNoShape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gu-IN" sz="2400" b="1">
                <a:solidFill>
                  <a:schemeClr val="bg1"/>
                </a:solidFill>
                <a:latin typeface="+mj-lt"/>
                <a:ea typeface="Calibri"/>
                <a:cs typeface="Shruti"/>
              </a:rPr>
              <a:t>Z</a:t>
            </a:r>
            <a:endParaRPr/>
          </a:p>
        </p:txBody>
      </p:sp>
      <p:sp>
        <p:nvSpPr>
          <p:cNvPr id="56780303" name="Oval 23"/>
          <p:cNvSpPr>
            <a:spLocks noChangeArrowheads="1"/>
          </p:cNvSpPr>
          <p:nvPr/>
        </p:nvSpPr>
        <p:spPr bwMode="auto">
          <a:xfrm>
            <a:off x="2256096" y="5078873"/>
            <a:ext cx="554577" cy="569789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80467" tIns="40234" rIns="80467" bIns="40234" numCol="1" anchor="ctr" anchorCtr="0" compatLnSpc="1">
            <a:prstTxWarp prst="textNoShape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gu-IN" sz="2400" b="1">
                <a:solidFill>
                  <a:schemeClr val="bg1"/>
                </a:solidFill>
                <a:latin typeface="+mj-lt"/>
                <a:ea typeface="Calibri"/>
                <a:cs typeface="Shruti"/>
              </a:rPr>
              <a:t>X</a:t>
            </a:r>
            <a:endParaRPr/>
          </a:p>
        </p:txBody>
      </p:sp>
      <p:sp>
        <p:nvSpPr>
          <p:cNvPr id="1236152175" name="Oval 22"/>
          <p:cNvSpPr>
            <a:spLocks noChangeArrowheads="1"/>
          </p:cNvSpPr>
          <p:nvPr/>
        </p:nvSpPr>
        <p:spPr bwMode="auto">
          <a:xfrm>
            <a:off x="3320284" y="5153845"/>
            <a:ext cx="554577" cy="569789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80467" tIns="40234" rIns="80467" bIns="40234" numCol="1" anchor="ctr" anchorCtr="0" compatLnSpc="1">
            <a:prstTxWarp prst="textNoShape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gu-IN" sz="2400" b="1">
                <a:solidFill>
                  <a:schemeClr val="bg1"/>
                </a:solidFill>
                <a:latin typeface="+mj-lt"/>
                <a:ea typeface="Calibri"/>
                <a:cs typeface="Shruti"/>
              </a:rPr>
              <a:t>Y</a:t>
            </a:r>
            <a:endParaRPr/>
          </a:p>
        </p:txBody>
      </p:sp>
      <p:sp>
        <p:nvSpPr>
          <p:cNvPr id="1249673962" name="Oval 21"/>
          <p:cNvSpPr>
            <a:spLocks noChangeArrowheads="1"/>
          </p:cNvSpPr>
          <p:nvPr/>
        </p:nvSpPr>
        <p:spPr bwMode="auto">
          <a:xfrm>
            <a:off x="1791451" y="5828595"/>
            <a:ext cx="554577" cy="569789"/>
          </a:xfrm>
          <a:prstGeom prst="ellipse">
            <a:avLst/>
          </a:prstGeom>
          <a:solidFill>
            <a:srgbClr val="B84742"/>
          </a:solidFill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80467" tIns="40234" rIns="80467" bIns="40234" numCol="1" anchor="ctr" anchorCtr="0" compatLnSpc="1">
            <a:prstTxWarp prst="textNoShape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gu-IN" sz="2400" b="1">
                <a:solidFill>
                  <a:schemeClr val="bg1"/>
                </a:solidFill>
                <a:latin typeface="+mj-lt"/>
                <a:ea typeface="Calibri"/>
                <a:cs typeface="Shruti"/>
              </a:rPr>
              <a:t>N</a:t>
            </a:r>
            <a:endParaRPr/>
          </a:p>
        </p:txBody>
      </p:sp>
      <p:sp>
        <p:nvSpPr>
          <p:cNvPr id="838779035" name="AutoShape 20"/>
          <p:cNvSpPr>
            <a:spLocks noChangeShapeType="1"/>
          </p:cNvSpPr>
          <p:nvPr/>
        </p:nvSpPr>
        <p:spPr bwMode="auto">
          <a:xfrm flipH="1">
            <a:off x="3066593" y="4034135"/>
            <a:ext cx="531478" cy="30926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373550264" name="AutoShape 19"/>
          <p:cNvSpPr>
            <a:spLocks noChangeShapeType="1"/>
          </p:cNvSpPr>
          <p:nvPr/>
        </p:nvSpPr>
        <p:spPr bwMode="auto">
          <a:xfrm>
            <a:off x="3959337" y="4034136"/>
            <a:ext cx="595522" cy="30926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657010024" name="AutoShape 18"/>
          <p:cNvSpPr>
            <a:spLocks noChangeShapeType="1"/>
          </p:cNvSpPr>
          <p:nvPr/>
        </p:nvSpPr>
        <p:spPr bwMode="auto">
          <a:xfrm flipH="1">
            <a:off x="2532885" y="4829964"/>
            <a:ext cx="313761" cy="248908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004833077" name="AutoShape 17"/>
          <p:cNvSpPr>
            <a:spLocks noChangeShapeType="1"/>
          </p:cNvSpPr>
          <p:nvPr/>
        </p:nvSpPr>
        <p:spPr bwMode="auto">
          <a:xfrm>
            <a:off x="3238347" y="4829964"/>
            <a:ext cx="359725" cy="32488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8659775" name="AutoShape 16"/>
          <p:cNvSpPr>
            <a:spLocks noChangeShapeType="1"/>
          </p:cNvSpPr>
          <p:nvPr/>
        </p:nvSpPr>
        <p:spPr bwMode="auto">
          <a:xfrm flipH="1">
            <a:off x="2069238" y="5564692"/>
            <a:ext cx="267796" cy="263902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52222989" name="TextBox 31"/>
          <p:cNvSpPr txBox="1"/>
          <p:nvPr/>
        </p:nvSpPr>
        <p:spPr bwMode="auto">
          <a:xfrm>
            <a:off x="2320978" y="3200395"/>
            <a:ext cx="1412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b="1">
                <a:solidFill>
                  <a:srgbClr val="C00000"/>
                </a:solidFill>
              </a:rPr>
              <a:t>Critical Node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060869858" name="TextBox 32"/>
          <p:cNvSpPr txBox="1"/>
          <p:nvPr/>
        </p:nvSpPr>
        <p:spPr bwMode="auto">
          <a:xfrm>
            <a:off x="5627579" y="3849470"/>
            <a:ext cx="9653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Right </a:t>
            </a:r>
            <a:endParaRPr/>
          </a:p>
          <a:p>
            <a:pPr algn="ctr">
              <a:defRPr/>
            </a:pPr>
            <a:r>
              <a:rPr lang="en-IN" b="1"/>
              <a:t>Rotation</a:t>
            </a:r>
            <a:endParaRPr lang="en-US" b="1"/>
          </a:p>
        </p:txBody>
      </p:sp>
      <p:cxnSp>
        <p:nvCxnSpPr>
          <p:cNvPr id="666445957" name="Straight Arrow Connector 34"/>
          <p:cNvCxnSpPr/>
          <p:nvPr/>
        </p:nvCxnSpPr>
        <p:spPr bwMode="auto">
          <a:xfrm>
            <a:off x="5458692" y="4572000"/>
            <a:ext cx="1371600" cy="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74043298" name="TextBox 35"/>
          <p:cNvSpPr txBox="1"/>
          <p:nvPr/>
        </p:nvSpPr>
        <p:spPr bwMode="auto">
          <a:xfrm>
            <a:off x="1971490" y="502920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42362699" name="TextBox 36"/>
          <p:cNvSpPr txBox="1"/>
          <p:nvPr/>
        </p:nvSpPr>
        <p:spPr bwMode="auto">
          <a:xfrm>
            <a:off x="3800290" y="548640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886520347" name="TextBox 37"/>
          <p:cNvSpPr txBox="1"/>
          <p:nvPr/>
        </p:nvSpPr>
        <p:spPr bwMode="auto">
          <a:xfrm>
            <a:off x="2438400" y="426720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289157800" name="TextBox 38"/>
          <p:cNvSpPr txBox="1"/>
          <p:nvPr/>
        </p:nvSpPr>
        <p:spPr bwMode="auto">
          <a:xfrm>
            <a:off x="4333690" y="487680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837997648" name="TextBox 39"/>
          <p:cNvSpPr txBox="1"/>
          <p:nvPr/>
        </p:nvSpPr>
        <p:spPr bwMode="auto">
          <a:xfrm>
            <a:off x="3657508" y="3200395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  <p:sp>
        <p:nvSpPr>
          <p:cNvPr id="1004585953" name="TextBox 4"/>
          <p:cNvSpPr txBox="1"/>
          <p:nvPr/>
        </p:nvSpPr>
        <p:spPr bwMode="auto">
          <a:xfrm>
            <a:off x="2369380" y="5943600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b="1">
                <a:solidFill>
                  <a:srgbClr val="C00000"/>
                </a:solidFill>
              </a:rPr>
              <a:t>B’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2120402499" name="TextBox 40"/>
          <p:cNvSpPr txBox="1"/>
          <p:nvPr/>
        </p:nvSpPr>
        <p:spPr bwMode="auto">
          <a:xfrm>
            <a:off x="1752599" y="502920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b="1">
                <a:solidFill>
                  <a:srgbClr val="C00000"/>
                </a:solidFill>
              </a:rPr>
              <a:t>L’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2124821320" name="TextBox 41"/>
          <p:cNvSpPr txBox="1"/>
          <p:nvPr/>
        </p:nvSpPr>
        <p:spPr bwMode="auto">
          <a:xfrm>
            <a:off x="3969580" y="5486400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b="1">
                <a:solidFill>
                  <a:srgbClr val="C00000"/>
                </a:solidFill>
              </a:rPr>
              <a:t>B’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488884290" name="TextBox 42"/>
          <p:cNvSpPr txBox="1"/>
          <p:nvPr/>
        </p:nvSpPr>
        <p:spPr bwMode="auto">
          <a:xfrm>
            <a:off x="2209800" y="4267200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b="1">
                <a:solidFill>
                  <a:srgbClr val="C00000"/>
                </a:solidFill>
              </a:rPr>
              <a:t>L’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535520415" name="TextBox 43"/>
          <p:cNvSpPr txBox="1"/>
          <p:nvPr/>
        </p:nvSpPr>
        <p:spPr bwMode="auto">
          <a:xfrm>
            <a:off x="4579180" y="4874613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b="1">
                <a:solidFill>
                  <a:srgbClr val="C00000"/>
                </a:solidFill>
              </a:rPr>
              <a:t>B’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566067799" name="Oval 5"/>
          <p:cNvSpPr/>
          <p:nvPr/>
        </p:nvSpPr>
        <p:spPr bwMode="auto">
          <a:xfrm>
            <a:off x="8418732" y="3688053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>
                <a:latin typeface="+mj-lt"/>
              </a:rPr>
              <a:t>K</a:t>
            </a:r>
            <a:endParaRPr lang="en-US" sz="2400" b="1">
              <a:latin typeface="+mj-lt"/>
            </a:endParaRPr>
          </a:p>
        </p:txBody>
      </p:sp>
      <p:sp>
        <p:nvSpPr>
          <p:cNvPr id="759342982" name="Oval 46"/>
          <p:cNvSpPr/>
          <p:nvPr/>
        </p:nvSpPr>
        <p:spPr bwMode="auto">
          <a:xfrm>
            <a:off x="7809132" y="4380132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>
                <a:latin typeface="+mj-lt"/>
              </a:rPr>
              <a:t>X</a:t>
            </a:r>
            <a:endParaRPr lang="en-US" sz="2400" b="1">
              <a:latin typeface="+mj-lt"/>
            </a:endParaRPr>
          </a:p>
        </p:txBody>
      </p:sp>
      <p:sp>
        <p:nvSpPr>
          <p:cNvPr id="289703183" name="Oval 47"/>
          <p:cNvSpPr/>
          <p:nvPr/>
        </p:nvSpPr>
        <p:spPr bwMode="auto">
          <a:xfrm>
            <a:off x="7239001" y="5105401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>
                <a:latin typeface="+mj-lt"/>
              </a:rPr>
              <a:t>N</a:t>
            </a:r>
            <a:endParaRPr lang="en-US" sz="2400" b="1">
              <a:latin typeface="+mj-lt"/>
            </a:endParaRPr>
          </a:p>
        </p:txBody>
      </p:sp>
      <p:sp>
        <p:nvSpPr>
          <p:cNvPr id="278005614" name="Oval 48"/>
          <p:cNvSpPr/>
          <p:nvPr/>
        </p:nvSpPr>
        <p:spPr bwMode="auto">
          <a:xfrm>
            <a:off x="8494932" y="5097971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>
                <a:latin typeface="+mj-lt"/>
              </a:rPr>
              <a:t>Y</a:t>
            </a:r>
            <a:endParaRPr lang="en-US" sz="2400" b="1">
              <a:latin typeface="+mj-lt"/>
            </a:endParaRPr>
          </a:p>
        </p:txBody>
      </p:sp>
      <p:cxnSp>
        <p:nvCxnSpPr>
          <p:cNvPr id="401191959" name="Straight Arrow Connector 29"/>
          <p:cNvCxnSpPr>
            <a:stCxn id="566067799" idx="3"/>
            <a:endCxn id="759342982" idx="0"/>
          </p:cNvCxnSpPr>
          <p:nvPr/>
        </p:nvCxnSpPr>
        <p:spPr bwMode="auto">
          <a:xfrm flipH="1">
            <a:off x="8057467" y="4111987"/>
            <a:ext cx="434000" cy="26814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48922515" name="Straight Arrow Connector 33"/>
          <p:cNvCxnSpPr>
            <a:stCxn id="759342982" idx="3"/>
            <a:endCxn id="289703183" idx="0"/>
          </p:cNvCxnSpPr>
          <p:nvPr/>
        </p:nvCxnSpPr>
        <p:spPr bwMode="auto">
          <a:xfrm flipH="1">
            <a:off x="7487336" y="4804066"/>
            <a:ext cx="394531" cy="30133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08720388" name="Oval 50"/>
          <p:cNvSpPr/>
          <p:nvPr/>
        </p:nvSpPr>
        <p:spPr bwMode="auto">
          <a:xfrm>
            <a:off x="8991601" y="4343401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>
                <a:latin typeface="+mj-lt"/>
              </a:rPr>
              <a:t>J</a:t>
            </a:r>
            <a:endParaRPr lang="en-US" sz="2400" b="1">
              <a:latin typeface="+mj-lt"/>
            </a:endParaRPr>
          </a:p>
        </p:txBody>
      </p:sp>
      <p:sp>
        <p:nvSpPr>
          <p:cNvPr id="1522306602" name="Oval 51"/>
          <p:cNvSpPr/>
          <p:nvPr/>
        </p:nvSpPr>
        <p:spPr bwMode="auto">
          <a:xfrm>
            <a:off x="9561731" y="5105401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>
                <a:latin typeface="+mj-lt"/>
              </a:rPr>
              <a:t>Z</a:t>
            </a:r>
            <a:endParaRPr lang="en-US" sz="2400" b="1">
              <a:latin typeface="+mj-lt"/>
            </a:endParaRPr>
          </a:p>
        </p:txBody>
      </p:sp>
      <p:cxnSp>
        <p:nvCxnSpPr>
          <p:cNvPr id="1806821805" name="Straight Arrow Connector 53"/>
          <p:cNvCxnSpPr>
            <a:stCxn id="566067799" idx="5"/>
            <a:endCxn id="1808720388" idx="0"/>
          </p:cNvCxnSpPr>
          <p:nvPr/>
        </p:nvCxnSpPr>
        <p:spPr bwMode="auto">
          <a:xfrm>
            <a:off x="8842666" y="4111987"/>
            <a:ext cx="397270" cy="231414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68349595" name="Straight Arrow Connector 55"/>
          <p:cNvCxnSpPr>
            <a:stCxn id="1808720388" idx="5"/>
            <a:endCxn id="1522306602" idx="0"/>
          </p:cNvCxnSpPr>
          <p:nvPr/>
        </p:nvCxnSpPr>
        <p:spPr bwMode="auto">
          <a:xfrm>
            <a:off x="9415535" y="4767335"/>
            <a:ext cx="394532" cy="338066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5264153" name="Straight Arrow Connector 57"/>
          <p:cNvCxnSpPr>
            <a:stCxn id="1808720388" idx="3"/>
            <a:endCxn id="278005614" idx="0"/>
          </p:cNvCxnSpPr>
          <p:nvPr/>
        </p:nvCxnSpPr>
        <p:spPr bwMode="auto">
          <a:xfrm flipH="1">
            <a:off x="8743267" y="4767335"/>
            <a:ext cx="321069" cy="330636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44470374" name="Oval 59"/>
          <p:cNvSpPr/>
          <p:nvPr/>
        </p:nvSpPr>
        <p:spPr bwMode="auto">
          <a:xfrm>
            <a:off x="5856061" y="5105122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>
                <a:latin typeface="+mj-lt"/>
              </a:rPr>
              <a:t>Y</a:t>
            </a:r>
            <a:endParaRPr lang="en-US" sz="2400" b="1">
              <a:latin typeface="+mj-lt"/>
            </a:endParaRPr>
          </a:p>
        </p:txBody>
      </p:sp>
      <p:sp>
        <p:nvSpPr>
          <p:cNvPr id="2087656243" name="TextBox 60"/>
          <p:cNvSpPr txBox="1"/>
          <p:nvPr/>
        </p:nvSpPr>
        <p:spPr bwMode="auto">
          <a:xfrm>
            <a:off x="6934200" y="518160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203557024" name="TextBox 61"/>
          <p:cNvSpPr txBox="1"/>
          <p:nvPr/>
        </p:nvSpPr>
        <p:spPr bwMode="auto">
          <a:xfrm>
            <a:off x="8176956" y="518160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215219833" name="TextBox 62"/>
          <p:cNvSpPr txBox="1"/>
          <p:nvPr/>
        </p:nvSpPr>
        <p:spPr bwMode="auto">
          <a:xfrm>
            <a:off x="9286690" y="518160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519552689" name="TextBox 63"/>
          <p:cNvSpPr txBox="1"/>
          <p:nvPr/>
        </p:nvSpPr>
        <p:spPr bwMode="auto">
          <a:xfrm>
            <a:off x="7504239" y="4366352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  <p:sp>
        <p:nvSpPr>
          <p:cNvPr id="404079154" name="TextBox 64"/>
          <p:cNvSpPr txBox="1"/>
          <p:nvPr/>
        </p:nvSpPr>
        <p:spPr bwMode="auto">
          <a:xfrm>
            <a:off x="8677090" y="4428113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383884952" name="TextBox 65"/>
          <p:cNvSpPr txBox="1"/>
          <p:nvPr/>
        </p:nvSpPr>
        <p:spPr bwMode="auto">
          <a:xfrm>
            <a:off x="8104221" y="3664803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98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79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5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010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8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15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483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55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92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04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15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520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997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659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58659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73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85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40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482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884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20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222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2000" fill="hold"/>
                                        <p:tgtEl>
                                          <p:spTgt spid="641982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0" dur="2000" fill="hold"/>
                                        <p:tgtEl>
                                          <p:spTgt spid="641982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2000" fill="hold"/>
                                        <p:tgtEl>
                                          <p:spTgt spid="641982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913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913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913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9139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69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69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44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66644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47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067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19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342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92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03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82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806821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872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349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306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26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2" dur="500"/>
                                        <p:tgtEl>
                                          <p:spTgt spid="315264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00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656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557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9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552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07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884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198258" grpId="0" animBg="1"/>
      <p:bldP spid="182454524" grpId="0" animBg="1"/>
      <p:bldP spid="405926023" grpId="0" animBg="1"/>
      <p:bldP spid="56780303" grpId="0" animBg="1"/>
      <p:bldP spid="1236152175" grpId="0" animBg="1"/>
      <p:bldP spid="1249673962" grpId="0" animBg="1"/>
      <p:bldP spid="838779035" grpId="0" animBg="1"/>
      <p:bldP spid="373550264" grpId="0" animBg="1"/>
      <p:bldP spid="657010024" grpId="0" animBg="1"/>
      <p:bldP spid="2004833077" grpId="0" animBg="1"/>
      <p:bldP spid="258659775" grpId="0" animBg="1"/>
      <p:bldP spid="1052222989" grpId="0"/>
      <p:bldP spid="1374043298" grpId="0"/>
      <p:bldP spid="142362699" grpId="0"/>
      <p:bldP spid="886520347" grpId="0"/>
      <p:bldP spid="1289157800" grpId="0"/>
      <p:bldP spid="1837997648" grpId="0"/>
      <p:bldP spid="1004585953" grpId="0"/>
      <p:bldP spid="2120402499" grpId="0"/>
      <p:bldP spid="2124821320" grpId="0"/>
      <p:bldP spid="1488884290" grpId="0"/>
      <p:bldP spid="535520415" grpId="0"/>
      <p:bldP spid="566067799" grpId="0" animBg="1"/>
      <p:bldP spid="759342982" grpId="0" animBg="1"/>
      <p:bldP spid="289703183" grpId="0" animBg="1"/>
      <p:bldP spid="278005614" grpId="0" animBg="1"/>
      <p:bldP spid="1808720388" grpId="0" animBg="1"/>
      <p:bldP spid="1522306602" grpId="0" animBg="1"/>
      <p:bldP spid="2144470374" grpId="0" animBg="1"/>
      <p:bldP spid="2087656243" grpId="0"/>
      <p:bldP spid="203557024" grpId="0"/>
      <p:bldP spid="215219833" grpId="0"/>
      <p:bldP spid="1519552689" grpId="0"/>
      <p:bldP spid="404079154" grpId="0"/>
      <p:bldP spid="38388495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129725" name="Title 1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03189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4539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/>
              <a:t>Right Rotation</a:t>
            </a:r>
            <a:endParaRPr lang="en-US"/>
          </a:p>
        </p:txBody>
      </p:sp>
      <p:sp>
        <p:nvSpPr>
          <p:cNvPr id="927948731" name="Content Placeholder 2"/>
          <p:cNvSpPr>
            <a:spLocks noGrp="1"/>
          </p:cNvSpPr>
          <p:nvPr>
            <p:ph idx="1"/>
          </p:nvPr>
        </p:nvSpPr>
        <p:spPr bwMode="auto">
          <a:xfrm>
            <a:off x="131180" y="863444"/>
            <a:ext cx="11929641" cy="2209455"/>
          </a:xfrm>
        </p:spPr>
        <p:txBody>
          <a:bodyPr/>
          <a:lstStyle/>
          <a:p>
            <a:pPr marL="457200" indent="-457200">
              <a:buFont typeface="+mj-lt"/>
              <a:buAutoNum type="alphaLcPeriod"/>
              <a:defRPr/>
            </a:pPr>
            <a:r>
              <a:rPr lang="en-IN" b="1">
                <a:solidFill>
                  <a:srgbClr val="C00000"/>
                </a:solidFill>
              </a:rPr>
              <a:t>Detach</a:t>
            </a:r>
            <a:r>
              <a:rPr lang="en-IN">
                <a:solidFill>
                  <a:srgbClr val="C00000"/>
                </a:solidFill>
              </a:rPr>
              <a:t> </a:t>
            </a:r>
            <a:r>
              <a:rPr lang="en-IN"/>
              <a:t>left child’s right sub-tree</a:t>
            </a:r>
            <a:endParaRPr/>
          </a:p>
          <a:p>
            <a:pPr marL="457200" indent="-457200">
              <a:buFont typeface="+mj-lt"/>
              <a:buAutoNum type="alphaLcPeriod"/>
              <a:defRPr/>
            </a:pPr>
            <a:r>
              <a:rPr lang="en-IN" b="1"/>
              <a:t> </a:t>
            </a:r>
            <a:r>
              <a:rPr lang="en-IN"/>
              <a:t>Consider </a:t>
            </a:r>
            <a:r>
              <a:rPr lang="en-IN" b="1">
                <a:solidFill>
                  <a:srgbClr val="C00000"/>
                </a:solidFill>
              </a:rPr>
              <a:t>left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child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/>
              <a:t>to be the </a:t>
            </a:r>
            <a:r>
              <a:rPr lang="en-IN" b="1">
                <a:solidFill>
                  <a:srgbClr val="C00000"/>
                </a:solidFill>
              </a:rPr>
              <a:t>new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parent</a:t>
            </a:r>
            <a:endParaRPr/>
          </a:p>
          <a:p>
            <a:pPr marL="457200" indent="-457200">
              <a:buFont typeface="+mj-lt"/>
              <a:buAutoNum type="alphaLcPeriod"/>
              <a:defRPr/>
            </a:pP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Attach</a:t>
            </a:r>
            <a:r>
              <a:rPr lang="en-IN">
                <a:solidFill>
                  <a:srgbClr val="C0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old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parent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/>
              <a:t>onto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right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of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new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parent</a:t>
            </a:r>
            <a:endParaRPr/>
          </a:p>
          <a:p>
            <a:pPr marL="457200" indent="-457200">
              <a:buFont typeface="+mj-lt"/>
              <a:buAutoNum type="alphaLcPeriod"/>
              <a:defRPr/>
            </a:pP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Attach</a:t>
            </a:r>
            <a:r>
              <a:rPr lang="en-IN">
                <a:solidFill>
                  <a:srgbClr val="C0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old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left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child’s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old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right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sub-tree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/>
              <a:t>as </a:t>
            </a:r>
            <a:r>
              <a:rPr lang="en-IN" b="1">
                <a:solidFill>
                  <a:srgbClr val="C00000"/>
                </a:solidFill>
              </a:rPr>
              <a:t>left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sub-tree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of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new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right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child</a:t>
            </a:r>
            <a:endParaRPr/>
          </a:p>
        </p:txBody>
      </p:sp>
      <p:sp>
        <p:nvSpPr>
          <p:cNvPr id="169363115" name="Oval 3"/>
          <p:cNvSpPr/>
          <p:nvPr/>
        </p:nvSpPr>
        <p:spPr bwMode="auto">
          <a:xfrm>
            <a:off x="3352800" y="3429000"/>
            <a:ext cx="594000" cy="59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b="1"/>
              <a:t>13</a:t>
            </a:r>
            <a:endParaRPr lang="en-US" b="1"/>
          </a:p>
        </p:txBody>
      </p:sp>
      <p:sp>
        <p:nvSpPr>
          <p:cNvPr id="1116123861" name="Oval 4"/>
          <p:cNvSpPr/>
          <p:nvPr/>
        </p:nvSpPr>
        <p:spPr bwMode="auto">
          <a:xfrm>
            <a:off x="2743200" y="4191000"/>
            <a:ext cx="594000" cy="59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b="1"/>
              <a:t>7</a:t>
            </a:r>
            <a:endParaRPr lang="en-US" b="1"/>
          </a:p>
        </p:txBody>
      </p:sp>
      <p:sp>
        <p:nvSpPr>
          <p:cNvPr id="479523920" name="Oval 5"/>
          <p:cNvSpPr/>
          <p:nvPr/>
        </p:nvSpPr>
        <p:spPr bwMode="auto">
          <a:xfrm>
            <a:off x="3962400" y="4191000"/>
            <a:ext cx="594000" cy="59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b="1"/>
              <a:t>15</a:t>
            </a:r>
            <a:endParaRPr lang="en-US" b="1"/>
          </a:p>
        </p:txBody>
      </p:sp>
      <p:sp>
        <p:nvSpPr>
          <p:cNvPr id="944550137" name="Oval 6"/>
          <p:cNvSpPr/>
          <p:nvPr/>
        </p:nvSpPr>
        <p:spPr bwMode="auto">
          <a:xfrm>
            <a:off x="2057400" y="5029200"/>
            <a:ext cx="594000" cy="59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b="1"/>
              <a:t>5</a:t>
            </a:r>
            <a:endParaRPr lang="en-US" b="1"/>
          </a:p>
        </p:txBody>
      </p:sp>
      <p:sp>
        <p:nvSpPr>
          <p:cNvPr id="1504445500" name="Oval 7"/>
          <p:cNvSpPr/>
          <p:nvPr/>
        </p:nvSpPr>
        <p:spPr bwMode="auto">
          <a:xfrm>
            <a:off x="3276600" y="5029200"/>
            <a:ext cx="594000" cy="59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b="1"/>
              <a:t>10</a:t>
            </a:r>
            <a:endParaRPr lang="en-US" b="1"/>
          </a:p>
        </p:txBody>
      </p:sp>
      <p:cxnSp>
        <p:nvCxnSpPr>
          <p:cNvPr id="1613567821" name="Straight Arrow Connector 9"/>
          <p:cNvCxnSpPr>
            <a:stCxn id="169363115" idx="3"/>
            <a:endCxn id="1116123861" idx="0"/>
          </p:cNvCxnSpPr>
          <p:nvPr/>
        </p:nvCxnSpPr>
        <p:spPr bwMode="auto">
          <a:xfrm flipH="1">
            <a:off x="3040200" y="3936011"/>
            <a:ext cx="399589" cy="254989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05584857" name="Straight Arrow Connector 11"/>
          <p:cNvCxnSpPr>
            <a:stCxn id="1116123861" idx="3"/>
            <a:endCxn id="944550137" idx="0"/>
          </p:cNvCxnSpPr>
          <p:nvPr/>
        </p:nvCxnSpPr>
        <p:spPr bwMode="auto">
          <a:xfrm flipH="1">
            <a:off x="2354400" y="4698010"/>
            <a:ext cx="475789" cy="331189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82887177" name="Straight Arrow Connector 13"/>
          <p:cNvCxnSpPr>
            <a:stCxn id="1116123861" idx="5"/>
            <a:endCxn id="1504445500" idx="0"/>
          </p:cNvCxnSpPr>
          <p:nvPr/>
        </p:nvCxnSpPr>
        <p:spPr bwMode="auto">
          <a:xfrm>
            <a:off x="3250211" y="4698010"/>
            <a:ext cx="323389" cy="331189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25994102" name="Straight Arrow Connector 18"/>
          <p:cNvCxnSpPr>
            <a:stCxn id="169363115" idx="5"/>
            <a:endCxn id="479523920" idx="0"/>
          </p:cNvCxnSpPr>
          <p:nvPr/>
        </p:nvCxnSpPr>
        <p:spPr bwMode="auto">
          <a:xfrm>
            <a:off x="3859811" y="3936011"/>
            <a:ext cx="399589" cy="254989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07120898" name="TextBox 19"/>
          <p:cNvSpPr txBox="1"/>
          <p:nvPr/>
        </p:nvSpPr>
        <p:spPr bwMode="auto">
          <a:xfrm>
            <a:off x="1741380" y="514153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790199437" name="TextBox 20"/>
          <p:cNvSpPr txBox="1"/>
          <p:nvPr/>
        </p:nvSpPr>
        <p:spPr bwMode="auto">
          <a:xfrm>
            <a:off x="3016000" y="514153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565387428" name="TextBox 21"/>
          <p:cNvSpPr txBox="1"/>
          <p:nvPr/>
        </p:nvSpPr>
        <p:spPr bwMode="auto">
          <a:xfrm>
            <a:off x="2466808" y="430333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225998826" name="TextBox 22"/>
          <p:cNvSpPr txBox="1"/>
          <p:nvPr/>
        </p:nvSpPr>
        <p:spPr bwMode="auto">
          <a:xfrm>
            <a:off x="3700678" y="430333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4038914" name="TextBox 23"/>
          <p:cNvSpPr txBox="1"/>
          <p:nvPr/>
        </p:nvSpPr>
        <p:spPr bwMode="auto">
          <a:xfrm>
            <a:off x="3068208" y="3541334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  <p:sp>
        <p:nvSpPr>
          <p:cNvPr id="2035077431" name="TextBox 24"/>
          <p:cNvSpPr txBox="1"/>
          <p:nvPr/>
        </p:nvSpPr>
        <p:spPr bwMode="auto">
          <a:xfrm>
            <a:off x="2897170" y="6107668"/>
            <a:ext cx="144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b="1"/>
              <a:t>Insert node </a:t>
            </a:r>
            <a:r>
              <a:rPr lang="en-IN" b="1">
                <a:solidFill>
                  <a:srgbClr val="FF0000"/>
                </a:solidFill>
              </a:rPr>
              <a:t>3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1920281225" name="Oval 25"/>
          <p:cNvSpPr/>
          <p:nvPr/>
        </p:nvSpPr>
        <p:spPr bwMode="auto">
          <a:xfrm>
            <a:off x="1750002" y="5840968"/>
            <a:ext cx="594000" cy="59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b="1"/>
              <a:t>3</a:t>
            </a:r>
            <a:endParaRPr lang="en-US" b="1"/>
          </a:p>
        </p:txBody>
      </p:sp>
      <p:cxnSp>
        <p:nvCxnSpPr>
          <p:cNvPr id="801804333" name="Straight Arrow Connector 27"/>
          <p:cNvCxnSpPr>
            <a:stCxn id="944550137" idx="3"/>
            <a:endCxn id="1920281225" idx="0"/>
          </p:cNvCxnSpPr>
          <p:nvPr/>
        </p:nvCxnSpPr>
        <p:spPr bwMode="auto">
          <a:xfrm flipH="1">
            <a:off x="2047002" y="5536211"/>
            <a:ext cx="97387" cy="304757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0907613" name="TextBox 28"/>
          <p:cNvSpPr txBox="1"/>
          <p:nvPr/>
        </p:nvSpPr>
        <p:spPr bwMode="auto">
          <a:xfrm>
            <a:off x="2331139" y="5953302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B’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2102009790" name="TextBox 29"/>
          <p:cNvSpPr txBox="1"/>
          <p:nvPr/>
        </p:nvSpPr>
        <p:spPr bwMode="auto">
          <a:xfrm>
            <a:off x="1521595" y="5141534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L’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231306408" name="TextBox 30"/>
          <p:cNvSpPr txBox="1"/>
          <p:nvPr/>
        </p:nvSpPr>
        <p:spPr bwMode="auto">
          <a:xfrm>
            <a:off x="2807377" y="5141534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B’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21264679" name="TextBox 31"/>
          <p:cNvSpPr txBox="1"/>
          <p:nvPr/>
        </p:nvSpPr>
        <p:spPr bwMode="auto">
          <a:xfrm>
            <a:off x="2283595" y="4303334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L’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609082670" name="TextBox 32"/>
          <p:cNvSpPr txBox="1"/>
          <p:nvPr/>
        </p:nvSpPr>
        <p:spPr bwMode="auto">
          <a:xfrm>
            <a:off x="3507032" y="4303334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B’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317243302" name="TextBox 33"/>
          <p:cNvSpPr txBox="1"/>
          <p:nvPr/>
        </p:nvSpPr>
        <p:spPr bwMode="auto">
          <a:xfrm>
            <a:off x="1656918" y="3460015"/>
            <a:ext cx="1385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Critical Node</a:t>
            </a:r>
            <a:endParaRPr lang="en-US" b="1">
              <a:solidFill>
                <a:srgbClr val="C00000"/>
              </a:solidFill>
            </a:endParaRPr>
          </a:p>
        </p:txBody>
      </p:sp>
      <p:cxnSp>
        <p:nvCxnSpPr>
          <p:cNvPr id="1441602638" name="Straight Arrow Connector 35"/>
          <p:cNvCxnSpPr/>
          <p:nvPr/>
        </p:nvCxnSpPr>
        <p:spPr bwMode="auto">
          <a:xfrm>
            <a:off x="5105400" y="4572000"/>
            <a:ext cx="1371600" cy="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54404128" name="TextBox 36"/>
          <p:cNvSpPr txBox="1"/>
          <p:nvPr/>
        </p:nvSpPr>
        <p:spPr bwMode="auto">
          <a:xfrm>
            <a:off x="5278447" y="3884286"/>
            <a:ext cx="9653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Right </a:t>
            </a:r>
            <a:endParaRPr/>
          </a:p>
          <a:p>
            <a:pPr algn="ctr">
              <a:defRPr/>
            </a:pPr>
            <a:r>
              <a:rPr lang="en-IN" b="1"/>
              <a:t>Rotation</a:t>
            </a:r>
            <a:endParaRPr lang="en-US" b="1"/>
          </a:p>
        </p:txBody>
      </p:sp>
      <p:sp>
        <p:nvSpPr>
          <p:cNvPr id="1922209405" name="Oval 37"/>
          <p:cNvSpPr/>
          <p:nvPr/>
        </p:nvSpPr>
        <p:spPr bwMode="auto">
          <a:xfrm>
            <a:off x="5464093" y="4972413"/>
            <a:ext cx="594000" cy="59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b="1"/>
              <a:t>10</a:t>
            </a:r>
            <a:endParaRPr lang="en-US" b="1"/>
          </a:p>
        </p:txBody>
      </p:sp>
      <p:sp>
        <p:nvSpPr>
          <p:cNvPr id="1084193879" name="Oval 41"/>
          <p:cNvSpPr/>
          <p:nvPr/>
        </p:nvSpPr>
        <p:spPr bwMode="auto">
          <a:xfrm>
            <a:off x="8077200" y="3429000"/>
            <a:ext cx="594000" cy="59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b="1"/>
              <a:t>7</a:t>
            </a:r>
            <a:endParaRPr lang="en-US" b="1"/>
          </a:p>
        </p:txBody>
      </p:sp>
      <p:sp>
        <p:nvSpPr>
          <p:cNvPr id="611158540" name="Oval 42"/>
          <p:cNvSpPr/>
          <p:nvPr/>
        </p:nvSpPr>
        <p:spPr bwMode="auto">
          <a:xfrm>
            <a:off x="7467600" y="4191000"/>
            <a:ext cx="594000" cy="59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b="1"/>
              <a:t>5</a:t>
            </a:r>
            <a:endParaRPr lang="en-US" b="1"/>
          </a:p>
        </p:txBody>
      </p:sp>
      <p:cxnSp>
        <p:nvCxnSpPr>
          <p:cNvPr id="667203296" name="Straight Arrow Connector 43"/>
          <p:cNvCxnSpPr>
            <a:stCxn id="1084193879" idx="3"/>
            <a:endCxn id="611158540" idx="0"/>
          </p:cNvCxnSpPr>
          <p:nvPr/>
        </p:nvCxnSpPr>
        <p:spPr bwMode="auto">
          <a:xfrm flipH="1">
            <a:off x="7764600" y="3936011"/>
            <a:ext cx="399589" cy="254989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12366545" name="Oval 44"/>
          <p:cNvSpPr/>
          <p:nvPr/>
        </p:nvSpPr>
        <p:spPr bwMode="auto">
          <a:xfrm>
            <a:off x="6934200" y="5078968"/>
            <a:ext cx="594000" cy="59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b="1"/>
              <a:t>3</a:t>
            </a:r>
            <a:endParaRPr lang="en-US" b="1"/>
          </a:p>
        </p:txBody>
      </p:sp>
      <p:cxnSp>
        <p:nvCxnSpPr>
          <p:cNvPr id="850737943" name="Straight Arrow Connector 45"/>
          <p:cNvCxnSpPr>
            <a:stCxn id="611158540" idx="3"/>
            <a:endCxn id="1012366545" idx="0"/>
          </p:cNvCxnSpPr>
          <p:nvPr/>
        </p:nvCxnSpPr>
        <p:spPr bwMode="auto">
          <a:xfrm flipH="1">
            <a:off x="7231200" y="4698010"/>
            <a:ext cx="323389" cy="380957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24923720" name="Oval 50"/>
          <p:cNvSpPr/>
          <p:nvPr/>
        </p:nvSpPr>
        <p:spPr bwMode="auto">
          <a:xfrm>
            <a:off x="8763000" y="4191000"/>
            <a:ext cx="594000" cy="59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b="1"/>
              <a:t>13</a:t>
            </a:r>
            <a:endParaRPr lang="en-US" b="1"/>
          </a:p>
        </p:txBody>
      </p:sp>
      <p:sp>
        <p:nvSpPr>
          <p:cNvPr id="712901090" name="Oval 51"/>
          <p:cNvSpPr/>
          <p:nvPr/>
        </p:nvSpPr>
        <p:spPr bwMode="auto">
          <a:xfrm>
            <a:off x="9372600" y="5078968"/>
            <a:ext cx="594000" cy="59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b="1"/>
              <a:t>15</a:t>
            </a:r>
            <a:endParaRPr lang="en-US" b="1"/>
          </a:p>
        </p:txBody>
      </p:sp>
      <p:cxnSp>
        <p:nvCxnSpPr>
          <p:cNvPr id="130508525" name="Straight Arrow Connector 52"/>
          <p:cNvCxnSpPr>
            <a:stCxn id="1724923720" idx="5"/>
            <a:endCxn id="712901090" idx="0"/>
          </p:cNvCxnSpPr>
          <p:nvPr/>
        </p:nvCxnSpPr>
        <p:spPr bwMode="auto">
          <a:xfrm>
            <a:off x="9270011" y="4698010"/>
            <a:ext cx="399589" cy="380957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82723218" name="Straight Arrow Connector 54"/>
          <p:cNvCxnSpPr>
            <a:stCxn id="1084193879" idx="5"/>
            <a:endCxn id="1724923720" idx="0"/>
          </p:cNvCxnSpPr>
          <p:nvPr/>
        </p:nvCxnSpPr>
        <p:spPr bwMode="auto">
          <a:xfrm>
            <a:off x="8584211" y="3936011"/>
            <a:ext cx="475789" cy="254989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09283424" name="Oval 55"/>
          <p:cNvSpPr/>
          <p:nvPr/>
        </p:nvSpPr>
        <p:spPr bwMode="auto">
          <a:xfrm>
            <a:off x="8153399" y="5078968"/>
            <a:ext cx="594000" cy="59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b="1"/>
              <a:t>10</a:t>
            </a:r>
            <a:endParaRPr lang="en-US" b="1"/>
          </a:p>
        </p:txBody>
      </p:sp>
      <p:cxnSp>
        <p:nvCxnSpPr>
          <p:cNvPr id="65225012" name="Straight Arrow Connector 57"/>
          <p:cNvCxnSpPr>
            <a:stCxn id="1724923720" idx="3"/>
            <a:endCxn id="709283424" idx="0"/>
          </p:cNvCxnSpPr>
          <p:nvPr/>
        </p:nvCxnSpPr>
        <p:spPr bwMode="auto">
          <a:xfrm flipH="1">
            <a:off x="8450400" y="4698010"/>
            <a:ext cx="399589" cy="380957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88002362" name="TextBox 58"/>
          <p:cNvSpPr txBox="1"/>
          <p:nvPr/>
        </p:nvSpPr>
        <p:spPr bwMode="auto">
          <a:xfrm>
            <a:off x="6630913" y="517940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520063777" name="TextBox 59"/>
          <p:cNvSpPr txBox="1"/>
          <p:nvPr/>
        </p:nvSpPr>
        <p:spPr bwMode="auto">
          <a:xfrm>
            <a:off x="7871709" y="5191302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451248146" name="TextBox 60"/>
          <p:cNvSpPr txBox="1"/>
          <p:nvPr/>
        </p:nvSpPr>
        <p:spPr bwMode="auto">
          <a:xfrm>
            <a:off x="9090093" y="5191302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432106436" name="TextBox 61"/>
          <p:cNvSpPr txBox="1"/>
          <p:nvPr/>
        </p:nvSpPr>
        <p:spPr bwMode="auto">
          <a:xfrm>
            <a:off x="7173929" y="4281556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  <p:sp>
        <p:nvSpPr>
          <p:cNvPr id="904621329" name="TextBox 62"/>
          <p:cNvSpPr txBox="1"/>
          <p:nvPr/>
        </p:nvSpPr>
        <p:spPr bwMode="auto">
          <a:xfrm>
            <a:off x="8451431" y="429541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43003925" name="TextBox 63"/>
          <p:cNvSpPr txBox="1"/>
          <p:nvPr/>
        </p:nvSpPr>
        <p:spPr bwMode="auto">
          <a:xfrm>
            <a:off x="7773913" y="349163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948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948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948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948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6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23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523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550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445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567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58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8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99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12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19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38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998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507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804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801804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28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907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2009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30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64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082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24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2000" fill="hold"/>
                                        <p:tgtEl>
                                          <p:spTgt spid="1693631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0" dur="2000" fill="hold"/>
                                        <p:tgtEl>
                                          <p:spTgt spid="1693631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2000" fill="hold"/>
                                        <p:tgtEl>
                                          <p:spTgt spid="1693631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602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441602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40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20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193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158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203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366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73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72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682723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92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90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08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2" dur="500"/>
                                        <p:tgtEl>
                                          <p:spTgt spid="65225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283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00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063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4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0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62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03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7948731" grpId="0" build="p"/>
      <p:bldP spid="169363115" grpId="0" animBg="1"/>
      <p:bldP spid="1116123861" grpId="0" animBg="1"/>
      <p:bldP spid="479523920" grpId="0" animBg="1"/>
      <p:bldP spid="944550137" grpId="0" animBg="1"/>
      <p:bldP spid="1504445500" grpId="0" animBg="1"/>
      <p:bldP spid="807120898" grpId="0"/>
      <p:bldP spid="1790199437" grpId="0"/>
      <p:bldP spid="1565387428" grpId="0"/>
      <p:bldP spid="1225998826" grpId="0"/>
      <p:bldP spid="14038914" grpId="0"/>
      <p:bldP spid="2035077431" grpId="0"/>
      <p:bldP spid="1920281225" grpId="0" animBg="1"/>
      <p:bldP spid="390907613" grpId="0"/>
      <p:bldP spid="2102009790" grpId="0"/>
      <p:bldP spid="1231306408" grpId="0"/>
      <p:bldP spid="21264679" grpId="0"/>
      <p:bldP spid="1609082670" grpId="0"/>
      <p:bldP spid="317243302" grpId="0"/>
      <p:bldP spid="1154404128" grpId="0"/>
      <p:bldP spid="1922209405" grpId="0" animBg="1"/>
      <p:bldP spid="1084193879" grpId="0" animBg="1"/>
      <p:bldP spid="611158540" grpId="0" animBg="1"/>
      <p:bldP spid="1012366545" grpId="0" animBg="1"/>
      <p:bldP spid="1724923720" grpId="0" animBg="1"/>
      <p:bldP spid="712901090" grpId="0" animBg="1"/>
      <p:bldP spid="709283424" grpId="0" animBg="1"/>
      <p:bldP spid="1688002362" grpId="0"/>
      <p:bldP spid="520063777" grpId="0"/>
      <p:bldP spid="451248146" grpId="0"/>
      <p:bldP spid="432106436" grpId="0"/>
      <p:bldP spid="904621329" grpId="0"/>
      <p:bldP spid="1430039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0348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/>
              <a:t>Left Rotation</a:t>
            </a:r>
            <a:endParaRPr lang="en-US"/>
          </a:p>
        </p:txBody>
      </p:sp>
      <p:sp>
        <p:nvSpPr>
          <p:cNvPr id="1214304618" name="Content Placeholder 2"/>
          <p:cNvSpPr>
            <a:spLocks noGrp="1"/>
          </p:cNvSpPr>
          <p:nvPr>
            <p:ph idx="1"/>
          </p:nvPr>
        </p:nvSpPr>
        <p:spPr bwMode="auto">
          <a:xfrm>
            <a:off x="131180" y="863444"/>
            <a:ext cx="11929641" cy="2177175"/>
          </a:xfrm>
        </p:spPr>
        <p:txBody>
          <a:bodyPr/>
          <a:lstStyle/>
          <a:p>
            <a:pPr marL="457200" indent="-457200">
              <a:buFont typeface="+mj-lt"/>
              <a:buAutoNum type="alphaLcPeriod"/>
              <a:defRPr/>
            </a:pPr>
            <a:r>
              <a:rPr lang="en-IN" b="1">
                <a:solidFill>
                  <a:srgbClr val="C00000"/>
                </a:solidFill>
              </a:rPr>
              <a:t>Detach</a:t>
            </a:r>
            <a:r>
              <a:rPr lang="en-IN">
                <a:solidFill>
                  <a:srgbClr val="C00000"/>
                </a:solidFill>
              </a:rPr>
              <a:t> </a:t>
            </a:r>
            <a:r>
              <a:rPr lang="en-IN"/>
              <a:t>right child’s leaf sub-tree</a:t>
            </a:r>
            <a:endParaRPr/>
          </a:p>
          <a:p>
            <a:pPr marL="457200" indent="-457200">
              <a:buFont typeface="+mj-lt"/>
              <a:buAutoNum type="alphaLcPeriod"/>
              <a:defRPr/>
            </a:pPr>
            <a:r>
              <a:rPr lang="en-IN" b="1"/>
              <a:t>C</a:t>
            </a:r>
            <a:r>
              <a:rPr lang="en-IN"/>
              <a:t>onsider </a:t>
            </a:r>
            <a:r>
              <a:rPr lang="en-IN" b="1">
                <a:solidFill>
                  <a:srgbClr val="C00000"/>
                </a:solidFill>
              </a:rPr>
              <a:t>right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child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/>
              <a:t>to be </a:t>
            </a:r>
            <a:r>
              <a:rPr lang="en-IN" b="1">
                <a:solidFill>
                  <a:srgbClr val="C00000"/>
                </a:solidFill>
              </a:rPr>
              <a:t>new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parent</a:t>
            </a:r>
            <a:endParaRPr/>
          </a:p>
          <a:p>
            <a:pPr marL="457200" indent="-457200">
              <a:buFont typeface="+mj-lt"/>
              <a:buAutoNum type="alphaLcPeriod"/>
              <a:defRPr/>
            </a:pPr>
            <a:r>
              <a:rPr lang="en-IN" b="1">
                <a:solidFill>
                  <a:srgbClr val="C00000"/>
                </a:solidFill>
              </a:rPr>
              <a:t>Attach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old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parent</a:t>
            </a:r>
            <a:r>
              <a:rPr lang="en-IN">
                <a:solidFill>
                  <a:srgbClr val="C00000"/>
                </a:solidFill>
              </a:rPr>
              <a:t> </a:t>
            </a:r>
            <a:r>
              <a:rPr lang="en-IN"/>
              <a:t>onto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left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of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new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parent</a:t>
            </a:r>
            <a:endParaRPr/>
          </a:p>
          <a:p>
            <a:pPr marL="457200" indent="-457200">
              <a:buFont typeface="+mj-lt"/>
              <a:buAutoNum type="alphaLcPeriod"/>
              <a:defRPr/>
            </a:pPr>
            <a:r>
              <a:rPr lang="en-IN" b="1">
                <a:solidFill>
                  <a:srgbClr val="C00000"/>
                </a:solidFill>
              </a:rPr>
              <a:t>Attach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old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right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child’s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old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left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sub-tree</a:t>
            </a:r>
            <a:r>
              <a:rPr lang="en-IN">
                <a:solidFill>
                  <a:srgbClr val="C00000"/>
                </a:solidFill>
              </a:rPr>
              <a:t> </a:t>
            </a:r>
            <a:r>
              <a:rPr lang="en-IN"/>
              <a:t>as </a:t>
            </a:r>
            <a:r>
              <a:rPr lang="en-IN" b="1">
                <a:solidFill>
                  <a:srgbClr val="C00000"/>
                </a:solidFill>
              </a:rPr>
              <a:t>right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sub-tree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of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new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left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child</a:t>
            </a:r>
            <a:endParaRPr/>
          </a:p>
        </p:txBody>
      </p:sp>
      <p:sp>
        <p:nvSpPr>
          <p:cNvPr id="1949231093" name="Oval 3"/>
          <p:cNvSpPr/>
          <p:nvPr/>
        </p:nvSpPr>
        <p:spPr bwMode="auto">
          <a:xfrm>
            <a:off x="2590800" y="3316942"/>
            <a:ext cx="594000" cy="59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b="1"/>
              <a:t>X</a:t>
            </a:r>
            <a:endParaRPr lang="en-US" b="1"/>
          </a:p>
        </p:txBody>
      </p:sp>
      <p:sp>
        <p:nvSpPr>
          <p:cNvPr id="709726820" name="Oval 4"/>
          <p:cNvSpPr/>
          <p:nvPr/>
        </p:nvSpPr>
        <p:spPr bwMode="auto">
          <a:xfrm>
            <a:off x="2209800" y="4160496"/>
            <a:ext cx="594000" cy="59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b="1"/>
              <a:t>T</a:t>
            </a:r>
            <a:r>
              <a:rPr lang="en-IN" b="1" baseline="-25000"/>
              <a:t>1</a:t>
            </a:r>
            <a:endParaRPr lang="en-US" b="1" baseline="-25000"/>
          </a:p>
        </p:txBody>
      </p:sp>
      <p:sp>
        <p:nvSpPr>
          <p:cNvPr id="880623057" name="Oval 5"/>
          <p:cNvSpPr/>
          <p:nvPr/>
        </p:nvSpPr>
        <p:spPr bwMode="auto">
          <a:xfrm>
            <a:off x="2971800" y="4160496"/>
            <a:ext cx="594000" cy="59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b="1"/>
              <a:t>Y</a:t>
            </a:r>
            <a:endParaRPr lang="en-US" b="1"/>
          </a:p>
        </p:txBody>
      </p:sp>
      <p:sp>
        <p:nvSpPr>
          <p:cNvPr id="1114753678" name="Oval 6"/>
          <p:cNvSpPr/>
          <p:nvPr/>
        </p:nvSpPr>
        <p:spPr bwMode="auto">
          <a:xfrm>
            <a:off x="2590800" y="5038164"/>
            <a:ext cx="594000" cy="59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b="1"/>
              <a:t>T</a:t>
            </a:r>
            <a:r>
              <a:rPr lang="en-IN" b="1" baseline="-25000"/>
              <a:t>2</a:t>
            </a:r>
            <a:endParaRPr lang="en-US" b="1" baseline="-25000"/>
          </a:p>
        </p:txBody>
      </p:sp>
      <p:sp>
        <p:nvSpPr>
          <p:cNvPr id="192931491" name="Oval 7"/>
          <p:cNvSpPr/>
          <p:nvPr/>
        </p:nvSpPr>
        <p:spPr bwMode="auto">
          <a:xfrm>
            <a:off x="3352800" y="5038164"/>
            <a:ext cx="594000" cy="59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b="1"/>
              <a:t>T</a:t>
            </a:r>
            <a:r>
              <a:rPr lang="en-IN" b="1" baseline="-25000"/>
              <a:t>3</a:t>
            </a:r>
            <a:endParaRPr lang="en-US" b="1" baseline="-25000"/>
          </a:p>
        </p:txBody>
      </p:sp>
      <p:cxnSp>
        <p:nvCxnSpPr>
          <p:cNvPr id="1173658693" name="Straight Arrow Connector 9"/>
          <p:cNvCxnSpPr>
            <a:stCxn id="1949231093" idx="3"/>
            <a:endCxn id="709726820" idx="0"/>
          </p:cNvCxnSpPr>
          <p:nvPr/>
        </p:nvCxnSpPr>
        <p:spPr bwMode="auto">
          <a:xfrm flipH="1">
            <a:off x="2506800" y="3823953"/>
            <a:ext cx="170989" cy="336543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26365655" name="Straight Arrow Connector 11"/>
          <p:cNvCxnSpPr>
            <a:stCxn id="1949231093" idx="5"/>
            <a:endCxn id="880623057" idx="0"/>
          </p:cNvCxnSpPr>
          <p:nvPr/>
        </p:nvCxnSpPr>
        <p:spPr bwMode="auto">
          <a:xfrm>
            <a:off x="3097811" y="3823953"/>
            <a:ext cx="170989" cy="336543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88255504" name="Straight Arrow Connector 13"/>
          <p:cNvCxnSpPr>
            <a:stCxn id="880623057" idx="3"/>
            <a:endCxn id="1114753678" idx="0"/>
          </p:cNvCxnSpPr>
          <p:nvPr/>
        </p:nvCxnSpPr>
        <p:spPr bwMode="auto">
          <a:xfrm flipH="1">
            <a:off x="2887800" y="4667507"/>
            <a:ext cx="170989" cy="370656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40303526" name="Straight Arrow Connector 15"/>
          <p:cNvCxnSpPr>
            <a:stCxn id="880623057" idx="5"/>
            <a:endCxn id="192931491" idx="0"/>
          </p:cNvCxnSpPr>
          <p:nvPr/>
        </p:nvCxnSpPr>
        <p:spPr bwMode="auto">
          <a:xfrm>
            <a:off x="3478810" y="4667507"/>
            <a:ext cx="170989" cy="370656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44106853" name="Oval 16"/>
          <p:cNvSpPr/>
          <p:nvPr/>
        </p:nvSpPr>
        <p:spPr bwMode="auto">
          <a:xfrm>
            <a:off x="3712260" y="5895166"/>
            <a:ext cx="594000" cy="594000"/>
          </a:xfrm>
          <a:prstGeom prst="ellipse">
            <a:avLst/>
          </a:prstGeom>
          <a:solidFill>
            <a:srgbClr val="B84742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b="1"/>
              <a:t>n</a:t>
            </a:r>
            <a:endParaRPr lang="en-US" b="1" baseline="-25000"/>
          </a:p>
        </p:txBody>
      </p:sp>
      <p:cxnSp>
        <p:nvCxnSpPr>
          <p:cNvPr id="467224633" name="Straight Arrow Connector 18"/>
          <p:cNvCxnSpPr>
            <a:stCxn id="192931491" idx="5"/>
            <a:endCxn id="844106853" idx="0"/>
          </p:cNvCxnSpPr>
          <p:nvPr/>
        </p:nvCxnSpPr>
        <p:spPr bwMode="auto">
          <a:xfrm>
            <a:off x="3859811" y="5545175"/>
            <a:ext cx="149449" cy="349991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69274576" name="TextBox 20"/>
          <p:cNvSpPr txBox="1"/>
          <p:nvPr/>
        </p:nvSpPr>
        <p:spPr bwMode="auto">
          <a:xfrm>
            <a:off x="2286000" y="5150498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539646554" name="TextBox 21"/>
          <p:cNvSpPr txBox="1"/>
          <p:nvPr/>
        </p:nvSpPr>
        <p:spPr bwMode="auto">
          <a:xfrm>
            <a:off x="3948207" y="5150498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591521518" name="TextBox 22"/>
          <p:cNvSpPr txBox="1"/>
          <p:nvPr/>
        </p:nvSpPr>
        <p:spPr bwMode="auto">
          <a:xfrm>
            <a:off x="3553760" y="427283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2143461750" name="TextBox 23"/>
          <p:cNvSpPr txBox="1"/>
          <p:nvPr/>
        </p:nvSpPr>
        <p:spPr bwMode="auto">
          <a:xfrm>
            <a:off x="1905000" y="427283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538466727" name="TextBox 24"/>
          <p:cNvSpPr txBox="1"/>
          <p:nvPr/>
        </p:nvSpPr>
        <p:spPr bwMode="auto">
          <a:xfrm>
            <a:off x="3213101" y="342927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1979274335" name="TextBox 25"/>
          <p:cNvSpPr txBox="1"/>
          <p:nvPr/>
        </p:nvSpPr>
        <p:spPr bwMode="auto">
          <a:xfrm>
            <a:off x="4304034" y="6007500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B’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541433882" name="TextBox 26"/>
          <p:cNvSpPr txBox="1"/>
          <p:nvPr/>
        </p:nvSpPr>
        <p:spPr bwMode="auto">
          <a:xfrm>
            <a:off x="4110317" y="515049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R’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462343710" name="TextBox 27"/>
          <p:cNvSpPr txBox="1"/>
          <p:nvPr/>
        </p:nvSpPr>
        <p:spPr bwMode="auto">
          <a:xfrm>
            <a:off x="2064580" y="5150498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B’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749835856" name="TextBox 28"/>
          <p:cNvSpPr txBox="1"/>
          <p:nvPr/>
        </p:nvSpPr>
        <p:spPr bwMode="auto">
          <a:xfrm>
            <a:off x="3742764" y="4272830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R’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970197172" name="TextBox 29"/>
          <p:cNvSpPr txBox="1"/>
          <p:nvPr/>
        </p:nvSpPr>
        <p:spPr bwMode="auto">
          <a:xfrm>
            <a:off x="1638300" y="4272830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B’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34064486" name="TextBox 30"/>
          <p:cNvSpPr txBox="1"/>
          <p:nvPr/>
        </p:nvSpPr>
        <p:spPr bwMode="auto">
          <a:xfrm>
            <a:off x="1198588" y="3378742"/>
            <a:ext cx="1412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Critical Node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671296209" name="TextBox 31"/>
          <p:cNvSpPr txBox="1"/>
          <p:nvPr/>
        </p:nvSpPr>
        <p:spPr bwMode="auto">
          <a:xfrm>
            <a:off x="5110025" y="4001870"/>
            <a:ext cx="9653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Left </a:t>
            </a:r>
            <a:endParaRPr/>
          </a:p>
          <a:p>
            <a:pPr algn="ctr">
              <a:defRPr/>
            </a:pPr>
            <a:r>
              <a:rPr lang="en-IN" b="1"/>
              <a:t>Rotation</a:t>
            </a:r>
            <a:endParaRPr lang="en-US" b="1"/>
          </a:p>
        </p:txBody>
      </p:sp>
      <p:cxnSp>
        <p:nvCxnSpPr>
          <p:cNvPr id="416089449" name="Straight Arrow Connector 33"/>
          <p:cNvCxnSpPr/>
          <p:nvPr/>
        </p:nvCxnSpPr>
        <p:spPr bwMode="auto">
          <a:xfrm>
            <a:off x="4953000" y="4724399"/>
            <a:ext cx="1295400" cy="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48204807" name="Oval 34"/>
          <p:cNvSpPr/>
          <p:nvPr/>
        </p:nvSpPr>
        <p:spPr bwMode="auto">
          <a:xfrm>
            <a:off x="5295689" y="4951175"/>
            <a:ext cx="594000" cy="59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b="1"/>
              <a:t>T</a:t>
            </a:r>
            <a:r>
              <a:rPr lang="en-IN" b="1" baseline="-25000"/>
              <a:t>2</a:t>
            </a:r>
            <a:endParaRPr lang="en-US" b="1" baseline="-25000"/>
          </a:p>
        </p:txBody>
      </p:sp>
      <p:sp>
        <p:nvSpPr>
          <p:cNvPr id="1482341030" name="Oval 35"/>
          <p:cNvSpPr/>
          <p:nvPr/>
        </p:nvSpPr>
        <p:spPr bwMode="auto">
          <a:xfrm>
            <a:off x="8458200" y="3328246"/>
            <a:ext cx="594000" cy="59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b="1"/>
              <a:t>Y</a:t>
            </a:r>
            <a:endParaRPr lang="en-US" b="1"/>
          </a:p>
        </p:txBody>
      </p:sp>
      <p:sp>
        <p:nvSpPr>
          <p:cNvPr id="1446118783" name="Oval 36"/>
          <p:cNvSpPr/>
          <p:nvPr/>
        </p:nvSpPr>
        <p:spPr bwMode="auto">
          <a:xfrm>
            <a:off x="8875931" y="4150223"/>
            <a:ext cx="594000" cy="59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b="1"/>
              <a:t>T</a:t>
            </a:r>
            <a:r>
              <a:rPr lang="en-IN" b="1" baseline="-25000"/>
              <a:t>3</a:t>
            </a:r>
            <a:endParaRPr lang="en-US" b="1" baseline="-25000"/>
          </a:p>
        </p:txBody>
      </p:sp>
      <p:cxnSp>
        <p:nvCxnSpPr>
          <p:cNvPr id="1033978435" name="Straight Arrow Connector 37"/>
          <p:cNvCxnSpPr>
            <a:stCxn id="1482341030" idx="5"/>
            <a:endCxn id="1446118783" idx="0"/>
          </p:cNvCxnSpPr>
          <p:nvPr/>
        </p:nvCxnSpPr>
        <p:spPr bwMode="auto">
          <a:xfrm>
            <a:off x="8965211" y="3835257"/>
            <a:ext cx="207719" cy="314966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65777115" name="Oval 38"/>
          <p:cNvSpPr/>
          <p:nvPr/>
        </p:nvSpPr>
        <p:spPr bwMode="auto">
          <a:xfrm>
            <a:off x="9220200" y="5041731"/>
            <a:ext cx="594000" cy="594000"/>
          </a:xfrm>
          <a:prstGeom prst="ellipse">
            <a:avLst/>
          </a:prstGeom>
          <a:solidFill>
            <a:srgbClr val="B84742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b="1"/>
              <a:t>n</a:t>
            </a:r>
            <a:endParaRPr lang="en-US" b="1" baseline="-25000"/>
          </a:p>
        </p:txBody>
      </p:sp>
      <p:cxnSp>
        <p:nvCxnSpPr>
          <p:cNvPr id="2068299678" name="Straight Arrow Connector 39"/>
          <p:cNvCxnSpPr>
            <a:stCxn id="1446118783" idx="5"/>
            <a:endCxn id="1265777115" idx="0"/>
          </p:cNvCxnSpPr>
          <p:nvPr/>
        </p:nvCxnSpPr>
        <p:spPr bwMode="auto">
          <a:xfrm>
            <a:off x="9382942" y="4657234"/>
            <a:ext cx="134258" cy="384497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60537179" name="Oval 40"/>
          <p:cNvSpPr/>
          <p:nvPr/>
        </p:nvSpPr>
        <p:spPr bwMode="auto">
          <a:xfrm>
            <a:off x="7809131" y="4150223"/>
            <a:ext cx="594000" cy="59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b="1"/>
              <a:t>X</a:t>
            </a:r>
            <a:endParaRPr lang="en-US" b="1"/>
          </a:p>
        </p:txBody>
      </p:sp>
      <p:sp>
        <p:nvSpPr>
          <p:cNvPr id="1826829718" name="Oval 41"/>
          <p:cNvSpPr/>
          <p:nvPr/>
        </p:nvSpPr>
        <p:spPr bwMode="auto">
          <a:xfrm>
            <a:off x="7428131" y="5041731"/>
            <a:ext cx="594000" cy="59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b="1"/>
              <a:t>T</a:t>
            </a:r>
            <a:r>
              <a:rPr lang="en-IN" b="1" baseline="-25000"/>
              <a:t>1</a:t>
            </a:r>
            <a:endParaRPr lang="en-US" b="1" baseline="-25000"/>
          </a:p>
        </p:txBody>
      </p:sp>
      <p:cxnSp>
        <p:nvCxnSpPr>
          <p:cNvPr id="463104127" name="Straight Arrow Connector 42"/>
          <p:cNvCxnSpPr>
            <a:stCxn id="1860537179" idx="3"/>
            <a:endCxn id="1826829718" idx="0"/>
          </p:cNvCxnSpPr>
          <p:nvPr/>
        </p:nvCxnSpPr>
        <p:spPr bwMode="auto">
          <a:xfrm flipH="1">
            <a:off x="7725131" y="4657234"/>
            <a:ext cx="170989" cy="384497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97503172" name="Straight Arrow Connector 44"/>
          <p:cNvCxnSpPr>
            <a:stCxn id="1482341030" idx="3"/>
            <a:endCxn id="1860537179" idx="7"/>
          </p:cNvCxnSpPr>
          <p:nvPr/>
        </p:nvCxnSpPr>
        <p:spPr bwMode="auto">
          <a:xfrm flipH="1">
            <a:off x="8316142" y="3835257"/>
            <a:ext cx="229047" cy="40195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06183373" name="Oval 45"/>
          <p:cNvSpPr/>
          <p:nvPr/>
        </p:nvSpPr>
        <p:spPr bwMode="auto">
          <a:xfrm>
            <a:off x="8190815" y="5041731"/>
            <a:ext cx="594000" cy="59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b="1"/>
              <a:t>T</a:t>
            </a:r>
            <a:r>
              <a:rPr lang="en-IN" b="1" baseline="-25000"/>
              <a:t>2</a:t>
            </a:r>
            <a:endParaRPr lang="en-US" b="1" baseline="-25000"/>
          </a:p>
        </p:txBody>
      </p:sp>
      <p:cxnSp>
        <p:nvCxnSpPr>
          <p:cNvPr id="1524904504" name="Straight Arrow Connector 47"/>
          <p:cNvCxnSpPr>
            <a:stCxn id="1860537179" idx="5"/>
            <a:endCxn id="1806183373" idx="0"/>
          </p:cNvCxnSpPr>
          <p:nvPr/>
        </p:nvCxnSpPr>
        <p:spPr bwMode="auto">
          <a:xfrm>
            <a:off x="8316142" y="4657234"/>
            <a:ext cx="171673" cy="384497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00722198" name="TextBox 48"/>
          <p:cNvSpPr txBox="1"/>
          <p:nvPr/>
        </p:nvSpPr>
        <p:spPr bwMode="auto">
          <a:xfrm>
            <a:off x="7113621" y="515406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172699610" name="TextBox 49"/>
          <p:cNvSpPr txBox="1"/>
          <p:nvPr/>
        </p:nvSpPr>
        <p:spPr bwMode="auto">
          <a:xfrm>
            <a:off x="8757772" y="515406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648541718" name="TextBox 50"/>
          <p:cNvSpPr txBox="1"/>
          <p:nvPr/>
        </p:nvSpPr>
        <p:spPr bwMode="auto">
          <a:xfrm>
            <a:off x="9810998" y="515406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608815049" name="TextBox 51"/>
          <p:cNvSpPr txBox="1"/>
          <p:nvPr/>
        </p:nvSpPr>
        <p:spPr bwMode="auto">
          <a:xfrm>
            <a:off x="7497901" y="426255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23964674" name="TextBox 52"/>
          <p:cNvSpPr txBox="1"/>
          <p:nvPr/>
        </p:nvSpPr>
        <p:spPr bwMode="auto">
          <a:xfrm>
            <a:off x="9491942" y="426255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799297005" name="TextBox 53"/>
          <p:cNvSpPr txBox="1"/>
          <p:nvPr/>
        </p:nvSpPr>
        <p:spPr bwMode="auto">
          <a:xfrm>
            <a:off x="8969064" y="344058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23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726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23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65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36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255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30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753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3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274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46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5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46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46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22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67224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106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274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433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343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83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19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6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2000" fill="hold"/>
                                        <p:tgtEl>
                                          <p:spTgt spid="19492310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0" dur="2000" fill="hold"/>
                                        <p:tgtEl>
                                          <p:spTgt spid="19492310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2000" fill="hold"/>
                                        <p:tgtEl>
                                          <p:spTgt spid="19492310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304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304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304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304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296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08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16089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34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118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97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77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299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50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5" dur="500"/>
                                        <p:tgtEl>
                                          <p:spTgt spid="797503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53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10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682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90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1524904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18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72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699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54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815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97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9231093" grpId="0" animBg="1"/>
      <p:bldP spid="709726820" grpId="0" animBg="1"/>
      <p:bldP spid="880623057" grpId="0" animBg="1"/>
      <p:bldP spid="1114753678" grpId="0" animBg="1"/>
      <p:bldP spid="192931491" grpId="0" animBg="1"/>
      <p:bldP spid="844106853" grpId="0" animBg="1"/>
      <p:bldP spid="1269274576" grpId="0"/>
      <p:bldP spid="539646554" grpId="0"/>
      <p:bldP spid="591521518" grpId="0"/>
      <p:bldP spid="2143461750" grpId="0"/>
      <p:bldP spid="538466727" grpId="0"/>
      <p:bldP spid="1979274335" grpId="0"/>
      <p:bldP spid="1541433882" grpId="0"/>
      <p:bldP spid="1462343710" grpId="0"/>
      <p:bldP spid="1749835856" grpId="0"/>
      <p:bldP spid="970197172" grpId="0"/>
      <p:bldP spid="134064486" grpId="0"/>
      <p:bldP spid="1671296209" grpId="0"/>
      <p:bldP spid="848204807" grpId="0" animBg="1"/>
      <p:bldP spid="1482341030" grpId="0" animBg="1"/>
      <p:bldP spid="1446118783" grpId="0" animBg="1"/>
      <p:bldP spid="1265777115" grpId="0" animBg="1"/>
      <p:bldP spid="1860537179" grpId="0" animBg="1"/>
      <p:bldP spid="1826829718" grpId="0" animBg="1"/>
      <p:bldP spid="1806183373" grpId="0" animBg="1"/>
      <p:bldP spid="2100722198" grpId="0"/>
      <p:bldP spid="1172699610" grpId="0"/>
      <p:bldP spid="1648541718" grpId="0"/>
      <p:bldP spid="1608815049" grpId="0"/>
      <p:bldP spid="23964674" grpId="0"/>
      <p:bldP spid="79929700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037634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IN" sz="3600"/>
              <a:t>Select Rotation based on Insertion Position</a:t>
            </a:r>
            <a:endParaRPr lang="en-US" sz="3600"/>
          </a:p>
        </p:txBody>
      </p:sp>
      <p:sp>
        <p:nvSpPr>
          <p:cNvPr id="363210631" name="Content Placeholder 2"/>
          <p:cNvSpPr>
            <a:spLocks noGrp="1"/>
          </p:cNvSpPr>
          <p:nvPr>
            <p:ph idx="1"/>
          </p:nvPr>
        </p:nvSpPr>
        <p:spPr bwMode="auto">
          <a:xfrm>
            <a:off x="131181" y="863444"/>
            <a:ext cx="7199688" cy="559056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IN" b="1"/>
              <a:t>Case 1:</a:t>
            </a:r>
            <a:r>
              <a:rPr lang="en-IN"/>
              <a:t> Insertion into </a:t>
            </a:r>
            <a:r>
              <a:rPr lang="en-IN" b="1">
                <a:solidFill>
                  <a:srgbClr val="C00000"/>
                </a:solidFill>
              </a:rPr>
              <a:t>Left sub-tree </a:t>
            </a:r>
            <a:r>
              <a:rPr lang="en-IN"/>
              <a:t>of </a:t>
            </a:r>
            <a:r>
              <a:rPr lang="en-IN" b="1">
                <a:solidFill>
                  <a:srgbClr val="C00000"/>
                </a:solidFill>
              </a:rPr>
              <a:t>nodes Left child </a:t>
            </a:r>
            <a:endParaRPr/>
          </a:p>
          <a:p>
            <a:pPr lvl="1">
              <a:defRPr/>
            </a:pPr>
            <a:r>
              <a:rPr lang="en-IN" b="1"/>
              <a:t>Single Right Rotation</a:t>
            </a:r>
            <a:endParaRPr/>
          </a:p>
          <a:p>
            <a:pPr marL="0" indent="0">
              <a:buNone/>
              <a:defRPr/>
            </a:pPr>
            <a:r>
              <a:rPr lang="en-IN" b="1"/>
              <a:t>Case 2:</a:t>
            </a:r>
            <a:r>
              <a:rPr lang="en-IN"/>
              <a:t> Insertion into </a:t>
            </a:r>
            <a:r>
              <a:rPr lang="en-IN" b="1">
                <a:solidFill>
                  <a:srgbClr val="C00000"/>
                </a:solidFill>
              </a:rPr>
              <a:t>Right sub-tree </a:t>
            </a:r>
            <a:r>
              <a:rPr lang="en-IN"/>
              <a:t>of </a:t>
            </a:r>
            <a:r>
              <a:rPr lang="en-IN" b="1">
                <a:solidFill>
                  <a:srgbClr val="C00000"/>
                </a:solidFill>
              </a:rPr>
              <a:t>node’s Left child</a:t>
            </a:r>
            <a:endParaRPr/>
          </a:p>
          <a:p>
            <a:pPr lvl="1">
              <a:defRPr/>
            </a:pPr>
            <a:r>
              <a:rPr lang="en-IN" b="1"/>
              <a:t>Left Right Rotation</a:t>
            </a:r>
            <a:endParaRPr/>
          </a:p>
          <a:p>
            <a:pPr marL="0" indent="0">
              <a:buNone/>
              <a:defRPr/>
            </a:pPr>
            <a:r>
              <a:rPr lang="en-IN" b="1"/>
              <a:t>Case 3:</a:t>
            </a:r>
            <a:r>
              <a:rPr lang="en-IN"/>
              <a:t> Insertion into </a:t>
            </a:r>
            <a:r>
              <a:rPr lang="en-IN" b="1">
                <a:solidFill>
                  <a:srgbClr val="C00000"/>
                </a:solidFill>
              </a:rPr>
              <a:t>Left sub-tree </a:t>
            </a:r>
            <a:r>
              <a:rPr lang="en-IN"/>
              <a:t>of </a:t>
            </a:r>
            <a:r>
              <a:rPr lang="en-IN" b="1">
                <a:solidFill>
                  <a:srgbClr val="C00000"/>
                </a:solidFill>
              </a:rPr>
              <a:t>node’s Right child</a:t>
            </a:r>
            <a:endParaRPr/>
          </a:p>
          <a:p>
            <a:pPr lvl="1">
              <a:defRPr/>
            </a:pPr>
            <a:r>
              <a:rPr lang="en-IN" b="1"/>
              <a:t>Right Left Rotation</a:t>
            </a:r>
            <a:endParaRPr/>
          </a:p>
          <a:p>
            <a:pPr marL="0" indent="0">
              <a:buNone/>
              <a:defRPr/>
            </a:pPr>
            <a:r>
              <a:rPr lang="en-IN" b="1"/>
              <a:t>Case 4: </a:t>
            </a:r>
            <a:r>
              <a:rPr lang="en-IN"/>
              <a:t>Insertion into </a:t>
            </a:r>
            <a:r>
              <a:rPr lang="en-IN" b="1">
                <a:solidFill>
                  <a:srgbClr val="C00000"/>
                </a:solidFill>
              </a:rPr>
              <a:t>Right sub-tree </a:t>
            </a:r>
            <a:r>
              <a:rPr lang="en-IN"/>
              <a:t>of </a:t>
            </a:r>
            <a:r>
              <a:rPr lang="en-IN" b="1">
                <a:solidFill>
                  <a:srgbClr val="C00000"/>
                </a:solidFill>
              </a:rPr>
              <a:t>node’s Right child</a:t>
            </a:r>
            <a:endParaRPr/>
          </a:p>
          <a:p>
            <a:pPr lvl="1">
              <a:defRPr/>
            </a:pPr>
            <a:r>
              <a:rPr lang="en-IN" b="1"/>
              <a:t>Single Left Rotation</a:t>
            </a:r>
            <a:endParaRPr/>
          </a:p>
        </p:txBody>
      </p:sp>
      <p:sp>
        <p:nvSpPr>
          <p:cNvPr id="1243852689" name="Oval 3"/>
          <p:cNvSpPr/>
          <p:nvPr/>
        </p:nvSpPr>
        <p:spPr bwMode="auto">
          <a:xfrm>
            <a:off x="8389356" y="1396845"/>
            <a:ext cx="432000" cy="432000"/>
          </a:xfrm>
          <a:prstGeom prst="ellipse">
            <a:avLst/>
          </a:prstGeom>
          <a:pattFill prst="wdUpDiag">
            <a:fgClr>
              <a:srgbClr val="B84742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29960448" name="Oval 4"/>
          <p:cNvSpPr/>
          <p:nvPr/>
        </p:nvSpPr>
        <p:spPr bwMode="auto">
          <a:xfrm>
            <a:off x="7894056" y="2042303"/>
            <a:ext cx="432000" cy="43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67802375" name="Oval 5"/>
          <p:cNvSpPr/>
          <p:nvPr/>
        </p:nvSpPr>
        <p:spPr bwMode="auto">
          <a:xfrm>
            <a:off x="8851038" y="2042303"/>
            <a:ext cx="432000" cy="43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450594942" name="Straight Arrow Connector 7"/>
          <p:cNvCxnSpPr>
            <a:stCxn id="1243852689" idx="3"/>
            <a:endCxn id="1729960448" idx="0"/>
          </p:cNvCxnSpPr>
          <p:nvPr/>
        </p:nvCxnSpPr>
        <p:spPr bwMode="auto">
          <a:xfrm flipH="1">
            <a:off x="8110056" y="1765580"/>
            <a:ext cx="342565" cy="276723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36110078" name="Straight Arrow Connector 9"/>
          <p:cNvCxnSpPr>
            <a:stCxn id="1243852689" idx="5"/>
            <a:endCxn id="1767802375" idx="0"/>
          </p:cNvCxnSpPr>
          <p:nvPr/>
        </p:nvCxnSpPr>
        <p:spPr bwMode="auto">
          <a:xfrm>
            <a:off x="8758091" y="1765580"/>
            <a:ext cx="308947" cy="276723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01121412" name="Oval 10"/>
          <p:cNvSpPr/>
          <p:nvPr/>
        </p:nvSpPr>
        <p:spPr bwMode="auto">
          <a:xfrm>
            <a:off x="10701906" y="1410821"/>
            <a:ext cx="432000" cy="432000"/>
          </a:xfrm>
          <a:prstGeom prst="ellipse">
            <a:avLst/>
          </a:prstGeom>
          <a:pattFill prst="wdUpDiag">
            <a:fgClr>
              <a:srgbClr val="B84742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70408273" name="Oval 11"/>
          <p:cNvSpPr/>
          <p:nvPr/>
        </p:nvSpPr>
        <p:spPr bwMode="auto">
          <a:xfrm>
            <a:off x="10159542" y="2042303"/>
            <a:ext cx="432000" cy="43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86915802" name="Oval 12"/>
          <p:cNvSpPr/>
          <p:nvPr/>
        </p:nvSpPr>
        <p:spPr bwMode="auto">
          <a:xfrm>
            <a:off x="11230823" y="2042303"/>
            <a:ext cx="432000" cy="43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384514833" name="Straight Arrow Connector 13"/>
          <p:cNvCxnSpPr>
            <a:stCxn id="1501121412" idx="3"/>
            <a:endCxn id="2070408273" idx="0"/>
          </p:cNvCxnSpPr>
          <p:nvPr/>
        </p:nvCxnSpPr>
        <p:spPr bwMode="auto">
          <a:xfrm flipH="1">
            <a:off x="10375542" y="1779556"/>
            <a:ext cx="389629" cy="262747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11842252" name="Straight Arrow Connector 14"/>
          <p:cNvCxnSpPr>
            <a:stCxn id="1501121412" idx="5"/>
            <a:endCxn id="786915802" idx="0"/>
          </p:cNvCxnSpPr>
          <p:nvPr/>
        </p:nvCxnSpPr>
        <p:spPr bwMode="auto">
          <a:xfrm>
            <a:off x="11070641" y="1779556"/>
            <a:ext cx="376182" cy="262747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55908091" name="Oval 15"/>
          <p:cNvSpPr/>
          <p:nvPr/>
        </p:nvSpPr>
        <p:spPr bwMode="auto">
          <a:xfrm>
            <a:off x="8402803" y="4422333"/>
            <a:ext cx="432000" cy="432000"/>
          </a:xfrm>
          <a:prstGeom prst="ellipse">
            <a:avLst/>
          </a:prstGeom>
          <a:pattFill prst="wdUpDiag">
            <a:fgClr>
              <a:srgbClr val="B84742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82328146" name="Oval 16"/>
          <p:cNvSpPr/>
          <p:nvPr/>
        </p:nvSpPr>
        <p:spPr bwMode="auto">
          <a:xfrm>
            <a:off x="7894056" y="5090763"/>
            <a:ext cx="432000" cy="43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56129556" name="Oval 17"/>
          <p:cNvSpPr/>
          <p:nvPr/>
        </p:nvSpPr>
        <p:spPr bwMode="auto">
          <a:xfrm>
            <a:off x="8851038" y="5090763"/>
            <a:ext cx="432000" cy="43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15906162" name="Straight Arrow Connector 18"/>
          <p:cNvCxnSpPr>
            <a:stCxn id="955908091" idx="3"/>
            <a:endCxn id="1282328146" idx="0"/>
          </p:cNvCxnSpPr>
          <p:nvPr/>
        </p:nvCxnSpPr>
        <p:spPr bwMode="auto">
          <a:xfrm flipH="1">
            <a:off x="8110056" y="4791068"/>
            <a:ext cx="356012" cy="29969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55662897" name="Straight Arrow Connector 19"/>
          <p:cNvCxnSpPr>
            <a:stCxn id="955908091" idx="5"/>
            <a:endCxn id="1756129556" idx="0"/>
          </p:cNvCxnSpPr>
          <p:nvPr/>
        </p:nvCxnSpPr>
        <p:spPr bwMode="auto">
          <a:xfrm>
            <a:off x="8771538" y="4791068"/>
            <a:ext cx="295500" cy="29969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53987889" name="Oval 20"/>
          <p:cNvSpPr/>
          <p:nvPr/>
        </p:nvSpPr>
        <p:spPr bwMode="auto">
          <a:xfrm>
            <a:off x="10738419" y="4422333"/>
            <a:ext cx="432000" cy="432000"/>
          </a:xfrm>
          <a:prstGeom prst="ellipse">
            <a:avLst/>
          </a:prstGeom>
          <a:pattFill prst="wdUpDiag">
            <a:fgClr>
              <a:srgbClr val="B84742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38400018" name="Oval 21"/>
          <p:cNvSpPr/>
          <p:nvPr/>
        </p:nvSpPr>
        <p:spPr bwMode="auto">
          <a:xfrm>
            <a:off x="10303631" y="5090763"/>
            <a:ext cx="432000" cy="43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83710866" name="Oval 22"/>
          <p:cNvSpPr/>
          <p:nvPr/>
        </p:nvSpPr>
        <p:spPr bwMode="auto">
          <a:xfrm>
            <a:off x="11173207" y="5090763"/>
            <a:ext cx="432000" cy="43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686454494" name="Straight Arrow Connector 23"/>
          <p:cNvCxnSpPr>
            <a:stCxn id="1653987889" idx="3"/>
            <a:endCxn id="738400018" idx="0"/>
          </p:cNvCxnSpPr>
          <p:nvPr/>
        </p:nvCxnSpPr>
        <p:spPr bwMode="auto">
          <a:xfrm flipH="1">
            <a:off x="10519631" y="4791068"/>
            <a:ext cx="282053" cy="29969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62657851" name="Straight Arrow Connector 24"/>
          <p:cNvCxnSpPr>
            <a:stCxn id="1653987889" idx="5"/>
            <a:endCxn id="1883710866" idx="0"/>
          </p:cNvCxnSpPr>
          <p:nvPr/>
        </p:nvCxnSpPr>
        <p:spPr bwMode="auto">
          <a:xfrm>
            <a:off x="11107154" y="4791068"/>
            <a:ext cx="282053" cy="29969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47044212" name="Oval 25"/>
          <p:cNvSpPr/>
          <p:nvPr/>
        </p:nvSpPr>
        <p:spPr bwMode="auto">
          <a:xfrm>
            <a:off x="11540760" y="5861540"/>
            <a:ext cx="432000" cy="432000"/>
          </a:xfrm>
          <a:prstGeom prst="ellipse">
            <a:avLst/>
          </a:prstGeom>
          <a:solidFill>
            <a:srgbClr val="B84742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722252975" name="Straight Arrow Connector 27"/>
          <p:cNvCxnSpPr>
            <a:stCxn id="1883710866" idx="5"/>
            <a:endCxn id="647044212" idx="0"/>
          </p:cNvCxnSpPr>
          <p:nvPr/>
        </p:nvCxnSpPr>
        <p:spPr bwMode="auto">
          <a:xfrm>
            <a:off x="11541942" y="5459498"/>
            <a:ext cx="214818" cy="402042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43110669" name="Oval 28"/>
          <p:cNvSpPr/>
          <p:nvPr/>
        </p:nvSpPr>
        <p:spPr bwMode="auto">
          <a:xfrm>
            <a:off x="8371738" y="5861540"/>
            <a:ext cx="432000" cy="432000"/>
          </a:xfrm>
          <a:prstGeom prst="ellipse">
            <a:avLst/>
          </a:prstGeom>
          <a:solidFill>
            <a:srgbClr val="B84742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801844301" name="Straight Arrow Connector 30"/>
          <p:cNvCxnSpPr>
            <a:stCxn id="1756129556" idx="3"/>
            <a:endCxn id="1743110669" idx="0"/>
          </p:cNvCxnSpPr>
          <p:nvPr/>
        </p:nvCxnSpPr>
        <p:spPr bwMode="auto">
          <a:xfrm flipH="1">
            <a:off x="8587738" y="5459498"/>
            <a:ext cx="326564" cy="402042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15981420" name="Oval 31"/>
          <p:cNvSpPr/>
          <p:nvPr/>
        </p:nvSpPr>
        <p:spPr bwMode="auto">
          <a:xfrm>
            <a:off x="10701906" y="2795337"/>
            <a:ext cx="432000" cy="432000"/>
          </a:xfrm>
          <a:prstGeom prst="ellipse">
            <a:avLst/>
          </a:prstGeom>
          <a:solidFill>
            <a:srgbClr val="B84742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18967683" name="Straight Arrow Connector 33"/>
          <p:cNvCxnSpPr>
            <a:stCxn id="2070408273" idx="5"/>
            <a:endCxn id="2115981420" idx="1"/>
          </p:cNvCxnSpPr>
          <p:nvPr/>
        </p:nvCxnSpPr>
        <p:spPr bwMode="auto">
          <a:xfrm>
            <a:off x="10528277" y="2411038"/>
            <a:ext cx="236894" cy="447564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53378570" name="Oval 34"/>
          <p:cNvSpPr/>
          <p:nvPr/>
        </p:nvSpPr>
        <p:spPr bwMode="auto">
          <a:xfrm>
            <a:off x="7470163" y="2795337"/>
            <a:ext cx="432000" cy="432000"/>
          </a:xfrm>
          <a:prstGeom prst="ellipse">
            <a:avLst/>
          </a:prstGeom>
          <a:solidFill>
            <a:srgbClr val="B84742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294655811" name="Straight Arrow Connector 36"/>
          <p:cNvCxnSpPr>
            <a:stCxn id="1729960448" idx="3"/>
            <a:endCxn id="1153378570" idx="0"/>
          </p:cNvCxnSpPr>
          <p:nvPr/>
        </p:nvCxnSpPr>
        <p:spPr bwMode="auto">
          <a:xfrm flipH="1">
            <a:off x="7686163" y="2411038"/>
            <a:ext cx="271158" cy="384299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4997085" name="Straight Connector 38"/>
          <p:cNvCxnSpPr/>
          <p:nvPr/>
        </p:nvCxnSpPr>
        <p:spPr bwMode="auto">
          <a:xfrm>
            <a:off x="9787506" y="860342"/>
            <a:ext cx="0" cy="55407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44452617" name="TextBox 6"/>
          <p:cNvSpPr txBox="1"/>
          <p:nvPr/>
        </p:nvSpPr>
        <p:spPr bwMode="auto">
          <a:xfrm>
            <a:off x="8014734" y="863445"/>
            <a:ext cx="1032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2000" b="1"/>
              <a:t>Case - 1</a:t>
            </a:r>
            <a:endParaRPr lang="en-US" sz="2000" b="1"/>
          </a:p>
        </p:txBody>
      </p:sp>
      <p:sp>
        <p:nvSpPr>
          <p:cNvPr id="153003404" name="TextBox 35"/>
          <p:cNvSpPr txBox="1"/>
          <p:nvPr/>
        </p:nvSpPr>
        <p:spPr bwMode="auto">
          <a:xfrm>
            <a:off x="10488960" y="877421"/>
            <a:ext cx="1032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2000" b="1"/>
              <a:t>Case - 2</a:t>
            </a:r>
            <a:endParaRPr lang="en-US" sz="2000" b="1"/>
          </a:p>
        </p:txBody>
      </p:sp>
      <p:sp>
        <p:nvSpPr>
          <p:cNvPr id="223268323" name="TextBox 37"/>
          <p:cNvSpPr txBox="1"/>
          <p:nvPr/>
        </p:nvSpPr>
        <p:spPr bwMode="auto">
          <a:xfrm>
            <a:off x="7982377" y="3898458"/>
            <a:ext cx="1032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2000" b="1"/>
              <a:t>Case - 3</a:t>
            </a:r>
            <a:endParaRPr lang="en-US" sz="2000" b="1"/>
          </a:p>
        </p:txBody>
      </p:sp>
      <p:sp>
        <p:nvSpPr>
          <p:cNvPr id="183641701" name="TextBox 41"/>
          <p:cNvSpPr txBox="1"/>
          <p:nvPr/>
        </p:nvSpPr>
        <p:spPr bwMode="auto">
          <a:xfrm>
            <a:off x="10371470" y="3898458"/>
            <a:ext cx="1032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2000" b="1"/>
              <a:t>Case - 4</a:t>
            </a:r>
            <a:endParaRPr lang="en-US" sz="2000" b="1"/>
          </a:p>
        </p:txBody>
      </p:sp>
      <p:cxnSp>
        <p:nvCxnSpPr>
          <p:cNvPr id="585646228" name="Straight Connector 60"/>
          <p:cNvCxnSpPr/>
          <p:nvPr/>
        </p:nvCxnSpPr>
        <p:spPr bwMode="auto">
          <a:xfrm>
            <a:off x="7470163" y="3630706"/>
            <a:ext cx="450259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64973541" name="Straight Connector 64"/>
          <p:cNvCxnSpPr/>
          <p:nvPr/>
        </p:nvCxnSpPr>
        <p:spPr bwMode="auto">
          <a:xfrm>
            <a:off x="7306504" y="860342"/>
            <a:ext cx="0" cy="55407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210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497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852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594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96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611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80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65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294655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378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452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2106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2106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997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12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514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408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915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84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96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18967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598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03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2106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2106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64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90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0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32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662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12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844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1801844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1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6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2106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2106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98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454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40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65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3710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252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722252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04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4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2106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3852689" grpId="0" animBg="1"/>
      <p:bldP spid="1729960448" grpId="0" animBg="1"/>
      <p:bldP spid="1767802375" grpId="0" animBg="1"/>
      <p:bldP spid="1501121412" grpId="0" animBg="1"/>
      <p:bldP spid="2070408273" grpId="0" animBg="1"/>
      <p:bldP spid="786915802" grpId="0" animBg="1"/>
      <p:bldP spid="955908091" grpId="0" animBg="1"/>
      <p:bldP spid="1282328146" grpId="0" animBg="1"/>
      <p:bldP spid="1756129556" grpId="0" animBg="1"/>
      <p:bldP spid="1653987889" grpId="0" animBg="1"/>
      <p:bldP spid="738400018" grpId="0" animBg="1"/>
      <p:bldP spid="1883710866" grpId="0" animBg="1"/>
      <p:bldP spid="647044212" grpId="0" animBg="1"/>
      <p:bldP spid="1743110669" grpId="0" animBg="1"/>
      <p:bldP spid="2115981420" grpId="0" animBg="1"/>
      <p:bldP spid="1153378570" grpId="0" animBg="1"/>
      <p:bldP spid="1444452617" grpId="0"/>
      <p:bldP spid="153003404" grpId="0"/>
      <p:bldP spid="223268323" grpId="0"/>
      <p:bldP spid="18364170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662644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IN" sz="3600"/>
              <a:t>Insertion into Left sub-tree of nodes Left child </a:t>
            </a:r>
            <a:endParaRPr lang="en-US" sz="3600"/>
          </a:p>
        </p:txBody>
      </p:sp>
      <p:sp>
        <p:nvSpPr>
          <p:cNvPr id="46471846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IN" b="1"/>
              <a:t>Case 1: </a:t>
            </a:r>
            <a:r>
              <a:rPr lang="en-IN"/>
              <a:t>If node becomes </a:t>
            </a:r>
            <a:r>
              <a:rPr lang="en-IN" b="1">
                <a:solidFill>
                  <a:srgbClr val="C00000"/>
                </a:solidFill>
              </a:rPr>
              <a:t>unbalanced</a:t>
            </a:r>
            <a:r>
              <a:rPr lang="en-IN">
                <a:solidFill>
                  <a:srgbClr val="C00000"/>
                </a:solidFill>
              </a:rPr>
              <a:t> </a:t>
            </a:r>
            <a:r>
              <a:rPr lang="en-IN"/>
              <a:t>after </a:t>
            </a:r>
            <a:r>
              <a:rPr lang="en-IN" b="1">
                <a:solidFill>
                  <a:srgbClr val="C00000"/>
                </a:solidFill>
              </a:rPr>
              <a:t>insertion</a:t>
            </a:r>
            <a:r>
              <a:rPr lang="en-IN">
                <a:solidFill>
                  <a:srgbClr val="C00000"/>
                </a:solidFill>
              </a:rPr>
              <a:t> </a:t>
            </a:r>
            <a:r>
              <a:rPr lang="en-IN"/>
              <a:t>of new node at </a:t>
            </a:r>
            <a:r>
              <a:rPr lang="en-IN" b="1">
                <a:solidFill>
                  <a:srgbClr val="C00000"/>
                </a:solidFill>
              </a:rPr>
              <a:t>Left sub-tree</a:t>
            </a:r>
            <a:r>
              <a:rPr lang="en-IN"/>
              <a:t> of nodes </a:t>
            </a:r>
            <a:r>
              <a:rPr lang="en-IN" b="1">
                <a:solidFill>
                  <a:srgbClr val="C00000"/>
                </a:solidFill>
              </a:rPr>
              <a:t>Left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child</a:t>
            </a:r>
            <a:r>
              <a:rPr lang="en-IN"/>
              <a:t>, then we need to perform </a:t>
            </a:r>
            <a:r>
              <a:rPr lang="en-IN" b="1">
                <a:solidFill>
                  <a:srgbClr val="C00000"/>
                </a:solidFill>
              </a:rPr>
              <a:t>Single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Right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Rotation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/>
              <a:t>of </a:t>
            </a:r>
            <a:r>
              <a:rPr lang="en-IN" b="1">
                <a:solidFill>
                  <a:srgbClr val="C00000"/>
                </a:solidFill>
              </a:rPr>
              <a:t>unbalanced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node</a:t>
            </a:r>
            <a:r>
              <a:rPr lang="en-IN">
                <a:solidFill>
                  <a:srgbClr val="C00000"/>
                </a:solidFill>
              </a:rPr>
              <a:t> </a:t>
            </a:r>
            <a:r>
              <a:rPr lang="en-IN"/>
              <a:t>to balance the node</a:t>
            </a:r>
            <a:endParaRPr/>
          </a:p>
          <a:p>
            <a:pPr>
              <a:defRPr/>
            </a:pPr>
            <a:r>
              <a:rPr lang="en-IN" b="1"/>
              <a:t>Right Rotation</a:t>
            </a:r>
            <a:endParaRPr/>
          </a:p>
          <a:p>
            <a:pPr marL="819150" lvl="1" indent="-457200">
              <a:buFont typeface="+mj-lt"/>
              <a:buAutoNum type="alphaLcPeriod"/>
              <a:defRPr/>
            </a:pPr>
            <a:r>
              <a:rPr lang="en-IN"/>
              <a:t>Detach leaf child’s right sub-tree</a:t>
            </a:r>
            <a:endParaRPr/>
          </a:p>
          <a:p>
            <a:pPr marL="819150" lvl="1" indent="-457200">
              <a:buFont typeface="+mj-lt"/>
              <a:buAutoNum type="alphaLcPeriod"/>
              <a:defRPr/>
            </a:pPr>
            <a:r>
              <a:rPr lang="en-IN"/>
              <a:t>Consider leaf child to be the new parent</a:t>
            </a:r>
            <a:endParaRPr/>
          </a:p>
          <a:p>
            <a:pPr marL="819150" lvl="1" indent="-457200">
              <a:buFont typeface="+mj-lt"/>
              <a:buAutoNum type="alphaLcPeriod"/>
              <a:defRPr/>
            </a:pPr>
            <a:r>
              <a:rPr lang="en-IN"/>
              <a:t>Attach old parent onto right of new parent</a:t>
            </a:r>
            <a:endParaRPr/>
          </a:p>
          <a:p>
            <a:pPr marL="819150" lvl="1" indent="-457200">
              <a:buFont typeface="+mj-lt"/>
              <a:buAutoNum type="alphaLcPeriod"/>
              <a:defRPr/>
            </a:pPr>
            <a:r>
              <a:rPr lang="en-IN"/>
              <a:t>Attach old leaf child’s old right sub-tree as leaf sub-tree of new right child</a:t>
            </a:r>
            <a:endParaRPr/>
          </a:p>
          <a:p>
            <a:pPr>
              <a:defRPr/>
            </a:pPr>
            <a:endParaRPr lang="en-US"/>
          </a:p>
        </p:txBody>
      </p:sp>
      <p:sp>
        <p:nvSpPr>
          <p:cNvPr id="1664020611" name="Oval 3"/>
          <p:cNvSpPr/>
          <p:nvPr/>
        </p:nvSpPr>
        <p:spPr bwMode="auto">
          <a:xfrm>
            <a:off x="4343400" y="4668979"/>
            <a:ext cx="432000" cy="432000"/>
          </a:xfrm>
          <a:prstGeom prst="ellipse">
            <a:avLst/>
          </a:prstGeom>
          <a:pattFill prst="wdUpDiag">
            <a:fgClr>
              <a:srgbClr val="B84742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28840946" name="Oval 4"/>
          <p:cNvSpPr/>
          <p:nvPr/>
        </p:nvSpPr>
        <p:spPr bwMode="auto">
          <a:xfrm>
            <a:off x="3962400" y="5375560"/>
            <a:ext cx="432000" cy="43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71363015" name="Oval 5"/>
          <p:cNvSpPr/>
          <p:nvPr/>
        </p:nvSpPr>
        <p:spPr bwMode="auto">
          <a:xfrm>
            <a:off x="4765965" y="5375560"/>
            <a:ext cx="432000" cy="43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02260868" name="Straight Arrow Connector 6"/>
          <p:cNvCxnSpPr>
            <a:stCxn id="1664020611" idx="3"/>
            <a:endCxn id="1628840946" idx="0"/>
          </p:cNvCxnSpPr>
          <p:nvPr/>
        </p:nvCxnSpPr>
        <p:spPr bwMode="auto">
          <a:xfrm flipH="1">
            <a:off x="4178400" y="5037714"/>
            <a:ext cx="228265" cy="337846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02841610" name="Straight Arrow Connector 7"/>
          <p:cNvCxnSpPr>
            <a:stCxn id="1664020611" idx="5"/>
            <a:endCxn id="971363015" idx="0"/>
          </p:cNvCxnSpPr>
          <p:nvPr/>
        </p:nvCxnSpPr>
        <p:spPr bwMode="auto">
          <a:xfrm>
            <a:off x="4712135" y="5037714"/>
            <a:ext cx="269830" cy="337846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28160002" name="Oval 8"/>
          <p:cNvSpPr/>
          <p:nvPr/>
        </p:nvSpPr>
        <p:spPr bwMode="auto">
          <a:xfrm>
            <a:off x="3581400" y="6116780"/>
            <a:ext cx="432000" cy="432000"/>
          </a:xfrm>
          <a:prstGeom prst="ellipse">
            <a:avLst/>
          </a:prstGeom>
          <a:solidFill>
            <a:srgbClr val="B84742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786144186" name="Straight Arrow Connector 9"/>
          <p:cNvCxnSpPr>
            <a:stCxn id="1628840946" idx="3"/>
            <a:endCxn id="2128160002" idx="0"/>
          </p:cNvCxnSpPr>
          <p:nvPr/>
        </p:nvCxnSpPr>
        <p:spPr bwMode="auto">
          <a:xfrm flipH="1">
            <a:off x="3797400" y="5744295"/>
            <a:ext cx="228265" cy="372485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0514970" name="TextBox 10"/>
          <p:cNvSpPr txBox="1"/>
          <p:nvPr/>
        </p:nvSpPr>
        <p:spPr bwMode="auto">
          <a:xfrm>
            <a:off x="4021335" y="4272089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Case - 1</a:t>
            </a:r>
            <a:endParaRPr lang="en-US" b="1"/>
          </a:p>
        </p:txBody>
      </p:sp>
      <p:sp>
        <p:nvSpPr>
          <p:cNvPr id="519325092" name="TextBox 11"/>
          <p:cNvSpPr txBox="1"/>
          <p:nvPr/>
        </p:nvSpPr>
        <p:spPr bwMode="auto">
          <a:xfrm>
            <a:off x="6172200" y="4881772"/>
            <a:ext cx="2575192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2100" b="1">
                <a:solidFill>
                  <a:srgbClr val="C00000"/>
                </a:solidFill>
              </a:rPr>
              <a:t>Single Right Rotation </a:t>
            </a:r>
            <a:endParaRPr/>
          </a:p>
          <a:p>
            <a:pPr algn="ctr">
              <a:defRPr/>
            </a:pPr>
            <a:r>
              <a:rPr lang="en-IN" sz="2100"/>
              <a:t>of </a:t>
            </a:r>
            <a:endParaRPr/>
          </a:p>
          <a:p>
            <a:pPr algn="ctr">
              <a:defRPr/>
            </a:pPr>
            <a:r>
              <a:rPr lang="en-IN" sz="2100" b="1">
                <a:solidFill>
                  <a:srgbClr val="C00000"/>
                </a:solidFill>
              </a:rPr>
              <a:t>unbalanced node</a:t>
            </a:r>
            <a:endParaRPr lang="en-US" sz="2100">
              <a:solidFill>
                <a:srgbClr val="C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718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02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26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840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84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36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14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786144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8160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51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32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7184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7184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7184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7184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7184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4020611" grpId="0" animBg="1"/>
      <p:bldP spid="1628840946" grpId="0" animBg="1"/>
      <p:bldP spid="971363015" grpId="0" animBg="1"/>
      <p:bldP spid="2128160002" grpId="0" animBg="1"/>
      <p:bldP spid="250514970" grpId="0"/>
      <p:bldP spid="51932509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4728683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IN" sz="4000"/>
              <a:t>Insertion into Left sub-tree of nodes Left child </a:t>
            </a:r>
            <a:endParaRPr lang="en-US"/>
          </a:p>
        </p:txBody>
      </p:sp>
      <p:sp>
        <p:nvSpPr>
          <p:cNvPr id="1775381588" name="Oval 26" descr="20%"/>
          <p:cNvSpPr>
            <a:spLocks noChangeArrowheads="1"/>
          </p:cNvSpPr>
          <p:nvPr/>
        </p:nvSpPr>
        <p:spPr bwMode="auto">
          <a:xfrm>
            <a:off x="2625317" y="1004451"/>
            <a:ext cx="554577" cy="569789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80467" tIns="40234" rIns="80467" bIns="40234" numCol="1" anchor="ctr" anchorCtr="0" compatLnSpc="1">
            <a:prstTxWarp prst="textNoShape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gu-IN" sz="2400" b="1">
                <a:solidFill>
                  <a:schemeClr val="bg1"/>
                </a:solidFill>
                <a:latin typeface="Calibri"/>
                <a:ea typeface="Calibri"/>
                <a:cs typeface="Shruti"/>
              </a:rPr>
              <a:t>J</a:t>
            </a:r>
            <a:endParaRPr lang="gu-IN" sz="24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89875814" name="Oval 25"/>
          <p:cNvSpPr>
            <a:spLocks noChangeArrowheads="1"/>
          </p:cNvSpPr>
          <p:nvPr/>
        </p:nvSpPr>
        <p:spPr bwMode="auto">
          <a:xfrm>
            <a:off x="1890877" y="1557274"/>
            <a:ext cx="554577" cy="569789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80467" tIns="40234" rIns="80467" bIns="40234" numCol="1" anchor="ctr" anchorCtr="0" compatLnSpc="1">
            <a:prstTxWarp prst="textNoShape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gu-IN" sz="2400" b="1">
                <a:solidFill>
                  <a:schemeClr val="bg1"/>
                </a:solidFill>
                <a:latin typeface="Calibri"/>
                <a:ea typeface="Calibri"/>
                <a:cs typeface="Shruti"/>
              </a:rPr>
              <a:t>K</a:t>
            </a:r>
            <a:endParaRPr/>
          </a:p>
        </p:txBody>
      </p:sp>
      <p:sp>
        <p:nvSpPr>
          <p:cNvPr id="157817640" name="Oval 24"/>
          <p:cNvSpPr>
            <a:spLocks noChangeArrowheads="1"/>
          </p:cNvSpPr>
          <p:nvPr/>
        </p:nvSpPr>
        <p:spPr bwMode="auto">
          <a:xfrm>
            <a:off x="3419711" y="1557274"/>
            <a:ext cx="554577" cy="569789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80467" tIns="40234" rIns="80467" bIns="40234" numCol="1" anchor="ctr" anchorCtr="0" compatLnSpc="1">
            <a:prstTxWarp prst="textNoShape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gu-IN" sz="2400" b="1">
                <a:solidFill>
                  <a:schemeClr val="bg1"/>
                </a:solidFill>
                <a:latin typeface="Calibri"/>
                <a:ea typeface="Calibri"/>
                <a:cs typeface="Shruti"/>
              </a:rPr>
              <a:t>Z</a:t>
            </a:r>
            <a:endParaRPr/>
          </a:p>
        </p:txBody>
      </p:sp>
      <p:sp>
        <p:nvSpPr>
          <p:cNvPr id="2036511055" name="Oval 23"/>
          <p:cNvSpPr>
            <a:spLocks noChangeArrowheads="1"/>
          </p:cNvSpPr>
          <p:nvPr/>
        </p:nvSpPr>
        <p:spPr bwMode="auto">
          <a:xfrm>
            <a:off x="1381266" y="2333345"/>
            <a:ext cx="554577" cy="569789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80467" tIns="40234" rIns="80467" bIns="40234" numCol="1" anchor="ctr" anchorCtr="0" compatLnSpc="1">
            <a:prstTxWarp prst="textNoShape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gu-IN" sz="2400" b="1">
                <a:solidFill>
                  <a:schemeClr val="bg1"/>
                </a:solidFill>
                <a:latin typeface="Calibri"/>
                <a:ea typeface="Calibri"/>
                <a:cs typeface="Shruti"/>
              </a:rPr>
              <a:t>X</a:t>
            </a:r>
            <a:endParaRPr/>
          </a:p>
        </p:txBody>
      </p:sp>
      <p:sp>
        <p:nvSpPr>
          <p:cNvPr id="1276834593" name="Oval 22"/>
          <p:cNvSpPr>
            <a:spLocks noChangeArrowheads="1"/>
          </p:cNvSpPr>
          <p:nvPr/>
        </p:nvSpPr>
        <p:spPr bwMode="auto">
          <a:xfrm>
            <a:off x="2445454" y="2333345"/>
            <a:ext cx="554577" cy="569789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80467" tIns="40234" rIns="80467" bIns="40234" numCol="1" anchor="ctr" anchorCtr="0" compatLnSpc="1">
            <a:prstTxWarp prst="textNoShape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gu-IN" sz="2400" b="1">
                <a:solidFill>
                  <a:schemeClr val="bg1"/>
                </a:solidFill>
                <a:latin typeface="Calibri"/>
                <a:ea typeface="Calibri"/>
                <a:cs typeface="Shruti"/>
              </a:rPr>
              <a:t>Y</a:t>
            </a:r>
            <a:endParaRPr/>
          </a:p>
        </p:txBody>
      </p:sp>
      <p:sp>
        <p:nvSpPr>
          <p:cNvPr id="2110474730" name="Oval 21"/>
          <p:cNvSpPr>
            <a:spLocks noChangeArrowheads="1"/>
          </p:cNvSpPr>
          <p:nvPr/>
        </p:nvSpPr>
        <p:spPr bwMode="auto">
          <a:xfrm>
            <a:off x="725371" y="3048001"/>
            <a:ext cx="554577" cy="569789"/>
          </a:xfrm>
          <a:prstGeom prst="ellipse">
            <a:avLst/>
          </a:prstGeom>
          <a:solidFill>
            <a:srgbClr val="B84742"/>
          </a:solidFill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80467" tIns="40234" rIns="80467" bIns="40234" numCol="1" anchor="ctr" anchorCtr="0" compatLnSpc="1">
            <a:prstTxWarp prst="textNoShape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gu-IN" sz="2400" b="1">
                <a:solidFill>
                  <a:schemeClr val="bg1"/>
                </a:solidFill>
                <a:latin typeface="Calibri"/>
                <a:ea typeface="Calibri"/>
                <a:cs typeface="Shruti"/>
              </a:rPr>
              <a:t>N</a:t>
            </a:r>
            <a:endParaRPr/>
          </a:p>
        </p:txBody>
      </p:sp>
      <p:sp>
        <p:nvSpPr>
          <p:cNvPr id="77809773" name="AutoShape 20"/>
          <p:cNvSpPr>
            <a:spLocks noChangeShapeType="1"/>
          </p:cNvSpPr>
          <p:nvPr/>
        </p:nvSpPr>
        <p:spPr bwMode="auto">
          <a:xfrm flipH="1">
            <a:off x="2363516" y="1490271"/>
            <a:ext cx="343738" cy="166155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182230769" name="AutoShape 19"/>
          <p:cNvSpPr>
            <a:spLocks noChangeShapeType="1"/>
          </p:cNvSpPr>
          <p:nvPr/>
        </p:nvSpPr>
        <p:spPr bwMode="auto">
          <a:xfrm>
            <a:off x="3098955" y="1490271"/>
            <a:ext cx="401693" cy="166155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634702153" name="AutoShape 18"/>
          <p:cNvSpPr>
            <a:spLocks noChangeShapeType="1"/>
          </p:cNvSpPr>
          <p:nvPr/>
        </p:nvSpPr>
        <p:spPr bwMode="auto">
          <a:xfrm flipH="1">
            <a:off x="1720824" y="2014473"/>
            <a:ext cx="215018" cy="3048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937497693" name="AutoShape 17"/>
          <p:cNvSpPr>
            <a:spLocks noChangeShapeType="1"/>
          </p:cNvSpPr>
          <p:nvPr/>
        </p:nvSpPr>
        <p:spPr bwMode="auto">
          <a:xfrm>
            <a:off x="2363517" y="2014473"/>
            <a:ext cx="359725" cy="32488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669935527" name="AutoShape 16"/>
          <p:cNvSpPr>
            <a:spLocks noChangeShapeType="1"/>
          </p:cNvSpPr>
          <p:nvPr/>
        </p:nvSpPr>
        <p:spPr bwMode="auto">
          <a:xfrm flipH="1">
            <a:off x="1169836" y="2803269"/>
            <a:ext cx="324484" cy="32868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29992701" name="TextBox 14"/>
          <p:cNvSpPr txBox="1"/>
          <p:nvPr/>
        </p:nvSpPr>
        <p:spPr bwMode="auto">
          <a:xfrm>
            <a:off x="1106371" y="852050"/>
            <a:ext cx="1412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b="1">
                <a:solidFill>
                  <a:srgbClr val="C00000"/>
                </a:solidFill>
              </a:rPr>
              <a:t>Critical Node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123844393" name="TextBox 15"/>
          <p:cNvSpPr txBox="1"/>
          <p:nvPr/>
        </p:nvSpPr>
        <p:spPr bwMode="auto">
          <a:xfrm>
            <a:off x="5128468" y="1487270"/>
            <a:ext cx="9653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Right </a:t>
            </a:r>
            <a:endParaRPr/>
          </a:p>
          <a:p>
            <a:pPr algn="ctr">
              <a:defRPr/>
            </a:pPr>
            <a:r>
              <a:rPr lang="en-IN" b="1"/>
              <a:t>Rotation</a:t>
            </a:r>
            <a:endParaRPr lang="en-US" b="1"/>
          </a:p>
        </p:txBody>
      </p:sp>
      <p:cxnSp>
        <p:nvCxnSpPr>
          <p:cNvPr id="1511993019" name="Straight Arrow Connector 16"/>
          <p:cNvCxnSpPr/>
          <p:nvPr/>
        </p:nvCxnSpPr>
        <p:spPr bwMode="auto">
          <a:xfrm>
            <a:off x="4925332" y="2209800"/>
            <a:ext cx="1371600" cy="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89303189" name="TextBox 17"/>
          <p:cNvSpPr txBox="1"/>
          <p:nvPr/>
        </p:nvSpPr>
        <p:spPr bwMode="auto">
          <a:xfrm>
            <a:off x="1096660" y="2433573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2053628984" name="TextBox 18"/>
          <p:cNvSpPr txBox="1"/>
          <p:nvPr/>
        </p:nvSpPr>
        <p:spPr bwMode="auto">
          <a:xfrm>
            <a:off x="3033036" y="2433573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599535060" name="TextBox 19"/>
          <p:cNvSpPr txBox="1"/>
          <p:nvPr/>
        </p:nvSpPr>
        <p:spPr bwMode="auto">
          <a:xfrm>
            <a:off x="1563570" y="1657502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273385553" name="TextBox 20"/>
          <p:cNvSpPr txBox="1"/>
          <p:nvPr/>
        </p:nvSpPr>
        <p:spPr bwMode="auto">
          <a:xfrm>
            <a:off x="3996233" y="1657502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720021087" name="TextBox 21"/>
          <p:cNvSpPr txBox="1"/>
          <p:nvPr/>
        </p:nvSpPr>
        <p:spPr bwMode="auto">
          <a:xfrm>
            <a:off x="3179708" y="101611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  <p:sp>
        <p:nvSpPr>
          <p:cNvPr id="47115845" name="TextBox 22"/>
          <p:cNvSpPr txBox="1"/>
          <p:nvPr/>
        </p:nvSpPr>
        <p:spPr bwMode="auto">
          <a:xfrm>
            <a:off x="1265949" y="314822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b="1">
                <a:solidFill>
                  <a:srgbClr val="C00000"/>
                </a:solidFill>
              </a:rPr>
              <a:t>B’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383563448" name="TextBox 23"/>
          <p:cNvSpPr txBox="1"/>
          <p:nvPr/>
        </p:nvSpPr>
        <p:spPr bwMode="auto">
          <a:xfrm>
            <a:off x="877770" y="2433573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b="1">
                <a:solidFill>
                  <a:srgbClr val="C00000"/>
                </a:solidFill>
              </a:rPr>
              <a:t>L’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065295803" name="TextBox 24"/>
          <p:cNvSpPr txBox="1"/>
          <p:nvPr/>
        </p:nvSpPr>
        <p:spPr bwMode="auto">
          <a:xfrm>
            <a:off x="3256114" y="2433573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b="1">
                <a:solidFill>
                  <a:srgbClr val="C00000"/>
                </a:solidFill>
              </a:rPr>
              <a:t>B’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906144523" name="TextBox 25"/>
          <p:cNvSpPr txBox="1"/>
          <p:nvPr/>
        </p:nvSpPr>
        <p:spPr bwMode="auto">
          <a:xfrm>
            <a:off x="1334970" y="1657502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b="1">
                <a:solidFill>
                  <a:srgbClr val="C00000"/>
                </a:solidFill>
              </a:rPr>
              <a:t>L’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476172226" name="TextBox 26"/>
          <p:cNvSpPr txBox="1"/>
          <p:nvPr/>
        </p:nvSpPr>
        <p:spPr bwMode="auto">
          <a:xfrm>
            <a:off x="4241723" y="1657502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b="1">
                <a:solidFill>
                  <a:srgbClr val="C00000"/>
                </a:solidFill>
              </a:rPr>
              <a:t>B’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182838204" name="Oval 27"/>
          <p:cNvSpPr/>
          <p:nvPr/>
        </p:nvSpPr>
        <p:spPr bwMode="auto">
          <a:xfrm>
            <a:off x="8010064" y="1325853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K</a:t>
            </a:r>
            <a:endParaRPr lang="en-US" sz="2400" b="1"/>
          </a:p>
        </p:txBody>
      </p:sp>
      <p:sp>
        <p:nvSpPr>
          <p:cNvPr id="547988285" name="Oval 28"/>
          <p:cNvSpPr/>
          <p:nvPr/>
        </p:nvSpPr>
        <p:spPr bwMode="auto">
          <a:xfrm>
            <a:off x="7400464" y="2017932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X</a:t>
            </a:r>
            <a:endParaRPr lang="en-US" sz="2400" b="1"/>
          </a:p>
        </p:txBody>
      </p:sp>
      <p:sp>
        <p:nvSpPr>
          <p:cNvPr id="257128031" name="Oval 29"/>
          <p:cNvSpPr/>
          <p:nvPr/>
        </p:nvSpPr>
        <p:spPr bwMode="auto">
          <a:xfrm>
            <a:off x="6830332" y="2743201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N</a:t>
            </a:r>
            <a:endParaRPr lang="en-US" sz="2400" b="1"/>
          </a:p>
        </p:txBody>
      </p:sp>
      <p:sp>
        <p:nvSpPr>
          <p:cNvPr id="2006947205" name="Oval 30"/>
          <p:cNvSpPr/>
          <p:nvPr/>
        </p:nvSpPr>
        <p:spPr bwMode="auto">
          <a:xfrm>
            <a:off x="8086264" y="2735771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Y</a:t>
            </a:r>
            <a:endParaRPr lang="en-US" sz="2400" b="1"/>
          </a:p>
        </p:txBody>
      </p:sp>
      <p:cxnSp>
        <p:nvCxnSpPr>
          <p:cNvPr id="1533604787" name="Straight Arrow Connector 31"/>
          <p:cNvCxnSpPr>
            <a:stCxn id="1182838204" idx="3"/>
            <a:endCxn id="547988285" idx="7"/>
          </p:cNvCxnSpPr>
          <p:nvPr/>
        </p:nvCxnSpPr>
        <p:spPr bwMode="auto">
          <a:xfrm flipH="1">
            <a:off x="7824398" y="1749786"/>
            <a:ext cx="258401" cy="34088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45233478" name="Straight Arrow Connector 32"/>
          <p:cNvCxnSpPr>
            <a:stCxn id="547988285" idx="3"/>
            <a:endCxn id="257128031" idx="7"/>
          </p:cNvCxnSpPr>
          <p:nvPr/>
        </p:nvCxnSpPr>
        <p:spPr bwMode="auto">
          <a:xfrm flipH="1">
            <a:off x="7254266" y="2441865"/>
            <a:ext cx="218932" cy="37407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18940012" name="Oval 33"/>
          <p:cNvSpPr/>
          <p:nvPr/>
        </p:nvSpPr>
        <p:spPr bwMode="auto">
          <a:xfrm>
            <a:off x="8582933" y="1981201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J</a:t>
            </a:r>
            <a:endParaRPr lang="en-US" sz="2400" b="1"/>
          </a:p>
        </p:txBody>
      </p:sp>
      <p:sp>
        <p:nvSpPr>
          <p:cNvPr id="1218803357" name="Oval 34"/>
          <p:cNvSpPr/>
          <p:nvPr/>
        </p:nvSpPr>
        <p:spPr bwMode="auto">
          <a:xfrm>
            <a:off x="9153064" y="2743201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Z</a:t>
            </a:r>
            <a:endParaRPr lang="en-US" sz="2400" b="1"/>
          </a:p>
        </p:txBody>
      </p:sp>
      <p:cxnSp>
        <p:nvCxnSpPr>
          <p:cNvPr id="570729548" name="Straight Arrow Connector 35"/>
          <p:cNvCxnSpPr>
            <a:stCxn id="1182838204" idx="5"/>
            <a:endCxn id="1418940012" idx="1"/>
          </p:cNvCxnSpPr>
          <p:nvPr/>
        </p:nvCxnSpPr>
        <p:spPr bwMode="auto">
          <a:xfrm>
            <a:off x="8433997" y="1749787"/>
            <a:ext cx="221670" cy="304149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22520537" name="Straight Arrow Connector 36"/>
          <p:cNvCxnSpPr>
            <a:stCxn id="1418940012" idx="5"/>
            <a:endCxn id="1218803357" idx="1"/>
          </p:cNvCxnSpPr>
          <p:nvPr/>
        </p:nvCxnSpPr>
        <p:spPr bwMode="auto">
          <a:xfrm>
            <a:off x="9006866" y="2405135"/>
            <a:ext cx="218932" cy="410801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38287790" name="Straight Arrow Connector 37"/>
          <p:cNvCxnSpPr>
            <a:stCxn id="1418940012" idx="3"/>
            <a:endCxn id="2006947205" idx="7"/>
          </p:cNvCxnSpPr>
          <p:nvPr/>
        </p:nvCxnSpPr>
        <p:spPr bwMode="auto">
          <a:xfrm flipH="1">
            <a:off x="8510197" y="2405135"/>
            <a:ext cx="145470" cy="403371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5346612" name="Oval 38"/>
          <p:cNvSpPr/>
          <p:nvPr/>
        </p:nvSpPr>
        <p:spPr bwMode="auto">
          <a:xfrm>
            <a:off x="5362798" y="2590801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Y</a:t>
            </a:r>
            <a:endParaRPr lang="en-US" sz="2400" b="1"/>
          </a:p>
        </p:txBody>
      </p:sp>
      <p:sp>
        <p:nvSpPr>
          <p:cNvPr id="321207027" name="TextBox 39"/>
          <p:cNvSpPr txBox="1"/>
          <p:nvPr/>
        </p:nvSpPr>
        <p:spPr bwMode="auto">
          <a:xfrm>
            <a:off x="6525532" y="281940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9994727" name="TextBox 40"/>
          <p:cNvSpPr txBox="1"/>
          <p:nvPr/>
        </p:nvSpPr>
        <p:spPr bwMode="auto">
          <a:xfrm>
            <a:off x="7768288" y="281940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83575361" name="TextBox 41"/>
          <p:cNvSpPr txBox="1"/>
          <p:nvPr/>
        </p:nvSpPr>
        <p:spPr bwMode="auto">
          <a:xfrm>
            <a:off x="8878022" y="281940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14926481" name="TextBox 42"/>
          <p:cNvSpPr txBox="1"/>
          <p:nvPr/>
        </p:nvSpPr>
        <p:spPr bwMode="auto">
          <a:xfrm>
            <a:off x="7095571" y="2004152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  <p:sp>
        <p:nvSpPr>
          <p:cNvPr id="958490588" name="TextBox 43"/>
          <p:cNvSpPr txBox="1"/>
          <p:nvPr/>
        </p:nvSpPr>
        <p:spPr bwMode="auto">
          <a:xfrm>
            <a:off x="8268422" y="2065913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2131055150" name="TextBox 44"/>
          <p:cNvSpPr txBox="1"/>
          <p:nvPr/>
        </p:nvSpPr>
        <p:spPr bwMode="auto">
          <a:xfrm>
            <a:off x="7695553" y="1302603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cxnSp>
        <p:nvCxnSpPr>
          <p:cNvPr id="1718364069" name="Straight Connector 88"/>
          <p:cNvCxnSpPr/>
          <p:nvPr/>
        </p:nvCxnSpPr>
        <p:spPr bwMode="auto">
          <a:xfrm>
            <a:off x="792605" y="3657600"/>
            <a:ext cx="8915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01786000" name="Oval 133"/>
          <p:cNvSpPr/>
          <p:nvPr/>
        </p:nvSpPr>
        <p:spPr bwMode="auto">
          <a:xfrm>
            <a:off x="2921721" y="38100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1500" b="1"/>
              <a:t>13</a:t>
            </a:r>
            <a:endParaRPr lang="en-US" sz="1500" b="1"/>
          </a:p>
        </p:txBody>
      </p:sp>
      <p:sp>
        <p:nvSpPr>
          <p:cNvPr id="540763266" name="Oval 134"/>
          <p:cNvSpPr/>
          <p:nvPr/>
        </p:nvSpPr>
        <p:spPr bwMode="auto">
          <a:xfrm>
            <a:off x="2258333" y="44196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1500" b="1"/>
              <a:t>7</a:t>
            </a:r>
            <a:endParaRPr lang="en-US" sz="1500" b="1"/>
          </a:p>
        </p:txBody>
      </p:sp>
      <p:sp>
        <p:nvSpPr>
          <p:cNvPr id="1018116904" name="Oval 135"/>
          <p:cNvSpPr/>
          <p:nvPr/>
        </p:nvSpPr>
        <p:spPr bwMode="auto">
          <a:xfrm>
            <a:off x="3531321" y="44196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1500" b="1"/>
              <a:t>15</a:t>
            </a:r>
            <a:endParaRPr lang="en-US" sz="1500" b="1"/>
          </a:p>
        </p:txBody>
      </p:sp>
      <p:sp>
        <p:nvSpPr>
          <p:cNvPr id="1136090092" name="Oval 136"/>
          <p:cNvSpPr/>
          <p:nvPr/>
        </p:nvSpPr>
        <p:spPr bwMode="auto">
          <a:xfrm>
            <a:off x="1626321" y="51816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1500" b="1"/>
              <a:t>5</a:t>
            </a:r>
            <a:endParaRPr lang="en-US" sz="1500" b="1"/>
          </a:p>
        </p:txBody>
      </p:sp>
      <p:sp>
        <p:nvSpPr>
          <p:cNvPr id="69324429" name="Oval 137"/>
          <p:cNvSpPr/>
          <p:nvPr/>
        </p:nvSpPr>
        <p:spPr bwMode="auto">
          <a:xfrm>
            <a:off x="2845521" y="51816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1500" b="1"/>
              <a:t>10</a:t>
            </a:r>
            <a:endParaRPr lang="en-US" sz="1500" b="1"/>
          </a:p>
        </p:txBody>
      </p:sp>
      <p:cxnSp>
        <p:nvCxnSpPr>
          <p:cNvPr id="1602689304" name="Straight Arrow Connector 138"/>
          <p:cNvCxnSpPr>
            <a:stCxn id="1801786000" idx="3"/>
            <a:endCxn id="540763266" idx="7"/>
          </p:cNvCxnSpPr>
          <p:nvPr/>
        </p:nvCxnSpPr>
        <p:spPr bwMode="auto">
          <a:xfrm flipH="1">
            <a:off x="2713618" y="4265285"/>
            <a:ext cx="286218" cy="23243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5979832" name="Straight Arrow Connector 139"/>
          <p:cNvCxnSpPr>
            <a:stCxn id="540763266" idx="3"/>
            <a:endCxn id="1136090092" idx="0"/>
          </p:cNvCxnSpPr>
          <p:nvPr/>
        </p:nvCxnSpPr>
        <p:spPr bwMode="auto">
          <a:xfrm flipH="1">
            <a:off x="1893021" y="4874885"/>
            <a:ext cx="443427" cy="30671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50679525" name="Straight Arrow Connector 140"/>
          <p:cNvCxnSpPr>
            <a:stCxn id="540763266" idx="5"/>
            <a:endCxn id="69324429" idx="0"/>
          </p:cNvCxnSpPr>
          <p:nvPr/>
        </p:nvCxnSpPr>
        <p:spPr bwMode="auto">
          <a:xfrm>
            <a:off x="2713618" y="4874885"/>
            <a:ext cx="398603" cy="30671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31028250" name="Straight Arrow Connector 141"/>
          <p:cNvCxnSpPr>
            <a:stCxn id="1801786000" idx="5"/>
            <a:endCxn id="1018116904" idx="1"/>
          </p:cNvCxnSpPr>
          <p:nvPr/>
        </p:nvCxnSpPr>
        <p:spPr bwMode="auto">
          <a:xfrm>
            <a:off x="3377005" y="4265285"/>
            <a:ext cx="232430" cy="23243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01745335" name="TextBox 142"/>
          <p:cNvSpPr txBox="1"/>
          <p:nvPr/>
        </p:nvSpPr>
        <p:spPr bwMode="auto">
          <a:xfrm>
            <a:off x="1321521" y="5286718"/>
            <a:ext cx="29206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1500" b="1"/>
              <a:t>B</a:t>
            </a:r>
            <a:endParaRPr lang="en-US" sz="1500" b="1"/>
          </a:p>
        </p:txBody>
      </p:sp>
      <p:sp>
        <p:nvSpPr>
          <p:cNvPr id="422414268" name="TextBox 143"/>
          <p:cNvSpPr txBox="1"/>
          <p:nvPr/>
        </p:nvSpPr>
        <p:spPr bwMode="auto">
          <a:xfrm>
            <a:off x="2540722" y="5286718"/>
            <a:ext cx="29206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1500" b="1"/>
              <a:t>B</a:t>
            </a:r>
            <a:endParaRPr lang="en-US" sz="1500" b="1"/>
          </a:p>
        </p:txBody>
      </p:sp>
      <p:sp>
        <p:nvSpPr>
          <p:cNvPr id="1896656045" name="TextBox 144"/>
          <p:cNvSpPr txBox="1"/>
          <p:nvPr/>
        </p:nvSpPr>
        <p:spPr bwMode="auto">
          <a:xfrm>
            <a:off x="1993162" y="4524718"/>
            <a:ext cx="29206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1500" b="1"/>
              <a:t>B</a:t>
            </a:r>
            <a:endParaRPr lang="en-US" sz="1500" b="1"/>
          </a:p>
        </p:txBody>
      </p:sp>
      <p:sp>
        <p:nvSpPr>
          <p:cNvPr id="85919815" name="TextBox 145"/>
          <p:cNvSpPr txBox="1"/>
          <p:nvPr/>
        </p:nvSpPr>
        <p:spPr bwMode="auto">
          <a:xfrm>
            <a:off x="3239255" y="4524718"/>
            <a:ext cx="29206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1500" b="1"/>
              <a:t>B</a:t>
            </a:r>
            <a:endParaRPr lang="en-US" sz="1500" b="1"/>
          </a:p>
        </p:txBody>
      </p:sp>
      <p:sp>
        <p:nvSpPr>
          <p:cNvPr id="378879813" name="TextBox 146"/>
          <p:cNvSpPr txBox="1"/>
          <p:nvPr/>
        </p:nvSpPr>
        <p:spPr bwMode="auto">
          <a:xfrm>
            <a:off x="3488692" y="3915118"/>
            <a:ext cx="27603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1500" b="1"/>
              <a:t>L</a:t>
            </a:r>
            <a:endParaRPr lang="en-US" sz="1500" b="1"/>
          </a:p>
        </p:txBody>
      </p:sp>
      <p:sp>
        <p:nvSpPr>
          <p:cNvPr id="1190404364" name="TextBox 147"/>
          <p:cNvSpPr txBox="1"/>
          <p:nvPr/>
        </p:nvSpPr>
        <p:spPr bwMode="auto">
          <a:xfrm>
            <a:off x="4508864" y="3784901"/>
            <a:ext cx="144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b="1"/>
              <a:t>Insert node </a:t>
            </a:r>
            <a:r>
              <a:rPr lang="en-IN" b="1">
                <a:solidFill>
                  <a:srgbClr val="C00000"/>
                </a:solidFill>
              </a:rPr>
              <a:t>3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69645924" name="Oval 148"/>
          <p:cNvSpPr/>
          <p:nvPr/>
        </p:nvSpPr>
        <p:spPr bwMode="auto">
          <a:xfrm>
            <a:off x="1245321" y="5867399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1500" b="1"/>
              <a:t>3</a:t>
            </a:r>
            <a:endParaRPr lang="en-US" sz="1500" b="1"/>
          </a:p>
        </p:txBody>
      </p:sp>
      <p:cxnSp>
        <p:nvCxnSpPr>
          <p:cNvPr id="400670866" name="Straight Arrow Connector 149"/>
          <p:cNvCxnSpPr>
            <a:stCxn id="1136090092" idx="3"/>
            <a:endCxn id="69645924" idx="0"/>
          </p:cNvCxnSpPr>
          <p:nvPr/>
        </p:nvCxnSpPr>
        <p:spPr bwMode="auto">
          <a:xfrm flipH="1">
            <a:off x="1512021" y="5636885"/>
            <a:ext cx="192415" cy="23051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45394099" name="TextBox 150"/>
          <p:cNvSpPr txBox="1"/>
          <p:nvPr/>
        </p:nvSpPr>
        <p:spPr bwMode="auto">
          <a:xfrm>
            <a:off x="1778721" y="5972518"/>
            <a:ext cx="34176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1500" b="1">
                <a:solidFill>
                  <a:srgbClr val="C00000"/>
                </a:solidFill>
              </a:rPr>
              <a:t>B’</a:t>
            </a:r>
            <a:endParaRPr lang="en-US" sz="1500" b="1">
              <a:solidFill>
                <a:srgbClr val="C00000"/>
              </a:solidFill>
            </a:endParaRPr>
          </a:p>
        </p:txBody>
      </p:sp>
      <p:sp>
        <p:nvSpPr>
          <p:cNvPr id="520187113" name="TextBox 151"/>
          <p:cNvSpPr txBox="1"/>
          <p:nvPr/>
        </p:nvSpPr>
        <p:spPr bwMode="auto">
          <a:xfrm>
            <a:off x="1104142" y="5286718"/>
            <a:ext cx="31931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1500" b="1">
                <a:solidFill>
                  <a:srgbClr val="C00000"/>
                </a:solidFill>
              </a:rPr>
              <a:t>L’</a:t>
            </a:r>
            <a:endParaRPr lang="en-US" sz="1500" b="1">
              <a:solidFill>
                <a:srgbClr val="C00000"/>
              </a:solidFill>
            </a:endParaRPr>
          </a:p>
        </p:txBody>
      </p:sp>
      <p:sp>
        <p:nvSpPr>
          <p:cNvPr id="528528836" name="TextBox 152"/>
          <p:cNvSpPr txBox="1"/>
          <p:nvPr/>
        </p:nvSpPr>
        <p:spPr bwMode="auto">
          <a:xfrm>
            <a:off x="2388321" y="5286718"/>
            <a:ext cx="34176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1500" b="1">
                <a:solidFill>
                  <a:srgbClr val="C00000"/>
                </a:solidFill>
              </a:rPr>
              <a:t>B’</a:t>
            </a:r>
            <a:endParaRPr lang="en-US" sz="1500" b="1">
              <a:solidFill>
                <a:srgbClr val="C00000"/>
              </a:solidFill>
            </a:endParaRPr>
          </a:p>
        </p:txBody>
      </p:sp>
      <p:sp>
        <p:nvSpPr>
          <p:cNvPr id="1048556780" name="TextBox 153"/>
          <p:cNvSpPr txBox="1"/>
          <p:nvPr/>
        </p:nvSpPr>
        <p:spPr bwMode="auto">
          <a:xfrm>
            <a:off x="1812354" y="4524718"/>
            <a:ext cx="31931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1500" b="1">
                <a:solidFill>
                  <a:srgbClr val="C00000"/>
                </a:solidFill>
              </a:rPr>
              <a:t>L’</a:t>
            </a:r>
            <a:endParaRPr lang="en-US" sz="1500" b="1">
              <a:solidFill>
                <a:srgbClr val="C00000"/>
              </a:solidFill>
            </a:endParaRPr>
          </a:p>
        </p:txBody>
      </p:sp>
      <p:sp>
        <p:nvSpPr>
          <p:cNvPr id="2029550985" name="TextBox 154"/>
          <p:cNvSpPr txBox="1"/>
          <p:nvPr/>
        </p:nvSpPr>
        <p:spPr bwMode="auto">
          <a:xfrm>
            <a:off x="3074121" y="4524718"/>
            <a:ext cx="34176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1500" b="1">
                <a:solidFill>
                  <a:srgbClr val="C00000"/>
                </a:solidFill>
              </a:rPr>
              <a:t>B’</a:t>
            </a:r>
            <a:endParaRPr lang="en-US" sz="1500" b="1">
              <a:solidFill>
                <a:srgbClr val="C00000"/>
              </a:solidFill>
            </a:endParaRPr>
          </a:p>
        </p:txBody>
      </p:sp>
      <p:sp>
        <p:nvSpPr>
          <p:cNvPr id="1503284358" name="TextBox 155"/>
          <p:cNvSpPr txBox="1"/>
          <p:nvPr/>
        </p:nvSpPr>
        <p:spPr bwMode="auto">
          <a:xfrm>
            <a:off x="1385981" y="3867836"/>
            <a:ext cx="1385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Critical Node</a:t>
            </a:r>
            <a:endParaRPr lang="en-US" b="1">
              <a:solidFill>
                <a:srgbClr val="C00000"/>
              </a:solidFill>
            </a:endParaRPr>
          </a:p>
        </p:txBody>
      </p:sp>
      <p:cxnSp>
        <p:nvCxnSpPr>
          <p:cNvPr id="1859638219" name="Straight Arrow Connector 156"/>
          <p:cNvCxnSpPr/>
          <p:nvPr/>
        </p:nvCxnSpPr>
        <p:spPr bwMode="auto">
          <a:xfrm>
            <a:off x="4546179" y="4953000"/>
            <a:ext cx="1371600" cy="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47777256" name="TextBox 157"/>
          <p:cNvSpPr txBox="1"/>
          <p:nvPr/>
        </p:nvSpPr>
        <p:spPr bwMode="auto">
          <a:xfrm>
            <a:off x="4749315" y="4265286"/>
            <a:ext cx="9653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Right </a:t>
            </a:r>
            <a:endParaRPr/>
          </a:p>
          <a:p>
            <a:pPr algn="ctr">
              <a:defRPr/>
            </a:pPr>
            <a:r>
              <a:rPr lang="en-IN" b="1"/>
              <a:t>Rotation</a:t>
            </a:r>
            <a:endParaRPr lang="en-US" b="1"/>
          </a:p>
        </p:txBody>
      </p:sp>
      <p:sp>
        <p:nvSpPr>
          <p:cNvPr id="1364911708" name="Oval 158"/>
          <p:cNvSpPr/>
          <p:nvPr/>
        </p:nvSpPr>
        <p:spPr bwMode="auto">
          <a:xfrm>
            <a:off x="4965279" y="51562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1500" b="1"/>
              <a:t>10</a:t>
            </a:r>
            <a:endParaRPr lang="en-US" sz="1500" b="1"/>
          </a:p>
        </p:txBody>
      </p:sp>
      <p:sp>
        <p:nvSpPr>
          <p:cNvPr id="673898765" name="Oval 159"/>
          <p:cNvSpPr/>
          <p:nvPr/>
        </p:nvSpPr>
        <p:spPr bwMode="auto">
          <a:xfrm>
            <a:off x="7646121" y="3902334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1500" b="1"/>
              <a:t>7</a:t>
            </a:r>
            <a:endParaRPr lang="en-US" sz="1500" b="1"/>
          </a:p>
        </p:txBody>
      </p:sp>
      <p:sp>
        <p:nvSpPr>
          <p:cNvPr id="1282341381" name="Oval 160"/>
          <p:cNvSpPr/>
          <p:nvPr/>
        </p:nvSpPr>
        <p:spPr bwMode="auto">
          <a:xfrm>
            <a:off x="7036520" y="4664334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1500" b="1"/>
              <a:t>5</a:t>
            </a:r>
            <a:endParaRPr lang="en-US" sz="1500" b="1"/>
          </a:p>
        </p:txBody>
      </p:sp>
      <p:cxnSp>
        <p:nvCxnSpPr>
          <p:cNvPr id="868155105" name="Straight Arrow Connector 161"/>
          <p:cNvCxnSpPr>
            <a:stCxn id="673898765" idx="3"/>
            <a:endCxn id="1282341381" idx="7"/>
          </p:cNvCxnSpPr>
          <p:nvPr/>
        </p:nvCxnSpPr>
        <p:spPr bwMode="auto">
          <a:xfrm flipH="1">
            <a:off x="7491806" y="4357619"/>
            <a:ext cx="232430" cy="38483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36696891" name="Oval 162"/>
          <p:cNvSpPr/>
          <p:nvPr/>
        </p:nvSpPr>
        <p:spPr bwMode="auto">
          <a:xfrm>
            <a:off x="6503121" y="555230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1500" b="1"/>
              <a:t>3</a:t>
            </a:r>
            <a:endParaRPr lang="en-US" sz="1500" b="1"/>
          </a:p>
        </p:txBody>
      </p:sp>
      <p:cxnSp>
        <p:nvCxnSpPr>
          <p:cNvPr id="666359552" name="Straight Arrow Connector 163"/>
          <p:cNvCxnSpPr>
            <a:stCxn id="1282341381" idx="3"/>
            <a:endCxn id="936696891" idx="0"/>
          </p:cNvCxnSpPr>
          <p:nvPr/>
        </p:nvCxnSpPr>
        <p:spPr bwMode="auto">
          <a:xfrm flipH="1">
            <a:off x="6769822" y="5119620"/>
            <a:ext cx="344815" cy="432683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79268611" name="Oval 164"/>
          <p:cNvSpPr/>
          <p:nvPr/>
        </p:nvSpPr>
        <p:spPr bwMode="auto">
          <a:xfrm>
            <a:off x="8331921" y="4664334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1500" b="1"/>
              <a:t>13</a:t>
            </a:r>
            <a:endParaRPr lang="en-US" sz="1500" b="1"/>
          </a:p>
        </p:txBody>
      </p:sp>
      <p:sp>
        <p:nvSpPr>
          <p:cNvPr id="1206008887" name="Oval 165"/>
          <p:cNvSpPr/>
          <p:nvPr/>
        </p:nvSpPr>
        <p:spPr bwMode="auto">
          <a:xfrm>
            <a:off x="8941521" y="5426334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1500" b="1"/>
              <a:t>15</a:t>
            </a:r>
            <a:endParaRPr lang="en-US" sz="1500" b="1"/>
          </a:p>
        </p:txBody>
      </p:sp>
      <p:cxnSp>
        <p:nvCxnSpPr>
          <p:cNvPr id="806341850" name="Straight Arrow Connector 166"/>
          <p:cNvCxnSpPr>
            <a:stCxn id="1279268611" idx="5"/>
            <a:endCxn id="1206008887" idx="1"/>
          </p:cNvCxnSpPr>
          <p:nvPr/>
        </p:nvCxnSpPr>
        <p:spPr bwMode="auto">
          <a:xfrm>
            <a:off x="8787206" y="5119619"/>
            <a:ext cx="232430" cy="38483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89950816" name="Straight Arrow Connector 167"/>
          <p:cNvCxnSpPr>
            <a:stCxn id="673898765" idx="5"/>
            <a:endCxn id="1279268611" idx="1"/>
          </p:cNvCxnSpPr>
          <p:nvPr/>
        </p:nvCxnSpPr>
        <p:spPr bwMode="auto">
          <a:xfrm>
            <a:off x="8101406" y="4357619"/>
            <a:ext cx="308630" cy="38483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34630908" name="Oval 168"/>
          <p:cNvSpPr/>
          <p:nvPr/>
        </p:nvSpPr>
        <p:spPr bwMode="auto">
          <a:xfrm>
            <a:off x="7722321" y="5416967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1500" b="1"/>
              <a:t>10</a:t>
            </a:r>
            <a:endParaRPr lang="en-US" sz="1500" b="1"/>
          </a:p>
        </p:txBody>
      </p:sp>
      <p:cxnSp>
        <p:nvCxnSpPr>
          <p:cNvPr id="1847824703" name="Straight Arrow Connector 169"/>
          <p:cNvCxnSpPr>
            <a:stCxn id="1279268611" idx="3"/>
            <a:endCxn id="834630908" idx="7"/>
          </p:cNvCxnSpPr>
          <p:nvPr/>
        </p:nvCxnSpPr>
        <p:spPr bwMode="auto">
          <a:xfrm flipH="1">
            <a:off x="8177606" y="5119619"/>
            <a:ext cx="232430" cy="375464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5707991" name="TextBox 170"/>
          <p:cNvSpPr txBox="1"/>
          <p:nvPr/>
        </p:nvSpPr>
        <p:spPr bwMode="auto">
          <a:xfrm>
            <a:off x="6211055" y="5819003"/>
            <a:ext cx="29206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1500" b="1"/>
              <a:t>B</a:t>
            </a:r>
            <a:endParaRPr lang="en-US" sz="1500" b="1"/>
          </a:p>
        </p:txBody>
      </p:sp>
      <p:sp>
        <p:nvSpPr>
          <p:cNvPr id="1807502969" name="TextBox 171"/>
          <p:cNvSpPr txBox="1"/>
          <p:nvPr/>
        </p:nvSpPr>
        <p:spPr bwMode="auto">
          <a:xfrm>
            <a:off x="7479561" y="5677843"/>
            <a:ext cx="29206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1500" b="1"/>
              <a:t>B</a:t>
            </a:r>
            <a:endParaRPr lang="en-US" sz="1500" b="1"/>
          </a:p>
        </p:txBody>
      </p:sp>
      <p:sp>
        <p:nvSpPr>
          <p:cNvPr id="2069347154" name="TextBox 172"/>
          <p:cNvSpPr txBox="1"/>
          <p:nvPr/>
        </p:nvSpPr>
        <p:spPr bwMode="auto">
          <a:xfrm>
            <a:off x="8725655" y="5849036"/>
            <a:ext cx="29206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1500" b="1"/>
              <a:t>B</a:t>
            </a:r>
            <a:endParaRPr lang="en-US" sz="1500" b="1"/>
          </a:p>
        </p:txBody>
      </p:sp>
      <p:sp>
        <p:nvSpPr>
          <p:cNvPr id="1047476751" name="TextBox 173"/>
          <p:cNvSpPr txBox="1"/>
          <p:nvPr/>
        </p:nvSpPr>
        <p:spPr bwMode="auto">
          <a:xfrm>
            <a:off x="6752468" y="4796455"/>
            <a:ext cx="27603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1500" b="1"/>
              <a:t>L</a:t>
            </a:r>
            <a:endParaRPr lang="en-US" sz="1500" b="1"/>
          </a:p>
        </p:txBody>
      </p:sp>
      <p:sp>
        <p:nvSpPr>
          <p:cNvPr id="945445476" name="TextBox 174"/>
          <p:cNvSpPr txBox="1"/>
          <p:nvPr/>
        </p:nvSpPr>
        <p:spPr bwMode="auto">
          <a:xfrm>
            <a:off x="8031573" y="4796455"/>
            <a:ext cx="29206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1500" b="1"/>
              <a:t>B</a:t>
            </a:r>
            <a:endParaRPr lang="en-US" sz="1500" b="1"/>
          </a:p>
        </p:txBody>
      </p:sp>
      <p:sp>
        <p:nvSpPr>
          <p:cNvPr id="2010892871" name="TextBox 175"/>
          <p:cNvSpPr txBox="1"/>
          <p:nvPr/>
        </p:nvSpPr>
        <p:spPr bwMode="auto">
          <a:xfrm>
            <a:off x="7354055" y="3923403"/>
            <a:ext cx="29206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1500" b="1"/>
              <a:t>B</a:t>
            </a:r>
            <a:endParaRPr lang="en-US" sz="1500" b="1"/>
          </a:p>
        </p:txBody>
      </p:sp>
      <p:sp>
        <p:nvSpPr>
          <p:cNvPr id="1601493660" name="Rectangle 89"/>
          <p:cNvSpPr/>
          <p:nvPr/>
        </p:nvSpPr>
        <p:spPr bwMode="auto">
          <a:xfrm>
            <a:off x="8841528" y="914400"/>
            <a:ext cx="1417804" cy="437465"/>
          </a:xfrm>
          <a:prstGeom prst="rect">
            <a:avLst/>
          </a:prstGeom>
          <a:solidFill>
            <a:srgbClr val="B84742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Case - 1</a:t>
            </a:r>
            <a:endParaRPr lang="en-US" sz="24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493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538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09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75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70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651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83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49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230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1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30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628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38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53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02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93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669935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474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563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95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14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17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99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2000" fill="hold"/>
                                        <p:tgtEl>
                                          <p:spTgt spid="17753815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4" dur="2000" fill="hold"/>
                                        <p:tgtEl>
                                          <p:spTgt spid="17753815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2000" fill="hold"/>
                                        <p:tgtEl>
                                          <p:spTgt spid="17753815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844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8443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99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51199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34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83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604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988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3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128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729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70729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940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52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03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287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0" dur="500"/>
                                        <p:tgtEl>
                                          <p:spTgt spid="1038287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694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207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94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75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26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490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05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36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78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6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11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090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4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68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79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9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02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745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414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65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1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7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40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670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1" dur="500"/>
                                        <p:tgtEl>
                                          <p:spTgt spid="400670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5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9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8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528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56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955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28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3" dur="2000" fill="hold"/>
                                        <p:tgtEl>
                                          <p:spTgt spid="18017860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44" dur="2000" fill="hold"/>
                                        <p:tgtEl>
                                          <p:spTgt spid="18017860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5" dur="2000" fill="hold"/>
                                        <p:tgtEl>
                                          <p:spTgt spid="18017860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63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0" dur="500"/>
                                        <p:tgtEl>
                                          <p:spTgt spid="1859638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777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91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898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34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15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69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359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950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3" dur="500"/>
                                        <p:tgtEl>
                                          <p:spTgt spid="1289950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2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008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34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824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6" dur="500"/>
                                        <p:tgtEl>
                                          <p:spTgt spid="1847824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63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707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50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34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476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44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089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5381588" grpId="0" animBg="1"/>
      <p:bldP spid="189875814" grpId="0" animBg="1"/>
      <p:bldP spid="157817640" grpId="0" animBg="1"/>
      <p:bldP spid="2036511055" grpId="0" animBg="1"/>
      <p:bldP spid="1276834593" grpId="0" animBg="1"/>
      <p:bldP spid="2110474730" grpId="0" animBg="1"/>
      <p:bldP spid="77809773" grpId="0" animBg="1"/>
      <p:bldP spid="1182230769" grpId="0" animBg="1"/>
      <p:bldP spid="1634702153" grpId="0" animBg="1"/>
      <p:bldP spid="1937497693" grpId="0" animBg="1"/>
      <p:bldP spid="1669935527" grpId="0" animBg="1"/>
      <p:bldP spid="1029992701" grpId="0"/>
      <p:bldP spid="589303189" grpId="0"/>
      <p:bldP spid="2053628984" grpId="0"/>
      <p:bldP spid="1599535060" grpId="0"/>
      <p:bldP spid="1273385553" grpId="0"/>
      <p:bldP spid="1720021087" grpId="0"/>
      <p:bldP spid="47115845" grpId="0"/>
      <p:bldP spid="383563448" grpId="0"/>
      <p:bldP spid="1065295803" grpId="0"/>
      <p:bldP spid="1906144523" grpId="0"/>
      <p:bldP spid="1476172226" grpId="0"/>
      <p:bldP spid="1182838204" grpId="0" animBg="1"/>
      <p:bldP spid="547988285" grpId="0" animBg="1"/>
      <p:bldP spid="257128031" grpId="0" animBg="1"/>
      <p:bldP spid="2006947205" grpId="0" animBg="1"/>
      <p:bldP spid="1418940012" grpId="0" animBg="1"/>
      <p:bldP spid="1218803357" grpId="0" animBg="1"/>
      <p:bldP spid="295346612" grpId="0" animBg="1"/>
      <p:bldP spid="321207027" grpId="0"/>
      <p:bldP spid="19994727" grpId="0"/>
      <p:bldP spid="83575361" grpId="0"/>
      <p:bldP spid="114926481" grpId="0"/>
      <p:bldP spid="958490588" grpId="0"/>
      <p:bldP spid="2131055150" grpId="0"/>
      <p:bldP spid="1801786000" grpId="0" animBg="1"/>
      <p:bldP spid="540763266" grpId="0" animBg="1"/>
      <p:bldP spid="1018116904" grpId="0" animBg="1"/>
      <p:bldP spid="1136090092" grpId="0" animBg="1"/>
      <p:bldP spid="69324429" grpId="0" animBg="1"/>
      <p:bldP spid="1001745335" grpId="0"/>
      <p:bldP spid="422414268" grpId="0"/>
      <p:bldP spid="1896656045" grpId="0"/>
      <p:bldP spid="85919815" grpId="0"/>
      <p:bldP spid="378879813" grpId="0"/>
      <p:bldP spid="1190404364" grpId="0"/>
      <p:bldP spid="69645924" grpId="0" animBg="1"/>
      <p:bldP spid="1845394099" grpId="0"/>
      <p:bldP spid="520187113" grpId="0"/>
      <p:bldP spid="528528836" grpId="0"/>
      <p:bldP spid="1048556780" grpId="0"/>
      <p:bldP spid="2029550985" grpId="0"/>
      <p:bldP spid="1503284358" grpId="0"/>
      <p:bldP spid="1047777256" grpId="0"/>
      <p:bldP spid="1364911708" grpId="0" animBg="1"/>
      <p:bldP spid="673898765" grpId="0" animBg="1"/>
      <p:bldP spid="1282341381" grpId="0" animBg="1"/>
      <p:bldP spid="936696891" grpId="0" animBg="1"/>
      <p:bldP spid="1279268611" grpId="0" animBg="1"/>
      <p:bldP spid="1206008887" grpId="0" animBg="1"/>
      <p:bldP spid="834630908" grpId="0" animBg="1"/>
      <p:bldP spid="315707991" grpId="0"/>
      <p:bldP spid="1807502969" grpId="0"/>
      <p:bldP spid="2069347154" grpId="0"/>
      <p:bldP spid="1047476751" grpId="0"/>
      <p:bldP spid="945445476" grpId="0"/>
      <p:bldP spid="2010892871" grpId="0"/>
      <p:bldP spid="160149366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5154715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IN" sz="3400"/>
              <a:t>Insertion into Right sub-tree of node’s Right child</a:t>
            </a:r>
            <a:endParaRPr lang="en-US" sz="3400"/>
          </a:p>
        </p:txBody>
      </p:sp>
      <p:sp>
        <p:nvSpPr>
          <p:cNvPr id="2071419973" name="Content Placeholder 2"/>
          <p:cNvSpPr>
            <a:spLocks noGrp="1"/>
          </p:cNvSpPr>
          <p:nvPr>
            <p:ph idx="1"/>
          </p:nvPr>
        </p:nvSpPr>
        <p:spPr bwMode="auto">
          <a:xfrm>
            <a:off x="131180" y="863444"/>
            <a:ext cx="11929641" cy="3758165"/>
          </a:xfrm>
        </p:spPr>
        <p:txBody>
          <a:bodyPr/>
          <a:lstStyle/>
          <a:p>
            <a:pPr>
              <a:defRPr/>
            </a:pPr>
            <a:r>
              <a:rPr lang="en-IN" b="1"/>
              <a:t>Case 4: </a:t>
            </a:r>
            <a:r>
              <a:rPr lang="en-IN"/>
              <a:t>If node becomes unbalanced after </a:t>
            </a:r>
            <a:r>
              <a:rPr lang="en-IN" b="1">
                <a:solidFill>
                  <a:srgbClr val="C00000"/>
                </a:solidFill>
              </a:rPr>
              <a:t>insertion of new node </a:t>
            </a:r>
            <a:r>
              <a:rPr lang="en-IN"/>
              <a:t>at </a:t>
            </a:r>
            <a:r>
              <a:rPr lang="en-IN" b="1">
                <a:solidFill>
                  <a:srgbClr val="C00000"/>
                </a:solidFill>
              </a:rPr>
              <a:t>Right sub-tree</a:t>
            </a:r>
            <a:r>
              <a:rPr lang="en-IN">
                <a:solidFill>
                  <a:srgbClr val="C00000"/>
                </a:solidFill>
              </a:rPr>
              <a:t> </a:t>
            </a:r>
            <a:r>
              <a:rPr lang="en-IN"/>
              <a:t>of </a:t>
            </a:r>
            <a:r>
              <a:rPr lang="en-IN" b="1">
                <a:solidFill>
                  <a:srgbClr val="C00000"/>
                </a:solidFill>
              </a:rPr>
              <a:t>nodes Right child</a:t>
            </a:r>
            <a:r>
              <a:rPr lang="en-IN"/>
              <a:t>, then we need to perform </a:t>
            </a:r>
            <a:r>
              <a:rPr lang="en-IN" b="1">
                <a:solidFill>
                  <a:srgbClr val="C00000"/>
                </a:solidFill>
              </a:rPr>
              <a:t>Single Left Rotation</a:t>
            </a:r>
            <a:r>
              <a:rPr lang="en-IN">
                <a:solidFill>
                  <a:srgbClr val="C00000"/>
                </a:solidFill>
              </a:rPr>
              <a:t> </a:t>
            </a:r>
            <a:r>
              <a:rPr lang="en-IN"/>
              <a:t>of </a:t>
            </a:r>
            <a:r>
              <a:rPr lang="en-IN" b="1">
                <a:solidFill>
                  <a:srgbClr val="C00000"/>
                </a:solidFill>
              </a:rPr>
              <a:t>unbalance node</a:t>
            </a:r>
            <a:r>
              <a:rPr lang="en-IN">
                <a:solidFill>
                  <a:srgbClr val="C00000"/>
                </a:solidFill>
              </a:rPr>
              <a:t> </a:t>
            </a:r>
            <a:r>
              <a:rPr lang="en-IN"/>
              <a:t>to balance the node</a:t>
            </a:r>
            <a:endParaRPr/>
          </a:p>
          <a:p>
            <a:pPr>
              <a:defRPr/>
            </a:pPr>
            <a:r>
              <a:rPr lang="en-IN" b="1"/>
              <a:t>Left Rotation</a:t>
            </a:r>
            <a:endParaRPr/>
          </a:p>
          <a:p>
            <a:pPr marL="819150" lvl="1" indent="-457200">
              <a:buFont typeface="+mj-lt"/>
              <a:buAutoNum type="alphaUcPeriod"/>
              <a:defRPr/>
            </a:pPr>
            <a:r>
              <a:rPr lang="en-IN"/>
              <a:t>Detach right child’s leaf sub-tree</a:t>
            </a:r>
            <a:endParaRPr/>
          </a:p>
          <a:p>
            <a:pPr marL="819150" lvl="1" indent="-457200">
              <a:buFont typeface="+mj-lt"/>
              <a:buAutoNum type="alphaUcPeriod"/>
              <a:defRPr/>
            </a:pPr>
            <a:r>
              <a:rPr lang="en-IN"/>
              <a:t>Consider right child to be new parent</a:t>
            </a:r>
            <a:endParaRPr/>
          </a:p>
          <a:p>
            <a:pPr marL="819150" lvl="1" indent="-457200">
              <a:buFont typeface="+mj-lt"/>
              <a:buAutoNum type="alphaUcPeriod"/>
              <a:defRPr/>
            </a:pPr>
            <a:r>
              <a:rPr lang="en-IN"/>
              <a:t>Attach old parent onto left of new parent</a:t>
            </a:r>
            <a:endParaRPr/>
          </a:p>
          <a:p>
            <a:pPr marL="819150" lvl="1" indent="-457200">
              <a:buFont typeface="+mj-lt"/>
              <a:buAutoNum type="alphaUcPeriod"/>
              <a:defRPr/>
            </a:pPr>
            <a:r>
              <a:rPr lang="en-IN"/>
              <a:t>Attach old right child’s old left sub-tree as right sub-tree of new left child</a:t>
            </a:r>
            <a:endParaRPr/>
          </a:p>
          <a:p>
            <a:pPr>
              <a:defRPr/>
            </a:pPr>
            <a:endParaRPr lang="en-US"/>
          </a:p>
        </p:txBody>
      </p:sp>
      <p:sp>
        <p:nvSpPr>
          <p:cNvPr id="1069863167" name="Oval 3"/>
          <p:cNvSpPr/>
          <p:nvPr/>
        </p:nvSpPr>
        <p:spPr bwMode="auto">
          <a:xfrm>
            <a:off x="10128490" y="2635059"/>
            <a:ext cx="432000" cy="432000"/>
          </a:xfrm>
          <a:prstGeom prst="ellipse">
            <a:avLst/>
          </a:prstGeom>
          <a:pattFill prst="wdUpDiag">
            <a:fgClr>
              <a:srgbClr val="B84742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53814450" name="Oval 4"/>
          <p:cNvSpPr/>
          <p:nvPr/>
        </p:nvSpPr>
        <p:spPr bwMode="auto">
          <a:xfrm>
            <a:off x="9747490" y="3300079"/>
            <a:ext cx="432000" cy="43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36151539" name="Oval 5"/>
          <p:cNvSpPr/>
          <p:nvPr/>
        </p:nvSpPr>
        <p:spPr bwMode="auto">
          <a:xfrm>
            <a:off x="10509490" y="3300079"/>
            <a:ext cx="432000" cy="43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133335591" name="Straight Arrow Connector 6"/>
          <p:cNvCxnSpPr>
            <a:stCxn id="1069863167" idx="3"/>
            <a:endCxn id="2053814450" idx="0"/>
          </p:cNvCxnSpPr>
          <p:nvPr/>
        </p:nvCxnSpPr>
        <p:spPr bwMode="auto">
          <a:xfrm flipH="1">
            <a:off x="9963490" y="3003794"/>
            <a:ext cx="228265" cy="296284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12191178" name="Straight Arrow Connector 7"/>
          <p:cNvCxnSpPr>
            <a:stCxn id="1069863167" idx="5"/>
            <a:endCxn id="1736151539" idx="0"/>
          </p:cNvCxnSpPr>
          <p:nvPr/>
        </p:nvCxnSpPr>
        <p:spPr bwMode="auto">
          <a:xfrm>
            <a:off x="10497225" y="3003794"/>
            <a:ext cx="228265" cy="296284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1910604" name="Oval 8"/>
          <p:cNvSpPr/>
          <p:nvPr/>
        </p:nvSpPr>
        <p:spPr bwMode="auto">
          <a:xfrm>
            <a:off x="10890490" y="4016189"/>
            <a:ext cx="432000" cy="432000"/>
          </a:xfrm>
          <a:prstGeom prst="ellipse">
            <a:avLst/>
          </a:prstGeom>
          <a:solidFill>
            <a:srgbClr val="B84742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717353661" name="Straight Arrow Connector 9"/>
          <p:cNvCxnSpPr>
            <a:stCxn id="1736151539" idx="5"/>
            <a:endCxn id="71910604" idx="0"/>
          </p:cNvCxnSpPr>
          <p:nvPr/>
        </p:nvCxnSpPr>
        <p:spPr bwMode="auto">
          <a:xfrm>
            <a:off x="10878225" y="3668814"/>
            <a:ext cx="228265" cy="347375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1759016" name="TextBox 10"/>
          <p:cNvSpPr txBox="1"/>
          <p:nvPr/>
        </p:nvSpPr>
        <p:spPr bwMode="auto">
          <a:xfrm>
            <a:off x="9705679" y="2111184"/>
            <a:ext cx="1032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2000" b="1"/>
              <a:t>Case - 4</a:t>
            </a:r>
            <a:endParaRPr lang="en-US" sz="2000" b="1"/>
          </a:p>
        </p:txBody>
      </p:sp>
      <p:sp>
        <p:nvSpPr>
          <p:cNvPr id="948387398" name="TextBox 11"/>
          <p:cNvSpPr txBox="1"/>
          <p:nvPr/>
        </p:nvSpPr>
        <p:spPr bwMode="auto">
          <a:xfrm>
            <a:off x="9134383" y="4676494"/>
            <a:ext cx="2420214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2100" b="1">
                <a:solidFill>
                  <a:srgbClr val="C00000"/>
                </a:solidFill>
              </a:rPr>
              <a:t>Single Left Rotation</a:t>
            </a:r>
            <a:r>
              <a:rPr lang="en-IN" sz="2100" b="1">
                <a:solidFill>
                  <a:srgbClr val="FF0000"/>
                </a:solidFill>
              </a:rPr>
              <a:t> </a:t>
            </a:r>
            <a:endParaRPr/>
          </a:p>
          <a:p>
            <a:pPr algn="ctr">
              <a:defRPr/>
            </a:pPr>
            <a:r>
              <a:rPr lang="en-IN" sz="2100"/>
              <a:t>of </a:t>
            </a:r>
            <a:endParaRPr/>
          </a:p>
          <a:p>
            <a:pPr algn="ctr">
              <a:defRPr/>
            </a:pPr>
            <a:r>
              <a:rPr lang="en-IN" sz="2100" b="1">
                <a:solidFill>
                  <a:srgbClr val="C00000"/>
                </a:solidFill>
              </a:rPr>
              <a:t>unbalanced node</a:t>
            </a:r>
            <a:endParaRPr lang="en-US" sz="2100">
              <a:solidFill>
                <a:srgbClr val="C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419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863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333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81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19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615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353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17353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759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38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4199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4199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4199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4199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4199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9863167" grpId="0" animBg="1"/>
      <p:bldP spid="2053814450" grpId="0" animBg="1"/>
      <p:bldP spid="1736151539" grpId="0" animBg="1"/>
      <p:bldP spid="71910604" grpId="0" animBg="1"/>
      <p:bldP spid="441759016" grpId="0"/>
      <p:bldP spid="94838739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953654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IN" sz="3400"/>
              <a:t>Insertion into Right sub-tree of node’s Right child</a:t>
            </a:r>
            <a:endParaRPr lang="en-US" sz="3400"/>
          </a:p>
        </p:txBody>
      </p:sp>
      <p:sp>
        <p:nvSpPr>
          <p:cNvPr id="1768137502" name="Oval 3"/>
          <p:cNvSpPr/>
          <p:nvPr/>
        </p:nvSpPr>
        <p:spPr bwMode="auto">
          <a:xfrm>
            <a:off x="2151911" y="990601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X</a:t>
            </a:r>
            <a:endParaRPr lang="en-US" sz="2400" b="1"/>
          </a:p>
        </p:txBody>
      </p:sp>
      <p:sp>
        <p:nvSpPr>
          <p:cNvPr id="231657276" name="Oval 4"/>
          <p:cNvSpPr/>
          <p:nvPr/>
        </p:nvSpPr>
        <p:spPr bwMode="auto">
          <a:xfrm>
            <a:off x="1770911" y="1936376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1400" b="1"/>
              <a:t>T</a:t>
            </a:r>
            <a:r>
              <a:rPr lang="en-IN" sz="1400" b="1" baseline="-25000"/>
              <a:t>1</a:t>
            </a:r>
            <a:endParaRPr lang="en-US" sz="1400" b="1" baseline="-25000"/>
          </a:p>
        </p:txBody>
      </p:sp>
      <p:sp>
        <p:nvSpPr>
          <p:cNvPr id="1561682277" name="Oval 5"/>
          <p:cNvSpPr/>
          <p:nvPr/>
        </p:nvSpPr>
        <p:spPr bwMode="auto">
          <a:xfrm>
            <a:off x="2532911" y="1600201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Y</a:t>
            </a:r>
            <a:endParaRPr lang="en-US" sz="2400" b="1"/>
          </a:p>
        </p:txBody>
      </p:sp>
      <p:sp>
        <p:nvSpPr>
          <p:cNvPr id="211303801" name="Oval 6"/>
          <p:cNvSpPr/>
          <p:nvPr/>
        </p:nvSpPr>
        <p:spPr bwMode="auto">
          <a:xfrm>
            <a:off x="2151911" y="2362202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1500" b="1"/>
              <a:t>T</a:t>
            </a:r>
            <a:r>
              <a:rPr lang="en-IN" sz="1500" b="1" baseline="-25000"/>
              <a:t>2</a:t>
            </a:r>
            <a:endParaRPr lang="en-US" sz="1500" b="1" baseline="-25000"/>
          </a:p>
        </p:txBody>
      </p:sp>
      <p:sp>
        <p:nvSpPr>
          <p:cNvPr id="1887109795" name="Oval 7"/>
          <p:cNvSpPr/>
          <p:nvPr/>
        </p:nvSpPr>
        <p:spPr bwMode="auto">
          <a:xfrm>
            <a:off x="2913911" y="2362202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1500" b="1"/>
              <a:t>T</a:t>
            </a:r>
            <a:r>
              <a:rPr lang="en-IN" sz="1500" b="1" baseline="-25000"/>
              <a:t>3</a:t>
            </a:r>
            <a:endParaRPr lang="en-US" sz="1500" b="1" baseline="-25000"/>
          </a:p>
        </p:txBody>
      </p:sp>
      <p:cxnSp>
        <p:nvCxnSpPr>
          <p:cNvPr id="949925458" name="Straight Arrow Connector 8"/>
          <p:cNvCxnSpPr>
            <a:stCxn id="1768137502" idx="3"/>
            <a:endCxn id="231657276" idx="0"/>
          </p:cNvCxnSpPr>
          <p:nvPr/>
        </p:nvCxnSpPr>
        <p:spPr bwMode="auto">
          <a:xfrm flipH="1">
            <a:off x="2019246" y="1414535"/>
            <a:ext cx="205400" cy="521841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8392015" name="Straight Arrow Connector 9"/>
          <p:cNvCxnSpPr>
            <a:stCxn id="1768137502" idx="5"/>
            <a:endCxn id="1561682277" idx="0"/>
          </p:cNvCxnSpPr>
          <p:nvPr/>
        </p:nvCxnSpPr>
        <p:spPr bwMode="auto">
          <a:xfrm>
            <a:off x="2575845" y="1414535"/>
            <a:ext cx="205401" cy="185666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8402975" name="Straight Arrow Connector 10"/>
          <p:cNvCxnSpPr>
            <a:stCxn id="1561682277" idx="3"/>
            <a:endCxn id="211303801" idx="0"/>
          </p:cNvCxnSpPr>
          <p:nvPr/>
        </p:nvCxnSpPr>
        <p:spPr bwMode="auto">
          <a:xfrm flipH="1">
            <a:off x="2400246" y="2024135"/>
            <a:ext cx="205400" cy="338067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04020435" name="Straight Arrow Connector 11"/>
          <p:cNvCxnSpPr>
            <a:stCxn id="1561682277" idx="5"/>
            <a:endCxn id="1887109795" idx="0"/>
          </p:cNvCxnSpPr>
          <p:nvPr/>
        </p:nvCxnSpPr>
        <p:spPr bwMode="auto">
          <a:xfrm>
            <a:off x="2956845" y="2024135"/>
            <a:ext cx="205401" cy="338067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21653086" name="Oval 12"/>
          <p:cNvSpPr/>
          <p:nvPr/>
        </p:nvSpPr>
        <p:spPr bwMode="auto">
          <a:xfrm>
            <a:off x="3267890" y="3084732"/>
            <a:ext cx="496669" cy="496669"/>
          </a:xfrm>
          <a:prstGeom prst="ellipse">
            <a:avLst/>
          </a:prstGeom>
          <a:solidFill>
            <a:srgbClr val="B84742"/>
          </a:solidFill>
          <a:ln>
            <a:solidFill>
              <a:srgbClr val="9A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n</a:t>
            </a:r>
            <a:endParaRPr lang="en-US" sz="1500" b="1" baseline="-25000"/>
          </a:p>
        </p:txBody>
      </p:sp>
      <p:cxnSp>
        <p:nvCxnSpPr>
          <p:cNvPr id="497988473" name="Straight Arrow Connector 13"/>
          <p:cNvCxnSpPr>
            <a:stCxn id="1887109795" idx="5"/>
            <a:endCxn id="221653086" idx="0"/>
          </p:cNvCxnSpPr>
          <p:nvPr/>
        </p:nvCxnSpPr>
        <p:spPr bwMode="auto">
          <a:xfrm>
            <a:off x="3337845" y="2786136"/>
            <a:ext cx="178380" cy="29859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29604844" name="TextBox 14"/>
          <p:cNvSpPr txBox="1"/>
          <p:nvPr/>
        </p:nvSpPr>
        <p:spPr bwMode="auto">
          <a:xfrm>
            <a:off x="1847110" y="242587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029845149" name="TextBox 15"/>
          <p:cNvSpPr txBox="1"/>
          <p:nvPr/>
        </p:nvSpPr>
        <p:spPr bwMode="auto">
          <a:xfrm>
            <a:off x="3361400" y="242587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2079388803" name="TextBox 16"/>
          <p:cNvSpPr txBox="1"/>
          <p:nvPr/>
        </p:nvSpPr>
        <p:spPr bwMode="auto">
          <a:xfrm>
            <a:off x="2980400" y="166386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944445602" name="TextBox 17"/>
          <p:cNvSpPr txBox="1"/>
          <p:nvPr/>
        </p:nvSpPr>
        <p:spPr bwMode="auto">
          <a:xfrm>
            <a:off x="1466110" y="166386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543013659" name="TextBox 18"/>
          <p:cNvSpPr txBox="1"/>
          <p:nvPr/>
        </p:nvSpPr>
        <p:spPr bwMode="auto">
          <a:xfrm>
            <a:off x="2599399" y="105426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1543415519" name="TextBox 19"/>
          <p:cNvSpPr txBox="1"/>
          <p:nvPr/>
        </p:nvSpPr>
        <p:spPr bwMode="auto">
          <a:xfrm>
            <a:off x="3725193" y="314839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B’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955267050" name="TextBox 20"/>
          <p:cNvSpPr txBox="1"/>
          <p:nvPr/>
        </p:nvSpPr>
        <p:spPr bwMode="auto">
          <a:xfrm>
            <a:off x="3523510" y="2425870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R’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2053456457" name="TextBox 21"/>
          <p:cNvSpPr txBox="1"/>
          <p:nvPr/>
        </p:nvSpPr>
        <p:spPr bwMode="auto">
          <a:xfrm>
            <a:off x="1625690" y="2425870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B’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2143809678" name="TextBox 22"/>
          <p:cNvSpPr txBox="1"/>
          <p:nvPr/>
        </p:nvSpPr>
        <p:spPr bwMode="auto">
          <a:xfrm>
            <a:off x="3142510" y="166386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R’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217569619" name="TextBox 23"/>
          <p:cNvSpPr txBox="1"/>
          <p:nvPr/>
        </p:nvSpPr>
        <p:spPr bwMode="auto">
          <a:xfrm>
            <a:off x="1199410" y="166386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B’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331221618" name="TextBox 24"/>
          <p:cNvSpPr txBox="1"/>
          <p:nvPr/>
        </p:nvSpPr>
        <p:spPr bwMode="auto">
          <a:xfrm>
            <a:off x="753290" y="1054269"/>
            <a:ext cx="1412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Critical Node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513843148" name="TextBox 25"/>
          <p:cNvSpPr txBox="1"/>
          <p:nvPr/>
        </p:nvSpPr>
        <p:spPr bwMode="auto">
          <a:xfrm>
            <a:off x="4703734" y="1487270"/>
            <a:ext cx="9653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Left </a:t>
            </a:r>
            <a:endParaRPr/>
          </a:p>
          <a:p>
            <a:pPr algn="ctr">
              <a:defRPr/>
            </a:pPr>
            <a:r>
              <a:rPr lang="en-IN" b="1"/>
              <a:t>Rotation</a:t>
            </a:r>
            <a:endParaRPr lang="en-US" b="1"/>
          </a:p>
        </p:txBody>
      </p:sp>
      <p:cxnSp>
        <p:nvCxnSpPr>
          <p:cNvPr id="1422290849" name="Straight Arrow Connector 26"/>
          <p:cNvCxnSpPr/>
          <p:nvPr/>
        </p:nvCxnSpPr>
        <p:spPr bwMode="auto">
          <a:xfrm>
            <a:off x="4538698" y="2209800"/>
            <a:ext cx="1295400" cy="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00004473" name="Oval 27"/>
          <p:cNvSpPr/>
          <p:nvPr/>
        </p:nvSpPr>
        <p:spPr bwMode="auto">
          <a:xfrm>
            <a:off x="4938064" y="2590801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1500" b="1"/>
              <a:t>T</a:t>
            </a:r>
            <a:r>
              <a:rPr lang="en-IN" sz="1500" b="1" baseline="-25000"/>
              <a:t>2</a:t>
            </a:r>
            <a:endParaRPr lang="en-US" sz="1500" b="1" baseline="-25000"/>
          </a:p>
        </p:txBody>
      </p:sp>
      <p:sp>
        <p:nvSpPr>
          <p:cNvPr id="1793575484" name="Oval 28"/>
          <p:cNvSpPr/>
          <p:nvPr/>
        </p:nvSpPr>
        <p:spPr bwMode="auto">
          <a:xfrm>
            <a:off x="7248093" y="988458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Y</a:t>
            </a:r>
            <a:endParaRPr lang="en-US" sz="2400" b="1"/>
          </a:p>
        </p:txBody>
      </p:sp>
      <p:sp>
        <p:nvSpPr>
          <p:cNvPr id="593930545" name="Oval 29"/>
          <p:cNvSpPr/>
          <p:nvPr/>
        </p:nvSpPr>
        <p:spPr bwMode="auto">
          <a:xfrm>
            <a:off x="7773400" y="1810435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1500" b="1"/>
              <a:t>T</a:t>
            </a:r>
            <a:r>
              <a:rPr lang="en-IN" sz="1500" b="1" baseline="-25000"/>
              <a:t>3</a:t>
            </a:r>
            <a:endParaRPr lang="en-US" sz="1500" b="1" baseline="-25000"/>
          </a:p>
        </p:txBody>
      </p:sp>
      <p:cxnSp>
        <p:nvCxnSpPr>
          <p:cNvPr id="1971153808" name="Straight Arrow Connector 30"/>
          <p:cNvCxnSpPr>
            <a:stCxn id="1793575484" idx="5"/>
            <a:endCxn id="593930545" idx="0"/>
          </p:cNvCxnSpPr>
          <p:nvPr/>
        </p:nvCxnSpPr>
        <p:spPr bwMode="auto">
          <a:xfrm>
            <a:off x="7672027" y="1412392"/>
            <a:ext cx="349708" cy="398042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1405942" name="Oval 31"/>
          <p:cNvSpPr/>
          <p:nvPr/>
        </p:nvSpPr>
        <p:spPr bwMode="auto">
          <a:xfrm>
            <a:off x="8117669" y="2527133"/>
            <a:ext cx="496669" cy="496669"/>
          </a:xfrm>
          <a:prstGeom prst="ellipse">
            <a:avLst/>
          </a:prstGeom>
          <a:solidFill>
            <a:srgbClr val="B84742"/>
          </a:solidFill>
          <a:ln>
            <a:solidFill>
              <a:srgbClr val="9A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n</a:t>
            </a:r>
            <a:endParaRPr lang="en-US" sz="1500" b="1" baseline="-25000"/>
          </a:p>
        </p:txBody>
      </p:sp>
      <p:cxnSp>
        <p:nvCxnSpPr>
          <p:cNvPr id="1347172207" name="Straight Arrow Connector 32"/>
          <p:cNvCxnSpPr>
            <a:stCxn id="593930545" idx="5"/>
            <a:endCxn id="161405942" idx="0"/>
          </p:cNvCxnSpPr>
          <p:nvPr/>
        </p:nvCxnSpPr>
        <p:spPr bwMode="auto">
          <a:xfrm>
            <a:off x="8197334" y="2234369"/>
            <a:ext cx="168670" cy="292764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2773356" name="Oval 33"/>
          <p:cNvSpPr/>
          <p:nvPr/>
        </p:nvSpPr>
        <p:spPr bwMode="auto">
          <a:xfrm>
            <a:off x="6706600" y="1810435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X</a:t>
            </a:r>
            <a:endParaRPr lang="en-US" sz="2400" b="1"/>
          </a:p>
        </p:txBody>
      </p:sp>
      <p:sp>
        <p:nvSpPr>
          <p:cNvPr id="1132834016" name="Oval 34"/>
          <p:cNvSpPr/>
          <p:nvPr/>
        </p:nvSpPr>
        <p:spPr bwMode="auto">
          <a:xfrm>
            <a:off x="6325600" y="2527133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1500" b="1"/>
              <a:t>T</a:t>
            </a:r>
            <a:r>
              <a:rPr lang="en-IN" sz="1500" b="1" baseline="-25000"/>
              <a:t>1</a:t>
            </a:r>
            <a:endParaRPr lang="en-US" sz="1500" b="1" baseline="-25000"/>
          </a:p>
        </p:txBody>
      </p:sp>
      <p:cxnSp>
        <p:nvCxnSpPr>
          <p:cNvPr id="1159702915" name="Straight Arrow Connector 35"/>
          <p:cNvCxnSpPr>
            <a:stCxn id="292773356" idx="3"/>
            <a:endCxn id="1132834016" idx="0"/>
          </p:cNvCxnSpPr>
          <p:nvPr/>
        </p:nvCxnSpPr>
        <p:spPr bwMode="auto">
          <a:xfrm flipH="1">
            <a:off x="6573935" y="2234369"/>
            <a:ext cx="205400" cy="292764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24477987" name="Straight Arrow Connector 36"/>
          <p:cNvCxnSpPr>
            <a:stCxn id="1793575484" idx="3"/>
            <a:endCxn id="292773356" idx="0"/>
          </p:cNvCxnSpPr>
          <p:nvPr/>
        </p:nvCxnSpPr>
        <p:spPr bwMode="auto">
          <a:xfrm flipH="1">
            <a:off x="6954935" y="1412392"/>
            <a:ext cx="365893" cy="398042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52489208" name="Oval 37"/>
          <p:cNvSpPr/>
          <p:nvPr/>
        </p:nvSpPr>
        <p:spPr bwMode="auto">
          <a:xfrm>
            <a:off x="7088284" y="2527133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1500" b="1"/>
              <a:t>T</a:t>
            </a:r>
            <a:r>
              <a:rPr lang="en-IN" sz="1500" b="1" baseline="-25000"/>
              <a:t>2</a:t>
            </a:r>
            <a:endParaRPr lang="en-US" sz="1500" b="1" baseline="-25000"/>
          </a:p>
        </p:txBody>
      </p:sp>
      <p:cxnSp>
        <p:nvCxnSpPr>
          <p:cNvPr id="1904424234" name="Straight Arrow Connector 38"/>
          <p:cNvCxnSpPr>
            <a:stCxn id="292773356" idx="5"/>
            <a:endCxn id="852489208" idx="0"/>
          </p:cNvCxnSpPr>
          <p:nvPr/>
        </p:nvCxnSpPr>
        <p:spPr bwMode="auto">
          <a:xfrm>
            <a:off x="7130534" y="2234369"/>
            <a:ext cx="206085" cy="292764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19154066" name="TextBox 39"/>
          <p:cNvSpPr txBox="1"/>
          <p:nvPr/>
        </p:nvSpPr>
        <p:spPr bwMode="auto">
          <a:xfrm>
            <a:off x="6011089" y="259080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240100225" name="TextBox 40"/>
          <p:cNvSpPr txBox="1"/>
          <p:nvPr/>
        </p:nvSpPr>
        <p:spPr bwMode="auto">
          <a:xfrm>
            <a:off x="7574558" y="259080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930956328" name="TextBox 41"/>
          <p:cNvSpPr txBox="1"/>
          <p:nvPr/>
        </p:nvSpPr>
        <p:spPr bwMode="auto">
          <a:xfrm>
            <a:off x="8614337" y="259080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871585082" name="TextBox 42"/>
          <p:cNvSpPr txBox="1"/>
          <p:nvPr/>
        </p:nvSpPr>
        <p:spPr bwMode="auto">
          <a:xfrm>
            <a:off x="6395369" y="1874103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605250433" name="TextBox 43"/>
          <p:cNvSpPr txBox="1"/>
          <p:nvPr/>
        </p:nvSpPr>
        <p:spPr bwMode="auto">
          <a:xfrm>
            <a:off x="8241493" y="1874103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2144537207" name="TextBox 44"/>
          <p:cNvSpPr txBox="1"/>
          <p:nvPr/>
        </p:nvSpPr>
        <p:spPr bwMode="auto">
          <a:xfrm>
            <a:off x="7799297" y="105212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cxnSp>
        <p:nvCxnSpPr>
          <p:cNvPr id="22720457" name="Straight Connector 49"/>
          <p:cNvCxnSpPr/>
          <p:nvPr/>
        </p:nvCxnSpPr>
        <p:spPr bwMode="auto">
          <a:xfrm>
            <a:off x="905689" y="3657600"/>
            <a:ext cx="8686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68139243" name="Group 52"/>
          <p:cNvGrpSpPr/>
          <p:nvPr/>
        </p:nvGrpSpPr>
        <p:grpSpPr bwMode="auto">
          <a:xfrm>
            <a:off x="1591489" y="3810000"/>
            <a:ext cx="533400" cy="533400"/>
            <a:chOff x="1246221" y="3810000"/>
            <a:chExt cx="533400" cy="533400"/>
          </a:xfrm>
        </p:grpSpPr>
        <p:sp>
          <p:nvSpPr>
            <p:cNvPr id="51" name="Oval 50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52" name="TextBox 51"/>
            <p:cNvSpPr txBox="1"/>
            <p:nvPr/>
          </p:nvSpPr>
          <p:spPr bwMode="auto">
            <a:xfrm>
              <a:off x="1285702" y="3877734"/>
              <a:ext cx="457177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50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043952164" name="Group 53"/>
          <p:cNvGrpSpPr/>
          <p:nvPr/>
        </p:nvGrpSpPr>
        <p:grpSpPr bwMode="auto">
          <a:xfrm>
            <a:off x="1058089" y="4500282"/>
            <a:ext cx="533400" cy="533400"/>
            <a:chOff x="1246221" y="3810000"/>
            <a:chExt cx="533400" cy="533400"/>
          </a:xfrm>
        </p:grpSpPr>
        <p:sp>
          <p:nvSpPr>
            <p:cNvPr id="55" name="Oval 54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56" name="TextBox 55"/>
            <p:cNvSpPr txBox="1"/>
            <p:nvPr/>
          </p:nvSpPr>
          <p:spPr bwMode="auto">
            <a:xfrm>
              <a:off x="1277288" y="3869456"/>
              <a:ext cx="457177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40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cxnSp>
        <p:nvCxnSpPr>
          <p:cNvPr id="552387232" name="Straight Arrow Connector 57"/>
          <p:cNvCxnSpPr>
            <a:stCxn id="51" idx="3"/>
            <a:endCxn id="55" idx="0"/>
          </p:cNvCxnSpPr>
          <p:nvPr/>
        </p:nvCxnSpPr>
        <p:spPr bwMode="auto">
          <a:xfrm flipH="1">
            <a:off x="1324788" y="4265285"/>
            <a:ext cx="344815" cy="234997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594044059" name="Group 58"/>
          <p:cNvGrpSpPr/>
          <p:nvPr/>
        </p:nvGrpSpPr>
        <p:grpSpPr bwMode="auto">
          <a:xfrm>
            <a:off x="2124889" y="4500282"/>
            <a:ext cx="533400" cy="533400"/>
            <a:chOff x="1246221" y="3810000"/>
            <a:chExt cx="533400" cy="533400"/>
          </a:xfrm>
        </p:grpSpPr>
        <p:sp>
          <p:nvSpPr>
            <p:cNvPr id="60" name="Oval 59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61" name="TextBox 60"/>
            <p:cNvSpPr txBox="1"/>
            <p:nvPr/>
          </p:nvSpPr>
          <p:spPr bwMode="auto">
            <a:xfrm>
              <a:off x="1277289" y="3869456"/>
              <a:ext cx="4571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70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cxnSp>
        <p:nvCxnSpPr>
          <p:cNvPr id="1504840845" name="Straight Arrow Connector 62"/>
          <p:cNvCxnSpPr>
            <a:stCxn id="51" idx="5"/>
            <a:endCxn id="60" idx="0"/>
          </p:cNvCxnSpPr>
          <p:nvPr/>
        </p:nvCxnSpPr>
        <p:spPr bwMode="auto">
          <a:xfrm>
            <a:off x="2046774" y="4265285"/>
            <a:ext cx="344815" cy="234997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993674088" name="Group 63"/>
          <p:cNvGrpSpPr/>
          <p:nvPr/>
        </p:nvGrpSpPr>
        <p:grpSpPr bwMode="auto">
          <a:xfrm>
            <a:off x="1667689" y="5198556"/>
            <a:ext cx="533400" cy="533400"/>
            <a:chOff x="1246221" y="3810000"/>
            <a:chExt cx="533400" cy="533400"/>
          </a:xfrm>
        </p:grpSpPr>
        <p:sp>
          <p:nvSpPr>
            <p:cNvPr id="65" name="Oval 64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66" name="TextBox 65"/>
            <p:cNvSpPr txBox="1"/>
            <p:nvPr/>
          </p:nvSpPr>
          <p:spPr bwMode="auto">
            <a:xfrm>
              <a:off x="1277289" y="3869456"/>
              <a:ext cx="4571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60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66715767" name="Group 66"/>
          <p:cNvGrpSpPr/>
          <p:nvPr/>
        </p:nvGrpSpPr>
        <p:grpSpPr bwMode="auto">
          <a:xfrm>
            <a:off x="2582089" y="5198556"/>
            <a:ext cx="533400" cy="533400"/>
            <a:chOff x="1246221" y="3810000"/>
            <a:chExt cx="533400" cy="533400"/>
          </a:xfrm>
        </p:grpSpPr>
        <p:sp>
          <p:nvSpPr>
            <p:cNvPr id="68" name="Oval 67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69" name="TextBox 68"/>
            <p:cNvSpPr txBox="1"/>
            <p:nvPr/>
          </p:nvSpPr>
          <p:spPr bwMode="auto">
            <a:xfrm>
              <a:off x="1277289" y="3869456"/>
              <a:ext cx="4571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80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380209707" name="Group 69"/>
          <p:cNvGrpSpPr/>
          <p:nvPr/>
        </p:nvGrpSpPr>
        <p:grpSpPr bwMode="auto">
          <a:xfrm>
            <a:off x="3039289" y="5889811"/>
            <a:ext cx="533400" cy="533400"/>
            <a:chOff x="1246221" y="3810000"/>
            <a:chExt cx="533400" cy="533400"/>
          </a:xfrm>
        </p:grpSpPr>
        <p:sp>
          <p:nvSpPr>
            <p:cNvPr id="71" name="Oval 70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72" name="TextBox 71"/>
            <p:cNvSpPr txBox="1"/>
            <p:nvPr/>
          </p:nvSpPr>
          <p:spPr bwMode="auto">
            <a:xfrm>
              <a:off x="1277289" y="3869456"/>
              <a:ext cx="4571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90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cxnSp>
        <p:nvCxnSpPr>
          <p:cNvPr id="220649685" name="Straight Arrow Connector 75"/>
          <p:cNvCxnSpPr>
            <a:stCxn id="60" idx="5"/>
            <a:endCxn id="68" idx="0"/>
          </p:cNvCxnSpPr>
          <p:nvPr/>
        </p:nvCxnSpPr>
        <p:spPr bwMode="auto">
          <a:xfrm>
            <a:off x="2580174" y="4955567"/>
            <a:ext cx="268615" cy="242989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66544478" name="Straight Arrow Connector 77"/>
          <p:cNvCxnSpPr>
            <a:stCxn id="60" idx="3"/>
            <a:endCxn id="65" idx="0"/>
          </p:cNvCxnSpPr>
          <p:nvPr/>
        </p:nvCxnSpPr>
        <p:spPr bwMode="auto">
          <a:xfrm flipH="1">
            <a:off x="1934389" y="4955567"/>
            <a:ext cx="268615" cy="242989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76178488" name="Straight Arrow Connector 79"/>
          <p:cNvCxnSpPr>
            <a:stCxn id="68" idx="5"/>
            <a:endCxn id="71" idx="0"/>
          </p:cNvCxnSpPr>
          <p:nvPr/>
        </p:nvCxnSpPr>
        <p:spPr bwMode="auto">
          <a:xfrm>
            <a:off x="3037374" y="5653841"/>
            <a:ext cx="268615" cy="23597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44157258" name="TextBox 80"/>
          <p:cNvSpPr txBox="1"/>
          <p:nvPr/>
        </p:nvSpPr>
        <p:spPr bwMode="auto">
          <a:xfrm>
            <a:off x="3084445" y="528059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471222656" name="TextBox 81"/>
          <p:cNvSpPr txBox="1"/>
          <p:nvPr/>
        </p:nvSpPr>
        <p:spPr bwMode="auto">
          <a:xfrm>
            <a:off x="1396756" y="528059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2105265628" name="TextBox 82"/>
          <p:cNvSpPr txBox="1"/>
          <p:nvPr/>
        </p:nvSpPr>
        <p:spPr bwMode="auto">
          <a:xfrm>
            <a:off x="2647000" y="458231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393157443" name="TextBox 83"/>
          <p:cNvSpPr txBox="1"/>
          <p:nvPr/>
        </p:nvSpPr>
        <p:spPr bwMode="auto">
          <a:xfrm>
            <a:off x="806911" y="458231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394381225" name="TextBox 84"/>
          <p:cNvSpPr txBox="1"/>
          <p:nvPr/>
        </p:nvSpPr>
        <p:spPr bwMode="auto">
          <a:xfrm>
            <a:off x="1292325" y="389203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189929892" name="TextBox 85"/>
          <p:cNvSpPr txBox="1"/>
          <p:nvPr/>
        </p:nvSpPr>
        <p:spPr bwMode="auto">
          <a:xfrm>
            <a:off x="970521" y="6019801"/>
            <a:ext cx="1306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2400" b="1"/>
              <a:t>Insert </a:t>
            </a:r>
            <a:r>
              <a:rPr lang="en-IN" sz="2400" b="1">
                <a:solidFill>
                  <a:srgbClr val="C00000"/>
                </a:solidFill>
              </a:rPr>
              <a:t>90</a:t>
            </a:r>
            <a:endParaRPr lang="en-US" sz="2400" b="1">
              <a:solidFill>
                <a:srgbClr val="C00000"/>
              </a:solidFill>
            </a:endParaRPr>
          </a:p>
        </p:txBody>
      </p:sp>
      <p:sp>
        <p:nvSpPr>
          <p:cNvPr id="1082146738" name="TextBox 86"/>
          <p:cNvSpPr txBox="1"/>
          <p:nvPr/>
        </p:nvSpPr>
        <p:spPr bwMode="auto">
          <a:xfrm>
            <a:off x="3533324" y="5971845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B’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607933771" name="TextBox 87"/>
          <p:cNvSpPr txBox="1"/>
          <p:nvPr/>
        </p:nvSpPr>
        <p:spPr bwMode="auto">
          <a:xfrm>
            <a:off x="3252491" y="5280590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R’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538800779" name="TextBox 88"/>
          <p:cNvSpPr txBox="1"/>
          <p:nvPr/>
        </p:nvSpPr>
        <p:spPr bwMode="auto">
          <a:xfrm>
            <a:off x="1186625" y="5280590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B’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2030883605" name="TextBox 89"/>
          <p:cNvSpPr txBox="1"/>
          <p:nvPr/>
        </p:nvSpPr>
        <p:spPr bwMode="auto">
          <a:xfrm>
            <a:off x="2799400" y="4582316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R’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26309003" name="TextBox 90"/>
          <p:cNvSpPr txBox="1"/>
          <p:nvPr/>
        </p:nvSpPr>
        <p:spPr bwMode="auto">
          <a:xfrm>
            <a:off x="619044" y="4582316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B’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755692548" name="TextBox 91"/>
          <p:cNvSpPr txBox="1"/>
          <p:nvPr/>
        </p:nvSpPr>
        <p:spPr bwMode="auto">
          <a:xfrm>
            <a:off x="2159867" y="3892034"/>
            <a:ext cx="1412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b="1">
                <a:solidFill>
                  <a:srgbClr val="C00000"/>
                </a:solidFill>
              </a:rPr>
              <a:t>Critical Node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440666623" name="TextBox 92"/>
          <p:cNvSpPr txBox="1"/>
          <p:nvPr/>
        </p:nvSpPr>
        <p:spPr bwMode="auto">
          <a:xfrm>
            <a:off x="4531604" y="4267200"/>
            <a:ext cx="13095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Left </a:t>
            </a:r>
            <a:endParaRPr/>
          </a:p>
          <a:p>
            <a:pPr algn="ctr">
              <a:defRPr/>
            </a:pPr>
            <a:r>
              <a:rPr lang="en-IN" b="1"/>
              <a:t>Rotation of </a:t>
            </a:r>
            <a:endParaRPr/>
          </a:p>
          <a:p>
            <a:pPr algn="ctr">
              <a:defRPr/>
            </a:pPr>
            <a:r>
              <a:rPr lang="en-IN" b="1"/>
              <a:t>Node 50</a:t>
            </a:r>
            <a:endParaRPr lang="en-US" b="1"/>
          </a:p>
        </p:txBody>
      </p:sp>
      <p:cxnSp>
        <p:nvCxnSpPr>
          <p:cNvPr id="622477599" name="Straight Arrow Connector 93"/>
          <p:cNvCxnSpPr/>
          <p:nvPr/>
        </p:nvCxnSpPr>
        <p:spPr bwMode="auto">
          <a:xfrm>
            <a:off x="4538698" y="5257800"/>
            <a:ext cx="1295400" cy="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783285844" name="Group 94"/>
          <p:cNvGrpSpPr/>
          <p:nvPr/>
        </p:nvGrpSpPr>
        <p:grpSpPr bwMode="auto">
          <a:xfrm>
            <a:off x="4919698" y="5553226"/>
            <a:ext cx="533400" cy="533400"/>
            <a:chOff x="1246221" y="3810000"/>
            <a:chExt cx="533400" cy="533400"/>
          </a:xfrm>
        </p:grpSpPr>
        <p:sp>
          <p:nvSpPr>
            <p:cNvPr id="96" name="Oval 95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97" name="TextBox 96"/>
            <p:cNvSpPr txBox="1"/>
            <p:nvPr/>
          </p:nvSpPr>
          <p:spPr bwMode="auto">
            <a:xfrm>
              <a:off x="1277289" y="3869456"/>
              <a:ext cx="4571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60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853696569" name="Group 97"/>
          <p:cNvGrpSpPr/>
          <p:nvPr/>
        </p:nvGrpSpPr>
        <p:grpSpPr bwMode="auto">
          <a:xfrm>
            <a:off x="7687489" y="3962400"/>
            <a:ext cx="533400" cy="533400"/>
            <a:chOff x="1246221" y="3810000"/>
            <a:chExt cx="533400" cy="533400"/>
          </a:xfrm>
        </p:grpSpPr>
        <p:sp>
          <p:nvSpPr>
            <p:cNvPr id="99" name="Oval 98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00" name="TextBox 99"/>
            <p:cNvSpPr txBox="1"/>
            <p:nvPr/>
          </p:nvSpPr>
          <p:spPr bwMode="auto">
            <a:xfrm>
              <a:off x="1277289" y="3869456"/>
              <a:ext cx="4571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70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916894004" name="Group 100"/>
          <p:cNvGrpSpPr/>
          <p:nvPr/>
        </p:nvGrpSpPr>
        <p:grpSpPr bwMode="auto">
          <a:xfrm>
            <a:off x="8220889" y="4692181"/>
            <a:ext cx="533400" cy="533400"/>
            <a:chOff x="1246221" y="3810000"/>
            <a:chExt cx="533400" cy="533400"/>
          </a:xfrm>
        </p:grpSpPr>
        <p:sp>
          <p:nvSpPr>
            <p:cNvPr id="102" name="Oval 101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03" name="TextBox 102"/>
            <p:cNvSpPr txBox="1"/>
            <p:nvPr/>
          </p:nvSpPr>
          <p:spPr bwMode="auto">
            <a:xfrm>
              <a:off x="1277289" y="3869456"/>
              <a:ext cx="4571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80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40927066" name="Group 103"/>
          <p:cNvGrpSpPr/>
          <p:nvPr/>
        </p:nvGrpSpPr>
        <p:grpSpPr bwMode="auto">
          <a:xfrm>
            <a:off x="8830489" y="5447457"/>
            <a:ext cx="533400" cy="533400"/>
            <a:chOff x="1246221" y="3810000"/>
            <a:chExt cx="533400" cy="533400"/>
          </a:xfrm>
        </p:grpSpPr>
        <p:sp>
          <p:nvSpPr>
            <p:cNvPr id="105" name="Oval 104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06" name="TextBox 105"/>
            <p:cNvSpPr txBox="1"/>
            <p:nvPr/>
          </p:nvSpPr>
          <p:spPr bwMode="auto">
            <a:xfrm>
              <a:off x="1277289" y="3869456"/>
              <a:ext cx="4571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90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cxnSp>
        <p:nvCxnSpPr>
          <p:cNvPr id="700987624" name="Straight Arrow Connector 106"/>
          <p:cNvCxnSpPr>
            <a:stCxn id="99" idx="5"/>
            <a:endCxn id="102" idx="0"/>
          </p:cNvCxnSpPr>
          <p:nvPr/>
        </p:nvCxnSpPr>
        <p:spPr bwMode="auto">
          <a:xfrm>
            <a:off x="8142774" y="4417685"/>
            <a:ext cx="344815" cy="274496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34581188" name="Straight Arrow Connector 107"/>
          <p:cNvCxnSpPr>
            <a:stCxn id="102" idx="5"/>
            <a:endCxn id="105" idx="0"/>
          </p:cNvCxnSpPr>
          <p:nvPr/>
        </p:nvCxnSpPr>
        <p:spPr bwMode="auto">
          <a:xfrm>
            <a:off x="8676174" y="5147466"/>
            <a:ext cx="421015" cy="299991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43535721" name="Group 108"/>
          <p:cNvGrpSpPr/>
          <p:nvPr/>
        </p:nvGrpSpPr>
        <p:grpSpPr bwMode="auto">
          <a:xfrm>
            <a:off x="7106821" y="4692181"/>
            <a:ext cx="533400" cy="533400"/>
            <a:chOff x="1246221" y="3810000"/>
            <a:chExt cx="533400" cy="533400"/>
          </a:xfrm>
        </p:grpSpPr>
        <p:sp>
          <p:nvSpPr>
            <p:cNvPr id="110" name="Oval 109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11" name="TextBox 110"/>
            <p:cNvSpPr txBox="1"/>
            <p:nvPr/>
          </p:nvSpPr>
          <p:spPr bwMode="auto">
            <a:xfrm>
              <a:off x="1285702" y="3877734"/>
              <a:ext cx="457177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50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98672154" name="Group 111"/>
          <p:cNvGrpSpPr/>
          <p:nvPr/>
        </p:nvGrpSpPr>
        <p:grpSpPr bwMode="auto">
          <a:xfrm>
            <a:off x="6573421" y="5447457"/>
            <a:ext cx="533400" cy="533400"/>
            <a:chOff x="1246221" y="3810000"/>
            <a:chExt cx="533400" cy="533400"/>
          </a:xfrm>
        </p:grpSpPr>
        <p:sp>
          <p:nvSpPr>
            <p:cNvPr id="113" name="Oval 112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14" name="TextBox 113"/>
            <p:cNvSpPr txBox="1"/>
            <p:nvPr/>
          </p:nvSpPr>
          <p:spPr bwMode="auto">
            <a:xfrm>
              <a:off x="1277288" y="3869456"/>
              <a:ext cx="457177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40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cxnSp>
        <p:nvCxnSpPr>
          <p:cNvPr id="1672618699" name="Straight Arrow Connector 114"/>
          <p:cNvCxnSpPr>
            <a:stCxn id="110" idx="3"/>
            <a:endCxn id="113" idx="0"/>
          </p:cNvCxnSpPr>
          <p:nvPr/>
        </p:nvCxnSpPr>
        <p:spPr bwMode="auto">
          <a:xfrm flipH="1">
            <a:off x="6840121" y="5147466"/>
            <a:ext cx="344815" cy="299991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30747662" name="Straight Arrow Connector 116"/>
          <p:cNvCxnSpPr>
            <a:stCxn id="99" idx="3"/>
            <a:endCxn id="110" idx="0"/>
          </p:cNvCxnSpPr>
          <p:nvPr/>
        </p:nvCxnSpPr>
        <p:spPr bwMode="auto">
          <a:xfrm flipH="1">
            <a:off x="7373521" y="4417685"/>
            <a:ext cx="392083" cy="274496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969368065" name="Group 117"/>
          <p:cNvGrpSpPr/>
          <p:nvPr/>
        </p:nvGrpSpPr>
        <p:grpSpPr bwMode="auto">
          <a:xfrm>
            <a:off x="7610108" y="5447457"/>
            <a:ext cx="533400" cy="533400"/>
            <a:chOff x="1246221" y="3810000"/>
            <a:chExt cx="533400" cy="533400"/>
          </a:xfrm>
        </p:grpSpPr>
        <p:sp>
          <p:nvSpPr>
            <p:cNvPr id="119" name="Oval 118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20" name="TextBox 119"/>
            <p:cNvSpPr txBox="1"/>
            <p:nvPr/>
          </p:nvSpPr>
          <p:spPr bwMode="auto">
            <a:xfrm>
              <a:off x="1277289" y="3869456"/>
              <a:ext cx="4571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60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cxnSp>
        <p:nvCxnSpPr>
          <p:cNvPr id="903979882" name="Straight Arrow Connector 121"/>
          <p:cNvCxnSpPr>
            <a:stCxn id="110" idx="5"/>
            <a:endCxn id="119" idx="0"/>
          </p:cNvCxnSpPr>
          <p:nvPr/>
        </p:nvCxnSpPr>
        <p:spPr bwMode="auto">
          <a:xfrm>
            <a:off x="7562106" y="5147466"/>
            <a:ext cx="314702" cy="299991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55744073" name="TextBox 122"/>
          <p:cNvSpPr txBox="1"/>
          <p:nvPr/>
        </p:nvSpPr>
        <p:spPr bwMode="auto">
          <a:xfrm>
            <a:off x="6239690" y="5529491"/>
            <a:ext cx="314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669995469" name="TextBox 123"/>
          <p:cNvSpPr txBox="1"/>
          <p:nvPr/>
        </p:nvSpPr>
        <p:spPr bwMode="auto">
          <a:xfrm>
            <a:off x="7316536" y="5529491"/>
            <a:ext cx="314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30391990" name="TextBox 124"/>
          <p:cNvSpPr txBox="1"/>
          <p:nvPr/>
        </p:nvSpPr>
        <p:spPr bwMode="auto">
          <a:xfrm>
            <a:off x="8572426" y="5529491"/>
            <a:ext cx="314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37737046" name="TextBox 125"/>
          <p:cNvSpPr txBox="1"/>
          <p:nvPr/>
        </p:nvSpPr>
        <p:spPr bwMode="auto">
          <a:xfrm>
            <a:off x="6839581" y="4774215"/>
            <a:ext cx="314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212711085" name="TextBox 126"/>
          <p:cNvSpPr txBox="1"/>
          <p:nvPr/>
        </p:nvSpPr>
        <p:spPr bwMode="auto">
          <a:xfrm>
            <a:off x="8744581" y="4774215"/>
            <a:ext cx="314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514419021" name="TextBox 127"/>
          <p:cNvSpPr txBox="1"/>
          <p:nvPr/>
        </p:nvSpPr>
        <p:spPr bwMode="auto">
          <a:xfrm>
            <a:off x="8211181" y="4044434"/>
            <a:ext cx="314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961369724" name="Rectangle 115"/>
          <p:cNvSpPr/>
          <p:nvPr/>
        </p:nvSpPr>
        <p:spPr bwMode="auto">
          <a:xfrm>
            <a:off x="8327085" y="914400"/>
            <a:ext cx="1417804" cy="437465"/>
          </a:xfrm>
          <a:prstGeom prst="rect">
            <a:avLst/>
          </a:prstGeom>
          <a:solidFill>
            <a:srgbClr val="B84742"/>
          </a:solidFill>
          <a:ln>
            <a:solidFill>
              <a:srgbClr val="9A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Case - 4</a:t>
            </a:r>
            <a:endParaRPr lang="en-US" sz="24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36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137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657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68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925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9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02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402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0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109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60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84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88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444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013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98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9798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65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415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26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456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809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56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2000" fill="hold"/>
                                        <p:tgtEl>
                                          <p:spTgt spid="17681375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4" dur="2000" fill="hold"/>
                                        <p:tgtEl>
                                          <p:spTgt spid="17681375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2000" fill="hold"/>
                                        <p:tgtEl>
                                          <p:spTgt spid="17681375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43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290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422290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04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57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30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115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05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172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47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1924477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773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70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834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424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904424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489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15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100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9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58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25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53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20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13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387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95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84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544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674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4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15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157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22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526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15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8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2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17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20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14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933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80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88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09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69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6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47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622477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28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69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987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89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58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27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74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2" dur="500"/>
                                        <p:tgtEl>
                                          <p:spTgt spid="153074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61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7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97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5" dur="500"/>
                                        <p:tgtEl>
                                          <p:spTgt spid="903979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9368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744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995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9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3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71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419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8137502" grpId="0" animBg="1"/>
      <p:bldP spid="231657276" grpId="0" animBg="1"/>
      <p:bldP spid="1561682277" grpId="0" animBg="1"/>
      <p:bldP spid="211303801" grpId="0" animBg="1"/>
      <p:bldP spid="1887109795" grpId="0" animBg="1"/>
      <p:bldP spid="221653086" grpId="0" animBg="1"/>
      <p:bldP spid="1029604844" grpId="0"/>
      <p:bldP spid="1029845149" grpId="0"/>
      <p:bldP spid="2079388803" grpId="0"/>
      <p:bldP spid="1944445602" grpId="0"/>
      <p:bldP spid="1543013659" grpId="0"/>
      <p:bldP spid="1543415519" grpId="0"/>
      <p:bldP spid="1955267050" grpId="0"/>
      <p:bldP spid="2053456457" grpId="0"/>
      <p:bldP spid="2143809678" grpId="0"/>
      <p:bldP spid="217569619" grpId="0"/>
      <p:bldP spid="1331221618" grpId="0"/>
      <p:bldP spid="513843148" grpId="0"/>
      <p:bldP spid="1700004473" grpId="0" animBg="1"/>
      <p:bldP spid="1793575484" grpId="0" animBg="1"/>
      <p:bldP spid="593930545" grpId="0" animBg="1"/>
      <p:bldP spid="161405942" grpId="0" animBg="1"/>
      <p:bldP spid="292773356" grpId="0" animBg="1"/>
      <p:bldP spid="1132834016" grpId="0" animBg="1"/>
      <p:bldP spid="852489208" grpId="0" animBg="1"/>
      <p:bldP spid="1619154066" grpId="0"/>
      <p:bldP spid="240100225" grpId="0"/>
      <p:bldP spid="930956328" grpId="0"/>
      <p:bldP spid="1871585082" grpId="0"/>
      <p:bldP spid="1605250433" grpId="0"/>
      <p:bldP spid="2144537207" grpId="0"/>
      <p:bldP spid="2144157258" grpId="0"/>
      <p:bldP spid="1471222656" grpId="0"/>
      <p:bldP spid="2105265628" grpId="0"/>
      <p:bldP spid="1393157443" grpId="0"/>
      <p:bldP spid="394381225" grpId="0"/>
      <p:bldP spid="189929892" grpId="0"/>
      <p:bldP spid="1082146738" grpId="0"/>
      <p:bldP spid="607933771" grpId="0"/>
      <p:bldP spid="538800779" grpId="0"/>
      <p:bldP spid="2030883605" grpId="0"/>
      <p:bldP spid="126309003" grpId="0"/>
      <p:bldP spid="1755692548" grpId="0"/>
      <p:bldP spid="440666623" grpId="0"/>
      <p:bldP spid="1155744073" grpId="0"/>
      <p:bldP spid="669995469" grpId="0"/>
      <p:bldP spid="130391990" grpId="0"/>
      <p:bldP spid="37737046" grpId="0"/>
      <p:bldP spid="212711085" grpId="0"/>
      <p:bldP spid="514419021" grpId="0"/>
      <p:bldP spid="9613697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9847253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IN" sz="3400"/>
              <a:t>Insertion into Right sub-tree of node’s Left child</a:t>
            </a:r>
            <a:endParaRPr lang="en-US" sz="3400"/>
          </a:p>
        </p:txBody>
      </p:sp>
      <p:sp>
        <p:nvSpPr>
          <p:cNvPr id="1556275647" name="Content Placeholder 2"/>
          <p:cNvSpPr>
            <a:spLocks noGrp="1"/>
          </p:cNvSpPr>
          <p:nvPr>
            <p:ph idx="1"/>
          </p:nvPr>
        </p:nvSpPr>
        <p:spPr bwMode="auto">
          <a:xfrm>
            <a:off x="131180" y="863444"/>
            <a:ext cx="9339113" cy="5590565"/>
          </a:xfrm>
        </p:spPr>
        <p:txBody>
          <a:bodyPr/>
          <a:lstStyle/>
          <a:p>
            <a:pPr>
              <a:defRPr/>
            </a:pPr>
            <a:r>
              <a:rPr lang="en-IN" b="1"/>
              <a:t>Case 2: </a:t>
            </a:r>
            <a:r>
              <a:rPr lang="en-IN"/>
              <a:t>If node becomes unbalanced </a:t>
            </a:r>
            <a:r>
              <a:rPr lang="en-IN" b="1">
                <a:solidFill>
                  <a:srgbClr val="C00000"/>
                </a:solidFill>
              </a:rPr>
              <a:t>after insertion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/>
              <a:t>of</a:t>
            </a:r>
            <a:r>
              <a:rPr lang="en-IN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new node </a:t>
            </a:r>
            <a:r>
              <a:rPr lang="en-IN"/>
              <a:t>at </a:t>
            </a:r>
            <a:r>
              <a:rPr lang="en-IN" b="1">
                <a:solidFill>
                  <a:srgbClr val="C00000"/>
                </a:solidFill>
              </a:rPr>
              <a:t>Right sub-tree </a:t>
            </a:r>
            <a:r>
              <a:rPr lang="en-IN"/>
              <a:t>of </a:t>
            </a:r>
            <a:r>
              <a:rPr lang="en-IN" b="1">
                <a:solidFill>
                  <a:srgbClr val="C00000"/>
                </a:solidFill>
              </a:rPr>
              <a:t>node’s</a:t>
            </a:r>
            <a:r>
              <a:rPr lang="en-IN" b="1">
                <a:solidFill>
                  <a:srgbClr val="FF0000"/>
                </a:solidFill>
              </a:rPr>
              <a:t> </a:t>
            </a:r>
            <a:r>
              <a:rPr lang="en-IN" b="1">
                <a:solidFill>
                  <a:srgbClr val="C00000"/>
                </a:solidFill>
              </a:rPr>
              <a:t>Left child</a:t>
            </a:r>
            <a:r>
              <a:rPr lang="en-IN"/>
              <a:t>, then we need to perform </a:t>
            </a:r>
            <a:r>
              <a:rPr lang="en-IN" b="1">
                <a:solidFill>
                  <a:srgbClr val="C00000"/>
                </a:solidFill>
              </a:rPr>
              <a:t>Left Right Rotation </a:t>
            </a:r>
            <a:r>
              <a:rPr lang="en-IN"/>
              <a:t>for </a:t>
            </a:r>
            <a:r>
              <a:rPr lang="en-IN" b="1">
                <a:solidFill>
                  <a:srgbClr val="C00000"/>
                </a:solidFill>
              </a:rPr>
              <a:t>unbalanced node</a:t>
            </a:r>
            <a:r>
              <a:rPr lang="en-IN"/>
              <a:t>.</a:t>
            </a:r>
            <a:endParaRPr/>
          </a:p>
          <a:p>
            <a:pPr>
              <a:defRPr/>
            </a:pPr>
            <a:r>
              <a:rPr lang="en-IN" b="1"/>
              <a:t>Left Right Rotation</a:t>
            </a:r>
            <a:endParaRPr/>
          </a:p>
          <a:p>
            <a:pPr lvl="1">
              <a:buClr>
                <a:srgbClr val="B84742"/>
              </a:buClr>
              <a:defRPr/>
            </a:pPr>
            <a:r>
              <a:rPr lang="en-IN" b="1">
                <a:solidFill>
                  <a:srgbClr val="C00000"/>
                </a:solidFill>
              </a:rPr>
              <a:t>Left Rotation </a:t>
            </a:r>
            <a:r>
              <a:rPr lang="en-IN"/>
              <a:t>of </a:t>
            </a:r>
            <a:r>
              <a:rPr lang="en-IN" b="1">
                <a:solidFill>
                  <a:srgbClr val="C00000"/>
                </a:solidFill>
              </a:rPr>
              <a:t>Left Child</a:t>
            </a:r>
            <a:r>
              <a:rPr lang="en-IN">
                <a:solidFill>
                  <a:srgbClr val="C00000"/>
                </a:solidFill>
              </a:rPr>
              <a:t> </a:t>
            </a:r>
            <a:r>
              <a:rPr lang="en-IN"/>
              <a:t>followed by </a:t>
            </a:r>
            <a:endParaRPr/>
          </a:p>
          <a:p>
            <a:pPr lvl="1">
              <a:buClr>
                <a:srgbClr val="B84742"/>
              </a:buClr>
              <a:defRPr/>
            </a:pPr>
            <a:r>
              <a:rPr lang="en-IN" b="1">
                <a:solidFill>
                  <a:srgbClr val="C00000"/>
                </a:solidFill>
              </a:rPr>
              <a:t>Right Rotation</a:t>
            </a:r>
            <a:r>
              <a:rPr lang="en-IN">
                <a:solidFill>
                  <a:srgbClr val="C00000"/>
                </a:solidFill>
              </a:rPr>
              <a:t> </a:t>
            </a:r>
            <a:r>
              <a:rPr lang="en-IN"/>
              <a:t>of </a:t>
            </a:r>
            <a:r>
              <a:rPr lang="en-IN" b="1">
                <a:solidFill>
                  <a:srgbClr val="C00000"/>
                </a:solidFill>
              </a:rPr>
              <a:t>Parent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2110040506" name="TextBox 11"/>
          <p:cNvSpPr txBox="1"/>
          <p:nvPr/>
        </p:nvSpPr>
        <p:spPr bwMode="auto">
          <a:xfrm>
            <a:off x="9154018" y="2023517"/>
            <a:ext cx="2980303" cy="14927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2800" b="1">
                <a:solidFill>
                  <a:srgbClr val="C00000"/>
                </a:solidFill>
              </a:rPr>
              <a:t>Left Right Rotation</a:t>
            </a:r>
            <a:endParaRPr/>
          </a:p>
          <a:p>
            <a:pPr algn="ctr">
              <a:defRPr/>
            </a:pPr>
            <a:r>
              <a:rPr lang="en-IN" sz="2100" b="1"/>
              <a:t>Left Rotation of Left Child</a:t>
            </a:r>
            <a:endParaRPr/>
          </a:p>
          <a:p>
            <a:pPr algn="ctr">
              <a:defRPr/>
            </a:pPr>
            <a:r>
              <a:rPr lang="en-IN" sz="2100" b="1"/>
              <a:t>followed by</a:t>
            </a:r>
            <a:endParaRPr/>
          </a:p>
          <a:p>
            <a:pPr algn="ctr">
              <a:defRPr/>
            </a:pPr>
            <a:r>
              <a:rPr lang="en-IN" sz="2100" b="1"/>
              <a:t>Right Rotation of Parent</a:t>
            </a:r>
            <a:endParaRPr lang="en-US" sz="2100"/>
          </a:p>
        </p:txBody>
      </p:sp>
      <p:sp>
        <p:nvSpPr>
          <p:cNvPr id="1925368951" name="Oval 12"/>
          <p:cNvSpPr/>
          <p:nvPr/>
        </p:nvSpPr>
        <p:spPr bwMode="auto">
          <a:xfrm>
            <a:off x="8086279" y="2180257"/>
            <a:ext cx="468000" cy="468000"/>
          </a:xfrm>
          <a:prstGeom prst="ellipse">
            <a:avLst/>
          </a:prstGeom>
          <a:pattFill prst="wdUpDiag">
            <a:fgClr>
              <a:srgbClr val="B84742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91719383" name="Oval 13"/>
          <p:cNvSpPr/>
          <p:nvPr/>
        </p:nvSpPr>
        <p:spPr bwMode="auto">
          <a:xfrm>
            <a:off x="7635899" y="2839162"/>
            <a:ext cx="468000" cy="468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03563292" name="Oval 14"/>
          <p:cNvSpPr/>
          <p:nvPr/>
        </p:nvSpPr>
        <p:spPr bwMode="auto">
          <a:xfrm>
            <a:off x="8518922" y="2839162"/>
            <a:ext cx="468000" cy="468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45670543" name="Straight Arrow Connector 15"/>
          <p:cNvCxnSpPr>
            <a:stCxn id="1925368951" idx="3"/>
            <a:endCxn id="1791719383" idx="0"/>
          </p:cNvCxnSpPr>
          <p:nvPr/>
        </p:nvCxnSpPr>
        <p:spPr bwMode="auto">
          <a:xfrm flipH="1">
            <a:off x="7869899" y="2579720"/>
            <a:ext cx="284918" cy="259442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50045131" name="Straight Arrow Connector 16"/>
          <p:cNvCxnSpPr>
            <a:stCxn id="1925368951" idx="5"/>
            <a:endCxn id="603563292" idx="0"/>
          </p:cNvCxnSpPr>
          <p:nvPr/>
        </p:nvCxnSpPr>
        <p:spPr bwMode="auto">
          <a:xfrm>
            <a:off x="8485743" y="2579720"/>
            <a:ext cx="267179" cy="259442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81280865" name="Oval 17"/>
          <p:cNvSpPr/>
          <p:nvPr/>
        </p:nvSpPr>
        <p:spPr bwMode="auto">
          <a:xfrm>
            <a:off x="8016899" y="3578749"/>
            <a:ext cx="468000" cy="468000"/>
          </a:xfrm>
          <a:prstGeom prst="ellipse">
            <a:avLst/>
          </a:prstGeom>
          <a:solidFill>
            <a:srgbClr val="B84742"/>
          </a:solidFill>
          <a:ln>
            <a:solidFill>
              <a:srgbClr val="9A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131995424" name="Straight Arrow Connector 18"/>
          <p:cNvCxnSpPr>
            <a:stCxn id="1791719383" idx="5"/>
            <a:endCxn id="481280865" idx="0"/>
          </p:cNvCxnSpPr>
          <p:nvPr/>
        </p:nvCxnSpPr>
        <p:spPr bwMode="auto">
          <a:xfrm>
            <a:off x="8035362" y="3238625"/>
            <a:ext cx="215537" cy="340124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27085853" name="TextBox 19"/>
          <p:cNvSpPr txBox="1"/>
          <p:nvPr/>
        </p:nvSpPr>
        <p:spPr bwMode="auto">
          <a:xfrm>
            <a:off x="7803953" y="1743842"/>
            <a:ext cx="1032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2000" b="1"/>
              <a:t>Case - 2</a:t>
            </a:r>
            <a:endParaRPr lang="en-US" sz="2000" b="1"/>
          </a:p>
        </p:txBody>
      </p:sp>
      <p:sp>
        <p:nvSpPr>
          <p:cNvPr id="1368831278" name="Oval 20"/>
          <p:cNvSpPr/>
          <p:nvPr/>
        </p:nvSpPr>
        <p:spPr bwMode="auto">
          <a:xfrm>
            <a:off x="1426318" y="3894353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J</a:t>
            </a:r>
            <a:endParaRPr lang="en-US" sz="2400" b="1"/>
          </a:p>
        </p:txBody>
      </p:sp>
      <p:sp>
        <p:nvSpPr>
          <p:cNvPr id="67612757" name="Oval 21"/>
          <p:cNvSpPr/>
          <p:nvPr/>
        </p:nvSpPr>
        <p:spPr bwMode="auto">
          <a:xfrm>
            <a:off x="905848" y="4551231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K</a:t>
            </a:r>
            <a:endParaRPr lang="en-US" sz="2400" b="1"/>
          </a:p>
        </p:txBody>
      </p:sp>
      <p:sp>
        <p:nvSpPr>
          <p:cNvPr id="753558697" name="Oval 22"/>
          <p:cNvSpPr/>
          <p:nvPr/>
        </p:nvSpPr>
        <p:spPr bwMode="auto">
          <a:xfrm>
            <a:off x="1932697" y="4551230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Z</a:t>
            </a:r>
            <a:endParaRPr lang="en-US" sz="2400" b="1"/>
          </a:p>
        </p:txBody>
      </p:sp>
      <p:sp>
        <p:nvSpPr>
          <p:cNvPr id="1578418283" name="Oval 23"/>
          <p:cNvSpPr/>
          <p:nvPr/>
        </p:nvSpPr>
        <p:spPr bwMode="auto">
          <a:xfrm>
            <a:off x="409179" y="5273762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X</a:t>
            </a:r>
            <a:endParaRPr lang="en-US" sz="2400" b="1"/>
          </a:p>
        </p:txBody>
      </p:sp>
      <p:sp>
        <p:nvSpPr>
          <p:cNvPr id="317701015" name="Oval 24"/>
          <p:cNvSpPr/>
          <p:nvPr/>
        </p:nvSpPr>
        <p:spPr bwMode="auto">
          <a:xfrm>
            <a:off x="1399297" y="5299119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Y</a:t>
            </a:r>
            <a:endParaRPr lang="en-US" sz="2400" b="1"/>
          </a:p>
        </p:txBody>
      </p:sp>
      <p:sp>
        <p:nvSpPr>
          <p:cNvPr id="77166832" name="Oval 25"/>
          <p:cNvSpPr/>
          <p:nvPr/>
        </p:nvSpPr>
        <p:spPr bwMode="auto">
          <a:xfrm>
            <a:off x="1893228" y="6035762"/>
            <a:ext cx="496669" cy="496669"/>
          </a:xfrm>
          <a:prstGeom prst="ellipse">
            <a:avLst/>
          </a:prstGeom>
          <a:solidFill>
            <a:srgbClr val="B84742"/>
          </a:solidFill>
          <a:ln>
            <a:solidFill>
              <a:srgbClr val="9A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n</a:t>
            </a:r>
            <a:endParaRPr lang="en-US" sz="2400" b="1"/>
          </a:p>
        </p:txBody>
      </p:sp>
      <p:cxnSp>
        <p:nvCxnSpPr>
          <p:cNvPr id="482908446" name="Straight Arrow Connector 26"/>
          <p:cNvCxnSpPr>
            <a:stCxn id="1368831278" idx="3"/>
            <a:endCxn id="67612757" idx="0"/>
          </p:cNvCxnSpPr>
          <p:nvPr/>
        </p:nvCxnSpPr>
        <p:spPr bwMode="auto">
          <a:xfrm flipH="1">
            <a:off x="1154183" y="4318287"/>
            <a:ext cx="344869" cy="232944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110107" name="Straight Arrow Connector 27"/>
          <p:cNvCxnSpPr>
            <a:stCxn id="1368831278" idx="5"/>
            <a:endCxn id="753558697" idx="0"/>
          </p:cNvCxnSpPr>
          <p:nvPr/>
        </p:nvCxnSpPr>
        <p:spPr bwMode="auto">
          <a:xfrm>
            <a:off x="1850252" y="4318287"/>
            <a:ext cx="330780" cy="232943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96384866" name="Straight Arrow Connector 28"/>
          <p:cNvCxnSpPr>
            <a:stCxn id="67612757" idx="3"/>
            <a:endCxn id="1578418283" idx="0"/>
          </p:cNvCxnSpPr>
          <p:nvPr/>
        </p:nvCxnSpPr>
        <p:spPr bwMode="auto">
          <a:xfrm flipH="1">
            <a:off x="657514" y="4975165"/>
            <a:ext cx="321069" cy="298597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44546346" name="Straight Arrow Connector 29"/>
          <p:cNvCxnSpPr>
            <a:stCxn id="67612757" idx="5"/>
            <a:endCxn id="317701015" idx="0"/>
          </p:cNvCxnSpPr>
          <p:nvPr/>
        </p:nvCxnSpPr>
        <p:spPr bwMode="auto">
          <a:xfrm>
            <a:off x="1329782" y="4975165"/>
            <a:ext cx="317850" cy="323954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14677095" name="Straight Arrow Connector 30"/>
          <p:cNvCxnSpPr>
            <a:stCxn id="317701015" idx="5"/>
            <a:endCxn id="77166832" idx="0"/>
          </p:cNvCxnSpPr>
          <p:nvPr/>
        </p:nvCxnSpPr>
        <p:spPr bwMode="auto">
          <a:xfrm>
            <a:off x="1823230" y="5723053"/>
            <a:ext cx="318332" cy="312709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32335987" name="TextBox 31"/>
          <p:cNvSpPr txBox="1"/>
          <p:nvPr/>
        </p:nvSpPr>
        <p:spPr bwMode="auto">
          <a:xfrm>
            <a:off x="1616607" y="612923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849901805" name="TextBox 32"/>
          <p:cNvSpPr txBox="1"/>
          <p:nvPr/>
        </p:nvSpPr>
        <p:spPr bwMode="auto">
          <a:xfrm>
            <a:off x="1170696" y="538943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270407182" name="TextBox 33"/>
          <p:cNvSpPr txBox="1"/>
          <p:nvPr/>
        </p:nvSpPr>
        <p:spPr bwMode="auto">
          <a:xfrm>
            <a:off x="136519" y="535838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085512122" name="TextBox 34"/>
          <p:cNvSpPr txBox="1"/>
          <p:nvPr/>
        </p:nvSpPr>
        <p:spPr bwMode="auto">
          <a:xfrm>
            <a:off x="637296" y="460805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186263624" name="TextBox 35"/>
          <p:cNvSpPr txBox="1"/>
          <p:nvPr/>
        </p:nvSpPr>
        <p:spPr bwMode="auto">
          <a:xfrm>
            <a:off x="1681518" y="462460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756241655" name="TextBox 36"/>
          <p:cNvSpPr txBox="1"/>
          <p:nvPr/>
        </p:nvSpPr>
        <p:spPr bwMode="auto">
          <a:xfrm>
            <a:off x="2008896" y="3958021"/>
            <a:ext cx="1412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b="1">
                <a:solidFill>
                  <a:srgbClr val="C00000"/>
                </a:solidFill>
              </a:rPr>
              <a:t>Critical Node</a:t>
            </a:r>
            <a:endParaRPr lang="en-US" b="1">
              <a:solidFill>
                <a:srgbClr val="C00000"/>
              </a:solidFill>
            </a:endParaRPr>
          </a:p>
        </p:txBody>
      </p:sp>
      <p:cxnSp>
        <p:nvCxnSpPr>
          <p:cNvPr id="1539747798" name="Straight Arrow Connector 37"/>
          <p:cNvCxnSpPr/>
          <p:nvPr/>
        </p:nvCxnSpPr>
        <p:spPr bwMode="auto">
          <a:xfrm>
            <a:off x="2985636" y="5465630"/>
            <a:ext cx="1676400" cy="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12617832" name="TextBox 38"/>
          <p:cNvSpPr txBox="1"/>
          <p:nvPr/>
        </p:nvSpPr>
        <p:spPr bwMode="auto">
          <a:xfrm>
            <a:off x="3084916" y="4475029"/>
            <a:ext cx="14778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Left Rotation </a:t>
            </a:r>
            <a:endParaRPr/>
          </a:p>
          <a:p>
            <a:pPr algn="ctr">
              <a:defRPr/>
            </a:pPr>
            <a:r>
              <a:rPr lang="en-IN" b="1"/>
              <a:t>of </a:t>
            </a:r>
            <a:endParaRPr/>
          </a:p>
          <a:p>
            <a:pPr algn="ctr">
              <a:defRPr/>
            </a:pPr>
            <a:r>
              <a:rPr lang="en-IN" b="1"/>
              <a:t>Left Child (K)</a:t>
            </a:r>
            <a:endParaRPr lang="en-US" b="1"/>
          </a:p>
        </p:txBody>
      </p:sp>
      <p:sp>
        <p:nvSpPr>
          <p:cNvPr id="319966275" name="Oval 39"/>
          <p:cNvSpPr/>
          <p:nvPr/>
        </p:nvSpPr>
        <p:spPr bwMode="auto">
          <a:xfrm>
            <a:off x="5528066" y="4691957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Y</a:t>
            </a:r>
            <a:endParaRPr lang="en-US" sz="2400" b="1"/>
          </a:p>
        </p:txBody>
      </p:sp>
      <p:sp>
        <p:nvSpPr>
          <p:cNvPr id="1862126758" name="Oval 40"/>
          <p:cNvSpPr/>
          <p:nvPr/>
        </p:nvSpPr>
        <p:spPr bwMode="auto">
          <a:xfrm>
            <a:off x="6021997" y="5379885"/>
            <a:ext cx="496669" cy="496669"/>
          </a:xfrm>
          <a:prstGeom prst="ellipse">
            <a:avLst/>
          </a:prstGeom>
          <a:solidFill>
            <a:srgbClr val="B84742"/>
          </a:solidFill>
          <a:ln>
            <a:solidFill>
              <a:srgbClr val="9A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n</a:t>
            </a:r>
            <a:endParaRPr lang="en-US" sz="2400" b="1"/>
          </a:p>
        </p:txBody>
      </p:sp>
      <p:cxnSp>
        <p:nvCxnSpPr>
          <p:cNvPr id="1714670473" name="Straight Arrow Connector 41"/>
          <p:cNvCxnSpPr>
            <a:stCxn id="319966275" idx="5"/>
            <a:endCxn id="1862126758" idx="0"/>
          </p:cNvCxnSpPr>
          <p:nvPr/>
        </p:nvCxnSpPr>
        <p:spPr bwMode="auto">
          <a:xfrm>
            <a:off x="5952000" y="5115891"/>
            <a:ext cx="318332" cy="263994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5048081" name="Oval 42"/>
          <p:cNvSpPr/>
          <p:nvPr/>
        </p:nvSpPr>
        <p:spPr bwMode="auto">
          <a:xfrm>
            <a:off x="5034016" y="5379885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K</a:t>
            </a:r>
            <a:endParaRPr lang="en-US" sz="2400" b="1"/>
          </a:p>
        </p:txBody>
      </p:sp>
      <p:sp>
        <p:nvSpPr>
          <p:cNvPr id="674074015" name="Oval 43"/>
          <p:cNvSpPr/>
          <p:nvPr/>
        </p:nvSpPr>
        <p:spPr bwMode="auto">
          <a:xfrm>
            <a:off x="4551202" y="6115813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X</a:t>
            </a:r>
            <a:endParaRPr lang="en-US" sz="2400" b="1"/>
          </a:p>
        </p:txBody>
      </p:sp>
      <p:cxnSp>
        <p:nvCxnSpPr>
          <p:cNvPr id="694946467" name="Straight Arrow Connector 44"/>
          <p:cNvCxnSpPr>
            <a:stCxn id="315048081" idx="3"/>
            <a:endCxn id="674074015" idx="0"/>
          </p:cNvCxnSpPr>
          <p:nvPr/>
        </p:nvCxnSpPr>
        <p:spPr bwMode="auto">
          <a:xfrm flipH="1">
            <a:off x="4799537" y="5803818"/>
            <a:ext cx="307214" cy="311994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50972865" name="Straight Arrow Connector 45"/>
          <p:cNvCxnSpPr>
            <a:stCxn id="319966275" idx="3"/>
            <a:endCxn id="315048081" idx="0"/>
          </p:cNvCxnSpPr>
          <p:nvPr/>
        </p:nvCxnSpPr>
        <p:spPr bwMode="auto">
          <a:xfrm flipH="1">
            <a:off x="5282351" y="5115891"/>
            <a:ext cx="318450" cy="263994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12513061" name="Oval 46"/>
          <p:cNvSpPr/>
          <p:nvPr/>
        </p:nvSpPr>
        <p:spPr bwMode="auto">
          <a:xfrm>
            <a:off x="6164687" y="3894353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J</a:t>
            </a:r>
            <a:endParaRPr lang="en-US" sz="2400" b="1"/>
          </a:p>
        </p:txBody>
      </p:sp>
      <p:sp>
        <p:nvSpPr>
          <p:cNvPr id="1842873010" name="Oval 47"/>
          <p:cNvSpPr/>
          <p:nvPr/>
        </p:nvSpPr>
        <p:spPr bwMode="auto">
          <a:xfrm>
            <a:off x="6671066" y="4691957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Z</a:t>
            </a:r>
            <a:endParaRPr lang="en-US" sz="2400" b="1"/>
          </a:p>
        </p:txBody>
      </p:sp>
      <p:cxnSp>
        <p:nvCxnSpPr>
          <p:cNvPr id="1083860420" name="Straight Arrow Connector 48"/>
          <p:cNvCxnSpPr>
            <a:stCxn id="1312513061" idx="5"/>
            <a:endCxn id="1842873010" idx="0"/>
          </p:cNvCxnSpPr>
          <p:nvPr/>
        </p:nvCxnSpPr>
        <p:spPr bwMode="auto">
          <a:xfrm>
            <a:off x="6588621" y="4318287"/>
            <a:ext cx="330780" cy="37367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8521747" name="Straight Arrow Connector 49"/>
          <p:cNvCxnSpPr>
            <a:stCxn id="1312513061" idx="3"/>
            <a:endCxn id="319966275" idx="0"/>
          </p:cNvCxnSpPr>
          <p:nvPr/>
        </p:nvCxnSpPr>
        <p:spPr bwMode="auto">
          <a:xfrm flipH="1">
            <a:off x="5776401" y="4318287"/>
            <a:ext cx="461021" cy="37367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24732479" name="Straight Arrow Connector 50"/>
          <p:cNvCxnSpPr/>
          <p:nvPr/>
        </p:nvCxnSpPr>
        <p:spPr bwMode="auto">
          <a:xfrm flipV="1">
            <a:off x="7613404" y="5398359"/>
            <a:ext cx="1326265" cy="1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75133099" name="TextBox 51"/>
          <p:cNvSpPr txBox="1"/>
          <p:nvPr/>
        </p:nvSpPr>
        <p:spPr bwMode="auto">
          <a:xfrm>
            <a:off x="7472118" y="4354322"/>
            <a:ext cx="16088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Right Rotation </a:t>
            </a:r>
            <a:endParaRPr/>
          </a:p>
          <a:p>
            <a:pPr algn="ctr">
              <a:defRPr/>
            </a:pPr>
            <a:r>
              <a:rPr lang="en-IN" b="1"/>
              <a:t>of </a:t>
            </a:r>
            <a:endParaRPr/>
          </a:p>
          <a:p>
            <a:pPr algn="ctr">
              <a:defRPr/>
            </a:pPr>
            <a:r>
              <a:rPr lang="en-IN" b="1"/>
              <a:t>Parent (J)</a:t>
            </a:r>
            <a:endParaRPr lang="en-US" b="1"/>
          </a:p>
        </p:txBody>
      </p:sp>
      <p:sp>
        <p:nvSpPr>
          <p:cNvPr id="1793653276" name="Oval 52"/>
          <p:cNvSpPr/>
          <p:nvPr/>
        </p:nvSpPr>
        <p:spPr bwMode="auto">
          <a:xfrm>
            <a:off x="3575502" y="5770431"/>
            <a:ext cx="496669" cy="496669"/>
          </a:xfrm>
          <a:prstGeom prst="ellipse">
            <a:avLst/>
          </a:prstGeom>
          <a:solidFill>
            <a:srgbClr val="B84742"/>
          </a:solidFill>
          <a:ln>
            <a:solidFill>
              <a:srgbClr val="9A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n</a:t>
            </a:r>
            <a:endParaRPr lang="en-US" sz="2400" b="1"/>
          </a:p>
        </p:txBody>
      </p:sp>
      <p:sp>
        <p:nvSpPr>
          <p:cNvPr id="1350391841" name="Oval 53"/>
          <p:cNvSpPr/>
          <p:nvPr/>
        </p:nvSpPr>
        <p:spPr bwMode="auto">
          <a:xfrm>
            <a:off x="10424401" y="3894353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Y</a:t>
            </a:r>
            <a:endParaRPr lang="en-US" sz="2400" b="1"/>
          </a:p>
        </p:txBody>
      </p:sp>
      <p:sp>
        <p:nvSpPr>
          <p:cNvPr id="1660614786" name="Oval 54"/>
          <p:cNvSpPr/>
          <p:nvPr/>
        </p:nvSpPr>
        <p:spPr bwMode="auto">
          <a:xfrm>
            <a:off x="9930351" y="4779983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K</a:t>
            </a:r>
            <a:endParaRPr lang="en-US" sz="2400" b="1"/>
          </a:p>
        </p:txBody>
      </p:sp>
      <p:sp>
        <p:nvSpPr>
          <p:cNvPr id="1259009189" name="Oval 55"/>
          <p:cNvSpPr/>
          <p:nvPr/>
        </p:nvSpPr>
        <p:spPr bwMode="auto">
          <a:xfrm>
            <a:off x="9433682" y="5632043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X</a:t>
            </a:r>
            <a:endParaRPr lang="en-US" sz="2400" b="1"/>
          </a:p>
        </p:txBody>
      </p:sp>
      <p:cxnSp>
        <p:nvCxnSpPr>
          <p:cNvPr id="1715269820" name="Straight Arrow Connector 56"/>
          <p:cNvCxnSpPr>
            <a:stCxn id="1660614786" idx="3"/>
            <a:endCxn id="1259009189" idx="0"/>
          </p:cNvCxnSpPr>
          <p:nvPr/>
        </p:nvCxnSpPr>
        <p:spPr bwMode="auto">
          <a:xfrm flipH="1">
            <a:off x="9682017" y="5203917"/>
            <a:ext cx="321069" cy="428126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20321369" name="Straight Arrow Connector 57"/>
          <p:cNvCxnSpPr>
            <a:stCxn id="1350391841" idx="3"/>
            <a:endCxn id="1660614786" idx="0"/>
          </p:cNvCxnSpPr>
          <p:nvPr/>
        </p:nvCxnSpPr>
        <p:spPr bwMode="auto">
          <a:xfrm flipH="1">
            <a:off x="10178686" y="4318287"/>
            <a:ext cx="318450" cy="461696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96573390" name="Oval 58"/>
          <p:cNvSpPr/>
          <p:nvPr/>
        </p:nvSpPr>
        <p:spPr bwMode="auto">
          <a:xfrm>
            <a:off x="11044144" y="4779983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J</a:t>
            </a:r>
            <a:endParaRPr lang="en-US" sz="2400" b="1"/>
          </a:p>
        </p:txBody>
      </p:sp>
      <p:sp>
        <p:nvSpPr>
          <p:cNvPr id="1598831677" name="Oval 59"/>
          <p:cNvSpPr/>
          <p:nvPr/>
        </p:nvSpPr>
        <p:spPr bwMode="auto">
          <a:xfrm>
            <a:off x="11550523" y="5632043"/>
            <a:ext cx="496669" cy="496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Z</a:t>
            </a:r>
            <a:endParaRPr lang="en-US" sz="2400" b="1"/>
          </a:p>
        </p:txBody>
      </p:sp>
      <p:cxnSp>
        <p:nvCxnSpPr>
          <p:cNvPr id="1113404292" name="Straight Arrow Connector 60"/>
          <p:cNvCxnSpPr>
            <a:stCxn id="1396573390" idx="5"/>
            <a:endCxn id="1598831677" idx="0"/>
          </p:cNvCxnSpPr>
          <p:nvPr/>
        </p:nvCxnSpPr>
        <p:spPr bwMode="auto">
          <a:xfrm>
            <a:off x="11468077" y="5203917"/>
            <a:ext cx="330780" cy="428126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77004635" name="Straight Arrow Connector 61"/>
          <p:cNvCxnSpPr>
            <a:stCxn id="1350391841" idx="5"/>
            <a:endCxn id="1396573390" idx="0"/>
          </p:cNvCxnSpPr>
          <p:nvPr/>
        </p:nvCxnSpPr>
        <p:spPr bwMode="auto">
          <a:xfrm>
            <a:off x="10848335" y="4318287"/>
            <a:ext cx="444144" cy="461696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37686793" name="Oval 62"/>
          <p:cNvSpPr/>
          <p:nvPr/>
        </p:nvSpPr>
        <p:spPr bwMode="auto">
          <a:xfrm>
            <a:off x="10540070" y="5632043"/>
            <a:ext cx="496669" cy="496669"/>
          </a:xfrm>
          <a:prstGeom prst="ellipse">
            <a:avLst/>
          </a:prstGeom>
          <a:solidFill>
            <a:srgbClr val="B84742"/>
          </a:solidFill>
          <a:ln>
            <a:solidFill>
              <a:srgbClr val="9A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n</a:t>
            </a:r>
            <a:endParaRPr lang="en-US" sz="2400" b="1"/>
          </a:p>
        </p:txBody>
      </p:sp>
      <p:cxnSp>
        <p:nvCxnSpPr>
          <p:cNvPr id="1492344319" name="Straight Arrow Connector 63"/>
          <p:cNvCxnSpPr>
            <a:stCxn id="1396573390" idx="3"/>
            <a:endCxn id="1837686793" idx="0"/>
          </p:cNvCxnSpPr>
          <p:nvPr/>
        </p:nvCxnSpPr>
        <p:spPr bwMode="auto">
          <a:xfrm flipH="1">
            <a:off x="10788405" y="5203917"/>
            <a:ext cx="328474" cy="428126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43836265" name="TextBox 64"/>
          <p:cNvSpPr txBox="1"/>
          <p:nvPr/>
        </p:nvSpPr>
        <p:spPr bwMode="auto">
          <a:xfrm>
            <a:off x="9119171" y="569571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530232680" name="TextBox 65"/>
          <p:cNvSpPr txBox="1"/>
          <p:nvPr/>
        </p:nvSpPr>
        <p:spPr bwMode="auto">
          <a:xfrm>
            <a:off x="10262171" y="569571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271384816" name="TextBox 66"/>
          <p:cNvSpPr txBox="1"/>
          <p:nvPr/>
        </p:nvSpPr>
        <p:spPr bwMode="auto">
          <a:xfrm>
            <a:off x="11262481" y="569571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763158809" name="TextBox 67"/>
          <p:cNvSpPr txBox="1"/>
          <p:nvPr/>
        </p:nvSpPr>
        <p:spPr bwMode="auto">
          <a:xfrm>
            <a:off x="9662189" y="4843651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  <p:sp>
        <p:nvSpPr>
          <p:cNvPr id="2087204830" name="TextBox 68"/>
          <p:cNvSpPr txBox="1"/>
          <p:nvPr/>
        </p:nvSpPr>
        <p:spPr bwMode="auto">
          <a:xfrm>
            <a:off x="11481371" y="484365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88655962" name="TextBox 69"/>
          <p:cNvSpPr txBox="1"/>
          <p:nvPr/>
        </p:nvSpPr>
        <p:spPr bwMode="auto">
          <a:xfrm>
            <a:off x="10881481" y="395802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351653494" name="Rectangle 70"/>
          <p:cNvSpPr/>
          <p:nvPr/>
        </p:nvSpPr>
        <p:spPr bwMode="auto">
          <a:xfrm>
            <a:off x="-18507" y="3516233"/>
            <a:ext cx="1417804" cy="437465"/>
          </a:xfrm>
          <a:prstGeom prst="rect">
            <a:avLst/>
          </a:prstGeom>
          <a:solidFill>
            <a:srgbClr val="B84742"/>
          </a:solidFill>
          <a:ln>
            <a:solidFill>
              <a:srgbClr val="9A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Case - 2</a:t>
            </a:r>
            <a:endParaRPr lang="en-US" sz="24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275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2756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2756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2756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040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040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040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040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6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67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71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563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04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995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31995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0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08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65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83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55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418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0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90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0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38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546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677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914677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66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335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0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40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1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263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24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10" fill="hold"/>
                                        <p:tgtEl>
                                          <p:spTgt spid="13688312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1" dur="10" fill="hold"/>
                                        <p:tgtEl>
                                          <p:spTgt spid="13688312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" dur="10" fill="hold"/>
                                        <p:tgtEl>
                                          <p:spTgt spid="13688312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747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539747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261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96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67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12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972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4" dur="500"/>
                                        <p:tgtEl>
                                          <p:spTgt spid="1650972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04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94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074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2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51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8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87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73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424732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3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653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39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32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614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26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00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00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1077004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573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40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83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344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3" dur="500"/>
                                        <p:tgtEl>
                                          <p:spTgt spid="1492344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686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83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232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384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158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20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5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368951" grpId="0" animBg="1"/>
      <p:bldP spid="1791719383" grpId="0" animBg="1"/>
      <p:bldP spid="603563292" grpId="0" animBg="1"/>
      <p:bldP spid="481280865" grpId="0" animBg="1"/>
      <p:bldP spid="1827085853" grpId="0"/>
      <p:bldP spid="1368831278" grpId="0" animBg="1"/>
      <p:bldP spid="67612757" grpId="0" animBg="1"/>
      <p:bldP spid="753558697" grpId="0" animBg="1"/>
      <p:bldP spid="1578418283" grpId="0" animBg="1"/>
      <p:bldP spid="317701015" grpId="0" animBg="1"/>
      <p:bldP spid="77166832" grpId="0" animBg="1"/>
      <p:bldP spid="732335987" grpId="0"/>
      <p:bldP spid="849901805" grpId="0"/>
      <p:bldP spid="270407182" grpId="0"/>
      <p:bldP spid="1085512122" grpId="0"/>
      <p:bldP spid="1186263624" grpId="0"/>
      <p:bldP spid="756241655" grpId="0"/>
      <p:bldP spid="2012617832" grpId="0"/>
      <p:bldP spid="319966275" grpId="0" animBg="1"/>
      <p:bldP spid="1862126758" grpId="0" animBg="1"/>
      <p:bldP spid="315048081" grpId="0" animBg="1"/>
      <p:bldP spid="674074015" grpId="0" animBg="1"/>
      <p:bldP spid="1312513061" grpId="0" animBg="1"/>
      <p:bldP spid="1842873010" grpId="0" animBg="1"/>
      <p:bldP spid="775133099" grpId="0"/>
      <p:bldP spid="1793653276" grpId="0" animBg="1"/>
      <p:bldP spid="1350391841" grpId="0" animBg="1"/>
      <p:bldP spid="1660614786" grpId="0" animBg="1"/>
      <p:bldP spid="1259009189" grpId="0" animBg="1"/>
      <p:bldP spid="1396573390" grpId="0" animBg="1"/>
      <p:bldP spid="1598831677" grpId="0" animBg="1"/>
      <p:bldP spid="1837686793" grpId="0" animBg="1"/>
      <p:bldP spid="243836265" grpId="0"/>
      <p:bldP spid="530232680" grpId="0"/>
      <p:bldP spid="1271384816" grpId="0"/>
      <p:bldP spid="763158809" grpId="0"/>
      <p:bldP spid="2087204830" grpId="0"/>
      <p:bldP spid="88655962" grpId="0"/>
      <p:bldP spid="35165349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599468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en-IN" sz="3400"/>
              <a:t>Insertion into Right sub-tree of node’s Left child</a:t>
            </a:r>
            <a:endParaRPr lang="en-US" sz="3400"/>
          </a:p>
        </p:txBody>
      </p:sp>
      <p:sp>
        <p:nvSpPr>
          <p:cNvPr id="448864762" name="Rectangle 3"/>
          <p:cNvSpPr/>
          <p:nvPr/>
        </p:nvSpPr>
        <p:spPr bwMode="auto">
          <a:xfrm>
            <a:off x="-4738" y="721173"/>
            <a:ext cx="1417804" cy="437465"/>
          </a:xfrm>
          <a:prstGeom prst="rect">
            <a:avLst/>
          </a:prstGeom>
          <a:solidFill>
            <a:srgbClr val="B84742"/>
          </a:solidFill>
          <a:ln>
            <a:solidFill>
              <a:srgbClr val="9A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Case - 2</a:t>
            </a:r>
            <a:endParaRPr lang="en-US" sz="2400" b="1"/>
          </a:p>
        </p:txBody>
      </p:sp>
      <p:grpSp>
        <p:nvGrpSpPr>
          <p:cNvPr id="1370925208" name="Group 4"/>
          <p:cNvGrpSpPr/>
          <p:nvPr/>
        </p:nvGrpSpPr>
        <p:grpSpPr bwMode="auto">
          <a:xfrm>
            <a:off x="2288869" y="1032159"/>
            <a:ext cx="533400" cy="533400"/>
            <a:chOff x="1246221" y="3810000"/>
            <a:chExt cx="533400" cy="533400"/>
          </a:xfrm>
        </p:grpSpPr>
        <p:sp>
          <p:nvSpPr>
            <p:cNvPr id="6" name="Oval 5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7" name="TextBox 6"/>
            <p:cNvSpPr txBox="1"/>
            <p:nvPr/>
          </p:nvSpPr>
          <p:spPr bwMode="auto">
            <a:xfrm>
              <a:off x="1285703" y="3877734"/>
              <a:ext cx="4571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12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338160901" name="Group 7"/>
          <p:cNvGrpSpPr/>
          <p:nvPr/>
        </p:nvGrpSpPr>
        <p:grpSpPr bwMode="auto">
          <a:xfrm>
            <a:off x="1450669" y="1769076"/>
            <a:ext cx="533400" cy="533400"/>
            <a:chOff x="1246221" y="3810000"/>
            <a:chExt cx="533400" cy="533400"/>
          </a:xfrm>
        </p:grpSpPr>
        <p:sp>
          <p:nvSpPr>
            <p:cNvPr id="9" name="Oval 8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0" name="TextBox 9"/>
            <p:cNvSpPr txBox="1"/>
            <p:nvPr/>
          </p:nvSpPr>
          <p:spPr bwMode="auto">
            <a:xfrm>
              <a:off x="1353830" y="3877734"/>
              <a:ext cx="320921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8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993039005" name="Group 10"/>
          <p:cNvGrpSpPr/>
          <p:nvPr/>
        </p:nvGrpSpPr>
        <p:grpSpPr bwMode="auto">
          <a:xfrm>
            <a:off x="841069" y="2441860"/>
            <a:ext cx="533400" cy="533400"/>
            <a:chOff x="1246221" y="3810000"/>
            <a:chExt cx="533400" cy="533400"/>
          </a:xfrm>
        </p:grpSpPr>
        <p:sp>
          <p:nvSpPr>
            <p:cNvPr id="12" name="Oval 11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3" name="TextBox 12"/>
            <p:cNvSpPr txBox="1"/>
            <p:nvPr/>
          </p:nvSpPr>
          <p:spPr bwMode="auto">
            <a:xfrm>
              <a:off x="1353830" y="3877734"/>
              <a:ext cx="320921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4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571935798" name="Group 13"/>
          <p:cNvGrpSpPr/>
          <p:nvPr/>
        </p:nvGrpSpPr>
        <p:grpSpPr bwMode="auto">
          <a:xfrm>
            <a:off x="307669" y="3165760"/>
            <a:ext cx="533400" cy="533400"/>
            <a:chOff x="1246221" y="3810000"/>
            <a:chExt cx="533400" cy="533400"/>
          </a:xfrm>
        </p:grpSpPr>
        <p:sp>
          <p:nvSpPr>
            <p:cNvPr id="15" name="Oval 14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1353830" y="3877734"/>
              <a:ext cx="320921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2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89757142" name="Group 16"/>
          <p:cNvGrpSpPr/>
          <p:nvPr/>
        </p:nvGrpSpPr>
        <p:grpSpPr bwMode="auto">
          <a:xfrm>
            <a:off x="1374469" y="3165760"/>
            <a:ext cx="533400" cy="533400"/>
            <a:chOff x="1246221" y="3810000"/>
            <a:chExt cx="533400" cy="533400"/>
          </a:xfrm>
        </p:grpSpPr>
        <p:sp>
          <p:nvSpPr>
            <p:cNvPr id="18" name="Oval 17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9" name="TextBox 18"/>
            <p:cNvSpPr txBox="1"/>
            <p:nvPr/>
          </p:nvSpPr>
          <p:spPr bwMode="auto">
            <a:xfrm>
              <a:off x="1353829" y="3877734"/>
              <a:ext cx="320922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6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2027449854" name="Group 19"/>
          <p:cNvGrpSpPr/>
          <p:nvPr/>
        </p:nvGrpSpPr>
        <p:grpSpPr bwMode="auto">
          <a:xfrm>
            <a:off x="1984069" y="2441860"/>
            <a:ext cx="533400" cy="533400"/>
            <a:chOff x="1246221" y="3810000"/>
            <a:chExt cx="533400" cy="533400"/>
          </a:xfrm>
        </p:grpSpPr>
        <p:sp>
          <p:nvSpPr>
            <p:cNvPr id="21" name="Oval 20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2" name="TextBox 21"/>
            <p:cNvSpPr txBox="1"/>
            <p:nvPr/>
          </p:nvSpPr>
          <p:spPr bwMode="auto">
            <a:xfrm>
              <a:off x="1285703" y="3877734"/>
              <a:ext cx="4571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10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487721432" name="Group 22"/>
          <p:cNvGrpSpPr/>
          <p:nvPr/>
        </p:nvGrpSpPr>
        <p:grpSpPr bwMode="auto">
          <a:xfrm>
            <a:off x="3050869" y="1769076"/>
            <a:ext cx="533400" cy="533400"/>
            <a:chOff x="1246221" y="3810000"/>
            <a:chExt cx="533400" cy="533400"/>
          </a:xfrm>
        </p:grpSpPr>
        <p:sp>
          <p:nvSpPr>
            <p:cNvPr id="24" name="Oval 23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5" name="TextBox 24"/>
            <p:cNvSpPr txBox="1"/>
            <p:nvPr/>
          </p:nvSpPr>
          <p:spPr bwMode="auto">
            <a:xfrm>
              <a:off x="1285703" y="3877734"/>
              <a:ext cx="4571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16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838390037" name="Group 25"/>
          <p:cNvGrpSpPr/>
          <p:nvPr/>
        </p:nvGrpSpPr>
        <p:grpSpPr bwMode="auto">
          <a:xfrm>
            <a:off x="2669869" y="2441860"/>
            <a:ext cx="533400" cy="533400"/>
            <a:chOff x="1246221" y="3810000"/>
            <a:chExt cx="533400" cy="533400"/>
          </a:xfrm>
        </p:grpSpPr>
        <p:sp>
          <p:nvSpPr>
            <p:cNvPr id="27" name="Oval 26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8" name="TextBox 27"/>
            <p:cNvSpPr txBox="1"/>
            <p:nvPr/>
          </p:nvSpPr>
          <p:spPr bwMode="auto">
            <a:xfrm>
              <a:off x="1285703" y="3877734"/>
              <a:ext cx="4571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14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2129883669" name="Group 28"/>
          <p:cNvGrpSpPr/>
          <p:nvPr/>
        </p:nvGrpSpPr>
        <p:grpSpPr bwMode="auto">
          <a:xfrm>
            <a:off x="841069" y="3851560"/>
            <a:ext cx="533400" cy="533400"/>
            <a:chOff x="1246221" y="3810000"/>
            <a:chExt cx="533400" cy="533400"/>
          </a:xfrm>
        </p:grpSpPr>
        <p:sp>
          <p:nvSpPr>
            <p:cNvPr id="30" name="Oval 29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31" name="TextBox 30"/>
            <p:cNvSpPr txBox="1"/>
            <p:nvPr/>
          </p:nvSpPr>
          <p:spPr bwMode="auto">
            <a:xfrm>
              <a:off x="1353829" y="3877734"/>
              <a:ext cx="320922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5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cxnSp>
        <p:nvCxnSpPr>
          <p:cNvPr id="915826771" name="Straight Arrow Connector 32"/>
          <p:cNvCxnSpPr>
            <a:stCxn id="6" idx="3"/>
            <a:endCxn id="9" idx="0"/>
          </p:cNvCxnSpPr>
          <p:nvPr/>
        </p:nvCxnSpPr>
        <p:spPr bwMode="auto">
          <a:xfrm flipH="1">
            <a:off x="1717369" y="1487445"/>
            <a:ext cx="649615" cy="281631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28370445" name="Straight Arrow Connector 34"/>
          <p:cNvCxnSpPr>
            <a:stCxn id="9" idx="3"/>
            <a:endCxn id="12" idx="0"/>
          </p:cNvCxnSpPr>
          <p:nvPr/>
        </p:nvCxnSpPr>
        <p:spPr bwMode="auto">
          <a:xfrm flipH="1">
            <a:off x="1107769" y="2224361"/>
            <a:ext cx="421015" cy="217499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2333329" name="Straight Arrow Connector 36"/>
          <p:cNvCxnSpPr>
            <a:stCxn id="12" idx="3"/>
            <a:endCxn id="15" idx="0"/>
          </p:cNvCxnSpPr>
          <p:nvPr/>
        </p:nvCxnSpPr>
        <p:spPr bwMode="auto">
          <a:xfrm flipH="1">
            <a:off x="574369" y="2897144"/>
            <a:ext cx="344815" cy="26861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47015065" name="Straight Arrow Connector 38"/>
          <p:cNvCxnSpPr>
            <a:stCxn id="9" idx="5"/>
            <a:endCxn id="21" idx="0"/>
          </p:cNvCxnSpPr>
          <p:nvPr/>
        </p:nvCxnSpPr>
        <p:spPr bwMode="auto">
          <a:xfrm>
            <a:off x="1905954" y="2224361"/>
            <a:ext cx="344815" cy="217499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43248587" name="Straight Arrow Connector 40"/>
          <p:cNvCxnSpPr>
            <a:stCxn id="12" idx="5"/>
            <a:endCxn id="18" idx="0"/>
          </p:cNvCxnSpPr>
          <p:nvPr/>
        </p:nvCxnSpPr>
        <p:spPr bwMode="auto">
          <a:xfrm>
            <a:off x="1296354" y="2897144"/>
            <a:ext cx="344815" cy="26861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4787485" name="Straight Arrow Connector 44"/>
          <p:cNvCxnSpPr>
            <a:stCxn id="6" idx="5"/>
            <a:endCxn id="24" idx="0"/>
          </p:cNvCxnSpPr>
          <p:nvPr/>
        </p:nvCxnSpPr>
        <p:spPr bwMode="auto">
          <a:xfrm>
            <a:off x="2744154" y="1487445"/>
            <a:ext cx="573415" cy="281631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71133024" name="Straight Arrow Connector 46"/>
          <p:cNvCxnSpPr>
            <a:stCxn id="24" idx="3"/>
            <a:endCxn id="27" idx="0"/>
          </p:cNvCxnSpPr>
          <p:nvPr/>
        </p:nvCxnSpPr>
        <p:spPr bwMode="auto">
          <a:xfrm flipH="1">
            <a:off x="2936569" y="2224361"/>
            <a:ext cx="192415" cy="217499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7480474" name="Straight Arrow Connector 48"/>
          <p:cNvCxnSpPr>
            <a:stCxn id="18" idx="3"/>
            <a:endCxn id="30" idx="0"/>
          </p:cNvCxnSpPr>
          <p:nvPr/>
        </p:nvCxnSpPr>
        <p:spPr bwMode="auto">
          <a:xfrm flipH="1">
            <a:off x="1107769" y="3621045"/>
            <a:ext cx="344815" cy="23051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04337343" name="TextBox 50"/>
          <p:cNvSpPr txBox="1"/>
          <p:nvPr/>
        </p:nvSpPr>
        <p:spPr bwMode="auto">
          <a:xfrm>
            <a:off x="571715" y="3933593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861862765" name="TextBox 51"/>
          <p:cNvSpPr txBox="1"/>
          <p:nvPr/>
        </p:nvSpPr>
        <p:spPr bwMode="auto">
          <a:xfrm>
            <a:off x="1145777" y="3247794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  <p:sp>
        <p:nvSpPr>
          <p:cNvPr id="2107794192" name="TextBox 52"/>
          <p:cNvSpPr txBox="1"/>
          <p:nvPr/>
        </p:nvSpPr>
        <p:spPr bwMode="auto">
          <a:xfrm>
            <a:off x="48025" y="324779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823769393" name="TextBox 53"/>
          <p:cNvSpPr txBox="1"/>
          <p:nvPr/>
        </p:nvSpPr>
        <p:spPr bwMode="auto">
          <a:xfrm>
            <a:off x="589891" y="252389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1182669004" name="TextBox 54"/>
          <p:cNvSpPr txBox="1"/>
          <p:nvPr/>
        </p:nvSpPr>
        <p:spPr bwMode="auto">
          <a:xfrm>
            <a:off x="1734470" y="252389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800157288" name="TextBox 55"/>
          <p:cNvSpPr txBox="1"/>
          <p:nvPr/>
        </p:nvSpPr>
        <p:spPr bwMode="auto">
          <a:xfrm>
            <a:off x="2870" y="1794160"/>
            <a:ext cx="1412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/>
            </a:pPr>
            <a:r>
              <a:rPr lang="en-IN" b="1">
                <a:solidFill>
                  <a:srgbClr val="C00000"/>
                </a:solidFill>
              </a:rPr>
              <a:t>Critical Node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64541087" name="TextBox 56"/>
          <p:cNvSpPr txBox="1"/>
          <p:nvPr/>
        </p:nvSpPr>
        <p:spPr bwMode="auto">
          <a:xfrm>
            <a:off x="4392361" y="4648201"/>
            <a:ext cx="3407279" cy="1800493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2800" b="1">
                <a:solidFill>
                  <a:srgbClr val="C00000"/>
                </a:solidFill>
              </a:rPr>
              <a:t>Left Right Rotation</a:t>
            </a:r>
            <a:endParaRPr/>
          </a:p>
          <a:p>
            <a:pPr algn="ctr">
              <a:defRPr/>
            </a:pPr>
            <a:endParaRPr lang="en-IN" sz="1600" b="1">
              <a:solidFill>
                <a:srgbClr val="FF0000"/>
              </a:solidFill>
            </a:endParaRPr>
          </a:p>
          <a:p>
            <a:pPr algn="ctr">
              <a:defRPr/>
            </a:pPr>
            <a:r>
              <a:rPr lang="en-IN" sz="2100" b="1"/>
              <a:t>Left Rotation of Left Child (4)</a:t>
            </a:r>
            <a:endParaRPr/>
          </a:p>
          <a:p>
            <a:pPr algn="ctr">
              <a:defRPr/>
            </a:pPr>
            <a:r>
              <a:rPr lang="en-IN" sz="2100" b="1"/>
              <a:t>followed by</a:t>
            </a:r>
            <a:endParaRPr/>
          </a:p>
          <a:p>
            <a:pPr algn="ctr">
              <a:defRPr/>
            </a:pPr>
            <a:r>
              <a:rPr lang="en-IN" sz="2100" b="1"/>
              <a:t>Right Rotation of Parent (8)</a:t>
            </a:r>
            <a:endParaRPr lang="en-US" sz="2100"/>
          </a:p>
        </p:txBody>
      </p:sp>
      <p:cxnSp>
        <p:nvCxnSpPr>
          <p:cNvPr id="130994314" name="Straight Arrow Connector 58"/>
          <p:cNvCxnSpPr/>
          <p:nvPr/>
        </p:nvCxnSpPr>
        <p:spPr bwMode="auto">
          <a:xfrm>
            <a:off x="3671881" y="2066221"/>
            <a:ext cx="1219199" cy="0"/>
          </a:xfrm>
          <a:prstGeom prst="straightConnector1">
            <a:avLst/>
          </a:prstGeom>
          <a:ln w="2857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92695501" name="TextBox 60"/>
          <p:cNvSpPr txBox="1"/>
          <p:nvPr/>
        </p:nvSpPr>
        <p:spPr bwMode="auto">
          <a:xfrm>
            <a:off x="3611925" y="1398627"/>
            <a:ext cx="1381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b="1"/>
              <a:t>Left Rotation of Node 4</a:t>
            </a:r>
            <a:endParaRPr lang="en-US" b="1"/>
          </a:p>
        </p:txBody>
      </p:sp>
      <p:grpSp>
        <p:nvGrpSpPr>
          <p:cNvPr id="2000358439" name="Group 61"/>
          <p:cNvGrpSpPr/>
          <p:nvPr/>
        </p:nvGrpSpPr>
        <p:grpSpPr bwMode="auto">
          <a:xfrm>
            <a:off x="2674974" y="3845726"/>
            <a:ext cx="533400" cy="533400"/>
            <a:chOff x="1246221" y="3810000"/>
            <a:chExt cx="533400" cy="533400"/>
          </a:xfrm>
        </p:grpSpPr>
        <p:sp>
          <p:nvSpPr>
            <p:cNvPr id="63" name="Oval 62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64" name="TextBox 63"/>
            <p:cNvSpPr txBox="1"/>
            <p:nvPr/>
          </p:nvSpPr>
          <p:spPr bwMode="auto">
            <a:xfrm>
              <a:off x="1353829" y="3877734"/>
              <a:ext cx="320922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5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203502485" name="Group 64"/>
          <p:cNvGrpSpPr/>
          <p:nvPr/>
        </p:nvGrpSpPr>
        <p:grpSpPr bwMode="auto">
          <a:xfrm>
            <a:off x="4844496" y="2591330"/>
            <a:ext cx="533400" cy="533400"/>
            <a:chOff x="1246221" y="3810000"/>
            <a:chExt cx="533400" cy="533400"/>
          </a:xfrm>
        </p:grpSpPr>
        <p:sp>
          <p:nvSpPr>
            <p:cNvPr id="66" name="Oval 65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67" name="TextBox 66"/>
            <p:cNvSpPr txBox="1"/>
            <p:nvPr/>
          </p:nvSpPr>
          <p:spPr bwMode="auto">
            <a:xfrm>
              <a:off x="1353829" y="3877734"/>
              <a:ext cx="320922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6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647166445" name="Group 72"/>
          <p:cNvGrpSpPr/>
          <p:nvPr/>
        </p:nvGrpSpPr>
        <p:grpSpPr bwMode="auto">
          <a:xfrm>
            <a:off x="4311096" y="3335749"/>
            <a:ext cx="533400" cy="533400"/>
            <a:chOff x="1246221" y="3810000"/>
            <a:chExt cx="533400" cy="533400"/>
          </a:xfrm>
        </p:grpSpPr>
        <p:sp>
          <p:nvSpPr>
            <p:cNvPr id="74" name="Oval 73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75" name="TextBox 74"/>
            <p:cNvSpPr txBox="1"/>
            <p:nvPr/>
          </p:nvSpPr>
          <p:spPr bwMode="auto">
            <a:xfrm>
              <a:off x="1353830" y="3877734"/>
              <a:ext cx="320921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4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129034136" name="Group 75"/>
          <p:cNvGrpSpPr/>
          <p:nvPr/>
        </p:nvGrpSpPr>
        <p:grpSpPr bwMode="auto">
          <a:xfrm>
            <a:off x="3777696" y="4057893"/>
            <a:ext cx="533400" cy="533400"/>
            <a:chOff x="1246221" y="3810000"/>
            <a:chExt cx="533400" cy="533400"/>
          </a:xfrm>
        </p:grpSpPr>
        <p:sp>
          <p:nvSpPr>
            <p:cNvPr id="77" name="Oval 76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78" name="TextBox 77"/>
            <p:cNvSpPr txBox="1"/>
            <p:nvPr/>
          </p:nvSpPr>
          <p:spPr bwMode="auto">
            <a:xfrm>
              <a:off x="1353830" y="3877734"/>
              <a:ext cx="320921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2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cxnSp>
        <p:nvCxnSpPr>
          <p:cNvPr id="978067949" name="Straight Arrow Connector 78"/>
          <p:cNvCxnSpPr>
            <a:stCxn id="74" idx="3"/>
            <a:endCxn id="77" idx="0"/>
          </p:cNvCxnSpPr>
          <p:nvPr/>
        </p:nvCxnSpPr>
        <p:spPr bwMode="auto">
          <a:xfrm flipH="1">
            <a:off x="4044396" y="3791034"/>
            <a:ext cx="344815" cy="266859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84951694" name="Straight Arrow Connector 80"/>
          <p:cNvCxnSpPr>
            <a:stCxn id="66" idx="3"/>
            <a:endCxn id="74" idx="0"/>
          </p:cNvCxnSpPr>
          <p:nvPr/>
        </p:nvCxnSpPr>
        <p:spPr bwMode="auto">
          <a:xfrm flipH="1">
            <a:off x="4577796" y="3046615"/>
            <a:ext cx="344815" cy="289134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811488191" name="Group 81"/>
          <p:cNvGrpSpPr/>
          <p:nvPr/>
        </p:nvGrpSpPr>
        <p:grpSpPr bwMode="auto">
          <a:xfrm>
            <a:off x="4844496" y="4057893"/>
            <a:ext cx="533400" cy="533400"/>
            <a:chOff x="1246221" y="3810000"/>
            <a:chExt cx="533400" cy="533400"/>
          </a:xfrm>
        </p:grpSpPr>
        <p:sp>
          <p:nvSpPr>
            <p:cNvPr id="83" name="Oval 82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84" name="TextBox 83"/>
            <p:cNvSpPr txBox="1"/>
            <p:nvPr/>
          </p:nvSpPr>
          <p:spPr bwMode="auto">
            <a:xfrm>
              <a:off x="1353829" y="3877734"/>
              <a:ext cx="320922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5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cxnSp>
        <p:nvCxnSpPr>
          <p:cNvPr id="2045323259" name="Straight Arrow Connector 85"/>
          <p:cNvCxnSpPr>
            <a:stCxn id="74" idx="5"/>
            <a:endCxn id="83" idx="0"/>
          </p:cNvCxnSpPr>
          <p:nvPr/>
        </p:nvCxnSpPr>
        <p:spPr bwMode="auto">
          <a:xfrm>
            <a:off x="4766381" y="3791034"/>
            <a:ext cx="344815" cy="266859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193233253" name="Group 86"/>
          <p:cNvGrpSpPr/>
          <p:nvPr/>
        </p:nvGrpSpPr>
        <p:grpSpPr bwMode="auto">
          <a:xfrm>
            <a:off x="6173892" y="1104842"/>
            <a:ext cx="533400" cy="533400"/>
            <a:chOff x="1246221" y="3810000"/>
            <a:chExt cx="533400" cy="533400"/>
          </a:xfrm>
        </p:grpSpPr>
        <p:sp>
          <p:nvSpPr>
            <p:cNvPr id="88" name="Oval 87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89" name="TextBox 88"/>
            <p:cNvSpPr txBox="1"/>
            <p:nvPr/>
          </p:nvSpPr>
          <p:spPr bwMode="auto">
            <a:xfrm>
              <a:off x="1285703" y="3877734"/>
              <a:ext cx="4571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12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640812379" name="Group 89"/>
          <p:cNvGrpSpPr/>
          <p:nvPr/>
        </p:nvGrpSpPr>
        <p:grpSpPr bwMode="auto">
          <a:xfrm>
            <a:off x="5377896" y="1784782"/>
            <a:ext cx="533400" cy="533400"/>
            <a:chOff x="1246221" y="3810000"/>
            <a:chExt cx="533400" cy="533400"/>
          </a:xfrm>
        </p:grpSpPr>
        <p:sp>
          <p:nvSpPr>
            <p:cNvPr id="91" name="Oval 90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92" name="TextBox 91"/>
            <p:cNvSpPr txBox="1"/>
            <p:nvPr/>
          </p:nvSpPr>
          <p:spPr bwMode="auto">
            <a:xfrm>
              <a:off x="1353830" y="3877734"/>
              <a:ext cx="320921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8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221517947" name="Group 92"/>
          <p:cNvGrpSpPr/>
          <p:nvPr/>
        </p:nvGrpSpPr>
        <p:grpSpPr bwMode="auto">
          <a:xfrm>
            <a:off x="5911296" y="2591330"/>
            <a:ext cx="533400" cy="533400"/>
            <a:chOff x="1246221" y="3810000"/>
            <a:chExt cx="533400" cy="533400"/>
          </a:xfrm>
        </p:grpSpPr>
        <p:sp>
          <p:nvSpPr>
            <p:cNvPr id="94" name="Oval 93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95" name="TextBox 94"/>
            <p:cNvSpPr txBox="1"/>
            <p:nvPr/>
          </p:nvSpPr>
          <p:spPr bwMode="auto">
            <a:xfrm>
              <a:off x="1285703" y="3877734"/>
              <a:ext cx="4571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10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299973754" name="Group 95"/>
          <p:cNvGrpSpPr/>
          <p:nvPr/>
        </p:nvGrpSpPr>
        <p:grpSpPr bwMode="auto">
          <a:xfrm>
            <a:off x="6978096" y="1784782"/>
            <a:ext cx="533400" cy="533400"/>
            <a:chOff x="1246221" y="3810000"/>
            <a:chExt cx="533400" cy="533400"/>
          </a:xfrm>
        </p:grpSpPr>
        <p:sp>
          <p:nvSpPr>
            <p:cNvPr id="97" name="Oval 96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98" name="TextBox 97"/>
            <p:cNvSpPr txBox="1"/>
            <p:nvPr/>
          </p:nvSpPr>
          <p:spPr bwMode="auto">
            <a:xfrm>
              <a:off x="1285703" y="3877734"/>
              <a:ext cx="4571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16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388537322" name="Group 98"/>
          <p:cNvGrpSpPr/>
          <p:nvPr/>
        </p:nvGrpSpPr>
        <p:grpSpPr bwMode="auto">
          <a:xfrm>
            <a:off x="6597096" y="2591330"/>
            <a:ext cx="533400" cy="533400"/>
            <a:chOff x="1246221" y="3810000"/>
            <a:chExt cx="533400" cy="533400"/>
          </a:xfrm>
        </p:grpSpPr>
        <p:sp>
          <p:nvSpPr>
            <p:cNvPr id="100" name="Oval 99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01" name="TextBox 100"/>
            <p:cNvSpPr txBox="1"/>
            <p:nvPr/>
          </p:nvSpPr>
          <p:spPr bwMode="auto">
            <a:xfrm>
              <a:off x="1285703" y="3877734"/>
              <a:ext cx="4571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14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cxnSp>
        <p:nvCxnSpPr>
          <p:cNvPr id="1063075233" name="Straight Arrow Connector 101"/>
          <p:cNvCxnSpPr>
            <a:stCxn id="88" idx="3"/>
            <a:endCxn id="91" idx="0"/>
          </p:cNvCxnSpPr>
          <p:nvPr/>
        </p:nvCxnSpPr>
        <p:spPr bwMode="auto">
          <a:xfrm flipH="1">
            <a:off x="5644596" y="1560127"/>
            <a:ext cx="607411" cy="22465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06751044" name="Straight Arrow Connector 102"/>
          <p:cNvCxnSpPr>
            <a:stCxn id="91" idx="5"/>
            <a:endCxn id="94" idx="0"/>
          </p:cNvCxnSpPr>
          <p:nvPr/>
        </p:nvCxnSpPr>
        <p:spPr bwMode="auto">
          <a:xfrm>
            <a:off x="5833181" y="2240067"/>
            <a:ext cx="344815" cy="351263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52209568" name="Straight Arrow Connector 103"/>
          <p:cNvCxnSpPr>
            <a:stCxn id="88" idx="5"/>
            <a:endCxn id="97" idx="0"/>
          </p:cNvCxnSpPr>
          <p:nvPr/>
        </p:nvCxnSpPr>
        <p:spPr bwMode="auto">
          <a:xfrm>
            <a:off x="6629177" y="1560127"/>
            <a:ext cx="615619" cy="22465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36262233" name="Straight Arrow Connector 104"/>
          <p:cNvCxnSpPr>
            <a:stCxn id="97" idx="3"/>
            <a:endCxn id="100" idx="0"/>
          </p:cNvCxnSpPr>
          <p:nvPr/>
        </p:nvCxnSpPr>
        <p:spPr bwMode="auto">
          <a:xfrm flipH="1">
            <a:off x="6863796" y="2240067"/>
            <a:ext cx="192415" cy="351263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34299576" name="Straight Arrow Connector 106"/>
          <p:cNvCxnSpPr>
            <a:stCxn id="91" idx="3"/>
            <a:endCxn id="66" idx="0"/>
          </p:cNvCxnSpPr>
          <p:nvPr/>
        </p:nvCxnSpPr>
        <p:spPr bwMode="auto">
          <a:xfrm flipH="1">
            <a:off x="5111196" y="2240067"/>
            <a:ext cx="344815" cy="351263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95480127" name="Straight Arrow Connector 108"/>
          <p:cNvCxnSpPr/>
          <p:nvPr/>
        </p:nvCxnSpPr>
        <p:spPr bwMode="auto">
          <a:xfrm>
            <a:off x="7778404" y="2063604"/>
            <a:ext cx="1043875" cy="5235"/>
          </a:xfrm>
          <a:prstGeom prst="straightConnector1">
            <a:avLst/>
          </a:prstGeom>
          <a:ln w="2857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77669549" name="TextBox 109"/>
          <p:cNvSpPr txBox="1"/>
          <p:nvPr/>
        </p:nvSpPr>
        <p:spPr bwMode="auto">
          <a:xfrm>
            <a:off x="7495147" y="1398627"/>
            <a:ext cx="1584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b="1"/>
              <a:t>Right Rotation of Node 8</a:t>
            </a:r>
            <a:endParaRPr lang="en-US" b="1"/>
          </a:p>
        </p:txBody>
      </p:sp>
      <p:grpSp>
        <p:nvGrpSpPr>
          <p:cNvPr id="756141486" name="Group 110"/>
          <p:cNvGrpSpPr/>
          <p:nvPr/>
        </p:nvGrpSpPr>
        <p:grpSpPr bwMode="auto">
          <a:xfrm>
            <a:off x="9192869" y="1782215"/>
            <a:ext cx="533400" cy="533400"/>
            <a:chOff x="1246221" y="3810000"/>
            <a:chExt cx="533400" cy="533400"/>
          </a:xfrm>
        </p:grpSpPr>
        <p:sp>
          <p:nvSpPr>
            <p:cNvPr id="112" name="Oval 111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13" name="TextBox 112"/>
            <p:cNvSpPr txBox="1"/>
            <p:nvPr/>
          </p:nvSpPr>
          <p:spPr bwMode="auto">
            <a:xfrm>
              <a:off x="1353829" y="3877734"/>
              <a:ext cx="320922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6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602665902" name="Group 113"/>
          <p:cNvGrpSpPr/>
          <p:nvPr/>
        </p:nvGrpSpPr>
        <p:grpSpPr bwMode="auto">
          <a:xfrm>
            <a:off x="8659469" y="2642551"/>
            <a:ext cx="533400" cy="533400"/>
            <a:chOff x="1246221" y="3810000"/>
            <a:chExt cx="533400" cy="533400"/>
          </a:xfrm>
        </p:grpSpPr>
        <p:sp>
          <p:nvSpPr>
            <p:cNvPr id="115" name="Oval 114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16" name="TextBox 115"/>
            <p:cNvSpPr txBox="1"/>
            <p:nvPr/>
          </p:nvSpPr>
          <p:spPr bwMode="auto">
            <a:xfrm>
              <a:off x="1353830" y="3877734"/>
              <a:ext cx="320921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4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404655178" name="Group 116"/>
          <p:cNvGrpSpPr/>
          <p:nvPr/>
        </p:nvGrpSpPr>
        <p:grpSpPr bwMode="auto">
          <a:xfrm>
            <a:off x="8126069" y="3592709"/>
            <a:ext cx="533400" cy="533400"/>
            <a:chOff x="1246221" y="3810000"/>
            <a:chExt cx="533400" cy="533400"/>
          </a:xfrm>
        </p:grpSpPr>
        <p:sp>
          <p:nvSpPr>
            <p:cNvPr id="118" name="Oval 117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19" name="TextBox 118"/>
            <p:cNvSpPr txBox="1"/>
            <p:nvPr/>
          </p:nvSpPr>
          <p:spPr bwMode="auto">
            <a:xfrm>
              <a:off x="1353830" y="3877734"/>
              <a:ext cx="320921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2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cxnSp>
        <p:nvCxnSpPr>
          <p:cNvPr id="1555501375" name="Straight Arrow Connector 119"/>
          <p:cNvCxnSpPr>
            <a:stCxn id="115" idx="3"/>
            <a:endCxn id="118" idx="0"/>
          </p:cNvCxnSpPr>
          <p:nvPr/>
        </p:nvCxnSpPr>
        <p:spPr bwMode="auto">
          <a:xfrm flipH="1">
            <a:off x="8392769" y="3097836"/>
            <a:ext cx="344815" cy="494873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5747181" name="Straight Arrow Connector 120"/>
          <p:cNvCxnSpPr>
            <a:stCxn id="112" idx="3"/>
            <a:endCxn id="115" idx="0"/>
          </p:cNvCxnSpPr>
          <p:nvPr/>
        </p:nvCxnSpPr>
        <p:spPr bwMode="auto">
          <a:xfrm flipH="1">
            <a:off x="8926169" y="2237500"/>
            <a:ext cx="344815" cy="405051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365015966" name="Group 121"/>
          <p:cNvGrpSpPr/>
          <p:nvPr/>
        </p:nvGrpSpPr>
        <p:grpSpPr bwMode="auto">
          <a:xfrm>
            <a:off x="9207943" y="3592709"/>
            <a:ext cx="533400" cy="533400"/>
            <a:chOff x="1246221" y="3810000"/>
            <a:chExt cx="533400" cy="533400"/>
          </a:xfrm>
        </p:grpSpPr>
        <p:sp>
          <p:nvSpPr>
            <p:cNvPr id="123" name="Oval 122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24" name="TextBox 123"/>
            <p:cNvSpPr txBox="1"/>
            <p:nvPr/>
          </p:nvSpPr>
          <p:spPr bwMode="auto">
            <a:xfrm>
              <a:off x="1353829" y="3877734"/>
              <a:ext cx="320922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5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cxnSp>
        <p:nvCxnSpPr>
          <p:cNvPr id="1480499640" name="Straight Arrow Connector 124"/>
          <p:cNvCxnSpPr>
            <a:stCxn id="115" idx="5"/>
            <a:endCxn id="123" idx="0"/>
          </p:cNvCxnSpPr>
          <p:nvPr/>
        </p:nvCxnSpPr>
        <p:spPr bwMode="auto">
          <a:xfrm>
            <a:off x="9114754" y="3097836"/>
            <a:ext cx="359889" cy="494873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226253718" name="Group 125"/>
          <p:cNvGrpSpPr/>
          <p:nvPr/>
        </p:nvGrpSpPr>
        <p:grpSpPr bwMode="auto">
          <a:xfrm>
            <a:off x="9772052" y="2642551"/>
            <a:ext cx="533400" cy="533400"/>
            <a:chOff x="1246221" y="3810000"/>
            <a:chExt cx="533400" cy="533400"/>
          </a:xfrm>
        </p:grpSpPr>
        <p:sp>
          <p:nvSpPr>
            <p:cNvPr id="127" name="Oval 126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28" name="TextBox 127"/>
            <p:cNvSpPr txBox="1"/>
            <p:nvPr/>
          </p:nvSpPr>
          <p:spPr bwMode="auto">
            <a:xfrm>
              <a:off x="1353830" y="3877734"/>
              <a:ext cx="320921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8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846321088" name="Group 128"/>
          <p:cNvGrpSpPr/>
          <p:nvPr/>
        </p:nvGrpSpPr>
        <p:grpSpPr bwMode="auto">
          <a:xfrm>
            <a:off x="10305452" y="3592709"/>
            <a:ext cx="533400" cy="533400"/>
            <a:chOff x="1246221" y="3810000"/>
            <a:chExt cx="533400" cy="533400"/>
          </a:xfrm>
        </p:grpSpPr>
        <p:sp>
          <p:nvSpPr>
            <p:cNvPr id="130" name="Oval 129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31" name="TextBox 130"/>
            <p:cNvSpPr txBox="1"/>
            <p:nvPr/>
          </p:nvSpPr>
          <p:spPr bwMode="auto">
            <a:xfrm>
              <a:off x="1285703" y="3877734"/>
              <a:ext cx="4571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10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cxnSp>
        <p:nvCxnSpPr>
          <p:cNvPr id="582745402" name="Straight Arrow Connector 131"/>
          <p:cNvCxnSpPr>
            <a:stCxn id="127" idx="5"/>
            <a:endCxn id="130" idx="0"/>
          </p:cNvCxnSpPr>
          <p:nvPr/>
        </p:nvCxnSpPr>
        <p:spPr bwMode="auto">
          <a:xfrm>
            <a:off x="10227337" y="3097836"/>
            <a:ext cx="344815" cy="494873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70375171" name="Straight Arrow Connector 133"/>
          <p:cNvCxnSpPr>
            <a:stCxn id="112" idx="5"/>
            <a:endCxn id="127" idx="0"/>
          </p:cNvCxnSpPr>
          <p:nvPr/>
        </p:nvCxnSpPr>
        <p:spPr bwMode="auto">
          <a:xfrm>
            <a:off x="9648154" y="2237500"/>
            <a:ext cx="390598" cy="405051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699109284" name="Group 134"/>
          <p:cNvGrpSpPr/>
          <p:nvPr/>
        </p:nvGrpSpPr>
        <p:grpSpPr bwMode="auto">
          <a:xfrm>
            <a:off x="10337105" y="1144393"/>
            <a:ext cx="533400" cy="533400"/>
            <a:chOff x="1246221" y="3810000"/>
            <a:chExt cx="533400" cy="533400"/>
          </a:xfrm>
        </p:grpSpPr>
        <p:sp>
          <p:nvSpPr>
            <p:cNvPr id="136" name="Oval 135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37" name="TextBox 136"/>
            <p:cNvSpPr txBox="1"/>
            <p:nvPr/>
          </p:nvSpPr>
          <p:spPr bwMode="auto">
            <a:xfrm>
              <a:off x="1285703" y="3877734"/>
              <a:ext cx="4571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12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2079465075" name="Group 137"/>
          <p:cNvGrpSpPr/>
          <p:nvPr/>
        </p:nvGrpSpPr>
        <p:grpSpPr bwMode="auto">
          <a:xfrm>
            <a:off x="11372251" y="1782215"/>
            <a:ext cx="533400" cy="533400"/>
            <a:chOff x="1246221" y="3810000"/>
            <a:chExt cx="533400" cy="533400"/>
          </a:xfrm>
        </p:grpSpPr>
        <p:sp>
          <p:nvSpPr>
            <p:cNvPr id="139" name="Oval 138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40" name="TextBox 139"/>
            <p:cNvSpPr txBox="1"/>
            <p:nvPr/>
          </p:nvSpPr>
          <p:spPr bwMode="auto">
            <a:xfrm>
              <a:off x="1285703" y="3877734"/>
              <a:ext cx="4571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16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2071130921" name="Group 140"/>
          <p:cNvGrpSpPr/>
          <p:nvPr/>
        </p:nvGrpSpPr>
        <p:grpSpPr bwMode="auto">
          <a:xfrm>
            <a:off x="10991252" y="2642551"/>
            <a:ext cx="533400" cy="533400"/>
            <a:chOff x="1246221" y="3810000"/>
            <a:chExt cx="533400" cy="533400"/>
          </a:xfrm>
        </p:grpSpPr>
        <p:sp>
          <p:nvSpPr>
            <p:cNvPr id="142" name="Oval 141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43" name="TextBox 142"/>
            <p:cNvSpPr txBox="1"/>
            <p:nvPr/>
          </p:nvSpPr>
          <p:spPr bwMode="auto">
            <a:xfrm>
              <a:off x="1285703" y="3877734"/>
              <a:ext cx="4571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14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cxnSp>
        <p:nvCxnSpPr>
          <p:cNvPr id="1943685294" name="Straight Arrow Connector 143"/>
          <p:cNvCxnSpPr>
            <a:stCxn id="136" idx="3"/>
            <a:endCxn id="112" idx="7"/>
          </p:cNvCxnSpPr>
          <p:nvPr/>
        </p:nvCxnSpPr>
        <p:spPr bwMode="auto">
          <a:xfrm flipH="1">
            <a:off x="9648154" y="1599678"/>
            <a:ext cx="767066" cy="260652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68686410" name="Straight Arrow Connector 144"/>
          <p:cNvCxnSpPr>
            <a:stCxn id="136" idx="5"/>
            <a:endCxn id="139" idx="1"/>
          </p:cNvCxnSpPr>
          <p:nvPr/>
        </p:nvCxnSpPr>
        <p:spPr bwMode="auto">
          <a:xfrm>
            <a:off x="10792390" y="1599678"/>
            <a:ext cx="657977" cy="260652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97811354" name="Straight Arrow Connector 145"/>
          <p:cNvCxnSpPr>
            <a:stCxn id="139" idx="3"/>
            <a:endCxn id="142" idx="0"/>
          </p:cNvCxnSpPr>
          <p:nvPr/>
        </p:nvCxnSpPr>
        <p:spPr bwMode="auto">
          <a:xfrm flipH="1">
            <a:off x="11257952" y="2237500"/>
            <a:ext cx="192415" cy="405051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57365792" name="TextBox 147"/>
          <p:cNvSpPr txBox="1"/>
          <p:nvPr/>
        </p:nvSpPr>
        <p:spPr bwMode="auto">
          <a:xfrm>
            <a:off x="7823475" y="3674743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405260449" name="TextBox 148"/>
          <p:cNvSpPr txBox="1"/>
          <p:nvPr/>
        </p:nvSpPr>
        <p:spPr bwMode="auto">
          <a:xfrm>
            <a:off x="8924142" y="3674743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506956920" name="TextBox 149"/>
          <p:cNvSpPr txBox="1"/>
          <p:nvPr/>
        </p:nvSpPr>
        <p:spPr bwMode="auto">
          <a:xfrm>
            <a:off x="8314542" y="272458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575305011" name="TextBox 150"/>
          <p:cNvSpPr txBox="1"/>
          <p:nvPr/>
        </p:nvSpPr>
        <p:spPr bwMode="auto">
          <a:xfrm>
            <a:off x="10000652" y="3674743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356078073" name="TextBox 151"/>
          <p:cNvSpPr txBox="1"/>
          <p:nvPr/>
        </p:nvSpPr>
        <p:spPr bwMode="auto">
          <a:xfrm>
            <a:off x="10289882" y="272458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1638439253" name="TextBox 152"/>
          <p:cNvSpPr txBox="1"/>
          <p:nvPr/>
        </p:nvSpPr>
        <p:spPr bwMode="auto">
          <a:xfrm>
            <a:off x="8924142" y="186424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616195891" name="TextBox 153"/>
          <p:cNvSpPr txBox="1"/>
          <p:nvPr/>
        </p:nvSpPr>
        <p:spPr bwMode="auto">
          <a:xfrm>
            <a:off x="10686452" y="272458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522386544" name="TextBox 154"/>
          <p:cNvSpPr txBox="1"/>
          <p:nvPr/>
        </p:nvSpPr>
        <p:spPr bwMode="auto">
          <a:xfrm>
            <a:off x="11905560" y="1864249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  <p:sp>
        <p:nvSpPr>
          <p:cNvPr id="1878082798" name="TextBox 155"/>
          <p:cNvSpPr txBox="1"/>
          <p:nvPr/>
        </p:nvSpPr>
        <p:spPr bwMode="auto">
          <a:xfrm>
            <a:off x="10032212" y="122642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86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925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6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039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93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5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449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72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39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82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70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3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1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248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87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13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48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77480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88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337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862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7794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76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669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15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94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30994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695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035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502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95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784951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6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067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03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532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04532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1488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9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75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517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81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07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26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537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973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20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23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548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1995480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669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14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665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65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50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4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01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49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37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970375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32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4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25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685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109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68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46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81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130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36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26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5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30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07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9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6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8082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864762" grpId="0" animBg="1"/>
      <p:bldP spid="704337343" grpId="0"/>
      <p:bldP spid="861862765" grpId="0"/>
      <p:bldP spid="2107794192" grpId="0"/>
      <p:bldP spid="1823769393" grpId="0"/>
      <p:bldP spid="1182669004" grpId="0"/>
      <p:bldP spid="800157288" grpId="0"/>
      <p:bldP spid="64541087" grpId="0" animBg="1"/>
      <p:bldP spid="992695501" grpId="0"/>
      <p:bldP spid="2077669549" grpId="0"/>
      <p:bldP spid="1657365792" grpId="0"/>
      <p:bldP spid="405260449" grpId="0"/>
      <p:bldP spid="506956920" grpId="0"/>
      <p:bldP spid="1575305011" grpId="0"/>
      <p:bldP spid="356078073" grpId="0"/>
      <p:bldP spid="1638439253" grpId="0"/>
      <p:bldP spid="616195891" grpId="0"/>
      <p:bldP spid="522386544" grpId="0"/>
      <p:bldP spid="187808279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258626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IN" sz="3400"/>
              <a:t>Insertion into Left sub-tree of node’s Right child</a:t>
            </a:r>
            <a:endParaRPr lang="en-US" sz="3400"/>
          </a:p>
        </p:txBody>
      </p:sp>
      <p:sp>
        <p:nvSpPr>
          <p:cNvPr id="851734780" name="Rectangle 3"/>
          <p:cNvSpPr/>
          <p:nvPr/>
        </p:nvSpPr>
        <p:spPr bwMode="auto">
          <a:xfrm>
            <a:off x="0" y="717277"/>
            <a:ext cx="1417804" cy="437465"/>
          </a:xfrm>
          <a:prstGeom prst="rect">
            <a:avLst/>
          </a:prstGeom>
          <a:solidFill>
            <a:srgbClr val="B84742"/>
          </a:solidFill>
          <a:ln>
            <a:solidFill>
              <a:srgbClr val="9A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Case - 3</a:t>
            </a:r>
            <a:endParaRPr lang="en-US" sz="2400" b="1"/>
          </a:p>
        </p:txBody>
      </p:sp>
      <p:grpSp>
        <p:nvGrpSpPr>
          <p:cNvPr id="1962240343" name="Group 4"/>
          <p:cNvGrpSpPr/>
          <p:nvPr/>
        </p:nvGrpSpPr>
        <p:grpSpPr bwMode="auto">
          <a:xfrm>
            <a:off x="1153548" y="1278051"/>
            <a:ext cx="533400" cy="533400"/>
            <a:chOff x="1246221" y="3810000"/>
            <a:chExt cx="533400" cy="533400"/>
          </a:xfrm>
        </p:grpSpPr>
        <p:sp>
          <p:nvSpPr>
            <p:cNvPr id="6" name="Oval 5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7" name="TextBox 6"/>
            <p:cNvSpPr txBox="1"/>
            <p:nvPr/>
          </p:nvSpPr>
          <p:spPr bwMode="auto">
            <a:xfrm>
              <a:off x="1353830" y="3877734"/>
              <a:ext cx="320921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5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410767699" name="Group 7"/>
          <p:cNvGrpSpPr/>
          <p:nvPr/>
        </p:nvGrpSpPr>
        <p:grpSpPr bwMode="auto">
          <a:xfrm>
            <a:off x="391548" y="2089411"/>
            <a:ext cx="533400" cy="533400"/>
            <a:chOff x="1246221" y="3810000"/>
            <a:chExt cx="533400" cy="533400"/>
          </a:xfrm>
        </p:grpSpPr>
        <p:sp>
          <p:nvSpPr>
            <p:cNvPr id="9" name="Oval 8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0" name="TextBox 9"/>
            <p:cNvSpPr txBox="1"/>
            <p:nvPr/>
          </p:nvSpPr>
          <p:spPr bwMode="auto">
            <a:xfrm>
              <a:off x="1353830" y="3877734"/>
              <a:ext cx="320921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3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712377765" name="Group 10"/>
          <p:cNvGrpSpPr/>
          <p:nvPr/>
        </p:nvGrpSpPr>
        <p:grpSpPr bwMode="auto">
          <a:xfrm>
            <a:off x="1763148" y="2089411"/>
            <a:ext cx="533400" cy="533400"/>
            <a:chOff x="1246221" y="3810000"/>
            <a:chExt cx="533400" cy="533400"/>
          </a:xfrm>
        </p:grpSpPr>
        <p:sp>
          <p:nvSpPr>
            <p:cNvPr id="12" name="Oval 11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3" name="TextBox 12"/>
            <p:cNvSpPr txBox="1"/>
            <p:nvPr/>
          </p:nvSpPr>
          <p:spPr bwMode="auto">
            <a:xfrm>
              <a:off x="1285703" y="3877734"/>
              <a:ext cx="4571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13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124677835" name="Group 13"/>
          <p:cNvGrpSpPr/>
          <p:nvPr/>
        </p:nvGrpSpPr>
        <p:grpSpPr bwMode="auto">
          <a:xfrm>
            <a:off x="1153548" y="2906311"/>
            <a:ext cx="533400" cy="533400"/>
            <a:chOff x="1246221" y="3810000"/>
            <a:chExt cx="533400" cy="533400"/>
          </a:xfrm>
        </p:grpSpPr>
        <p:sp>
          <p:nvSpPr>
            <p:cNvPr id="15" name="Oval 14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1285703" y="3877734"/>
              <a:ext cx="4571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10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647771520" name="Group 16"/>
          <p:cNvGrpSpPr/>
          <p:nvPr/>
        </p:nvGrpSpPr>
        <p:grpSpPr bwMode="auto">
          <a:xfrm>
            <a:off x="2296548" y="2906311"/>
            <a:ext cx="533400" cy="533400"/>
            <a:chOff x="1246221" y="3810000"/>
            <a:chExt cx="533400" cy="533400"/>
          </a:xfrm>
        </p:grpSpPr>
        <p:sp>
          <p:nvSpPr>
            <p:cNvPr id="18" name="Oval 17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9" name="TextBox 18"/>
            <p:cNvSpPr txBox="1"/>
            <p:nvPr/>
          </p:nvSpPr>
          <p:spPr bwMode="auto">
            <a:xfrm>
              <a:off x="1285703" y="3877734"/>
              <a:ext cx="4571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15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cxnSp>
        <p:nvCxnSpPr>
          <p:cNvPr id="248222492" name="Straight Arrow Connector 20"/>
          <p:cNvCxnSpPr>
            <a:stCxn id="6" idx="3"/>
            <a:endCxn id="9" idx="0"/>
          </p:cNvCxnSpPr>
          <p:nvPr/>
        </p:nvCxnSpPr>
        <p:spPr bwMode="auto">
          <a:xfrm flipH="1">
            <a:off x="658248" y="1733336"/>
            <a:ext cx="573415" cy="35607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6306602" name="Straight Arrow Connector 22"/>
          <p:cNvCxnSpPr>
            <a:stCxn id="6" idx="5"/>
            <a:endCxn id="12" idx="0"/>
          </p:cNvCxnSpPr>
          <p:nvPr/>
        </p:nvCxnSpPr>
        <p:spPr bwMode="auto">
          <a:xfrm>
            <a:off x="1608833" y="1733336"/>
            <a:ext cx="421015" cy="35607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81096897" name="Straight Arrow Connector 24"/>
          <p:cNvCxnSpPr>
            <a:stCxn id="12" idx="3"/>
            <a:endCxn id="15" idx="0"/>
          </p:cNvCxnSpPr>
          <p:nvPr/>
        </p:nvCxnSpPr>
        <p:spPr bwMode="auto">
          <a:xfrm flipH="1">
            <a:off x="1420248" y="2544696"/>
            <a:ext cx="421015" cy="36161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81994256" name="Straight Arrow Connector 26"/>
          <p:cNvCxnSpPr>
            <a:stCxn id="12" idx="5"/>
            <a:endCxn id="18" idx="0"/>
          </p:cNvCxnSpPr>
          <p:nvPr/>
        </p:nvCxnSpPr>
        <p:spPr bwMode="auto">
          <a:xfrm>
            <a:off x="2218433" y="2544696"/>
            <a:ext cx="344815" cy="36161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38337135" name="Group 27"/>
          <p:cNvGrpSpPr/>
          <p:nvPr/>
        </p:nvGrpSpPr>
        <p:grpSpPr bwMode="auto">
          <a:xfrm>
            <a:off x="543948" y="3843413"/>
            <a:ext cx="533400" cy="533400"/>
            <a:chOff x="1246221" y="3810000"/>
            <a:chExt cx="533400" cy="533400"/>
          </a:xfrm>
          <a:solidFill>
            <a:srgbClr val="B84742"/>
          </a:solidFill>
        </p:grpSpPr>
        <p:sp>
          <p:nvSpPr>
            <p:cNvPr id="29" name="Oval 28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  <a:grpFill/>
            <a:ln>
              <a:solidFill>
                <a:srgbClr val="9A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30" name="TextBox 29"/>
            <p:cNvSpPr txBox="1"/>
            <p:nvPr/>
          </p:nvSpPr>
          <p:spPr bwMode="auto">
            <a:xfrm>
              <a:off x="1353830" y="3877734"/>
              <a:ext cx="320921" cy="415498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7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cxnSp>
        <p:nvCxnSpPr>
          <p:cNvPr id="268719912" name="Straight Arrow Connector 31"/>
          <p:cNvCxnSpPr>
            <a:stCxn id="15" idx="3"/>
            <a:endCxn id="29" idx="0"/>
          </p:cNvCxnSpPr>
          <p:nvPr/>
        </p:nvCxnSpPr>
        <p:spPr bwMode="auto">
          <a:xfrm flipH="1">
            <a:off x="810648" y="3361596"/>
            <a:ext cx="421015" cy="481817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99977223" name="TextBox 32"/>
          <p:cNvSpPr txBox="1"/>
          <p:nvPr/>
        </p:nvSpPr>
        <p:spPr bwMode="auto">
          <a:xfrm>
            <a:off x="1067638" y="392544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476269191" name="TextBox 36"/>
          <p:cNvSpPr txBox="1"/>
          <p:nvPr/>
        </p:nvSpPr>
        <p:spPr bwMode="auto">
          <a:xfrm>
            <a:off x="1642944" y="2988345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  <p:sp>
        <p:nvSpPr>
          <p:cNvPr id="564379275" name="TextBox 37"/>
          <p:cNvSpPr txBox="1"/>
          <p:nvPr/>
        </p:nvSpPr>
        <p:spPr bwMode="auto">
          <a:xfrm>
            <a:off x="2820238" y="298834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42203157" name="TextBox 38"/>
          <p:cNvSpPr txBox="1"/>
          <p:nvPr/>
        </p:nvSpPr>
        <p:spPr bwMode="auto">
          <a:xfrm>
            <a:off x="1467966" y="2171445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  <p:sp>
        <p:nvSpPr>
          <p:cNvPr id="1309387227" name="TextBox 39"/>
          <p:cNvSpPr txBox="1"/>
          <p:nvPr/>
        </p:nvSpPr>
        <p:spPr bwMode="auto">
          <a:xfrm>
            <a:off x="140370" y="217144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985360112" name="TextBox 40"/>
          <p:cNvSpPr txBox="1"/>
          <p:nvPr/>
        </p:nvSpPr>
        <p:spPr bwMode="auto">
          <a:xfrm>
            <a:off x="1721926" y="1360085"/>
            <a:ext cx="1412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b="1">
                <a:solidFill>
                  <a:srgbClr val="C00000"/>
                </a:solidFill>
              </a:rPr>
              <a:t>Critical Node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802382907" name="TextBox 41"/>
          <p:cNvSpPr txBox="1"/>
          <p:nvPr/>
        </p:nvSpPr>
        <p:spPr bwMode="auto">
          <a:xfrm>
            <a:off x="4174865" y="4825223"/>
            <a:ext cx="3842270" cy="173893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2800" b="1">
                <a:solidFill>
                  <a:srgbClr val="C00000"/>
                </a:solidFill>
              </a:rPr>
              <a:t>Right Left Rotation</a:t>
            </a:r>
            <a:endParaRPr/>
          </a:p>
          <a:p>
            <a:pPr algn="ctr">
              <a:defRPr/>
            </a:pPr>
            <a:endParaRPr lang="en-IN" sz="1600" b="1">
              <a:solidFill>
                <a:srgbClr val="FF0000"/>
              </a:solidFill>
            </a:endParaRPr>
          </a:p>
          <a:p>
            <a:pPr algn="ctr">
              <a:defRPr/>
            </a:pPr>
            <a:r>
              <a:rPr lang="en-IN" sz="2100" b="1"/>
              <a:t>Right Rotation of Right Child (13)</a:t>
            </a:r>
            <a:endParaRPr/>
          </a:p>
          <a:p>
            <a:pPr algn="ctr">
              <a:defRPr/>
            </a:pPr>
            <a:r>
              <a:rPr lang="en-IN" sz="2100" b="1"/>
              <a:t>followed by</a:t>
            </a:r>
            <a:endParaRPr/>
          </a:p>
          <a:p>
            <a:pPr algn="ctr">
              <a:defRPr/>
            </a:pPr>
            <a:r>
              <a:rPr lang="en-IN" sz="2100" b="1"/>
              <a:t>Left Rotation of Parent (5)</a:t>
            </a:r>
            <a:endParaRPr lang="en-US" sz="2100"/>
          </a:p>
        </p:txBody>
      </p:sp>
      <p:cxnSp>
        <p:nvCxnSpPr>
          <p:cNvPr id="1228061734" name="Straight Arrow Connector 19"/>
          <p:cNvCxnSpPr/>
          <p:nvPr/>
        </p:nvCxnSpPr>
        <p:spPr bwMode="auto">
          <a:xfrm>
            <a:off x="3074518" y="2655280"/>
            <a:ext cx="1371600" cy="0"/>
          </a:xfrm>
          <a:prstGeom prst="straightConnector1">
            <a:avLst/>
          </a:prstGeom>
          <a:ln w="2857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08685290" name="TextBox 21"/>
          <p:cNvSpPr txBox="1"/>
          <p:nvPr/>
        </p:nvSpPr>
        <p:spPr bwMode="auto">
          <a:xfrm>
            <a:off x="2982349" y="1969480"/>
            <a:ext cx="15559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Right Rotation</a:t>
            </a:r>
            <a:endParaRPr/>
          </a:p>
          <a:p>
            <a:pPr algn="ctr">
              <a:defRPr/>
            </a:pPr>
            <a:r>
              <a:rPr lang="en-IN" b="1"/>
              <a:t>of Node 13</a:t>
            </a:r>
            <a:endParaRPr lang="en-US" b="1"/>
          </a:p>
        </p:txBody>
      </p:sp>
      <p:grpSp>
        <p:nvGrpSpPr>
          <p:cNvPr id="1805472579" name="Group 42"/>
          <p:cNvGrpSpPr/>
          <p:nvPr/>
        </p:nvGrpSpPr>
        <p:grpSpPr bwMode="auto">
          <a:xfrm>
            <a:off x="6153441" y="2089411"/>
            <a:ext cx="533400" cy="533400"/>
            <a:chOff x="1246221" y="3810000"/>
            <a:chExt cx="533400" cy="533400"/>
          </a:xfrm>
        </p:grpSpPr>
        <p:sp>
          <p:nvSpPr>
            <p:cNvPr id="44" name="Oval 43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45" name="TextBox 44"/>
            <p:cNvSpPr txBox="1"/>
            <p:nvPr/>
          </p:nvSpPr>
          <p:spPr bwMode="auto">
            <a:xfrm>
              <a:off x="1285703" y="3877734"/>
              <a:ext cx="4571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10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352978868" name="Group 45"/>
          <p:cNvGrpSpPr/>
          <p:nvPr/>
        </p:nvGrpSpPr>
        <p:grpSpPr bwMode="auto">
          <a:xfrm>
            <a:off x="5543841" y="2906311"/>
            <a:ext cx="533400" cy="533400"/>
            <a:chOff x="1246221" y="3810000"/>
            <a:chExt cx="533400" cy="533400"/>
          </a:xfrm>
          <a:solidFill>
            <a:srgbClr val="B84742"/>
          </a:solidFill>
        </p:grpSpPr>
        <p:sp>
          <p:nvSpPr>
            <p:cNvPr id="47" name="Oval 46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  <a:grpFill/>
            <a:ln>
              <a:solidFill>
                <a:srgbClr val="9A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48" name="TextBox 47"/>
            <p:cNvSpPr txBox="1"/>
            <p:nvPr/>
          </p:nvSpPr>
          <p:spPr bwMode="auto">
            <a:xfrm>
              <a:off x="1353830" y="3877734"/>
              <a:ext cx="320921" cy="415498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7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cxnSp>
        <p:nvCxnSpPr>
          <p:cNvPr id="2128575772" name="Straight Arrow Connector 48"/>
          <p:cNvCxnSpPr>
            <a:stCxn id="44" idx="3"/>
            <a:endCxn id="47" idx="0"/>
          </p:cNvCxnSpPr>
          <p:nvPr/>
        </p:nvCxnSpPr>
        <p:spPr bwMode="auto">
          <a:xfrm flipH="1">
            <a:off x="5810541" y="2544696"/>
            <a:ext cx="421015" cy="36161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442299905" name="Group 49"/>
          <p:cNvGrpSpPr/>
          <p:nvPr/>
        </p:nvGrpSpPr>
        <p:grpSpPr bwMode="auto">
          <a:xfrm>
            <a:off x="6763041" y="2906311"/>
            <a:ext cx="533400" cy="533400"/>
            <a:chOff x="1246221" y="3810000"/>
            <a:chExt cx="533400" cy="533400"/>
          </a:xfrm>
        </p:grpSpPr>
        <p:sp>
          <p:nvSpPr>
            <p:cNvPr id="51" name="Oval 50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52" name="TextBox 51"/>
            <p:cNvSpPr txBox="1"/>
            <p:nvPr/>
          </p:nvSpPr>
          <p:spPr bwMode="auto">
            <a:xfrm>
              <a:off x="1285703" y="3877734"/>
              <a:ext cx="4571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13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94119656" name="Group 52"/>
          <p:cNvGrpSpPr/>
          <p:nvPr/>
        </p:nvGrpSpPr>
        <p:grpSpPr bwMode="auto">
          <a:xfrm>
            <a:off x="7296441" y="3843413"/>
            <a:ext cx="533400" cy="533400"/>
            <a:chOff x="1246221" y="3810000"/>
            <a:chExt cx="533400" cy="533400"/>
          </a:xfrm>
        </p:grpSpPr>
        <p:sp>
          <p:nvSpPr>
            <p:cNvPr id="54" name="Oval 53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55" name="TextBox 54"/>
            <p:cNvSpPr txBox="1"/>
            <p:nvPr/>
          </p:nvSpPr>
          <p:spPr bwMode="auto">
            <a:xfrm>
              <a:off x="1285703" y="3877734"/>
              <a:ext cx="4571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15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cxnSp>
        <p:nvCxnSpPr>
          <p:cNvPr id="674421126" name="Straight Arrow Connector 55"/>
          <p:cNvCxnSpPr>
            <a:stCxn id="51" idx="5"/>
            <a:endCxn id="54" idx="0"/>
          </p:cNvCxnSpPr>
          <p:nvPr/>
        </p:nvCxnSpPr>
        <p:spPr bwMode="auto">
          <a:xfrm>
            <a:off x="7218326" y="3361596"/>
            <a:ext cx="344815" cy="481817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7353894" name="Straight Arrow Connector 33"/>
          <p:cNvCxnSpPr>
            <a:stCxn id="44" idx="5"/>
            <a:endCxn id="51" idx="0"/>
          </p:cNvCxnSpPr>
          <p:nvPr/>
        </p:nvCxnSpPr>
        <p:spPr bwMode="auto">
          <a:xfrm>
            <a:off x="6608726" y="2544696"/>
            <a:ext cx="421015" cy="36161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182045328" name="Group 56"/>
          <p:cNvGrpSpPr/>
          <p:nvPr/>
        </p:nvGrpSpPr>
        <p:grpSpPr bwMode="auto">
          <a:xfrm>
            <a:off x="5541926" y="1278051"/>
            <a:ext cx="533400" cy="533400"/>
            <a:chOff x="1246221" y="3810000"/>
            <a:chExt cx="533400" cy="533400"/>
          </a:xfrm>
        </p:grpSpPr>
        <p:sp>
          <p:nvSpPr>
            <p:cNvPr id="58" name="Oval 57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59" name="TextBox 58"/>
            <p:cNvSpPr txBox="1"/>
            <p:nvPr/>
          </p:nvSpPr>
          <p:spPr bwMode="auto">
            <a:xfrm>
              <a:off x="1353830" y="3877734"/>
              <a:ext cx="320921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5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991515671" name="Group 59"/>
          <p:cNvGrpSpPr/>
          <p:nvPr/>
        </p:nvGrpSpPr>
        <p:grpSpPr bwMode="auto">
          <a:xfrm>
            <a:off x="4779926" y="2089411"/>
            <a:ext cx="533400" cy="533400"/>
            <a:chOff x="1246221" y="3810000"/>
            <a:chExt cx="533400" cy="533400"/>
          </a:xfrm>
        </p:grpSpPr>
        <p:sp>
          <p:nvSpPr>
            <p:cNvPr id="61" name="Oval 60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62" name="TextBox 61"/>
            <p:cNvSpPr txBox="1"/>
            <p:nvPr/>
          </p:nvSpPr>
          <p:spPr bwMode="auto">
            <a:xfrm>
              <a:off x="1353830" y="3877734"/>
              <a:ext cx="320921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3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cxnSp>
        <p:nvCxnSpPr>
          <p:cNvPr id="852432362" name="Straight Arrow Connector 62"/>
          <p:cNvCxnSpPr>
            <a:stCxn id="58" idx="3"/>
            <a:endCxn id="61" idx="0"/>
          </p:cNvCxnSpPr>
          <p:nvPr/>
        </p:nvCxnSpPr>
        <p:spPr bwMode="auto">
          <a:xfrm flipH="1">
            <a:off x="5046626" y="1733336"/>
            <a:ext cx="573415" cy="35607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3695565" name="Straight Arrow Connector 63"/>
          <p:cNvCxnSpPr>
            <a:stCxn id="58" idx="5"/>
            <a:endCxn id="44" idx="0"/>
          </p:cNvCxnSpPr>
          <p:nvPr/>
        </p:nvCxnSpPr>
        <p:spPr bwMode="auto">
          <a:xfrm>
            <a:off x="5997211" y="1733336"/>
            <a:ext cx="422930" cy="35607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72860295" name="Straight Arrow Connector 64"/>
          <p:cNvCxnSpPr/>
          <p:nvPr/>
        </p:nvCxnSpPr>
        <p:spPr bwMode="auto">
          <a:xfrm flipV="1">
            <a:off x="7523921" y="2655275"/>
            <a:ext cx="1371600" cy="5"/>
          </a:xfrm>
          <a:prstGeom prst="straightConnector1">
            <a:avLst/>
          </a:prstGeom>
          <a:ln w="2857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86367105" name="TextBox 65"/>
          <p:cNvSpPr txBox="1"/>
          <p:nvPr/>
        </p:nvSpPr>
        <p:spPr bwMode="auto">
          <a:xfrm>
            <a:off x="7418094" y="1969480"/>
            <a:ext cx="14249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Left Rotation</a:t>
            </a:r>
            <a:endParaRPr/>
          </a:p>
          <a:p>
            <a:pPr algn="ctr">
              <a:defRPr/>
            </a:pPr>
            <a:r>
              <a:rPr lang="en-IN" b="1"/>
              <a:t>of Node 5</a:t>
            </a:r>
            <a:endParaRPr lang="en-US" b="1"/>
          </a:p>
        </p:txBody>
      </p:sp>
      <p:grpSp>
        <p:nvGrpSpPr>
          <p:cNvPr id="1208197600" name="Group 66"/>
          <p:cNvGrpSpPr/>
          <p:nvPr/>
        </p:nvGrpSpPr>
        <p:grpSpPr bwMode="auto">
          <a:xfrm>
            <a:off x="3493618" y="3164739"/>
            <a:ext cx="533400" cy="533400"/>
            <a:chOff x="1246221" y="3810000"/>
            <a:chExt cx="533400" cy="533400"/>
          </a:xfrm>
          <a:solidFill>
            <a:srgbClr val="B84742"/>
          </a:solidFill>
        </p:grpSpPr>
        <p:sp>
          <p:nvSpPr>
            <p:cNvPr id="68" name="Oval 67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  <a:grpFill/>
            <a:ln>
              <a:solidFill>
                <a:srgbClr val="9A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69" name="TextBox 68"/>
            <p:cNvSpPr txBox="1"/>
            <p:nvPr/>
          </p:nvSpPr>
          <p:spPr bwMode="auto">
            <a:xfrm>
              <a:off x="1353830" y="3877734"/>
              <a:ext cx="320921" cy="415498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7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419779604" name="Group 69"/>
          <p:cNvGrpSpPr/>
          <p:nvPr/>
        </p:nvGrpSpPr>
        <p:grpSpPr bwMode="auto">
          <a:xfrm>
            <a:off x="10393384" y="1278051"/>
            <a:ext cx="533400" cy="533400"/>
            <a:chOff x="1246221" y="3810000"/>
            <a:chExt cx="533400" cy="533400"/>
          </a:xfrm>
        </p:grpSpPr>
        <p:sp>
          <p:nvSpPr>
            <p:cNvPr id="71" name="Oval 70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72" name="TextBox 71"/>
            <p:cNvSpPr txBox="1"/>
            <p:nvPr/>
          </p:nvSpPr>
          <p:spPr bwMode="auto">
            <a:xfrm>
              <a:off x="1285703" y="3877734"/>
              <a:ext cx="4571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10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259271539" name="Group 72"/>
          <p:cNvGrpSpPr/>
          <p:nvPr/>
        </p:nvGrpSpPr>
        <p:grpSpPr bwMode="auto">
          <a:xfrm>
            <a:off x="11002983" y="2089411"/>
            <a:ext cx="533400" cy="533400"/>
            <a:chOff x="1246221" y="3810000"/>
            <a:chExt cx="533400" cy="533400"/>
          </a:xfrm>
        </p:grpSpPr>
        <p:sp>
          <p:nvSpPr>
            <p:cNvPr id="74" name="Oval 73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75" name="TextBox 74"/>
            <p:cNvSpPr txBox="1"/>
            <p:nvPr/>
          </p:nvSpPr>
          <p:spPr bwMode="auto">
            <a:xfrm>
              <a:off x="1285703" y="3877734"/>
              <a:ext cx="4571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13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597021591" name="Group 75"/>
          <p:cNvGrpSpPr/>
          <p:nvPr/>
        </p:nvGrpSpPr>
        <p:grpSpPr bwMode="auto">
          <a:xfrm>
            <a:off x="11536384" y="2906311"/>
            <a:ext cx="533400" cy="533400"/>
            <a:chOff x="1246221" y="3810000"/>
            <a:chExt cx="533400" cy="533400"/>
          </a:xfrm>
        </p:grpSpPr>
        <p:sp>
          <p:nvSpPr>
            <p:cNvPr id="77" name="Oval 76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78" name="TextBox 77"/>
            <p:cNvSpPr txBox="1"/>
            <p:nvPr/>
          </p:nvSpPr>
          <p:spPr bwMode="auto">
            <a:xfrm>
              <a:off x="1285703" y="3877734"/>
              <a:ext cx="4571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15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cxnSp>
        <p:nvCxnSpPr>
          <p:cNvPr id="1267129946" name="Straight Arrow Connector 78"/>
          <p:cNvCxnSpPr>
            <a:stCxn id="74" idx="5"/>
            <a:endCxn id="77" idx="0"/>
          </p:cNvCxnSpPr>
          <p:nvPr/>
        </p:nvCxnSpPr>
        <p:spPr bwMode="auto">
          <a:xfrm>
            <a:off x="11458269" y="2544696"/>
            <a:ext cx="344815" cy="36161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40376232" name="Straight Arrow Connector 79"/>
          <p:cNvCxnSpPr>
            <a:stCxn id="71" idx="5"/>
            <a:endCxn id="74" idx="0"/>
          </p:cNvCxnSpPr>
          <p:nvPr/>
        </p:nvCxnSpPr>
        <p:spPr bwMode="auto">
          <a:xfrm>
            <a:off x="10848669" y="1733336"/>
            <a:ext cx="421015" cy="35607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060902502" name="Group 80"/>
          <p:cNvGrpSpPr/>
          <p:nvPr/>
        </p:nvGrpSpPr>
        <p:grpSpPr bwMode="auto">
          <a:xfrm>
            <a:off x="9653861" y="2089411"/>
            <a:ext cx="533400" cy="533400"/>
            <a:chOff x="1246221" y="3810000"/>
            <a:chExt cx="533400" cy="533400"/>
          </a:xfrm>
        </p:grpSpPr>
        <p:sp>
          <p:nvSpPr>
            <p:cNvPr id="82" name="Oval 81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83" name="TextBox 82"/>
            <p:cNvSpPr txBox="1"/>
            <p:nvPr/>
          </p:nvSpPr>
          <p:spPr bwMode="auto">
            <a:xfrm>
              <a:off x="1353830" y="3877734"/>
              <a:ext cx="320921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5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9617424" name="Group 83"/>
          <p:cNvGrpSpPr/>
          <p:nvPr/>
        </p:nvGrpSpPr>
        <p:grpSpPr bwMode="auto">
          <a:xfrm>
            <a:off x="9021784" y="2906311"/>
            <a:ext cx="533400" cy="533400"/>
            <a:chOff x="1246221" y="3810000"/>
            <a:chExt cx="533400" cy="533400"/>
          </a:xfrm>
        </p:grpSpPr>
        <p:sp>
          <p:nvSpPr>
            <p:cNvPr id="85" name="Oval 84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86" name="TextBox 85"/>
            <p:cNvSpPr txBox="1"/>
            <p:nvPr/>
          </p:nvSpPr>
          <p:spPr bwMode="auto">
            <a:xfrm>
              <a:off x="1353830" y="3877734"/>
              <a:ext cx="320921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3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cxnSp>
        <p:nvCxnSpPr>
          <p:cNvPr id="1599425535" name="Straight Arrow Connector 86"/>
          <p:cNvCxnSpPr>
            <a:stCxn id="82" idx="3"/>
            <a:endCxn id="85" idx="0"/>
          </p:cNvCxnSpPr>
          <p:nvPr/>
        </p:nvCxnSpPr>
        <p:spPr bwMode="auto">
          <a:xfrm flipH="1">
            <a:off x="9288483" y="2544696"/>
            <a:ext cx="443492" cy="36161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35692492" name="Straight Arrow Connector 88"/>
          <p:cNvCxnSpPr>
            <a:stCxn id="71" idx="3"/>
            <a:endCxn id="82" idx="0"/>
          </p:cNvCxnSpPr>
          <p:nvPr/>
        </p:nvCxnSpPr>
        <p:spPr bwMode="auto">
          <a:xfrm flipH="1">
            <a:off x="9920561" y="1733336"/>
            <a:ext cx="550938" cy="35607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784894617" name="Group 89"/>
          <p:cNvGrpSpPr/>
          <p:nvPr/>
        </p:nvGrpSpPr>
        <p:grpSpPr bwMode="auto">
          <a:xfrm>
            <a:off x="10166166" y="2906311"/>
            <a:ext cx="533400" cy="533400"/>
            <a:chOff x="1246221" y="3810000"/>
            <a:chExt cx="533400" cy="533400"/>
          </a:xfrm>
          <a:solidFill>
            <a:srgbClr val="B84742"/>
          </a:solidFill>
        </p:grpSpPr>
        <p:sp>
          <p:nvSpPr>
            <p:cNvPr id="91" name="Oval 90"/>
            <p:cNvSpPr/>
            <p:nvPr/>
          </p:nvSpPr>
          <p:spPr bwMode="auto">
            <a:xfrm>
              <a:off x="1246221" y="3810000"/>
              <a:ext cx="533400" cy="533400"/>
            </a:xfrm>
            <a:prstGeom prst="ellipse">
              <a:avLst/>
            </a:prstGeom>
            <a:grpFill/>
            <a:ln>
              <a:solidFill>
                <a:srgbClr val="9A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92" name="TextBox 91"/>
            <p:cNvSpPr txBox="1"/>
            <p:nvPr/>
          </p:nvSpPr>
          <p:spPr bwMode="auto">
            <a:xfrm>
              <a:off x="1353830" y="3877734"/>
              <a:ext cx="320921" cy="415498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IN" sz="2100" b="1">
                  <a:solidFill>
                    <a:schemeClr val="bg1"/>
                  </a:solidFill>
                </a:rPr>
                <a:t>7</a:t>
              </a:r>
              <a:endParaRPr lang="en-US" sz="2100" b="1">
                <a:solidFill>
                  <a:schemeClr val="bg1"/>
                </a:solidFill>
              </a:endParaRPr>
            </a:p>
          </p:txBody>
        </p:sp>
      </p:grpSp>
      <p:cxnSp>
        <p:nvCxnSpPr>
          <p:cNvPr id="1649897874" name="Straight Arrow Connector 93"/>
          <p:cNvCxnSpPr>
            <a:stCxn id="82" idx="5"/>
            <a:endCxn id="91" idx="0"/>
          </p:cNvCxnSpPr>
          <p:nvPr/>
        </p:nvCxnSpPr>
        <p:spPr bwMode="auto">
          <a:xfrm>
            <a:off x="10109146" y="2544696"/>
            <a:ext cx="323720" cy="36161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04643435" name="TextBox 94"/>
          <p:cNvSpPr txBox="1"/>
          <p:nvPr/>
        </p:nvSpPr>
        <p:spPr bwMode="auto">
          <a:xfrm>
            <a:off x="8707274" y="298834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033715533" name="TextBox 95"/>
          <p:cNvSpPr txBox="1"/>
          <p:nvPr/>
        </p:nvSpPr>
        <p:spPr bwMode="auto">
          <a:xfrm>
            <a:off x="9926474" y="298834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576022663" name="TextBox 96"/>
          <p:cNvSpPr txBox="1"/>
          <p:nvPr/>
        </p:nvSpPr>
        <p:spPr bwMode="auto">
          <a:xfrm>
            <a:off x="11298074" y="298834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654689182" name="TextBox 97"/>
          <p:cNvSpPr txBox="1"/>
          <p:nvPr/>
        </p:nvSpPr>
        <p:spPr bwMode="auto">
          <a:xfrm>
            <a:off x="9393074" y="209699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757377593" name="TextBox 98"/>
          <p:cNvSpPr txBox="1"/>
          <p:nvPr/>
        </p:nvSpPr>
        <p:spPr bwMode="auto">
          <a:xfrm>
            <a:off x="11526674" y="217144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409342908" name="TextBox 99"/>
          <p:cNvSpPr txBox="1"/>
          <p:nvPr/>
        </p:nvSpPr>
        <p:spPr bwMode="auto">
          <a:xfrm>
            <a:off x="10917074" y="136008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734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240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6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37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67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77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222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06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09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994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719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68719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3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97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6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37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0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38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360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82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06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8685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47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8575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978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5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07353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299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42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19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04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9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43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1515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6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127286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367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197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0376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12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02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27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779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5692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8" dur="500"/>
                                        <p:tgtEl>
                                          <p:spTgt spid="2035692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425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90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89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649897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89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64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715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022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89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37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342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1734780" grpId="0" animBg="1"/>
      <p:bldP spid="1499977223" grpId="0"/>
      <p:bldP spid="476269191" grpId="0"/>
      <p:bldP spid="564379275" grpId="0"/>
      <p:bldP spid="142203157" grpId="0"/>
      <p:bldP spid="1309387227" grpId="0"/>
      <p:bldP spid="985360112" grpId="0"/>
      <p:bldP spid="1802382907" grpId="0" animBg="1"/>
      <p:bldP spid="1908685290" grpId="0"/>
      <p:bldP spid="1986367105" grpId="0"/>
      <p:bldP spid="1004643435" grpId="0"/>
      <p:bldP spid="1033715533" grpId="0"/>
      <p:bldP spid="576022663" grpId="0"/>
      <p:bldP spid="654689182" grpId="0"/>
      <p:bldP spid="757377593" grpId="0"/>
      <p:bldP spid="40934290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74916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Construct AVL Search Tree</a:t>
            </a:r>
            <a:endParaRPr/>
          </a:p>
        </p:txBody>
      </p:sp>
      <p:sp>
        <p:nvSpPr>
          <p:cNvPr id="209230215" name="TextBox 3"/>
          <p:cNvSpPr txBox="1"/>
          <p:nvPr/>
        </p:nvSpPr>
        <p:spPr bwMode="auto">
          <a:xfrm>
            <a:off x="1671800" y="731517"/>
            <a:ext cx="8767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2400"/>
              <a:t>Construct AVL Search tree by inserting following elements in order of their occurrence </a:t>
            </a:r>
            <a:r>
              <a:rPr lang="en-IN" sz="2400" b="1">
                <a:solidFill>
                  <a:srgbClr val="C00000"/>
                </a:solidFill>
              </a:rPr>
              <a:t>6, 5, 4, 3, 2, 1</a:t>
            </a:r>
            <a:endParaRPr lang="en-US" sz="2400" b="1">
              <a:solidFill>
                <a:srgbClr val="C00000"/>
              </a:solidFill>
            </a:endParaRPr>
          </a:p>
        </p:txBody>
      </p:sp>
      <p:sp>
        <p:nvSpPr>
          <p:cNvPr id="730700186" name="TextBox 4"/>
          <p:cNvSpPr txBox="1"/>
          <p:nvPr/>
        </p:nvSpPr>
        <p:spPr bwMode="auto">
          <a:xfrm>
            <a:off x="83130" y="1562513"/>
            <a:ext cx="817853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defRPr/>
            </a:pPr>
            <a:r>
              <a:rPr lang="en-IN" sz="1600"/>
              <a:t>Insert </a:t>
            </a:r>
            <a:r>
              <a:rPr lang="en-IN" sz="1600" b="1">
                <a:solidFill>
                  <a:srgbClr val="C00000"/>
                </a:solidFill>
              </a:rPr>
              <a:t>6</a:t>
            </a:r>
            <a:endParaRPr lang="en-US" sz="1600" b="1">
              <a:solidFill>
                <a:srgbClr val="C00000"/>
              </a:solidFill>
            </a:endParaRPr>
          </a:p>
        </p:txBody>
      </p:sp>
      <p:sp>
        <p:nvSpPr>
          <p:cNvPr id="663458760" name="TextBox 8"/>
          <p:cNvSpPr txBox="1"/>
          <p:nvPr/>
        </p:nvSpPr>
        <p:spPr bwMode="auto">
          <a:xfrm>
            <a:off x="83130" y="2687315"/>
            <a:ext cx="817853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r>
              <a:rPr lang="en-IN"/>
              <a:t>Insert </a:t>
            </a:r>
            <a:r>
              <a:rPr lang="en-IN" b="1">
                <a:solidFill>
                  <a:srgbClr val="C00000"/>
                </a:solidFill>
              </a:rPr>
              <a:t>5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379884236" name="TextBox 12"/>
          <p:cNvSpPr txBox="1"/>
          <p:nvPr/>
        </p:nvSpPr>
        <p:spPr bwMode="auto">
          <a:xfrm>
            <a:off x="377284" y="2029398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943593470" name="TextBox 18"/>
          <p:cNvSpPr txBox="1"/>
          <p:nvPr/>
        </p:nvSpPr>
        <p:spPr bwMode="auto">
          <a:xfrm>
            <a:off x="76625" y="3634622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547813859" name="TextBox 19"/>
          <p:cNvSpPr txBox="1"/>
          <p:nvPr/>
        </p:nvSpPr>
        <p:spPr bwMode="auto">
          <a:xfrm>
            <a:off x="555719" y="3093905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  <p:cxnSp>
        <p:nvCxnSpPr>
          <p:cNvPr id="1548994861" name="Straight Connector 16"/>
          <p:cNvCxnSpPr/>
          <p:nvPr/>
        </p:nvCxnSpPr>
        <p:spPr bwMode="auto">
          <a:xfrm>
            <a:off x="83130" y="1562513"/>
            <a:ext cx="11998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53397660" name="TextBox 29"/>
          <p:cNvSpPr txBox="1"/>
          <p:nvPr/>
        </p:nvSpPr>
        <p:spPr bwMode="auto">
          <a:xfrm>
            <a:off x="138183" y="4667942"/>
            <a:ext cx="13871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Critical Node</a:t>
            </a:r>
            <a:endParaRPr lang="en-US" sz="1600" b="1"/>
          </a:p>
        </p:txBody>
      </p:sp>
      <p:sp>
        <p:nvSpPr>
          <p:cNvPr id="1960564758" name="TextBox 33"/>
          <p:cNvSpPr txBox="1"/>
          <p:nvPr/>
        </p:nvSpPr>
        <p:spPr bwMode="auto">
          <a:xfrm>
            <a:off x="578467" y="5337923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  <p:cxnSp>
        <p:nvCxnSpPr>
          <p:cNvPr id="329722108" name="Straight Connector 35"/>
          <p:cNvCxnSpPr/>
          <p:nvPr/>
        </p:nvCxnSpPr>
        <p:spPr bwMode="auto">
          <a:xfrm>
            <a:off x="1849575" y="1562514"/>
            <a:ext cx="0" cy="25980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8291793" name="Straight Connector 37"/>
          <p:cNvCxnSpPr/>
          <p:nvPr/>
        </p:nvCxnSpPr>
        <p:spPr bwMode="auto">
          <a:xfrm>
            <a:off x="83130" y="2687315"/>
            <a:ext cx="175694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012404308" name="Group 39"/>
          <p:cNvGrpSpPr/>
          <p:nvPr/>
        </p:nvGrpSpPr>
        <p:grpSpPr bwMode="auto">
          <a:xfrm>
            <a:off x="675889" y="2026916"/>
            <a:ext cx="356400" cy="374296"/>
            <a:chOff x="486299" y="2209800"/>
            <a:chExt cx="356400" cy="374296"/>
          </a:xfrm>
        </p:grpSpPr>
        <p:sp>
          <p:nvSpPr>
            <p:cNvPr id="7" name="Oval 6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39" name="TextBox 38"/>
            <p:cNvSpPr txBox="1"/>
            <p:nvPr/>
          </p:nvSpPr>
          <p:spPr bwMode="auto">
            <a:xfrm>
              <a:off x="507270" y="2214764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6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870668753" name="Group 40"/>
          <p:cNvGrpSpPr/>
          <p:nvPr/>
        </p:nvGrpSpPr>
        <p:grpSpPr bwMode="auto">
          <a:xfrm>
            <a:off x="844704" y="3093905"/>
            <a:ext cx="356400" cy="369332"/>
            <a:chOff x="486299" y="2209800"/>
            <a:chExt cx="356400" cy="369332"/>
          </a:xfrm>
        </p:grpSpPr>
        <p:sp>
          <p:nvSpPr>
            <p:cNvPr id="42" name="Oval 41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43" name="TextBox 42"/>
            <p:cNvSpPr txBox="1"/>
            <p:nvPr/>
          </p:nvSpPr>
          <p:spPr bwMode="auto">
            <a:xfrm>
              <a:off x="516443" y="2209800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6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465183047" name="Group 43"/>
          <p:cNvGrpSpPr/>
          <p:nvPr/>
        </p:nvGrpSpPr>
        <p:grpSpPr bwMode="auto">
          <a:xfrm>
            <a:off x="376742" y="3627116"/>
            <a:ext cx="356400" cy="384344"/>
            <a:chOff x="486299" y="2209800"/>
            <a:chExt cx="356400" cy="384344"/>
          </a:xfrm>
        </p:grpSpPr>
        <p:sp>
          <p:nvSpPr>
            <p:cNvPr id="45" name="Oval 44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46" name="TextBox 45"/>
            <p:cNvSpPr txBox="1"/>
            <p:nvPr/>
          </p:nvSpPr>
          <p:spPr bwMode="auto">
            <a:xfrm>
              <a:off x="507270" y="2224812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5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272233543" name="Straight Arrow Connector 47"/>
          <p:cNvCxnSpPr>
            <a:stCxn id="42" idx="3"/>
            <a:endCxn id="45" idx="0"/>
          </p:cNvCxnSpPr>
          <p:nvPr/>
        </p:nvCxnSpPr>
        <p:spPr bwMode="auto">
          <a:xfrm flipH="1">
            <a:off x="554942" y="3398111"/>
            <a:ext cx="341957" cy="22900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01923063" name="TextBox 48"/>
          <p:cNvSpPr txBox="1"/>
          <p:nvPr/>
        </p:nvSpPr>
        <p:spPr bwMode="auto">
          <a:xfrm>
            <a:off x="83130" y="4160516"/>
            <a:ext cx="817853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r>
              <a:rPr lang="en-IN"/>
              <a:t>Insert </a:t>
            </a:r>
            <a:r>
              <a:rPr lang="en-IN" b="1">
                <a:solidFill>
                  <a:srgbClr val="C00000"/>
                </a:solidFill>
              </a:rPr>
              <a:t>4</a:t>
            </a:r>
            <a:endParaRPr lang="en-US" b="1">
              <a:solidFill>
                <a:srgbClr val="C00000"/>
              </a:solidFill>
            </a:endParaRPr>
          </a:p>
        </p:txBody>
      </p:sp>
      <p:cxnSp>
        <p:nvCxnSpPr>
          <p:cNvPr id="11779393" name="Straight Connector 49"/>
          <p:cNvCxnSpPr/>
          <p:nvPr/>
        </p:nvCxnSpPr>
        <p:spPr bwMode="auto">
          <a:xfrm>
            <a:off x="83130" y="4160516"/>
            <a:ext cx="175694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9427741" name="Oval 52"/>
          <p:cNvSpPr/>
          <p:nvPr/>
        </p:nvSpPr>
        <p:spPr bwMode="auto">
          <a:xfrm>
            <a:off x="1330559" y="4719314"/>
            <a:ext cx="356400" cy="356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600" b="1"/>
          </a:p>
        </p:txBody>
      </p:sp>
      <p:sp>
        <p:nvSpPr>
          <p:cNvPr id="623157026" name="TextBox 53"/>
          <p:cNvSpPr txBox="1"/>
          <p:nvPr/>
        </p:nvSpPr>
        <p:spPr bwMode="auto">
          <a:xfrm>
            <a:off x="1371626" y="4724278"/>
            <a:ext cx="301686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chemeClr val="bg1"/>
                </a:solidFill>
              </a:rPr>
              <a:t>6</a:t>
            </a:r>
            <a:endParaRPr lang="en-US" b="1">
              <a:solidFill>
                <a:schemeClr val="bg1"/>
              </a:solidFill>
            </a:endParaRPr>
          </a:p>
        </p:txBody>
      </p:sp>
      <p:grpSp>
        <p:nvGrpSpPr>
          <p:cNvPr id="969221628" name="Group 54"/>
          <p:cNvGrpSpPr/>
          <p:nvPr/>
        </p:nvGrpSpPr>
        <p:grpSpPr bwMode="auto">
          <a:xfrm>
            <a:off x="839494" y="5337923"/>
            <a:ext cx="356400" cy="369332"/>
            <a:chOff x="486299" y="2204716"/>
            <a:chExt cx="356400" cy="369332"/>
          </a:xfrm>
        </p:grpSpPr>
        <p:sp>
          <p:nvSpPr>
            <p:cNvPr id="56" name="Oval 55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57" name="TextBox 56"/>
            <p:cNvSpPr txBox="1"/>
            <p:nvPr/>
          </p:nvSpPr>
          <p:spPr bwMode="auto">
            <a:xfrm>
              <a:off x="517318" y="2204716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5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483798405" name="Straight Arrow Connector 57"/>
          <p:cNvCxnSpPr>
            <a:stCxn id="629427741" idx="3"/>
            <a:endCxn id="56" idx="0"/>
          </p:cNvCxnSpPr>
          <p:nvPr/>
        </p:nvCxnSpPr>
        <p:spPr bwMode="auto">
          <a:xfrm flipH="1">
            <a:off x="1017694" y="5023520"/>
            <a:ext cx="365058" cy="319487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525926814" name="Group 58"/>
          <p:cNvGrpSpPr/>
          <p:nvPr/>
        </p:nvGrpSpPr>
        <p:grpSpPr bwMode="auto">
          <a:xfrm>
            <a:off x="357634" y="5953489"/>
            <a:ext cx="356400" cy="384344"/>
            <a:chOff x="486299" y="2209800"/>
            <a:chExt cx="356400" cy="384344"/>
          </a:xfrm>
        </p:grpSpPr>
        <p:sp>
          <p:nvSpPr>
            <p:cNvPr id="60" name="Oval 59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61" name="TextBox 60"/>
            <p:cNvSpPr txBox="1"/>
            <p:nvPr/>
          </p:nvSpPr>
          <p:spPr bwMode="auto">
            <a:xfrm>
              <a:off x="507270" y="2224812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975158462" name="Straight Arrow Connector 62"/>
          <p:cNvCxnSpPr>
            <a:stCxn id="56" idx="3"/>
            <a:endCxn id="60" idx="0"/>
          </p:cNvCxnSpPr>
          <p:nvPr/>
        </p:nvCxnSpPr>
        <p:spPr bwMode="auto">
          <a:xfrm flipH="1">
            <a:off x="535834" y="5647212"/>
            <a:ext cx="355854" cy="306276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5664892" name="TextBox 63"/>
          <p:cNvSpPr txBox="1"/>
          <p:nvPr/>
        </p:nvSpPr>
        <p:spPr bwMode="auto">
          <a:xfrm>
            <a:off x="59671" y="596099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cxnSp>
        <p:nvCxnSpPr>
          <p:cNvPr id="1680233754" name="Straight Arrow Connector 67"/>
          <p:cNvCxnSpPr/>
          <p:nvPr/>
        </p:nvCxnSpPr>
        <p:spPr bwMode="auto">
          <a:xfrm>
            <a:off x="1698475" y="5379716"/>
            <a:ext cx="1207121" cy="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3656060" name="TextBox 68"/>
          <p:cNvSpPr txBox="1"/>
          <p:nvPr/>
        </p:nvSpPr>
        <p:spPr bwMode="auto">
          <a:xfrm>
            <a:off x="1593026" y="5503127"/>
            <a:ext cx="14180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1600"/>
              <a:t>Case 1</a:t>
            </a:r>
            <a:br>
              <a:rPr lang="en-IN" sz="1600"/>
            </a:br>
            <a:r>
              <a:rPr lang="en-IN" sz="1600"/>
              <a:t>Right Rotation </a:t>
            </a:r>
            <a:endParaRPr/>
          </a:p>
          <a:p>
            <a:pPr algn="ctr">
              <a:defRPr/>
            </a:pPr>
            <a:r>
              <a:rPr lang="en-IN" sz="1600"/>
              <a:t>of Node</a:t>
            </a:r>
            <a:r>
              <a:rPr lang="en-IN" sz="1600">
                <a:solidFill>
                  <a:srgbClr val="C00000"/>
                </a:solidFill>
              </a:rPr>
              <a:t> </a:t>
            </a:r>
            <a:r>
              <a:rPr lang="en-IN" sz="1600" b="1">
                <a:solidFill>
                  <a:srgbClr val="C00000"/>
                </a:solidFill>
              </a:rPr>
              <a:t>6</a:t>
            </a:r>
            <a:endParaRPr lang="en-US" sz="1600" b="1">
              <a:solidFill>
                <a:srgbClr val="C00000"/>
              </a:solidFill>
            </a:endParaRPr>
          </a:p>
        </p:txBody>
      </p:sp>
      <p:grpSp>
        <p:nvGrpSpPr>
          <p:cNvPr id="2017839958" name="Group 71"/>
          <p:cNvGrpSpPr/>
          <p:nvPr/>
        </p:nvGrpSpPr>
        <p:grpSpPr bwMode="auto">
          <a:xfrm>
            <a:off x="3644274" y="4833618"/>
            <a:ext cx="356400" cy="369332"/>
            <a:chOff x="486299" y="2204716"/>
            <a:chExt cx="356400" cy="369332"/>
          </a:xfrm>
        </p:grpSpPr>
        <p:sp>
          <p:nvSpPr>
            <p:cNvPr id="73" name="Oval 72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74" name="TextBox 73"/>
            <p:cNvSpPr txBox="1"/>
            <p:nvPr/>
          </p:nvSpPr>
          <p:spPr bwMode="auto">
            <a:xfrm>
              <a:off x="527366" y="2204716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5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965319847" name="Group 74"/>
          <p:cNvGrpSpPr/>
          <p:nvPr/>
        </p:nvGrpSpPr>
        <p:grpSpPr bwMode="auto">
          <a:xfrm>
            <a:off x="3082394" y="5488560"/>
            <a:ext cx="356400" cy="374296"/>
            <a:chOff x="486299" y="2209800"/>
            <a:chExt cx="356400" cy="374296"/>
          </a:xfrm>
        </p:grpSpPr>
        <p:sp>
          <p:nvSpPr>
            <p:cNvPr id="76" name="Oval 75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77" name="TextBox 76"/>
            <p:cNvSpPr txBox="1"/>
            <p:nvPr/>
          </p:nvSpPr>
          <p:spPr bwMode="auto">
            <a:xfrm>
              <a:off x="507270" y="2214764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511590247" name="Straight Arrow Connector 77"/>
          <p:cNvCxnSpPr>
            <a:stCxn id="73" idx="3"/>
            <a:endCxn id="76" idx="0"/>
          </p:cNvCxnSpPr>
          <p:nvPr/>
        </p:nvCxnSpPr>
        <p:spPr bwMode="auto">
          <a:xfrm flipH="1">
            <a:off x="3260594" y="5142908"/>
            <a:ext cx="435874" cy="345652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868356244" name="Group 78"/>
          <p:cNvGrpSpPr/>
          <p:nvPr/>
        </p:nvGrpSpPr>
        <p:grpSpPr bwMode="auto">
          <a:xfrm>
            <a:off x="4193474" y="5488560"/>
            <a:ext cx="356400" cy="374296"/>
            <a:chOff x="486299" y="2209800"/>
            <a:chExt cx="356400" cy="374296"/>
          </a:xfrm>
        </p:grpSpPr>
        <p:sp>
          <p:nvSpPr>
            <p:cNvPr id="80" name="Oval 79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81" name="TextBox 80"/>
            <p:cNvSpPr txBox="1"/>
            <p:nvPr/>
          </p:nvSpPr>
          <p:spPr bwMode="auto">
            <a:xfrm>
              <a:off x="517318" y="2214764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6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2046455751" name="Straight Arrow Connector 82"/>
          <p:cNvCxnSpPr>
            <a:stCxn id="73" idx="5"/>
            <a:endCxn id="80" idx="0"/>
          </p:cNvCxnSpPr>
          <p:nvPr/>
        </p:nvCxnSpPr>
        <p:spPr bwMode="auto">
          <a:xfrm>
            <a:off x="3948480" y="5142908"/>
            <a:ext cx="423194" cy="345652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56310764" name="TextBox 83"/>
          <p:cNvSpPr txBox="1"/>
          <p:nvPr/>
        </p:nvSpPr>
        <p:spPr bwMode="auto">
          <a:xfrm>
            <a:off x="2795436" y="5491042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827283573" name="TextBox 84"/>
          <p:cNvSpPr txBox="1"/>
          <p:nvPr/>
        </p:nvSpPr>
        <p:spPr bwMode="auto">
          <a:xfrm>
            <a:off x="3886626" y="5491042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228447289" name="TextBox 85"/>
          <p:cNvSpPr txBox="1"/>
          <p:nvPr/>
        </p:nvSpPr>
        <p:spPr bwMode="auto">
          <a:xfrm>
            <a:off x="3334466" y="4833618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841472438" name="Freeform 87"/>
          <p:cNvSpPr/>
          <p:nvPr/>
        </p:nvSpPr>
        <p:spPr bwMode="auto">
          <a:xfrm>
            <a:off x="1802453" y="4164964"/>
            <a:ext cx="2990888" cy="2461536"/>
          </a:xfrm>
          <a:custGeom>
            <a:avLst/>
            <a:gdLst>
              <a:gd name="connsiteX0" fmla="*/ 0 w 2802467"/>
              <a:gd name="connsiteY0" fmla="*/ 0 h 2133600"/>
              <a:gd name="connsiteX1" fmla="*/ 2802467 w 2802467"/>
              <a:gd name="connsiteY1" fmla="*/ 0 h 2133600"/>
              <a:gd name="connsiteX2" fmla="*/ 2802467 w 2802467"/>
              <a:gd name="connsiteY2" fmla="*/ 213360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02467" h="2133600" fill="norm" stroke="1" extrusionOk="0">
                <a:moveTo>
                  <a:pt x="0" y="0"/>
                </a:moveTo>
                <a:lnTo>
                  <a:pt x="2802467" y="0"/>
                </a:lnTo>
                <a:lnTo>
                  <a:pt x="2802467" y="2133600"/>
                </a:ln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2072895" name="TextBox 61"/>
          <p:cNvSpPr txBox="1"/>
          <p:nvPr/>
        </p:nvSpPr>
        <p:spPr bwMode="auto">
          <a:xfrm>
            <a:off x="1852775" y="1564136"/>
            <a:ext cx="817853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r>
              <a:rPr lang="en-IN"/>
              <a:t>Insert </a:t>
            </a:r>
            <a:r>
              <a:rPr lang="en-IN" b="1">
                <a:solidFill>
                  <a:srgbClr val="C00000"/>
                </a:solidFill>
              </a:rPr>
              <a:t>3</a:t>
            </a:r>
            <a:endParaRPr lang="en-US" b="1">
              <a:solidFill>
                <a:srgbClr val="C00000"/>
              </a:solidFill>
            </a:endParaRPr>
          </a:p>
        </p:txBody>
      </p:sp>
      <p:grpSp>
        <p:nvGrpSpPr>
          <p:cNvPr id="99210587" name="Group 64"/>
          <p:cNvGrpSpPr/>
          <p:nvPr/>
        </p:nvGrpSpPr>
        <p:grpSpPr bwMode="auto">
          <a:xfrm>
            <a:off x="3295427" y="1995308"/>
            <a:ext cx="356400" cy="374296"/>
            <a:chOff x="486299" y="2209800"/>
            <a:chExt cx="356400" cy="374296"/>
          </a:xfrm>
        </p:grpSpPr>
        <p:sp>
          <p:nvSpPr>
            <p:cNvPr id="66" name="Oval 65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67" name="TextBox 66"/>
            <p:cNvSpPr txBox="1"/>
            <p:nvPr/>
          </p:nvSpPr>
          <p:spPr bwMode="auto">
            <a:xfrm>
              <a:off x="507270" y="2214764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5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547210983" name="Group 69"/>
          <p:cNvGrpSpPr/>
          <p:nvPr/>
        </p:nvGrpSpPr>
        <p:grpSpPr bwMode="auto">
          <a:xfrm>
            <a:off x="2719692" y="2547344"/>
            <a:ext cx="356400" cy="374296"/>
            <a:chOff x="486299" y="2209800"/>
            <a:chExt cx="356400" cy="374296"/>
          </a:xfrm>
        </p:grpSpPr>
        <p:sp>
          <p:nvSpPr>
            <p:cNvPr id="71" name="Oval 70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82" name="TextBox 81"/>
            <p:cNvSpPr txBox="1"/>
            <p:nvPr/>
          </p:nvSpPr>
          <p:spPr bwMode="auto">
            <a:xfrm>
              <a:off x="507270" y="2214764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596549742" name="Straight Arrow Connector 86"/>
          <p:cNvCxnSpPr>
            <a:stCxn id="66" idx="3"/>
            <a:endCxn id="71" idx="0"/>
          </p:cNvCxnSpPr>
          <p:nvPr/>
        </p:nvCxnSpPr>
        <p:spPr bwMode="auto">
          <a:xfrm flipH="1">
            <a:off x="2897892" y="2299514"/>
            <a:ext cx="449729" cy="24783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528417846" name="Group 88"/>
          <p:cNvGrpSpPr/>
          <p:nvPr/>
        </p:nvGrpSpPr>
        <p:grpSpPr bwMode="auto">
          <a:xfrm>
            <a:off x="3830771" y="2547344"/>
            <a:ext cx="356400" cy="374296"/>
            <a:chOff x="486299" y="2209800"/>
            <a:chExt cx="356400" cy="374296"/>
          </a:xfrm>
        </p:grpSpPr>
        <p:sp>
          <p:nvSpPr>
            <p:cNvPr id="90" name="Oval 89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91" name="TextBox 90"/>
            <p:cNvSpPr txBox="1"/>
            <p:nvPr/>
          </p:nvSpPr>
          <p:spPr bwMode="auto">
            <a:xfrm>
              <a:off x="517318" y="2214764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6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568472508" name="Straight Arrow Connector 91"/>
          <p:cNvCxnSpPr>
            <a:stCxn id="66" idx="5"/>
            <a:endCxn id="90" idx="0"/>
          </p:cNvCxnSpPr>
          <p:nvPr/>
        </p:nvCxnSpPr>
        <p:spPr bwMode="auto">
          <a:xfrm>
            <a:off x="3599632" y="2299514"/>
            <a:ext cx="409339" cy="24783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44996114" name="TextBox 93"/>
          <p:cNvSpPr txBox="1"/>
          <p:nvPr/>
        </p:nvSpPr>
        <p:spPr bwMode="auto">
          <a:xfrm>
            <a:off x="1865262" y="316991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grpSp>
        <p:nvGrpSpPr>
          <p:cNvPr id="375745003" name="Group 94"/>
          <p:cNvGrpSpPr/>
          <p:nvPr/>
        </p:nvGrpSpPr>
        <p:grpSpPr bwMode="auto">
          <a:xfrm>
            <a:off x="2154372" y="3167434"/>
            <a:ext cx="356400" cy="374296"/>
            <a:chOff x="486299" y="2209800"/>
            <a:chExt cx="356400" cy="374296"/>
          </a:xfrm>
        </p:grpSpPr>
        <p:sp>
          <p:nvSpPr>
            <p:cNvPr id="96" name="Oval 95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97" name="TextBox 96"/>
            <p:cNvSpPr txBox="1"/>
            <p:nvPr/>
          </p:nvSpPr>
          <p:spPr bwMode="auto">
            <a:xfrm>
              <a:off x="517318" y="2214764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927563462" name="Straight Arrow Connector 5"/>
          <p:cNvCxnSpPr>
            <a:stCxn id="71" idx="3"/>
            <a:endCxn id="96" idx="0"/>
          </p:cNvCxnSpPr>
          <p:nvPr/>
        </p:nvCxnSpPr>
        <p:spPr bwMode="auto">
          <a:xfrm flipH="1">
            <a:off x="2332572" y="2851550"/>
            <a:ext cx="439314" cy="315884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85037248" name="TextBox 97"/>
          <p:cNvSpPr txBox="1"/>
          <p:nvPr/>
        </p:nvSpPr>
        <p:spPr bwMode="auto">
          <a:xfrm>
            <a:off x="2399514" y="2549826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  <p:sp>
        <p:nvSpPr>
          <p:cNvPr id="437300947" name="TextBox 98"/>
          <p:cNvSpPr txBox="1"/>
          <p:nvPr/>
        </p:nvSpPr>
        <p:spPr bwMode="auto">
          <a:xfrm>
            <a:off x="3536971" y="254982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448012932" name="TextBox 99"/>
          <p:cNvSpPr txBox="1"/>
          <p:nvPr/>
        </p:nvSpPr>
        <p:spPr bwMode="auto">
          <a:xfrm>
            <a:off x="2999008" y="199779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  <p:cxnSp>
        <p:nvCxnSpPr>
          <p:cNvPr id="1342375471" name="Straight Connector 100"/>
          <p:cNvCxnSpPr/>
          <p:nvPr/>
        </p:nvCxnSpPr>
        <p:spPr bwMode="auto">
          <a:xfrm>
            <a:off x="4793341" y="1569717"/>
            <a:ext cx="0" cy="25980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2385027" name="TextBox 101"/>
          <p:cNvSpPr txBox="1"/>
          <p:nvPr/>
        </p:nvSpPr>
        <p:spPr bwMode="auto">
          <a:xfrm>
            <a:off x="4793342" y="1562513"/>
            <a:ext cx="817853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r>
              <a:rPr lang="en-IN"/>
              <a:t>Insert </a:t>
            </a:r>
            <a:r>
              <a:rPr lang="en-IN" b="1">
                <a:solidFill>
                  <a:srgbClr val="C00000"/>
                </a:solidFill>
              </a:rPr>
              <a:t>2</a:t>
            </a:r>
            <a:endParaRPr lang="en-US" b="1">
              <a:solidFill>
                <a:srgbClr val="C00000"/>
              </a:solidFill>
            </a:endParaRPr>
          </a:p>
        </p:txBody>
      </p:sp>
      <p:grpSp>
        <p:nvGrpSpPr>
          <p:cNvPr id="466379897" name="Group 102"/>
          <p:cNvGrpSpPr/>
          <p:nvPr/>
        </p:nvGrpSpPr>
        <p:grpSpPr bwMode="auto">
          <a:xfrm>
            <a:off x="6675928" y="1771033"/>
            <a:ext cx="356400" cy="374296"/>
            <a:chOff x="486299" y="2209800"/>
            <a:chExt cx="356400" cy="374296"/>
          </a:xfrm>
        </p:grpSpPr>
        <p:sp>
          <p:nvSpPr>
            <p:cNvPr id="104" name="Oval 103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05" name="TextBox 104"/>
            <p:cNvSpPr txBox="1"/>
            <p:nvPr/>
          </p:nvSpPr>
          <p:spPr bwMode="auto">
            <a:xfrm>
              <a:off x="517318" y="2214764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5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356164553" name="Straight Arrow Connector 108"/>
          <p:cNvCxnSpPr>
            <a:stCxn id="104" idx="3"/>
            <a:endCxn id="1151663869" idx="0"/>
          </p:cNvCxnSpPr>
          <p:nvPr/>
        </p:nvCxnSpPr>
        <p:spPr bwMode="auto">
          <a:xfrm flipH="1">
            <a:off x="6378777" y="2075240"/>
            <a:ext cx="349345" cy="32750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70214369" name="Oval 110"/>
          <p:cNvSpPr/>
          <p:nvPr/>
        </p:nvSpPr>
        <p:spPr bwMode="auto">
          <a:xfrm>
            <a:off x="7135073" y="2402745"/>
            <a:ext cx="356400" cy="356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600" b="1"/>
              <a:t>6</a:t>
            </a:r>
            <a:endParaRPr/>
          </a:p>
        </p:txBody>
      </p:sp>
      <p:cxnSp>
        <p:nvCxnSpPr>
          <p:cNvPr id="1839883126" name="Straight Arrow Connector 112"/>
          <p:cNvCxnSpPr>
            <a:stCxn id="104" idx="5"/>
            <a:endCxn id="1370214369" idx="0"/>
          </p:cNvCxnSpPr>
          <p:nvPr/>
        </p:nvCxnSpPr>
        <p:spPr bwMode="auto">
          <a:xfrm>
            <a:off x="6980134" y="2075240"/>
            <a:ext cx="333140" cy="32750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24602033" name="Group 114"/>
          <p:cNvGrpSpPr/>
          <p:nvPr/>
        </p:nvGrpSpPr>
        <p:grpSpPr bwMode="auto">
          <a:xfrm>
            <a:off x="5763473" y="3038739"/>
            <a:ext cx="356400" cy="369332"/>
            <a:chOff x="486299" y="2204716"/>
            <a:chExt cx="356400" cy="369332"/>
          </a:xfrm>
        </p:grpSpPr>
        <p:sp>
          <p:nvSpPr>
            <p:cNvPr id="116" name="Oval 115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17" name="TextBox 116"/>
            <p:cNvSpPr txBox="1"/>
            <p:nvPr/>
          </p:nvSpPr>
          <p:spPr bwMode="auto">
            <a:xfrm>
              <a:off x="517318" y="2204716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663477082" name="Straight Arrow Connector 117"/>
          <p:cNvCxnSpPr>
            <a:endCxn id="116" idx="0"/>
          </p:cNvCxnSpPr>
          <p:nvPr/>
        </p:nvCxnSpPr>
        <p:spPr bwMode="auto">
          <a:xfrm flipH="1">
            <a:off x="5941673" y="2569063"/>
            <a:ext cx="345956" cy="474759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393433447" name="Group 120"/>
          <p:cNvGrpSpPr/>
          <p:nvPr/>
        </p:nvGrpSpPr>
        <p:grpSpPr bwMode="auto">
          <a:xfrm>
            <a:off x="5306273" y="3584852"/>
            <a:ext cx="356400" cy="374296"/>
            <a:chOff x="486299" y="2209800"/>
            <a:chExt cx="356400" cy="374296"/>
          </a:xfrm>
        </p:grpSpPr>
        <p:sp>
          <p:nvSpPr>
            <p:cNvPr id="122" name="Oval 121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23" name="TextBox 122"/>
            <p:cNvSpPr txBox="1"/>
            <p:nvPr/>
          </p:nvSpPr>
          <p:spPr bwMode="auto">
            <a:xfrm>
              <a:off x="517318" y="2214764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699564640" name="Straight Arrow Connector 14"/>
          <p:cNvCxnSpPr>
            <a:stCxn id="116" idx="3"/>
            <a:endCxn id="122" idx="7"/>
          </p:cNvCxnSpPr>
          <p:nvPr/>
        </p:nvCxnSpPr>
        <p:spPr bwMode="auto">
          <a:xfrm flipH="1">
            <a:off x="5610479" y="3348029"/>
            <a:ext cx="205188" cy="289017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51663869" name="Oval 124"/>
          <p:cNvSpPr/>
          <p:nvPr/>
        </p:nvSpPr>
        <p:spPr bwMode="auto">
          <a:xfrm>
            <a:off x="6200577" y="2402745"/>
            <a:ext cx="356400" cy="356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600" b="1"/>
              <a:t>4</a:t>
            </a:r>
            <a:endParaRPr/>
          </a:p>
        </p:txBody>
      </p:sp>
      <p:sp>
        <p:nvSpPr>
          <p:cNvPr id="909319441" name="TextBox 126"/>
          <p:cNvSpPr txBox="1"/>
          <p:nvPr/>
        </p:nvSpPr>
        <p:spPr bwMode="auto">
          <a:xfrm>
            <a:off x="5009691" y="358733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685108262" name="TextBox 127"/>
          <p:cNvSpPr txBox="1"/>
          <p:nvPr/>
        </p:nvSpPr>
        <p:spPr bwMode="auto">
          <a:xfrm>
            <a:off x="5516883" y="3038739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  <p:sp>
        <p:nvSpPr>
          <p:cNvPr id="30609681" name="TextBox 128"/>
          <p:cNvSpPr txBox="1"/>
          <p:nvPr/>
        </p:nvSpPr>
        <p:spPr bwMode="auto">
          <a:xfrm>
            <a:off x="4846528" y="2396279"/>
            <a:ext cx="1442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b="1">
                <a:solidFill>
                  <a:srgbClr val="C00000"/>
                </a:solidFill>
              </a:rPr>
              <a:t>Critical Node</a:t>
            </a:r>
            <a:endParaRPr lang="en-US" b="1">
              <a:solidFill>
                <a:srgbClr val="C00000"/>
              </a:solidFill>
            </a:endParaRPr>
          </a:p>
        </p:txBody>
      </p:sp>
      <p:cxnSp>
        <p:nvCxnSpPr>
          <p:cNvPr id="816921624" name="Straight Arrow Connector 17"/>
          <p:cNvCxnSpPr/>
          <p:nvPr/>
        </p:nvCxnSpPr>
        <p:spPr bwMode="auto">
          <a:xfrm>
            <a:off x="7922386" y="2410311"/>
            <a:ext cx="1213496" cy="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8661415" name="TextBox 129"/>
          <p:cNvSpPr txBox="1"/>
          <p:nvPr/>
        </p:nvSpPr>
        <p:spPr bwMode="auto">
          <a:xfrm>
            <a:off x="7820126" y="2470069"/>
            <a:ext cx="14180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1600"/>
              <a:t>Case 1</a:t>
            </a:r>
            <a:br>
              <a:rPr lang="en-IN" sz="1600"/>
            </a:br>
            <a:r>
              <a:rPr lang="en-IN" sz="1600"/>
              <a:t>Right Rotation </a:t>
            </a:r>
            <a:endParaRPr/>
          </a:p>
          <a:p>
            <a:pPr algn="ctr">
              <a:defRPr/>
            </a:pPr>
            <a:r>
              <a:rPr lang="en-IN" sz="1600"/>
              <a:t>of Node </a:t>
            </a:r>
            <a:r>
              <a:rPr lang="en-IN" sz="1600" b="1">
                <a:solidFill>
                  <a:srgbClr val="C00000"/>
                </a:solidFill>
              </a:rPr>
              <a:t>4</a:t>
            </a:r>
            <a:endParaRPr lang="en-US" sz="1600" b="1">
              <a:solidFill>
                <a:srgbClr val="C00000"/>
              </a:solidFill>
            </a:endParaRPr>
          </a:p>
        </p:txBody>
      </p:sp>
      <p:grpSp>
        <p:nvGrpSpPr>
          <p:cNvPr id="1295766496" name="Group 130"/>
          <p:cNvGrpSpPr/>
          <p:nvPr/>
        </p:nvGrpSpPr>
        <p:grpSpPr bwMode="auto">
          <a:xfrm>
            <a:off x="10185448" y="2393797"/>
            <a:ext cx="356400" cy="374296"/>
            <a:chOff x="486299" y="2209800"/>
            <a:chExt cx="356400" cy="374296"/>
          </a:xfrm>
        </p:grpSpPr>
        <p:sp>
          <p:nvSpPr>
            <p:cNvPr id="132" name="Oval 131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33" name="TextBox 132"/>
            <p:cNvSpPr txBox="1"/>
            <p:nvPr/>
          </p:nvSpPr>
          <p:spPr bwMode="auto">
            <a:xfrm>
              <a:off x="517318" y="2214764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835498287" name="Group 133"/>
          <p:cNvGrpSpPr/>
          <p:nvPr/>
        </p:nvGrpSpPr>
        <p:grpSpPr bwMode="auto">
          <a:xfrm>
            <a:off x="9728248" y="3064832"/>
            <a:ext cx="356400" cy="374296"/>
            <a:chOff x="486299" y="2209800"/>
            <a:chExt cx="356400" cy="374296"/>
          </a:xfrm>
        </p:grpSpPr>
        <p:sp>
          <p:nvSpPr>
            <p:cNvPr id="135" name="Oval 134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36" name="TextBox 135"/>
            <p:cNvSpPr txBox="1"/>
            <p:nvPr/>
          </p:nvSpPr>
          <p:spPr bwMode="auto">
            <a:xfrm>
              <a:off x="527366" y="2214764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106723270" name="Straight Arrow Connector 136"/>
          <p:cNvCxnSpPr>
            <a:stCxn id="132" idx="3"/>
            <a:endCxn id="135" idx="0"/>
          </p:cNvCxnSpPr>
          <p:nvPr/>
        </p:nvCxnSpPr>
        <p:spPr bwMode="auto">
          <a:xfrm flipH="1">
            <a:off x="9906448" y="2698003"/>
            <a:ext cx="331194" cy="366829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708491442" name="Group 137"/>
          <p:cNvGrpSpPr/>
          <p:nvPr/>
        </p:nvGrpSpPr>
        <p:grpSpPr bwMode="auto">
          <a:xfrm>
            <a:off x="10718848" y="3064832"/>
            <a:ext cx="356400" cy="374296"/>
            <a:chOff x="486299" y="2209800"/>
            <a:chExt cx="356400" cy="374296"/>
          </a:xfrm>
        </p:grpSpPr>
        <p:sp>
          <p:nvSpPr>
            <p:cNvPr id="139" name="Oval 138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40" name="TextBox 139"/>
            <p:cNvSpPr txBox="1"/>
            <p:nvPr/>
          </p:nvSpPr>
          <p:spPr bwMode="auto">
            <a:xfrm>
              <a:off x="517318" y="2214764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868837701" name="Straight Arrow Connector 21"/>
          <p:cNvCxnSpPr>
            <a:stCxn id="132" idx="5"/>
            <a:endCxn id="139" idx="0"/>
          </p:cNvCxnSpPr>
          <p:nvPr/>
        </p:nvCxnSpPr>
        <p:spPr bwMode="auto">
          <a:xfrm>
            <a:off x="10489654" y="2698003"/>
            <a:ext cx="407394" cy="366829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513156593" name="Group 140"/>
          <p:cNvGrpSpPr/>
          <p:nvPr/>
        </p:nvGrpSpPr>
        <p:grpSpPr bwMode="auto">
          <a:xfrm>
            <a:off x="10602603" y="1771033"/>
            <a:ext cx="356400" cy="374296"/>
            <a:chOff x="486299" y="2209800"/>
            <a:chExt cx="356400" cy="374296"/>
          </a:xfrm>
        </p:grpSpPr>
        <p:sp>
          <p:nvSpPr>
            <p:cNvPr id="142" name="Oval 141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43" name="TextBox 142"/>
            <p:cNvSpPr txBox="1"/>
            <p:nvPr/>
          </p:nvSpPr>
          <p:spPr bwMode="auto">
            <a:xfrm>
              <a:off x="517318" y="2214764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5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844010484" name="Group 143"/>
          <p:cNvGrpSpPr/>
          <p:nvPr/>
        </p:nvGrpSpPr>
        <p:grpSpPr bwMode="auto">
          <a:xfrm>
            <a:off x="11137948" y="2395178"/>
            <a:ext cx="356400" cy="371532"/>
            <a:chOff x="486299" y="2194668"/>
            <a:chExt cx="356400" cy="371532"/>
          </a:xfrm>
        </p:grpSpPr>
        <p:sp>
          <p:nvSpPr>
            <p:cNvPr id="145" name="Oval 144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46" name="TextBox 145"/>
            <p:cNvSpPr txBox="1"/>
            <p:nvPr/>
          </p:nvSpPr>
          <p:spPr bwMode="auto">
            <a:xfrm>
              <a:off x="517318" y="2194668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6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646681047" name="Straight Arrow Connector 146"/>
          <p:cNvCxnSpPr>
            <a:stCxn id="142" idx="5"/>
            <a:endCxn id="145" idx="0"/>
          </p:cNvCxnSpPr>
          <p:nvPr/>
        </p:nvCxnSpPr>
        <p:spPr bwMode="auto">
          <a:xfrm>
            <a:off x="10906809" y="2075240"/>
            <a:ext cx="409339" cy="335071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84618416" name="Straight Arrow Connector 27"/>
          <p:cNvCxnSpPr>
            <a:stCxn id="142" idx="3"/>
            <a:endCxn id="132" idx="0"/>
          </p:cNvCxnSpPr>
          <p:nvPr/>
        </p:nvCxnSpPr>
        <p:spPr bwMode="auto">
          <a:xfrm flipH="1">
            <a:off x="10363648" y="2075240"/>
            <a:ext cx="291149" cy="318557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14751738" name="TextBox 118"/>
          <p:cNvSpPr txBox="1"/>
          <p:nvPr/>
        </p:nvSpPr>
        <p:spPr bwMode="auto">
          <a:xfrm>
            <a:off x="9457216" y="306731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895463575" name="TextBox 119"/>
          <p:cNvSpPr txBox="1"/>
          <p:nvPr/>
        </p:nvSpPr>
        <p:spPr bwMode="auto">
          <a:xfrm>
            <a:off x="10437097" y="306731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526340358" name="TextBox 123"/>
          <p:cNvSpPr txBox="1"/>
          <p:nvPr/>
        </p:nvSpPr>
        <p:spPr bwMode="auto">
          <a:xfrm>
            <a:off x="9902651" y="239627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366422498" name="TextBox 147"/>
          <p:cNvSpPr txBox="1"/>
          <p:nvPr/>
        </p:nvSpPr>
        <p:spPr bwMode="auto">
          <a:xfrm>
            <a:off x="10861538" y="239627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243695942" name="TextBox 148"/>
          <p:cNvSpPr txBox="1"/>
          <p:nvPr/>
        </p:nvSpPr>
        <p:spPr bwMode="auto">
          <a:xfrm>
            <a:off x="10339848" y="1773516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  <p:cxnSp>
        <p:nvCxnSpPr>
          <p:cNvPr id="1990179212" name="Straight Connector 13"/>
          <p:cNvCxnSpPr/>
          <p:nvPr/>
        </p:nvCxnSpPr>
        <p:spPr bwMode="auto">
          <a:xfrm>
            <a:off x="4806042" y="4160516"/>
            <a:ext cx="727588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0040130" name="TextBox 149"/>
          <p:cNvSpPr txBox="1"/>
          <p:nvPr/>
        </p:nvSpPr>
        <p:spPr bwMode="auto">
          <a:xfrm>
            <a:off x="4793342" y="4160516"/>
            <a:ext cx="817853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r>
              <a:rPr lang="en-IN"/>
              <a:t>Insert </a:t>
            </a:r>
            <a:r>
              <a:rPr lang="en-IN" b="1">
                <a:solidFill>
                  <a:srgbClr val="C00000"/>
                </a:solidFill>
              </a:rPr>
              <a:t>1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418985717" name="TextBox 155"/>
          <p:cNvSpPr txBox="1"/>
          <p:nvPr/>
        </p:nvSpPr>
        <p:spPr bwMode="auto">
          <a:xfrm>
            <a:off x="5580919" y="5333880"/>
            <a:ext cx="301686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chemeClr val="bg1"/>
                </a:solidFill>
              </a:rPr>
              <a:t>2</a:t>
            </a:r>
            <a:endParaRPr lang="en-US" b="1">
              <a:solidFill>
                <a:schemeClr val="bg1"/>
              </a:solidFill>
            </a:endParaRPr>
          </a:p>
        </p:txBody>
      </p:sp>
      <p:grpSp>
        <p:nvGrpSpPr>
          <p:cNvPr id="1855928157" name="Group 179"/>
          <p:cNvGrpSpPr/>
          <p:nvPr/>
        </p:nvGrpSpPr>
        <p:grpSpPr bwMode="auto">
          <a:xfrm>
            <a:off x="6216275" y="4938802"/>
            <a:ext cx="356400" cy="374296"/>
            <a:chOff x="486299" y="2209800"/>
            <a:chExt cx="356400" cy="374296"/>
          </a:xfrm>
        </p:grpSpPr>
        <p:sp>
          <p:nvSpPr>
            <p:cNvPr id="181" name="Oval 180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82" name="TextBox 181"/>
            <p:cNvSpPr txBox="1"/>
            <p:nvPr/>
          </p:nvSpPr>
          <p:spPr bwMode="auto">
            <a:xfrm>
              <a:off x="517318" y="2214764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55555848" name="Group 182"/>
          <p:cNvGrpSpPr/>
          <p:nvPr/>
        </p:nvGrpSpPr>
        <p:grpSpPr bwMode="auto">
          <a:xfrm>
            <a:off x="5759075" y="5510617"/>
            <a:ext cx="356400" cy="374296"/>
            <a:chOff x="486299" y="2209800"/>
            <a:chExt cx="356400" cy="374296"/>
          </a:xfrm>
        </p:grpSpPr>
        <p:sp>
          <p:nvSpPr>
            <p:cNvPr id="184" name="Oval 183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85" name="TextBox 184"/>
            <p:cNvSpPr txBox="1"/>
            <p:nvPr/>
          </p:nvSpPr>
          <p:spPr bwMode="auto">
            <a:xfrm>
              <a:off x="527366" y="2214764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457926566" name="Straight Arrow Connector 185"/>
          <p:cNvCxnSpPr>
            <a:stCxn id="181" idx="3"/>
            <a:endCxn id="184" idx="7"/>
          </p:cNvCxnSpPr>
          <p:nvPr/>
        </p:nvCxnSpPr>
        <p:spPr bwMode="auto">
          <a:xfrm flipH="1">
            <a:off x="6063281" y="5243008"/>
            <a:ext cx="205188" cy="319803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617908702" name="Group 186"/>
          <p:cNvGrpSpPr/>
          <p:nvPr/>
        </p:nvGrpSpPr>
        <p:grpSpPr bwMode="auto">
          <a:xfrm>
            <a:off x="6673475" y="5510617"/>
            <a:ext cx="356400" cy="374296"/>
            <a:chOff x="486299" y="2209800"/>
            <a:chExt cx="356400" cy="374296"/>
          </a:xfrm>
        </p:grpSpPr>
        <p:sp>
          <p:nvSpPr>
            <p:cNvPr id="188" name="Oval 187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89" name="TextBox 188"/>
            <p:cNvSpPr txBox="1"/>
            <p:nvPr/>
          </p:nvSpPr>
          <p:spPr bwMode="auto">
            <a:xfrm>
              <a:off x="517318" y="2214764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951058451" name="Straight Arrow Connector 189"/>
          <p:cNvCxnSpPr>
            <a:stCxn id="181" idx="5"/>
            <a:endCxn id="188" idx="1"/>
          </p:cNvCxnSpPr>
          <p:nvPr/>
        </p:nvCxnSpPr>
        <p:spPr bwMode="auto">
          <a:xfrm>
            <a:off x="6520481" y="5243008"/>
            <a:ext cx="205188" cy="319803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28590994" name="Oval 191"/>
          <p:cNvSpPr/>
          <p:nvPr/>
        </p:nvSpPr>
        <p:spPr bwMode="auto">
          <a:xfrm>
            <a:off x="6595330" y="4328282"/>
            <a:ext cx="356400" cy="356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600" b="1"/>
          </a:p>
        </p:txBody>
      </p:sp>
      <p:sp>
        <p:nvSpPr>
          <p:cNvPr id="471888902" name="TextBox 192"/>
          <p:cNvSpPr txBox="1"/>
          <p:nvPr/>
        </p:nvSpPr>
        <p:spPr bwMode="auto">
          <a:xfrm>
            <a:off x="6626349" y="4321816"/>
            <a:ext cx="301686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chemeClr val="bg1"/>
                </a:solidFill>
              </a:rPr>
              <a:t>5</a:t>
            </a:r>
            <a:endParaRPr lang="en-US" b="1">
              <a:solidFill>
                <a:schemeClr val="bg1"/>
              </a:solidFill>
            </a:endParaRPr>
          </a:p>
        </p:txBody>
      </p:sp>
      <p:grpSp>
        <p:nvGrpSpPr>
          <p:cNvPr id="1888269513" name="Group 193"/>
          <p:cNvGrpSpPr/>
          <p:nvPr/>
        </p:nvGrpSpPr>
        <p:grpSpPr bwMode="auto">
          <a:xfrm>
            <a:off x="7054475" y="4940183"/>
            <a:ext cx="356400" cy="371532"/>
            <a:chOff x="486299" y="2194668"/>
            <a:chExt cx="356400" cy="371532"/>
          </a:xfrm>
        </p:grpSpPr>
        <p:sp>
          <p:nvSpPr>
            <p:cNvPr id="195" name="Oval 194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96" name="TextBox 195"/>
            <p:cNvSpPr txBox="1"/>
            <p:nvPr/>
          </p:nvSpPr>
          <p:spPr bwMode="auto">
            <a:xfrm>
              <a:off x="517318" y="2194668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6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542818782" name="Straight Arrow Connector 196"/>
          <p:cNvCxnSpPr>
            <a:stCxn id="1128590994" idx="5"/>
            <a:endCxn id="195" idx="0"/>
          </p:cNvCxnSpPr>
          <p:nvPr/>
        </p:nvCxnSpPr>
        <p:spPr bwMode="auto">
          <a:xfrm>
            <a:off x="6899536" y="4632488"/>
            <a:ext cx="333139" cy="322828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07411910" name="Straight Arrow Connector 197"/>
          <p:cNvCxnSpPr>
            <a:stCxn id="1128590994" idx="3"/>
            <a:endCxn id="181" idx="0"/>
          </p:cNvCxnSpPr>
          <p:nvPr/>
        </p:nvCxnSpPr>
        <p:spPr bwMode="auto">
          <a:xfrm flipH="1">
            <a:off x="6394475" y="4632488"/>
            <a:ext cx="253049" cy="306314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34814312" name="TextBox 198"/>
          <p:cNvSpPr txBox="1"/>
          <p:nvPr/>
        </p:nvSpPr>
        <p:spPr bwMode="auto">
          <a:xfrm>
            <a:off x="5472858" y="5513099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  <p:sp>
        <p:nvSpPr>
          <p:cNvPr id="1684677603" name="TextBox 199"/>
          <p:cNvSpPr txBox="1"/>
          <p:nvPr/>
        </p:nvSpPr>
        <p:spPr bwMode="auto">
          <a:xfrm>
            <a:off x="6388549" y="551309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264401204" name="TextBox 200"/>
          <p:cNvSpPr txBox="1"/>
          <p:nvPr/>
        </p:nvSpPr>
        <p:spPr bwMode="auto">
          <a:xfrm>
            <a:off x="5933571" y="4941284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  <p:sp>
        <p:nvSpPr>
          <p:cNvPr id="550708487" name="TextBox 201"/>
          <p:cNvSpPr txBox="1"/>
          <p:nvPr/>
        </p:nvSpPr>
        <p:spPr bwMode="auto">
          <a:xfrm>
            <a:off x="6765365" y="494128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246430383" name="TextBox 202"/>
          <p:cNvSpPr txBox="1"/>
          <p:nvPr/>
        </p:nvSpPr>
        <p:spPr bwMode="auto">
          <a:xfrm>
            <a:off x="6908720" y="4321816"/>
            <a:ext cx="14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Critical Node</a:t>
            </a:r>
            <a:endParaRPr lang="en-US" b="1">
              <a:solidFill>
                <a:srgbClr val="C00000"/>
              </a:solidFill>
            </a:endParaRPr>
          </a:p>
        </p:txBody>
      </p:sp>
      <p:grpSp>
        <p:nvGrpSpPr>
          <p:cNvPr id="482287724" name="Group 203"/>
          <p:cNvGrpSpPr/>
          <p:nvPr/>
        </p:nvGrpSpPr>
        <p:grpSpPr bwMode="auto">
          <a:xfrm>
            <a:off x="5325804" y="6005192"/>
            <a:ext cx="356400" cy="374296"/>
            <a:chOff x="486299" y="2209800"/>
            <a:chExt cx="356400" cy="374296"/>
          </a:xfrm>
        </p:grpSpPr>
        <p:sp>
          <p:nvSpPr>
            <p:cNvPr id="205" name="Oval 204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06" name="TextBox 205"/>
            <p:cNvSpPr txBox="1"/>
            <p:nvPr/>
          </p:nvSpPr>
          <p:spPr bwMode="auto">
            <a:xfrm>
              <a:off x="527366" y="2214764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703652263" name="Straight Arrow Connector 113"/>
          <p:cNvCxnSpPr>
            <a:stCxn id="184" idx="3"/>
            <a:endCxn id="205" idx="7"/>
          </p:cNvCxnSpPr>
          <p:nvPr/>
        </p:nvCxnSpPr>
        <p:spPr bwMode="auto">
          <a:xfrm flipH="1">
            <a:off x="5630010" y="5814822"/>
            <a:ext cx="181259" cy="242563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77273107" name="TextBox 206"/>
          <p:cNvSpPr txBox="1"/>
          <p:nvPr/>
        </p:nvSpPr>
        <p:spPr bwMode="auto">
          <a:xfrm>
            <a:off x="4990568" y="600767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cxnSp>
        <p:nvCxnSpPr>
          <p:cNvPr id="182986904" name="Straight Arrow Connector 207"/>
          <p:cNvCxnSpPr/>
          <p:nvPr/>
        </p:nvCxnSpPr>
        <p:spPr bwMode="auto">
          <a:xfrm>
            <a:off x="7922534" y="5405630"/>
            <a:ext cx="1213200" cy="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4590330" name="TextBox 208"/>
          <p:cNvSpPr txBox="1"/>
          <p:nvPr/>
        </p:nvSpPr>
        <p:spPr bwMode="auto">
          <a:xfrm>
            <a:off x="7842087" y="5503127"/>
            <a:ext cx="13740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1600"/>
              <a:t>Case 1</a:t>
            </a:r>
            <a:br>
              <a:rPr lang="en-IN" sz="1600"/>
            </a:br>
            <a:r>
              <a:rPr lang="en-IN" sz="1600"/>
              <a:t>Right Rotation </a:t>
            </a:r>
            <a:endParaRPr/>
          </a:p>
          <a:p>
            <a:pPr algn="ctr">
              <a:defRPr/>
            </a:pPr>
            <a:r>
              <a:rPr lang="en-IN" sz="1600"/>
              <a:t>of Node</a:t>
            </a:r>
            <a:r>
              <a:rPr lang="en-IN" sz="1600">
                <a:solidFill>
                  <a:srgbClr val="C00000"/>
                </a:solidFill>
              </a:rPr>
              <a:t> </a:t>
            </a:r>
            <a:r>
              <a:rPr lang="en-IN" sz="1600" b="1">
                <a:solidFill>
                  <a:srgbClr val="C00000"/>
                </a:solidFill>
              </a:rPr>
              <a:t>5</a:t>
            </a:r>
            <a:endParaRPr lang="en-US" sz="1600" b="1">
              <a:solidFill>
                <a:srgbClr val="C00000"/>
              </a:solidFill>
            </a:endParaRPr>
          </a:p>
        </p:txBody>
      </p:sp>
      <p:grpSp>
        <p:nvGrpSpPr>
          <p:cNvPr id="1394800326" name="Group 210"/>
          <p:cNvGrpSpPr/>
          <p:nvPr/>
        </p:nvGrpSpPr>
        <p:grpSpPr bwMode="auto">
          <a:xfrm>
            <a:off x="7466426" y="5953489"/>
            <a:ext cx="356400" cy="369616"/>
            <a:chOff x="486299" y="2209800"/>
            <a:chExt cx="356400" cy="369616"/>
          </a:xfrm>
        </p:grpSpPr>
        <p:sp>
          <p:nvSpPr>
            <p:cNvPr id="212" name="Oval 211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  <a:solidFill>
              <a:srgbClr val="B84742"/>
            </a:solidFill>
            <a:ln>
              <a:solidFill>
                <a:srgbClr val="9A0000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13" name="TextBox 212"/>
            <p:cNvSpPr txBox="1"/>
            <p:nvPr/>
          </p:nvSpPr>
          <p:spPr bwMode="auto">
            <a:xfrm>
              <a:off x="517318" y="2210084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756342402" name="Group 222"/>
          <p:cNvGrpSpPr/>
          <p:nvPr/>
        </p:nvGrpSpPr>
        <p:grpSpPr bwMode="auto">
          <a:xfrm>
            <a:off x="10362400" y="4319334"/>
            <a:ext cx="356400" cy="374296"/>
            <a:chOff x="486299" y="2209800"/>
            <a:chExt cx="356400" cy="374296"/>
          </a:xfrm>
        </p:grpSpPr>
        <p:sp>
          <p:nvSpPr>
            <p:cNvPr id="224" name="Oval 223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25" name="TextBox 224"/>
            <p:cNvSpPr txBox="1"/>
            <p:nvPr/>
          </p:nvSpPr>
          <p:spPr bwMode="auto">
            <a:xfrm>
              <a:off x="517318" y="2214764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294618303" name="Group 225"/>
          <p:cNvGrpSpPr/>
          <p:nvPr/>
        </p:nvGrpSpPr>
        <p:grpSpPr bwMode="auto">
          <a:xfrm>
            <a:off x="9880600" y="4938802"/>
            <a:ext cx="356400" cy="374296"/>
            <a:chOff x="486299" y="2209800"/>
            <a:chExt cx="356400" cy="374296"/>
          </a:xfrm>
        </p:grpSpPr>
        <p:sp>
          <p:nvSpPr>
            <p:cNvPr id="227" name="Oval 226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28" name="TextBox 227"/>
            <p:cNvSpPr txBox="1"/>
            <p:nvPr/>
          </p:nvSpPr>
          <p:spPr bwMode="auto">
            <a:xfrm>
              <a:off x="527366" y="2214764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718682251" name="Straight Arrow Connector 228"/>
          <p:cNvCxnSpPr>
            <a:stCxn id="224" idx="3"/>
            <a:endCxn id="227" idx="7"/>
          </p:cNvCxnSpPr>
          <p:nvPr/>
        </p:nvCxnSpPr>
        <p:spPr bwMode="auto">
          <a:xfrm flipH="1">
            <a:off x="10184806" y="4623540"/>
            <a:ext cx="229788" cy="367456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344791046" name="Group 229"/>
          <p:cNvGrpSpPr/>
          <p:nvPr/>
        </p:nvGrpSpPr>
        <p:grpSpPr bwMode="auto">
          <a:xfrm>
            <a:off x="9524200" y="5510617"/>
            <a:ext cx="356400" cy="374296"/>
            <a:chOff x="486299" y="2209800"/>
            <a:chExt cx="356400" cy="374296"/>
          </a:xfrm>
        </p:grpSpPr>
        <p:sp>
          <p:nvSpPr>
            <p:cNvPr id="231" name="Oval 230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32" name="TextBox 231"/>
            <p:cNvSpPr txBox="1"/>
            <p:nvPr/>
          </p:nvSpPr>
          <p:spPr bwMode="auto">
            <a:xfrm>
              <a:off x="527366" y="2214764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71950346" name="Straight Arrow Connector 232"/>
          <p:cNvCxnSpPr>
            <a:stCxn id="227" idx="3"/>
            <a:endCxn id="231" idx="0"/>
          </p:cNvCxnSpPr>
          <p:nvPr/>
        </p:nvCxnSpPr>
        <p:spPr bwMode="auto">
          <a:xfrm flipH="1">
            <a:off x="9702400" y="5243008"/>
            <a:ext cx="230394" cy="267609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5266196" name="Group 244"/>
          <p:cNvGrpSpPr/>
          <p:nvPr/>
        </p:nvGrpSpPr>
        <p:grpSpPr bwMode="auto">
          <a:xfrm>
            <a:off x="10743400" y="4938802"/>
            <a:ext cx="356400" cy="374296"/>
            <a:chOff x="8404655" y="5105400"/>
            <a:chExt cx="356400" cy="374296"/>
          </a:xfrm>
        </p:grpSpPr>
        <p:sp>
          <p:nvSpPr>
            <p:cNvPr id="239" name="Oval 238"/>
            <p:cNvSpPr/>
            <p:nvPr/>
          </p:nvSpPr>
          <p:spPr bwMode="auto">
            <a:xfrm>
              <a:off x="8404655" y="51054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40" name="TextBox 239"/>
            <p:cNvSpPr txBox="1"/>
            <p:nvPr/>
          </p:nvSpPr>
          <p:spPr bwMode="auto">
            <a:xfrm>
              <a:off x="8435674" y="5110364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5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368005493" name="Group 240"/>
          <p:cNvGrpSpPr/>
          <p:nvPr/>
        </p:nvGrpSpPr>
        <p:grpSpPr bwMode="auto">
          <a:xfrm>
            <a:off x="11150600" y="5505457"/>
            <a:ext cx="356400" cy="371532"/>
            <a:chOff x="486299" y="2194668"/>
            <a:chExt cx="356400" cy="371532"/>
          </a:xfrm>
        </p:grpSpPr>
        <p:sp>
          <p:nvSpPr>
            <p:cNvPr id="242" name="Oval 241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43" name="TextBox 242"/>
            <p:cNvSpPr txBox="1"/>
            <p:nvPr/>
          </p:nvSpPr>
          <p:spPr bwMode="auto">
            <a:xfrm>
              <a:off x="517318" y="2194668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6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95756883" name="Straight Arrow Connector 248"/>
          <p:cNvCxnSpPr>
            <a:stCxn id="224" idx="5"/>
            <a:endCxn id="240" idx="0"/>
          </p:cNvCxnSpPr>
          <p:nvPr/>
        </p:nvCxnSpPr>
        <p:spPr bwMode="auto">
          <a:xfrm>
            <a:off x="10666606" y="4623540"/>
            <a:ext cx="258656" cy="320226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93996798" name="Straight Arrow Connector 250"/>
          <p:cNvCxnSpPr>
            <a:stCxn id="239" idx="5"/>
            <a:endCxn id="242" idx="0"/>
          </p:cNvCxnSpPr>
          <p:nvPr/>
        </p:nvCxnSpPr>
        <p:spPr bwMode="auto">
          <a:xfrm>
            <a:off x="11047606" y="5243008"/>
            <a:ext cx="281194" cy="277581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557125836" name="Group 255"/>
          <p:cNvGrpSpPr/>
          <p:nvPr/>
        </p:nvGrpSpPr>
        <p:grpSpPr bwMode="auto">
          <a:xfrm>
            <a:off x="10359125" y="5510617"/>
            <a:ext cx="356400" cy="374296"/>
            <a:chOff x="486299" y="2209800"/>
            <a:chExt cx="356400" cy="374296"/>
          </a:xfrm>
        </p:grpSpPr>
        <p:sp>
          <p:nvSpPr>
            <p:cNvPr id="257" name="Oval 256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58" name="TextBox 257"/>
            <p:cNvSpPr txBox="1"/>
            <p:nvPr/>
          </p:nvSpPr>
          <p:spPr bwMode="auto">
            <a:xfrm>
              <a:off x="517318" y="2214764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421405843" name="Straight Arrow Connector 259"/>
          <p:cNvCxnSpPr>
            <a:stCxn id="239" idx="3"/>
            <a:endCxn id="257" idx="0"/>
          </p:cNvCxnSpPr>
          <p:nvPr/>
        </p:nvCxnSpPr>
        <p:spPr bwMode="auto">
          <a:xfrm flipH="1">
            <a:off x="10537325" y="5243008"/>
            <a:ext cx="258269" cy="267609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44718807" name="TextBox 260"/>
          <p:cNvSpPr txBox="1"/>
          <p:nvPr/>
        </p:nvSpPr>
        <p:spPr bwMode="auto">
          <a:xfrm>
            <a:off x="9209882" y="551309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972003083" name="TextBox 261"/>
          <p:cNvSpPr txBox="1"/>
          <p:nvPr/>
        </p:nvSpPr>
        <p:spPr bwMode="auto">
          <a:xfrm>
            <a:off x="10083780" y="551309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629597622" name="TextBox 262"/>
          <p:cNvSpPr txBox="1"/>
          <p:nvPr/>
        </p:nvSpPr>
        <p:spPr bwMode="auto">
          <a:xfrm>
            <a:off x="10848547" y="550655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099189969" name="TextBox 263"/>
          <p:cNvSpPr txBox="1"/>
          <p:nvPr/>
        </p:nvSpPr>
        <p:spPr bwMode="auto">
          <a:xfrm>
            <a:off x="9609624" y="4941284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  <p:sp>
        <p:nvSpPr>
          <p:cNvPr id="797992325" name="TextBox 264"/>
          <p:cNvSpPr txBox="1"/>
          <p:nvPr/>
        </p:nvSpPr>
        <p:spPr bwMode="auto">
          <a:xfrm>
            <a:off x="10471974" y="494128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517808811" name="TextBox 265"/>
          <p:cNvSpPr txBox="1"/>
          <p:nvPr/>
        </p:nvSpPr>
        <p:spPr bwMode="auto">
          <a:xfrm>
            <a:off x="10008176" y="432181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2302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994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48994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70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240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884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29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458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668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233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272233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18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593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13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2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92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427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79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22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157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515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1975158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926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664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56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39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10" fill="hold"/>
                                        <p:tgtEl>
                                          <p:spTgt spid="6294277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2" dur="10" fill="hold"/>
                                        <p:tgtEl>
                                          <p:spTgt spid="6294277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10" fill="hold"/>
                                        <p:tgtEl>
                                          <p:spTgt spid="6294277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233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680233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656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3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59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531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6455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046455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5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31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28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4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47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84147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072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549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21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472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1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10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56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3" dur="500"/>
                                        <p:tgtEl>
                                          <p:spTgt spid="927563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74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499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037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300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01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375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8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16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477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88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0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379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663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21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56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1699564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433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9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08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09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10" fill="hold"/>
                                        <p:tgtEl>
                                          <p:spTgt spid="11516638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23" dur="10" fill="hold"/>
                                        <p:tgtEl>
                                          <p:spTgt spid="11516638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10" fill="hold"/>
                                        <p:tgtEl>
                                          <p:spTgt spid="11516638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92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9" dur="500"/>
                                        <p:tgtEl>
                                          <p:spTgt spid="816921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66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72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766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498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83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6" dur="500"/>
                                        <p:tgtEl>
                                          <p:spTgt spid="186883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49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68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618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56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01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75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46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34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42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695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0179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04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741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92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05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8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26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928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5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0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590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888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65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5" dur="500"/>
                                        <p:tgtEl>
                                          <p:spTgt spid="1703652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287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27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4814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677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40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70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43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7" dur="10" fill="hold"/>
                                        <p:tgtEl>
                                          <p:spTgt spid="11285909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48" dur="10" fill="hold"/>
                                        <p:tgtEl>
                                          <p:spTgt spid="11285909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9" dur="10" fill="hold"/>
                                        <p:tgtEl>
                                          <p:spTgt spid="11285909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>
                      <p:stCondLst>
                        <p:cond delay="indefinite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8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4" dur="500"/>
                                        <p:tgtEl>
                                          <p:spTgt spid="182986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90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800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79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68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50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618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3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5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7" dur="500"/>
                                        <p:tgtEl>
                                          <p:spTgt spid="95756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>
                      <p:stCondLst>
                        <p:cond delay="indefinite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996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05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" fill="hold">
                      <p:stCondLst>
                        <p:cond delay="indefinite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40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0" dur="500"/>
                                        <p:tgtEl>
                                          <p:spTgt spid="42140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125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1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00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597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18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99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808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0700186" grpId="0" animBg="1"/>
      <p:bldP spid="663458760" grpId="0" animBg="1"/>
      <p:bldP spid="1379884236" grpId="0"/>
      <p:bldP spid="1943593470" grpId="0"/>
      <p:bldP spid="547813859" grpId="0"/>
      <p:bldP spid="2053397660" grpId="0"/>
      <p:bldP spid="1960564758" grpId="0"/>
      <p:bldP spid="301923063" grpId="0" animBg="1"/>
      <p:bldP spid="629427741" grpId="0" animBg="1"/>
      <p:bldP spid="623157026" grpId="0"/>
      <p:bldP spid="355664892" grpId="0"/>
      <p:bldP spid="913656060" grpId="0"/>
      <p:bldP spid="1956310764" grpId="0"/>
      <p:bldP spid="1827283573" grpId="0"/>
      <p:bldP spid="228447289" grpId="0"/>
      <p:bldP spid="841472438" grpId="0" animBg="1"/>
      <p:bldP spid="862072895" grpId="0" animBg="1"/>
      <p:bldP spid="1944996114" grpId="0"/>
      <p:bldP spid="2085037248" grpId="0"/>
      <p:bldP spid="437300947" grpId="0"/>
      <p:bldP spid="1448012932" grpId="0"/>
      <p:bldP spid="782385027" grpId="0" animBg="1"/>
      <p:bldP spid="1370214369" grpId="0" animBg="1"/>
      <p:bldP spid="1151663869" grpId="0" animBg="1"/>
      <p:bldP spid="909319441" grpId="0"/>
      <p:bldP spid="685108262" grpId="0"/>
      <p:bldP spid="30609681" grpId="0"/>
      <p:bldP spid="1058661415" grpId="0"/>
      <p:bldP spid="1614751738" grpId="0"/>
      <p:bldP spid="1895463575" grpId="0"/>
      <p:bldP spid="1526340358" grpId="0"/>
      <p:bldP spid="1366422498" grpId="0"/>
      <p:bldP spid="243695942" grpId="0"/>
      <p:bldP spid="540040130" grpId="0" animBg="1"/>
      <p:bldP spid="1128590994" grpId="0" animBg="1"/>
      <p:bldP spid="471888902" grpId="0"/>
      <p:bldP spid="2034814312" grpId="0"/>
      <p:bldP spid="1684677603" grpId="0"/>
      <p:bldP spid="264401204" grpId="0"/>
      <p:bldP spid="550708487" grpId="0"/>
      <p:bldP spid="1246430383" grpId="0"/>
      <p:bldP spid="677273107" grpId="0"/>
      <p:bldP spid="164590330" grpId="0"/>
      <p:bldP spid="244718807" grpId="0"/>
      <p:bldP spid="972003083" grpId="0"/>
      <p:bldP spid="1629597622" grpId="0"/>
      <p:bldP spid="1099189969" grpId="0"/>
      <p:bldP spid="797992325" grpId="0"/>
      <p:bldP spid="15178088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8577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Construct AVL Search Tree</a:t>
            </a:r>
            <a:endParaRPr/>
          </a:p>
        </p:txBody>
      </p:sp>
      <p:sp>
        <p:nvSpPr>
          <p:cNvPr id="352392562" name="TextBox 3"/>
          <p:cNvSpPr txBox="1"/>
          <p:nvPr/>
        </p:nvSpPr>
        <p:spPr bwMode="auto">
          <a:xfrm>
            <a:off x="1671800" y="749301"/>
            <a:ext cx="8767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2400"/>
              <a:t>Construct AVL Search tree by inserting following elements in order of their occurrence </a:t>
            </a:r>
            <a:r>
              <a:rPr lang="en-IN" sz="2400" b="1">
                <a:solidFill>
                  <a:srgbClr val="C00000"/>
                </a:solidFill>
              </a:rPr>
              <a:t>64, 1, 44, 26, 13, 110, 98, 85</a:t>
            </a:r>
            <a:endParaRPr lang="en-US" sz="2400" b="1">
              <a:solidFill>
                <a:srgbClr val="C00000"/>
              </a:solidFill>
            </a:endParaRPr>
          </a:p>
        </p:txBody>
      </p:sp>
      <p:sp>
        <p:nvSpPr>
          <p:cNvPr id="1945766620" name="TextBox 4"/>
          <p:cNvSpPr txBox="1"/>
          <p:nvPr/>
        </p:nvSpPr>
        <p:spPr bwMode="auto">
          <a:xfrm>
            <a:off x="86078" y="1580297"/>
            <a:ext cx="922047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defRPr/>
            </a:pPr>
            <a:r>
              <a:rPr lang="en-IN" sz="1600"/>
              <a:t>Insert </a:t>
            </a:r>
            <a:r>
              <a:rPr lang="en-IN" sz="1600" b="1">
                <a:solidFill>
                  <a:srgbClr val="C00000"/>
                </a:solidFill>
              </a:rPr>
              <a:t>64</a:t>
            </a:r>
            <a:endParaRPr lang="en-US" sz="1600" b="1">
              <a:solidFill>
                <a:srgbClr val="C00000"/>
              </a:solidFill>
            </a:endParaRPr>
          </a:p>
        </p:txBody>
      </p:sp>
      <p:sp>
        <p:nvSpPr>
          <p:cNvPr id="989716511" name="TextBox 5"/>
          <p:cNvSpPr txBox="1"/>
          <p:nvPr/>
        </p:nvSpPr>
        <p:spPr bwMode="auto">
          <a:xfrm>
            <a:off x="86078" y="2705099"/>
            <a:ext cx="817853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r>
              <a:rPr lang="en-IN"/>
              <a:t>Insert </a:t>
            </a:r>
            <a:r>
              <a:rPr lang="en-IN" b="1">
                <a:solidFill>
                  <a:srgbClr val="C00000"/>
                </a:solidFill>
              </a:rPr>
              <a:t>1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961453821" name="TextBox 6"/>
          <p:cNvSpPr txBox="1"/>
          <p:nvPr/>
        </p:nvSpPr>
        <p:spPr bwMode="auto">
          <a:xfrm>
            <a:off x="447490" y="204470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902474447" name="TextBox 7"/>
          <p:cNvSpPr txBox="1"/>
          <p:nvPr/>
        </p:nvSpPr>
        <p:spPr bwMode="auto">
          <a:xfrm>
            <a:off x="63500" y="365240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544159547" name="TextBox 8"/>
          <p:cNvSpPr txBox="1"/>
          <p:nvPr/>
        </p:nvSpPr>
        <p:spPr bwMode="auto">
          <a:xfrm>
            <a:off x="562039" y="3111689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  <p:cxnSp>
        <p:nvCxnSpPr>
          <p:cNvPr id="1430315301" name="Straight Connector 9"/>
          <p:cNvCxnSpPr/>
          <p:nvPr/>
        </p:nvCxnSpPr>
        <p:spPr bwMode="auto">
          <a:xfrm>
            <a:off x="86078" y="1580297"/>
            <a:ext cx="11998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5889627" name="Straight Connector 10"/>
          <p:cNvCxnSpPr/>
          <p:nvPr/>
        </p:nvCxnSpPr>
        <p:spPr bwMode="auto">
          <a:xfrm>
            <a:off x="1638300" y="1580298"/>
            <a:ext cx="0" cy="25980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63704398" name="Straight Connector 11"/>
          <p:cNvCxnSpPr/>
          <p:nvPr/>
        </p:nvCxnSpPr>
        <p:spPr bwMode="auto">
          <a:xfrm>
            <a:off x="86078" y="2705099"/>
            <a:ext cx="154657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37142487" name="Group 12"/>
          <p:cNvGrpSpPr/>
          <p:nvPr/>
        </p:nvGrpSpPr>
        <p:grpSpPr bwMode="auto">
          <a:xfrm>
            <a:off x="724462" y="2044700"/>
            <a:ext cx="418704" cy="374296"/>
            <a:chOff x="448761" y="2209800"/>
            <a:chExt cx="418704" cy="374296"/>
          </a:xfrm>
        </p:grpSpPr>
        <p:sp>
          <p:nvSpPr>
            <p:cNvPr id="14" name="Oval 13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448761" y="221476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64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982242998" name="Group 15"/>
          <p:cNvGrpSpPr/>
          <p:nvPr/>
        </p:nvGrpSpPr>
        <p:grpSpPr bwMode="auto">
          <a:xfrm>
            <a:off x="797135" y="3111689"/>
            <a:ext cx="418704" cy="369332"/>
            <a:chOff x="457934" y="2209800"/>
            <a:chExt cx="418704" cy="369332"/>
          </a:xfrm>
        </p:grpSpPr>
        <p:sp>
          <p:nvSpPr>
            <p:cNvPr id="17" name="Oval 16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8" name="TextBox 17"/>
            <p:cNvSpPr txBox="1"/>
            <p:nvPr/>
          </p:nvSpPr>
          <p:spPr bwMode="auto">
            <a:xfrm>
              <a:off x="457934" y="2209800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64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947862039" name="Group 18"/>
          <p:cNvGrpSpPr/>
          <p:nvPr/>
        </p:nvGrpSpPr>
        <p:grpSpPr bwMode="auto">
          <a:xfrm>
            <a:off x="368300" y="3644900"/>
            <a:ext cx="356400" cy="384344"/>
            <a:chOff x="486299" y="2209800"/>
            <a:chExt cx="356400" cy="384344"/>
          </a:xfrm>
        </p:grpSpPr>
        <p:sp>
          <p:nvSpPr>
            <p:cNvPr id="20" name="Oval 19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1" name="TextBox 20"/>
            <p:cNvSpPr txBox="1"/>
            <p:nvPr/>
          </p:nvSpPr>
          <p:spPr bwMode="auto">
            <a:xfrm>
              <a:off x="507270" y="2224812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56664025" name="Straight Arrow Connector 21"/>
          <p:cNvCxnSpPr>
            <a:stCxn id="17" idx="3"/>
            <a:endCxn id="20" idx="0"/>
          </p:cNvCxnSpPr>
          <p:nvPr/>
        </p:nvCxnSpPr>
        <p:spPr bwMode="auto">
          <a:xfrm flipH="1">
            <a:off x="546500" y="3415895"/>
            <a:ext cx="331194" cy="22900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15894743" name="TextBox 22"/>
          <p:cNvSpPr txBox="1"/>
          <p:nvPr/>
        </p:nvSpPr>
        <p:spPr bwMode="auto">
          <a:xfrm>
            <a:off x="86078" y="4178300"/>
            <a:ext cx="922047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r>
              <a:rPr lang="en-IN"/>
              <a:t>Insert </a:t>
            </a:r>
            <a:r>
              <a:rPr lang="en-IN" b="1">
                <a:solidFill>
                  <a:srgbClr val="C00000"/>
                </a:solidFill>
              </a:rPr>
              <a:t>44</a:t>
            </a:r>
            <a:endParaRPr lang="en-US" b="1">
              <a:solidFill>
                <a:srgbClr val="C00000"/>
              </a:solidFill>
            </a:endParaRPr>
          </a:p>
        </p:txBody>
      </p:sp>
      <p:cxnSp>
        <p:nvCxnSpPr>
          <p:cNvPr id="589615084" name="Straight Connector 23"/>
          <p:cNvCxnSpPr/>
          <p:nvPr/>
        </p:nvCxnSpPr>
        <p:spPr bwMode="auto">
          <a:xfrm>
            <a:off x="86078" y="4178300"/>
            <a:ext cx="157762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7861550" name="TextBox 51"/>
          <p:cNvSpPr txBox="1"/>
          <p:nvPr/>
        </p:nvSpPr>
        <p:spPr bwMode="auto">
          <a:xfrm>
            <a:off x="-41386" y="4750384"/>
            <a:ext cx="12779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>
                <a:solidFill>
                  <a:srgbClr val="C00000"/>
                </a:solidFill>
              </a:rPr>
              <a:t>Critical Node</a:t>
            </a:r>
            <a:endParaRPr lang="en-US" sz="1600" b="1">
              <a:solidFill>
                <a:srgbClr val="C00000"/>
              </a:solidFill>
            </a:endParaRPr>
          </a:p>
        </p:txBody>
      </p:sp>
      <p:sp>
        <p:nvSpPr>
          <p:cNvPr id="1617561512" name="Oval 53"/>
          <p:cNvSpPr/>
          <p:nvPr/>
        </p:nvSpPr>
        <p:spPr bwMode="auto">
          <a:xfrm>
            <a:off x="1219837" y="4762500"/>
            <a:ext cx="356400" cy="356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600" b="1"/>
          </a:p>
        </p:txBody>
      </p:sp>
      <p:sp>
        <p:nvSpPr>
          <p:cNvPr id="103391174" name="TextBox 54"/>
          <p:cNvSpPr txBox="1"/>
          <p:nvPr/>
        </p:nvSpPr>
        <p:spPr bwMode="auto">
          <a:xfrm>
            <a:off x="1194196" y="4753984"/>
            <a:ext cx="41870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chemeClr val="bg1"/>
                </a:solidFill>
              </a:rPr>
              <a:t>64</a:t>
            </a:r>
            <a:endParaRPr lang="en-US" b="1">
              <a:solidFill>
                <a:schemeClr val="bg1"/>
              </a:solidFill>
            </a:endParaRPr>
          </a:p>
        </p:txBody>
      </p:sp>
      <p:grpSp>
        <p:nvGrpSpPr>
          <p:cNvPr id="1370609591" name="Group 55"/>
          <p:cNvGrpSpPr/>
          <p:nvPr/>
        </p:nvGrpSpPr>
        <p:grpSpPr bwMode="auto">
          <a:xfrm>
            <a:off x="728773" y="5242709"/>
            <a:ext cx="356400" cy="370316"/>
            <a:chOff x="486299" y="2195884"/>
            <a:chExt cx="356400" cy="370316"/>
          </a:xfrm>
        </p:grpSpPr>
        <p:sp>
          <p:nvSpPr>
            <p:cNvPr id="57" name="Oval 56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58" name="TextBox 57"/>
            <p:cNvSpPr txBox="1"/>
            <p:nvPr/>
          </p:nvSpPr>
          <p:spPr bwMode="auto">
            <a:xfrm>
              <a:off x="517318" y="2195884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949345761" name="Straight Arrow Connector 58"/>
          <p:cNvCxnSpPr>
            <a:stCxn id="1617561512" idx="3"/>
            <a:endCxn id="57" idx="7"/>
          </p:cNvCxnSpPr>
          <p:nvPr/>
        </p:nvCxnSpPr>
        <p:spPr bwMode="auto">
          <a:xfrm flipH="1">
            <a:off x="1032979" y="5066706"/>
            <a:ext cx="239053" cy="242113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546899894" name="Group 59"/>
          <p:cNvGrpSpPr/>
          <p:nvPr/>
        </p:nvGrpSpPr>
        <p:grpSpPr bwMode="auto">
          <a:xfrm>
            <a:off x="1182134" y="5688568"/>
            <a:ext cx="418704" cy="369332"/>
            <a:chOff x="461061" y="2205068"/>
            <a:chExt cx="418704" cy="369332"/>
          </a:xfrm>
        </p:grpSpPr>
        <p:sp>
          <p:nvSpPr>
            <p:cNvPr id="61" name="Oval 60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62" name="TextBox 61"/>
            <p:cNvSpPr txBox="1"/>
            <p:nvPr/>
          </p:nvSpPr>
          <p:spPr bwMode="auto">
            <a:xfrm>
              <a:off x="461061" y="220506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44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522822522" name="Straight Arrow Connector 62"/>
          <p:cNvCxnSpPr>
            <a:stCxn id="57" idx="5"/>
            <a:endCxn id="61" idx="1"/>
          </p:cNvCxnSpPr>
          <p:nvPr/>
        </p:nvCxnSpPr>
        <p:spPr bwMode="auto">
          <a:xfrm>
            <a:off x="1032979" y="5560831"/>
            <a:ext cx="226587" cy="184663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14122501" name="Straight Arrow Connector 63"/>
          <p:cNvCxnSpPr/>
          <p:nvPr/>
        </p:nvCxnSpPr>
        <p:spPr bwMode="auto">
          <a:xfrm>
            <a:off x="1853580" y="5702300"/>
            <a:ext cx="2626493" cy="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0134857" name="TextBox 84"/>
          <p:cNvSpPr txBox="1"/>
          <p:nvPr/>
        </p:nvSpPr>
        <p:spPr bwMode="auto">
          <a:xfrm>
            <a:off x="886194" y="5703957"/>
            <a:ext cx="329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B</a:t>
            </a:r>
            <a:endParaRPr lang="en-US" sz="1600" b="1"/>
          </a:p>
        </p:txBody>
      </p:sp>
      <p:sp>
        <p:nvSpPr>
          <p:cNvPr id="910343162" name="TextBox 85"/>
          <p:cNvSpPr txBox="1"/>
          <p:nvPr/>
        </p:nvSpPr>
        <p:spPr bwMode="auto">
          <a:xfrm>
            <a:off x="380532" y="5258590"/>
            <a:ext cx="329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R</a:t>
            </a:r>
            <a:endParaRPr lang="en-US" sz="1600" b="1"/>
          </a:p>
        </p:txBody>
      </p:sp>
      <p:sp>
        <p:nvSpPr>
          <p:cNvPr id="1474019971" name="TextBox 86"/>
          <p:cNvSpPr txBox="1"/>
          <p:nvPr/>
        </p:nvSpPr>
        <p:spPr bwMode="auto">
          <a:xfrm>
            <a:off x="1739578" y="4389874"/>
            <a:ext cx="27404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Case 2</a:t>
            </a:r>
            <a:r>
              <a:rPr lang="en-IN"/>
              <a:t>: Left Right Rotation</a:t>
            </a:r>
            <a:endParaRPr/>
          </a:p>
          <a:p>
            <a:pPr algn="ctr">
              <a:defRPr/>
            </a:pPr>
            <a:r>
              <a:rPr lang="en-IN"/>
              <a:t>Left Rotation of Left Child </a:t>
            </a:r>
            <a:r>
              <a:rPr lang="en-IN" b="1">
                <a:solidFill>
                  <a:srgbClr val="C00000"/>
                </a:solidFill>
              </a:rPr>
              <a:t>1</a:t>
            </a:r>
            <a:endParaRPr/>
          </a:p>
          <a:p>
            <a:pPr algn="ctr">
              <a:defRPr/>
            </a:pPr>
            <a:r>
              <a:rPr lang="en-IN"/>
              <a:t>Followed By</a:t>
            </a:r>
            <a:endParaRPr/>
          </a:p>
          <a:p>
            <a:pPr algn="ctr">
              <a:defRPr/>
            </a:pPr>
            <a:r>
              <a:rPr lang="en-IN"/>
              <a:t>Right Rotation of Parent </a:t>
            </a:r>
            <a:r>
              <a:rPr lang="en-IN" b="1">
                <a:solidFill>
                  <a:srgbClr val="C00000"/>
                </a:solidFill>
              </a:rPr>
              <a:t>64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302920493" name="TextBox 88"/>
          <p:cNvSpPr txBox="1"/>
          <p:nvPr/>
        </p:nvSpPr>
        <p:spPr bwMode="auto">
          <a:xfrm>
            <a:off x="1813387" y="5842476"/>
            <a:ext cx="2746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/>
              <a:t>Left Rotation of Left Child </a:t>
            </a:r>
            <a:r>
              <a:rPr lang="en-IN" b="1">
                <a:solidFill>
                  <a:srgbClr val="C00000"/>
                </a:solidFill>
              </a:rPr>
              <a:t>1</a:t>
            </a:r>
            <a:endParaRPr/>
          </a:p>
        </p:txBody>
      </p:sp>
      <p:grpSp>
        <p:nvGrpSpPr>
          <p:cNvPr id="370773605" name="Group 89"/>
          <p:cNvGrpSpPr/>
          <p:nvPr/>
        </p:nvGrpSpPr>
        <p:grpSpPr bwMode="auto">
          <a:xfrm>
            <a:off x="5334000" y="5173632"/>
            <a:ext cx="418704" cy="376268"/>
            <a:chOff x="461061" y="2209800"/>
            <a:chExt cx="418704" cy="376268"/>
          </a:xfrm>
        </p:grpSpPr>
        <p:sp>
          <p:nvSpPr>
            <p:cNvPr id="91" name="Oval 90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92" name="TextBox 91"/>
            <p:cNvSpPr txBox="1"/>
            <p:nvPr/>
          </p:nvSpPr>
          <p:spPr bwMode="auto">
            <a:xfrm>
              <a:off x="461061" y="221673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44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483825387" name="Group 92"/>
          <p:cNvGrpSpPr/>
          <p:nvPr/>
        </p:nvGrpSpPr>
        <p:grpSpPr bwMode="auto">
          <a:xfrm>
            <a:off x="4977600" y="5712348"/>
            <a:ext cx="356400" cy="370952"/>
            <a:chOff x="486299" y="2195248"/>
            <a:chExt cx="356400" cy="370952"/>
          </a:xfrm>
        </p:grpSpPr>
        <p:sp>
          <p:nvSpPr>
            <p:cNvPr id="94" name="Oval 93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95" name="TextBox 94"/>
            <p:cNvSpPr txBox="1"/>
            <p:nvPr/>
          </p:nvSpPr>
          <p:spPr bwMode="auto">
            <a:xfrm>
              <a:off x="511939" y="2195248"/>
              <a:ext cx="30168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524008881" name="Group 95"/>
          <p:cNvGrpSpPr/>
          <p:nvPr/>
        </p:nvGrpSpPr>
        <p:grpSpPr bwMode="auto">
          <a:xfrm>
            <a:off x="5712110" y="4570968"/>
            <a:ext cx="418704" cy="369332"/>
            <a:chOff x="458809" y="2207552"/>
            <a:chExt cx="418704" cy="369332"/>
          </a:xfrm>
        </p:grpSpPr>
        <p:sp>
          <p:nvSpPr>
            <p:cNvPr id="97" name="Oval 96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98" name="TextBox 97"/>
            <p:cNvSpPr txBox="1"/>
            <p:nvPr/>
          </p:nvSpPr>
          <p:spPr bwMode="auto">
            <a:xfrm>
              <a:off x="458809" y="2207552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64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510156404" name="Straight Arrow Connector 99"/>
          <p:cNvCxnSpPr>
            <a:stCxn id="97" idx="3"/>
            <a:endCxn id="91" idx="0"/>
          </p:cNvCxnSpPr>
          <p:nvPr/>
        </p:nvCxnSpPr>
        <p:spPr bwMode="auto">
          <a:xfrm flipH="1">
            <a:off x="5537438" y="4877422"/>
            <a:ext cx="254356" cy="29621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4709274" name="Straight Arrow Connector 101"/>
          <p:cNvCxnSpPr>
            <a:stCxn id="91" idx="3"/>
            <a:endCxn id="94" idx="0"/>
          </p:cNvCxnSpPr>
          <p:nvPr/>
        </p:nvCxnSpPr>
        <p:spPr bwMode="auto">
          <a:xfrm flipH="1">
            <a:off x="5155800" y="5477838"/>
            <a:ext cx="255632" cy="249062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19192194" name="Straight Arrow Connector 102"/>
          <p:cNvCxnSpPr/>
          <p:nvPr/>
        </p:nvCxnSpPr>
        <p:spPr bwMode="auto">
          <a:xfrm>
            <a:off x="6475386" y="5245100"/>
            <a:ext cx="1532098" cy="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468968" name="TextBox 103"/>
          <p:cNvSpPr txBox="1"/>
          <p:nvPr/>
        </p:nvSpPr>
        <p:spPr bwMode="auto">
          <a:xfrm>
            <a:off x="6435194" y="5385277"/>
            <a:ext cx="15722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/>
              <a:t>Right Rotation </a:t>
            </a:r>
            <a:endParaRPr/>
          </a:p>
          <a:p>
            <a:pPr algn="ctr">
              <a:defRPr/>
            </a:pPr>
            <a:r>
              <a:rPr lang="en-IN"/>
              <a:t>of Parent </a:t>
            </a:r>
            <a:r>
              <a:rPr lang="en-IN" b="1">
                <a:solidFill>
                  <a:srgbClr val="C00000"/>
                </a:solidFill>
              </a:rPr>
              <a:t>64</a:t>
            </a:r>
            <a:endParaRPr lang="en-US" b="1">
              <a:solidFill>
                <a:srgbClr val="C00000"/>
              </a:solidFill>
            </a:endParaRPr>
          </a:p>
        </p:txBody>
      </p:sp>
      <p:grpSp>
        <p:nvGrpSpPr>
          <p:cNvPr id="1867646971" name="Group 105"/>
          <p:cNvGrpSpPr/>
          <p:nvPr/>
        </p:nvGrpSpPr>
        <p:grpSpPr bwMode="auto">
          <a:xfrm>
            <a:off x="8928496" y="4787900"/>
            <a:ext cx="418704" cy="381000"/>
            <a:chOff x="461061" y="2209800"/>
            <a:chExt cx="418704" cy="381000"/>
          </a:xfrm>
        </p:grpSpPr>
        <p:sp>
          <p:nvSpPr>
            <p:cNvPr id="107" name="Oval 106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08" name="TextBox 107"/>
            <p:cNvSpPr txBox="1"/>
            <p:nvPr/>
          </p:nvSpPr>
          <p:spPr bwMode="auto">
            <a:xfrm>
              <a:off x="461061" y="222146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44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457071500" name="Group 108"/>
          <p:cNvGrpSpPr/>
          <p:nvPr/>
        </p:nvGrpSpPr>
        <p:grpSpPr bwMode="auto">
          <a:xfrm>
            <a:off x="8458038" y="5474669"/>
            <a:ext cx="356400" cy="369332"/>
            <a:chOff x="486299" y="2205068"/>
            <a:chExt cx="356400" cy="369332"/>
          </a:xfrm>
        </p:grpSpPr>
        <p:sp>
          <p:nvSpPr>
            <p:cNvPr id="110" name="Oval 109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11" name="TextBox 110"/>
            <p:cNvSpPr txBox="1"/>
            <p:nvPr/>
          </p:nvSpPr>
          <p:spPr bwMode="auto">
            <a:xfrm>
              <a:off x="530328" y="2205068"/>
              <a:ext cx="301685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547406051" name="Group 111"/>
          <p:cNvGrpSpPr/>
          <p:nvPr/>
        </p:nvGrpSpPr>
        <p:grpSpPr bwMode="auto">
          <a:xfrm>
            <a:off x="9459408" y="5474669"/>
            <a:ext cx="418704" cy="369332"/>
            <a:chOff x="458573" y="2209800"/>
            <a:chExt cx="418704" cy="369332"/>
          </a:xfrm>
        </p:grpSpPr>
        <p:sp>
          <p:nvSpPr>
            <p:cNvPr id="113" name="Oval 112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14" name="TextBox 113"/>
            <p:cNvSpPr txBox="1"/>
            <p:nvPr/>
          </p:nvSpPr>
          <p:spPr bwMode="auto">
            <a:xfrm>
              <a:off x="458573" y="2209800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64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952208559" name="Straight Arrow Connector 115"/>
          <p:cNvCxnSpPr>
            <a:stCxn id="107" idx="3"/>
            <a:endCxn id="110" idx="0"/>
          </p:cNvCxnSpPr>
          <p:nvPr/>
        </p:nvCxnSpPr>
        <p:spPr bwMode="auto">
          <a:xfrm flipH="1">
            <a:off x="8636238" y="5092106"/>
            <a:ext cx="369690" cy="38729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56271468" name="Straight Arrow Connector 117"/>
          <p:cNvCxnSpPr>
            <a:stCxn id="107" idx="5"/>
            <a:endCxn id="113" idx="0"/>
          </p:cNvCxnSpPr>
          <p:nvPr/>
        </p:nvCxnSpPr>
        <p:spPr bwMode="auto">
          <a:xfrm>
            <a:off x="9257940" y="5092106"/>
            <a:ext cx="407394" cy="382563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55270209" name="TextBox 118"/>
          <p:cNvSpPr txBox="1"/>
          <p:nvPr/>
        </p:nvSpPr>
        <p:spPr bwMode="auto">
          <a:xfrm>
            <a:off x="8161866" y="5490058"/>
            <a:ext cx="329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B</a:t>
            </a:r>
            <a:endParaRPr lang="en-US" sz="1600" b="1"/>
          </a:p>
        </p:txBody>
      </p:sp>
      <p:sp>
        <p:nvSpPr>
          <p:cNvPr id="1584688460" name="TextBox 119"/>
          <p:cNvSpPr txBox="1"/>
          <p:nvPr/>
        </p:nvSpPr>
        <p:spPr bwMode="auto">
          <a:xfrm>
            <a:off x="9197962" y="5490058"/>
            <a:ext cx="329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B</a:t>
            </a:r>
            <a:endParaRPr lang="en-US" sz="1600" b="1"/>
          </a:p>
        </p:txBody>
      </p:sp>
      <p:sp>
        <p:nvSpPr>
          <p:cNvPr id="103067881" name="TextBox 120"/>
          <p:cNvSpPr txBox="1"/>
          <p:nvPr/>
        </p:nvSpPr>
        <p:spPr bwMode="auto">
          <a:xfrm>
            <a:off x="8639208" y="4777852"/>
            <a:ext cx="329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B</a:t>
            </a:r>
            <a:endParaRPr lang="en-US" sz="1600" b="1"/>
          </a:p>
        </p:txBody>
      </p:sp>
      <p:cxnSp>
        <p:nvCxnSpPr>
          <p:cNvPr id="1707801" name="Straight Connector 122"/>
          <p:cNvCxnSpPr/>
          <p:nvPr/>
        </p:nvCxnSpPr>
        <p:spPr bwMode="auto">
          <a:xfrm>
            <a:off x="1638300" y="4178300"/>
            <a:ext cx="104465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7126999" name="TextBox 123"/>
          <p:cNvSpPr txBox="1"/>
          <p:nvPr/>
        </p:nvSpPr>
        <p:spPr bwMode="auto">
          <a:xfrm>
            <a:off x="1630654" y="1582957"/>
            <a:ext cx="1340949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r>
              <a:rPr lang="en-IN"/>
              <a:t>Insert </a:t>
            </a:r>
            <a:r>
              <a:rPr lang="en-IN" b="1">
                <a:solidFill>
                  <a:srgbClr val="C00000"/>
                </a:solidFill>
              </a:rPr>
              <a:t>26</a:t>
            </a:r>
            <a:endParaRPr lang="en-US" b="1">
              <a:solidFill>
                <a:srgbClr val="C00000"/>
              </a:solidFill>
            </a:endParaRPr>
          </a:p>
        </p:txBody>
      </p:sp>
      <p:grpSp>
        <p:nvGrpSpPr>
          <p:cNvPr id="854811876" name="Group 124"/>
          <p:cNvGrpSpPr/>
          <p:nvPr/>
        </p:nvGrpSpPr>
        <p:grpSpPr bwMode="auto">
          <a:xfrm>
            <a:off x="3188258" y="2178050"/>
            <a:ext cx="418704" cy="381000"/>
            <a:chOff x="461061" y="2209800"/>
            <a:chExt cx="418704" cy="381000"/>
          </a:xfrm>
        </p:grpSpPr>
        <p:sp>
          <p:nvSpPr>
            <p:cNvPr id="126" name="Oval 125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27" name="TextBox 126"/>
            <p:cNvSpPr txBox="1"/>
            <p:nvPr/>
          </p:nvSpPr>
          <p:spPr bwMode="auto">
            <a:xfrm>
              <a:off x="461061" y="222146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44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sp>
        <p:nvSpPr>
          <p:cNvPr id="879864587" name="Oval 128"/>
          <p:cNvSpPr/>
          <p:nvPr/>
        </p:nvSpPr>
        <p:spPr bwMode="auto">
          <a:xfrm>
            <a:off x="2717800" y="2710944"/>
            <a:ext cx="356400" cy="356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600" b="1"/>
          </a:p>
        </p:txBody>
      </p:sp>
      <p:sp>
        <p:nvSpPr>
          <p:cNvPr id="2018840701" name="TextBox 129"/>
          <p:cNvSpPr txBox="1"/>
          <p:nvPr/>
        </p:nvSpPr>
        <p:spPr bwMode="auto">
          <a:xfrm>
            <a:off x="2755230" y="2704478"/>
            <a:ext cx="301685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chemeClr val="bg1"/>
                </a:solidFill>
              </a:rPr>
              <a:t>1</a:t>
            </a:r>
            <a:endParaRPr lang="en-US" b="1">
              <a:solidFill>
                <a:schemeClr val="bg1"/>
              </a:solidFill>
            </a:endParaRPr>
          </a:p>
        </p:txBody>
      </p:sp>
      <p:grpSp>
        <p:nvGrpSpPr>
          <p:cNvPr id="1485951517" name="Group 130"/>
          <p:cNvGrpSpPr/>
          <p:nvPr/>
        </p:nvGrpSpPr>
        <p:grpSpPr bwMode="auto">
          <a:xfrm>
            <a:off x="3719170" y="2704478"/>
            <a:ext cx="418704" cy="369332"/>
            <a:chOff x="458573" y="2209800"/>
            <a:chExt cx="418704" cy="369332"/>
          </a:xfrm>
        </p:grpSpPr>
        <p:sp>
          <p:nvSpPr>
            <p:cNvPr id="132" name="Oval 131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33" name="TextBox 132"/>
            <p:cNvSpPr txBox="1"/>
            <p:nvPr/>
          </p:nvSpPr>
          <p:spPr bwMode="auto">
            <a:xfrm>
              <a:off x="458573" y="2209800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64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924871697" name="Straight Arrow Connector 133"/>
          <p:cNvCxnSpPr>
            <a:stCxn id="126" idx="3"/>
            <a:endCxn id="879864587" idx="7"/>
          </p:cNvCxnSpPr>
          <p:nvPr/>
        </p:nvCxnSpPr>
        <p:spPr bwMode="auto">
          <a:xfrm flipH="1">
            <a:off x="3022006" y="2482256"/>
            <a:ext cx="243684" cy="280882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96296454" name="Straight Arrow Connector 134"/>
          <p:cNvCxnSpPr>
            <a:stCxn id="126" idx="5"/>
            <a:endCxn id="132" idx="1"/>
          </p:cNvCxnSpPr>
          <p:nvPr/>
        </p:nvCxnSpPr>
        <p:spPr bwMode="auto">
          <a:xfrm>
            <a:off x="3517702" y="2482256"/>
            <a:ext cx="281388" cy="274416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69097423" name="TextBox 137"/>
          <p:cNvSpPr txBox="1"/>
          <p:nvPr/>
        </p:nvSpPr>
        <p:spPr bwMode="auto">
          <a:xfrm>
            <a:off x="2376743" y="1582957"/>
            <a:ext cx="4924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sz="1600" b="1">
                <a:solidFill>
                  <a:srgbClr val="C00000"/>
                </a:solidFill>
              </a:rPr>
              <a:t>, 13</a:t>
            </a:r>
            <a:endParaRPr lang="en-US" sz="1600" b="1">
              <a:solidFill>
                <a:srgbClr val="C00000"/>
              </a:solidFill>
            </a:endParaRPr>
          </a:p>
        </p:txBody>
      </p:sp>
      <p:grpSp>
        <p:nvGrpSpPr>
          <p:cNvPr id="879812592" name="Group 138"/>
          <p:cNvGrpSpPr/>
          <p:nvPr/>
        </p:nvGrpSpPr>
        <p:grpSpPr bwMode="auto">
          <a:xfrm>
            <a:off x="3175000" y="3231613"/>
            <a:ext cx="418704" cy="369332"/>
            <a:chOff x="461699" y="2205068"/>
            <a:chExt cx="418704" cy="369332"/>
          </a:xfrm>
        </p:grpSpPr>
        <p:sp>
          <p:nvSpPr>
            <p:cNvPr id="140" name="Oval 139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41" name="TextBox 140"/>
            <p:cNvSpPr txBox="1"/>
            <p:nvPr/>
          </p:nvSpPr>
          <p:spPr bwMode="auto">
            <a:xfrm>
              <a:off x="461699" y="220506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26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473558049" name="Group 141"/>
          <p:cNvGrpSpPr/>
          <p:nvPr/>
        </p:nvGrpSpPr>
        <p:grpSpPr bwMode="auto">
          <a:xfrm>
            <a:off x="2641600" y="3759848"/>
            <a:ext cx="418704" cy="369332"/>
            <a:chOff x="471818" y="2206748"/>
            <a:chExt cx="418704" cy="369332"/>
          </a:xfrm>
        </p:grpSpPr>
        <p:sp>
          <p:nvSpPr>
            <p:cNvPr id="143" name="Oval 142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44" name="TextBox 143"/>
            <p:cNvSpPr txBox="1"/>
            <p:nvPr/>
          </p:nvSpPr>
          <p:spPr bwMode="auto">
            <a:xfrm>
              <a:off x="471818" y="220674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412190765" name="Straight Arrow Connector 145"/>
          <p:cNvCxnSpPr>
            <a:stCxn id="879864587" idx="5"/>
            <a:endCxn id="140" idx="1"/>
          </p:cNvCxnSpPr>
          <p:nvPr/>
        </p:nvCxnSpPr>
        <p:spPr bwMode="auto">
          <a:xfrm>
            <a:off x="3022006" y="3015150"/>
            <a:ext cx="229788" cy="273389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21219532" name="Straight Arrow Connector 149"/>
          <p:cNvCxnSpPr>
            <a:stCxn id="140" idx="3"/>
            <a:endCxn id="143" idx="7"/>
          </p:cNvCxnSpPr>
          <p:nvPr/>
        </p:nvCxnSpPr>
        <p:spPr bwMode="auto">
          <a:xfrm flipH="1">
            <a:off x="2960287" y="3540551"/>
            <a:ext cx="291506" cy="274543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45634927" name="TextBox 150"/>
          <p:cNvSpPr txBox="1"/>
          <p:nvPr/>
        </p:nvSpPr>
        <p:spPr bwMode="auto">
          <a:xfrm>
            <a:off x="2731056" y="3247002"/>
            <a:ext cx="329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B</a:t>
            </a:r>
            <a:endParaRPr lang="en-US" sz="1600" b="1"/>
          </a:p>
        </p:txBody>
      </p:sp>
      <p:sp>
        <p:nvSpPr>
          <p:cNvPr id="1777329091" name="TextBox 151"/>
          <p:cNvSpPr txBox="1"/>
          <p:nvPr/>
        </p:nvSpPr>
        <p:spPr bwMode="auto">
          <a:xfrm>
            <a:off x="2410348" y="2719867"/>
            <a:ext cx="329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R</a:t>
            </a:r>
            <a:endParaRPr lang="en-US" sz="1600" b="1"/>
          </a:p>
        </p:txBody>
      </p:sp>
      <p:sp>
        <p:nvSpPr>
          <p:cNvPr id="1145897841" name="TextBox 152"/>
          <p:cNvSpPr txBox="1"/>
          <p:nvPr/>
        </p:nvSpPr>
        <p:spPr bwMode="auto">
          <a:xfrm>
            <a:off x="10027152" y="3247002"/>
            <a:ext cx="329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B</a:t>
            </a:r>
            <a:endParaRPr lang="en-US" sz="1600" b="1"/>
          </a:p>
        </p:txBody>
      </p:sp>
      <p:sp>
        <p:nvSpPr>
          <p:cNvPr id="2064379166" name="TextBox 153"/>
          <p:cNvSpPr txBox="1"/>
          <p:nvPr/>
        </p:nvSpPr>
        <p:spPr bwMode="auto">
          <a:xfrm>
            <a:off x="2908856" y="2178050"/>
            <a:ext cx="329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L</a:t>
            </a:r>
            <a:endParaRPr lang="en-US" sz="1600" b="1"/>
          </a:p>
        </p:txBody>
      </p:sp>
      <p:sp>
        <p:nvSpPr>
          <p:cNvPr id="1984167561" name="TextBox 154"/>
          <p:cNvSpPr txBox="1"/>
          <p:nvPr/>
        </p:nvSpPr>
        <p:spPr bwMode="auto">
          <a:xfrm>
            <a:off x="2316704" y="3790625"/>
            <a:ext cx="381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>
                <a:solidFill>
                  <a:srgbClr val="C00000"/>
                </a:solidFill>
              </a:rPr>
              <a:t>B’</a:t>
            </a:r>
            <a:endParaRPr lang="en-US" sz="1600" b="1">
              <a:solidFill>
                <a:srgbClr val="C00000"/>
              </a:solidFill>
            </a:endParaRPr>
          </a:p>
        </p:txBody>
      </p:sp>
      <p:sp>
        <p:nvSpPr>
          <p:cNvPr id="455437745" name="TextBox 155"/>
          <p:cNvSpPr txBox="1"/>
          <p:nvPr/>
        </p:nvSpPr>
        <p:spPr bwMode="auto">
          <a:xfrm>
            <a:off x="2917500" y="3247002"/>
            <a:ext cx="381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>
                <a:solidFill>
                  <a:srgbClr val="C00000"/>
                </a:solidFill>
              </a:rPr>
              <a:t>L’</a:t>
            </a:r>
            <a:endParaRPr lang="en-US" sz="1600" b="1">
              <a:solidFill>
                <a:srgbClr val="C00000"/>
              </a:solidFill>
            </a:endParaRPr>
          </a:p>
        </p:txBody>
      </p:sp>
      <p:sp>
        <p:nvSpPr>
          <p:cNvPr id="112320936" name="TextBox 156"/>
          <p:cNvSpPr txBox="1"/>
          <p:nvPr/>
        </p:nvSpPr>
        <p:spPr bwMode="auto">
          <a:xfrm>
            <a:off x="1616856" y="2596757"/>
            <a:ext cx="7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600" b="1">
                <a:solidFill>
                  <a:srgbClr val="C00000"/>
                </a:solidFill>
              </a:rPr>
              <a:t>Critical Node</a:t>
            </a:r>
            <a:endParaRPr lang="en-US" sz="1600" b="1">
              <a:solidFill>
                <a:srgbClr val="C00000"/>
              </a:solidFill>
            </a:endParaRPr>
          </a:p>
        </p:txBody>
      </p:sp>
      <p:sp>
        <p:nvSpPr>
          <p:cNvPr id="1024386886" name="TextBox 157"/>
          <p:cNvSpPr txBox="1"/>
          <p:nvPr/>
        </p:nvSpPr>
        <p:spPr bwMode="auto">
          <a:xfrm>
            <a:off x="3952407" y="1587500"/>
            <a:ext cx="302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b="1"/>
              <a:t>Case 3</a:t>
            </a:r>
            <a:r>
              <a:rPr lang="en-IN"/>
              <a:t>: Right Left Rotation</a:t>
            </a:r>
            <a:endParaRPr/>
          </a:p>
          <a:p>
            <a:pPr algn="ctr">
              <a:defRPr/>
            </a:pPr>
            <a:r>
              <a:rPr lang="en-IN"/>
              <a:t>Right Rotation of Right Child </a:t>
            </a:r>
            <a:r>
              <a:rPr lang="en-IN" b="1">
                <a:solidFill>
                  <a:srgbClr val="C00000"/>
                </a:solidFill>
              </a:rPr>
              <a:t>26</a:t>
            </a:r>
            <a:r>
              <a:rPr lang="en-IN" b="1">
                <a:solidFill>
                  <a:srgbClr val="FF0000"/>
                </a:solidFill>
              </a:rPr>
              <a:t> </a:t>
            </a:r>
            <a:endParaRPr/>
          </a:p>
          <a:p>
            <a:pPr algn="ctr">
              <a:defRPr/>
            </a:pPr>
            <a:r>
              <a:rPr lang="en-IN"/>
              <a:t>Followed By</a:t>
            </a:r>
            <a:endParaRPr/>
          </a:p>
          <a:p>
            <a:pPr algn="ctr">
              <a:defRPr/>
            </a:pPr>
            <a:r>
              <a:rPr lang="en-IN"/>
              <a:t>Left Rotation of Parent </a:t>
            </a:r>
            <a:r>
              <a:rPr lang="en-IN" b="1">
                <a:solidFill>
                  <a:srgbClr val="C00000"/>
                </a:solidFill>
              </a:rPr>
              <a:t>1</a:t>
            </a:r>
            <a:endParaRPr lang="en-US" b="1">
              <a:solidFill>
                <a:srgbClr val="C00000"/>
              </a:solidFill>
            </a:endParaRPr>
          </a:p>
        </p:txBody>
      </p:sp>
      <p:cxnSp>
        <p:nvCxnSpPr>
          <p:cNvPr id="416315976" name="Straight Arrow Connector 158"/>
          <p:cNvCxnSpPr/>
          <p:nvPr/>
        </p:nvCxnSpPr>
        <p:spPr bwMode="auto">
          <a:xfrm>
            <a:off x="4746747" y="3013788"/>
            <a:ext cx="1435320" cy="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9399250" name="TextBox 159"/>
          <p:cNvSpPr txBox="1"/>
          <p:nvPr/>
        </p:nvSpPr>
        <p:spPr bwMode="auto">
          <a:xfrm>
            <a:off x="4601286" y="3033561"/>
            <a:ext cx="17262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/>
              <a:t>Right Rotation </a:t>
            </a:r>
            <a:endParaRPr/>
          </a:p>
          <a:p>
            <a:pPr algn="ctr">
              <a:defRPr/>
            </a:pPr>
            <a:r>
              <a:rPr lang="en-IN"/>
              <a:t>of Right Child </a:t>
            </a:r>
            <a:r>
              <a:rPr lang="en-IN" b="1">
                <a:solidFill>
                  <a:srgbClr val="C00000"/>
                </a:solidFill>
              </a:rPr>
              <a:t>26</a:t>
            </a:r>
            <a:endParaRPr/>
          </a:p>
        </p:txBody>
      </p:sp>
      <p:grpSp>
        <p:nvGrpSpPr>
          <p:cNvPr id="1992058323" name="Group 161"/>
          <p:cNvGrpSpPr/>
          <p:nvPr/>
        </p:nvGrpSpPr>
        <p:grpSpPr bwMode="auto">
          <a:xfrm>
            <a:off x="7290196" y="3231613"/>
            <a:ext cx="418704" cy="369332"/>
            <a:chOff x="463999" y="2205068"/>
            <a:chExt cx="418704" cy="369332"/>
          </a:xfrm>
        </p:grpSpPr>
        <p:sp>
          <p:nvSpPr>
            <p:cNvPr id="163" name="Oval 162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64" name="TextBox 163"/>
            <p:cNvSpPr txBox="1"/>
            <p:nvPr/>
          </p:nvSpPr>
          <p:spPr bwMode="auto">
            <a:xfrm>
              <a:off x="463999" y="220506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428750688" name="Group 164"/>
          <p:cNvGrpSpPr/>
          <p:nvPr/>
        </p:nvGrpSpPr>
        <p:grpSpPr bwMode="auto">
          <a:xfrm>
            <a:off x="7658854" y="3759848"/>
            <a:ext cx="418704" cy="369332"/>
            <a:chOff x="472643" y="2205068"/>
            <a:chExt cx="418704" cy="369332"/>
          </a:xfrm>
        </p:grpSpPr>
        <p:sp>
          <p:nvSpPr>
            <p:cNvPr id="166" name="Oval 165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67" name="TextBox 166"/>
            <p:cNvSpPr txBox="1"/>
            <p:nvPr/>
          </p:nvSpPr>
          <p:spPr bwMode="auto">
            <a:xfrm>
              <a:off x="472643" y="220506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26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266113195" name="Group 167"/>
          <p:cNvGrpSpPr/>
          <p:nvPr/>
        </p:nvGrpSpPr>
        <p:grpSpPr bwMode="auto">
          <a:xfrm>
            <a:off x="6870700" y="2704478"/>
            <a:ext cx="356400" cy="369332"/>
            <a:chOff x="486299" y="2205068"/>
            <a:chExt cx="356400" cy="369332"/>
          </a:xfrm>
        </p:grpSpPr>
        <p:sp>
          <p:nvSpPr>
            <p:cNvPr id="169" name="Oval 168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70" name="TextBox 169"/>
            <p:cNvSpPr txBox="1"/>
            <p:nvPr/>
          </p:nvSpPr>
          <p:spPr bwMode="auto">
            <a:xfrm>
              <a:off x="512783" y="2205068"/>
              <a:ext cx="301685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587378598" name="Group 170"/>
          <p:cNvGrpSpPr/>
          <p:nvPr/>
        </p:nvGrpSpPr>
        <p:grpSpPr bwMode="auto">
          <a:xfrm>
            <a:off x="7404100" y="2178050"/>
            <a:ext cx="418704" cy="369332"/>
            <a:chOff x="461699" y="2203356"/>
            <a:chExt cx="418704" cy="369332"/>
          </a:xfrm>
        </p:grpSpPr>
        <p:sp>
          <p:nvSpPr>
            <p:cNvPr id="172" name="Oval 171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73" name="TextBox 172"/>
            <p:cNvSpPr txBox="1"/>
            <p:nvPr/>
          </p:nvSpPr>
          <p:spPr bwMode="auto">
            <a:xfrm>
              <a:off x="461699" y="220335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44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109649239" name="Group 173"/>
          <p:cNvGrpSpPr/>
          <p:nvPr/>
        </p:nvGrpSpPr>
        <p:grpSpPr bwMode="auto">
          <a:xfrm>
            <a:off x="7919660" y="2704478"/>
            <a:ext cx="418704" cy="369332"/>
            <a:chOff x="463723" y="2205068"/>
            <a:chExt cx="418704" cy="369332"/>
          </a:xfrm>
        </p:grpSpPr>
        <p:sp>
          <p:nvSpPr>
            <p:cNvPr id="175" name="Oval 174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76" name="TextBox 175"/>
            <p:cNvSpPr txBox="1"/>
            <p:nvPr/>
          </p:nvSpPr>
          <p:spPr bwMode="auto">
            <a:xfrm>
              <a:off x="463723" y="220506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64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2048796535" name="Straight Arrow Connector 177"/>
          <p:cNvCxnSpPr>
            <a:stCxn id="172" idx="3"/>
            <a:endCxn id="169" idx="7"/>
          </p:cNvCxnSpPr>
          <p:nvPr/>
        </p:nvCxnSpPr>
        <p:spPr bwMode="auto">
          <a:xfrm flipH="1">
            <a:off x="7174906" y="2488700"/>
            <a:ext cx="305988" cy="272704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30376550" name="Straight Arrow Connector 179"/>
          <p:cNvCxnSpPr>
            <a:stCxn id="172" idx="5"/>
            <a:endCxn id="175" idx="1"/>
          </p:cNvCxnSpPr>
          <p:nvPr/>
        </p:nvCxnSpPr>
        <p:spPr bwMode="auto">
          <a:xfrm>
            <a:off x="7732906" y="2488700"/>
            <a:ext cx="261524" cy="272704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58609883" name="Straight Arrow Connector 181"/>
          <p:cNvCxnSpPr>
            <a:stCxn id="169" idx="5"/>
            <a:endCxn id="163" idx="1"/>
          </p:cNvCxnSpPr>
          <p:nvPr/>
        </p:nvCxnSpPr>
        <p:spPr bwMode="auto">
          <a:xfrm>
            <a:off x="7174906" y="3013416"/>
            <a:ext cx="189784" cy="275123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69876400" name="Straight Arrow Connector 183"/>
          <p:cNvCxnSpPr>
            <a:stCxn id="163" idx="5"/>
            <a:endCxn id="166" idx="0"/>
          </p:cNvCxnSpPr>
          <p:nvPr/>
        </p:nvCxnSpPr>
        <p:spPr bwMode="auto">
          <a:xfrm>
            <a:off x="7616702" y="3540551"/>
            <a:ext cx="234008" cy="224029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91630677" name="Straight Arrow Connector 184"/>
          <p:cNvCxnSpPr/>
          <p:nvPr/>
        </p:nvCxnSpPr>
        <p:spPr bwMode="auto">
          <a:xfrm>
            <a:off x="8683073" y="3013788"/>
            <a:ext cx="1243684" cy="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052000" name="TextBox 185"/>
          <p:cNvSpPr txBox="1"/>
          <p:nvPr/>
        </p:nvSpPr>
        <p:spPr bwMode="auto">
          <a:xfrm>
            <a:off x="8597029" y="3033561"/>
            <a:ext cx="1415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/>
              <a:t>Left Rotation </a:t>
            </a:r>
            <a:endParaRPr/>
          </a:p>
          <a:p>
            <a:pPr algn="ctr">
              <a:defRPr/>
            </a:pPr>
            <a:r>
              <a:rPr lang="en-IN"/>
              <a:t>of Parent </a:t>
            </a:r>
            <a:r>
              <a:rPr lang="en-IN" b="1">
                <a:solidFill>
                  <a:srgbClr val="C00000"/>
                </a:solidFill>
              </a:rPr>
              <a:t>1</a:t>
            </a:r>
            <a:endParaRPr/>
          </a:p>
        </p:txBody>
      </p:sp>
      <p:grpSp>
        <p:nvGrpSpPr>
          <p:cNvPr id="1610869871" name="Group 190"/>
          <p:cNvGrpSpPr/>
          <p:nvPr/>
        </p:nvGrpSpPr>
        <p:grpSpPr bwMode="auto">
          <a:xfrm>
            <a:off x="10675338" y="2702744"/>
            <a:ext cx="418704" cy="372800"/>
            <a:chOff x="463999" y="2193400"/>
            <a:chExt cx="418704" cy="372800"/>
          </a:xfrm>
        </p:grpSpPr>
        <p:sp>
          <p:nvSpPr>
            <p:cNvPr id="192" name="Oval 191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93" name="TextBox 192"/>
            <p:cNvSpPr txBox="1"/>
            <p:nvPr/>
          </p:nvSpPr>
          <p:spPr bwMode="auto">
            <a:xfrm>
              <a:off x="463999" y="2193400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322633122" name="Group 193"/>
          <p:cNvGrpSpPr/>
          <p:nvPr/>
        </p:nvGrpSpPr>
        <p:grpSpPr bwMode="auto">
          <a:xfrm>
            <a:off x="11094041" y="3231613"/>
            <a:ext cx="418704" cy="369332"/>
            <a:chOff x="472643" y="2205068"/>
            <a:chExt cx="418704" cy="369332"/>
          </a:xfrm>
        </p:grpSpPr>
        <p:sp>
          <p:nvSpPr>
            <p:cNvPr id="195" name="Oval 194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96" name="TextBox 195"/>
            <p:cNvSpPr txBox="1"/>
            <p:nvPr/>
          </p:nvSpPr>
          <p:spPr bwMode="auto">
            <a:xfrm>
              <a:off x="472643" y="220506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26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205364480" name="Straight Arrow Connector 196"/>
          <p:cNvCxnSpPr>
            <a:stCxn id="192" idx="5"/>
            <a:endCxn id="195" idx="0"/>
          </p:cNvCxnSpPr>
          <p:nvPr/>
        </p:nvCxnSpPr>
        <p:spPr bwMode="auto">
          <a:xfrm>
            <a:off x="11001844" y="3023350"/>
            <a:ext cx="284054" cy="21299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59485251" name="Group 197"/>
          <p:cNvGrpSpPr/>
          <p:nvPr/>
        </p:nvGrpSpPr>
        <p:grpSpPr bwMode="auto">
          <a:xfrm>
            <a:off x="10334913" y="3231613"/>
            <a:ext cx="356400" cy="369332"/>
            <a:chOff x="486299" y="2207560"/>
            <a:chExt cx="356400" cy="369332"/>
          </a:xfrm>
        </p:grpSpPr>
        <p:sp>
          <p:nvSpPr>
            <p:cNvPr id="199" name="Oval 198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00" name="TextBox 199"/>
            <p:cNvSpPr txBox="1"/>
            <p:nvPr/>
          </p:nvSpPr>
          <p:spPr bwMode="auto">
            <a:xfrm>
              <a:off x="522508" y="2207560"/>
              <a:ext cx="301685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654453408" name="Group 200"/>
          <p:cNvGrpSpPr/>
          <p:nvPr/>
        </p:nvGrpSpPr>
        <p:grpSpPr bwMode="auto">
          <a:xfrm>
            <a:off x="11030444" y="2178050"/>
            <a:ext cx="418704" cy="374556"/>
            <a:chOff x="455668" y="2209800"/>
            <a:chExt cx="418704" cy="374556"/>
          </a:xfrm>
        </p:grpSpPr>
        <p:sp>
          <p:nvSpPr>
            <p:cNvPr id="202" name="Oval 201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03" name="TextBox 202"/>
            <p:cNvSpPr txBox="1"/>
            <p:nvPr/>
          </p:nvSpPr>
          <p:spPr bwMode="auto">
            <a:xfrm>
              <a:off x="455668" y="221502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44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581090668" name="Group 203"/>
          <p:cNvGrpSpPr/>
          <p:nvPr/>
        </p:nvGrpSpPr>
        <p:grpSpPr bwMode="auto">
          <a:xfrm>
            <a:off x="11552034" y="2704478"/>
            <a:ext cx="418704" cy="369332"/>
            <a:chOff x="463723" y="2205068"/>
            <a:chExt cx="418704" cy="369332"/>
          </a:xfrm>
        </p:grpSpPr>
        <p:sp>
          <p:nvSpPr>
            <p:cNvPr id="205" name="Oval 204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06" name="TextBox 205"/>
            <p:cNvSpPr txBox="1"/>
            <p:nvPr/>
          </p:nvSpPr>
          <p:spPr bwMode="auto">
            <a:xfrm>
              <a:off x="463723" y="220506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64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739894998" name="Straight Arrow Connector 206"/>
          <p:cNvCxnSpPr>
            <a:stCxn id="202" idx="5"/>
            <a:endCxn id="205" idx="0"/>
          </p:cNvCxnSpPr>
          <p:nvPr/>
        </p:nvCxnSpPr>
        <p:spPr bwMode="auto">
          <a:xfrm>
            <a:off x="11365280" y="2482256"/>
            <a:ext cx="387530" cy="226954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61427662" name="Straight Arrow Connector 209"/>
          <p:cNvCxnSpPr>
            <a:stCxn id="202" idx="3"/>
            <a:endCxn id="192" idx="0"/>
          </p:cNvCxnSpPr>
          <p:nvPr/>
        </p:nvCxnSpPr>
        <p:spPr bwMode="auto">
          <a:xfrm flipH="1">
            <a:off x="10875838" y="2482256"/>
            <a:ext cx="237430" cy="236888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38887226" name="Straight Arrow Connector 211"/>
          <p:cNvCxnSpPr>
            <a:stCxn id="192" idx="3"/>
            <a:endCxn id="199" idx="0"/>
          </p:cNvCxnSpPr>
          <p:nvPr/>
        </p:nvCxnSpPr>
        <p:spPr bwMode="auto">
          <a:xfrm flipH="1">
            <a:off x="10513113" y="3023350"/>
            <a:ext cx="236719" cy="210503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84748621" name="TextBox 212"/>
          <p:cNvSpPr txBox="1"/>
          <p:nvPr/>
        </p:nvSpPr>
        <p:spPr bwMode="auto">
          <a:xfrm>
            <a:off x="10855124" y="3247002"/>
            <a:ext cx="329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B</a:t>
            </a:r>
            <a:endParaRPr lang="en-US" sz="1600" b="1"/>
          </a:p>
        </p:txBody>
      </p:sp>
      <p:sp>
        <p:nvSpPr>
          <p:cNvPr id="1657186373" name="TextBox 213"/>
          <p:cNvSpPr txBox="1"/>
          <p:nvPr/>
        </p:nvSpPr>
        <p:spPr bwMode="auto">
          <a:xfrm>
            <a:off x="10346666" y="2719867"/>
            <a:ext cx="329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B</a:t>
            </a:r>
            <a:endParaRPr lang="en-US" sz="1600" b="1"/>
          </a:p>
        </p:txBody>
      </p:sp>
      <p:sp>
        <p:nvSpPr>
          <p:cNvPr id="1691227875" name="TextBox 214"/>
          <p:cNvSpPr txBox="1"/>
          <p:nvPr/>
        </p:nvSpPr>
        <p:spPr bwMode="auto">
          <a:xfrm>
            <a:off x="11322121" y="2719867"/>
            <a:ext cx="329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B</a:t>
            </a:r>
            <a:endParaRPr lang="en-US" sz="1600" b="1"/>
          </a:p>
        </p:txBody>
      </p:sp>
      <p:sp>
        <p:nvSpPr>
          <p:cNvPr id="1811396256" name="TextBox 215"/>
          <p:cNvSpPr txBox="1"/>
          <p:nvPr/>
        </p:nvSpPr>
        <p:spPr bwMode="auto">
          <a:xfrm>
            <a:off x="10764794" y="2178050"/>
            <a:ext cx="329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L</a:t>
            </a:r>
            <a:endParaRPr lang="en-US" sz="16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392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31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3031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66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142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45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4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716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24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6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56664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86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474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159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5889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894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61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9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56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345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609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22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22822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99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13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3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86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" dur="10" fill="hold"/>
                                        <p:tgtEl>
                                          <p:spTgt spid="16175615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4" dur="10" fill="hold"/>
                                        <p:tgtEl>
                                          <p:spTgt spid="16175615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10" fill="hold"/>
                                        <p:tgtEl>
                                          <p:spTgt spid="16175615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019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019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019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019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9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22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14122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7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0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174709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82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008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15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6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19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1619192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646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208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07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27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956271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40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270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68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6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1707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126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81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95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7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296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86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84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19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1412190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81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4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32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379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09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219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4" dur="500"/>
                                        <p:tgtEl>
                                          <p:spTgt spid="1121219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558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416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437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20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2" dur="10" fill="hold"/>
                                        <p:tgtEl>
                                          <p:spTgt spid="8798645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43" dur="10" fill="hold"/>
                                        <p:tgtEl>
                                          <p:spTgt spid="8798645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4" dur="10" fill="hold"/>
                                        <p:tgtEl>
                                          <p:spTgt spid="8798645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868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868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868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868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39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315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416315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205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7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6" dur="500"/>
                                        <p:tgtEl>
                                          <p:spTgt spid="126987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750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7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96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76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64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11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60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63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1" dur="500"/>
                                        <p:tgtEl>
                                          <p:spTgt spid="1491630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64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869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63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88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4" dur="500"/>
                                        <p:tgtEl>
                                          <p:spTgt spid="43888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85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4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89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453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09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9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74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18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22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1396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766620" grpId="0" animBg="1"/>
      <p:bldP spid="989716511" grpId="0" animBg="1"/>
      <p:bldP spid="1961453821" grpId="0"/>
      <p:bldP spid="1902474447" grpId="0"/>
      <p:bldP spid="1544159547" grpId="0"/>
      <p:bldP spid="1415894743" grpId="0" animBg="1"/>
      <p:bldP spid="857861550" grpId="0"/>
      <p:bldP spid="1617561512" grpId="0" animBg="1"/>
      <p:bldP spid="103391174" grpId="0"/>
      <p:bldP spid="1200134857" grpId="0"/>
      <p:bldP spid="910343162" grpId="0"/>
      <p:bldP spid="1302920493" grpId="0"/>
      <p:bldP spid="86468968" grpId="0"/>
      <p:bldP spid="655270209" grpId="0"/>
      <p:bldP spid="1584688460" grpId="0"/>
      <p:bldP spid="103067881" grpId="0"/>
      <p:bldP spid="367126999" grpId="0" animBg="1"/>
      <p:bldP spid="879864587" grpId="0" animBg="1"/>
      <p:bldP spid="2018840701" grpId="0"/>
      <p:bldP spid="1769097423" grpId="0"/>
      <p:bldP spid="1945634927" grpId="0"/>
      <p:bldP spid="1777329091" grpId="0"/>
      <p:bldP spid="1145897841" grpId="0"/>
      <p:bldP spid="2064379166" grpId="0"/>
      <p:bldP spid="1984167561" grpId="0"/>
      <p:bldP spid="455437745" grpId="0"/>
      <p:bldP spid="112320936" grpId="0"/>
      <p:bldP spid="1209399250" grpId="0"/>
      <p:bldP spid="10052000" grpId="0"/>
      <p:bldP spid="984748621" grpId="0"/>
      <p:bldP spid="1657186373" grpId="0"/>
      <p:bldP spid="1691227875" grpId="0"/>
      <p:bldP spid="181139625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02946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Construct AVL Search Tree</a:t>
            </a:r>
            <a:endParaRPr/>
          </a:p>
        </p:txBody>
      </p:sp>
      <p:sp>
        <p:nvSpPr>
          <p:cNvPr id="999066946" name="TextBox 3"/>
          <p:cNvSpPr txBox="1"/>
          <p:nvPr/>
        </p:nvSpPr>
        <p:spPr bwMode="auto">
          <a:xfrm>
            <a:off x="1671800" y="749301"/>
            <a:ext cx="8767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2400"/>
              <a:t>Construct AVL Search tree by inserting following elements in order of their occurrence </a:t>
            </a:r>
            <a:r>
              <a:rPr lang="en-IN" sz="2400" b="1">
                <a:solidFill>
                  <a:srgbClr val="C00000"/>
                </a:solidFill>
              </a:rPr>
              <a:t>64, 1, 44, 26, 13, 110, 98, 85</a:t>
            </a:r>
            <a:endParaRPr lang="en-US" sz="2400" b="1">
              <a:solidFill>
                <a:srgbClr val="C00000"/>
              </a:solidFill>
            </a:endParaRPr>
          </a:p>
        </p:txBody>
      </p:sp>
      <p:sp>
        <p:nvSpPr>
          <p:cNvPr id="402545309" name="TextBox 4"/>
          <p:cNvSpPr txBox="1"/>
          <p:nvPr/>
        </p:nvSpPr>
        <p:spPr bwMode="auto">
          <a:xfrm>
            <a:off x="98778" y="1579355"/>
            <a:ext cx="1349022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/>
              <a:t>Insert </a:t>
            </a:r>
            <a:r>
              <a:rPr lang="en-IN" sz="1600" b="1">
                <a:solidFill>
                  <a:srgbClr val="C00000"/>
                </a:solidFill>
              </a:rPr>
              <a:t>110</a:t>
            </a:r>
            <a:endParaRPr lang="en-US" sz="1600" b="1">
              <a:solidFill>
                <a:srgbClr val="C00000"/>
              </a:solidFill>
            </a:endParaRPr>
          </a:p>
        </p:txBody>
      </p:sp>
      <p:cxnSp>
        <p:nvCxnSpPr>
          <p:cNvPr id="2105053262" name="Straight Connector 5"/>
          <p:cNvCxnSpPr/>
          <p:nvPr/>
        </p:nvCxnSpPr>
        <p:spPr bwMode="auto">
          <a:xfrm>
            <a:off x="98778" y="1580297"/>
            <a:ext cx="11998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07416272" name="Group 6"/>
          <p:cNvGrpSpPr/>
          <p:nvPr/>
        </p:nvGrpSpPr>
        <p:grpSpPr bwMode="auto">
          <a:xfrm>
            <a:off x="708725" y="2746111"/>
            <a:ext cx="418704" cy="372800"/>
            <a:chOff x="463999" y="2193400"/>
            <a:chExt cx="418704" cy="372800"/>
          </a:xfrm>
        </p:grpSpPr>
        <p:sp>
          <p:nvSpPr>
            <p:cNvPr id="8" name="Oval 7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463999" y="2193400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586597701" name="Group 9"/>
          <p:cNvGrpSpPr/>
          <p:nvPr/>
        </p:nvGrpSpPr>
        <p:grpSpPr bwMode="auto">
          <a:xfrm>
            <a:off x="1127429" y="3271611"/>
            <a:ext cx="418704" cy="369332"/>
            <a:chOff x="472643" y="2205068"/>
            <a:chExt cx="418704" cy="369332"/>
          </a:xfrm>
        </p:grpSpPr>
        <p:sp>
          <p:nvSpPr>
            <p:cNvPr id="11" name="Oval 10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2" name="TextBox 11"/>
            <p:cNvSpPr txBox="1"/>
            <p:nvPr/>
          </p:nvSpPr>
          <p:spPr bwMode="auto">
            <a:xfrm>
              <a:off x="472643" y="220506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26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968816393" name="Straight Arrow Connector 12"/>
          <p:cNvCxnSpPr>
            <a:stCxn id="8" idx="5"/>
            <a:endCxn id="11" idx="0"/>
          </p:cNvCxnSpPr>
          <p:nvPr/>
        </p:nvCxnSpPr>
        <p:spPr bwMode="auto">
          <a:xfrm>
            <a:off x="1035231" y="3066717"/>
            <a:ext cx="284054" cy="209626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516094399" name="Group 13"/>
          <p:cNvGrpSpPr/>
          <p:nvPr/>
        </p:nvGrpSpPr>
        <p:grpSpPr bwMode="auto">
          <a:xfrm>
            <a:off x="368300" y="3271611"/>
            <a:ext cx="356400" cy="369332"/>
            <a:chOff x="486299" y="2207560"/>
            <a:chExt cx="356400" cy="369332"/>
          </a:xfrm>
        </p:grpSpPr>
        <p:sp>
          <p:nvSpPr>
            <p:cNvPr id="15" name="Oval 14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522508" y="2207560"/>
              <a:ext cx="301685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398410814" name="Group 16"/>
          <p:cNvGrpSpPr/>
          <p:nvPr/>
        </p:nvGrpSpPr>
        <p:grpSpPr bwMode="auto">
          <a:xfrm>
            <a:off x="1190831" y="2209699"/>
            <a:ext cx="418704" cy="374556"/>
            <a:chOff x="455668" y="2209800"/>
            <a:chExt cx="418704" cy="374556"/>
          </a:xfrm>
        </p:grpSpPr>
        <p:sp>
          <p:nvSpPr>
            <p:cNvPr id="18" name="Oval 17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9" name="TextBox 18"/>
            <p:cNvSpPr txBox="1"/>
            <p:nvPr/>
          </p:nvSpPr>
          <p:spPr bwMode="auto">
            <a:xfrm>
              <a:off x="455668" y="221502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44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sp>
        <p:nvSpPr>
          <p:cNvPr id="1308482561" name="Oval 20"/>
          <p:cNvSpPr/>
          <p:nvPr/>
        </p:nvSpPr>
        <p:spPr bwMode="auto">
          <a:xfrm>
            <a:off x="1661271" y="2743200"/>
            <a:ext cx="356400" cy="356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600" b="1"/>
          </a:p>
        </p:txBody>
      </p:sp>
      <p:sp>
        <p:nvSpPr>
          <p:cNvPr id="1091828367" name="TextBox 21"/>
          <p:cNvSpPr txBox="1"/>
          <p:nvPr/>
        </p:nvSpPr>
        <p:spPr bwMode="auto">
          <a:xfrm>
            <a:off x="1627030" y="2746111"/>
            <a:ext cx="41870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chemeClr val="bg1"/>
                </a:solidFill>
              </a:rPr>
              <a:t>64</a:t>
            </a:r>
            <a:endParaRPr lang="en-US" b="1">
              <a:solidFill>
                <a:schemeClr val="bg1"/>
              </a:solidFill>
            </a:endParaRPr>
          </a:p>
        </p:txBody>
      </p:sp>
      <p:cxnSp>
        <p:nvCxnSpPr>
          <p:cNvPr id="3893928" name="Straight Arrow Connector 22"/>
          <p:cNvCxnSpPr>
            <a:stCxn id="18" idx="5"/>
            <a:endCxn id="1308482561" idx="0"/>
          </p:cNvCxnSpPr>
          <p:nvPr/>
        </p:nvCxnSpPr>
        <p:spPr bwMode="auto">
          <a:xfrm>
            <a:off x="1525667" y="2513905"/>
            <a:ext cx="313805" cy="22929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34937863" name="Straight Arrow Connector 23"/>
          <p:cNvCxnSpPr>
            <a:stCxn id="18" idx="3"/>
            <a:endCxn id="8" idx="0"/>
          </p:cNvCxnSpPr>
          <p:nvPr/>
        </p:nvCxnSpPr>
        <p:spPr bwMode="auto">
          <a:xfrm flipH="1">
            <a:off x="909225" y="2513905"/>
            <a:ext cx="364430" cy="248606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63940380" name="Straight Arrow Connector 24"/>
          <p:cNvCxnSpPr>
            <a:stCxn id="8" idx="3"/>
            <a:endCxn id="15" idx="0"/>
          </p:cNvCxnSpPr>
          <p:nvPr/>
        </p:nvCxnSpPr>
        <p:spPr bwMode="auto">
          <a:xfrm flipH="1">
            <a:off x="546500" y="3066717"/>
            <a:ext cx="236719" cy="207134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09526473" name="TextBox 26"/>
          <p:cNvSpPr txBox="1"/>
          <p:nvPr/>
        </p:nvSpPr>
        <p:spPr bwMode="auto">
          <a:xfrm>
            <a:off x="1632568" y="3271611"/>
            <a:ext cx="272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B</a:t>
            </a:r>
            <a:endParaRPr lang="en-US" sz="1600" b="1"/>
          </a:p>
        </p:txBody>
      </p:sp>
      <p:grpSp>
        <p:nvGrpSpPr>
          <p:cNvPr id="1557981826" name="Group 28"/>
          <p:cNvGrpSpPr/>
          <p:nvPr/>
        </p:nvGrpSpPr>
        <p:grpSpPr bwMode="auto">
          <a:xfrm>
            <a:off x="1987722" y="3271611"/>
            <a:ext cx="535724" cy="396000"/>
            <a:chOff x="417569" y="2193400"/>
            <a:chExt cx="535724" cy="396000"/>
          </a:xfrm>
        </p:grpSpPr>
        <p:sp>
          <p:nvSpPr>
            <p:cNvPr id="30" name="Oval 29"/>
            <p:cNvSpPr/>
            <p:nvPr/>
          </p:nvSpPr>
          <p:spPr bwMode="auto">
            <a:xfrm>
              <a:off x="486299" y="2193400"/>
              <a:ext cx="396000" cy="396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31" name="TextBox 30"/>
            <p:cNvSpPr txBox="1"/>
            <p:nvPr/>
          </p:nvSpPr>
          <p:spPr bwMode="auto">
            <a:xfrm>
              <a:off x="417569" y="2213890"/>
              <a:ext cx="53572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110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031202313" name="Straight Arrow Connector 32"/>
          <p:cNvCxnSpPr>
            <a:stCxn id="1308482561" idx="5"/>
            <a:endCxn id="30" idx="0"/>
          </p:cNvCxnSpPr>
          <p:nvPr/>
        </p:nvCxnSpPr>
        <p:spPr bwMode="auto">
          <a:xfrm>
            <a:off x="1965478" y="3047406"/>
            <a:ext cx="288974" cy="22420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42146805" name="TextBox 33"/>
          <p:cNvSpPr txBox="1"/>
          <p:nvPr/>
        </p:nvSpPr>
        <p:spPr bwMode="auto">
          <a:xfrm>
            <a:off x="942658" y="1579355"/>
            <a:ext cx="4924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sz="1600" b="1">
                <a:solidFill>
                  <a:srgbClr val="C00000"/>
                </a:solidFill>
              </a:rPr>
              <a:t>, 98</a:t>
            </a:r>
            <a:endParaRPr lang="en-US" sz="1600" b="1">
              <a:solidFill>
                <a:srgbClr val="C00000"/>
              </a:solidFill>
            </a:endParaRPr>
          </a:p>
        </p:txBody>
      </p:sp>
      <p:grpSp>
        <p:nvGrpSpPr>
          <p:cNvPr id="449211310" name="Group 34"/>
          <p:cNvGrpSpPr/>
          <p:nvPr/>
        </p:nvGrpSpPr>
        <p:grpSpPr bwMode="auto">
          <a:xfrm>
            <a:off x="1506550" y="3898212"/>
            <a:ext cx="418704" cy="370862"/>
            <a:chOff x="458973" y="2195338"/>
            <a:chExt cx="418704" cy="370862"/>
          </a:xfrm>
        </p:grpSpPr>
        <p:sp>
          <p:nvSpPr>
            <p:cNvPr id="36" name="Oval 35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37" name="TextBox 36"/>
            <p:cNvSpPr txBox="1"/>
            <p:nvPr/>
          </p:nvSpPr>
          <p:spPr bwMode="auto">
            <a:xfrm>
              <a:off x="458973" y="219533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98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651732802" name="Straight Arrow Connector 38"/>
          <p:cNvCxnSpPr>
            <a:stCxn id="30" idx="3"/>
            <a:endCxn id="36" idx="0"/>
          </p:cNvCxnSpPr>
          <p:nvPr/>
        </p:nvCxnSpPr>
        <p:spPr bwMode="auto">
          <a:xfrm flipH="1">
            <a:off x="1712076" y="3609618"/>
            <a:ext cx="402369" cy="303056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6468008" name="TextBox 39"/>
          <p:cNvSpPr txBox="1"/>
          <p:nvPr/>
        </p:nvSpPr>
        <p:spPr bwMode="auto">
          <a:xfrm>
            <a:off x="870123" y="3271611"/>
            <a:ext cx="272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B</a:t>
            </a:r>
            <a:endParaRPr lang="en-US" sz="1600" b="1"/>
          </a:p>
        </p:txBody>
      </p:sp>
      <p:sp>
        <p:nvSpPr>
          <p:cNvPr id="1435422953" name="TextBox 40"/>
          <p:cNvSpPr txBox="1"/>
          <p:nvPr/>
        </p:nvSpPr>
        <p:spPr bwMode="auto">
          <a:xfrm>
            <a:off x="89589" y="3271611"/>
            <a:ext cx="272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B</a:t>
            </a:r>
            <a:endParaRPr lang="en-US" sz="1600" b="1"/>
          </a:p>
        </p:txBody>
      </p:sp>
      <p:sp>
        <p:nvSpPr>
          <p:cNvPr id="190829977" name="TextBox 41"/>
          <p:cNvSpPr txBox="1"/>
          <p:nvPr/>
        </p:nvSpPr>
        <p:spPr bwMode="auto">
          <a:xfrm>
            <a:off x="1391167" y="2746111"/>
            <a:ext cx="272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R</a:t>
            </a:r>
            <a:endParaRPr lang="en-US" sz="1600" b="1"/>
          </a:p>
        </p:txBody>
      </p:sp>
      <p:sp>
        <p:nvSpPr>
          <p:cNvPr id="1008255196" name="TextBox 42"/>
          <p:cNvSpPr txBox="1"/>
          <p:nvPr/>
        </p:nvSpPr>
        <p:spPr bwMode="auto">
          <a:xfrm>
            <a:off x="451367" y="2746111"/>
            <a:ext cx="272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B</a:t>
            </a:r>
            <a:endParaRPr lang="en-US" sz="1600" b="1"/>
          </a:p>
        </p:txBody>
      </p:sp>
      <p:sp>
        <p:nvSpPr>
          <p:cNvPr id="1513444023" name="TextBox 43"/>
          <p:cNvSpPr txBox="1"/>
          <p:nvPr/>
        </p:nvSpPr>
        <p:spPr bwMode="auto">
          <a:xfrm>
            <a:off x="963825" y="2227700"/>
            <a:ext cx="272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B</a:t>
            </a:r>
            <a:endParaRPr lang="en-US" sz="1600" b="1"/>
          </a:p>
        </p:txBody>
      </p:sp>
      <p:sp>
        <p:nvSpPr>
          <p:cNvPr id="503699855" name="TextBox 44"/>
          <p:cNvSpPr txBox="1"/>
          <p:nvPr/>
        </p:nvSpPr>
        <p:spPr bwMode="auto">
          <a:xfrm>
            <a:off x="1223558" y="3914366"/>
            <a:ext cx="3501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>
                <a:solidFill>
                  <a:srgbClr val="C00000"/>
                </a:solidFill>
              </a:rPr>
              <a:t>B’</a:t>
            </a:r>
            <a:endParaRPr lang="en-US" sz="1600" b="1">
              <a:solidFill>
                <a:srgbClr val="C00000"/>
              </a:solidFill>
            </a:endParaRPr>
          </a:p>
        </p:txBody>
      </p:sp>
      <p:sp>
        <p:nvSpPr>
          <p:cNvPr id="227430918" name="TextBox 45"/>
          <p:cNvSpPr txBox="1"/>
          <p:nvPr/>
        </p:nvSpPr>
        <p:spPr bwMode="auto">
          <a:xfrm>
            <a:off x="1785723" y="3271611"/>
            <a:ext cx="3733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>
                <a:solidFill>
                  <a:srgbClr val="C00000"/>
                </a:solidFill>
              </a:rPr>
              <a:t>L’</a:t>
            </a:r>
            <a:endParaRPr lang="en-US" sz="1600" b="1">
              <a:solidFill>
                <a:srgbClr val="C00000"/>
              </a:solidFill>
            </a:endParaRPr>
          </a:p>
        </p:txBody>
      </p:sp>
      <p:sp>
        <p:nvSpPr>
          <p:cNvPr id="561029988" name="TextBox 46"/>
          <p:cNvSpPr txBox="1"/>
          <p:nvPr/>
        </p:nvSpPr>
        <p:spPr bwMode="auto">
          <a:xfrm>
            <a:off x="1999965" y="2746111"/>
            <a:ext cx="1255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600" b="1">
                <a:solidFill>
                  <a:srgbClr val="C00000"/>
                </a:solidFill>
              </a:rPr>
              <a:t>Critical Node</a:t>
            </a:r>
            <a:endParaRPr lang="en-US" sz="1600" b="1">
              <a:solidFill>
                <a:srgbClr val="C00000"/>
              </a:solidFill>
            </a:endParaRPr>
          </a:p>
        </p:txBody>
      </p:sp>
      <p:sp>
        <p:nvSpPr>
          <p:cNvPr id="1951232643" name="TextBox 47"/>
          <p:cNvSpPr txBox="1"/>
          <p:nvPr/>
        </p:nvSpPr>
        <p:spPr bwMode="auto">
          <a:xfrm>
            <a:off x="2501653" y="1588234"/>
            <a:ext cx="313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>
              <a:defRPr/>
            </a:pPr>
            <a:r>
              <a:rPr lang="en-IN"/>
              <a:t>Case 3</a:t>
            </a:r>
            <a:r>
              <a:rPr lang="en-IN" b="0"/>
              <a:t>: Right Left Rotation</a:t>
            </a:r>
            <a:endParaRPr/>
          </a:p>
          <a:p>
            <a:pPr>
              <a:defRPr/>
            </a:pPr>
            <a:r>
              <a:rPr lang="en-IN" b="0"/>
              <a:t>Right Rotation of Right Child 110</a:t>
            </a:r>
            <a:endParaRPr/>
          </a:p>
          <a:p>
            <a:pPr>
              <a:defRPr/>
            </a:pPr>
            <a:r>
              <a:rPr lang="en-IN" b="0"/>
              <a:t>Followed By</a:t>
            </a:r>
            <a:endParaRPr/>
          </a:p>
          <a:p>
            <a:pPr>
              <a:defRPr/>
            </a:pPr>
            <a:r>
              <a:rPr lang="en-IN" b="0"/>
              <a:t>Left Rotation of Parent 64</a:t>
            </a:r>
            <a:endParaRPr lang="en-US" b="0"/>
          </a:p>
        </p:txBody>
      </p:sp>
      <p:cxnSp>
        <p:nvCxnSpPr>
          <p:cNvPr id="456762834" name="Straight Arrow Connector 48"/>
          <p:cNvCxnSpPr/>
          <p:nvPr/>
        </p:nvCxnSpPr>
        <p:spPr bwMode="auto">
          <a:xfrm>
            <a:off x="3556001" y="3106818"/>
            <a:ext cx="1061509" cy="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58764513" name="TextBox 49"/>
          <p:cNvSpPr txBox="1"/>
          <p:nvPr/>
        </p:nvSpPr>
        <p:spPr bwMode="auto">
          <a:xfrm>
            <a:off x="2896235" y="3123219"/>
            <a:ext cx="2319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/>
              <a:t>Right Rotation </a:t>
            </a:r>
            <a:endParaRPr/>
          </a:p>
          <a:p>
            <a:pPr algn="ctr">
              <a:defRPr/>
            </a:pPr>
            <a:r>
              <a:rPr lang="en-IN"/>
              <a:t>of Right Child </a:t>
            </a:r>
            <a:r>
              <a:rPr lang="en-IN" b="1">
                <a:solidFill>
                  <a:srgbClr val="C00000"/>
                </a:solidFill>
              </a:rPr>
              <a:t>110</a:t>
            </a:r>
            <a:endParaRPr/>
          </a:p>
        </p:txBody>
      </p:sp>
      <p:grpSp>
        <p:nvGrpSpPr>
          <p:cNvPr id="1395368111" name="Group 51"/>
          <p:cNvGrpSpPr/>
          <p:nvPr/>
        </p:nvGrpSpPr>
        <p:grpSpPr bwMode="auto">
          <a:xfrm>
            <a:off x="5756351" y="2746111"/>
            <a:ext cx="418704" cy="372800"/>
            <a:chOff x="463999" y="2193400"/>
            <a:chExt cx="418704" cy="372800"/>
          </a:xfrm>
        </p:grpSpPr>
        <p:sp>
          <p:nvSpPr>
            <p:cNvPr id="53" name="Oval 52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54" name="TextBox 53"/>
            <p:cNvSpPr txBox="1"/>
            <p:nvPr/>
          </p:nvSpPr>
          <p:spPr bwMode="auto">
            <a:xfrm>
              <a:off x="463999" y="2193400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2047651248" name="Group 54"/>
          <p:cNvGrpSpPr/>
          <p:nvPr/>
        </p:nvGrpSpPr>
        <p:grpSpPr bwMode="auto">
          <a:xfrm>
            <a:off x="6175055" y="3271611"/>
            <a:ext cx="418704" cy="369332"/>
            <a:chOff x="472643" y="2205068"/>
            <a:chExt cx="418704" cy="369332"/>
          </a:xfrm>
        </p:grpSpPr>
        <p:sp>
          <p:nvSpPr>
            <p:cNvPr id="56" name="Oval 55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57" name="TextBox 56"/>
            <p:cNvSpPr txBox="1"/>
            <p:nvPr/>
          </p:nvSpPr>
          <p:spPr bwMode="auto">
            <a:xfrm>
              <a:off x="472643" y="220506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26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541831974" name="Straight Arrow Connector 57"/>
          <p:cNvCxnSpPr>
            <a:stCxn id="53" idx="5"/>
            <a:endCxn id="56" idx="0"/>
          </p:cNvCxnSpPr>
          <p:nvPr/>
        </p:nvCxnSpPr>
        <p:spPr bwMode="auto">
          <a:xfrm>
            <a:off x="6082857" y="3066717"/>
            <a:ext cx="284054" cy="209626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560547074" name="Group 58"/>
          <p:cNvGrpSpPr/>
          <p:nvPr/>
        </p:nvGrpSpPr>
        <p:grpSpPr bwMode="auto">
          <a:xfrm>
            <a:off x="5415926" y="3271611"/>
            <a:ext cx="356400" cy="369332"/>
            <a:chOff x="486299" y="2207560"/>
            <a:chExt cx="356400" cy="369332"/>
          </a:xfrm>
        </p:grpSpPr>
        <p:sp>
          <p:nvSpPr>
            <p:cNvPr id="60" name="Oval 59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61" name="TextBox 60"/>
            <p:cNvSpPr txBox="1"/>
            <p:nvPr/>
          </p:nvSpPr>
          <p:spPr bwMode="auto">
            <a:xfrm>
              <a:off x="522508" y="2207560"/>
              <a:ext cx="301685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842781695" name="Group 61"/>
          <p:cNvGrpSpPr/>
          <p:nvPr/>
        </p:nvGrpSpPr>
        <p:grpSpPr bwMode="auto">
          <a:xfrm>
            <a:off x="6111457" y="2209699"/>
            <a:ext cx="418704" cy="374556"/>
            <a:chOff x="455668" y="2209800"/>
            <a:chExt cx="418704" cy="374556"/>
          </a:xfrm>
        </p:grpSpPr>
        <p:sp>
          <p:nvSpPr>
            <p:cNvPr id="63" name="Oval 62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64" name="TextBox 63"/>
            <p:cNvSpPr txBox="1"/>
            <p:nvPr/>
          </p:nvSpPr>
          <p:spPr bwMode="auto">
            <a:xfrm>
              <a:off x="455668" y="221502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44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461344855" name="Group 89"/>
          <p:cNvGrpSpPr/>
          <p:nvPr/>
        </p:nvGrpSpPr>
        <p:grpSpPr bwMode="auto">
          <a:xfrm>
            <a:off x="6521222" y="2746111"/>
            <a:ext cx="418704" cy="369332"/>
            <a:chOff x="5254370" y="2965704"/>
            <a:chExt cx="418704" cy="369332"/>
          </a:xfrm>
        </p:grpSpPr>
        <p:sp>
          <p:nvSpPr>
            <p:cNvPr id="65" name="Oval 64"/>
            <p:cNvSpPr/>
            <p:nvPr/>
          </p:nvSpPr>
          <p:spPr bwMode="auto">
            <a:xfrm>
              <a:off x="5276946" y="2971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66" name="TextBox 65"/>
            <p:cNvSpPr txBox="1"/>
            <p:nvPr/>
          </p:nvSpPr>
          <p:spPr bwMode="auto">
            <a:xfrm>
              <a:off x="5254370" y="296570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64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136146380" name="Straight Arrow Connector 66"/>
          <p:cNvCxnSpPr>
            <a:stCxn id="63" idx="5"/>
            <a:endCxn id="65" idx="0"/>
          </p:cNvCxnSpPr>
          <p:nvPr/>
        </p:nvCxnSpPr>
        <p:spPr bwMode="auto">
          <a:xfrm>
            <a:off x="6446293" y="2513905"/>
            <a:ext cx="275705" cy="238302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28608419" name="Straight Arrow Connector 67"/>
          <p:cNvCxnSpPr>
            <a:stCxn id="63" idx="3"/>
            <a:endCxn id="53" idx="0"/>
          </p:cNvCxnSpPr>
          <p:nvPr/>
        </p:nvCxnSpPr>
        <p:spPr bwMode="auto">
          <a:xfrm flipH="1">
            <a:off x="5956851" y="2513905"/>
            <a:ext cx="237430" cy="248606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00404659" name="Straight Arrow Connector 68"/>
          <p:cNvCxnSpPr>
            <a:stCxn id="53" idx="3"/>
            <a:endCxn id="60" idx="0"/>
          </p:cNvCxnSpPr>
          <p:nvPr/>
        </p:nvCxnSpPr>
        <p:spPr bwMode="auto">
          <a:xfrm flipH="1">
            <a:off x="5594126" y="3066717"/>
            <a:ext cx="236719" cy="207134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031587659" name="Group 70"/>
          <p:cNvGrpSpPr/>
          <p:nvPr/>
        </p:nvGrpSpPr>
        <p:grpSpPr bwMode="auto">
          <a:xfrm>
            <a:off x="6893776" y="3271611"/>
            <a:ext cx="418704" cy="369332"/>
            <a:chOff x="453797" y="2114178"/>
            <a:chExt cx="418704" cy="369332"/>
          </a:xfrm>
        </p:grpSpPr>
        <p:sp>
          <p:nvSpPr>
            <p:cNvPr id="72" name="Oval 71"/>
            <p:cNvSpPr/>
            <p:nvPr/>
          </p:nvSpPr>
          <p:spPr bwMode="auto">
            <a:xfrm>
              <a:off x="486299" y="2117200"/>
              <a:ext cx="349996" cy="3499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73" name="TextBox 72"/>
            <p:cNvSpPr txBox="1"/>
            <p:nvPr/>
          </p:nvSpPr>
          <p:spPr bwMode="auto">
            <a:xfrm>
              <a:off x="453797" y="211417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98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2031299228" name="Straight Arrow Connector 73"/>
          <p:cNvCxnSpPr>
            <a:stCxn id="65" idx="5"/>
            <a:endCxn id="72" idx="0"/>
          </p:cNvCxnSpPr>
          <p:nvPr/>
        </p:nvCxnSpPr>
        <p:spPr bwMode="auto">
          <a:xfrm>
            <a:off x="6848004" y="3056413"/>
            <a:ext cx="253272" cy="21822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616416182" name="Group 74"/>
          <p:cNvGrpSpPr/>
          <p:nvPr/>
        </p:nvGrpSpPr>
        <p:grpSpPr bwMode="auto">
          <a:xfrm>
            <a:off x="7122376" y="3858500"/>
            <a:ext cx="535724" cy="396000"/>
            <a:chOff x="412339" y="2209800"/>
            <a:chExt cx="535724" cy="396000"/>
          </a:xfrm>
        </p:grpSpPr>
        <p:sp>
          <p:nvSpPr>
            <p:cNvPr id="76" name="Oval 75"/>
            <p:cNvSpPr/>
            <p:nvPr/>
          </p:nvSpPr>
          <p:spPr bwMode="auto">
            <a:xfrm>
              <a:off x="486299" y="2209800"/>
              <a:ext cx="396000" cy="396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77" name="TextBox 76"/>
            <p:cNvSpPr txBox="1"/>
            <p:nvPr/>
          </p:nvSpPr>
          <p:spPr bwMode="auto">
            <a:xfrm>
              <a:off x="412339" y="2213896"/>
              <a:ext cx="53572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110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21259617" name="Straight Arrow Connector 77"/>
          <p:cNvCxnSpPr>
            <a:stCxn id="72" idx="5"/>
            <a:endCxn id="76" idx="0"/>
          </p:cNvCxnSpPr>
          <p:nvPr/>
        </p:nvCxnSpPr>
        <p:spPr bwMode="auto">
          <a:xfrm>
            <a:off x="7225018" y="3573373"/>
            <a:ext cx="169318" cy="285127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5794652" name="Straight Arrow Connector 92"/>
          <p:cNvCxnSpPr/>
          <p:nvPr/>
        </p:nvCxnSpPr>
        <p:spPr bwMode="auto">
          <a:xfrm>
            <a:off x="7670369" y="3117259"/>
            <a:ext cx="1243684" cy="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09750397" name="TextBox 93"/>
          <p:cNvSpPr txBox="1"/>
          <p:nvPr/>
        </p:nvSpPr>
        <p:spPr bwMode="auto">
          <a:xfrm>
            <a:off x="7606836" y="3105438"/>
            <a:ext cx="136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/>
              <a:t>Left Rotation </a:t>
            </a:r>
            <a:endParaRPr/>
          </a:p>
          <a:p>
            <a:pPr algn="ctr">
              <a:defRPr/>
            </a:pPr>
            <a:r>
              <a:rPr lang="en-IN"/>
              <a:t>of Parent </a:t>
            </a:r>
            <a:r>
              <a:rPr lang="en-IN" b="1">
                <a:solidFill>
                  <a:srgbClr val="C00000"/>
                </a:solidFill>
              </a:rPr>
              <a:t>64</a:t>
            </a:r>
            <a:endParaRPr/>
          </a:p>
        </p:txBody>
      </p:sp>
      <p:grpSp>
        <p:nvGrpSpPr>
          <p:cNvPr id="1154813213" name="Group 94"/>
          <p:cNvGrpSpPr/>
          <p:nvPr/>
        </p:nvGrpSpPr>
        <p:grpSpPr bwMode="auto">
          <a:xfrm>
            <a:off x="9642551" y="2746111"/>
            <a:ext cx="418704" cy="372800"/>
            <a:chOff x="463999" y="2193400"/>
            <a:chExt cx="418704" cy="372800"/>
          </a:xfrm>
        </p:grpSpPr>
        <p:sp>
          <p:nvSpPr>
            <p:cNvPr id="96" name="Oval 95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97" name="TextBox 96"/>
            <p:cNvSpPr txBox="1"/>
            <p:nvPr/>
          </p:nvSpPr>
          <p:spPr bwMode="auto">
            <a:xfrm>
              <a:off x="463999" y="2193400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333602468" name="Group 97"/>
          <p:cNvGrpSpPr/>
          <p:nvPr/>
        </p:nvGrpSpPr>
        <p:grpSpPr bwMode="auto">
          <a:xfrm>
            <a:off x="10083800" y="3284945"/>
            <a:ext cx="418704" cy="369332"/>
            <a:chOff x="472643" y="2205068"/>
            <a:chExt cx="418704" cy="369332"/>
          </a:xfrm>
        </p:grpSpPr>
        <p:sp>
          <p:nvSpPr>
            <p:cNvPr id="99" name="Oval 98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00" name="TextBox 99"/>
            <p:cNvSpPr txBox="1"/>
            <p:nvPr/>
          </p:nvSpPr>
          <p:spPr bwMode="auto">
            <a:xfrm>
              <a:off x="472643" y="220506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26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803097053" name="Straight Arrow Connector 100"/>
          <p:cNvCxnSpPr>
            <a:stCxn id="96" idx="5"/>
            <a:endCxn id="99" idx="1"/>
          </p:cNvCxnSpPr>
          <p:nvPr/>
        </p:nvCxnSpPr>
        <p:spPr bwMode="auto">
          <a:xfrm>
            <a:off x="9969057" y="3066717"/>
            <a:ext cx="180593" cy="275154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64526225" name="Group 101"/>
          <p:cNvGrpSpPr/>
          <p:nvPr/>
        </p:nvGrpSpPr>
        <p:grpSpPr bwMode="auto">
          <a:xfrm>
            <a:off x="9245599" y="3284945"/>
            <a:ext cx="356400" cy="369332"/>
            <a:chOff x="486299" y="2207560"/>
            <a:chExt cx="356400" cy="369332"/>
          </a:xfrm>
        </p:grpSpPr>
        <p:sp>
          <p:nvSpPr>
            <p:cNvPr id="103" name="Oval 102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04" name="TextBox 103"/>
            <p:cNvSpPr txBox="1"/>
            <p:nvPr/>
          </p:nvSpPr>
          <p:spPr bwMode="auto">
            <a:xfrm>
              <a:off x="522508" y="2207560"/>
              <a:ext cx="301685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482516960" name="Group 104"/>
          <p:cNvGrpSpPr/>
          <p:nvPr/>
        </p:nvGrpSpPr>
        <p:grpSpPr bwMode="auto">
          <a:xfrm>
            <a:off x="10325496" y="2209699"/>
            <a:ext cx="418704" cy="374556"/>
            <a:chOff x="455668" y="2209800"/>
            <a:chExt cx="418704" cy="374556"/>
          </a:xfrm>
        </p:grpSpPr>
        <p:sp>
          <p:nvSpPr>
            <p:cNvPr id="106" name="Oval 105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07" name="TextBox 106"/>
            <p:cNvSpPr txBox="1"/>
            <p:nvPr/>
          </p:nvSpPr>
          <p:spPr bwMode="auto">
            <a:xfrm>
              <a:off x="455668" y="221502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44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36600423" name="Group 107"/>
          <p:cNvGrpSpPr/>
          <p:nvPr/>
        </p:nvGrpSpPr>
        <p:grpSpPr bwMode="auto">
          <a:xfrm>
            <a:off x="11036696" y="2746111"/>
            <a:ext cx="418704" cy="369332"/>
            <a:chOff x="5254370" y="2961041"/>
            <a:chExt cx="418704" cy="369332"/>
          </a:xfrm>
        </p:grpSpPr>
        <p:sp>
          <p:nvSpPr>
            <p:cNvPr id="109" name="Oval 108"/>
            <p:cNvSpPr/>
            <p:nvPr/>
          </p:nvSpPr>
          <p:spPr bwMode="auto">
            <a:xfrm>
              <a:off x="5276946" y="2971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10" name="TextBox 109"/>
            <p:cNvSpPr txBox="1"/>
            <p:nvPr/>
          </p:nvSpPr>
          <p:spPr bwMode="auto">
            <a:xfrm>
              <a:off x="5254370" y="2961041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98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261563793" name="Straight Arrow Connector 110"/>
          <p:cNvCxnSpPr>
            <a:stCxn id="106" idx="5"/>
            <a:endCxn id="109" idx="1"/>
          </p:cNvCxnSpPr>
          <p:nvPr/>
        </p:nvCxnSpPr>
        <p:spPr bwMode="auto">
          <a:xfrm>
            <a:off x="10660332" y="2513905"/>
            <a:ext cx="451134" cy="295159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1184531" name="Straight Arrow Connector 111"/>
          <p:cNvCxnSpPr>
            <a:stCxn id="106" idx="3"/>
            <a:endCxn id="96" idx="7"/>
          </p:cNvCxnSpPr>
          <p:nvPr/>
        </p:nvCxnSpPr>
        <p:spPr bwMode="auto">
          <a:xfrm flipH="1">
            <a:off x="9969057" y="2513905"/>
            <a:ext cx="439263" cy="3008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46589176" name="Straight Arrow Connector 112"/>
          <p:cNvCxnSpPr>
            <a:stCxn id="96" idx="3"/>
            <a:endCxn id="103" idx="7"/>
          </p:cNvCxnSpPr>
          <p:nvPr/>
        </p:nvCxnSpPr>
        <p:spPr bwMode="auto">
          <a:xfrm flipH="1">
            <a:off x="9549806" y="3066717"/>
            <a:ext cx="167239" cy="272662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2103693285" name="Group 113"/>
          <p:cNvGrpSpPr/>
          <p:nvPr/>
        </p:nvGrpSpPr>
        <p:grpSpPr bwMode="auto">
          <a:xfrm>
            <a:off x="10693796" y="3284945"/>
            <a:ext cx="418704" cy="369332"/>
            <a:chOff x="454193" y="2114178"/>
            <a:chExt cx="418704" cy="369332"/>
          </a:xfrm>
        </p:grpSpPr>
        <p:sp>
          <p:nvSpPr>
            <p:cNvPr id="115" name="Oval 114"/>
            <p:cNvSpPr/>
            <p:nvPr/>
          </p:nvSpPr>
          <p:spPr bwMode="auto">
            <a:xfrm>
              <a:off x="486299" y="2117200"/>
              <a:ext cx="349996" cy="3499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16" name="TextBox 115"/>
            <p:cNvSpPr txBox="1"/>
            <p:nvPr/>
          </p:nvSpPr>
          <p:spPr bwMode="auto">
            <a:xfrm>
              <a:off x="454193" y="211417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64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665652890" name="Group 117"/>
          <p:cNvGrpSpPr/>
          <p:nvPr/>
        </p:nvGrpSpPr>
        <p:grpSpPr bwMode="auto">
          <a:xfrm>
            <a:off x="11398250" y="3271611"/>
            <a:ext cx="535724" cy="396000"/>
            <a:chOff x="433713" y="2209800"/>
            <a:chExt cx="535724" cy="396000"/>
          </a:xfrm>
        </p:grpSpPr>
        <p:sp>
          <p:nvSpPr>
            <p:cNvPr id="119" name="Oval 118"/>
            <p:cNvSpPr/>
            <p:nvPr/>
          </p:nvSpPr>
          <p:spPr bwMode="auto">
            <a:xfrm>
              <a:off x="486299" y="2209800"/>
              <a:ext cx="396000" cy="396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20" name="TextBox 119"/>
            <p:cNvSpPr txBox="1"/>
            <p:nvPr/>
          </p:nvSpPr>
          <p:spPr bwMode="auto">
            <a:xfrm>
              <a:off x="433713" y="2232946"/>
              <a:ext cx="53572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110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2123907360" name="Straight Arrow Connector 122"/>
          <p:cNvCxnSpPr>
            <a:stCxn id="109" idx="3"/>
            <a:endCxn id="115" idx="0"/>
          </p:cNvCxnSpPr>
          <p:nvPr/>
        </p:nvCxnSpPr>
        <p:spPr bwMode="auto">
          <a:xfrm flipH="1">
            <a:off x="10900900" y="3061076"/>
            <a:ext cx="210566" cy="226891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71720686" name="Straight Arrow Connector 124"/>
          <p:cNvCxnSpPr>
            <a:stCxn id="109" idx="5"/>
            <a:endCxn id="119" idx="0"/>
          </p:cNvCxnSpPr>
          <p:nvPr/>
        </p:nvCxnSpPr>
        <p:spPr bwMode="auto">
          <a:xfrm>
            <a:off x="11363478" y="3061076"/>
            <a:ext cx="285358" cy="210535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41448679" name="TextBox 125"/>
          <p:cNvSpPr txBox="1"/>
          <p:nvPr/>
        </p:nvSpPr>
        <p:spPr bwMode="auto">
          <a:xfrm>
            <a:off x="8973168" y="3300334"/>
            <a:ext cx="272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B</a:t>
            </a:r>
            <a:endParaRPr lang="en-US" sz="1600" b="1"/>
          </a:p>
        </p:txBody>
      </p:sp>
      <p:sp>
        <p:nvSpPr>
          <p:cNvPr id="721470424" name="TextBox 126"/>
          <p:cNvSpPr txBox="1"/>
          <p:nvPr/>
        </p:nvSpPr>
        <p:spPr bwMode="auto">
          <a:xfrm>
            <a:off x="9811368" y="3300334"/>
            <a:ext cx="272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B</a:t>
            </a:r>
            <a:endParaRPr lang="en-US" sz="1600" b="1"/>
          </a:p>
        </p:txBody>
      </p:sp>
      <p:sp>
        <p:nvSpPr>
          <p:cNvPr id="1265141547" name="TextBox 127"/>
          <p:cNvSpPr txBox="1"/>
          <p:nvPr/>
        </p:nvSpPr>
        <p:spPr bwMode="auto">
          <a:xfrm>
            <a:off x="10503115" y="3300334"/>
            <a:ext cx="272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B</a:t>
            </a:r>
            <a:endParaRPr lang="en-US" sz="1600" b="1"/>
          </a:p>
        </p:txBody>
      </p:sp>
      <p:sp>
        <p:nvSpPr>
          <p:cNvPr id="879498703" name="TextBox 128"/>
          <p:cNvSpPr txBox="1"/>
          <p:nvPr/>
        </p:nvSpPr>
        <p:spPr bwMode="auto">
          <a:xfrm>
            <a:off x="11178403" y="3300334"/>
            <a:ext cx="272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B</a:t>
            </a:r>
            <a:endParaRPr lang="en-US" sz="1600" b="1"/>
          </a:p>
        </p:txBody>
      </p:sp>
      <p:sp>
        <p:nvSpPr>
          <p:cNvPr id="1953078142" name="TextBox 129"/>
          <p:cNvSpPr txBox="1"/>
          <p:nvPr/>
        </p:nvSpPr>
        <p:spPr bwMode="auto">
          <a:xfrm>
            <a:off x="10744201" y="2771511"/>
            <a:ext cx="272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B</a:t>
            </a:r>
            <a:endParaRPr lang="en-US" sz="1600" b="1"/>
          </a:p>
        </p:txBody>
      </p:sp>
      <p:sp>
        <p:nvSpPr>
          <p:cNvPr id="454600560" name="TextBox 130"/>
          <p:cNvSpPr txBox="1"/>
          <p:nvPr/>
        </p:nvSpPr>
        <p:spPr bwMode="auto">
          <a:xfrm>
            <a:off x="9366868" y="2771511"/>
            <a:ext cx="272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B</a:t>
            </a:r>
            <a:endParaRPr lang="en-US" sz="1600" b="1"/>
          </a:p>
        </p:txBody>
      </p:sp>
      <p:sp>
        <p:nvSpPr>
          <p:cNvPr id="1916513140" name="TextBox 131"/>
          <p:cNvSpPr txBox="1"/>
          <p:nvPr/>
        </p:nvSpPr>
        <p:spPr bwMode="auto">
          <a:xfrm>
            <a:off x="9989616" y="2221787"/>
            <a:ext cx="272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B</a:t>
            </a:r>
            <a:endParaRPr lang="en-US" sz="1600" b="1"/>
          </a:p>
        </p:txBody>
      </p:sp>
      <p:sp>
        <p:nvSpPr>
          <p:cNvPr id="712846772" name="TextBox 132"/>
          <p:cNvSpPr txBox="1"/>
          <p:nvPr/>
        </p:nvSpPr>
        <p:spPr bwMode="auto">
          <a:xfrm>
            <a:off x="98778" y="4373146"/>
            <a:ext cx="1038035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/>
              <a:t>Insert </a:t>
            </a:r>
            <a:r>
              <a:rPr lang="en-IN" sz="1600" b="1">
                <a:solidFill>
                  <a:srgbClr val="C00000"/>
                </a:solidFill>
              </a:rPr>
              <a:t>85</a:t>
            </a:r>
            <a:endParaRPr lang="en-US" sz="1600" b="1">
              <a:solidFill>
                <a:srgbClr val="C00000"/>
              </a:solidFill>
            </a:endParaRPr>
          </a:p>
        </p:txBody>
      </p:sp>
      <p:cxnSp>
        <p:nvCxnSpPr>
          <p:cNvPr id="22425176" name="Straight Connector 133"/>
          <p:cNvCxnSpPr/>
          <p:nvPr/>
        </p:nvCxnSpPr>
        <p:spPr bwMode="auto">
          <a:xfrm>
            <a:off x="98778" y="4373146"/>
            <a:ext cx="11998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58839018" name="Group 134"/>
          <p:cNvGrpSpPr/>
          <p:nvPr/>
        </p:nvGrpSpPr>
        <p:grpSpPr bwMode="auto">
          <a:xfrm>
            <a:off x="1050384" y="5074621"/>
            <a:ext cx="418704" cy="372800"/>
            <a:chOff x="463999" y="2193400"/>
            <a:chExt cx="418704" cy="372800"/>
          </a:xfrm>
        </p:grpSpPr>
        <p:sp>
          <p:nvSpPr>
            <p:cNvPr id="136" name="Oval 135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37" name="TextBox 136"/>
            <p:cNvSpPr txBox="1"/>
            <p:nvPr/>
          </p:nvSpPr>
          <p:spPr bwMode="auto">
            <a:xfrm>
              <a:off x="463999" y="2193400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454404508" name="Group 137"/>
          <p:cNvGrpSpPr/>
          <p:nvPr/>
        </p:nvGrpSpPr>
        <p:grpSpPr bwMode="auto">
          <a:xfrm>
            <a:off x="1587896" y="5695434"/>
            <a:ext cx="418704" cy="369332"/>
            <a:chOff x="472643" y="2205068"/>
            <a:chExt cx="418704" cy="369332"/>
          </a:xfrm>
        </p:grpSpPr>
        <p:sp>
          <p:nvSpPr>
            <p:cNvPr id="139" name="Oval 138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40" name="TextBox 139"/>
            <p:cNvSpPr txBox="1"/>
            <p:nvPr/>
          </p:nvSpPr>
          <p:spPr bwMode="auto">
            <a:xfrm>
              <a:off x="472643" y="220506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26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206518227" name="Straight Arrow Connector 140"/>
          <p:cNvCxnSpPr>
            <a:stCxn id="136" idx="5"/>
            <a:endCxn id="139" idx="0"/>
          </p:cNvCxnSpPr>
          <p:nvPr/>
        </p:nvCxnSpPr>
        <p:spPr bwMode="auto">
          <a:xfrm>
            <a:off x="1376890" y="5395227"/>
            <a:ext cx="402862" cy="304939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442703102" name="Group 141"/>
          <p:cNvGrpSpPr/>
          <p:nvPr/>
        </p:nvGrpSpPr>
        <p:grpSpPr bwMode="auto">
          <a:xfrm>
            <a:off x="678833" y="5695434"/>
            <a:ext cx="356400" cy="369332"/>
            <a:chOff x="486299" y="2207560"/>
            <a:chExt cx="356400" cy="369332"/>
          </a:xfrm>
        </p:grpSpPr>
        <p:sp>
          <p:nvSpPr>
            <p:cNvPr id="143" name="Oval 142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44" name="TextBox 143"/>
            <p:cNvSpPr txBox="1"/>
            <p:nvPr/>
          </p:nvSpPr>
          <p:spPr bwMode="auto">
            <a:xfrm>
              <a:off x="522508" y="2207560"/>
              <a:ext cx="301685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339437987" name="Group 144"/>
          <p:cNvGrpSpPr/>
          <p:nvPr/>
        </p:nvGrpSpPr>
        <p:grpSpPr bwMode="auto">
          <a:xfrm>
            <a:off x="1834929" y="4478923"/>
            <a:ext cx="418704" cy="374556"/>
            <a:chOff x="455668" y="2209800"/>
            <a:chExt cx="418704" cy="374556"/>
          </a:xfrm>
        </p:grpSpPr>
        <p:sp>
          <p:nvSpPr>
            <p:cNvPr id="146" name="Oval 145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47" name="TextBox 146"/>
            <p:cNvSpPr txBox="1"/>
            <p:nvPr/>
          </p:nvSpPr>
          <p:spPr bwMode="auto">
            <a:xfrm>
              <a:off x="455668" y="221502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44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854191829" name="Group 147"/>
          <p:cNvGrpSpPr/>
          <p:nvPr/>
        </p:nvGrpSpPr>
        <p:grpSpPr bwMode="auto">
          <a:xfrm>
            <a:off x="2711229" y="5076355"/>
            <a:ext cx="418704" cy="369332"/>
            <a:chOff x="5254370" y="2961041"/>
            <a:chExt cx="418704" cy="369332"/>
          </a:xfrm>
        </p:grpSpPr>
        <p:sp>
          <p:nvSpPr>
            <p:cNvPr id="149" name="Oval 148"/>
            <p:cNvSpPr/>
            <p:nvPr/>
          </p:nvSpPr>
          <p:spPr bwMode="auto">
            <a:xfrm>
              <a:off x="5276946" y="2971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50" name="TextBox 149"/>
            <p:cNvSpPr txBox="1"/>
            <p:nvPr/>
          </p:nvSpPr>
          <p:spPr bwMode="auto">
            <a:xfrm>
              <a:off x="5254370" y="2961041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98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33282993" name="Straight Arrow Connector 150"/>
          <p:cNvCxnSpPr>
            <a:stCxn id="146" idx="5"/>
            <a:endCxn id="149" idx="1"/>
          </p:cNvCxnSpPr>
          <p:nvPr/>
        </p:nvCxnSpPr>
        <p:spPr bwMode="auto">
          <a:xfrm>
            <a:off x="2169765" y="4783129"/>
            <a:ext cx="616234" cy="356179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39851227" name="Straight Arrow Connector 151"/>
          <p:cNvCxnSpPr>
            <a:stCxn id="146" idx="3"/>
            <a:endCxn id="136" idx="7"/>
          </p:cNvCxnSpPr>
          <p:nvPr/>
        </p:nvCxnSpPr>
        <p:spPr bwMode="auto">
          <a:xfrm flipH="1">
            <a:off x="1376890" y="4783129"/>
            <a:ext cx="540863" cy="360086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7009852" name="Straight Arrow Connector 152"/>
          <p:cNvCxnSpPr>
            <a:stCxn id="136" idx="3"/>
            <a:endCxn id="143" idx="0"/>
          </p:cNvCxnSpPr>
          <p:nvPr/>
        </p:nvCxnSpPr>
        <p:spPr bwMode="auto">
          <a:xfrm flipH="1">
            <a:off x="857033" y="5395227"/>
            <a:ext cx="267845" cy="302447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2071071124" name="Group 153"/>
          <p:cNvGrpSpPr/>
          <p:nvPr/>
        </p:nvGrpSpPr>
        <p:grpSpPr bwMode="auto">
          <a:xfrm>
            <a:off x="2248296" y="5695434"/>
            <a:ext cx="418704" cy="369332"/>
            <a:chOff x="448460" y="2114178"/>
            <a:chExt cx="418704" cy="369332"/>
          </a:xfrm>
        </p:grpSpPr>
        <p:sp>
          <p:nvSpPr>
            <p:cNvPr id="155" name="Oval 154"/>
            <p:cNvSpPr/>
            <p:nvPr/>
          </p:nvSpPr>
          <p:spPr bwMode="auto">
            <a:xfrm>
              <a:off x="486299" y="2117200"/>
              <a:ext cx="349996" cy="3499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56" name="TextBox 155"/>
            <p:cNvSpPr txBox="1"/>
            <p:nvPr/>
          </p:nvSpPr>
          <p:spPr bwMode="auto">
            <a:xfrm>
              <a:off x="448460" y="211417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64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861266863" name="Straight Arrow Connector 156"/>
          <p:cNvCxnSpPr>
            <a:stCxn id="149" idx="3"/>
            <a:endCxn id="155" idx="0"/>
          </p:cNvCxnSpPr>
          <p:nvPr/>
        </p:nvCxnSpPr>
        <p:spPr bwMode="auto">
          <a:xfrm flipH="1">
            <a:off x="2461132" y="5391320"/>
            <a:ext cx="324866" cy="307136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343457643" name="Group 163"/>
          <p:cNvGrpSpPr/>
          <p:nvPr/>
        </p:nvGrpSpPr>
        <p:grpSpPr bwMode="auto">
          <a:xfrm>
            <a:off x="2692400" y="6221968"/>
            <a:ext cx="418704" cy="369332"/>
            <a:chOff x="463142" y="2114178"/>
            <a:chExt cx="418704" cy="369332"/>
          </a:xfrm>
        </p:grpSpPr>
        <p:sp>
          <p:nvSpPr>
            <p:cNvPr id="165" name="Oval 164"/>
            <p:cNvSpPr/>
            <p:nvPr/>
          </p:nvSpPr>
          <p:spPr bwMode="auto">
            <a:xfrm>
              <a:off x="486299" y="2117200"/>
              <a:ext cx="349996" cy="3499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66" name="TextBox 165"/>
            <p:cNvSpPr txBox="1"/>
            <p:nvPr/>
          </p:nvSpPr>
          <p:spPr bwMode="auto">
            <a:xfrm>
              <a:off x="463142" y="211417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85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2035654679" name="Straight Arrow Connector 167"/>
          <p:cNvCxnSpPr>
            <a:stCxn id="155" idx="5"/>
            <a:endCxn id="165" idx="0"/>
          </p:cNvCxnSpPr>
          <p:nvPr/>
        </p:nvCxnSpPr>
        <p:spPr bwMode="auto">
          <a:xfrm>
            <a:off x="2584875" y="5997196"/>
            <a:ext cx="305680" cy="227794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562620140" name="Group 169"/>
          <p:cNvGrpSpPr/>
          <p:nvPr/>
        </p:nvGrpSpPr>
        <p:grpSpPr bwMode="auto">
          <a:xfrm>
            <a:off x="3146272" y="5682100"/>
            <a:ext cx="535724" cy="396000"/>
            <a:chOff x="433713" y="2209800"/>
            <a:chExt cx="535724" cy="396000"/>
          </a:xfrm>
        </p:grpSpPr>
        <p:sp>
          <p:nvSpPr>
            <p:cNvPr id="171" name="Oval 170"/>
            <p:cNvSpPr/>
            <p:nvPr/>
          </p:nvSpPr>
          <p:spPr bwMode="auto">
            <a:xfrm>
              <a:off x="486299" y="2209800"/>
              <a:ext cx="396000" cy="396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72" name="TextBox 171"/>
            <p:cNvSpPr txBox="1"/>
            <p:nvPr/>
          </p:nvSpPr>
          <p:spPr bwMode="auto">
            <a:xfrm>
              <a:off x="433713" y="2232946"/>
              <a:ext cx="53572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110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505190975" name="Straight Arrow Connector 172"/>
          <p:cNvCxnSpPr>
            <a:stCxn id="149" idx="5"/>
            <a:endCxn id="171" idx="0"/>
          </p:cNvCxnSpPr>
          <p:nvPr/>
        </p:nvCxnSpPr>
        <p:spPr bwMode="auto">
          <a:xfrm>
            <a:off x="3038011" y="5391320"/>
            <a:ext cx="358847" cy="29078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50808343" name="TextBox 157"/>
          <p:cNvSpPr txBox="1"/>
          <p:nvPr/>
        </p:nvSpPr>
        <p:spPr bwMode="auto">
          <a:xfrm>
            <a:off x="2413001" y="6237357"/>
            <a:ext cx="272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B</a:t>
            </a:r>
            <a:endParaRPr lang="en-US" sz="1600" b="1"/>
          </a:p>
        </p:txBody>
      </p:sp>
      <p:sp>
        <p:nvSpPr>
          <p:cNvPr id="740435253" name="TextBox 158"/>
          <p:cNvSpPr txBox="1"/>
          <p:nvPr/>
        </p:nvSpPr>
        <p:spPr bwMode="auto">
          <a:xfrm>
            <a:off x="2913717" y="5710823"/>
            <a:ext cx="272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B</a:t>
            </a:r>
            <a:endParaRPr lang="en-US" sz="1600" b="1"/>
          </a:p>
        </p:txBody>
      </p:sp>
      <p:sp>
        <p:nvSpPr>
          <p:cNvPr id="189880921" name="TextBox 159"/>
          <p:cNvSpPr txBox="1"/>
          <p:nvPr/>
        </p:nvSpPr>
        <p:spPr bwMode="auto">
          <a:xfrm>
            <a:off x="2021336" y="5710823"/>
            <a:ext cx="272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R</a:t>
            </a:r>
            <a:endParaRPr lang="en-US" sz="1600" b="1"/>
          </a:p>
        </p:txBody>
      </p:sp>
      <p:sp>
        <p:nvSpPr>
          <p:cNvPr id="188758521" name="TextBox 160"/>
          <p:cNvSpPr txBox="1"/>
          <p:nvPr/>
        </p:nvSpPr>
        <p:spPr bwMode="auto">
          <a:xfrm>
            <a:off x="1342410" y="5710823"/>
            <a:ext cx="272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B</a:t>
            </a:r>
            <a:endParaRPr lang="en-US" sz="1600" b="1"/>
          </a:p>
        </p:txBody>
      </p:sp>
      <p:sp>
        <p:nvSpPr>
          <p:cNvPr id="132728837" name="TextBox 161"/>
          <p:cNvSpPr txBox="1"/>
          <p:nvPr/>
        </p:nvSpPr>
        <p:spPr bwMode="auto">
          <a:xfrm>
            <a:off x="405600" y="5710823"/>
            <a:ext cx="272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B</a:t>
            </a:r>
            <a:endParaRPr lang="en-US" sz="1600" b="1"/>
          </a:p>
        </p:txBody>
      </p:sp>
      <p:sp>
        <p:nvSpPr>
          <p:cNvPr id="202585178" name="TextBox 162"/>
          <p:cNvSpPr txBox="1"/>
          <p:nvPr/>
        </p:nvSpPr>
        <p:spPr bwMode="auto">
          <a:xfrm>
            <a:off x="781668" y="5091744"/>
            <a:ext cx="272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B</a:t>
            </a:r>
            <a:endParaRPr lang="en-US" sz="1600" b="1"/>
          </a:p>
        </p:txBody>
      </p:sp>
      <p:sp>
        <p:nvSpPr>
          <p:cNvPr id="1299104503" name="TextBox 166"/>
          <p:cNvSpPr txBox="1"/>
          <p:nvPr/>
        </p:nvSpPr>
        <p:spPr bwMode="auto">
          <a:xfrm>
            <a:off x="2407175" y="5091744"/>
            <a:ext cx="272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L</a:t>
            </a:r>
            <a:endParaRPr lang="en-US" sz="1600" b="1"/>
          </a:p>
        </p:txBody>
      </p:sp>
      <p:sp>
        <p:nvSpPr>
          <p:cNvPr id="115993315" name="TextBox 168"/>
          <p:cNvSpPr txBox="1"/>
          <p:nvPr/>
        </p:nvSpPr>
        <p:spPr bwMode="auto">
          <a:xfrm>
            <a:off x="1538643" y="4496924"/>
            <a:ext cx="272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 b="1"/>
              <a:t>R</a:t>
            </a:r>
            <a:endParaRPr lang="en-US" sz="16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066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505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05053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54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416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410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48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828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937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94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8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4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59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20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3120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98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526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46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2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829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255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44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14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73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1651732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21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699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30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02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10" fill="hold"/>
                                        <p:tgtEl>
                                          <p:spTgt spid="13084825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0" dur="10" fill="hold"/>
                                        <p:tgtEl>
                                          <p:spTgt spid="13084825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10" fill="hold"/>
                                        <p:tgtEl>
                                          <p:spTgt spid="13084825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23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764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6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56762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58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59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21259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41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29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146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4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78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60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368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404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83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765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54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750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794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335794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1720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65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390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7" dur="500"/>
                                        <p:tgtEl>
                                          <p:spTgt spid="2123907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3693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0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26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6589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09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813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563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18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516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144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47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14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49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07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00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51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22425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84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39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404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51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70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43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19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85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09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07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266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19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620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5654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9" dur="500"/>
                                        <p:tgtEl>
                                          <p:spTgt spid="2035654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457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808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35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80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58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2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58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10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9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545309" grpId="0" animBg="1"/>
      <p:bldP spid="1308482561" grpId="0" animBg="1"/>
      <p:bldP spid="1091828367" grpId="0"/>
      <p:bldP spid="1109526473" grpId="0"/>
      <p:bldP spid="1142146805" grpId="0"/>
      <p:bldP spid="396468008" grpId="0"/>
      <p:bldP spid="1435422953" grpId="0"/>
      <p:bldP spid="190829977" grpId="0"/>
      <p:bldP spid="1008255196" grpId="0"/>
      <p:bldP spid="1513444023" grpId="0"/>
      <p:bldP spid="503699855" grpId="0"/>
      <p:bldP spid="227430918" grpId="0"/>
      <p:bldP spid="561029988" grpId="0"/>
      <p:bldP spid="1951232643" grpId="0" animBg="1"/>
      <p:bldP spid="1958764513" grpId="0"/>
      <p:bldP spid="1409750397" grpId="0"/>
      <p:bldP spid="2041448679" grpId="0"/>
      <p:bldP spid="721470424" grpId="0"/>
      <p:bldP spid="1265141547" grpId="0"/>
      <p:bldP spid="879498703" grpId="0"/>
      <p:bldP spid="1953078142" grpId="0"/>
      <p:bldP spid="454600560" grpId="0"/>
      <p:bldP spid="1916513140" grpId="0"/>
      <p:bldP spid="712846772" grpId="0" animBg="1"/>
      <p:bldP spid="850808343" grpId="0"/>
      <p:bldP spid="740435253" grpId="0"/>
      <p:bldP spid="189880921" grpId="0"/>
      <p:bldP spid="188758521" grpId="0"/>
      <p:bldP spid="132728837" grpId="0"/>
      <p:bldP spid="202585178" grpId="0"/>
      <p:bldP spid="1299104503" grpId="0"/>
      <p:bldP spid="1159933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0087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Construct AVL Search Tree</a:t>
            </a:r>
            <a:endParaRPr/>
          </a:p>
        </p:txBody>
      </p:sp>
      <p:sp>
        <p:nvSpPr>
          <p:cNvPr id="563317713" name="TextBox 3"/>
          <p:cNvSpPr txBox="1"/>
          <p:nvPr/>
        </p:nvSpPr>
        <p:spPr bwMode="auto">
          <a:xfrm>
            <a:off x="1671800" y="739590"/>
            <a:ext cx="8767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2400"/>
              <a:t>Construct AVL Search tree by inserting following elements in order of their occurrence </a:t>
            </a:r>
            <a:r>
              <a:rPr lang="en-IN" sz="2400" b="1">
                <a:solidFill>
                  <a:srgbClr val="C00000"/>
                </a:solidFill>
              </a:rPr>
              <a:t>60,73,75,76,79,81,82,300,0,5,73</a:t>
            </a:r>
            <a:endParaRPr lang="en-US" sz="2400" b="1">
              <a:solidFill>
                <a:srgbClr val="C00000"/>
              </a:solidFill>
            </a:endParaRPr>
          </a:p>
        </p:txBody>
      </p:sp>
      <p:sp>
        <p:nvSpPr>
          <p:cNvPr id="1182356509" name="TextBox 4"/>
          <p:cNvSpPr txBox="1"/>
          <p:nvPr/>
        </p:nvSpPr>
        <p:spPr bwMode="auto">
          <a:xfrm>
            <a:off x="112233" y="1570586"/>
            <a:ext cx="922047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defRPr/>
            </a:pPr>
            <a:r>
              <a:rPr lang="en-IN" sz="1600"/>
              <a:t>Insert </a:t>
            </a:r>
            <a:r>
              <a:rPr lang="en-IN" sz="1600" b="1">
                <a:solidFill>
                  <a:srgbClr val="C00000"/>
                </a:solidFill>
              </a:rPr>
              <a:t>60</a:t>
            </a:r>
            <a:endParaRPr lang="en-US" sz="1600" b="1">
              <a:solidFill>
                <a:srgbClr val="C00000"/>
              </a:solidFill>
            </a:endParaRPr>
          </a:p>
        </p:txBody>
      </p:sp>
      <p:sp>
        <p:nvSpPr>
          <p:cNvPr id="2058174490" name="TextBox 5"/>
          <p:cNvSpPr txBox="1"/>
          <p:nvPr/>
        </p:nvSpPr>
        <p:spPr bwMode="auto">
          <a:xfrm>
            <a:off x="308544" y="203747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cxnSp>
        <p:nvCxnSpPr>
          <p:cNvPr id="1779316679" name="Straight Connector 6"/>
          <p:cNvCxnSpPr/>
          <p:nvPr/>
        </p:nvCxnSpPr>
        <p:spPr bwMode="auto">
          <a:xfrm>
            <a:off x="112232" y="1570586"/>
            <a:ext cx="11998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94711002" name="Group 7"/>
          <p:cNvGrpSpPr/>
          <p:nvPr/>
        </p:nvGrpSpPr>
        <p:grpSpPr bwMode="auto">
          <a:xfrm>
            <a:off x="595564" y="2034989"/>
            <a:ext cx="418704" cy="374296"/>
            <a:chOff x="458809" y="2209800"/>
            <a:chExt cx="418704" cy="374296"/>
          </a:xfrm>
        </p:grpSpPr>
        <p:sp>
          <p:nvSpPr>
            <p:cNvPr id="9" name="Oval 8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0" name="TextBox 9"/>
            <p:cNvSpPr txBox="1"/>
            <p:nvPr/>
          </p:nvSpPr>
          <p:spPr bwMode="auto">
            <a:xfrm>
              <a:off x="458809" y="221476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60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sp>
        <p:nvSpPr>
          <p:cNvPr id="1281974167" name="TextBox 10"/>
          <p:cNvSpPr txBox="1"/>
          <p:nvPr/>
        </p:nvSpPr>
        <p:spPr bwMode="auto">
          <a:xfrm>
            <a:off x="120699" y="2695388"/>
            <a:ext cx="922047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r>
              <a:rPr lang="en-IN"/>
              <a:t>Insert </a:t>
            </a:r>
            <a:r>
              <a:rPr lang="en-IN" b="1">
                <a:solidFill>
                  <a:srgbClr val="C00000"/>
                </a:solidFill>
              </a:rPr>
              <a:t>73</a:t>
            </a:r>
            <a:endParaRPr lang="en-US" b="1">
              <a:solidFill>
                <a:srgbClr val="C00000"/>
              </a:solidFill>
            </a:endParaRPr>
          </a:p>
        </p:txBody>
      </p:sp>
      <p:cxnSp>
        <p:nvCxnSpPr>
          <p:cNvPr id="573073960" name="Straight Connector 11"/>
          <p:cNvCxnSpPr/>
          <p:nvPr/>
        </p:nvCxnSpPr>
        <p:spPr bwMode="auto">
          <a:xfrm>
            <a:off x="143276" y="2695388"/>
            <a:ext cx="154657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702334780" name="Group 12"/>
          <p:cNvGrpSpPr/>
          <p:nvPr/>
        </p:nvGrpSpPr>
        <p:grpSpPr bwMode="auto">
          <a:xfrm>
            <a:off x="356750" y="3183433"/>
            <a:ext cx="418704" cy="374296"/>
            <a:chOff x="458809" y="2209800"/>
            <a:chExt cx="418704" cy="374296"/>
          </a:xfrm>
        </p:grpSpPr>
        <p:sp>
          <p:nvSpPr>
            <p:cNvPr id="14" name="Oval 13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458809" y="221476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60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376843964" name="Group 15"/>
          <p:cNvGrpSpPr/>
          <p:nvPr/>
        </p:nvGrpSpPr>
        <p:grpSpPr bwMode="auto">
          <a:xfrm>
            <a:off x="775454" y="3730233"/>
            <a:ext cx="418704" cy="374296"/>
            <a:chOff x="458809" y="2209800"/>
            <a:chExt cx="418704" cy="374296"/>
          </a:xfrm>
        </p:grpSpPr>
        <p:sp>
          <p:nvSpPr>
            <p:cNvPr id="17" name="Oval 16"/>
            <p:cNvSpPr/>
            <p:nvPr/>
          </p:nvSpPr>
          <p:spPr bwMode="auto">
            <a:xfrm>
              <a:off x="486299" y="22098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8" name="TextBox 17"/>
            <p:cNvSpPr txBox="1"/>
            <p:nvPr/>
          </p:nvSpPr>
          <p:spPr bwMode="auto">
            <a:xfrm>
              <a:off x="458809" y="221476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500204090" name="Straight Arrow Connector 21"/>
          <p:cNvCxnSpPr>
            <a:stCxn id="14" idx="5"/>
            <a:endCxn id="17" idx="0"/>
          </p:cNvCxnSpPr>
          <p:nvPr/>
        </p:nvCxnSpPr>
        <p:spPr bwMode="auto">
          <a:xfrm>
            <a:off x="688446" y="3487639"/>
            <a:ext cx="292698" cy="242594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81789889" name="TextBox 24"/>
          <p:cNvSpPr txBox="1"/>
          <p:nvPr/>
        </p:nvSpPr>
        <p:spPr bwMode="auto">
          <a:xfrm>
            <a:off x="541328" y="373271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2048075351" name="TextBox 25"/>
          <p:cNvSpPr txBox="1"/>
          <p:nvPr/>
        </p:nvSpPr>
        <p:spPr bwMode="auto">
          <a:xfrm>
            <a:off x="109750" y="318591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781037477" name="TextBox 26"/>
          <p:cNvSpPr txBox="1"/>
          <p:nvPr/>
        </p:nvSpPr>
        <p:spPr bwMode="auto">
          <a:xfrm>
            <a:off x="89655" y="4206553"/>
            <a:ext cx="922047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r>
              <a:rPr lang="en-IN"/>
              <a:t>Insert </a:t>
            </a:r>
            <a:r>
              <a:rPr lang="en-IN" b="1">
                <a:solidFill>
                  <a:srgbClr val="C00000"/>
                </a:solidFill>
              </a:rPr>
              <a:t>75</a:t>
            </a:r>
            <a:endParaRPr lang="en-US" b="1">
              <a:solidFill>
                <a:srgbClr val="C00000"/>
              </a:solidFill>
            </a:endParaRPr>
          </a:p>
        </p:txBody>
      </p:sp>
      <p:cxnSp>
        <p:nvCxnSpPr>
          <p:cNvPr id="2090226458" name="Straight Connector 27"/>
          <p:cNvCxnSpPr/>
          <p:nvPr/>
        </p:nvCxnSpPr>
        <p:spPr bwMode="auto">
          <a:xfrm>
            <a:off x="143276" y="4206553"/>
            <a:ext cx="154657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6634320" name="Straight Connector 29"/>
          <p:cNvCxnSpPr/>
          <p:nvPr/>
        </p:nvCxnSpPr>
        <p:spPr bwMode="auto">
          <a:xfrm>
            <a:off x="1679806" y="1570587"/>
            <a:ext cx="0" cy="26350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85701785" name="Oval 31"/>
          <p:cNvSpPr/>
          <p:nvPr/>
        </p:nvSpPr>
        <p:spPr bwMode="auto">
          <a:xfrm>
            <a:off x="269544" y="4701989"/>
            <a:ext cx="356400" cy="356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600" b="1"/>
          </a:p>
        </p:txBody>
      </p:sp>
      <p:sp>
        <p:nvSpPr>
          <p:cNvPr id="1466126628" name="TextBox 32"/>
          <p:cNvSpPr txBox="1"/>
          <p:nvPr/>
        </p:nvSpPr>
        <p:spPr bwMode="auto">
          <a:xfrm>
            <a:off x="242054" y="4673691"/>
            <a:ext cx="41870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chemeClr val="bg1"/>
                </a:solidFill>
              </a:rPr>
              <a:t>60</a:t>
            </a:r>
            <a:endParaRPr lang="en-US" b="1">
              <a:solidFill>
                <a:schemeClr val="bg1"/>
              </a:solidFill>
            </a:endParaRPr>
          </a:p>
        </p:txBody>
      </p:sp>
      <p:grpSp>
        <p:nvGrpSpPr>
          <p:cNvPr id="1565299212" name="Group 56"/>
          <p:cNvGrpSpPr/>
          <p:nvPr/>
        </p:nvGrpSpPr>
        <p:grpSpPr bwMode="auto">
          <a:xfrm>
            <a:off x="595708" y="5257684"/>
            <a:ext cx="440239" cy="369332"/>
            <a:chOff x="658453" y="5298082"/>
            <a:chExt cx="440239" cy="369332"/>
          </a:xfrm>
        </p:grpSpPr>
        <p:sp>
          <p:nvSpPr>
            <p:cNvPr id="35" name="Oval 34"/>
            <p:cNvSpPr/>
            <p:nvPr/>
          </p:nvSpPr>
          <p:spPr bwMode="auto">
            <a:xfrm>
              <a:off x="692742" y="5299608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36" name="TextBox 35"/>
            <p:cNvSpPr txBox="1"/>
            <p:nvPr/>
          </p:nvSpPr>
          <p:spPr bwMode="auto">
            <a:xfrm>
              <a:off x="658453" y="5298082"/>
              <a:ext cx="440239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888270220" name="Straight Arrow Connector 36"/>
          <p:cNvCxnSpPr>
            <a:stCxn id="1385701785" idx="5"/>
            <a:endCxn id="35" idx="0"/>
          </p:cNvCxnSpPr>
          <p:nvPr/>
        </p:nvCxnSpPr>
        <p:spPr bwMode="auto">
          <a:xfrm>
            <a:off x="573750" y="5006195"/>
            <a:ext cx="234447" cy="253015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433275442" name="Group 57"/>
          <p:cNvGrpSpPr/>
          <p:nvPr/>
        </p:nvGrpSpPr>
        <p:grpSpPr bwMode="auto">
          <a:xfrm>
            <a:off x="948248" y="5846620"/>
            <a:ext cx="418704" cy="374247"/>
            <a:chOff x="990600" y="5874104"/>
            <a:chExt cx="418704" cy="374247"/>
          </a:xfrm>
        </p:grpSpPr>
        <p:sp>
          <p:nvSpPr>
            <p:cNvPr id="39" name="Oval 38"/>
            <p:cNvSpPr/>
            <p:nvPr/>
          </p:nvSpPr>
          <p:spPr bwMode="auto">
            <a:xfrm>
              <a:off x="1018090" y="5874104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40" name="TextBox 39"/>
            <p:cNvSpPr txBox="1"/>
            <p:nvPr/>
          </p:nvSpPr>
          <p:spPr bwMode="auto">
            <a:xfrm>
              <a:off x="990600" y="5879019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75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18842969" name="Straight Arrow Connector 54"/>
          <p:cNvCxnSpPr>
            <a:stCxn id="35" idx="5"/>
            <a:endCxn id="39" idx="0"/>
          </p:cNvCxnSpPr>
          <p:nvPr/>
        </p:nvCxnSpPr>
        <p:spPr bwMode="auto">
          <a:xfrm>
            <a:off x="934203" y="5563416"/>
            <a:ext cx="219735" cy="283204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71009722" name="TextBox 58"/>
          <p:cNvSpPr txBox="1"/>
          <p:nvPr/>
        </p:nvSpPr>
        <p:spPr bwMode="auto">
          <a:xfrm>
            <a:off x="714668" y="584907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2045756961" name="TextBox 59"/>
          <p:cNvSpPr txBox="1"/>
          <p:nvPr/>
        </p:nvSpPr>
        <p:spPr bwMode="auto">
          <a:xfrm>
            <a:off x="366534" y="525768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365756911" name="TextBox 60"/>
          <p:cNvSpPr txBox="1"/>
          <p:nvPr/>
        </p:nvSpPr>
        <p:spPr bwMode="auto">
          <a:xfrm>
            <a:off x="591001" y="4673691"/>
            <a:ext cx="1412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b="1">
                <a:solidFill>
                  <a:srgbClr val="C00000"/>
                </a:solidFill>
              </a:rPr>
              <a:t>Critical Node</a:t>
            </a:r>
            <a:endParaRPr lang="en-US" b="1">
              <a:solidFill>
                <a:srgbClr val="C00000"/>
              </a:solidFill>
            </a:endParaRPr>
          </a:p>
        </p:txBody>
      </p:sp>
      <p:cxnSp>
        <p:nvCxnSpPr>
          <p:cNvPr id="1612543360" name="Straight Arrow Connector 61"/>
          <p:cNvCxnSpPr/>
          <p:nvPr/>
        </p:nvCxnSpPr>
        <p:spPr bwMode="auto">
          <a:xfrm>
            <a:off x="1397134" y="5387789"/>
            <a:ext cx="120712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756471" name="TextBox 62"/>
          <p:cNvSpPr txBox="1"/>
          <p:nvPr/>
        </p:nvSpPr>
        <p:spPr bwMode="auto">
          <a:xfrm>
            <a:off x="1372443" y="5124695"/>
            <a:ext cx="13075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1600"/>
              <a:t>Case 4</a:t>
            </a:r>
            <a:br>
              <a:rPr lang="en-IN" sz="1600"/>
            </a:br>
            <a:r>
              <a:rPr lang="en-IN" sz="1600"/>
              <a:t>Left Rotation </a:t>
            </a:r>
            <a:endParaRPr/>
          </a:p>
          <a:p>
            <a:pPr algn="ctr">
              <a:defRPr/>
            </a:pPr>
            <a:r>
              <a:rPr lang="en-IN" sz="1600"/>
              <a:t>of Node </a:t>
            </a:r>
            <a:r>
              <a:rPr lang="en-IN" sz="1600" b="1">
                <a:solidFill>
                  <a:srgbClr val="C00000"/>
                </a:solidFill>
              </a:rPr>
              <a:t>60</a:t>
            </a:r>
            <a:endParaRPr lang="en-US" sz="1600" b="1">
              <a:solidFill>
                <a:srgbClr val="C00000"/>
              </a:solidFill>
            </a:endParaRPr>
          </a:p>
        </p:txBody>
      </p:sp>
      <p:grpSp>
        <p:nvGrpSpPr>
          <p:cNvPr id="1675793874" name="Group 19"/>
          <p:cNvGrpSpPr/>
          <p:nvPr/>
        </p:nvGrpSpPr>
        <p:grpSpPr bwMode="auto">
          <a:xfrm>
            <a:off x="2922502" y="4867583"/>
            <a:ext cx="440239" cy="370698"/>
            <a:chOff x="2971800" y="5042394"/>
            <a:chExt cx="440239" cy="370698"/>
          </a:xfrm>
        </p:grpSpPr>
        <p:sp>
          <p:nvSpPr>
            <p:cNvPr id="42" name="Oval 41"/>
            <p:cNvSpPr/>
            <p:nvPr/>
          </p:nvSpPr>
          <p:spPr bwMode="auto">
            <a:xfrm>
              <a:off x="3006089" y="5042394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43" name="TextBox 42"/>
            <p:cNvSpPr txBox="1"/>
            <p:nvPr/>
          </p:nvSpPr>
          <p:spPr bwMode="auto">
            <a:xfrm>
              <a:off x="2971800" y="5043760"/>
              <a:ext cx="440239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297391804" name="Group 43"/>
          <p:cNvGrpSpPr/>
          <p:nvPr/>
        </p:nvGrpSpPr>
        <p:grpSpPr bwMode="auto">
          <a:xfrm>
            <a:off x="3261595" y="5475478"/>
            <a:ext cx="418704" cy="374247"/>
            <a:chOff x="990600" y="5874104"/>
            <a:chExt cx="418704" cy="374247"/>
          </a:xfrm>
        </p:grpSpPr>
        <p:sp>
          <p:nvSpPr>
            <p:cNvPr id="45" name="Oval 44"/>
            <p:cNvSpPr/>
            <p:nvPr/>
          </p:nvSpPr>
          <p:spPr bwMode="auto">
            <a:xfrm>
              <a:off x="1018090" y="5874104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46" name="TextBox 45"/>
            <p:cNvSpPr txBox="1"/>
            <p:nvPr/>
          </p:nvSpPr>
          <p:spPr bwMode="auto">
            <a:xfrm>
              <a:off x="990600" y="5879019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75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136784053" name="Straight Arrow Connector 46"/>
          <p:cNvCxnSpPr>
            <a:stCxn id="42" idx="5"/>
            <a:endCxn id="45" idx="0"/>
          </p:cNvCxnSpPr>
          <p:nvPr/>
        </p:nvCxnSpPr>
        <p:spPr bwMode="auto">
          <a:xfrm>
            <a:off x="3260997" y="5171789"/>
            <a:ext cx="206288" cy="303689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240566551" name="Group 20"/>
          <p:cNvGrpSpPr/>
          <p:nvPr/>
        </p:nvGrpSpPr>
        <p:grpSpPr bwMode="auto">
          <a:xfrm>
            <a:off x="2644512" y="5495365"/>
            <a:ext cx="440239" cy="369332"/>
            <a:chOff x="2760161" y="5574268"/>
            <a:chExt cx="440239" cy="369332"/>
          </a:xfrm>
        </p:grpSpPr>
        <p:sp>
          <p:nvSpPr>
            <p:cNvPr id="49" name="Oval 48"/>
            <p:cNvSpPr/>
            <p:nvPr/>
          </p:nvSpPr>
          <p:spPr bwMode="auto">
            <a:xfrm>
              <a:off x="2794450" y="5575793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50" name="TextBox 49"/>
            <p:cNvSpPr txBox="1"/>
            <p:nvPr/>
          </p:nvSpPr>
          <p:spPr bwMode="auto">
            <a:xfrm>
              <a:off x="2760161" y="5574268"/>
              <a:ext cx="440239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60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319589472" name="Straight Arrow Connector 18"/>
          <p:cNvCxnSpPr>
            <a:stCxn id="42" idx="3"/>
            <a:endCxn id="49" idx="0"/>
          </p:cNvCxnSpPr>
          <p:nvPr/>
        </p:nvCxnSpPr>
        <p:spPr bwMode="auto">
          <a:xfrm flipH="1">
            <a:off x="2857001" y="5171789"/>
            <a:ext cx="151984" cy="325102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62919577" name="TextBox 52"/>
          <p:cNvSpPr txBox="1"/>
          <p:nvPr/>
        </p:nvSpPr>
        <p:spPr bwMode="auto">
          <a:xfrm>
            <a:off x="2725088" y="581214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340644691" name="TextBox 53"/>
          <p:cNvSpPr txBox="1"/>
          <p:nvPr/>
        </p:nvSpPr>
        <p:spPr bwMode="auto">
          <a:xfrm>
            <a:off x="3289085" y="5799593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568066730" name="TextBox 55"/>
          <p:cNvSpPr txBox="1"/>
          <p:nvPr/>
        </p:nvSpPr>
        <p:spPr bwMode="auto">
          <a:xfrm>
            <a:off x="2968211" y="456125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383162035" name="Freeform 28"/>
          <p:cNvSpPr/>
          <p:nvPr/>
        </p:nvSpPr>
        <p:spPr bwMode="auto">
          <a:xfrm>
            <a:off x="1677385" y="4205670"/>
            <a:ext cx="2205644" cy="2006138"/>
          </a:xfrm>
          <a:custGeom>
            <a:avLst/>
            <a:gdLst>
              <a:gd name="connsiteX0" fmla="*/ 0 w 2205644"/>
              <a:gd name="connsiteY0" fmla="*/ 0 h 2006138"/>
              <a:gd name="connsiteX1" fmla="*/ 2205644 w 2205644"/>
              <a:gd name="connsiteY1" fmla="*/ 0 h 2006138"/>
              <a:gd name="connsiteX2" fmla="*/ 2205644 w 2205644"/>
              <a:gd name="connsiteY2" fmla="*/ 2006138 h 200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05644" h="2006138" fill="norm" stroke="1" extrusionOk="0">
                <a:moveTo>
                  <a:pt x="0" y="0"/>
                </a:moveTo>
                <a:lnTo>
                  <a:pt x="2205644" y="0"/>
                </a:lnTo>
                <a:lnTo>
                  <a:pt x="2205644" y="2006138"/>
                </a:ln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800873314" name="Group 89"/>
          <p:cNvGrpSpPr/>
          <p:nvPr/>
        </p:nvGrpSpPr>
        <p:grpSpPr bwMode="auto">
          <a:xfrm>
            <a:off x="2182998" y="2140932"/>
            <a:ext cx="440239" cy="370698"/>
            <a:chOff x="2971800" y="5042394"/>
            <a:chExt cx="440239" cy="370698"/>
          </a:xfrm>
        </p:grpSpPr>
        <p:sp>
          <p:nvSpPr>
            <p:cNvPr id="91" name="Oval 90"/>
            <p:cNvSpPr/>
            <p:nvPr/>
          </p:nvSpPr>
          <p:spPr bwMode="auto">
            <a:xfrm>
              <a:off x="3006089" y="5042394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92" name="TextBox 91"/>
            <p:cNvSpPr txBox="1"/>
            <p:nvPr/>
          </p:nvSpPr>
          <p:spPr bwMode="auto">
            <a:xfrm>
              <a:off x="2971800" y="5043760"/>
              <a:ext cx="440239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548612843" name="Group 51"/>
          <p:cNvGrpSpPr/>
          <p:nvPr/>
        </p:nvGrpSpPr>
        <p:grpSpPr bwMode="auto">
          <a:xfrm>
            <a:off x="2535538" y="2691385"/>
            <a:ext cx="418704" cy="369332"/>
            <a:chOff x="2598284" y="2678668"/>
            <a:chExt cx="418704" cy="369332"/>
          </a:xfrm>
        </p:grpSpPr>
        <p:sp>
          <p:nvSpPr>
            <p:cNvPr id="94" name="Oval 93"/>
            <p:cNvSpPr/>
            <p:nvPr/>
          </p:nvSpPr>
          <p:spPr bwMode="auto">
            <a:xfrm>
              <a:off x="2625774" y="2686661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95" name="TextBox 94"/>
            <p:cNvSpPr txBox="1"/>
            <p:nvPr/>
          </p:nvSpPr>
          <p:spPr bwMode="auto">
            <a:xfrm>
              <a:off x="2598284" y="267866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75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548818157" name="Straight Arrow Connector 95"/>
          <p:cNvCxnSpPr>
            <a:stCxn id="91" idx="5"/>
            <a:endCxn id="94" idx="0"/>
          </p:cNvCxnSpPr>
          <p:nvPr/>
        </p:nvCxnSpPr>
        <p:spPr bwMode="auto">
          <a:xfrm>
            <a:off x="2521493" y="2445138"/>
            <a:ext cx="219735" cy="254241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758267324" name="Group 96"/>
          <p:cNvGrpSpPr/>
          <p:nvPr/>
        </p:nvGrpSpPr>
        <p:grpSpPr bwMode="auto">
          <a:xfrm>
            <a:off x="1918455" y="2691385"/>
            <a:ext cx="440239" cy="369332"/>
            <a:chOff x="2760161" y="5574268"/>
            <a:chExt cx="440239" cy="369332"/>
          </a:xfrm>
        </p:grpSpPr>
        <p:sp>
          <p:nvSpPr>
            <p:cNvPr id="98" name="Oval 97"/>
            <p:cNvSpPr/>
            <p:nvPr/>
          </p:nvSpPr>
          <p:spPr bwMode="auto">
            <a:xfrm>
              <a:off x="2794450" y="5575793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99" name="TextBox 98"/>
            <p:cNvSpPr txBox="1"/>
            <p:nvPr/>
          </p:nvSpPr>
          <p:spPr bwMode="auto">
            <a:xfrm>
              <a:off x="2760161" y="5574268"/>
              <a:ext cx="440239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60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744438760" name="Straight Arrow Connector 99"/>
          <p:cNvCxnSpPr>
            <a:stCxn id="91" idx="3"/>
            <a:endCxn id="98" idx="0"/>
          </p:cNvCxnSpPr>
          <p:nvPr/>
        </p:nvCxnSpPr>
        <p:spPr bwMode="auto">
          <a:xfrm flipH="1">
            <a:off x="2130944" y="2445138"/>
            <a:ext cx="138537" cy="247773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4200238" name="TextBox 103"/>
          <p:cNvSpPr txBox="1"/>
          <p:nvPr/>
        </p:nvSpPr>
        <p:spPr bwMode="auto">
          <a:xfrm>
            <a:off x="1682207" y="1577789"/>
            <a:ext cx="131333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r>
              <a:rPr lang="en-IN"/>
              <a:t>Insert </a:t>
            </a:r>
            <a:r>
              <a:rPr lang="en-IN" b="1">
                <a:solidFill>
                  <a:srgbClr val="C00000"/>
                </a:solidFill>
              </a:rPr>
              <a:t>76</a:t>
            </a:r>
            <a:endParaRPr lang="en-US" b="1">
              <a:solidFill>
                <a:srgbClr val="C00000"/>
              </a:solidFill>
            </a:endParaRPr>
          </a:p>
        </p:txBody>
      </p:sp>
      <p:grpSp>
        <p:nvGrpSpPr>
          <p:cNvPr id="63161580" name="Group 107"/>
          <p:cNvGrpSpPr/>
          <p:nvPr/>
        </p:nvGrpSpPr>
        <p:grpSpPr bwMode="auto">
          <a:xfrm>
            <a:off x="2871350" y="3220932"/>
            <a:ext cx="418704" cy="381000"/>
            <a:chOff x="2895600" y="3124200"/>
            <a:chExt cx="418704" cy="381000"/>
          </a:xfrm>
        </p:grpSpPr>
        <p:sp>
          <p:nvSpPr>
            <p:cNvPr id="106" name="Oval 105"/>
            <p:cNvSpPr/>
            <p:nvPr/>
          </p:nvSpPr>
          <p:spPr bwMode="auto">
            <a:xfrm>
              <a:off x="2923090" y="31242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07" name="TextBox 106"/>
            <p:cNvSpPr txBox="1"/>
            <p:nvPr/>
          </p:nvSpPr>
          <p:spPr bwMode="auto">
            <a:xfrm>
              <a:off x="2895600" y="313586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76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064174860" name="Straight Arrow Connector 50"/>
          <p:cNvCxnSpPr>
            <a:stCxn id="94" idx="5"/>
            <a:endCxn id="106" idx="0"/>
          </p:cNvCxnSpPr>
          <p:nvPr/>
        </p:nvCxnSpPr>
        <p:spPr bwMode="auto">
          <a:xfrm>
            <a:off x="2867234" y="3003585"/>
            <a:ext cx="209806" cy="217347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96279425" name="TextBox 108"/>
          <p:cNvSpPr txBox="1"/>
          <p:nvPr/>
        </p:nvSpPr>
        <p:spPr bwMode="auto">
          <a:xfrm>
            <a:off x="2627863" y="322676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174706079" name="TextBox 109"/>
          <p:cNvSpPr txBox="1"/>
          <p:nvPr/>
        </p:nvSpPr>
        <p:spPr bwMode="auto">
          <a:xfrm>
            <a:off x="2869152" y="269138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1766333249" name="TextBox 110"/>
          <p:cNvSpPr txBox="1"/>
          <p:nvPr/>
        </p:nvSpPr>
        <p:spPr bwMode="auto">
          <a:xfrm>
            <a:off x="1707066" y="269138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542054063" name="TextBox 111"/>
          <p:cNvSpPr txBox="1"/>
          <p:nvPr/>
        </p:nvSpPr>
        <p:spPr bwMode="auto">
          <a:xfrm>
            <a:off x="1955387" y="214161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555377443" name="TextBox 112"/>
          <p:cNvSpPr txBox="1"/>
          <p:nvPr/>
        </p:nvSpPr>
        <p:spPr bwMode="auto">
          <a:xfrm>
            <a:off x="2458204" y="1575784"/>
            <a:ext cx="4459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 b="1"/>
              <a:t>,</a:t>
            </a:r>
            <a:r>
              <a:rPr lang="en-US" sz="1600" b="1">
                <a:solidFill>
                  <a:srgbClr val="C00000"/>
                </a:solidFill>
              </a:rPr>
              <a:t>79</a:t>
            </a:r>
            <a:endParaRPr/>
          </a:p>
        </p:txBody>
      </p:sp>
      <p:grpSp>
        <p:nvGrpSpPr>
          <p:cNvPr id="592815020" name="Group 120"/>
          <p:cNvGrpSpPr/>
          <p:nvPr/>
        </p:nvGrpSpPr>
        <p:grpSpPr bwMode="auto">
          <a:xfrm>
            <a:off x="3174281" y="3726245"/>
            <a:ext cx="418704" cy="369462"/>
            <a:chOff x="3237027" y="3562348"/>
            <a:chExt cx="418704" cy="369462"/>
          </a:xfrm>
        </p:grpSpPr>
        <p:sp>
          <p:nvSpPr>
            <p:cNvPr id="115" name="Oval 114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16" name="TextBox 115"/>
            <p:cNvSpPr txBox="1"/>
            <p:nvPr/>
          </p:nvSpPr>
          <p:spPr bwMode="auto">
            <a:xfrm>
              <a:off x="3237027" y="356234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79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000248674" name="Straight Arrow Connector 117"/>
          <p:cNvCxnSpPr>
            <a:stCxn id="106" idx="5"/>
            <a:endCxn id="115" idx="0"/>
          </p:cNvCxnSpPr>
          <p:nvPr/>
        </p:nvCxnSpPr>
        <p:spPr bwMode="auto">
          <a:xfrm>
            <a:off x="3203046" y="3525138"/>
            <a:ext cx="176925" cy="214169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57386891" name="TextBox 121"/>
          <p:cNvSpPr txBox="1"/>
          <p:nvPr/>
        </p:nvSpPr>
        <p:spPr bwMode="auto">
          <a:xfrm>
            <a:off x="3510968" y="3726310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B’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060382187" name="TextBox 122"/>
          <p:cNvSpPr txBox="1"/>
          <p:nvPr/>
        </p:nvSpPr>
        <p:spPr bwMode="auto">
          <a:xfrm>
            <a:off x="3194802" y="3226766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R’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150241305" name="TextBox 123"/>
          <p:cNvSpPr txBox="1"/>
          <p:nvPr/>
        </p:nvSpPr>
        <p:spPr bwMode="auto">
          <a:xfrm>
            <a:off x="3048706" y="2691385"/>
            <a:ext cx="845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b="1">
                <a:solidFill>
                  <a:srgbClr val="C00000"/>
                </a:solidFill>
              </a:rPr>
              <a:t>Critical</a:t>
            </a:r>
            <a:endParaRPr lang="en-US" b="1">
              <a:solidFill>
                <a:srgbClr val="C00000"/>
              </a:solidFill>
            </a:endParaRPr>
          </a:p>
        </p:txBody>
      </p:sp>
      <p:cxnSp>
        <p:nvCxnSpPr>
          <p:cNvPr id="265012400" name="Straight Arrow Connector 124"/>
          <p:cNvCxnSpPr/>
          <p:nvPr/>
        </p:nvCxnSpPr>
        <p:spPr bwMode="auto">
          <a:xfrm>
            <a:off x="3817604" y="2550462"/>
            <a:ext cx="1260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393329" name="TextBox 125"/>
          <p:cNvSpPr txBox="1"/>
          <p:nvPr/>
        </p:nvSpPr>
        <p:spPr bwMode="auto">
          <a:xfrm>
            <a:off x="3815086" y="2270793"/>
            <a:ext cx="13075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1600"/>
              <a:t>Case 4</a:t>
            </a:r>
            <a:br>
              <a:rPr lang="en-IN" sz="1600"/>
            </a:br>
            <a:r>
              <a:rPr lang="en-IN" sz="1600"/>
              <a:t>Left Rotation </a:t>
            </a:r>
            <a:endParaRPr/>
          </a:p>
          <a:p>
            <a:pPr algn="ctr">
              <a:defRPr/>
            </a:pPr>
            <a:r>
              <a:rPr lang="en-IN" sz="1600"/>
              <a:t>of Node </a:t>
            </a:r>
            <a:r>
              <a:rPr lang="en-IN" sz="1600" b="1">
                <a:solidFill>
                  <a:srgbClr val="C00000"/>
                </a:solidFill>
              </a:rPr>
              <a:t>75</a:t>
            </a:r>
            <a:endParaRPr lang="en-US" sz="1600" b="1">
              <a:solidFill>
                <a:srgbClr val="C00000"/>
              </a:solidFill>
            </a:endParaRPr>
          </a:p>
        </p:txBody>
      </p:sp>
      <p:grpSp>
        <p:nvGrpSpPr>
          <p:cNvPr id="2136045720" name="Group 140"/>
          <p:cNvGrpSpPr/>
          <p:nvPr/>
        </p:nvGrpSpPr>
        <p:grpSpPr bwMode="auto">
          <a:xfrm>
            <a:off x="5471624" y="2137146"/>
            <a:ext cx="440239" cy="369332"/>
            <a:chOff x="2971800" y="5035837"/>
            <a:chExt cx="440239" cy="369332"/>
          </a:xfrm>
        </p:grpSpPr>
        <p:sp>
          <p:nvSpPr>
            <p:cNvPr id="142" name="Oval 141"/>
            <p:cNvSpPr/>
            <p:nvPr/>
          </p:nvSpPr>
          <p:spPr bwMode="auto">
            <a:xfrm>
              <a:off x="3006089" y="5042394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43" name="TextBox 142"/>
            <p:cNvSpPr txBox="1"/>
            <p:nvPr/>
          </p:nvSpPr>
          <p:spPr bwMode="auto">
            <a:xfrm>
              <a:off x="2971800" y="5035837"/>
              <a:ext cx="440239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921790540" name="Straight Arrow Connector 146"/>
          <p:cNvCxnSpPr>
            <a:stCxn id="142" idx="5"/>
            <a:endCxn id="153" idx="0"/>
          </p:cNvCxnSpPr>
          <p:nvPr/>
        </p:nvCxnSpPr>
        <p:spPr bwMode="auto">
          <a:xfrm>
            <a:off x="5810119" y="2447909"/>
            <a:ext cx="228183" cy="242409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646461628" name="Group 147"/>
          <p:cNvGrpSpPr/>
          <p:nvPr/>
        </p:nvGrpSpPr>
        <p:grpSpPr bwMode="auto">
          <a:xfrm>
            <a:off x="5112952" y="2691385"/>
            <a:ext cx="440239" cy="369332"/>
            <a:chOff x="2760161" y="5574268"/>
            <a:chExt cx="440239" cy="369332"/>
          </a:xfrm>
        </p:grpSpPr>
        <p:sp>
          <p:nvSpPr>
            <p:cNvPr id="149" name="Oval 148"/>
            <p:cNvSpPr/>
            <p:nvPr/>
          </p:nvSpPr>
          <p:spPr bwMode="auto">
            <a:xfrm>
              <a:off x="2794450" y="5575793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50" name="TextBox 149"/>
            <p:cNvSpPr txBox="1"/>
            <p:nvPr/>
          </p:nvSpPr>
          <p:spPr bwMode="auto">
            <a:xfrm>
              <a:off x="2760161" y="5574268"/>
              <a:ext cx="440239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60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347425455" name="Straight Arrow Connector 150"/>
          <p:cNvCxnSpPr>
            <a:stCxn id="142" idx="3"/>
            <a:endCxn id="149" idx="0"/>
          </p:cNvCxnSpPr>
          <p:nvPr/>
        </p:nvCxnSpPr>
        <p:spPr bwMode="auto">
          <a:xfrm flipH="1">
            <a:off x="5325441" y="2447909"/>
            <a:ext cx="232666" cy="245002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682255660" name="Group 151"/>
          <p:cNvGrpSpPr/>
          <p:nvPr/>
        </p:nvGrpSpPr>
        <p:grpSpPr bwMode="auto">
          <a:xfrm>
            <a:off x="5832612" y="2690318"/>
            <a:ext cx="418704" cy="371466"/>
            <a:chOff x="2895600" y="3124200"/>
            <a:chExt cx="418704" cy="371466"/>
          </a:xfrm>
        </p:grpSpPr>
        <p:sp>
          <p:nvSpPr>
            <p:cNvPr id="153" name="Oval 152"/>
            <p:cNvSpPr/>
            <p:nvPr/>
          </p:nvSpPr>
          <p:spPr bwMode="auto">
            <a:xfrm>
              <a:off x="2923090" y="31242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54" name="TextBox 153"/>
            <p:cNvSpPr txBox="1"/>
            <p:nvPr/>
          </p:nvSpPr>
          <p:spPr bwMode="auto">
            <a:xfrm>
              <a:off x="2895600" y="312633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76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74743606" name="Group 158"/>
          <p:cNvGrpSpPr/>
          <p:nvPr/>
        </p:nvGrpSpPr>
        <p:grpSpPr bwMode="auto">
          <a:xfrm>
            <a:off x="6202778" y="3226701"/>
            <a:ext cx="418704" cy="369462"/>
            <a:chOff x="3237027" y="3562348"/>
            <a:chExt cx="418704" cy="369462"/>
          </a:xfrm>
        </p:grpSpPr>
        <p:sp>
          <p:nvSpPr>
            <p:cNvPr id="160" name="Oval 159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61" name="TextBox 160"/>
            <p:cNvSpPr txBox="1"/>
            <p:nvPr/>
          </p:nvSpPr>
          <p:spPr bwMode="auto">
            <a:xfrm>
              <a:off x="3237027" y="356234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79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162433357" name="Straight Arrow Connector 161"/>
          <p:cNvCxnSpPr>
            <a:stCxn id="153" idx="5"/>
            <a:endCxn id="160" idx="0"/>
          </p:cNvCxnSpPr>
          <p:nvPr/>
        </p:nvCxnSpPr>
        <p:spPr bwMode="auto">
          <a:xfrm>
            <a:off x="6164308" y="2994524"/>
            <a:ext cx="244160" cy="245239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785162201" name="Group 165"/>
          <p:cNvGrpSpPr/>
          <p:nvPr/>
        </p:nvGrpSpPr>
        <p:grpSpPr bwMode="auto">
          <a:xfrm>
            <a:off x="5493105" y="3226766"/>
            <a:ext cx="418704" cy="369332"/>
            <a:chOff x="2598284" y="2684061"/>
            <a:chExt cx="418704" cy="369332"/>
          </a:xfrm>
        </p:grpSpPr>
        <p:sp>
          <p:nvSpPr>
            <p:cNvPr id="167" name="Oval 166"/>
            <p:cNvSpPr/>
            <p:nvPr/>
          </p:nvSpPr>
          <p:spPr bwMode="auto">
            <a:xfrm>
              <a:off x="2625774" y="2686661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68" name="TextBox 167"/>
            <p:cNvSpPr txBox="1"/>
            <p:nvPr/>
          </p:nvSpPr>
          <p:spPr bwMode="auto">
            <a:xfrm>
              <a:off x="2598284" y="2684061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75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76132765" name="Straight Arrow Connector 169"/>
          <p:cNvCxnSpPr>
            <a:stCxn id="153" idx="3"/>
            <a:endCxn id="167" idx="0"/>
          </p:cNvCxnSpPr>
          <p:nvPr/>
        </p:nvCxnSpPr>
        <p:spPr bwMode="auto">
          <a:xfrm flipH="1">
            <a:off x="5698795" y="2994524"/>
            <a:ext cx="213501" cy="234843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85154105" name="TextBox 172"/>
          <p:cNvSpPr txBox="1"/>
          <p:nvPr/>
        </p:nvSpPr>
        <p:spPr bwMode="auto">
          <a:xfrm>
            <a:off x="5270946" y="322676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910668487" name="TextBox 173"/>
          <p:cNvSpPr txBox="1"/>
          <p:nvPr/>
        </p:nvSpPr>
        <p:spPr bwMode="auto">
          <a:xfrm>
            <a:off x="5950253" y="322676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481976620" name="TextBox 174"/>
          <p:cNvSpPr txBox="1"/>
          <p:nvPr/>
        </p:nvSpPr>
        <p:spPr bwMode="auto">
          <a:xfrm>
            <a:off x="5619847" y="269138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197404132" name="TextBox 175"/>
          <p:cNvSpPr txBox="1"/>
          <p:nvPr/>
        </p:nvSpPr>
        <p:spPr bwMode="auto">
          <a:xfrm>
            <a:off x="4898243" y="269138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281383964" name="TextBox 176"/>
          <p:cNvSpPr txBox="1"/>
          <p:nvPr/>
        </p:nvSpPr>
        <p:spPr bwMode="auto">
          <a:xfrm>
            <a:off x="5221973" y="209150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1953462448" name="Freeform 177"/>
          <p:cNvSpPr/>
          <p:nvPr/>
        </p:nvSpPr>
        <p:spPr bwMode="auto">
          <a:xfrm>
            <a:off x="3884566" y="1584979"/>
            <a:ext cx="2834489" cy="2622886"/>
          </a:xfrm>
          <a:custGeom>
            <a:avLst/>
            <a:gdLst>
              <a:gd name="connsiteX0" fmla="*/ 0 w 3005750"/>
              <a:gd name="connsiteY0" fmla="*/ 2706986 h 2706986"/>
              <a:gd name="connsiteX1" fmla="*/ 3005750 w 3005750"/>
              <a:gd name="connsiteY1" fmla="*/ 2706986 h 2706986"/>
              <a:gd name="connsiteX2" fmla="*/ 3005750 w 3005750"/>
              <a:gd name="connsiteY2" fmla="*/ 0 h 2706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05750" h="2706986" fill="norm" stroke="1" extrusionOk="0">
                <a:moveTo>
                  <a:pt x="0" y="2706986"/>
                </a:moveTo>
                <a:lnTo>
                  <a:pt x="3005750" y="2706986"/>
                </a:lnTo>
                <a:lnTo>
                  <a:pt x="3005750" y="0"/>
                </a:ln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63967718" name="TextBox 178"/>
          <p:cNvSpPr txBox="1"/>
          <p:nvPr/>
        </p:nvSpPr>
        <p:spPr bwMode="auto">
          <a:xfrm>
            <a:off x="3881735" y="4213403"/>
            <a:ext cx="980405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>
              <a:defRPr/>
            </a:pPr>
            <a:r>
              <a:rPr lang="en-IN"/>
              <a:t>Insert </a:t>
            </a:r>
            <a:r>
              <a:rPr lang="en-IN" b="1">
                <a:solidFill>
                  <a:srgbClr val="C00000"/>
                </a:solidFill>
              </a:rPr>
              <a:t>81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181429196" name="Oval 180"/>
          <p:cNvSpPr/>
          <p:nvPr/>
        </p:nvSpPr>
        <p:spPr bwMode="auto">
          <a:xfrm>
            <a:off x="4540195" y="4636891"/>
            <a:ext cx="356400" cy="356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600" b="1"/>
          </a:p>
        </p:txBody>
      </p:sp>
      <p:sp>
        <p:nvSpPr>
          <p:cNvPr id="143614681" name="TextBox 181"/>
          <p:cNvSpPr txBox="1"/>
          <p:nvPr/>
        </p:nvSpPr>
        <p:spPr bwMode="auto">
          <a:xfrm>
            <a:off x="4514453" y="4610364"/>
            <a:ext cx="44023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chemeClr val="bg1"/>
                </a:solidFill>
              </a:rPr>
              <a:t>73</a:t>
            </a:r>
            <a:endParaRPr lang="en-US" b="1">
              <a:solidFill>
                <a:schemeClr val="bg1"/>
              </a:solidFill>
            </a:endParaRPr>
          </a:p>
        </p:txBody>
      </p:sp>
      <p:cxnSp>
        <p:nvCxnSpPr>
          <p:cNvPr id="2054538346" name="Straight Arrow Connector 182"/>
          <p:cNvCxnSpPr>
            <a:stCxn id="1181429196" idx="5"/>
            <a:endCxn id="189" idx="0"/>
          </p:cNvCxnSpPr>
          <p:nvPr/>
        </p:nvCxnSpPr>
        <p:spPr bwMode="auto">
          <a:xfrm>
            <a:off x="4844401" y="4941097"/>
            <a:ext cx="330390" cy="245057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324504842" name="Group 183"/>
          <p:cNvGrpSpPr/>
          <p:nvPr/>
        </p:nvGrpSpPr>
        <p:grpSpPr bwMode="auto">
          <a:xfrm>
            <a:off x="4147235" y="5187221"/>
            <a:ext cx="440239" cy="369332"/>
            <a:chOff x="2760161" y="5574268"/>
            <a:chExt cx="440239" cy="369332"/>
          </a:xfrm>
        </p:grpSpPr>
        <p:sp>
          <p:nvSpPr>
            <p:cNvPr id="185" name="Oval 184"/>
            <p:cNvSpPr/>
            <p:nvPr/>
          </p:nvSpPr>
          <p:spPr bwMode="auto">
            <a:xfrm>
              <a:off x="2794450" y="5575793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86" name="TextBox 185"/>
            <p:cNvSpPr txBox="1"/>
            <p:nvPr/>
          </p:nvSpPr>
          <p:spPr bwMode="auto">
            <a:xfrm>
              <a:off x="2760161" y="5574268"/>
              <a:ext cx="440239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60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641647392" name="Straight Arrow Connector 186"/>
          <p:cNvCxnSpPr>
            <a:stCxn id="1181429196" idx="3"/>
            <a:endCxn id="185" idx="0"/>
          </p:cNvCxnSpPr>
          <p:nvPr/>
        </p:nvCxnSpPr>
        <p:spPr bwMode="auto">
          <a:xfrm flipH="1">
            <a:off x="4359724" y="4941097"/>
            <a:ext cx="232665" cy="24765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88361214" name="Group 187"/>
          <p:cNvGrpSpPr/>
          <p:nvPr/>
        </p:nvGrpSpPr>
        <p:grpSpPr bwMode="auto">
          <a:xfrm>
            <a:off x="4969101" y="5186154"/>
            <a:ext cx="418704" cy="371466"/>
            <a:chOff x="2895600" y="3124200"/>
            <a:chExt cx="418704" cy="371466"/>
          </a:xfrm>
        </p:grpSpPr>
        <p:sp>
          <p:nvSpPr>
            <p:cNvPr id="189" name="Oval 188"/>
            <p:cNvSpPr/>
            <p:nvPr/>
          </p:nvSpPr>
          <p:spPr bwMode="auto">
            <a:xfrm>
              <a:off x="2923090" y="31242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90" name="TextBox 189"/>
            <p:cNvSpPr txBox="1"/>
            <p:nvPr/>
          </p:nvSpPr>
          <p:spPr bwMode="auto">
            <a:xfrm>
              <a:off x="2895600" y="312633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76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95818007" name="Group 190"/>
          <p:cNvGrpSpPr/>
          <p:nvPr/>
        </p:nvGrpSpPr>
        <p:grpSpPr bwMode="auto">
          <a:xfrm>
            <a:off x="5426301" y="5732953"/>
            <a:ext cx="418704" cy="369332"/>
            <a:chOff x="3237027" y="3573007"/>
            <a:chExt cx="418704" cy="369332"/>
          </a:xfrm>
        </p:grpSpPr>
        <p:sp>
          <p:nvSpPr>
            <p:cNvPr id="192" name="Oval 191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93" name="TextBox 192"/>
            <p:cNvSpPr txBox="1"/>
            <p:nvPr/>
          </p:nvSpPr>
          <p:spPr bwMode="auto">
            <a:xfrm>
              <a:off x="3237027" y="3573007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79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555130554" name="Straight Arrow Connector 193"/>
          <p:cNvCxnSpPr>
            <a:stCxn id="189" idx="5"/>
            <a:endCxn id="192" idx="0"/>
          </p:cNvCxnSpPr>
          <p:nvPr/>
        </p:nvCxnSpPr>
        <p:spPr bwMode="auto">
          <a:xfrm>
            <a:off x="5300797" y="5490360"/>
            <a:ext cx="331194" cy="24499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807481901" name="Group 194"/>
          <p:cNvGrpSpPr/>
          <p:nvPr/>
        </p:nvGrpSpPr>
        <p:grpSpPr bwMode="auto">
          <a:xfrm>
            <a:off x="4549605" y="5732953"/>
            <a:ext cx="418704" cy="369332"/>
            <a:chOff x="2598284" y="2684061"/>
            <a:chExt cx="418704" cy="369332"/>
          </a:xfrm>
        </p:grpSpPr>
        <p:sp>
          <p:nvSpPr>
            <p:cNvPr id="196" name="Oval 195"/>
            <p:cNvSpPr/>
            <p:nvPr/>
          </p:nvSpPr>
          <p:spPr bwMode="auto">
            <a:xfrm>
              <a:off x="2625774" y="2686661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97" name="TextBox 196"/>
            <p:cNvSpPr txBox="1"/>
            <p:nvPr/>
          </p:nvSpPr>
          <p:spPr bwMode="auto">
            <a:xfrm>
              <a:off x="2598284" y="2684061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75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823352898" name="Straight Arrow Connector 197"/>
          <p:cNvCxnSpPr>
            <a:stCxn id="189" idx="3"/>
            <a:endCxn id="196" idx="0"/>
          </p:cNvCxnSpPr>
          <p:nvPr/>
        </p:nvCxnSpPr>
        <p:spPr bwMode="auto">
          <a:xfrm flipH="1">
            <a:off x="4755295" y="5490360"/>
            <a:ext cx="293490" cy="245193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703540417" name="Group 202"/>
          <p:cNvGrpSpPr/>
          <p:nvPr/>
        </p:nvGrpSpPr>
        <p:grpSpPr bwMode="auto">
          <a:xfrm>
            <a:off x="5731101" y="6177564"/>
            <a:ext cx="418704" cy="370792"/>
            <a:chOff x="3245695" y="3561017"/>
            <a:chExt cx="418704" cy="370792"/>
          </a:xfrm>
        </p:grpSpPr>
        <p:sp>
          <p:nvSpPr>
            <p:cNvPr id="204" name="Oval 203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05" name="TextBox 204"/>
            <p:cNvSpPr txBox="1"/>
            <p:nvPr/>
          </p:nvSpPr>
          <p:spPr bwMode="auto">
            <a:xfrm>
              <a:off x="3245695" y="3561017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81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698581095" name="Straight Arrow Connector 206"/>
          <p:cNvCxnSpPr>
            <a:stCxn id="192" idx="5"/>
            <a:endCxn id="204" idx="0"/>
          </p:cNvCxnSpPr>
          <p:nvPr/>
        </p:nvCxnSpPr>
        <p:spPr bwMode="auto">
          <a:xfrm>
            <a:off x="5757997" y="6039562"/>
            <a:ext cx="170126" cy="152394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07531227" name="TextBox 207"/>
          <p:cNvSpPr txBox="1"/>
          <p:nvPr/>
        </p:nvSpPr>
        <p:spPr bwMode="auto">
          <a:xfrm>
            <a:off x="5464005" y="617701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32833449" name="TextBox 208"/>
          <p:cNvSpPr txBox="1"/>
          <p:nvPr/>
        </p:nvSpPr>
        <p:spPr bwMode="auto">
          <a:xfrm>
            <a:off x="5149495" y="5732953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2117846328" name="TextBox 209"/>
          <p:cNvSpPr txBox="1"/>
          <p:nvPr/>
        </p:nvSpPr>
        <p:spPr bwMode="auto">
          <a:xfrm>
            <a:off x="4305089" y="5732953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800823165" name="TextBox 210"/>
          <p:cNvSpPr txBox="1"/>
          <p:nvPr/>
        </p:nvSpPr>
        <p:spPr bwMode="auto">
          <a:xfrm>
            <a:off x="5311605" y="518722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1036460325" name="TextBox 211"/>
          <p:cNvSpPr txBox="1"/>
          <p:nvPr/>
        </p:nvSpPr>
        <p:spPr bwMode="auto">
          <a:xfrm>
            <a:off x="3917399" y="518722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90027654" name="TextBox 212"/>
          <p:cNvSpPr txBox="1"/>
          <p:nvPr/>
        </p:nvSpPr>
        <p:spPr bwMode="auto">
          <a:xfrm>
            <a:off x="4889383" y="4610364"/>
            <a:ext cx="1412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Critical Node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376937787" name="TextBox 215"/>
          <p:cNvSpPr txBox="1"/>
          <p:nvPr/>
        </p:nvSpPr>
        <p:spPr bwMode="auto">
          <a:xfrm>
            <a:off x="6159049" y="5124695"/>
            <a:ext cx="13075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1600"/>
              <a:t>Case 4</a:t>
            </a:r>
            <a:br>
              <a:rPr lang="en-IN" sz="1600"/>
            </a:br>
            <a:r>
              <a:rPr lang="en-IN" sz="1600"/>
              <a:t>Left Rotation </a:t>
            </a:r>
            <a:endParaRPr/>
          </a:p>
          <a:p>
            <a:pPr algn="ctr">
              <a:defRPr/>
            </a:pPr>
            <a:r>
              <a:rPr lang="en-IN" sz="1600"/>
              <a:t>of Node </a:t>
            </a:r>
            <a:r>
              <a:rPr lang="en-IN" sz="1600" b="1">
                <a:solidFill>
                  <a:srgbClr val="C00000"/>
                </a:solidFill>
              </a:rPr>
              <a:t>73</a:t>
            </a:r>
            <a:endParaRPr lang="en-US" sz="1600" b="1">
              <a:solidFill>
                <a:srgbClr val="C00000"/>
              </a:solidFill>
            </a:endParaRPr>
          </a:p>
        </p:txBody>
      </p:sp>
      <p:grpSp>
        <p:nvGrpSpPr>
          <p:cNvPr id="459855401" name="Group 216"/>
          <p:cNvGrpSpPr/>
          <p:nvPr/>
        </p:nvGrpSpPr>
        <p:grpSpPr bwMode="auto">
          <a:xfrm>
            <a:off x="6580298" y="5973490"/>
            <a:ext cx="418704" cy="369332"/>
            <a:chOff x="2598284" y="2684061"/>
            <a:chExt cx="418704" cy="369332"/>
          </a:xfrm>
        </p:grpSpPr>
        <p:sp>
          <p:nvSpPr>
            <p:cNvPr id="218" name="Oval 217"/>
            <p:cNvSpPr/>
            <p:nvPr/>
          </p:nvSpPr>
          <p:spPr bwMode="auto">
            <a:xfrm>
              <a:off x="2625774" y="2686661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19" name="TextBox 218"/>
            <p:cNvSpPr txBox="1"/>
            <p:nvPr/>
          </p:nvSpPr>
          <p:spPr bwMode="auto">
            <a:xfrm>
              <a:off x="2598284" y="2684061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75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422677797" name="Group 219"/>
          <p:cNvGrpSpPr/>
          <p:nvPr/>
        </p:nvGrpSpPr>
        <p:grpSpPr bwMode="auto">
          <a:xfrm>
            <a:off x="8569163" y="4349104"/>
            <a:ext cx="418704" cy="369332"/>
            <a:chOff x="2881979" y="3121265"/>
            <a:chExt cx="418704" cy="369332"/>
          </a:xfrm>
        </p:grpSpPr>
        <p:sp>
          <p:nvSpPr>
            <p:cNvPr id="221" name="Oval 220"/>
            <p:cNvSpPr/>
            <p:nvPr/>
          </p:nvSpPr>
          <p:spPr bwMode="auto">
            <a:xfrm>
              <a:off x="2923090" y="31242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22" name="TextBox 221"/>
            <p:cNvSpPr txBox="1"/>
            <p:nvPr/>
          </p:nvSpPr>
          <p:spPr bwMode="auto">
            <a:xfrm>
              <a:off x="2881979" y="3121265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76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218337971" name="Group 222"/>
          <p:cNvGrpSpPr/>
          <p:nvPr/>
        </p:nvGrpSpPr>
        <p:grpSpPr bwMode="auto">
          <a:xfrm>
            <a:off x="9039984" y="4925961"/>
            <a:ext cx="418704" cy="369332"/>
            <a:chOff x="3237027" y="3573007"/>
            <a:chExt cx="418704" cy="369332"/>
          </a:xfrm>
        </p:grpSpPr>
        <p:sp>
          <p:nvSpPr>
            <p:cNvPr id="224" name="Oval 223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25" name="TextBox 224"/>
            <p:cNvSpPr txBox="1"/>
            <p:nvPr/>
          </p:nvSpPr>
          <p:spPr bwMode="auto">
            <a:xfrm>
              <a:off x="3237027" y="3573007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79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675350554" name="Straight Arrow Connector 225"/>
          <p:cNvCxnSpPr>
            <a:stCxn id="221" idx="5"/>
            <a:endCxn id="224" idx="0"/>
          </p:cNvCxnSpPr>
          <p:nvPr/>
        </p:nvCxnSpPr>
        <p:spPr bwMode="auto">
          <a:xfrm>
            <a:off x="8914480" y="4656245"/>
            <a:ext cx="331194" cy="272119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648775165" name="Group 226"/>
          <p:cNvGrpSpPr/>
          <p:nvPr/>
        </p:nvGrpSpPr>
        <p:grpSpPr bwMode="auto">
          <a:xfrm>
            <a:off x="9398695" y="5470963"/>
            <a:ext cx="418704" cy="370792"/>
            <a:chOff x="3245695" y="3561017"/>
            <a:chExt cx="418704" cy="370792"/>
          </a:xfrm>
        </p:grpSpPr>
        <p:sp>
          <p:nvSpPr>
            <p:cNvPr id="228" name="Oval 227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29" name="TextBox 228"/>
            <p:cNvSpPr txBox="1"/>
            <p:nvPr/>
          </p:nvSpPr>
          <p:spPr bwMode="auto">
            <a:xfrm>
              <a:off x="3245695" y="3561017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81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914793046" name="Straight Arrow Connector 229"/>
          <p:cNvCxnSpPr>
            <a:stCxn id="224" idx="5"/>
            <a:endCxn id="228" idx="0"/>
          </p:cNvCxnSpPr>
          <p:nvPr/>
        </p:nvCxnSpPr>
        <p:spPr bwMode="auto">
          <a:xfrm>
            <a:off x="9371680" y="5232570"/>
            <a:ext cx="224037" cy="252785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635048149" name="Group 246"/>
          <p:cNvGrpSpPr/>
          <p:nvPr/>
        </p:nvGrpSpPr>
        <p:grpSpPr bwMode="auto">
          <a:xfrm>
            <a:off x="8094253" y="4925961"/>
            <a:ext cx="440239" cy="369332"/>
            <a:chOff x="2743339" y="5563807"/>
            <a:chExt cx="440239" cy="369332"/>
          </a:xfrm>
        </p:grpSpPr>
        <p:sp>
          <p:nvSpPr>
            <p:cNvPr id="248" name="Oval 247"/>
            <p:cNvSpPr/>
            <p:nvPr/>
          </p:nvSpPr>
          <p:spPr bwMode="auto">
            <a:xfrm>
              <a:off x="2794450" y="5575793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49" name="TextBox 248"/>
            <p:cNvSpPr txBox="1"/>
            <p:nvPr/>
          </p:nvSpPr>
          <p:spPr bwMode="auto">
            <a:xfrm>
              <a:off x="2743339" y="5563807"/>
              <a:ext cx="440239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215849302" name="Group 249"/>
          <p:cNvGrpSpPr/>
          <p:nvPr/>
        </p:nvGrpSpPr>
        <p:grpSpPr bwMode="auto">
          <a:xfrm>
            <a:off x="7793787" y="5471693"/>
            <a:ext cx="440239" cy="369332"/>
            <a:chOff x="2750521" y="5569602"/>
            <a:chExt cx="440239" cy="369332"/>
          </a:xfrm>
        </p:grpSpPr>
        <p:sp>
          <p:nvSpPr>
            <p:cNvPr id="251" name="Oval 250"/>
            <p:cNvSpPr/>
            <p:nvPr/>
          </p:nvSpPr>
          <p:spPr bwMode="auto">
            <a:xfrm>
              <a:off x="2794450" y="5575793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52" name="TextBox 251"/>
            <p:cNvSpPr txBox="1"/>
            <p:nvPr/>
          </p:nvSpPr>
          <p:spPr bwMode="auto">
            <a:xfrm>
              <a:off x="2750521" y="5569602"/>
              <a:ext cx="440239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60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2111316227" name="Straight Arrow Connector 253"/>
          <p:cNvCxnSpPr>
            <a:stCxn id="221" idx="3"/>
            <a:endCxn id="248" idx="0"/>
          </p:cNvCxnSpPr>
          <p:nvPr/>
        </p:nvCxnSpPr>
        <p:spPr bwMode="auto">
          <a:xfrm flipH="1">
            <a:off x="8323564" y="4656245"/>
            <a:ext cx="338904" cy="281703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03038209" name="Straight Arrow Connector 255"/>
          <p:cNvCxnSpPr>
            <a:stCxn id="248" idx="3"/>
            <a:endCxn id="251" idx="0"/>
          </p:cNvCxnSpPr>
          <p:nvPr/>
        </p:nvCxnSpPr>
        <p:spPr bwMode="auto">
          <a:xfrm flipH="1">
            <a:off x="8015916" y="5242154"/>
            <a:ext cx="181642" cy="235731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775066110" name="Group 256"/>
          <p:cNvGrpSpPr/>
          <p:nvPr/>
        </p:nvGrpSpPr>
        <p:grpSpPr bwMode="auto">
          <a:xfrm>
            <a:off x="8453116" y="5471693"/>
            <a:ext cx="418704" cy="369332"/>
            <a:chOff x="2598284" y="2684061"/>
            <a:chExt cx="418704" cy="369332"/>
          </a:xfrm>
        </p:grpSpPr>
        <p:sp>
          <p:nvSpPr>
            <p:cNvPr id="258" name="Oval 257"/>
            <p:cNvSpPr/>
            <p:nvPr/>
          </p:nvSpPr>
          <p:spPr bwMode="auto">
            <a:xfrm>
              <a:off x="2625774" y="2686661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59" name="TextBox 258"/>
            <p:cNvSpPr txBox="1"/>
            <p:nvPr/>
          </p:nvSpPr>
          <p:spPr bwMode="auto">
            <a:xfrm>
              <a:off x="2598284" y="2684061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75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961515383" name="Straight Arrow Connector 260"/>
          <p:cNvCxnSpPr>
            <a:stCxn id="248" idx="5"/>
            <a:endCxn id="258" idx="0"/>
          </p:cNvCxnSpPr>
          <p:nvPr/>
        </p:nvCxnSpPr>
        <p:spPr bwMode="auto">
          <a:xfrm>
            <a:off x="8449570" y="5242154"/>
            <a:ext cx="209236" cy="23214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39069357" name="TextBox 262"/>
          <p:cNvSpPr txBox="1"/>
          <p:nvPr/>
        </p:nvSpPr>
        <p:spPr bwMode="auto">
          <a:xfrm>
            <a:off x="7572508" y="5471693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604567391" name="TextBox 263"/>
          <p:cNvSpPr txBox="1"/>
          <p:nvPr/>
        </p:nvSpPr>
        <p:spPr bwMode="auto">
          <a:xfrm>
            <a:off x="8251213" y="5471693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972502701" name="TextBox 264"/>
          <p:cNvSpPr txBox="1"/>
          <p:nvPr/>
        </p:nvSpPr>
        <p:spPr bwMode="auto">
          <a:xfrm>
            <a:off x="7809006" y="492596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356457865" name="TextBox 265"/>
          <p:cNvSpPr txBox="1"/>
          <p:nvPr/>
        </p:nvSpPr>
        <p:spPr bwMode="auto">
          <a:xfrm>
            <a:off x="9081043" y="5471693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603240278" name="TextBox 266"/>
          <p:cNvSpPr txBox="1"/>
          <p:nvPr/>
        </p:nvSpPr>
        <p:spPr bwMode="auto">
          <a:xfrm>
            <a:off x="8757507" y="4925961"/>
            <a:ext cx="314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b="1"/>
              <a:t>R</a:t>
            </a:r>
            <a:endParaRPr/>
          </a:p>
        </p:txBody>
      </p:sp>
      <p:sp>
        <p:nvSpPr>
          <p:cNvPr id="139716042" name="TextBox 267"/>
          <p:cNvSpPr txBox="1"/>
          <p:nvPr/>
        </p:nvSpPr>
        <p:spPr bwMode="auto">
          <a:xfrm>
            <a:off x="8262057" y="434910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128148260" name="TextBox 171"/>
          <p:cNvSpPr txBox="1"/>
          <p:nvPr/>
        </p:nvSpPr>
        <p:spPr bwMode="auto">
          <a:xfrm>
            <a:off x="6728186" y="1577789"/>
            <a:ext cx="922047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defRPr/>
            </a:pPr>
            <a:r>
              <a:rPr lang="en-IN" sz="1600"/>
              <a:t>Insert </a:t>
            </a:r>
            <a:r>
              <a:rPr lang="en-IN" sz="1600" b="1">
                <a:solidFill>
                  <a:srgbClr val="C00000"/>
                </a:solidFill>
              </a:rPr>
              <a:t>82</a:t>
            </a:r>
            <a:endParaRPr lang="en-US" sz="1600" b="1">
              <a:solidFill>
                <a:srgbClr val="C00000"/>
              </a:solidFill>
            </a:endParaRPr>
          </a:p>
        </p:txBody>
      </p:sp>
      <p:grpSp>
        <p:nvGrpSpPr>
          <p:cNvPr id="1799863451" name="Group 179"/>
          <p:cNvGrpSpPr/>
          <p:nvPr/>
        </p:nvGrpSpPr>
        <p:grpSpPr bwMode="auto">
          <a:xfrm>
            <a:off x="7440643" y="1986891"/>
            <a:ext cx="418704" cy="369332"/>
            <a:chOff x="2881979" y="3121265"/>
            <a:chExt cx="418704" cy="369332"/>
          </a:xfrm>
        </p:grpSpPr>
        <p:sp>
          <p:nvSpPr>
            <p:cNvPr id="199" name="Oval 198"/>
            <p:cNvSpPr/>
            <p:nvPr/>
          </p:nvSpPr>
          <p:spPr bwMode="auto">
            <a:xfrm>
              <a:off x="2923090" y="31242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00" name="TextBox 199"/>
            <p:cNvSpPr txBox="1"/>
            <p:nvPr/>
          </p:nvSpPr>
          <p:spPr bwMode="auto">
            <a:xfrm>
              <a:off x="2881979" y="3121265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76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sp>
        <p:nvSpPr>
          <p:cNvPr id="682125388" name="Oval 200"/>
          <p:cNvSpPr/>
          <p:nvPr/>
        </p:nvSpPr>
        <p:spPr bwMode="auto">
          <a:xfrm>
            <a:off x="7889544" y="2517540"/>
            <a:ext cx="356400" cy="356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600" b="1"/>
          </a:p>
        </p:txBody>
      </p:sp>
      <p:sp>
        <p:nvSpPr>
          <p:cNvPr id="274430758" name="TextBox 201"/>
          <p:cNvSpPr txBox="1"/>
          <p:nvPr/>
        </p:nvSpPr>
        <p:spPr bwMode="auto">
          <a:xfrm>
            <a:off x="7862054" y="2514667"/>
            <a:ext cx="41870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chemeClr val="bg1"/>
                </a:solidFill>
              </a:rPr>
              <a:t>79</a:t>
            </a:r>
            <a:endParaRPr lang="en-US" b="1">
              <a:solidFill>
                <a:schemeClr val="bg1"/>
              </a:solidFill>
            </a:endParaRPr>
          </a:p>
        </p:txBody>
      </p:sp>
      <p:cxnSp>
        <p:nvCxnSpPr>
          <p:cNvPr id="1852908567" name="Straight Arrow Connector 205"/>
          <p:cNvCxnSpPr>
            <a:stCxn id="199" idx="5"/>
            <a:endCxn id="682125388" idx="0"/>
          </p:cNvCxnSpPr>
          <p:nvPr/>
        </p:nvCxnSpPr>
        <p:spPr bwMode="auto">
          <a:xfrm>
            <a:off x="7785960" y="2294032"/>
            <a:ext cx="281784" cy="223508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729648233" name="Group 213"/>
          <p:cNvGrpSpPr/>
          <p:nvPr/>
        </p:nvGrpSpPr>
        <p:grpSpPr bwMode="auto">
          <a:xfrm>
            <a:off x="8166854" y="3024023"/>
            <a:ext cx="418704" cy="369332"/>
            <a:chOff x="3245695" y="3562478"/>
            <a:chExt cx="418704" cy="369332"/>
          </a:xfrm>
        </p:grpSpPr>
        <p:sp>
          <p:nvSpPr>
            <p:cNvPr id="215" name="Oval 214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31" name="TextBox 230"/>
            <p:cNvSpPr txBox="1"/>
            <p:nvPr/>
          </p:nvSpPr>
          <p:spPr bwMode="auto">
            <a:xfrm>
              <a:off x="3245695" y="356247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81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2041504312" name="Straight Arrow Connector 231"/>
          <p:cNvCxnSpPr>
            <a:stCxn id="682125388" idx="5"/>
            <a:endCxn id="215" idx="0"/>
          </p:cNvCxnSpPr>
          <p:nvPr/>
        </p:nvCxnSpPr>
        <p:spPr bwMode="auto">
          <a:xfrm>
            <a:off x="8193750" y="2821746"/>
            <a:ext cx="170126" cy="215209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667671638" name="Group 232"/>
          <p:cNvGrpSpPr/>
          <p:nvPr/>
        </p:nvGrpSpPr>
        <p:grpSpPr bwMode="auto">
          <a:xfrm>
            <a:off x="7019521" y="2514667"/>
            <a:ext cx="440239" cy="369332"/>
            <a:chOff x="2743339" y="5563807"/>
            <a:chExt cx="440239" cy="369332"/>
          </a:xfrm>
        </p:grpSpPr>
        <p:sp>
          <p:nvSpPr>
            <p:cNvPr id="234" name="Oval 233"/>
            <p:cNvSpPr/>
            <p:nvPr/>
          </p:nvSpPr>
          <p:spPr bwMode="auto">
            <a:xfrm>
              <a:off x="2794450" y="5575793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35" name="TextBox 234"/>
            <p:cNvSpPr txBox="1"/>
            <p:nvPr/>
          </p:nvSpPr>
          <p:spPr bwMode="auto">
            <a:xfrm>
              <a:off x="2743339" y="5563807"/>
              <a:ext cx="440239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903820292" name="Group 235"/>
          <p:cNvGrpSpPr/>
          <p:nvPr/>
        </p:nvGrpSpPr>
        <p:grpSpPr bwMode="auto">
          <a:xfrm>
            <a:off x="6719054" y="3024023"/>
            <a:ext cx="440239" cy="369332"/>
            <a:chOff x="2750521" y="5569602"/>
            <a:chExt cx="440239" cy="369332"/>
          </a:xfrm>
        </p:grpSpPr>
        <p:sp>
          <p:nvSpPr>
            <p:cNvPr id="237" name="Oval 236"/>
            <p:cNvSpPr/>
            <p:nvPr/>
          </p:nvSpPr>
          <p:spPr bwMode="auto">
            <a:xfrm>
              <a:off x="2794450" y="5575793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38" name="TextBox 237"/>
            <p:cNvSpPr txBox="1"/>
            <p:nvPr/>
          </p:nvSpPr>
          <p:spPr bwMode="auto">
            <a:xfrm>
              <a:off x="2750521" y="5569602"/>
              <a:ext cx="440239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60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309529870" name="Straight Arrow Connector 238"/>
          <p:cNvCxnSpPr>
            <a:stCxn id="199" idx="3"/>
            <a:endCxn id="234" idx="0"/>
          </p:cNvCxnSpPr>
          <p:nvPr/>
        </p:nvCxnSpPr>
        <p:spPr bwMode="auto">
          <a:xfrm flipH="1">
            <a:off x="7248832" y="2294032"/>
            <a:ext cx="285116" cy="232622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3922799" name="Straight Arrow Connector 239"/>
          <p:cNvCxnSpPr>
            <a:stCxn id="234" idx="3"/>
            <a:endCxn id="237" idx="0"/>
          </p:cNvCxnSpPr>
          <p:nvPr/>
        </p:nvCxnSpPr>
        <p:spPr bwMode="auto">
          <a:xfrm flipH="1">
            <a:off x="6941184" y="2830860"/>
            <a:ext cx="181642" cy="199355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127455311" name="Group 240"/>
          <p:cNvGrpSpPr/>
          <p:nvPr/>
        </p:nvGrpSpPr>
        <p:grpSpPr bwMode="auto">
          <a:xfrm>
            <a:off x="7378384" y="3024023"/>
            <a:ext cx="418704" cy="369332"/>
            <a:chOff x="2598284" y="2678144"/>
            <a:chExt cx="418704" cy="369332"/>
          </a:xfrm>
        </p:grpSpPr>
        <p:sp>
          <p:nvSpPr>
            <p:cNvPr id="242" name="Oval 241"/>
            <p:cNvSpPr/>
            <p:nvPr/>
          </p:nvSpPr>
          <p:spPr bwMode="auto">
            <a:xfrm>
              <a:off x="2625774" y="2686661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43" name="TextBox 242"/>
            <p:cNvSpPr txBox="1"/>
            <p:nvPr/>
          </p:nvSpPr>
          <p:spPr bwMode="auto">
            <a:xfrm>
              <a:off x="2598284" y="267814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75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21275134" name="Straight Arrow Connector 243"/>
          <p:cNvCxnSpPr>
            <a:stCxn id="234" idx="5"/>
            <a:endCxn id="242" idx="0"/>
          </p:cNvCxnSpPr>
          <p:nvPr/>
        </p:nvCxnSpPr>
        <p:spPr bwMode="auto">
          <a:xfrm>
            <a:off x="7374838" y="2830860"/>
            <a:ext cx="209236" cy="201681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691382356" name="Group 244"/>
          <p:cNvGrpSpPr/>
          <p:nvPr/>
        </p:nvGrpSpPr>
        <p:grpSpPr bwMode="auto">
          <a:xfrm>
            <a:off x="8510150" y="3638262"/>
            <a:ext cx="418704" cy="369497"/>
            <a:chOff x="3245695" y="3562312"/>
            <a:chExt cx="418704" cy="369497"/>
          </a:xfrm>
        </p:grpSpPr>
        <p:sp>
          <p:nvSpPr>
            <p:cNvPr id="246" name="Oval 245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53" name="TextBox 252"/>
            <p:cNvSpPr txBox="1"/>
            <p:nvPr/>
          </p:nvSpPr>
          <p:spPr bwMode="auto">
            <a:xfrm>
              <a:off x="3245695" y="3562312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82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809890803" name="Straight Arrow Connector 254"/>
          <p:cNvCxnSpPr>
            <a:stCxn id="215" idx="5"/>
            <a:endCxn id="246" idx="0"/>
          </p:cNvCxnSpPr>
          <p:nvPr/>
        </p:nvCxnSpPr>
        <p:spPr bwMode="auto">
          <a:xfrm>
            <a:off x="8489882" y="3341161"/>
            <a:ext cx="217290" cy="310199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83493143" name="TextBox 259"/>
          <p:cNvSpPr txBox="1"/>
          <p:nvPr/>
        </p:nvSpPr>
        <p:spPr bwMode="auto">
          <a:xfrm>
            <a:off x="8243054" y="366126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489351780" name="TextBox 268"/>
          <p:cNvSpPr txBox="1"/>
          <p:nvPr/>
        </p:nvSpPr>
        <p:spPr bwMode="auto">
          <a:xfrm>
            <a:off x="7938254" y="3024023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843921996" name="TextBox 269"/>
          <p:cNvSpPr txBox="1"/>
          <p:nvPr/>
        </p:nvSpPr>
        <p:spPr bwMode="auto">
          <a:xfrm>
            <a:off x="7830616" y="1986891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Critical </a:t>
            </a:r>
            <a:endParaRPr/>
          </a:p>
        </p:txBody>
      </p:sp>
      <p:cxnSp>
        <p:nvCxnSpPr>
          <p:cNvPr id="558634162" name="Straight Arrow Connector 270"/>
          <p:cNvCxnSpPr/>
          <p:nvPr/>
        </p:nvCxnSpPr>
        <p:spPr bwMode="auto">
          <a:xfrm>
            <a:off x="8617704" y="2857022"/>
            <a:ext cx="120712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41898631" name="TextBox 271"/>
          <p:cNvSpPr txBox="1"/>
          <p:nvPr/>
        </p:nvSpPr>
        <p:spPr bwMode="auto">
          <a:xfrm>
            <a:off x="8567496" y="2582466"/>
            <a:ext cx="13075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1600"/>
              <a:t>Case 4</a:t>
            </a:r>
            <a:br>
              <a:rPr lang="en-IN" sz="1600"/>
            </a:br>
            <a:r>
              <a:rPr lang="en-IN" sz="1600"/>
              <a:t>Left Rotation </a:t>
            </a:r>
            <a:endParaRPr/>
          </a:p>
          <a:p>
            <a:pPr algn="ctr">
              <a:defRPr/>
            </a:pPr>
            <a:r>
              <a:rPr lang="en-IN" sz="1600"/>
              <a:t>of Node </a:t>
            </a:r>
            <a:r>
              <a:rPr lang="en-IN" sz="1600" b="1">
                <a:solidFill>
                  <a:srgbClr val="C00000"/>
                </a:solidFill>
              </a:rPr>
              <a:t>79</a:t>
            </a:r>
            <a:endParaRPr lang="en-US" sz="1600" b="1">
              <a:solidFill>
                <a:srgbClr val="C00000"/>
              </a:solidFill>
            </a:endParaRPr>
          </a:p>
        </p:txBody>
      </p:sp>
      <p:grpSp>
        <p:nvGrpSpPr>
          <p:cNvPr id="37838954" name="Group 272"/>
          <p:cNvGrpSpPr/>
          <p:nvPr/>
        </p:nvGrpSpPr>
        <p:grpSpPr bwMode="auto">
          <a:xfrm>
            <a:off x="10704541" y="1986891"/>
            <a:ext cx="418704" cy="369332"/>
            <a:chOff x="2881979" y="3121265"/>
            <a:chExt cx="418704" cy="369332"/>
          </a:xfrm>
        </p:grpSpPr>
        <p:sp>
          <p:nvSpPr>
            <p:cNvPr id="274" name="Oval 273"/>
            <p:cNvSpPr/>
            <p:nvPr/>
          </p:nvSpPr>
          <p:spPr bwMode="auto">
            <a:xfrm>
              <a:off x="2923090" y="31242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75" name="TextBox 274"/>
            <p:cNvSpPr txBox="1"/>
            <p:nvPr/>
          </p:nvSpPr>
          <p:spPr bwMode="auto">
            <a:xfrm>
              <a:off x="2881979" y="3121265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76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592683560" name="Group 275"/>
          <p:cNvGrpSpPr/>
          <p:nvPr/>
        </p:nvGrpSpPr>
        <p:grpSpPr bwMode="auto">
          <a:xfrm>
            <a:off x="11233438" y="2514667"/>
            <a:ext cx="418704" cy="369332"/>
            <a:chOff x="5495274" y="2501992"/>
            <a:chExt cx="418704" cy="369332"/>
          </a:xfrm>
        </p:grpSpPr>
        <p:sp>
          <p:nvSpPr>
            <p:cNvPr id="277" name="Oval 276"/>
            <p:cNvSpPr/>
            <p:nvPr/>
          </p:nvSpPr>
          <p:spPr bwMode="auto">
            <a:xfrm>
              <a:off x="5511000" y="2509669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78" name="TextBox 277"/>
            <p:cNvSpPr txBox="1"/>
            <p:nvPr/>
          </p:nvSpPr>
          <p:spPr bwMode="auto">
            <a:xfrm>
              <a:off x="5495274" y="2501992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81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581952259" name="Straight Arrow Connector 278"/>
          <p:cNvCxnSpPr>
            <a:stCxn id="274" idx="5"/>
            <a:endCxn id="277" idx="1"/>
          </p:cNvCxnSpPr>
          <p:nvPr/>
        </p:nvCxnSpPr>
        <p:spPr bwMode="auto">
          <a:xfrm>
            <a:off x="11049858" y="2294032"/>
            <a:ext cx="251500" cy="28050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442935530" name="Group 279"/>
          <p:cNvGrpSpPr/>
          <p:nvPr/>
        </p:nvGrpSpPr>
        <p:grpSpPr bwMode="auto">
          <a:xfrm>
            <a:off x="11567860" y="3024023"/>
            <a:ext cx="418704" cy="369332"/>
            <a:chOff x="3245695" y="3562478"/>
            <a:chExt cx="418704" cy="369332"/>
          </a:xfrm>
        </p:grpSpPr>
        <p:sp>
          <p:nvSpPr>
            <p:cNvPr id="281" name="Oval 280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82" name="TextBox 281"/>
            <p:cNvSpPr txBox="1"/>
            <p:nvPr/>
          </p:nvSpPr>
          <p:spPr bwMode="auto">
            <a:xfrm>
              <a:off x="3245695" y="356247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82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102915536" name="Straight Arrow Connector 282"/>
          <p:cNvCxnSpPr>
            <a:stCxn id="277" idx="5"/>
            <a:endCxn id="281" idx="0"/>
          </p:cNvCxnSpPr>
          <p:nvPr/>
        </p:nvCxnSpPr>
        <p:spPr bwMode="auto">
          <a:xfrm>
            <a:off x="11553369" y="2826550"/>
            <a:ext cx="211512" cy="210405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912754659" name="Group 283"/>
          <p:cNvGrpSpPr/>
          <p:nvPr/>
        </p:nvGrpSpPr>
        <p:grpSpPr bwMode="auto">
          <a:xfrm>
            <a:off x="10229631" y="2514667"/>
            <a:ext cx="440239" cy="369332"/>
            <a:chOff x="2743339" y="5563807"/>
            <a:chExt cx="440239" cy="369332"/>
          </a:xfrm>
        </p:grpSpPr>
        <p:sp>
          <p:nvSpPr>
            <p:cNvPr id="285" name="Oval 284"/>
            <p:cNvSpPr/>
            <p:nvPr/>
          </p:nvSpPr>
          <p:spPr bwMode="auto">
            <a:xfrm>
              <a:off x="2794450" y="5575793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86" name="TextBox 285"/>
            <p:cNvSpPr txBox="1"/>
            <p:nvPr/>
          </p:nvSpPr>
          <p:spPr bwMode="auto">
            <a:xfrm>
              <a:off x="2743339" y="5563807"/>
              <a:ext cx="440239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833937967" name="Group 286"/>
          <p:cNvGrpSpPr/>
          <p:nvPr/>
        </p:nvGrpSpPr>
        <p:grpSpPr bwMode="auto">
          <a:xfrm>
            <a:off x="9929165" y="3024023"/>
            <a:ext cx="440239" cy="369332"/>
            <a:chOff x="2750521" y="5569602"/>
            <a:chExt cx="440239" cy="369332"/>
          </a:xfrm>
        </p:grpSpPr>
        <p:sp>
          <p:nvSpPr>
            <p:cNvPr id="288" name="Oval 287"/>
            <p:cNvSpPr/>
            <p:nvPr/>
          </p:nvSpPr>
          <p:spPr bwMode="auto">
            <a:xfrm>
              <a:off x="2794450" y="5575793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89" name="TextBox 288"/>
            <p:cNvSpPr txBox="1"/>
            <p:nvPr/>
          </p:nvSpPr>
          <p:spPr bwMode="auto">
            <a:xfrm>
              <a:off x="2750521" y="5569602"/>
              <a:ext cx="440239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60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635806692" name="Straight Arrow Connector 289"/>
          <p:cNvCxnSpPr>
            <a:stCxn id="274" idx="3"/>
            <a:endCxn id="285" idx="7"/>
          </p:cNvCxnSpPr>
          <p:nvPr/>
        </p:nvCxnSpPr>
        <p:spPr bwMode="auto">
          <a:xfrm flipH="1">
            <a:off x="10584948" y="2294032"/>
            <a:ext cx="212898" cy="28481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95792636" name="Straight Arrow Connector 290"/>
          <p:cNvCxnSpPr>
            <a:stCxn id="285" idx="3"/>
            <a:endCxn id="288" idx="0"/>
          </p:cNvCxnSpPr>
          <p:nvPr/>
        </p:nvCxnSpPr>
        <p:spPr bwMode="auto">
          <a:xfrm flipH="1">
            <a:off x="10151294" y="2830860"/>
            <a:ext cx="181642" cy="199355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870895293" name="Group 291"/>
          <p:cNvGrpSpPr/>
          <p:nvPr/>
        </p:nvGrpSpPr>
        <p:grpSpPr bwMode="auto">
          <a:xfrm>
            <a:off x="10538764" y="3024023"/>
            <a:ext cx="418704" cy="369332"/>
            <a:chOff x="2598284" y="2678144"/>
            <a:chExt cx="418704" cy="369332"/>
          </a:xfrm>
        </p:grpSpPr>
        <p:sp>
          <p:nvSpPr>
            <p:cNvPr id="293" name="Oval 292"/>
            <p:cNvSpPr/>
            <p:nvPr/>
          </p:nvSpPr>
          <p:spPr bwMode="auto">
            <a:xfrm>
              <a:off x="2625774" y="2686661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94" name="TextBox 293"/>
            <p:cNvSpPr txBox="1"/>
            <p:nvPr/>
          </p:nvSpPr>
          <p:spPr bwMode="auto">
            <a:xfrm>
              <a:off x="2598284" y="267814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75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581448736" name="Straight Arrow Connector 294"/>
          <p:cNvCxnSpPr>
            <a:stCxn id="285" idx="5"/>
            <a:endCxn id="293" idx="0"/>
          </p:cNvCxnSpPr>
          <p:nvPr/>
        </p:nvCxnSpPr>
        <p:spPr bwMode="auto">
          <a:xfrm>
            <a:off x="10584948" y="2830860"/>
            <a:ext cx="159506" cy="201681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506359833" name="Group 295"/>
          <p:cNvGrpSpPr/>
          <p:nvPr/>
        </p:nvGrpSpPr>
        <p:grpSpPr bwMode="auto">
          <a:xfrm>
            <a:off x="11034460" y="3024023"/>
            <a:ext cx="418704" cy="369332"/>
            <a:chOff x="3245695" y="3572389"/>
            <a:chExt cx="418704" cy="369332"/>
          </a:xfrm>
        </p:grpSpPr>
        <p:sp>
          <p:nvSpPr>
            <p:cNvPr id="297" name="Oval 296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98" name="TextBox 297"/>
            <p:cNvSpPr txBox="1"/>
            <p:nvPr/>
          </p:nvSpPr>
          <p:spPr bwMode="auto">
            <a:xfrm>
              <a:off x="3245695" y="3572389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79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128072652" name="Straight Arrow Connector 298"/>
          <p:cNvCxnSpPr>
            <a:stCxn id="277" idx="3"/>
            <a:endCxn id="297" idx="0"/>
          </p:cNvCxnSpPr>
          <p:nvPr/>
        </p:nvCxnSpPr>
        <p:spPr bwMode="auto">
          <a:xfrm flipH="1">
            <a:off x="11231482" y="2826550"/>
            <a:ext cx="69876" cy="200494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27089347" name="TextBox 299"/>
          <p:cNvSpPr txBox="1"/>
          <p:nvPr/>
        </p:nvSpPr>
        <p:spPr bwMode="auto">
          <a:xfrm>
            <a:off x="9986689" y="335109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52823263" name="TextBox 300"/>
          <p:cNvSpPr txBox="1"/>
          <p:nvPr/>
        </p:nvSpPr>
        <p:spPr bwMode="auto">
          <a:xfrm>
            <a:off x="10605254" y="335109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416612936" name="TextBox 301"/>
          <p:cNvSpPr txBox="1"/>
          <p:nvPr/>
        </p:nvSpPr>
        <p:spPr bwMode="auto">
          <a:xfrm>
            <a:off x="11084866" y="335109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433354363" name="TextBox 302"/>
          <p:cNvSpPr txBox="1"/>
          <p:nvPr/>
        </p:nvSpPr>
        <p:spPr bwMode="auto">
          <a:xfrm>
            <a:off x="11645906" y="335109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089797516" name="TextBox 303"/>
          <p:cNvSpPr txBox="1"/>
          <p:nvPr/>
        </p:nvSpPr>
        <p:spPr bwMode="auto">
          <a:xfrm>
            <a:off x="10005364" y="251466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436576891" name="TextBox 304"/>
          <p:cNvSpPr txBox="1"/>
          <p:nvPr/>
        </p:nvSpPr>
        <p:spPr bwMode="auto">
          <a:xfrm>
            <a:off x="10986254" y="251466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969210674" name="TextBox 305"/>
          <p:cNvSpPr txBox="1"/>
          <p:nvPr/>
        </p:nvSpPr>
        <p:spPr bwMode="auto">
          <a:xfrm>
            <a:off x="10462564" y="198689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cxnSp>
        <p:nvCxnSpPr>
          <p:cNvPr id="1697063924" name="Straight Connector 306"/>
          <p:cNvCxnSpPr/>
          <p:nvPr/>
        </p:nvCxnSpPr>
        <p:spPr bwMode="auto">
          <a:xfrm>
            <a:off x="6726452" y="4206553"/>
            <a:ext cx="53845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595976" name="Straight Arrow Connector 307"/>
          <p:cNvCxnSpPr/>
          <p:nvPr/>
        </p:nvCxnSpPr>
        <p:spPr bwMode="auto">
          <a:xfrm>
            <a:off x="6209257" y="5405723"/>
            <a:ext cx="120712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7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9316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79316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356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71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174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073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974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334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204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00204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4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789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226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037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634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70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1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270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299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4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118842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275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00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5756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756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" dur="10" fill="hold"/>
                                        <p:tgtEl>
                                          <p:spTgt spid="13857017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4" dur="10" fill="hold"/>
                                        <p:tgtEl>
                                          <p:spTgt spid="13857017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10" fill="hold"/>
                                        <p:tgtEl>
                                          <p:spTgt spid="13857017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54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612543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56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8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79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39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8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5" dur="500"/>
                                        <p:tgtEl>
                                          <p:spTgt spid="31958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566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91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64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066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16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8316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00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267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438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818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61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7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17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1064174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6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279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706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333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054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37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24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100024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81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38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38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24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01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265012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9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25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433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4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2" dur="500"/>
                                        <p:tgtEl>
                                          <p:spTgt spid="176132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16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425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46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604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79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15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66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976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40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38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46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1" dur="500"/>
                                        <p:tgtEl>
                                          <p:spTgt spid="1953462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67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538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50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47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6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130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5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48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1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4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429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58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0" dur="500"/>
                                        <p:tgtEl>
                                          <p:spTgt spid="169858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540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53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33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784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23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46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2" dur="10" fill="hold"/>
                                        <p:tgtEl>
                                          <p:spTgt spid="11814291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23" dur="10" fill="hold"/>
                                        <p:tgtEl>
                                          <p:spTgt spid="11814291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4" dur="10" fill="hold"/>
                                        <p:tgtEl>
                                          <p:spTgt spid="11814291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93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95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9" dur="500"/>
                                        <p:tgtEl>
                                          <p:spTgt spid="98595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5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350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79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337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67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7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indefinite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316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0" dur="500"/>
                                        <p:tgtEl>
                                          <p:spTgt spid="2111316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303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48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4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51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3" dur="500"/>
                                        <p:tgtEl>
                                          <p:spTgt spid="1961515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06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069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>
                      <p:stCondLst>
                        <p:cond delay="indefinite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567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>
                      <p:stCondLst>
                        <p:cond delay="indefinite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50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0" fill="hold">
                      <p:stCondLst>
                        <p:cond delay="indefinite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457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>
                      <p:stCondLst>
                        <p:cond delay="indefinite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24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indefinite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1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2" fill="hold">
                      <p:stCondLst>
                        <p:cond delay="indefinite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id="3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4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063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>
                      <p:stCondLst>
                        <p:cond delay="indefinite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863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12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908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1504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7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82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529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922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5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7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64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4" fill="hold">
                      <p:stCondLst>
                        <p:cond delay="indefinite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id="4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890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8" dur="500"/>
                                        <p:tgtEl>
                                          <p:spTgt spid="1809890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38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>
                      <p:stCondLst>
                        <p:cond delay="indefinite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93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7" fill="hold">
                      <p:stCondLst>
                        <p:cond delay="indefinite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id="4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35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92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5" fill="hold">
                      <p:stCondLst>
                        <p:cond delay="indefinite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8" dur="10" fill="hold"/>
                                        <p:tgtEl>
                                          <p:spTgt spid="6821253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49" dur="10" fill="hold"/>
                                        <p:tgtEl>
                                          <p:spTgt spid="6821253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0" dur="10" fill="hold"/>
                                        <p:tgtEl>
                                          <p:spTgt spid="6821253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>
                      <p:stCondLst>
                        <p:cond delay="indefinite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634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5" dur="500"/>
                                        <p:tgtEl>
                                          <p:spTgt spid="558634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898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8" fill="hold">
                      <p:stCondLst>
                        <p:cond delay="indefinite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id="4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915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93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68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6" fill="hold">
                      <p:stCondLst>
                        <p:cond delay="indefinite"/>
                      </p:stCondLst>
                      <p:childTnLst>
                        <p:par>
                          <p:cTn id="467" fill="hold">
                            <p:stCondLst>
                              <p:cond delay="0"/>
                            </p:stCondLst>
                            <p:childTnLst>
                              <p:par>
                                <p:cTn id="46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72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0" dur="500"/>
                                        <p:tgtEl>
                                          <p:spTgt spid="1128072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>
                      <p:stCondLst>
                        <p:cond delay="indefinite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359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5" fill="hold">
                      <p:stCondLst>
                        <p:cond delay="indefinite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80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792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44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937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754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895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95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38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3" fill="hold">
                      <p:stCondLst>
                        <p:cond delay="indefinite"/>
                      </p:stCondLst>
                      <p:childTnLst>
                        <p:par>
                          <p:cTn id="494" fill="hold">
                            <p:stCondLst>
                              <p:cond delay="0"/>
                            </p:stCondLst>
                            <p:childTnLst>
                              <p:par>
                                <p:cTn id="4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089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7" fill="hold">
                      <p:stCondLst>
                        <p:cond delay="indefinite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par>
                                <p:cTn id="4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2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1" fill="hold">
                      <p:stCondLst>
                        <p:cond delay="indefinite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61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5" fill="hold">
                      <p:stCondLst>
                        <p:cond delay="indefinite"/>
                      </p:stCondLst>
                      <p:childTnLst>
                        <p:par>
                          <p:cTn id="506" fill="hold">
                            <p:stCondLst>
                              <p:cond delay="0"/>
                            </p:stCondLst>
                            <p:childTnLst>
                              <p:par>
                                <p:cTn id="5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35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9" fill="hold">
                      <p:stCondLst>
                        <p:cond delay="indefinite"/>
                      </p:stCondLst>
                      <p:childTnLst>
                        <p:par>
                          <p:cTn id="510" fill="hold">
                            <p:stCondLst>
                              <p:cond delay="0"/>
                            </p:stCondLst>
                            <p:childTnLst>
                              <p:par>
                                <p:cTn id="5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797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3" fill="hold">
                      <p:stCondLst>
                        <p:cond delay="indefinite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57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7" fill="hold">
                      <p:stCondLst>
                        <p:cond delay="indefinite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9210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2356509" grpId="0" animBg="1"/>
      <p:bldP spid="2058174490" grpId="0"/>
      <p:bldP spid="1281974167" grpId="0" animBg="1"/>
      <p:bldP spid="1981789889" grpId="0"/>
      <p:bldP spid="2048075351" grpId="0"/>
      <p:bldP spid="781037477" grpId="0" animBg="1"/>
      <p:bldP spid="1385701785" grpId="0" animBg="1"/>
      <p:bldP spid="1466126628" grpId="0"/>
      <p:bldP spid="1371009722" grpId="0"/>
      <p:bldP spid="2045756961" grpId="0"/>
      <p:bldP spid="365756911" grpId="0"/>
      <p:bldP spid="101756471" grpId="0"/>
      <p:bldP spid="262919577" grpId="0"/>
      <p:bldP spid="340644691" grpId="0"/>
      <p:bldP spid="568066730" grpId="0"/>
      <p:bldP spid="383162035" grpId="0" animBg="1"/>
      <p:bldP spid="564200238" grpId="0" animBg="1"/>
      <p:bldP spid="596279425" grpId="0"/>
      <p:bldP spid="1174706079" grpId="0"/>
      <p:bldP spid="1766333249" grpId="0"/>
      <p:bldP spid="1542054063" grpId="0"/>
      <p:bldP spid="555377443" grpId="0"/>
      <p:bldP spid="657386891" grpId="0"/>
      <p:bldP spid="1060382187" grpId="0"/>
      <p:bldP spid="1150241305" grpId="0"/>
      <p:bldP spid="110393329" grpId="0"/>
      <p:bldP spid="1085154105" grpId="0"/>
      <p:bldP spid="1910668487" grpId="0"/>
      <p:bldP spid="481976620" grpId="0"/>
      <p:bldP spid="1197404132" grpId="0"/>
      <p:bldP spid="1281383964" grpId="0"/>
      <p:bldP spid="1953462448" grpId="0" animBg="1"/>
      <p:bldP spid="563967718" grpId="0" animBg="1"/>
      <p:bldP spid="1181429196" grpId="0" animBg="1"/>
      <p:bldP spid="143614681" grpId="0"/>
      <p:bldP spid="1207531227" grpId="0"/>
      <p:bldP spid="132833449" grpId="0"/>
      <p:bldP spid="2117846328" grpId="0"/>
      <p:bldP spid="800823165" grpId="0"/>
      <p:bldP spid="1036460325" grpId="0"/>
      <p:bldP spid="90027654" grpId="0"/>
      <p:bldP spid="1376937787" grpId="0"/>
      <p:bldP spid="1839069357" grpId="0"/>
      <p:bldP spid="1604567391" grpId="0"/>
      <p:bldP spid="972502701" grpId="0"/>
      <p:bldP spid="356457865" grpId="0"/>
      <p:bldP spid="603240278" grpId="0"/>
      <p:bldP spid="139716042" grpId="0"/>
      <p:bldP spid="1128148260" grpId="0" animBg="1"/>
      <p:bldP spid="682125388" grpId="0" animBg="1"/>
      <p:bldP spid="274430758" grpId="0"/>
      <p:bldP spid="483493143" grpId="0"/>
      <p:bldP spid="1489351780" grpId="0"/>
      <p:bldP spid="843921996" grpId="0"/>
      <p:bldP spid="1541898631" grpId="0"/>
      <p:bldP spid="1227089347" grpId="0"/>
      <p:bldP spid="52823263" grpId="0"/>
      <p:bldP spid="1416612936" grpId="0"/>
      <p:bldP spid="1433354363" grpId="0"/>
      <p:bldP spid="1089797516" grpId="0"/>
      <p:bldP spid="1436576891" grpId="0"/>
      <p:bldP spid="196921067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2686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Construct AVL Search Tree</a:t>
            </a:r>
            <a:endParaRPr/>
          </a:p>
        </p:txBody>
      </p:sp>
      <p:sp>
        <p:nvSpPr>
          <p:cNvPr id="914840901" name="TextBox 3"/>
          <p:cNvSpPr txBox="1"/>
          <p:nvPr/>
        </p:nvSpPr>
        <p:spPr bwMode="auto">
          <a:xfrm>
            <a:off x="1671800" y="753037"/>
            <a:ext cx="8767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2400"/>
              <a:t>Construct AVL Search tree by inserting following elements in order of their occurrence </a:t>
            </a:r>
            <a:r>
              <a:rPr lang="en-IN" sz="2400" b="1">
                <a:solidFill>
                  <a:srgbClr val="C00000"/>
                </a:solidFill>
              </a:rPr>
              <a:t>60,73,75,76,79,81,82,300,0,5,73</a:t>
            </a:r>
            <a:endParaRPr lang="en-US" sz="2400" b="1">
              <a:solidFill>
                <a:srgbClr val="C00000"/>
              </a:solidFill>
            </a:endParaRPr>
          </a:p>
        </p:txBody>
      </p:sp>
      <p:cxnSp>
        <p:nvCxnSpPr>
          <p:cNvPr id="2079041759" name="Straight Connector 4"/>
          <p:cNvCxnSpPr/>
          <p:nvPr/>
        </p:nvCxnSpPr>
        <p:spPr bwMode="auto">
          <a:xfrm>
            <a:off x="71888" y="1584033"/>
            <a:ext cx="11998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17620" name="Straight Connector 79"/>
          <p:cNvCxnSpPr/>
          <p:nvPr/>
        </p:nvCxnSpPr>
        <p:spPr bwMode="auto">
          <a:xfrm>
            <a:off x="71888" y="4854385"/>
            <a:ext cx="11998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00176473" name="TextBox 80"/>
          <p:cNvSpPr txBox="1"/>
          <p:nvPr/>
        </p:nvSpPr>
        <p:spPr bwMode="auto">
          <a:xfrm>
            <a:off x="71888" y="1593023"/>
            <a:ext cx="1365716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/>
              <a:t>Insert </a:t>
            </a:r>
            <a:r>
              <a:rPr lang="en-IN" sz="1600" b="1">
                <a:solidFill>
                  <a:srgbClr val="C00000"/>
                </a:solidFill>
              </a:rPr>
              <a:t>300</a:t>
            </a:r>
            <a:endParaRPr lang="en-US" sz="1600" b="1">
              <a:solidFill>
                <a:srgbClr val="C00000"/>
              </a:solidFill>
            </a:endParaRPr>
          </a:p>
        </p:txBody>
      </p:sp>
      <p:grpSp>
        <p:nvGrpSpPr>
          <p:cNvPr id="16406716" name="Group 81"/>
          <p:cNvGrpSpPr/>
          <p:nvPr/>
        </p:nvGrpSpPr>
        <p:grpSpPr bwMode="auto">
          <a:xfrm>
            <a:off x="1524179" y="1903067"/>
            <a:ext cx="418704" cy="369332"/>
            <a:chOff x="2891504" y="3121265"/>
            <a:chExt cx="418704" cy="369332"/>
          </a:xfrm>
        </p:grpSpPr>
        <p:sp>
          <p:nvSpPr>
            <p:cNvPr id="83" name="Oval 82"/>
            <p:cNvSpPr/>
            <p:nvPr/>
          </p:nvSpPr>
          <p:spPr bwMode="auto">
            <a:xfrm>
              <a:off x="2923090" y="31242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84" name="TextBox 83"/>
            <p:cNvSpPr txBox="1"/>
            <p:nvPr/>
          </p:nvSpPr>
          <p:spPr bwMode="auto">
            <a:xfrm>
              <a:off x="2891504" y="3121265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76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468324441" name="Group 84"/>
          <p:cNvGrpSpPr/>
          <p:nvPr/>
        </p:nvGrpSpPr>
        <p:grpSpPr bwMode="auto">
          <a:xfrm>
            <a:off x="2101076" y="2534114"/>
            <a:ext cx="418704" cy="369332"/>
            <a:chOff x="5495274" y="2501992"/>
            <a:chExt cx="418704" cy="369332"/>
          </a:xfrm>
        </p:grpSpPr>
        <p:sp>
          <p:nvSpPr>
            <p:cNvPr id="86" name="Oval 85"/>
            <p:cNvSpPr/>
            <p:nvPr/>
          </p:nvSpPr>
          <p:spPr bwMode="auto">
            <a:xfrm>
              <a:off x="5511000" y="2509669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87" name="TextBox 86"/>
            <p:cNvSpPr txBox="1"/>
            <p:nvPr/>
          </p:nvSpPr>
          <p:spPr bwMode="auto">
            <a:xfrm>
              <a:off x="5495274" y="2501992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81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369824939" name="Straight Arrow Connector 87"/>
          <p:cNvCxnSpPr>
            <a:stCxn id="83" idx="5"/>
            <a:endCxn id="86" idx="0"/>
          </p:cNvCxnSpPr>
          <p:nvPr/>
        </p:nvCxnSpPr>
        <p:spPr bwMode="auto">
          <a:xfrm>
            <a:off x="1859971" y="2210208"/>
            <a:ext cx="435031" cy="331583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861662238" name="Group 88"/>
          <p:cNvGrpSpPr/>
          <p:nvPr/>
        </p:nvGrpSpPr>
        <p:grpSpPr bwMode="auto">
          <a:xfrm>
            <a:off x="2435498" y="3105331"/>
            <a:ext cx="418704" cy="369332"/>
            <a:chOff x="3245695" y="3564617"/>
            <a:chExt cx="418704" cy="369332"/>
          </a:xfrm>
        </p:grpSpPr>
        <p:sp>
          <p:nvSpPr>
            <p:cNvPr id="90" name="Oval 89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91" name="TextBox 90"/>
            <p:cNvSpPr txBox="1"/>
            <p:nvPr/>
          </p:nvSpPr>
          <p:spPr bwMode="auto">
            <a:xfrm>
              <a:off x="3245695" y="3564617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82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584731122" name="Straight Arrow Connector 91"/>
          <p:cNvCxnSpPr>
            <a:stCxn id="86" idx="5"/>
            <a:endCxn id="90" idx="0"/>
          </p:cNvCxnSpPr>
          <p:nvPr/>
        </p:nvCxnSpPr>
        <p:spPr bwMode="auto">
          <a:xfrm>
            <a:off x="2421008" y="2845997"/>
            <a:ext cx="211512" cy="270127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003632154" name="Group 92"/>
          <p:cNvGrpSpPr/>
          <p:nvPr/>
        </p:nvGrpSpPr>
        <p:grpSpPr bwMode="auto">
          <a:xfrm>
            <a:off x="922458" y="2534114"/>
            <a:ext cx="440239" cy="369332"/>
            <a:chOff x="2743339" y="5563807"/>
            <a:chExt cx="440239" cy="369332"/>
          </a:xfrm>
        </p:grpSpPr>
        <p:sp>
          <p:nvSpPr>
            <p:cNvPr id="94" name="Oval 93"/>
            <p:cNvSpPr/>
            <p:nvPr/>
          </p:nvSpPr>
          <p:spPr bwMode="auto">
            <a:xfrm>
              <a:off x="2794450" y="5575793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95" name="TextBox 94"/>
            <p:cNvSpPr txBox="1"/>
            <p:nvPr/>
          </p:nvSpPr>
          <p:spPr bwMode="auto">
            <a:xfrm>
              <a:off x="2743339" y="5563807"/>
              <a:ext cx="440239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703338529" name="Group 95"/>
          <p:cNvGrpSpPr/>
          <p:nvPr/>
        </p:nvGrpSpPr>
        <p:grpSpPr bwMode="auto">
          <a:xfrm>
            <a:off x="554757" y="3105331"/>
            <a:ext cx="440239" cy="369332"/>
            <a:chOff x="2750521" y="5569554"/>
            <a:chExt cx="440239" cy="369332"/>
          </a:xfrm>
        </p:grpSpPr>
        <p:sp>
          <p:nvSpPr>
            <p:cNvPr id="97" name="Oval 96"/>
            <p:cNvSpPr/>
            <p:nvPr/>
          </p:nvSpPr>
          <p:spPr bwMode="auto">
            <a:xfrm>
              <a:off x="2794450" y="5576936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98" name="TextBox 97"/>
            <p:cNvSpPr txBox="1"/>
            <p:nvPr/>
          </p:nvSpPr>
          <p:spPr bwMode="auto">
            <a:xfrm>
              <a:off x="2750521" y="5569554"/>
              <a:ext cx="440239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60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013692982" name="Straight Arrow Connector 98"/>
          <p:cNvCxnSpPr>
            <a:stCxn id="83" idx="3"/>
            <a:endCxn id="94" idx="0"/>
          </p:cNvCxnSpPr>
          <p:nvPr/>
        </p:nvCxnSpPr>
        <p:spPr bwMode="auto">
          <a:xfrm flipH="1">
            <a:off x="1151769" y="2210208"/>
            <a:ext cx="456190" cy="335893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30902460" name="Straight Arrow Connector 99"/>
          <p:cNvCxnSpPr>
            <a:stCxn id="94" idx="3"/>
            <a:endCxn id="97" idx="0"/>
          </p:cNvCxnSpPr>
          <p:nvPr/>
        </p:nvCxnSpPr>
        <p:spPr bwMode="auto">
          <a:xfrm flipH="1">
            <a:off x="776886" y="2850307"/>
            <a:ext cx="248877" cy="26240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492425245" name="Group 100"/>
          <p:cNvGrpSpPr/>
          <p:nvPr/>
        </p:nvGrpSpPr>
        <p:grpSpPr bwMode="auto">
          <a:xfrm>
            <a:off x="1285379" y="3105331"/>
            <a:ext cx="418704" cy="369332"/>
            <a:chOff x="2598284" y="2678144"/>
            <a:chExt cx="418704" cy="369332"/>
          </a:xfrm>
        </p:grpSpPr>
        <p:sp>
          <p:nvSpPr>
            <p:cNvPr id="102" name="Oval 101"/>
            <p:cNvSpPr/>
            <p:nvPr/>
          </p:nvSpPr>
          <p:spPr bwMode="auto">
            <a:xfrm>
              <a:off x="2625774" y="2686661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03" name="TextBox 102"/>
            <p:cNvSpPr txBox="1"/>
            <p:nvPr/>
          </p:nvSpPr>
          <p:spPr bwMode="auto">
            <a:xfrm>
              <a:off x="2598284" y="267814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75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749487227" name="Straight Arrow Connector 103"/>
          <p:cNvCxnSpPr>
            <a:stCxn id="94" idx="5"/>
            <a:endCxn id="102" idx="0"/>
          </p:cNvCxnSpPr>
          <p:nvPr/>
        </p:nvCxnSpPr>
        <p:spPr bwMode="auto">
          <a:xfrm>
            <a:off x="1277775" y="2850307"/>
            <a:ext cx="213294" cy="263542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754801364" name="Group 104"/>
          <p:cNvGrpSpPr/>
          <p:nvPr/>
        </p:nvGrpSpPr>
        <p:grpSpPr bwMode="auto">
          <a:xfrm>
            <a:off x="1807968" y="3105331"/>
            <a:ext cx="418704" cy="369332"/>
            <a:chOff x="3245695" y="3572389"/>
            <a:chExt cx="418704" cy="369332"/>
          </a:xfrm>
        </p:grpSpPr>
        <p:sp>
          <p:nvSpPr>
            <p:cNvPr id="106" name="Oval 105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07" name="TextBox 106"/>
            <p:cNvSpPr txBox="1"/>
            <p:nvPr/>
          </p:nvSpPr>
          <p:spPr bwMode="auto">
            <a:xfrm>
              <a:off x="3245695" y="3572389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79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467290203" name="Straight Arrow Connector 107"/>
          <p:cNvCxnSpPr>
            <a:stCxn id="86" idx="3"/>
            <a:endCxn id="106" idx="0"/>
          </p:cNvCxnSpPr>
          <p:nvPr/>
        </p:nvCxnSpPr>
        <p:spPr bwMode="auto">
          <a:xfrm flipH="1">
            <a:off x="2004991" y="2845997"/>
            <a:ext cx="164005" cy="262355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858862636" name="Group 115"/>
          <p:cNvGrpSpPr/>
          <p:nvPr/>
        </p:nvGrpSpPr>
        <p:grpSpPr bwMode="auto">
          <a:xfrm>
            <a:off x="2775678" y="3713071"/>
            <a:ext cx="535724" cy="457200"/>
            <a:chOff x="3224790" y="3575410"/>
            <a:chExt cx="535724" cy="457200"/>
          </a:xfrm>
        </p:grpSpPr>
        <p:sp>
          <p:nvSpPr>
            <p:cNvPr id="117" name="Oval 116"/>
            <p:cNvSpPr/>
            <p:nvPr/>
          </p:nvSpPr>
          <p:spPr bwMode="auto">
            <a:xfrm>
              <a:off x="3264517" y="3575410"/>
              <a:ext cx="4572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18" name="TextBox 117"/>
            <p:cNvSpPr txBox="1"/>
            <p:nvPr/>
          </p:nvSpPr>
          <p:spPr bwMode="auto">
            <a:xfrm>
              <a:off x="3224790" y="3627010"/>
              <a:ext cx="53572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300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864790614" name="Straight Arrow Connector 119"/>
          <p:cNvCxnSpPr>
            <a:stCxn id="90" idx="5"/>
            <a:endCxn id="117" idx="0"/>
          </p:cNvCxnSpPr>
          <p:nvPr/>
        </p:nvCxnSpPr>
        <p:spPr bwMode="auto">
          <a:xfrm>
            <a:off x="2758526" y="3420330"/>
            <a:ext cx="285479" cy="292741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426035557" name="Group 120"/>
          <p:cNvGrpSpPr/>
          <p:nvPr/>
        </p:nvGrpSpPr>
        <p:grpSpPr bwMode="auto">
          <a:xfrm>
            <a:off x="237402" y="3753947"/>
            <a:ext cx="356400" cy="375446"/>
            <a:chOff x="3264517" y="3575410"/>
            <a:chExt cx="356400" cy="375446"/>
          </a:xfrm>
        </p:grpSpPr>
        <p:sp>
          <p:nvSpPr>
            <p:cNvPr id="122" name="Oval 121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23" name="TextBox 122"/>
            <p:cNvSpPr txBox="1"/>
            <p:nvPr/>
          </p:nvSpPr>
          <p:spPr bwMode="auto">
            <a:xfrm>
              <a:off x="3294679" y="3581524"/>
              <a:ext cx="301685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0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667691657" name="Straight Arrow Connector 124"/>
          <p:cNvCxnSpPr>
            <a:stCxn id="97" idx="3"/>
            <a:endCxn id="122" idx="0"/>
          </p:cNvCxnSpPr>
          <p:nvPr/>
        </p:nvCxnSpPr>
        <p:spPr bwMode="auto">
          <a:xfrm flipH="1">
            <a:off x="415602" y="3416919"/>
            <a:ext cx="235278" cy="337029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33991746" name="TextBox 125"/>
          <p:cNvSpPr txBox="1"/>
          <p:nvPr/>
        </p:nvSpPr>
        <p:spPr bwMode="auto">
          <a:xfrm>
            <a:off x="921033" y="1593023"/>
            <a:ext cx="3866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sz="1600" b="1"/>
              <a:t>, </a:t>
            </a:r>
            <a:r>
              <a:rPr lang="en-IN" sz="1600" b="1">
                <a:solidFill>
                  <a:srgbClr val="C00000"/>
                </a:solidFill>
              </a:rPr>
              <a:t>0</a:t>
            </a:r>
            <a:endParaRPr lang="en-US" sz="1600">
              <a:solidFill>
                <a:srgbClr val="C00000"/>
              </a:solidFill>
            </a:endParaRPr>
          </a:p>
        </p:txBody>
      </p:sp>
      <p:sp>
        <p:nvSpPr>
          <p:cNvPr id="700060356" name="TextBox 126"/>
          <p:cNvSpPr txBox="1"/>
          <p:nvPr/>
        </p:nvSpPr>
        <p:spPr bwMode="auto">
          <a:xfrm>
            <a:off x="582451" y="375700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667161096" name="TextBox 127"/>
          <p:cNvSpPr txBox="1"/>
          <p:nvPr/>
        </p:nvSpPr>
        <p:spPr bwMode="auto">
          <a:xfrm>
            <a:off x="2488307" y="375700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568953033" name="TextBox 128"/>
          <p:cNvSpPr txBox="1"/>
          <p:nvPr/>
        </p:nvSpPr>
        <p:spPr bwMode="auto">
          <a:xfrm>
            <a:off x="319744" y="3105331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  <p:sp>
        <p:nvSpPr>
          <p:cNvPr id="2075230088" name="TextBox 129"/>
          <p:cNvSpPr txBox="1"/>
          <p:nvPr/>
        </p:nvSpPr>
        <p:spPr bwMode="auto">
          <a:xfrm>
            <a:off x="1337476" y="345082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299965755" name="TextBox 130"/>
          <p:cNvSpPr txBox="1"/>
          <p:nvPr/>
        </p:nvSpPr>
        <p:spPr bwMode="auto">
          <a:xfrm>
            <a:off x="1860066" y="345082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307302862" name="TextBox 131"/>
          <p:cNvSpPr txBox="1"/>
          <p:nvPr/>
        </p:nvSpPr>
        <p:spPr bwMode="auto">
          <a:xfrm>
            <a:off x="2844492" y="310533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1587404803" name="TextBox 132"/>
          <p:cNvSpPr txBox="1"/>
          <p:nvPr/>
        </p:nvSpPr>
        <p:spPr bwMode="auto">
          <a:xfrm>
            <a:off x="673850" y="2534114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  <p:sp>
        <p:nvSpPr>
          <p:cNvPr id="2137768138" name="TextBox 133"/>
          <p:cNvSpPr txBox="1"/>
          <p:nvPr/>
        </p:nvSpPr>
        <p:spPr bwMode="auto">
          <a:xfrm>
            <a:off x="2473202" y="253411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953390482" name="TextBox 134"/>
          <p:cNvSpPr txBox="1"/>
          <p:nvPr/>
        </p:nvSpPr>
        <p:spPr bwMode="auto">
          <a:xfrm>
            <a:off x="1872567" y="190306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276301890" name="TextBox 137"/>
          <p:cNvSpPr txBox="1"/>
          <p:nvPr/>
        </p:nvSpPr>
        <p:spPr bwMode="auto">
          <a:xfrm>
            <a:off x="3429000" y="1582293"/>
            <a:ext cx="873282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/>
              <a:t>Insert </a:t>
            </a:r>
            <a:r>
              <a:rPr lang="en-IN" sz="1600" b="1">
                <a:solidFill>
                  <a:srgbClr val="C00000"/>
                </a:solidFill>
              </a:rPr>
              <a:t>5</a:t>
            </a:r>
            <a:endParaRPr lang="en-US" sz="1600" b="1">
              <a:solidFill>
                <a:srgbClr val="C00000"/>
              </a:solidFill>
            </a:endParaRPr>
          </a:p>
        </p:txBody>
      </p:sp>
      <p:grpSp>
        <p:nvGrpSpPr>
          <p:cNvPr id="1697365716" name="Group 138"/>
          <p:cNvGrpSpPr/>
          <p:nvPr/>
        </p:nvGrpSpPr>
        <p:grpSpPr bwMode="auto">
          <a:xfrm>
            <a:off x="4913885" y="1784723"/>
            <a:ext cx="418704" cy="369332"/>
            <a:chOff x="2891504" y="3121265"/>
            <a:chExt cx="418704" cy="369332"/>
          </a:xfrm>
        </p:grpSpPr>
        <p:sp>
          <p:nvSpPr>
            <p:cNvPr id="140" name="Oval 139"/>
            <p:cNvSpPr/>
            <p:nvPr/>
          </p:nvSpPr>
          <p:spPr bwMode="auto">
            <a:xfrm>
              <a:off x="2923090" y="31242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41" name="TextBox 140"/>
            <p:cNvSpPr txBox="1"/>
            <p:nvPr/>
          </p:nvSpPr>
          <p:spPr bwMode="auto">
            <a:xfrm>
              <a:off x="2891504" y="3121265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76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486058620" name="Group 141"/>
          <p:cNvGrpSpPr/>
          <p:nvPr/>
        </p:nvGrpSpPr>
        <p:grpSpPr bwMode="auto">
          <a:xfrm>
            <a:off x="5450441" y="2399644"/>
            <a:ext cx="418704" cy="369332"/>
            <a:chOff x="5495274" y="2501992"/>
            <a:chExt cx="418704" cy="369332"/>
          </a:xfrm>
        </p:grpSpPr>
        <p:sp>
          <p:nvSpPr>
            <p:cNvPr id="143" name="Oval 142"/>
            <p:cNvSpPr/>
            <p:nvPr/>
          </p:nvSpPr>
          <p:spPr bwMode="auto">
            <a:xfrm>
              <a:off x="5511000" y="2509669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44" name="TextBox 143"/>
            <p:cNvSpPr txBox="1"/>
            <p:nvPr/>
          </p:nvSpPr>
          <p:spPr bwMode="auto">
            <a:xfrm>
              <a:off x="5495274" y="2501992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81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764274592" name="Straight Arrow Connector 144"/>
          <p:cNvCxnSpPr>
            <a:stCxn id="140" idx="5"/>
            <a:endCxn id="143" idx="0"/>
          </p:cNvCxnSpPr>
          <p:nvPr/>
        </p:nvCxnSpPr>
        <p:spPr bwMode="auto">
          <a:xfrm>
            <a:off x="5249677" y="2091865"/>
            <a:ext cx="394690" cy="31545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634000642" name="Group 145"/>
          <p:cNvGrpSpPr/>
          <p:nvPr/>
        </p:nvGrpSpPr>
        <p:grpSpPr bwMode="auto">
          <a:xfrm>
            <a:off x="5757969" y="2967144"/>
            <a:ext cx="418704" cy="369332"/>
            <a:chOff x="3245695" y="3564617"/>
            <a:chExt cx="418704" cy="369332"/>
          </a:xfrm>
        </p:grpSpPr>
        <p:sp>
          <p:nvSpPr>
            <p:cNvPr id="147" name="Oval 146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48" name="TextBox 147"/>
            <p:cNvSpPr txBox="1"/>
            <p:nvPr/>
          </p:nvSpPr>
          <p:spPr bwMode="auto">
            <a:xfrm>
              <a:off x="3245695" y="3564617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82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332476493" name="Straight Arrow Connector 148"/>
          <p:cNvCxnSpPr>
            <a:stCxn id="143" idx="5"/>
            <a:endCxn id="147" idx="0"/>
          </p:cNvCxnSpPr>
          <p:nvPr/>
        </p:nvCxnSpPr>
        <p:spPr bwMode="auto">
          <a:xfrm>
            <a:off x="5770373" y="2711527"/>
            <a:ext cx="184618" cy="26641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604563935" name="Group 149"/>
          <p:cNvGrpSpPr/>
          <p:nvPr/>
        </p:nvGrpSpPr>
        <p:grpSpPr bwMode="auto">
          <a:xfrm>
            <a:off x="4406293" y="2399644"/>
            <a:ext cx="440239" cy="369332"/>
            <a:chOff x="2743339" y="5563807"/>
            <a:chExt cx="440239" cy="369332"/>
          </a:xfrm>
        </p:grpSpPr>
        <p:sp>
          <p:nvSpPr>
            <p:cNvPr id="151" name="Oval 150"/>
            <p:cNvSpPr/>
            <p:nvPr/>
          </p:nvSpPr>
          <p:spPr bwMode="auto">
            <a:xfrm>
              <a:off x="2794450" y="5575793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52" name="TextBox 151"/>
            <p:cNvSpPr txBox="1"/>
            <p:nvPr/>
          </p:nvSpPr>
          <p:spPr bwMode="auto">
            <a:xfrm>
              <a:off x="2743339" y="5563807"/>
              <a:ext cx="440239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sp>
        <p:nvSpPr>
          <p:cNvPr id="841551329" name="Oval 153"/>
          <p:cNvSpPr/>
          <p:nvPr/>
        </p:nvSpPr>
        <p:spPr bwMode="auto">
          <a:xfrm>
            <a:off x="4163202" y="2967144"/>
            <a:ext cx="356400" cy="356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600" b="1"/>
          </a:p>
        </p:txBody>
      </p:sp>
      <p:sp>
        <p:nvSpPr>
          <p:cNvPr id="1094917587" name="TextBox 154"/>
          <p:cNvSpPr txBox="1"/>
          <p:nvPr/>
        </p:nvSpPr>
        <p:spPr bwMode="auto">
          <a:xfrm>
            <a:off x="4119274" y="2953697"/>
            <a:ext cx="44023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chemeClr val="bg1"/>
                </a:solidFill>
              </a:rPr>
              <a:t>60</a:t>
            </a:r>
            <a:endParaRPr lang="en-US" b="1">
              <a:solidFill>
                <a:schemeClr val="bg1"/>
              </a:solidFill>
            </a:endParaRPr>
          </a:p>
        </p:txBody>
      </p:sp>
      <p:cxnSp>
        <p:nvCxnSpPr>
          <p:cNvPr id="460558926" name="Straight Arrow Connector 155"/>
          <p:cNvCxnSpPr>
            <a:stCxn id="140" idx="3"/>
            <a:endCxn id="151" idx="0"/>
          </p:cNvCxnSpPr>
          <p:nvPr/>
        </p:nvCxnSpPr>
        <p:spPr bwMode="auto">
          <a:xfrm flipH="1">
            <a:off x="4635604" y="2091865"/>
            <a:ext cx="362061" cy="31976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63481697" name="Straight Arrow Connector 156"/>
          <p:cNvCxnSpPr>
            <a:stCxn id="151" idx="3"/>
            <a:endCxn id="841551329" idx="0"/>
          </p:cNvCxnSpPr>
          <p:nvPr/>
        </p:nvCxnSpPr>
        <p:spPr bwMode="auto">
          <a:xfrm flipH="1">
            <a:off x="4341402" y="2715837"/>
            <a:ext cx="168196" cy="25130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2075203169" name="Group 157"/>
          <p:cNvGrpSpPr/>
          <p:nvPr/>
        </p:nvGrpSpPr>
        <p:grpSpPr bwMode="auto">
          <a:xfrm>
            <a:off x="4728873" y="2967144"/>
            <a:ext cx="418704" cy="369332"/>
            <a:chOff x="2598284" y="2678144"/>
            <a:chExt cx="418704" cy="369332"/>
          </a:xfrm>
        </p:grpSpPr>
        <p:sp>
          <p:nvSpPr>
            <p:cNvPr id="159" name="Oval 158"/>
            <p:cNvSpPr/>
            <p:nvPr/>
          </p:nvSpPr>
          <p:spPr bwMode="auto">
            <a:xfrm>
              <a:off x="2625774" y="2686661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60" name="TextBox 159"/>
            <p:cNvSpPr txBox="1"/>
            <p:nvPr/>
          </p:nvSpPr>
          <p:spPr bwMode="auto">
            <a:xfrm>
              <a:off x="2598284" y="267814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75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711963814" name="Straight Arrow Connector 160"/>
          <p:cNvCxnSpPr>
            <a:stCxn id="151" idx="5"/>
            <a:endCxn id="159" idx="0"/>
          </p:cNvCxnSpPr>
          <p:nvPr/>
        </p:nvCxnSpPr>
        <p:spPr bwMode="auto">
          <a:xfrm>
            <a:off x="4761610" y="2715837"/>
            <a:ext cx="172953" cy="259825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523678589" name="Group 161"/>
          <p:cNvGrpSpPr/>
          <p:nvPr/>
        </p:nvGrpSpPr>
        <p:grpSpPr bwMode="auto">
          <a:xfrm>
            <a:off x="5224569" y="2967144"/>
            <a:ext cx="418704" cy="369332"/>
            <a:chOff x="3245695" y="3572389"/>
            <a:chExt cx="418704" cy="369332"/>
          </a:xfrm>
        </p:grpSpPr>
        <p:sp>
          <p:nvSpPr>
            <p:cNvPr id="163" name="Oval 162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64" name="TextBox 163"/>
            <p:cNvSpPr txBox="1"/>
            <p:nvPr/>
          </p:nvSpPr>
          <p:spPr bwMode="auto">
            <a:xfrm>
              <a:off x="3245695" y="3572389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79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94039261" name="Straight Arrow Connector 164"/>
          <p:cNvCxnSpPr>
            <a:stCxn id="143" idx="3"/>
            <a:endCxn id="163" idx="0"/>
          </p:cNvCxnSpPr>
          <p:nvPr/>
        </p:nvCxnSpPr>
        <p:spPr bwMode="auto">
          <a:xfrm flipH="1">
            <a:off x="5421591" y="2711527"/>
            <a:ext cx="96770" cy="258638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929346001" name="Group 165"/>
          <p:cNvGrpSpPr/>
          <p:nvPr/>
        </p:nvGrpSpPr>
        <p:grpSpPr bwMode="auto">
          <a:xfrm>
            <a:off x="6098149" y="3547563"/>
            <a:ext cx="535724" cy="457200"/>
            <a:chOff x="3224790" y="3575410"/>
            <a:chExt cx="535724" cy="457200"/>
          </a:xfrm>
        </p:grpSpPr>
        <p:sp>
          <p:nvSpPr>
            <p:cNvPr id="167" name="Oval 166"/>
            <p:cNvSpPr/>
            <p:nvPr/>
          </p:nvSpPr>
          <p:spPr bwMode="auto">
            <a:xfrm>
              <a:off x="3264517" y="3575410"/>
              <a:ext cx="4572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68" name="TextBox 167"/>
            <p:cNvSpPr txBox="1"/>
            <p:nvPr/>
          </p:nvSpPr>
          <p:spPr bwMode="auto">
            <a:xfrm>
              <a:off x="3224790" y="3627010"/>
              <a:ext cx="53572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300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975253276" name="Straight Arrow Connector 168"/>
          <p:cNvCxnSpPr>
            <a:stCxn id="147" idx="5"/>
            <a:endCxn id="167" idx="0"/>
          </p:cNvCxnSpPr>
          <p:nvPr/>
        </p:nvCxnSpPr>
        <p:spPr bwMode="auto">
          <a:xfrm>
            <a:off x="6080997" y="3282143"/>
            <a:ext cx="285479" cy="26542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869412814" name="Group 169"/>
          <p:cNvGrpSpPr/>
          <p:nvPr/>
        </p:nvGrpSpPr>
        <p:grpSpPr bwMode="auto">
          <a:xfrm>
            <a:off x="3890673" y="3591497"/>
            <a:ext cx="356400" cy="369332"/>
            <a:chOff x="3245695" y="3551237"/>
            <a:chExt cx="356400" cy="369332"/>
          </a:xfrm>
        </p:grpSpPr>
        <p:sp>
          <p:nvSpPr>
            <p:cNvPr id="171" name="Oval 170"/>
            <p:cNvSpPr/>
            <p:nvPr/>
          </p:nvSpPr>
          <p:spPr bwMode="auto">
            <a:xfrm>
              <a:off x="3245695" y="3552949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72" name="TextBox 171"/>
            <p:cNvSpPr txBox="1"/>
            <p:nvPr/>
          </p:nvSpPr>
          <p:spPr bwMode="auto">
            <a:xfrm>
              <a:off x="3267995" y="3551237"/>
              <a:ext cx="301685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0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980452590" name="Straight Arrow Connector 172"/>
          <p:cNvCxnSpPr>
            <a:stCxn id="841551329" idx="3"/>
            <a:endCxn id="171" idx="0"/>
          </p:cNvCxnSpPr>
          <p:nvPr/>
        </p:nvCxnSpPr>
        <p:spPr bwMode="auto">
          <a:xfrm flipH="1">
            <a:off x="4068873" y="3271350"/>
            <a:ext cx="146523" cy="321859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940025820" name="Group 182"/>
          <p:cNvGrpSpPr/>
          <p:nvPr/>
        </p:nvGrpSpPr>
        <p:grpSpPr bwMode="auto">
          <a:xfrm>
            <a:off x="4255932" y="4213437"/>
            <a:ext cx="356400" cy="369332"/>
            <a:chOff x="3264517" y="3565396"/>
            <a:chExt cx="356400" cy="369332"/>
          </a:xfrm>
        </p:grpSpPr>
        <p:sp>
          <p:nvSpPr>
            <p:cNvPr id="184" name="Oval 183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85" name="TextBox 184"/>
            <p:cNvSpPr txBox="1"/>
            <p:nvPr/>
          </p:nvSpPr>
          <p:spPr bwMode="auto">
            <a:xfrm>
              <a:off x="3285759" y="3565396"/>
              <a:ext cx="301685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5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709529617" name="Straight Arrow Connector 186"/>
          <p:cNvCxnSpPr>
            <a:stCxn id="171" idx="5"/>
            <a:endCxn id="184" idx="0"/>
          </p:cNvCxnSpPr>
          <p:nvPr/>
        </p:nvCxnSpPr>
        <p:spPr bwMode="auto">
          <a:xfrm>
            <a:off x="4194879" y="3897415"/>
            <a:ext cx="239253" cy="32603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2820555" name="TextBox 187"/>
          <p:cNvSpPr txBox="1"/>
          <p:nvPr/>
        </p:nvSpPr>
        <p:spPr bwMode="auto">
          <a:xfrm>
            <a:off x="3968387" y="4220208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225758698" name="TextBox 188"/>
          <p:cNvSpPr txBox="1"/>
          <p:nvPr/>
        </p:nvSpPr>
        <p:spPr bwMode="auto">
          <a:xfrm>
            <a:off x="3599322" y="359149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1610757407" name="TextBox 189"/>
          <p:cNvSpPr txBox="1"/>
          <p:nvPr/>
        </p:nvSpPr>
        <p:spPr bwMode="auto">
          <a:xfrm>
            <a:off x="5321432" y="1767248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Critical</a:t>
            </a:r>
            <a:endParaRPr/>
          </a:p>
        </p:txBody>
      </p:sp>
      <p:sp>
        <p:nvSpPr>
          <p:cNvPr id="486954515" name="TextBox 190"/>
          <p:cNvSpPr txBox="1"/>
          <p:nvPr/>
        </p:nvSpPr>
        <p:spPr bwMode="auto">
          <a:xfrm>
            <a:off x="6262455" y="1598504"/>
            <a:ext cx="277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/>
              <a:t>Case 2:</a:t>
            </a:r>
            <a:r>
              <a:rPr lang="en-US"/>
              <a:t> </a:t>
            </a:r>
            <a:r>
              <a:rPr lang="en-US" b="1">
                <a:solidFill>
                  <a:srgbClr val="C00000"/>
                </a:solidFill>
              </a:rPr>
              <a:t>Left Right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 b="1">
                <a:solidFill>
                  <a:srgbClr val="C00000"/>
                </a:solidFill>
              </a:rPr>
              <a:t>Rotation</a:t>
            </a:r>
            <a:r>
              <a:rPr lang="en-US"/>
              <a:t>,</a:t>
            </a:r>
            <a:endParaRPr/>
          </a:p>
          <a:p>
            <a:pPr algn="ctr">
              <a:defRPr/>
            </a:pPr>
            <a:r>
              <a:rPr lang="en-US" b="1">
                <a:solidFill>
                  <a:srgbClr val="C00000"/>
                </a:solidFill>
              </a:rPr>
              <a:t>Left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 b="1">
                <a:solidFill>
                  <a:srgbClr val="C00000"/>
                </a:solidFill>
              </a:rPr>
              <a:t>Rotation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of Left Child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 b="1">
                <a:solidFill>
                  <a:srgbClr val="C00000"/>
                </a:solidFill>
              </a:rPr>
              <a:t>0</a:t>
            </a:r>
            <a:r>
              <a:rPr lang="en-US"/>
              <a:t>, </a:t>
            </a:r>
            <a:endParaRPr/>
          </a:p>
          <a:p>
            <a:pPr algn="ctr">
              <a:defRPr/>
            </a:pPr>
            <a:r>
              <a:rPr lang="en-US"/>
              <a:t>Followed By</a:t>
            </a:r>
            <a:endParaRPr/>
          </a:p>
          <a:p>
            <a:pPr algn="ctr">
              <a:defRPr/>
            </a:pPr>
            <a:r>
              <a:rPr lang="en-US" b="1">
                <a:solidFill>
                  <a:srgbClr val="C00000"/>
                </a:solidFill>
              </a:rPr>
              <a:t>Right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 b="1">
                <a:solidFill>
                  <a:srgbClr val="C00000"/>
                </a:solidFill>
              </a:rPr>
              <a:t>Rotation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of Parent </a:t>
            </a:r>
            <a:r>
              <a:rPr lang="en-US" b="1">
                <a:solidFill>
                  <a:srgbClr val="C00000"/>
                </a:solidFill>
              </a:rPr>
              <a:t>60</a:t>
            </a:r>
            <a:endParaRPr/>
          </a:p>
        </p:txBody>
      </p:sp>
      <p:grpSp>
        <p:nvGrpSpPr>
          <p:cNvPr id="573827813" name="Group 191"/>
          <p:cNvGrpSpPr/>
          <p:nvPr/>
        </p:nvGrpSpPr>
        <p:grpSpPr bwMode="auto">
          <a:xfrm>
            <a:off x="10126856" y="1784723"/>
            <a:ext cx="418704" cy="369332"/>
            <a:chOff x="2891504" y="3121265"/>
            <a:chExt cx="418704" cy="369332"/>
          </a:xfrm>
        </p:grpSpPr>
        <p:sp>
          <p:nvSpPr>
            <p:cNvPr id="193" name="Oval 192"/>
            <p:cNvSpPr/>
            <p:nvPr/>
          </p:nvSpPr>
          <p:spPr bwMode="auto">
            <a:xfrm>
              <a:off x="2923090" y="312420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94" name="TextBox 193"/>
            <p:cNvSpPr txBox="1"/>
            <p:nvPr/>
          </p:nvSpPr>
          <p:spPr bwMode="auto">
            <a:xfrm>
              <a:off x="2891504" y="3121265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76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711451360" name="Group 194"/>
          <p:cNvGrpSpPr/>
          <p:nvPr/>
        </p:nvGrpSpPr>
        <p:grpSpPr bwMode="auto">
          <a:xfrm>
            <a:off x="10744094" y="2399644"/>
            <a:ext cx="418704" cy="369332"/>
            <a:chOff x="5495274" y="2501992"/>
            <a:chExt cx="418704" cy="369332"/>
          </a:xfrm>
        </p:grpSpPr>
        <p:sp>
          <p:nvSpPr>
            <p:cNvPr id="196" name="Oval 195"/>
            <p:cNvSpPr/>
            <p:nvPr/>
          </p:nvSpPr>
          <p:spPr bwMode="auto">
            <a:xfrm>
              <a:off x="5511000" y="2509669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97" name="TextBox 196"/>
            <p:cNvSpPr txBox="1"/>
            <p:nvPr/>
          </p:nvSpPr>
          <p:spPr bwMode="auto">
            <a:xfrm>
              <a:off x="5495274" y="2501992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81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781989525" name="Straight Arrow Connector 197"/>
          <p:cNvCxnSpPr>
            <a:stCxn id="193" idx="5"/>
            <a:endCxn id="196" idx="0"/>
          </p:cNvCxnSpPr>
          <p:nvPr/>
        </p:nvCxnSpPr>
        <p:spPr bwMode="auto">
          <a:xfrm>
            <a:off x="10462648" y="2091865"/>
            <a:ext cx="475372" cy="31545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852571637" name="Group 198"/>
          <p:cNvGrpSpPr/>
          <p:nvPr/>
        </p:nvGrpSpPr>
        <p:grpSpPr bwMode="auto">
          <a:xfrm>
            <a:off x="11105410" y="2967144"/>
            <a:ext cx="418704" cy="369332"/>
            <a:chOff x="3245695" y="3564617"/>
            <a:chExt cx="418704" cy="369332"/>
          </a:xfrm>
        </p:grpSpPr>
        <p:sp>
          <p:nvSpPr>
            <p:cNvPr id="200" name="Oval 199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01" name="TextBox 200"/>
            <p:cNvSpPr txBox="1"/>
            <p:nvPr/>
          </p:nvSpPr>
          <p:spPr bwMode="auto">
            <a:xfrm>
              <a:off x="3245695" y="3564617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82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897655001" name="Straight Arrow Connector 201"/>
          <p:cNvCxnSpPr>
            <a:stCxn id="196" idx="5"/>
            <a:endCxn id="200" idx="0"/>
          </p:cNvCxnSpPr>
          <p:nvPr/>
        </p:nvCxnSpPr>
        <p:spPr bwMode="auto">
          <a:xfrm>
            <a:off x="11064026" y="2711527"/>
            <a:ext cx="238406" cy="26641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949907631" name="Group 202"/>
          <p:cNvGrpSpPr/>
          <p:nvPr/>
        </p:nvGrpSpPr>
        <p:grpSpPr bwMode="auto">
          <a:xfrm>
            <a:off x="9471347" y="2399644"/>
            <a:ext cx="440239" cy="369332"/>
            <a:chOff x="2743339" y="5563807"/>
            <a:chExt cx="440239" cy="369332"/>
          </a:xfrm>
        </p:grpSpPr>
        <p:sp>
          <p:nvSpPr>
            <p:cNvPr id="204" name="Oval 203"/>
            <p:cNvSpPr/>
            <p:nvPr/>
          </p:nvSpPr>
          <p:spPr bwMode="auto">
            <a:xfrm>
              <a:off x="2794450" y="5575793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05" name="TextBox 204"/>
            <p:cNvSpPr txBox="1"/>
            <p:nvPr/>
          </p:nvSpPr>
          <p:spPr bwMode="auto">
            <a:xfrm>
              <a:off x="2743339" y="5563807"/>
              <a:ext cx="440239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sp>
        <p:nvSpPr>
          <p:cNvPr id="1334719366" name="Oval 205"/>
          <p:cNvSpPr/>
          <p:nvPr/>
        </p:nvSpPr>
        <p:spPr bwMode="auto">
          <a:xfrm>
            <a:off x="9147574" y="2973610"/>
            <a:ext cx="356400" cy="356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600" b="1"/>
          </a:p>
        </p:txBody>
      </p:sp>
      <p:sp>
        <p:nvSpPr>
          <p:cNvPr id="395655072" name="TextBox 206"/>
          <p:cNvSpPr txBox="1"/>
          <p:nvPr/>
        </p:nvSpPr>
        <p:spPr bwMode="auto">
          <a:xfrm>
            <a:off x="9103646" y="2967144"/>
            <a:ext cx="44023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chemeClr val="bg1"/>
                </a:solidFill>
              </a:rPr>
              <a:t>5</a:t>
            </a:r>
            <a:endParaRPr lang="en-US" b="1">
              <a:solidFill>
                <a:schemeClr val="bg1"/>
              </a:solidFill>
            </a:endParaRPr>
          </a:p>
        </p:txBody>
      </p:sp>
      <p:cxnSp>
        <p:nvCxnSpPr>
          <p:cNvPr id="1364276244" name="Straight Arrow Connector 207"/>
          <p:cNvCxnSpPr>
            <a:stCxn id="193" idx="3"/>
            <a:endCxn id="204" idx="0"/>
          </p:cNvCxnSpPr>
          <p:nvPr/>
        </p:nvCxnSpPr>
        <p:spPr bwMode="auto">
          <a:xfrm flipH="1">
            <a:off x="9700658" y="2091865"/>
            <a:ext cx="509978" cy="31976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86178272" name="Straight Arrow Connector 208"/>
          <p:cNvCxnSpPr>
            <a:stCxn id="204" idx="3"/>
            <a:endCxn id="1334719366" idx="0"/>
          </p:cNvCxnSpPr>
          <p:nvPr/>
        </p:nvCxnSpPr>
        <p:spPr bwMode="auto">
          <a:xfrm flipH="1">
            <a:off x="9325774" y="2715837"/>
            <a:ext cx="248878" cy="257773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375738390" name="Group 209"/>
          <p:cNvGrpSpPr/>
          <p:nvPr/>
        </p:nvGrpSpPr>
        <p:grpSpPr bwMode="auto">
          <a:xfrm>
            <a:off x="9941844" y="2967144"/>
            <a:ext cx="418704" cy="369332"/>
            <a:chOff x="2598284" y="2678144"/>
            <a:chExt cx="418704" cy="369332"/>
          </a:xfrm>
        </p:grpSpPr>
        <p:sp>
          <p:nvSpPr>
            <p:cNvPr id="211" name="Oval 210"/>
            <p:cNvSpPr/>
            <p:nvPr/>
          </p:nvSpPr>
          <p:spPr bwMode="auto">
            <a:xfrm>
              <a:off x="2625774" y="2686661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12" name="TextBox 211"/>
            <p:cNvSpPr txBox="1"/>
            <p:nvPr/>
          </p:nvSpPr>
          <p:spPr bwMode="auto">
            <a:xfrm>
              <a:off x="2598284" y="267814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75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212498756" name="Straight Arrow Connector 212"/>
          <p:cNvCxnSpPr>
            <a:stCxn id="204" idx="5"/>
            <a:endCxn id="211" idx="0"/>
          </p:cNvCxnSpPr>
          <p:nvPr/>
        </p:nvCxnSpPr>
        <p:spPr bwMode="auto">
          <a:xfrm>
            <a:off x="9826664" y="2715837"/>
            <a:ext cx="320870" cy="259825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507496572" name="Group 213"/>
          <p:cNvGrpSpPr/>
          <p:nvPr/>
        </p:nvGrpSpPr>
        <p:grpSpPr bwMode="auto">
          <a:xfrm>
            <a:off x="10437540" y="2967144"/>
            <a:ext cx="418704" cy="369332"/>
            <a:chOff x="3245695" y="3572389"/>
            <a:chExt cx="418704" cy="369332"/>
          </a:xfrm>
        </p:grpSpPr>
        <p:sp>
          <p:nvSpPr>
            <p:cNvPr id="215" name="Oval 214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16" name="TextBox 215"/>
            <p:cNvSpPr txBox="1"/>
            <p:nvPr/>
          </p:nvSpPr>
          <p:spPr bwMode="auto">
            <a:xfrm>
              <a:off x="3245695" y="3572389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79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297376770" name="Straight Arrow Connector 216"/>
          <p:cNvCxnSpPr>
            <a:stCxn id="196" idx="3"/>
            <a:endCxn id="215" idx="0"/>
          </p:cNvCxnSpPr>
          <p:nvPr/>
        </p:nvCxnSpPr>
        <p:spPr bwMode="auto">
          <a:xfrm flipH="1">
            <a:off x="10634562" y="2711527"/>
            <a:ext cx="177452" cy="258638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2058155190" name="Group 217"/>
          <p:cNvGrpSpPr/>
          <p:nvPr/>
        </p:nvGrpSpPr>
        <p:grpSpPr bwMode="auto">
          <a:xfrm>
            <a:off x="11324567" y="3547563"/>
            <a:ext cx="535724" cy="457200"/>
            <a:chOff x="3224790" y="3575410"/>
            <a:chExt cx="535724" cy="457200"/>
          </a:xfrm>
        </p:grpSpPr>
        <p:sp>
          <p:nvSpPr>
            <p:cNvPr id="219" name="Oval 218"/>
            <p:cNvSpPr/>
            <p:nvPr/>
          </p:nvSpPr>
          <p:spPr bwMode="auto">
            <a:xfrm>
              <a:off x="3264517" y="3575410"/>
              <a:ext cx="4572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20" name="TextBox 219"/>
            <p:cNvSpPr txBox="1"/>
            <p:nvPr/>
          </p:nvSpPr>
          <p:spPr bwMode="auto">
            <a:xfrm>
              <a:off x="3224790" y="3627010"/>
              <a:ext cx="53572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300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315131500" name="Straight Arrow Connector 220"/>
          <p:cNvCxnSpPr>
            <a:stCxn id="200" idx="5"/>
            <a:endCxn id="219" idx="0"/>
          </p:cNvCxnSpPr>
          <p:nvPr/>
        </p:nvCxnSpPr>
        <p:spPr bwMode="auto">
          <a:xfrm>
            <a:off x="11428438" y="3282143"/>
            <a:ext cx="164456" cy="26542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12288135" name="Group 221"/>
          <p:cNvGrpSpPr/>
          <p:nvPr/>
        </p:nvGrpSpPr>
        <p:grpSpPr bwMode="auto">
          <a:xfrm>
            <a:off x="8794363" y="3537709"/>
            <a:ext cx="356400" cy="369332"/>
            <a:chOff x="3245695" y="3551237"/>
            <a:chExt cx="356400" cy="369332"/>
          </a:xfrm>
        </p:grpSpPr>
        <p:sp>
          <p:nvSpPr>
            <p:cNvPr id="223" name="Oval 222"/>
            <p:cNvSpPr/>
            <p:nvPr/>
          </p:nvSpPr>
          <p:spPr bwMode="auto">
            <a:xfrm>
              <a:off x="3245695" y="3552949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24" name="TextBox 223"/>
            <p:cNvSpPr txBox="1"/>
            <p:nvPr/>
          </p:nvSpPr>
          <p:spPr bwMode="auto">
            <a:xfrm>
              <a:off x="3267995" y="3551237"/>
              <a:ext cx="301685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0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780772547" name="Straight Arrow Connector 224"/>
          <p:cNvCxnSpPr>
            <a:stCxn id="1334719366" idx="3"/>
            <a:endCxn id="223" idx="0"/>
          </p:cNvCxnSpPr>
          <p:nvPr/>
        </p:nvCxnSpPr>
        <p:spPr bwMode="auto">
          <a:xfrm flipH="1">
            <a:off x="8972563" y="3277815"/>
            <a:ext cx="227205" cy="261605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589243589" name="Group 228"/>
          <p:cNvGrpSpPr/>
          <p:nvPr/>
        </p:nvGrpSpPr>
        <p:grpSpPr bwMode="auto">
          <a:xfrm>
            <a:off x="9557716" y="3537560"/>
            <a:ext cx="418704" cy="369631"/>
            <a:chOff x="3230807" y="3562179"/>
            <a:chExt cx="418704" cy="369631"/>
          </a:xfrm>
        </p:grpSpPr>
        <p:sp>
          <p:nvSpPr>
            <p:cNvPr id="230" name="Oval 229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31" name="TextBox 230"/>
            <p:cNvSpPr txBox="1"/>
            <p:nvPr/>
          </p:nvSpPr>
          <p:spPr bwMode="auto">
            <a:xfrm>
              <a:off x="3230807" y="3562179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60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711588941" name="Straight Arrow Connector 232"/>
          <p:cNvCxnSpPr>
            <a:stCxn id="1334719366" idx="5"/>
            <a:endCxn id="230" idx="0"/>
          </p:cNvCxnSpPr>
          <p:nvPr/>
        </p:nvCxnSpPr>
        <p:spPr bwMode="auto">
          <a:xfrm>
            <a:off x="9451779" y="3277815"/>
            <a:ext cx="317845" cy="272975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76876596" name="TextBox 235"/>
          <p:cNvSpPr txBox="1"/>
          <p:nvPr/>
        </p:nvSpPr>
        <p:spPr bwMode="auto">
          <a:xfrm>
            <a:off x="71888" y="4854385"/>
            <a:ext cx="967031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600"/>
              <a:t>Insert </a:t>
            </a:r>
            <a:r>
              <a:rPr lang="en-IN" sz="1600" b="1">
                <a:solidFill>
                  <a:srgbClr val="C00000"/>
                </a:solidFill>
              </a:rPr>
              <a:t>73</a:t>
            </a:r>
            <a:endParaRPr lang="en-US" sz="1600" b="1">
              <a:solidFill>
                <a:srgbClr val="C00000"/>
              </a:solidFill>
            </a:endParaRPr>
          </a:p>
        </p:txBody>
      </p:sp>
      <p:sp>
        <p:nvSpPr>
          <p:cNvPr id="1320406011" name="TextBox 236"/>
          <p:cNvSpPr txBox="1"/>
          <p:nvPr/>
        </p:nvSpPr>
        <p:spPr bwMode="auto">
          <a:xfrm>
            <a:off x="71888" y="5233123"/>
            <a:ext cx="46522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sz="2200"/>
              <a:t>Can not Insert </a:t>
            </a:r>
            <a:r>
              <a:rPr lang="en-IN" sz="2200" b="1">
                <a:solidFill>
                  <a:srgbClr val="C00000"/>
                </a:solidFill>
              </a:rPr>
              <a:t>73</a:t>
            </a:r>
            <a:r>
              <a:rPr lang="en-IN" sz="2200" b="1">
                <a:solidFill>
                  <a:srgbClr val="FF0000"/>
                </a:solidFill>
              </a:rPr>
              <a:t> </a:t>
            </a:r>
            <a:r>
              <a:rPr lang="en-IN" sz="2200"/>
              <a:t>as duplicate key found</a:t>
            </a:r>
            <a:endParaRPr lang="en-US" sz="2200"/>
          </a:p>
        </p:txBody>
      </p:sp>
      <p:cxnSp>
        <p:nvCxnSpPr>
          <p:cNvPr id="538110456" name="Straight Connector 237"/>
          <p:cNvCxnSpPr/>
          <p:nvPr/>
        </p:nvCxnSpPr>
        <p:spPr bwMode="auto">
          <a:xfrm>
            <a:off x="3429000" y="1593023"/>
            <a:ext cx="0" cy="32613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84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4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207904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7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5917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176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324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824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66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3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3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338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692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0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42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48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80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290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79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64790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862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99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69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1667691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03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06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16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95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23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965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2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04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776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9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110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30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36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05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427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000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7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63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55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91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55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48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203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96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678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3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34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253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452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41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529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709529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2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820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75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757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10" fill="hold"/>
                                        <p:tgtEl>
                                          <p:spTgt spid="8415513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74" dur="10" fill="hold"/>
                                        <p:tgtEl>
                                          <p:spTgt spid="8415513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" dur="10" fill="hold"/>
                                        <p:tgtEl>
                                          <p:spTgt spid="8415513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95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2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45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89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57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65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907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719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65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27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78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738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498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49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376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13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8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77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24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588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155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876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40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4840901" grpId="0"/>
      <p:bldP spid="1000176473" grpId="0" animBg="1"/>
      <p:bldP spid="533991746" grpId="0"/>
      <p:bldP spid="700060356" grpId="0"/>
      <p:bldP spid="667161096" grpId="0"/>
      <p:bldP spid="568953033" grpId="0"/>
      <p:bldP spid="2075230088" grpId="0"/>
      <p:bldP spid="299965755" grpId="0"/>
      <p:bldP spid="307302862" grpId="0"/>
      <p:bldP spid="1587404803" grpId="0"/>
      <p:bldP spid="2137768138" grpId="0"/>
      <p:bldP spid="953390482" grpId="0"/>
      <p:bldP spid="276301890" grpId="0" animBg="1"/>
      <p:bldP spid="841551329" grpId="0" animBg="1"/>
      <p:bldP spid="1094917587" grpId="0"/>
      <p:bldP spid="392820555" grpId="0"/>
      <p:bldP spid="1225758698" grpId="0"/>
      <p:bldP spid="1610757407" grpId="0"/>
      <p:bldP spid="486954515" grpId="0"/>
      <p:bldP spid="1334719366" grpId="0" animBg="1"/>
      <p:bldP spid="395655072" grpId="0"/>
      <p:bldP spid="476876596" grpId="0" animBg="1"/>
      <p:bldP spid="13204060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44693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Deleting node from AVL Tree</a:t>
            </a:r>
            <a:endParaRPr/>
          </a:p>
        </p:txBody>
      </p:sp>
      <p:sp>
        <p:nvSpPr>
          <p:cNvPr id="702193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If element to be deleted </a:t>
            </a:r>
            <a:r>
              <a:rPr lang="en-US" b="1">
                <a:solidFill>
                  <a:srgbClr val="C00000"/>
                </a:solidFill>
              </a:rPr>
              <a:t>does not have empty right sub-tree</a:t>
            </a:r>
            <a:r>
              <a:rPr lang="en-US"/>
              <a:t>, then </a:t>
            </a:r>
            <a:r>
              <a:rPr lang="en-US" b="1">
                <a:solidFill>
                  <a:srgbClr val="C00000"/>
                </a:solidFill>
              </a:rPr>
              <a:t>element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is </a:t>
            </a:r>
            <a:r>
              <a:rPr lang="en-US" b="1">
                <a:solidFill>
                  <a:srgbClr val="C00000"/>
                </a:solidFill>
              </a:rPr>
              <a:t>replaced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with its </a:t>
            </a:r>
            <a:r>
              <a:rPr lang="en-US" b="1">
                <a:solidFill>
                  <a:srgbClr val="C00000"/>
                </a:solidFill>
              </a:rPr>
              <a:t>In-Order successor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/>
              <a:t>and its </a:t>
            </a:r>
            <a:r>
              <a:rPr lang="en-US" b="1">
                <a:solidFill>
                  <a:srgbClr val="C00000"/>
                </a:solidFill>
              </a:rPr>
              <a:t>In-Order successor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is </a:t>
            </a:r>
            <a:r>
              <a:rPr lang="en-US" b="1">
                <a:solidFill>
                  <a:srgbClr val="C00000"/>
                </a:solidFill>
              </a:rPr>
              <a:t>deleted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instead </a:t>
            </a:r>
            <a:endParaRPr/>
          </a:p>
          <a:p>
            <a:pPr>
              <a:defRPr/>
            </a:pPr>
            <a:r>
              <a:rPr lang="en-US"/>
              <a:t>During </a:t>
            </a:r>
            <a:r>
              <a:rPr lang="en-US" b="1">
                <a:solidFill>
                  <a:srgbClr val="C00000"/>
                </a:solidFill>
              </a:rPr>
              <a:t>winding up phase</a:t>
            </a:r>
            <a:r>
              <a:rPr lang="en-US"/>
              <a:t>, we need to </a:t>
            </a:r>
            <a:r>
              <a:rPr lang="en-US" b="1">
                <a:solidFill>
                  <a:srgbClr val="C00000"/>
                </a:solidFill>
              </a:rPr>
              <a:t>revisit every node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/>
              <a:t>on the </a:t>
            </a:r>
            <a:r>
              <a:rPr lang="en-US" b="1">
                <a:solidFill>
                  <a:srgbClr val="C00000"/>
                </a:solidFill>
              </a:rPr>
              <a:t>path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from the </a:t>
            </a:r>
            <a:r>
              <a:rPr lang="en-US" b="1">
                <a:solidFill>
                  <a:srgbClr val="C00000"/>
                </a:solidFill>
              </a:rPr>
              <a:t>point of deletion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/>
              <a:t>up to the </a:t>
            </a:r>
            <a:r>
              <a:rPr lang="en-US" b="1">
                <a:solidFill>
                  <a:srgbClr val="C00000"/>
                </a:solidFill>
              </a:rPr>
              <a:t>root</a:t>
            </a:r>
            <a:r>
              <a:rPr lang="en-US"/>
              <a:t>, rebalance the tree if require</a:t>
            </a:r>
            <a:endParaRPr/>
          </a:p>
        </p:txBody>
      </p:sp>
      <p:grpSp>
        <p:nvGrpSpPr>
          <p:cNvPr id="1202452159" name="Group 3"/>
          <p:cNvGrpSpPr/>
          <p:nvPr/>
        </p:nvGrpSpPr>
        <p:grpSpPr bwMode="auto">
          <a:xfrm>
            <a:off x="5815200" y="2835794"/>
            <a:ext cx="561600" cy="561600"/>
            <a:chOff x="3237027" y="3574016"/>
            <a:chExt cx="418704" cy="369332"/>
          </a:xfrm>
        </p:grpSpPr>
        <p:sp>
          <p:nvSpPr>
            <p:cNvPr id="5" name="Oval 4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6" name="TextBox 5"/>
            <p:cNvSpPr txBox="1"/>
            <p:nvPr/>
          </p:nvSpPr>
          <p:spPr bwMode="auto">
            <a:xfrm>
              <a:off x="3237027" y="357401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28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2103128743" name="Group 6"/>
          <p:cNvGrpSpPr/>
          <p:nvPr/>
        </p:nvGrpSpPr>
        <p:grpSpPr bwMode="auto">
          <a:xfrm>
            <a:off x="5015496" y="3611583"/>
            <a:ext cx="561600" cy="561600"/>
            <a:chOff x="3228507" y="3571884"/>
            <a:chExt cx="418704" cy="369332"/>
          </a:xfrm>
        </p:grpSpPr>
        <p:sp>
          <p:nvSpPr>
            <p:cNvPr id="8" name="Oval 7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3228507" y="357188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930463083" name="Group 9"/>
          <p:cNvGrpSpPr/>
          <p:nvPr/>
        </p:nvGrpSpPr>
        <p:grpSpPr bwMode="auto">
          <a:xfrm>
            <a:off x="4553814" y="4385753"/>
            <a:ext cx="561600" cy="561600"/>
            <a:chOff x="3238651" y="3572206"/>
            <a:chExt cx="418704" cy="369332"/>
          </a:xfrm>
        </p:grpSpPr>
        <p:sp>
          <p:nvSpPr>
            <p:cNvPr id="11" name="Oval 10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2" name="TextBox 11"/>
            <p:cNvSpPr txBox="1"/>
            <p:nvPr/>
          </p:nvSpPr>
          <p:spPr bwMode="auto">
            <a:xfrm>
              <a:off x="3238651" y="357220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22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089326128" name="Group 12"/>
          <p:cNvGrpSpPr/>
          <p:nvPr/>
        </p:nvGrpSpPr>
        <p:grpSpPr bwMode="auto">
          <a:xfrm>
            <a:off x="5434200" y="4385753"/>
            <a:ext cx="561600" cy="561600"/>
            <a:chOff x="3237027" y="3558914"/>
            <a:chExt cx="418704" cy="372896"/>
          </a:xfrm>
        </p:grpSpPr>
        <p:sp>
          <p:nvSpPr>
            <p:cNvPr id="14" name="Oval 13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3237027" y="355891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</a:t>
              </a:r>
              <a:r>
                <a:rPr lang="en-US" b="1">
                  <a:solidFill>
                    <a:schemeClr val="bg1"/>
                  </a:solidFill>
                </a:rPr>
                <a:t>6</a:t>
              </a:r>
              <a:endParaRPr/>
            </a:p>
          </p:txBody>
        </p:sp>
      </p:grpSp>
      <p:grpSp>
        <p:nvGrpSpPr>
          <p:cNvPr id="1055877458" name="Group 15"/>
          <p:cNvGrpSpPr/>
          <p:nvPr/>
        </p:nvGrpSpPr>
        <p:grpSpPr bwMode="auto">
          <a:xfrm>
            <a:off x="5853696" y="5148917"/>
            <a:ext cx="561600" cy="561600"/>
            <a:chOff x="3237027" y="3570266"/>
            <a:chExt cx="418704" cy="369332"/>
          </a:xfrm>
        </p:grpSpPr>
        <p:sp>
          <p:nvSpPr>
            <p:cNvPr id="17" name="Oval 16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8" name="TextBox 17"/>
            <p:cNvSpPr txBox="1"/>
            <p:nvPr/>
          </p:nvSpPr>
          <p:spPr bwMode="auto">
            <a:xfrm>
              <a:off x="3237027" y="357026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27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809912822" name="Group 18"/>
          <p:cNvGrpSpPr/>
          <p:nvPr/>
        </p:nvGrpSpPr>
        <p:grpSpPr bwMode="auto">
          <a:xfrm>
            <a:off x="6808436" y="3611583"/>
            <a:ext cx="561600" cy="561600"/>
            <a:chOff x="3237443" y="3562478"/>
            <a:chExt cx="418704" cy="369332"/>
          </a:xfrm>
        </p:grpSpPr>
        <p:sp>
          <p:nvSpPr>
            <p:cNvPr id="20" name="Oval 19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1" name="TextBox 20"/>
            <p:cNvSpPr txBox="1"/>
            <p:nvPr/>
          </p:nvSpPr>
          <p:spPr bwMode="auto">
            <a:xfrm>
              <a:off x="3237443" y="356247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32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2082819088" name="Group 21"/>
          <p:cNvGrpSpPr/>
          <p:nvPr/>
        </p:nvGrpSpPr>
        <p:grpSpPr bwMode="auto">
          <a:xfrm>
            <a:off x="6353081" y="4385753"/>
            <a:ext cx="561600" cy="561600"/>
            <a:chOff x="3237027" y="3572206"/>
            <a:chExt cx="418704" cy="369332"/>
          </a:xfrm>
        </p:grpSpPr>
        <p:sp>
          <p:nvSpPr>
            <p:cNvPr id="23" name="Oval 22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4" name="TextBox 23"/>
            <p:cNvSpPr txBox="1"/>
            <p:nvPr/>
          </p:nvSpPr>
          <p:spPr bwMode="auto">
            <a:xfrm>
              <a:off x="3237027" y="357220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30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536678669" name="Group 24"/>
          <p:cNvGrpSpPr/>
          <p:nvPr/>
        </p:nvGrpSpPr>
        <p:grpSpPr bwMode="auto">
          <a:xfrm>
            <a:off x="7343681" y="4385754"/>
            <a:ext cx="561600" cy="561599"/>
            <a:chOff x="3237443" y="3572206"/>
            <a:chExt cx="418704" cy="369332"/>
          </a:xfrm>
        </p:grpSpPr>
        <p:sp>
          <p:nvSpPr>
            <p:cNvPr id="26" name="Oval 25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7" name="TextBox 26"/>
            <p:cNvSpPr txBox="1"/>
            <p:nvPr/>
          </p:nvSpPr>
          <p:spPr bwMode="auto">
            <a:xfrm>
              <a:off x="3237443" y="357220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973349818" name="Group 27"/>
          <p:cNvGrpSpPr/>
          <p:nvPr/>
        </p:nvGrpSpPr>
        <p:grpSpPr bwMode="auto">
          <a:xfrm>
            <a:off x="6835330" y="5148917"/>
            <a:ext cx="561600" cy="561600"/>
            <a:chOff x="3246755" y="3570266"/>
            <a:chExt cx="418704" cy="369332"/>
          </a:xfrm>
        </p:grpSpPr>
        <p:sp>
          <p:nvSpPr>
            <p:cNvPr id="29" name="Oval 28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30" name="TextBox 29"/>
            <p:cNvSpPr txBox="1"/>
            <p:nvPr/>
          </p:nvSpPr>
          <p:spPr bwMode="auto">
            <a:xfrm>
              <a:off x="3246755" y="357026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31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790077282" name="Group 30"/>
          <p:cNvGrpSpPr/>
          <p:nvPr/>
        </p:nvGrpSpPr>
        <p:grpSpPr bwMode="auto">
          <a:xfrm>
            <a:off x="7839377" y="5148917"/>
            <a:ext cx="561600" cy="561600"/>
            <a:chOff x="3237027" y="3574016"/>
            <a:chExt cx="418704" cy="369332"/>
          </a:xfrm>
        </p:grpSpPr>
        <p:sp>
          <p:nvSpPr>
            <p:cNvPr id="32" name="Oval 31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3237027" y="357401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36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660167081" name="Straight Arrow Connector 34"/>
          <p:cNvCxnSpPr>
            <a:stCxn id="5" idx="3"/>
            <a:endCxn id="8" idx="0"/>
          </p:cNvCxnSpPr>
          <p:nvPr/>
        </p:nvCxnSpPr>
        <p:spPr bwMode="auto">
          <a:xfrm flipH="1">
            <a:off x="5302813" y="3300485"/>
            <a:ext cx="619265" cy="31646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63226184" name="Straight Arrow Connector 36"/>
          <p:cNvCxnSpPr>
            <a:stCxn id="5" idx="5"/>
            <a:endCxn id="20" idx="0"/>
          </p:cNvCxnSpPr>
          <p:nvPr/>
        </p:nvCxnSpPr>
        <p:spPr bwMode="auto">
          <a:xfrm>
            <a:off x="6260099" y="3300485"/>
            <a:ext cx="823668" cy="330762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8959022" name="Straight Arrow Connector 38"/>
          <p:cNvCxnSpPr>
            <a:stCxn id="8" idx="3"/>
            <a:endCxn id="11" idx="0"/>
          </p:cNvCxnSpPr>
          <p:nvPr/>
        </p:nvCxnSpPr>
        <p:spPr bwMode="auto">
          <a:xfrm flipH="1">
            <a:off x="4827525" y="4079516"/>
            <a:ext cx="306277" cy="311109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66286490" name="Straight Arrow Connector 40"/>
          <p:cNvCxnSpPr>
            <a:stCxn id="8" idx="5"/>
            <a:endCxn id="14" idx="0"/>
          </p:cNvCxnSpPr>
          <p:nvPr/>
        </p:nvCxnSpPr>
        <p:spPr bwMode="auto">
          <a:xfrm>
            <a:off x="5471823" y="4079516"/>
            <a:ext cx="238266" cy="331081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30412273" name="Straight Arrow Connector 42"/>
          <p:cNvCxnSpPr>
            <a:stCxn id="20" idx="3"/>
            <a:endCxn id="23" idx="0"/>
          </p:cNvCxnSpPr>
          <p:nvPr/>
        </p:nvCxnSpPr>
        <p:spPr bwMode="auto">
          <a:xfrm flipH="1">
            <a:off x="6628970" y="4093818"/>
            <a:ext cx="285786" cy="296807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6776808" name="Straight Arrow Connector 44"/>
          <p:cNvCxnSpPr>
            <a:stCxn id="20" idx="5"/>
            <a:endCxn id="26" idx="0"/>
          </p:cNvCxnSpPr>
          <p:nvPr/>
        </p:nvCxnSpPr>
        <p:spPr bwMode="auto">
          <a:xfrm>
            <a:off x="7252777" y="4093818"/>
            <a:ext cx="366235" cy="296808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50716367" name="Straight Arrow Connector 46"/>
          <p:cNvCxnSpPr>
            <a:stCxn id="14" idx="5"/>
            <a:endCxn id="17" idx="0"/>
          </p:cNvCxnSpPr>
          <p:nvPr/>
        </p:nvCxnSpPr>
        <p:spPr bwMode="auto">
          <a:xfrm>
            <a:off x="5879099" y="4868747"/>
            <a:ext cx="250486" cy="287992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55029221" name="Straight Arrow Connector 48"/>
          <p:cNvCxnSpPr>
            <a:stCxn id="23" idx="5"/>
            <a:endCxn id="29" idx="0"/>
          </p:cNvCxnSpPr>
          <p:nvPr/>
        </p:nvCxnSpPr>
        <p:spPr bwMode="auto">
          <a:xfrm>
            <a:off x="6797980" y="4853196"/>
            <a:ext cx="300191" cy="303542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72696419" name="Straight Arrow Connector 50"/>
          <p:cNvCxnSpPr>
            <a:stCxn id="26" idx="5"/>
            <a:endCxn id="32" idx="0"/>
          </p:cNvCxnSpPr>
          <p:nvPr/>
        </p:nvCxnSpPr>
        <p:spPr bwMode="auto">
          <a:xfrm>
            <a:off x="7788022" y="4853196"/>
            <a:ext cx="327244" cy="297841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52143958" name="TextBox 51"/>
          <p:cNvSpPr txBox="1"/>
          <p:nvPr/>
        </p:nvSpPr>
        <p:spPr bwMode="auto">
          <a:xfrm>
            <a:off x="5578153" y="524505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2127376705" name="TextBox 52"/>
          <p:cNvSpPr txBox="1"/>
          <p:nvPr/>
        </p:nvSpPr>
        <p:spPr bwMode="auto">
          <a:xfrm>
            <a:off x="6548133" y="524505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527802873" name="TextBox 53"/>
          <p:cNvSpPr txBox="1"/>
          <p:nvPr/>
        </p:nvSpPr>
        <p:spPr bwMode="auto">
          <a:xfrm>
            <a:off x="7549498" y="524505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767236008" name="TextBox 54"/>
          <p:cNvSpPr txBox="1"/>
          <p:nvPr/>
        </p:nvSpPr>
        <p:spPr bwMode="auto">
          <a:xfrm>
            <a:off x="4250301" y="4481887"/>
            <a:ext cx="314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5827143" name="TextBox 55"/>
          <p:cNvSpPr txBox="1"/>
          <p:nvPr/>
        </p:nvSpPr>
        <p:spPr bwMode="auto">
          <a:xfrm>
            <a:off x="5193519" y="448188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1381804561" name="TextBox 56"/>
          <p:cNvSpPr txBox="1"/>
          <p:nvPr/>
        </p:nvSpPr>
        <p:spPr bwMode="auto">
          <a:xfrm>
            <a:off x="6112600" y="448188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694702549" name="TextBox 57"/>
          <p:cNvSpPr txBox="1"/>
          <p:nvPr/>
        </p:nvSpPr>
        <p:spPr bwMode="auto">
          <a:xfrm>
            <a:off x="7018727" y="448188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2130333977" name="TextBox 58"/>
          <p:cNvSpPr txBox="1"/>
          <p:nvPr/>
        </p:nvSpPr>
        <p:spPr bwMode="auto">
          <a:xfrm>
            <a:off x="4737705" y="370771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164011039" name="TextBox 59"/>
          <p:cNvSpPr txBox="1"/>
          <p:nvPr/>
        </p:nvSpPr>
        <p:spPr bwMode="auto">
          <a:xfrm>
            <a:off x="6499807" y="370771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866192583" name="TextBox 60"/>
          <p:cNvSpPr txBox="1"/>
          <p:nvPr/>
        </p:nvSpPr>
        <p:spPr bwMode="auto">
          <a:xfrm>
            <a:off x="6354053" y="294533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19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19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452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312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46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32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87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91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2819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678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349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07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167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22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959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286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41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77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716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02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69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14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7376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802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23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7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804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70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33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19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2143958" grpId="0"/>
      <p:bldP spid="2127376705" grpId="0"/>
      <p:bldP spid="1527802873" grpId="0"/>
      <p:bldP spid="767236008" grpId="0"/>
      <p:bldP spid="15827143" grpId="0"/>
      <p:bldP spid="1381804561" grpId="0"/>
      <p:bldP spid="694702549" grpId="0"/>
      <p:bldP spid="2130333977" grpId="0"/>
      <p:bldP spid="164011039" grpId="0"/>
      <p:bldP spid="186619258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740795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Deleting node from AVL Tree</a:t>
            </a:r>
            <a:endParaRPr/>
          </a:p>
        </p:txBody>
      </p:sp>
      <p:grpSp>
        <p:nvGrpSpPr>
          <p:cNvPr id="2139838779" name="Group 3"/>
          <p:cNvGrpSpPr/>
          <p:nvPr/>
        </p:nvGrpSpPr>
        <p:grpSpPr bwMode="auto">
          <a:xfrm>
            <a:off x="2857104" y="891989"/>
            <a:ext cx="418704" cy="417600"/>
            <a:chOff x="3237027" y="3574016"/>
            <a:chExt cx="418704" cy="369332"/>
          </a:xfrm>
        </p:grpSpPr>
        <p:sp>
          <p:nvSpPr>
            <p:cNvPr id="5" name="Oval 4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6" name="TextBox 5"/>
            <p:cNvSpPr txBox="1"/>
            <p:nvPr/>
          </p:nvSpPr>
          <p:spPr bwMode="auto">
            <a:xfrm>
              <a:off x="3237027" y="357401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28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880954920" name="Group 6"/>
          <p:cNvGrpSpPr/>
          <p:nvPr/>
        </p:nvGrpSpPr>
        <p:grpSpPr bwMode="auto">
          <a:xfrm>
            <a:off x="2057400" y="1370263"/>
            <a:ext cx="418704" cy="417600"/>
            <a:chOff x="3228507" y="3571884"/>
            <a:chExt cx="418704" cy="369332"/>
          </a:xfrm>
        </p:grpSpPr>
        <p:sp>
          <p:nvSpPr>
            <p:cNvPr id="8" name="Oval 7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3228507" y="357188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290814399" name="Group 9"/>
          <p:cNvGrpSpPr/>
          <p:nvPr/>
        </p:nvGrpSpPr>
        <p:grpSpPr bwMode="auto">
          <a:xfrm>
            <a:off x="1676400" y="1894257"/>
            <a:ext cx="418704" cy="417600"/>
            <a:chOff x="3238651" y="3572206"/>
            <a:chExt cx="418704" cy="369332"/>
          </a:xfrm>
        </p:grpSpPr>
        <p:sp>
          <p:nvSpPr>
            <p:cNvPr id="11" name="Oval 10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2" name="TextBox 11"/>
            <p:cNvSpPr txBox="1"/>
            <p:nvPr/>
          </p:nvSpPr>
          <p:spPr bwMode="auto">
            <a:xfrm>
              <a:off x="3238651" y="357220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22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345983777" name="Group 12"/>
          <p:cNvGrpSpPr/>
          <p:nvPr/>
        </p:nvGrpSpPr>
        <p:grpSpPr bwMode="auto">
          <a:xfrm>
            <a:off x="2476104" y="1882589"/>
            <a:ext cx="418704" cy="417600"/>
            <a:chOff x="3237027" y="3558914"/>
            <a:chExt cx="418704" cy="372896"/>
          </a:xfrm>
        </p:grpSpPr>
        <p:sp>
          <p:nvSpPr>
            <p:cNvPr id="14" name="Oval 13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3237027" y="355891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</a:t>
              </a:r>
              <a:r>
                <a:rPr lang="en-US" b="1">
                  <a:solidFill>
                    <a:schemeClr val="bg1"/>
                  </a:solidFill>
                </a:rPr>
                <a:t>6</a:t>
              </a:r>
              <a:endParaRPr/>
            </a:p>
          </p:txBody>
        </p:sp>
      </p:grpSp>
      <p:grpSp>
        <p:nvGrpSpPr>
          <p:cNvPr id="773651989" name="Group 15"/>
          <p:cNvGrpSpPr/>
          <p:nvPr/>
        </p:nvGrpSpPr>
        <p:grpSpPr bwMode="auto">
          <a:xfrm>
            <a:off x="2895600" y="2492189"/>
            <a:ext cx="418704" cy="417600"/>
            <a:chOff x="3237027" y="3570266"/>
            <a:chExt cx="418704" cy="369332"/>
          </a:xfrm>
        </p:grpSpPr>
        <p:sp>
          <p:nvSpPr>
            <p:cNvPr id="17" name="Oval 16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8" name="TextBox 17"/>
            <p:cNvSpPr txBox="1"/>
            <p:nvPr/>
          </p:nvSpPr>
          <p:spPr bwMode="auto">
            <a:xfrm>
              <a:off x="3237027" y="357026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27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718667714" name="Group 18"/>
          <p:cNvGrpSpPr/>
          <p:nvPr/>
        </p:nvGrpSpPr>
        <p:grpSpPr bwMode="auto">
          <a:xfrm>
            <a:off x="3581400" y="1360857"/>
            <a:ext cx="418704" cy="417600"/>
            <a:chOff x="3237443" y="3562478"/>
            <a:chExt cx="418704" cy="369332"/>
          </a:xfrm>
        </p:grpSpPr>
        <p:sp>
          <p:nvSpPr>
            <p:cNvPr id="20" name="Oval 19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1" name="TextBox 20"/>
            <p:cNvSpPr txBox="1"/>
            <p:nvPr/>
          </p:nvSpPr>
          <p:spPr bwMode="auto">
            <a:xfrm>
              <a:off x="3237443" y="356247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32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634815296" name="Group 21"/>
          <p:cNvGrpSpPr/>
          <p:nvPr/>
        </p:nvGrpSpPr>
        <p:grpSpPr bwMode="auto">
          <a:xfrm>
            <a:off x="3085704" y="1882589"/>
            <a:ext cx="418704" cy="417600"/>
            <a:chOff x="3237027" y="3572206"/>
            <a:chExt cx="418704" cy="369332"/>
          </a:xfrm>
        </p:grpSpPr>
        <p:sp>
          <p:nvSpPr>
            <p:cNvPr id="23" name="Oval 22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4" name="TextBox 23"/>
            <p:cNvSpPr txBox="1"/>
            <p:nvPr/>
          </p:nvSpPr>
          <p:spPr bwMode="auto">
            <a:xfrm>
              <a:off x="3237027" y="357220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30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339758778" name="Group 24"/>
          <p:cNvGrpSpPr/>
          <p:nvPr/>
        </p:nvGrpSpPr>
        <p:grpSpPr bwMode="auto">
          <a:xfrm>
            <a:off x="4076304" y="1818057"/>
            <a:ext cx="418704" cy="417600"/>
            <a:chOff x="3237443" y="3572206"/>
            <a:chExt cx="418704" cy="369332"/>
          </a:xfrm>
        </p:grpSpPr>
        <p:sp>
          <p:nvSpPr>
            <p:cNvPr id="26" name="Oval 25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7" name="TextBox 26"/>
            <p:cNvSpPr txBox="1"/>
            <p:nvPr/>
          </p:nvSpPr>
          <p:spPr bwMode="auto">
            <a:xfrm>
              <a:off x="3237443" y="357220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556157614" name="Group 27"/>
          <p:cNvGrpSpPr/>
          <p:nvPr/>
        </p:nvGrpSpPr>
        <p:grpSpPr bwMode="auto">
          <a:xfrm>
            <a:off x="3581400" y="2492189"/>
            <a:ext cx="418704" cy="417600"/>
            <a:chOff x="3246755" y="3570266"/>
            <a:chExt cx="418704" cy="369332"/>
          </a:xfrm>
        </p:grpSpPr>
        <p:sp>
          <p:nvSpPr>
            <p:cNvPr id="29" name="Oval 28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30" name="TextBox 29"/>
            <p:cNvSpPr txBox="1"/>
            <p:nvPr/>
          </p:nvSpPr>
          <p:spPr bwMode="auto">
            <a:xfrm>
              <a:off x="3246755" y="357026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31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364052917" name="Group 30"/>
          <p:cNvGrpSpPr/>
          <p:nvPr/>
        </p:nvGrpSpPr>
        <p:grpSpPr bwMode="auto">
          <a:xfrm>
            <a:off x="4572000" y="2492189"/>
            <a:ext cx="418704" cy="417600"/>
            <a:chOff x="3237027" y="3574016"/>
            <a:chExt cx="418704" cy="369332"/>
          </a:xfrm>
        </p:grpSpPr>
        <p:sp>
          <p:nvSpPr>
            <p:cNvPr id="32" name="Oval 31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3237027" y="357401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36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893675633" name="Straight Arrow Connector 33"/>
          <p:cNvCxnSpPr>
            <a:stCxn id="5" idx="3"/>
            <a:endCxn id="8" idx="7"/>
          </p:cNvCxnSpPr>
          <p:nvPr/>
        </p:nvCxnSpPr>
        <p:spPr bwMode="auto">
          <a:xfrm flipH="1">
            <a:off x="2397616" y="1237528"/>
            <a:ext cx="539172" cy="195737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68667387" name="Straight Arrow Connector 34"/>
          <p:cNvCxnSpPr>
            <a:stCxn id="5" idx="5"/>
            <a:endCxn id="20" idx="1"/>
          </p:cNvCxnSpPr>
          <p:nvPr/>
        </p:nvCxnSpPr>
        <p:spPr bwMode="auto">
          <a:xfrm>
            <a:off x="3188800" y="1237528"/>
            <a:ext cx="471868" cy="19696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95718746" name="Straight Arrow Connector 35"/>
          <p:cNvCxnSpPr>
            <a:stCxn id="8" idx="3"/>
            <a:endCxn id="11" idx="7"/>
          </p:cNvCxnSpPr>
          <p:nvPr/>
        </p:nvCxnSpPr>
        <p:spPr bwMode="auto">
          <a:xfrm flipH="1">
            <a:off x="2006472" y="1718212"/>
            <a:ext cx="139132" cy="238682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81838460" name="Straight Arrow Connector 36"/>
          <p:cNvCxnSpPr>
            <a:stCxn id="8" idx="5"/>
            <a:endCxn id="14" idx="1"/>
          </p:cNvCxnSpPr>
          <p:nvPr/>
        </p:nvCxnSpPr>
        <p:spPr bwMode="auto">
          <a:xfrm>
            <a:off x="2397616" y="1718212"/>
            <a:ext cx="158172" cy="241301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39627221" name="Straight Arrow Connector 37"/>
          <p:cNvCxnSpPr>
            <a:stCxn id="20" idx="3"/>
            <a:endCxn id="23" idx="7"/>
          </p:cNvCxnSpPr>
          <p:nvPr/>
        </p:nvCxnSpPr>
        <p:spPr bwMode="auto">
          <a:xfrm flipH="1">
            <a:off x="3417400" y="1719442"/>
            <a:ext cx="243268" cy="225785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15782048" name="Straight Arrow Connector 38"/>
          <p:cNvCxnSpPr>
            <a:stCxn id="20" idx="5"/>
            <a:endCxn id="26" idx="1"/>
          </p:cNvCxnSpPr>
          <p:nvPr/>
        </p:nvCxnSpPr>
        <p:spPr bwMode="auto">
          <a:xfrm>
            <a:off x="3912680" y="1719442"/>
            <a:ext cx="242892" cy="161253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53860961" name="Straight Arrow Connector 39"/>
          <p:cNvCxnSpPr>
            <a:stCxn id="14" idx="5"/>
            <a:endCxn id="17" idx="1"/>
          </p:cNvCxnSpPr>
          <p:nvPr/>
        </p:nvCxnSpPr>
        <p:spPr bwMode="auto">
          <a:xfrm>
            <a:off x="2807800" y="2241738"/>
            <a:ext cx="167484" cy="315282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69149667" name="Straight Arrow Connector 40"/>
          <p:cNvCxnSpPr>
            <a:stCxn id="23" idx="5"/>
            <a:endCxn id="29" idx="1"/>
          </p:cNvCxnSpPr>
          <p:nvPr/>
        </p:nvCxnSpPr>
        <p:spPr bwMode="auto">
          <a:xfrm>
            <a:off x="3417400" y="2230175"/>
            <a:ext cx="233956" cy="326845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95689886" name="Straight Arrow Connector 41"/>
          <p:cNvCxnSpPr>
            <a:stCxn id="26" idx="5"/>
            <a:endCxn id="32" idx="1"/>
          </p:cNvCxnSpPr>
          <p:nvPr/>
        </p:nvCxnSpPr>
        <p:spPr bwMode="auto">
          <a:xfrm>
            <a:off x="4407584" y="2165643"/>
            <a:ext cx="244100" cy="387137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35550192" name="TextBox 52"/>
          <p:cNvSpPr txBox="1"/>
          <p:nvPr/>
        </p:nvSpPr>
        <p:spPr bwMode="auto">
          <a:xfrm>
            <a:off x="2339291" y="3002008"/>
            <a:ext cx="1899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b="1"/>
              <a:t>In-Order Traversal</a:t>
            </a:r>
            <a:endParaRPr/>
          </a:p>
        </p:txBody>
      </p:sp>
      <p:sp>
        <p:nvSpPr>
          <p:cNvPr id="1647044322" name="TextBox 53"/>
          <p:cNvSpPr txBox="1"/>
          <p:nvPr/>
        </p:nvSpPr>
        <p:spPr bwMode="auto">
          <a:xfrm>
            <a:off x="1374668" y="3342057"/>
            <a:ext cx="3959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/>
              <a:t>22, 23, 26, 27, 28, 30, 31, 32, 34, 36 </a:t>
            </a:r>
            <a:endParaRPr/>
          </a:p>
        </p:txBody>
      </p:sp>
      <p:sp>
        <p:nvSpPr>
          <p:cNvPr id="1693874336" name="Freeform 54"/>
          <p:cNvSpPr/>
          <p:nvPr/>
        </p:nvSpPr>
        <p:spPr bwMode="auto">
          <a:xfrm>
            <a:off x="1611549" y="749317"/>
            <a:ext cx="3822970" cy="3122578"/>
          </a:xfrm>
          <a:custGeom>
            <a:avLst/>
            <a:gdLst>
              <a:gd name="connsiteX0" fmla="*/ 3822970 w 3822970"/>
              <a:gd name="connsiteY0" fmla="*/ 0 h 3122578"/>
              <a:gd name="connsiteX1" fmla="*/ 3822970 w 3822970"/>
              <a:gd name="connsiteY1" fmla="*/ 3122578 h 3122578"/>
              <a:gd name="connsiteX2" fmla="*/ 0 w 3822970"/>
              <a:gd name="connsiteY2" fmla="*/ 3122578 h 3122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22970" h="3122578" fill="norm" stroke="1" extrusionOk="0">
                <a:moveTo>
                  <a:pt x="3822970" y="0"/>
                </a:moveTo>
                <a:lnTo>
                  <a:pt x="3822970" y="3122578"/>
                </a:lnTo>
                <a:lnTo>
                  <a:pt x="0" y="3122578"/>
                </a:ln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6887792" name="TextBox 56"/>
          <p:cNvSpPr txBox="1"/>
          <p:nvPr/>
        </p:nvSpPr>
        <p:spPr bwMode="auto">
          <a:xfrm>
            <a:off x="1615014" y="3869432"/>
            <a:ext cx="986104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defRPr/>
            </a:pPr>
            <a:r>
              <a:rPr lang="en-IN" sz="1600"/>
              <a:t>Delete </a:t>
            </a:r>
            <a:r>
              <a:rPr lang="en-IN" sz="1600" b="1">
                <a:solidFill>
                  <a:srgbClr val="C00000"/>
                </a:solidFill>
              </a:rPr>
              <a:t>28</a:t>
            </a:r>
            <a:endParaRPr lang="en-US" sz="1600" b="1">
              <a:solidFill>
                <a:srgbClr val="C00000"/>
              </a:solidFill>
            </a:endParaRPr>
          </a:p>
        </p:txBody>
      </p:sp>
      <p:grpSp>
        <p:nvGrpSpPr>
          <p:cNvPr id="695591089" name="Group 57"/>
          <p:cNvGrpSpPr/>
          <p:nvPr/>
        </p:nvGrpSpPr>
        <p:grpSpPr bwMode="auto">
          <a:xfrm>
            <a:off x="2933304" y="4104057"/>
            <a:ext cx="418704" cy="369332"/>
            <a:chOff x="3237027" y="3574016"/>
            <a:chExt cx="418704" cy="369332"/>
          </a:xfrm>
        </p:grpSpPr>
        <p:sp>
          <p:nvSpPr>
            <p:cNvPr id="59" name="Oval 58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60" name="TextBox 59"/>
            <p:cNvSpPr txBox="1"/>
            <p:nvPr/>
          </p:nvSpPr>
          <p:spPr bwMode="auto">
            <a:xfrm>
              <a:off x="3237027" y="357401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28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381019177" name="Group 60"/>
          <p:cNvGrpSpPr/>
          <p:nvPr/>
        </p:nvGrpSpPr>
        <p:grpSpPr bwMode="auto">
          <a:xfrm>
            <a:off x="2133600" y="4582331"/>
            <a:ext cx="418704" cy="369332"/>
            <a:chOff x="3228507" y="3571884"/>
            <a:chExt cx="418704" cy="369332"/>
          </a:xfrm>
        </p:grpSpPr>
        <p:sp>
          <p:nvSpPr>
            <p:cNvPr id="62" name="Oval 61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63" name="TextBox 62"/>
            <p:cNvSpPr txBox="1"/>
            <p:nvPr/>
          </p:nvSpPr>
          <p:spPr bwMode="auto">
            <a:xfrm>
              <a:off x="3228507" y="357188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947949710" name="Group 63"/>
          <p:cNvGrpSpPr/>
          <p:nvPr/>
        </p:nvGrpSpPr>
        <p:grpSpPr bwMode="auto">
          <a:xfrm>
            <a:off x="1752599" y="5106325"/>
            <a:ext cx="418704" cy="369332"/>
            <a:chOff x="3238651" y="3572206"/>
            <a:chExt cx="418704" cy="369332"/>
          </a:xfrm>
        </p:grpSpPr>
        <p:sp>
          <p:nvSpPr>
            <p:cNvPr id="65" name="Oval 64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66" name="TextBox 65"/>
            <p:cNvSpPr txBox="1"/>
            <p:nvPr/>
          </p:nvSpPr>
          <p:spPr bwMode="auto">
            <a:xfrm>
              <a:off x="3238651" y="357220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22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781879707" name="Group 66"/>
          <p:cNvGrpSpPr/>
          <p:nvPr/>
        </p:nvGrpSpPr>
        <p:grpSpPr bwMode="auto">
          <a:xfrm>
            <a:off x="2552304" y="5094657"/>
            <a:ext cx="418704" cy="372896"/>
            <a:chOff x="3237027" y="3558914"/>
            <a:chExt cx="418704" cy="372896"/>
          </a:xfrm>
        </p:grpSpPr>
        <p:sp>
          <p:nvSpPr>
            <p:cNvPr id="68" name="Oval 67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69" name="TextBox 68"/>
            <p:cNvSpPr txBox="1"/>
            <p:nvPr/>
          </p:nvSpPr>
          <p:spPr bwMode="auto">
            <a:xfrm>
              <a:off x="3237027" y="355891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</a:t>
              </a:r>
              <a:r>
                <a:rPr lang="en-US" b="1">
                  <a:solidFill>
                    <a:schemeClr val="bg1"/>
                  </a:solidFill>
                </a:rPr>
                <a:t>6</a:t>
              </a:r>
              <a:endParaRPr/>
            </a:p>
          </p:txBody>
        </p:sp>
      </p:grpSp>
      <p:grpSp>
        <p:nvGrpSpPr>
          <p:cNvPr id="111347789" name="Group 69"/>
          <p:cNvGrpSpPr/>
          <p:nvPr/>
        </p:nvGrpSpPr>
        <p:grpSpPr bwMode="auto">
          <a:xfrm>
            <a:off x="2971800" y="5704257"/>
            <a:ext cx="418704" cy="369332"/>
            <a:chOff x="3237027" y="3570266"/>
            <a:chExt cx="418704" cy="369332"/>
          </a:xfrm>
        </p:grpSpPr>
        <p:sp>
          <p:nvSpPr>
            <p:cNvPr id="71" name="Oval 70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72" name="TextBox 71"/>
            <p:cNvSpPr txBox="1"/>
            <p:nvPr/>
          </p:nvSpPr>
          <p:spPr bwMode="auto">
            <a:xfrm>
              <a:off x="3237027" y="357026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27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89941945" name="Group 72"/>
          <p:cNvGrpSpPr/>
          <p:nvPr/>
        </p:nvGrpSpPr>
        <p:grpSpPr bwMode="auto">
          <a:xfrm>
            <a:off x="3657600" y="4572925"/>
            <a:ext cx="418704" cy="369332"/>
            <a:chOff x="3237443" y="3562478"/>
            <a:chExt cx="418704" cy="369332"/>
          </a:xfrm>
        </p:grpSpPr>
        <p:sp>
          <p:nvSpPr>
            <p:cNvPr id="74" name="Oval 73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75" name="TextBox 74"/>
            <p:cNvSpPr txBox="1"/>
            <p:nvPr/>
          </p:nvSpPr>
          <p:spPr bwMode="auto">
            <a:xfrm>
              <a:off x="3237443" y="356247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32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364011003" name="Group 75"/>
          <p:cNvGrpSpPr/>
          <p:nvPr/>
        </p:nvGrpSpPr>
        <p:grpSpPr bwMode="auto">
          <a:xfrm>
            <a:off x="3161904" y="5094657"/>
            <a:ext cx="418704" cy="369332"/>
            <a:chOff x="3237027" y="3572206"/>
            <a:chExt cx="418704" cy="369332"/>
          </a:xfrm>
        </p:grpSpPr>
        <p:sp>
          <p:nvSpPr>
            <p:cNvPr id="77" name="Oval 76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78" name="TextBox 77"/>
            <p:cNvSpPr txBox="1"/>
            <p:nvPr/>
          </p:nvSpPr>
          <p:spPr bwMode="auto">
            <a:xfrm>
              <a:off x="3237027" y="357220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30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846747076" name="Group 78"/>
          <p:cNvGrpSpPr/>
          <p:nvPr/>
        </p:nvGrpSpPr>
        <p:grpSpPr bwMode="auto">
          <a:xfrm>
            <a:off x="4152504" y="5030125"/>
            <a:ext cx="418704" cy="369332"/>
            <a:chOff x="3237443" y="3572206"/>
            <a:chExt cx="418704" cy="369332"/>
          </a:xfrm>
        </p:grpSpPr>
        <p:sp>
          <p:nvSpPr>
            <p:cNvPr id="80" name="Oval 79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81" name="TextBox 80"/>
            <p:cNvSpPr txBox="1"/>
            <p:nvPr/>
          </p:nvSpPr>
          <p:spPr bwMode="auto">
            <a:xfrm>
              <a:off x="3237443" y="357220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2039507103" name="Group 81"/>
          <p:cNvGrpSpPr/>
          <p:nvPr/>
        </p:nvGrpSpPr>
        <p:grpSpPr bwMode="auto">
          <a:xfrm>
            <a:off x="3657600" y="5704257"/>
            <a:ext cx="418704" cy="369332"/>
            <a:chOff x="3246755" y="3570266"/>
            <a:chExt cx="418704" cy="369332"/>
          </a:xfrm>
        </p:grpSpPr>
        <p:sp>
          <p:nvSpPr>
            <p:cNvPr id="83" name="Oval 82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84" name="TextBox 83"/>
            <p:cNvSpPr txBox="1"/>
            <p:nvPr/>
          </p:nvSpPr>
          <p:spPr bwMode="auto">
            <a:xfrm>
              <a:off x="3246755" y="357026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31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021496318" name="Group 84"/>
          <p:cNvGrpSpPr/>
          <p:nvPr/>
        </p:nvGrpSpPr>
        <p:grpSpPr bwMode="auto">
          <a:xfrm>
            <a:off x="4648200" y="5704257"/>
            <a:ext cx="418704" cy="369332"/>
            <a:chOff x="3237027" y="3574016"/>
            <a:chExt cx="418704" cy="369332"/>
          </a:xfrm>
        </p:grpSpPr>
        <p:sp>
          <p:nvSpPr>
            <p:cNvPr id="86" name="Oval 85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87" name="TextBox 86"/>
            <p:cNvSpPr txBox="1"/>
            <p:nvPr/>
          </p:nvSpPr>
          <p:spPr bwMode="auto">
            <a:xfrm>
              <a:off x="3237027" y="357401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36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536604300" name="Straight Arrow Connector 87"/>
          <p:cNvCxnSpPr>
            <a:stCxn id="59" idx="3"/>
            <a:endCxn id="62" idx="7"/>
          </p:cNvCxnSpPr>
          <p:nvPr/>
        </p:nvCxnSpPr>
        <p:spPr bwMode="auto">
          <a:xfrm flipH="1">
            <a:off x="2473816" y="4409657"/>
            <a:ext cx="539172" cy="228394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96096416" name="Straight Arrow Connector 88"/>
          <p:cNvCxnSpPr>
            <a:stCxn id="59" idx="5"/>
            <a:endCxn id="74" idx="1"/>
          </p:cNvCxnSpPr>
          <p:nvPr/>
        </p:nvCxnSpPr>
        <p:spPr bwMode="auto">
          <a:xfrm>
            <a:off x="3265000" y="4409657"/>
            <a:ext cx="471868" cy="228394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23881792" name="Straight Arrow Connector 89"/>
          <p:cNvCxnSpPr>
            <a:stCxn id="62" idx="3"/>
            <a:endCxn id="65" idx="7"/>
          </p:cNvCxnSpPr>
          <p:nvPr/>
        </p:nvCxnSpPr>
        <p:spPr bwMode="auto">
          <a:xfrm flipH="1">
            <a:off x="2082671" y="4890063"/>
            <a:ext cx="139132" cy="27166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8146404" name="Straight Arrow Connector 90"/>
          <p:cNvCxnSpPr>
            <a:stCxn id="62" idx="5"/>
            <a:endCxn id="68" idx="1"/>
          </p:cNvCxnSpPr>
          <p:nvPr/>
        </p:nvCxnSpPr>
        <p:spPr bwMode="auto">
          <a:xfrm>
            <a:off x="2473816" y="4890063"/>
            <a:ext cx="158172" cy="273284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79617451" name="Straight Arrow Connector 91"/>
          <p:cNvCxnSpPr>
            <a:stCxn id="74" idx="3"/>
            <a:endCxn id="77" idx="7"/>
          </p:cNvCxnSpPr>
          <p:nvPr/>
        </p:nvCxnSpPr>
        <p:spPr bwMode="auto">
          <a:xfrm flipH="1">
            <a:off x="3493600" y="4890063"/>
            <a:ext cx="243268" cy="259992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31844397" name="Straight Arrow Connector 92"/>
          <p:cNvCxnSpPr>
            <a:stCxn id="74" idx="5"/>
            <a:endCxn id="80" idx="1"/>
          </p:cNvCxnSpPr>
          <p:nvPr/>
        </p:nvCxnSpPr>
        <p:spPr bwMode="auto">
          <a:xfrm>
            <a:off x="3988880" y="4890063"/>
            <a:ext cx="242892" cy="19546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25187539" name="Straight Arrow Connector 93"/>
          <p:cNvCxnSpPr>
            <a:stCxn id="68" idx="5"/>
            <a:endCxn id="71" idx="1"/>
          </p:cNvCxnSpPr>
          <p:nvPr/>
        </p:nvCxnSpPr>
        <p:spPr bwMode="auto">
          <a:xfrm>
            <a:off x="2884000" y="5415359"/>
            <a:ext cx="167484" cy="34623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27782926" name="Straight Arrow Connector 94"/>
          <p:cNvCxnSpPr>
            <a:stCxn id="77" idx="5"/>
            <a:endCxn id="83" idx="1"/>
          </p:cNvCxnSpPr>
          <p:nvPr/>
        </p:nvCxnSpPr>
        <p:spPr bwMode="auto">
          <a:xfrm>
            <a:off x="3493600" y="5402067"/>
            <a:ext cx="233956" cy="359528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01963556" name="Straight Arrow Connector 95"/>
          <p:cNvCxnSpPr>
            <a:stCxn id="80" idx="5"/>
            <a:endCxn id="86" idx="1"/>
          </p:cNvCxnSpPr>
          <p:nvPr/>
        </p:nvCxnSpPr>
        <p:spPr bwMode="auto">
          <a:xfrm>
            <a:off x="4483784" y="5337535"/>
            <a:ext cx="244100" cy="42031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993955758" name="Group 96"/>
          <p:cNvGrpSpPr/>
          <p:nvPr/>
        </p:nvGrpSpPr>
        <p:grpSpPr bwMode="auto">
          <a:xfrm>
            <a:off x="2926670" y="4097663"/>
            <a:ext cx="418704" cy="369332"/>
            <a:chOff x="3237027" y="3574016"/>
            <a:chExt cx="418704" cy="369332"/>
          </a:xfrm>
        </p:grpSpPr>
        <p:sp>
          <p:nvSpPr>
            <p:cNvPr id="98" name="Oval 97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99" name="TextBox 98"/>
            <p:cNvSpPr txBox="1"/>
            <p:nvPr/>
          </p:nvSpPr>
          <p:spPr bwMode="auto">
            <a:xfrm>
              <a:off x="3237027" y="357401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30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431684221" name="Group 99"/>
          <p:cNvGrpSpPr/>
          <p:nvPr/>
        </p:nvGrpSpPr>
        <p:grpSpPr bwMode="auto">
          <a:xfrm>
            <a:off x="3164188" y="5094657"/>
            <a:ext cx="418704" cy="369332"/>
            <a:chOff x="3237027" y="3574016"/>
            <a:chExt cx="418704" cy="369332"/>
          </a:xfrm>
        </p:grpSpPr>
        <p:sp>
          <p:nvSpPr>
            <p:cNvPr id="101" name="Oval 100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02" name="TextBox 101"/>
            <p:cNvSpPr txBox="1"/>
            <p:nvPr/>
          </p:nvSpPr>
          <p:spPr bwMode="auto">
            <a:xfrm>
              <a:off x="3237027" y="357401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31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sp>
        <p:nvSpPr>
          <p:cNvPr id="904314048" name="TextBox 102"/>
          <p:cNvSpPr txBox="1"/>
          <p:nvPr/>
        </p:nvSpPr>
        <p:spPr bwMode="auto">
          <a:xfrm>
            <a:off x="3025647" y="602829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172923750" name="TextBox 103"/>
          <p:cNvSpPr txBox="1"/>
          <p:nvPr/>
        </p:nvSpPr>
        <p:spPr bwMode="auto">
          <a:xfrm>
            <a:off x="4693143" y="6042213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454910502" name="TextBox 104"/>
          <p:cNvSpPr txBox="1"/>
          <p:nvPr/>
        </p:nvSpPr>
        <p:spPr bwMode="auto">
          <a:xfrm>
            <a:off x="1479066" y="510952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913172922" name="TextBox 105"/>
          <p:cNvSpPr txBox="1"/>
          <p:nvPr/>
        </p:nvSpPr>
        <p:spPr bwMode="auto">
          <a:xfrm>
            <a:off x="2241278" y="512433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261013509" name="TextBox 106"/>
          <p:cNvSpPr txBox="1"/>
          <p:nvPr/>
        </p:nvSpPr>
        <p:spPr bwMode="auto">
          <a:xfrm>
            <a:off x="3535158" y="510952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1003804902" name="TextBox 107"/>
          <p:cNvSpPr txBox="1"/>
          <p:nvPr/>
        </p:nvSpPr>
        <p:spPr bwMode="auto">
          <a:xfrm>
            <a:off x="3894565" y="506822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1215716638" name="TextBox 108"/>
          <p:cNvSpPr txBox="1"/>
          <p:nvPr/>
        </p:nvSpPr>
        <p:spPr bwMode="auto">
          <a:xfrm>
            <a:off x="1895290" y="456125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712910054" name="TextBox 109"/>
          <p:cNvSpPr txBox="1"/>
          <p:nvPr/>
        </p:nvSpPr>
        <p:spPr bwMode="auto">
          <a:xfrm>
            <a:off x="4028890" y="448505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1504016951" name="TextBox 110"/>
          <p:cNvSpPr txBox="1"/>
          <p:nvPr/>
        </p:nvSpPr>
        <p:spPr bwMode="auto">
          <a:xfrm>
            <a:off x="3276600" y="408164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cxnSp>
        <p:nvCxnSpPr>
          <p:cNvPr id="1001753463" name="Straight Connector 112"/>
          <p:cNvCxnSpPr>
            <a:stCxn id="1693874336" idx="1"/>
          </p:cNvCxnSpPr>
          <p:nvPr/>
        </p:nvCxnSpPr>
        <p:spPr bwMode="auto">
          <a:xfrm>
            <a:off x="5434519" y="3871895"/>
            <a:ext cx="0" cy="23540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0851354" name="TextBox 113"/>
          <p:cNvSpPr txBox="1"/>
          <p:nvPr/>
        </p:nvSpPr>
        <p:spPr bwMode="auto">
          <a:xfrm>
            <a:off x="5437340" y="739589"/>
            <a:ext cx="986104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defRPr/>
            </a:pPr>
            <a:r>
              <a:rPr lang="en-IN" sz="1600"/>
              <a:t>Delete </a:t>
            </a:r>
            <a:r>
              <a:rPr lang="en-IN" sz="1600" b="1">
                <a:solidFill>
                  <a:srgbClr val="C00000"/>
                </a:solidFill>
              </a:rPr>
              <a:t>30</a:t>
            </a:r>
            <a:endParaRPr lang="en-US" sz="1600" b="1">
              <a:solidFill>
                <a:srgbClr val="C00000"/>
              </a:solidFill>
            </a:endParaRPr>
          </a:p>
        </p:txBody>
      </p:sp>
      <p:grpSp>
        <p:nvGrpSpPr>
          <p:cNvPr id="1942083872" name="Group 114"/>
          <p:cNvGrpSpPr/>
          <p:nvPr/>
        </p:nvGrpSpPr>
        <p:grpSpPr bwMode="auto">
          <a:xfrm>
            <a:off x="7543800" y="1044389"/>
            <a:ext cx="418704" cy="369332"/>
            <a:chOff x="3237027" y="3574016"/>
            <a:chExt cx="418704" cy="369332"/>
          </a:xfrm>
        </p:grpSpPr>
        <p:sp>
          <p:nvSpPr>
            <p:cNvPr id="116" name="Oval 115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17" name="TextBox 116"/>
            <p:cNvSpPr txBox="1"/>
            <p:nvPr/>
          </p:nvSpPr>
          <p:spPr bwMode="auto">
            <a:xfrm>
              <a:off x="3237027" y="357401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30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104877916" name="Group 117"/>
          <p:cNvGrpSpPr/>
          <p:nvPr/>
        </p:nvGrpSpPr>
        <p:grpSpPr bwMode="auto">
          <a:xfrm>
            <a:off x="6744096" y="1522663"/>
            <a:ext cx="418704" cy="369332"/>
            <a:chOff x="3228507" y="3571884"/>
            <a:chExt cx="418704" cy="369332"/>
          </a:xfrm>
        </p:grpSpPr>
        <p:sp>
          <p:nvSpPr>
            <p:cNvPr id="119" name="Oval 118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20" name="TextBox 119"/>
            <p:cNvSpPr txBox="1"/>
            <p:nvPr/>
          </p:nvSpPr>
          <p:spPr bwMode="auto">
            <a:xfrm>
              <a:off x="3228507" y="357188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553807548" name="Group 120"/>
          <p:cNvGrpSpPr/>
          <p:nvPr/>
        </p:nvGrpSpPr>
        <p:grpSpPr bwMode="auto">
          <a:xfrm>
            <a:off x="6363096" y="2046657"/>
            <a:ext cx="418704" cy="369332"/>
            <a:chOff x="3238651" y="3572206"/>
            <a:chExt cx="418704" cy="369332"/>
          </a:xfrm>
        </p:grpSpPr>
        <p:sp>
          <p:nvSpPr>
            <p:cNvPr id="122" name="Oval 121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23" name="TextBox 122"/>
            <p:cNvSpPr txBox="1"/>
            <p:nvPr/>
          </p:nvSpPr>
          <p:spPr bwMode="auto">
            <a:xfrm>
              <a:off x="3238651" y="357220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22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159215781" name="Group 123"/>
          <p:cNvGrpSpPr/>
          <p:nvPr/>
        </p:nvGrpSpPr>
        <p:grpSpPr bwMode="auto">
          <a:xfrm>
            <a:off x="7162800" y="2034989"/>
            <a:ext cx="418704" cy="372896"/>
            <a:chOff x="3237027" y="3558914"/>
            <a:chExt cx="418704" cy="372896"/>
          </a:xfrm>
        </p:grpSpPr>
        <p:sp>
          <p:nvSpPr>
            <p:cNvPr id="125" name="Oval 124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26" name="TextBox 125"/>
            <p:cNvSpPr txBox="1"/>
            <p:nvPr/>
          </p:nvSpPr>
          <p:spPr bwMode="auto">
            <a:xfrm>
              <a:off x="3237027" y="355891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</a:t>
              </a:r>
              <a:r>
                <a:rPr lang="en-US" b="1">
                  <a:solidFill>
                    <a:schemeClr val="bg1"/>
                  </a:solidFill>
                </a:rPr>
                <a:t>6</a:t>
              </a:r>
              <a:endParaRPr/>
            </a:p>
          </p:txBody>
        </p:sp>
      </p:grpSp>
      <p:grpSp>
        <p:nvGrpSpPr>
          <p:cNvPr id="1740798564" name="Group 126"/>
          <p:cNvGrpSpPr/>
          <p:nvPr/>
        </p:nvGrpSpPr>
        <p:grpSpPr bwMode="auto">
          <a:xfrm>
            <a:off x="7582296" y="2644589"/>
            <a:ext cx="418704" cy="369332"/>
            <a:chOff x="3237027" y="3570266"/>
            <a:chExt cx="418704" cy="369332"/>
          </a:xfrm>
        </p:grpSpPr>
        <p:sp>
          <p:nvSpPr>
            <p:cNvPr id="128" name="Oval 127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29" name="TextBox 128"/>
            <p:cNvSpPr txBox="1"/>
            <p:nvPr/>
          </p:nvSpPr>
          <p:spPr bwMode="auto">
            <a:xfrm>
              <a:off x="3237027" y="357026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27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203289232" name="Group 129"/>
          <p:cNvGrpSpPr/>
          <p:nvPr/>
        </p:nvGrpSpPr>
        <p:grpSpPr bwMode="auto">
          <a:xfrm>
            <a:off x="8268096" y="1513257"/>
            <a:ext cx="418704" cy="369332"/>
            <a:chOff x="3237443" y="3562478"/>
            <a:chExt cx="418704" cy="369332"/>
          </a:xfrm>
        </p:grpSpPr>
        <p:sp>
          <p:nvSpPr>
            <p:cNvPr id="131" name="Oval 130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32" name="TextBox 131"/>
            <p:cNvSpPr txBox="1"/>
            <p:nvPr/>
          </p:nvSpPr>
          <p:spPr bwMode="auto">
            <a:xfrm>
              <a:off x="3237443" y="356247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32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456357560" name="Group 132"/>
          <p:cNvGrpSpPr/>
          <p:nvPr/>
        </p:nvGrpSpPr>
        <p:grpSpPr bwMode="auto">
          <a:xfrm>
            <a:off x="7772400" y="2034989"/>
            <a:ext cx="418704" cy="369332"/>
            <a:chOff x="3237027" y="3572206"/>
            <a:chExt cx="418704" cy="369332"/>
          </a:xfrm>
        </p:grpSpPr>
        <p:sp>
          <p:nvSpPr>
            <p:cNvPr id="134" name="Oval 133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35" name="TextBox 134"/>
            <p:cNvSpPr txBox="1"/>
            <p:nvPr/>
          </p:nvSpPr>
          <p:spPr bwMode="auto">
            <a:xfrm>
              <a:off x="3237027" y="357220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31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208102778" name="Group 135"/>
          <p:cNvGrpSpPr/>
          <p:nvPr/>
        </p:nvGrpSpPr>
        <p:grpSpPr bwMode="auto">
          <a:xfrm>
            <a:off x="8763000" y="1970456"/>
            <a:ext cx="418704" cy="369332"/>
            <a:chOff x="3237443" y="3572206"/>
            <a:chExt cx="418704" cy="369332"/>
          </a:xfrm>
        </p:grpSpPr>
        <p:sp>
          <p:nvSpPr>
            <p:cNvPr id="137" name="Oval 136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38" name="TextBox 137"/>
            <p:cNvSpPr txBox="1"/>
            <p:nvPr/>
          </p:nvSpPr>
          <p:spPr bwMode="auto">
            <a:xfrm>
              <a:off x="3237443" y="357220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220141725" name="Group 141"/>
          <p:cNvGrpSpPr/>
          <p:nvPr/>
        </p:nvGrpSpPr>
        <p:grpSpPr bwMode="auto">
          <a:xfrm>
            <a:off x="9258696" y="2644589"/>
            <a:ext cx="418704" cy="369332"/>
            <a:chOff x="3237027" y="3574016"/>
            <a:chExt cx="418704" cy="369332"/>
          </a:xfrm>
        </p:grpSpPr>
        <p:sp>
          <p:nvSpPr>
            <p:cNvPr id="143" name="Oval 142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44" name="TextBox 143"/>
            <p:cNvSpPr txBox="1"/>
            <p:nvPr/>
          </p:nvSpPr>
          <p:spPr bwMode="auto">
            <a:xfrm>
              <a:off x="3237027" y="357401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36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435786068" name="Straight Arrow Connector 144"/>
          <p:cNvCxnSpPr>
            <a:stCxn id="116" idx="3"/>
            <a:endCxn id="119" idx="7"/>
          </p:cNvCxnSpPr>
          <p:nvPr/>
        </p:nvCxnSpPr>
        <p:spPr bwMode="auto">
          <a:xfrm flipH="1">
            <a:off x="7084312" y="1349989"/>
            <a:ext cx="539172" cy="228394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22961740" name="Straight Arrow Connector 145"/>
          <p:cNvCxnSpPr>
            <a:stCxn id="116" idx="5"/>
            <a:endCxn id="131" idx="1"/>
          </p:cNvCxnSpPr>
          <p:nvPr/>
        </p:nvCxnSpPr>
        <p:spPr bwMode="auto">
          <a:xfrm>
            <a:off x="7875496" y="1349989"/>
            <a:ext cx="471868" cy="228394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77414810" name="Straight Arrow Connector 146"/>
          <p:cNvCxnSpPr>
            <a:stCxn id="119" idx="3"/>
            <a:endCxn id="122" idx="7"/>
          </p:cNvCxnSpPr>
          <p:nvPr/>
        </p:nvCxnSpPr>
        <p:spPr bwMode="auto">
          <a:xfrm flipH="1">
            <a:off x="6693168" y="1830395"/>
            <a:ext cx="139132" cy="27166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83390569" name="Straight Arrow Connector 147"/>
          <p:cNvCxnSpPr>
            <a:stCxn id="119" idx="5"/>
            <a:endCxn id="125" idx="1"/>
          </p:cNvCxnSpPr>
          <p:nvPr/>
        </p:nvCxnSpPr>
        <p:spPr bwMode="auto">
          <a:xfrm>
            <a:off x="7084312" y="1830395"/>
            <a:ext cx="158172" cy="273284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5246588" name="Straight Arrow Connector 148"/>
          <p:cNvCxnSpPr>
            <a:stCxn id="131" idx="3"/>
            <a:endCxn id="134" idx="7"/>
          </p:cNvCxnSpPr>
          <p:nvPr/>
        </p:nvCxnSpPr>
        <p:spPr bwMode="auto">
          <a:xfrm flipH="1">
            <a:off x="8104096" y="1830395"/>
            <a:ext cx="243268" cy="259992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4177155" name="Straight Arrow Connector 149"/>
          <p:cNvCxnSpPr>
            <a:stCxn id="131" idx="5"/>
            <a:endCxn id="137" idx="1"/>
          </p:cNvCxnSpPr>
          <p:nvPr/>
        </p:nvCxnSpPr>
        <p:spPr bwMode="auto">
          <a:xfrm>
            <a:off x="8599376" y="1830395"/>
            <a:ext cx="242892" cy="19546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54079445" name="Straight Arrow Connector 150"/>
          <p:cNvCxnSpPr>
            <a:stCxn id="125" idx="5"/>
            <a:endCxn id="128" idx="1"/>
          </p:cNvCxnSpPr>
          <p:nvPr/>
        </p:nvCxnSpPr>
        <p:spPr bwMode="auto">
          <a:xfrm>
            <a:off x="7494496" y="2355691"/>
            <a:ext cx="167484" cy="34623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53210563" name="Straight Arrow Connector 152"/>
          <p:cNvCxnSpPr>
            <a:stCxn id="137" idx="5"/>
            <a:endCxn id="143" idx="1"/>
          </p:cNvCxnSpPr>
          <p:nvPr/>
        </p:nvCxnSpPr>
        <p:spPr bwMode="auto">
          <a:xfrm>
            <a:off x="9094280" y="2277867"/>
            <a:ext cx="244100" cy="42031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889433575" name="Group 167"/>
          <p:cNvGrpSpPr/>
          <p:nvPr/>
        </p:nvGrpSpPr>
        <p:grpSpPr bwMode="auto">
          <a:xfrm>
            <a:off x="7543800" y="1044409"/>
            <a:ext cx="418704" cy="369332"/>
            <a:chOff x="3237027" y="3574016"/>
            <a:chExt cx="418704" cy="369332"/>
          </a:xfrm>
        </p:grpSpPr>
        <p:sp>
          <p:nvSpPr>
            <p:cNvPr id="169" name="Oval 168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70" name="TextBox 169"/>
            <p:cNvSpPr txBox="1"/>
            <p:nvPr/>
          </p:nvSpPr>
          <p:spPr bwMode="auto">
            <a:xfrm>
              <a:off x="3237027" y="357401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31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sp>
        <p:nvSpPr>
          <p:cNvPr id="423098583" name="TextBox 170"/>
          <p:cNvSpPr txBox="1"/>
          <p:nvPr/>
        </p:nvSpPr>
        <p:spPr bwMode="auto">
          <a:xfrm>
            <a:off x="9652502" y="263948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675560069" name="TextBox 171"/>
          <p:cNvSpPr txBox="1"/>
          <p:nvPr/>
        </p:nvSpPr>
        <p:spPr bwMode="auto">
          <a:xfrm>
            <a:off x="9134290" y="189425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1205359623" name="TextBox 172"/>
          <p:cNvSpPr txBox="1"/>
          <p:nvPr/>
        </p:nvSpPr>
        <p:spPr bwMode="auto">
          <a:xfrm>
            <a:off x="8645578" y="1437057"/>
            <a:ext cx="1412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>
                <a:solidFill>
                  <a:srgbClr val="C00000"/>
                </a:solidFill>
              </a:rPr>
              <a:t>Critical Node</a:t>
            </a:r>
            <a:endParaRPr lang="en-US" b="1">
              <a:solidFill>
                <a:srgbClr val="C00000"/>
              </a:solidFill>
            </a:endParaRPr>
          </a:p>
        </p:txBody>
      </p:sp>
      <p:cxnSp>
        <p:nvCxnSpPr>
          <p:cNvPr id="2067664434" name="Straight Arrow Connector 174"/>
          <p:cNvCxnSpPr/>
          <p:nvPr/>
        </p:nvCxnSpPr>
        <p:spPr bwMode="auto">
          <a:xfrm>
            <a:off x="8016084" y="3180523"/>
            <a:ext cx="0" cy="105915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48983267" name="TextBox 175"/>
          <p:cNvSpPr txBox="1"/>
          <p:nvPr/>
        </p:nvSpPr>
        <p:spPr bwMode="auto">
          <a:xfrm>
            <a:off x="8004767" y="3245272"/>
            <a:ext cx="16750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Case 4: </a:t>
            </a:r>
            <a:endParaRPr/>
          </a:p>
          <a:p>
            <a:pPr algn="ctr">
              <a:defRPr/>
            </a:pPr>
            <a:r>
              <a:rPr lang="en-IN" b="1"/>
              <a:t>Left Rotation of</a:t>
            </a:r>
            <a:endParaRPr/>
          </a:p>
          <a:p>
            <a:pPr algn="ctr">
              <a:defRPr/>
            </a:pPr>
            <a:r>
              <a:rPr lang="en-IN" b="1"/>
              <a:t>Node </a:t>
            </a:r>
            <a:r>
              <a:rPr lang="en-IN" b="1">
                <a:solidFill>
                  <a:srgbClr val="C00000"/>
                </a:solidFill>
              </a:rPr>
              <a:t>32</a:t>
            </a:r>
            <a:endParaRPr lang="en-US" b="1">
              <a:solidFill>
                <a:srgbClr val="C00000"/>
              </a:solidFill>
            </a:endParaRPr>
          </a:p>
        </p:txBody>
      </p:sp>
      <p:grpSp>
        <p:nvGrpSpPr>
          <p:cNvPr id="1753507776" name="Group 176"/>
          <p:cNvGrpSpPr/>
          <p:nvPr/>
        </p:nvGrpSpPr>
        <p:grpSpPr bwMode="auto">
          <a:xfrm>
            <a:off x="7352904" y="4180257"/>
            <a:ext cx="418704" cy="369332"/>
            <a:chOff x="3237027" y="3574016"/>
            <a:chExt cx="418704" cy="369332"/>
          </a:xfrm>
        </p:grpSpPr>
        <p:sp>
          <p:nvSpPr>
            <p:cNvPr id="178" name="Oval 177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79" name="TextBox 178"/>
            <p:cNvSpPr txBox="1"/>
            <p:nvPr/>
          </p:nvSpPr>
          <p:spPr bwMode="auto">
            <a:xfrm>
              <a:off x="3237027" y="357401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31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606553342" name="Group 179"/>
          <p:cNvGrpSpPr/>
          <p:nvPr/>
        </p:nvGrpSpPr>
        <p:grpSpPr bwMode="auto">
          <a:xfrm>
            <a:off x="6553200" y="4658531"/>
            <a:ext cx="418704" cy="369332"/>
            <a:chOff x="3228507" y="3571884"/>
            <a:chExt cx="418704" cy="369332"/>
          </a:xfrm>
        </p:grpSpPr>
        <p:sp>
          <p:nvSpPr>
            <p:cNvPr id="181" name="Oval 180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82" name="TextBox 181"/>
            <p:cNvSpPr txBox="1"/>
            <p:nvPr/>
          </p:nvSpPr>
          <p:spPr bwMode="auto">
            <a:xfrm>
              <a:off x="3228507" y="357188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649028493" name="Group 182"/>
          <p:cNvGrpSpPr/>
          <p:nvPr/>
        </p:nvGrpSpPr>
        <p:grpSpPr bwMode="auto">
          <a:xfrm>
            <a:off x="6172200" y="5182525"/>
            <a:ext cx="418704" cy="369332"/>
            <a:chOff x="3238651" y="3572206"/>
            <a:chExt cx="418704" cy="369332"/>
          </a:xfrm>
        </p:grpSpPr>
        <p:sp>
          <p:nvSpPr>
            <p:cNvPr id="184" name="Oval 183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85" name="TextBox 184"/>
            <p:cNvSpPr txBox="1"/>
            <p:nvPr/>
          </p:nvSpPr>
          <p:spPr bwMode="auto">
            <a:xfrm>
              <a:off x="3238651" y="357220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22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5612353" name="Group 185"/>
          <p:cNvGrpSpPr/>
          <p:nvPr/>
        </p:nvGrpSpPr>
        <p:grpSpPr bwMode="auto">
          <a:xfrm>
            <a:off x="6971904" y="5170857"/>
            <a:ext cx="418704" cy="372896"/>
            <a:chOff x="3237027" y="3558914"/>
            <a:chExt cx="418704" cy="372896"/>
          </a:xfrm>
        </p:grpSpPr>
        <p:sp>
          <p:nvSpPr>
            <p:cNvPr id="187" name="Oval 186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88" name="TextBox 187"/>
            <p:cNvSpPr txBox="1"/>
            <p:nvPr/>
          </p:nvSpPr>
          <p:spPr bwMode="auto">
            <a:xfrm>
              <a:off x="3237027" y="355891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</a:t>
              </a:r>
              <a:r>
                <a:rPr lang="en-US" b="1">
                  <a:solidFill>
                    <a:schemeClr val="bg1"/>
                  </a:solidFill>
                </a:rPr>
                <a:t>6</a:t>
              </a:r>
              <a:endParaRPr/>
            </a:p>
          </p:txBody>
        </p:sp>
      </p:grpSp>
      <p:grpSp>
        <p:nvGrpSpPr>
          <p:cNvPr id="2044950393" name="Group 188"/>
          <p:cNvGrpSpPr/>
          <p:nvPr/>
        </p:nvGrpSpPr>
        <p:grpSpPr bwMode="auto">
          <a:xfrm>
            <a:off x="7391400" y="5780457"/>
            <a:ext cx="418704" cy="369332"/>
            <a:chOff x="3237027" y="3570266"/>
            <a:chExt cx="418704" cy="369332"/>
          </a:xfrm>
        </p:grpSpPr>
        <p:sp>
          <p:nvSpPr>
            <p:cNvPr id="190" name="Oval 189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91" name="TextBox 190"/>
            <p:cNvSpPr txBox="1"/>
            <p:nvPr/>
          </p:nvSpPr>
          <p:spPr bwMode="auto">
            <a:xfrm>
              <a:off x="3237027" y="357026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27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306302009" name="Group 191"/>
          <p:cNvGrpSpPr/>
          <p:nvPr/>
        </p:nvGrpSpPr>
        <p:grpSpPr bwMode="auto">
          <a:xfrm>
            <a:off x="8077200" y="4649125"/>
            <a:ext cx="418704" cy="369332"/>
            <a:chOff x="3237443" y="3562478"/>
            <a:chExt cx="418704" cy="369332"/>
          </a:xfrm>
        </p:grpSpPr>
        <p:sp>
          <p:nvSpPr>
            <p:cNvPr id="193" name="Oval 192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94" name="TextBox 193"/>
            <p:cNvSpPr txBox="1"/>
            <p:nvPr/>
          </p:nvSpPr>
          <p:spPr bwMode="auto">
            <a:xfrm>
              <a:off x="3237443" y="356247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540524025" name="Group 194"/>
          <p:cNvGrpSpPr/>
          <p:nvPr/>
        </p:nvGrpSpPr>
        <p:grpSpPr bwMode="auto">
          <a:xfrm>
            <a:off x="7581504" y="5170857"/>
            <a:ext cx="418704" cy="369332"/>
            <a:chOff x="3237027" y="3572206"/>
            <a:chExt cx="418704" cy="369332"/>
          </a:xfrm>
        </p:grpSpPr>
        <p:sp>
          <p:nvSpPr>
            <p:cNvPr id="196" name="Oval 195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97" name="TextBox 196"/>
            <p:cNvSpPr txBox="1"/>
            <p:nvPr/>
          </p:nvSpPr>
          <p:spPr bwMode="auto">
            <a:xfrm>
              <a:off x="3237027" y="357220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32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534184376" name="Group 197"/>
          <p:cNvGrpSpPr/>
          <p:nvPr/>
        </p:nvGrpSpPr>
        <p:grpSpPr bwMode="auto">
          <a:xfrm>
            <a:off x="8572104" y="5106325"/>
            <a:ext cx="418704" cy="369332"/>
            <a:chOff x="3237443" y="3572206"/>
            <a:chExt cx="418704" cy="369332"/>
          </a:xfrm>
        </p:grpSpPr>
        <p:sp>
          <p:nvSpPr>
            <p:cNvPr id="199" name="Oval 198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00" name="TextBox 199"/>
            <p:cNvSpPr txBox="1"/>
            <p:nvPr/>
          </p:nvSpPr>
          <p:spPr bwMode="auto">
            <a:xfrm>
              <a:off x="3237443" y="357220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36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841707138" name="Straight Arrow Connector 203"/>
          <p:cNvCxnSpPr>
            <a:stCxn id="178" idx="3"/>
            <a:endCxn id="181" idx="7"/>
          </p:cNvCxnSpPr>
          <p:nvPr/>
        </p:nvCxnSpPr>
        <p:spPr bwMode="auto">
          <a:xfrm flipH="1">
            <a:off x="6893416" y="4485857"/>
            <a:ext cx="539172" cy="228394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84483076" name="Straight Arrow Connector 204"/>
          <p:cNvCxnSpPr>
            <a:stCxn id="178" idx="5"/>
            <a:endCxn id="193" idx="1"/>
          </p:cNvCxnSpPr>
          <p:nvPr/>
        </p:nvCxnSpPr>
        <p:spPr bwMode="auto">
          <a:xfrm>
            <a:off x="7684600" y="4485857"/>
            <a:ext cx="471868" cy="228394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92255731" name="Straight Arrow Connector 205"/>
          <p:cNvCxnSpPr>
            <a:stCxn id="181" idx="3"/>
            <a:endCxn id="184" idx="7"/>
          </p:cNvCxnSpPr>
          <p:nvPr/>
        </p:nvCxnSpPr>
        <p:spPr bwMode="auto">
          <a:xfrm flipH="1">
            <a:off x="6502272" y="4966263"/>
            <a:ext cx="139132" cy="27166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48140052" name="Straight Arrow Connector 206"/>
          <p:cNvCxnSpPr>
            <a:stCxn id="181" idx="5"/>
            <a:endCxn id="187" idx="1"/>
          </p:cNvCxnSpPr>
          <p:nvPr/>
        </p:nvCxnSpPr>
        <p:spPr bwMode="auto">
          <a:xfrm>
            <a:off x="6893416" y="4966263"/>
            <a:ext cx="158172" cy="273284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33279007" name="Straight Arrow Connector 207"/>
          <p:cNvCxnSpPr>
            <a:stCxn id="193" idx="3"/>
            <a:endCxn id="196" idx="7"/>
          </p:cNvCxnSpPr>
          <p:nvPr/>
        </p:nvCxnSpPr>
        <p:spPr bwMode="auto">
          <a:xfrm flipH="1">
            <a:off x="7913200" y="4966263"/>
            <a:ext cx="243268" cy="259992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23472034" name="Straight Arrow Connector 208"/>
          <p:cNvCxnSpPr>
            <a:stCxn id="193" idx="5"/>
            <a:endCxn id="199" idx="1"/>
          </p:cNvCxnSpPr>
          <p:nvPr/>
        </p:nvCxnSpPr>
        <p:spPr bwMode="auto">
          <a:xfrm>
            <a:off x="8408480" y="4966263"/>
            <a:ext cx="242892" cy="19546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35224462" name="Straight Arrow Connector 209"/>
          <p:cNvCxnSpPr>
            <a:stCxn id="187" idx="5"/>
            <a:endCxn id="190" idx="1"/>
          </p:cNvCxnSpPr>
          <p:nvPr/>
        </p:nvCxnSpPr>
        <p:spPr bwMode="auto">
          <a:xfrm>
            <a:off x="7303600" y="5491559"/>
            <a:ext cx="167484" cy="34623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11989257" name="TextBox 217"/>
          <p:cNvSpPr txBox="1"/>
          <p:nvPr/>
        </p:nvSpPr>
        <p:spPr bwMode="auto">
          <a:xfrm>
            <a:off x="7762690" y="584498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840254215" name="TextBox 218"/>
          <p:cNvSpPr txBox="1"/>
          <p:nvPr/>
        </p:nvSpPr>
        <p:spPr bwMode="auto">
          <a:xfrm>
            <a:off x="5943600" y="523538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580127492" name="TextBox 219"/>
          <p:cNvSpPr txBox="1"/>
          <p:nvPr/>
        </p:nvSpPr>
        <p:spPr bwMode="auto">
          <a:xfrm>
            <a:off x="6695890" y="524705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1526322432" name="TextBox 220"/>
          <p:cNvSpPr txBox="1"/>
          <p:nvPr/>
        </p:nvSpPr>
        <p:spPr bwMode="auto">
          <a:xfrm>
            <a:off x="7991290" y="517085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874048140" name="TextBox 221"/>
          <p:cNvSpPr txBox="1"/>
          <p:nvPr/>
        </p:nvSpPr>
        <p:spPr bwMode="auto">
          <a:xfrm>
            <a:off x="8981890" y="517085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743844341" name="TextBox 222"/>
          <p:cNvSpPr txBox="1"/>
          <p:nvPr/>
        </p:nvSpPr>
        <p:spPr bwMode="auto">
          <a:xfrm>
            <a:off x="6924490" y="470198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1915193566" name="TextBox 223"/>
          <p:cNvSpPr txBox="1"/>
          <p:nvPr/>
        </p:nvSpPr>
        <p:spPr bwMode="auto">
          <a:xfrm>
            <a:off x="8534400" y="462578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253379285" name="TextBox 224"/>
          <p:cNvSpPr txBox="1"/>
          <p:nvPr/>
        </p:nvSpPr>
        <p:spPr bwMode="auto">
          <a:xfrm>
            <a:off x="7096218" y="418025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  <p:sp>
        <p:nvSpPr>
          <p:cNvPr id="470227992" name="TextBox 200"/>
          <p:cNvSpPr txBox="1"/>
          <p:nvPr/>
        </p:nvSpPr>
        <p:spPr bwMode="auto">
          <a:xfrm>
            <a:off x="3709940" y="602829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9838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0954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4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983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65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67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815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758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157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05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67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67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718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83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62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78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860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14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68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5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044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87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887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59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019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94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7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47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4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01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74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507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49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604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09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88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4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61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84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18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782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96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955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68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507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782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31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923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91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17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01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0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71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91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016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753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1001753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85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083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87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807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21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798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28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35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10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4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8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96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414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90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46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7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079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210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43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35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46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09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56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359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8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664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6" dur="500"/>
                                        <p:tgtEl>
                                          <p:spTgt spid="2067664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30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4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18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279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9" dur="500"/>
                                        <p:tgtEl>
                                          <p:spTgt spid="933279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52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22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225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4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28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4950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55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07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507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48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98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025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127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32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84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19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379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227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5550192" grpId="0"/>
      <p:bldP spid="1647044322" grpId="0"/>
      <p:bldP spid="1693874336" grpId="0" animBg="1"/>
      <p:bldP spid="486887792" grpId="0" animBg="1"/>
      <p:bldP spid="904314048" grpId="0"/>
      <p:bldP spid="1172923750" grpId="0"/>
      <p:bldP spid="454910502" grpId="0"/>
      <p:bldP spid="1913172922" grpId="0"/>
      <p:bldP spid="261013509" grpId="0"/>
      <p:bldP spid="1003804902" grpId="0"/>
      <p:bldP spid="1215716638" grpId="0"/>
      <p:bldP spid="712910054" grpId="0"/>
      <p:bldP spid="1504016951" grpId="0"/>
      <p:bldP spid="660851354" grpId="0" animBg="1"/>
      <p:bldP spid="423098583" grpId="0"/>
      <p:bldP spid="675560069" grpId="0"/>
      <p:bldP spid="1205359623" grpId="0"/>
      <p:bldP spid="1648983267" grpId="0"/>
      <p:bldP spid="2011989257" grpId="0"/>
      <p:bldP spid="1840254215" grpId="0"/>
      <p:bldP spid="1580127492" grpId="0"/>
      <p:bldP spid="1526322432" grpId="0"/>
      <p:bldP spid="1874048140" grpId="0"/>
      <p:bldP spid="743844341" grpId="0"/>
      <p:bldP spid="1915193566" grpId="0"/>
      <p:bldP spid="1253379285" grpId="0"/>
      <p:bldP spid="47022799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707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Deleting node from AVL Tree</a:t>
            </a:r>
            <a:endParaRPr/>
          </a:p>
        </p:txBody>
      </p:sp>
      <p:grpSp>
        <p:nvGrpSpPr>
          <p:cNvPr id="1541975427" name="Group 3"/>
          <p:cNvGrpSpPr/>
          <p:nvPr/>
        </p:nvGrpSpPr>
        <p:grpSpPr bwMode="auto">
          <a:xfrm>
            <a:off x="1727556" y="865095"/>
            <a:ext cx="418704" cy="369332"/>
            <a:chOff x="3237027" y="3574016"/>
            <a:chExt cx="418704" cy="369332"/>
          </a:xfrm>
        </p:grpSpPr>
        <p:sp>
          <p:nvSpPr>
            <p:cNvPr id="5" name="Oval 4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6" name="TextBox 5"/>
            <p:cNvSpPr txBox="1"/>
            <p:nvPr/>
          </p:nvSpPr>
          <p:spPr bwMode="auto">
            <a:xfrm>
              <a:off x="3237027" y="357401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334510075" name="Group 6"/>
          <p:cNvGrpSpPr/>
          <p:nvPr/>
        </p:nvGrpSpPr>
        <p:grpSpPr bwMode="auto">
          <a:xfrm>
            <a:off x="1118748" y="1343369"/>
            <a:ext cx="418704" cy="369332"/>
            <a:chOff x="3228507" y="3571884"/>
            <a:chExt cx="418704" cy="369332"/>
          </a:xfrm>
        </p:grpSpPr>
        <p:sp>
          <p:nvSpPr>
            <p:cNvPr id="8" name="Oval 7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3228507" y="357188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911298999" name="Group 9"/>
          <p:cNvGrpSpPr/>
          <p:nvPr/>
        </p:nvGrpSpPr>
        <p:grpSpPr bwMode="auto">
          <a:xfrm>
            <a:off x="699252" y="1860639"/>
            <a:ext cx="418704" cy="369332"/>
            <a:chOff x="3238651" y="3565482"/>
            <a:chExt cx="418704" cy="369332"/>
          </a:xfrm>
        </p:grpSpPr>
        <p:sp>
          <p:nvSpPr>
            <p:cNvPr id="11" name="Oval 10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2" name="TextBox 11"/>
            <p:cNvSpPr txBox="1"/>
            <p:nvPr/>
          </p:nvSpPr>
          <p:spPr bwMode="auto">
            <a:xfrm>
              <a:off x="3238651" y="3565482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10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787865059" name="Group 12"/>
          <p:cNvGrpSpPr/>
          <p:nvPr/>
        </p:nvGrpSpPr>
        <p:grpSpPr bwMode="auto">
          <a:xfrm>
            <a:off x="1499748" y="1855695"/>
            <a:ext cx="418704" cy="372896"/>
            <a:chOff x="3237027" y="3558914"/>
            <a:chExt cx="418704" cy="372896"/>
          </a:xfrm>
        </p:grpSpPr>
        <p:sp>
          <p:nvSpPr>
            <p:cNvPr id="14" name="Oval 13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3237027" y="355891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</a:t>
              </a:r>
              <a:r>
                <a:rPr lang="en-US" b="1">
                  <a:solidFill>
                    <a:schemeClr val="bg1"/>
                  </a:solidFill>
                </a:rPr>
                <a:t>8</a:t>
              </a:r>
              <a:endParaRPr/>
            </a:p>
          </p:txBody>
        </p:sp>
      </p:grpSp>
      <p:grpSp>
        <p:nvGrpSpPr>
          <p:cNvPr id="513484696" name="Group 18"/>
          <p:cNvGrpSpPr/>
          <p:nvPr/>
        </p:nvGrpSpPr>
        <p:grpSpPr bwMode="auto">
          <a:xfrm>
            <a:off x="2451852" y="1333963"/>
            <a:ext cx="418704" cy="369332"/>
            <a:chOff x="3237443" y="3562478"/>
            <a:chExt cx="418704" cy="369332"/>
          </a:xfrm>
        </p:grpSpPr>
        <p:sp>
          <p:nvSpPr>
            <p:cNvPr id="20" name="Oval 19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1" name="TextBox 20"/>
            <p:cNvSpPr txBox="1"/>
            <p:nvPr/>
          </p:nvSpPr>
          <p:spPr bwMode="auto">
            <a:xfrm>
              <a:off x="3237443" y="356247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75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04196384" name="Group 21"/>
          <p:cNvGrpSpPr/>
          <p:nvPr/>
        </p:nvGrpSpPr>
        <p:grpSpPr bwMode="auto">
          <a:xfrm>
            <a:off x="1956156" y="1855695"/>
            <a:ext cx="418704" cy="369332"/>
            <a:chOff x="3237027" y="3572206"/>
            <a:chExt cx="418704" cy="369332"/>
          </a:xfrm>
        </p:grpSpPr>
        <p:sp>
          <p:nvSpPr>
            <p:cNvPr id="23" name="Oval 22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4" name="TextBox 23"/>
            <p:cNvSpPr txBox="1"/>
            <p:nvPr/>
          </p:nvSpPr>
          <p:spPr bwMode="auto">
            <a:xfrm>
              <a:off x="3237027" y="357220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613515011" name="Group 24"/>
          <p:cNvGrpSpPr/>
          <p:nvPr/>
        </p:nvGrpSpPr>
        <p:grpSpPr bwMode="auto">
          <a:xfrm>
            <a:off x="2946756" y="1791163"/>
            <a:ext cx="418704" cy="369332"/>
            <a:chOff x="3237443" y="3572206"/>
            <a:chExt cx="418704" cy="369332"/>
          </a:xfrm>
        </p:grpSpPr>
        <p:sp>
          <p:nvSpPr>
            <p:cNvPr id="26" name="Oval 25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7" name="TextBox 26"/>
            <p:cNvSpPr txBox="1"/>
            <p:nvPr/>
          </p:nvSpPr>
          <p:spPr bwMode="auto">
            <a:xfrm>
              <a:off x="3237443" y="357220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89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461907543" name="Straight Arrow Connector 33"/>
          <p:cNvCxnSpPr>
            <a:stCxn id="5" idx="3"/>
            <a:endCxn id="8" idx="7"/>
          </p:cNvCxnSpPr>
          <p:nvPr/>
        </p:nvCxnSpPr>
        <p:spPr bwMode="auto">
          <a:xfrm flipH="1">
            <a:off x="1458964" y="1170695"/>
            <a:ext cx="348276" cy="228394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99590569" name="Straight Arrow Connector 34"/>
          <p:cNvCxnSpPr>
            <a:stCxn id="5" idx="5"/>
            <a:endCxn id="20" idx="1"/>
          </p:cNvCxnSpPr>
          <p:nvPr/>
        </p:nvCxnSpPr>
        <p:spPr bwMode="auto">
          <a:xfrm>
            <a:off x="2059252" y="1170695"/>
            <a:ext cx="471868" cy="228394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25183274" name="Straight Arrow Connector 35"/>
          <p:cNvCxnSpPr>
            <a:stCxn id="8" idx="3"/>
            <a:endCxn id="11" idx="7"/>
          </p:cNvCxnSpPr>
          <p:nvPr/>
        </p:nvCxnSpPr>
        <p:spPr bwMode="auto">
          <a:xfrm flipH="1">
            <a:off x="1029324" y="1651101"/>
            <a:ext cx="177628" cy="27166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88363915" name="Straight Arrow Connector 36"/>
          <p:cNvCxnSpPr>
            <a:stCxn id="8" idx="5"/>
            <a:endCxn id="14" idx="1"/>
          </p:cNvCxnSpPr>
          <p:nvPr/>
        </p:nvCxnSpPr>
        <p:spPr bwMode="auto">
          <a:xfrm>
            <a:off x="1458964" y="1651101"/>
            <a:ext cx="120468" cy="273284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0826867" name="Straight Arrow Connector 37"/>
          <p:cNvCxnSpPr>
            <a:stCxn id="20" idx="3"/>
            <a:endCxn id="23" idx="7"/>
          </p:cNvCxnSpPr>
          <p:nvPr/>
        </p:nvCxnSpPr>
        <p:spPr bwMode="auto">
          <a:xfrm flipH="1">
            <a:off x="2287852" y="1651101"/>
            <a:ext cx="243268" cy="259992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63894733" name="Straight Arrow Connector 38"/>
          <p:cNvCxnSpPr>
            <a:stCxn id="20" idx="5"/>
            <a:endCxn id="26" idx="1"/>
          </p:cNvCxnSpPr>
          <p:nvPr/>
        </p:nvCxnSpPr>
        <p:spPr bwMode="auto">
          <a:xfrm>
            <a:off x="2783132" y="1651101"/>
            <a:ext cx="242892" cy="19546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592409841" name="Group 42"/>
          <p:cNvGrpSpPr/>
          <p:nvPr/>
        </p:nvGrpSpPr>
        <p:grpSpPr bwMode="auto">
          <a:xfrm>
            <a:off x="421942" y="2464085"/>
            <a:ext cx="356400" cy="369332"/>
            <a:chOff x="3264517" y="3569056"/>
            <a:chExt cx="356400" cy="369332"/>
          </a:xfrm>
        </p:grpSpPr>
        <p:sp>
          <p:nvSpPr>
            <p:cNvPr id="44" name="Oval 43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45" name="TextBox 44"/>
            <p:cNvSpPr txBox="1"/>
            <p:nvPr/>
          </p:nvSpPr>
          <p:spPr bwMode="auto">
            <a:xfrm>
              <a:off x="3289097" y="3569056"/>
              <a:ext cx="301685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5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558753361" name="Straight Arrow Connector 46"/>
          <p:cNvCxnSpPr>
            <a:stCxn id="11" idx="3"/>
            <a:endCxn id="44" idx="0"/>
          </p:cNvCxnSpPr>
          <p:nvPr/>
        </p:nvCxnSpPr>
        <p:spPr bwMode="auto">
          <a:xfrm flipH="1">
            <a:off x="600142" y="2174773"/>
            <a:ext cx="177170" cy="29566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0108903" name="TextBox 48"/>
          <p:cNvSpPr txBox="1"/>
          <p:nvPr/>
        </p:nvSpPr>
        <p:spPr bwMode="auto">
          <a:xfrm>
            <a:off x="2229246" y="742535"/>
            <a:ext cx="1441806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b="1"/>
              <a:t>Delete 73, 74</a:t>
            </a:r>
            <a:endParaRPr/>
          </a:p>
        </p:txBody>
      </p:sp>
      <p:sp>
        <p:nvSpPr>
          <p:cNvPr id="1736463189" name="TextBox 49"/>
          <p:cNvSpPr txBox="1"/>
          <p:nvPr/>
        </p:nvSpPr>
        <p:spPr bwMode="auto">
          <a:xfrm>
            <a:off x="1308853" y="2412431"/>
            <a:ext cx="1899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b="1"/>
              <a:t>In-Order Traversal</a:t>
            </a:r>
            <a:endParaRPr/>
          </a:p>
        </p:txBody>
      </p:sp>
      <p:sp>
        <p:nvSpPr>
          <p:cNvPr id="1060829836" name="TextBox 50"/>
          <p:cNvSpPr txBox="1"/>
          <p:nvPr/>
        </p:nvSpPr>
        <p:spPr bwMode="auto">
          <a:xfrm>
            <a:off x="851653" y="2752480"/>
            <a:ext cx="2940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/>
              <a:t>5, 10</a:t>
            </a:r>
            <a:r>
              <a:rPr lang="en-US" b="1"/>
              <a:t>, 13, 28, </a:t>
            </a:r>
            <a:r>
              <a:rPr lang="en-US" b="1"/>
              <a:t>73, 74, 75, 89</a:t>
            </a:r>
            <a:endParaRPr/>
          </a:p>
        </p:txBody>
      </p:sp>
      <p:sp>
        <p:nvSpPr>
          <p:cNvPr id="1732794384" name="Freeform 52"/>
          <p:cNvSpPr/>
          <p:nvPr/>
        </p:nvSpPr>
        <p:spPr bwMode="auto">
          <a:xfrm>
            <a:off x="476340" y="753637"/>
            <a:ext cx="3439235" cy="2715703"/>
          </a:xfrm>
          <a:custGeom>
            <a:avLst/>
            <a:gdLst>
              <a:gd name="connsiteX0" fmla="*/ 3439235 w 3439235"/>
              <a:gd name="connsiteY0" fmla="*/ 0 h 2538484"/>
              <a:gd name="connsiteX1" fmla="*/ 3439235 w 3439235"/>
              <a:gd name="connsiteY1" fmla="*/ 2538484 h 2538484"/>
              <a:gd name="connsiteX2" fmla="*/ 0 w 3439235"/>
              <a:gd name="connsiteY2" fmla="*/ 2538484 h 2538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39235" h="2538484" fill="norm" stroke="1" extrusionOk="0">
                <a:moveTo>
                  <a:pt x="3439235" y="0"/>
                </a:moveTo>
                <a:lnTo>
                  <a:pt x="3439235" y="2538484"/>
                </a:lnTo>
                <a:lnTo>
                  <a:pt x="0" y="2538484"/>
                </a:ln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508211719" name="Group 53"/>
          <p:cNvGrpSpPr/>
          <p:nvPr/>
        </p:nvGrpSpPr>
        <p:grpSpPr bwMode="auto">
          <a:xfrm>
            <a:off x="5839334" y="1133316"/>
            <a:ext cx="418704" cy="369332"/>
            <a:chOff x="3237027" y="3574016"/>
            <a:chExt cx="418704" cy="369332"/>
          </a:xfrm>
        </p:grpSpPr>
        <p:sp>
          <p:nvSpPr>
            <p:cNvPr id="55" name="Oval 54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56" name="TextBox 55"/>
            <p:cNvSpPr txBox="1"/>
            <p:nvPr/>
          </p:nvSpPr>
          <p:spPr bwMode="auto">
            <a:xfrm>
              <a:off x="3237027" y="357401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499458241" name="Group 56"/>
          <p:cNvGrpSpPr/>
          <p:nvPr/>
        </p:nvGrpSpPr>
        <p:grpSpPr bwMode="auto">
          <a:xfrm>
            <a:off x="5230526" y="1611590"/>
            <a:ext cx="418704" cy="369332"/>
            <a:chOff x="3228507" y="3571884"/>
            <a:chExt cx="418704" cy="369332"/>
          </a:xfrm>
        </p:grpSpPr>
        <p:sp>
          <p:nvSpPr>
            <p:cNvPr id="58" name="Oval 57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59" name="TextBox 58"/>
            <p:cNvSpPr txBox="1"/>
            <p:nvPr/>
          </p:nvSpPr>
          <p:spPr bwMode="auto">
            <a:xfrm>
              <a:off x="3228507" y="357188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409714344" name="Group 59"/>
          <p:cNvGrpSpPr/>
          <p:nvPr/>
        </p:nvGrpSpPr>
        <p:grpSpPr bwMode="auto">
          <a:xfrm>
            <a:off x="4811030" y="2128860"/>
            <a:ext cx="418704" cy="369332"/>
            <a:chOff x="3238651" y="3565482"/>
            <a:chExt cx="418704" cy="369332"/>
          </a:xfrm>
        </p:grpSpPr>
        <p:sp>
          <p:nvSpPr>
            <p:cNvPr id="61" name="Oval 60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62" name="TextBox 61"/>
            <p:cNvSpPr txBox="1"/>
            <p:nvPr/>
          </p:nvSpPr>
          <p:spPr bwMode="auto">
            <a:xfrm>
              <a:off x="3238651" y="3565482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10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620196440" name="Group 62"/>
          <p:cNvGrpSpPr/>
          <p:nvPr/>
        </p:nvGrpSpPr>
        <p:grpSpPr bwMode="auto">
          <a:xfrm>
            <a:off x="5611525" y="2123916"/>
            <a:ext cx="418704" cy="372896"/>
            <a:chOff x="3237027" y="3558914"/>
            <a:chExt cx="418704" cy="372896"/>
          </a:xfrm>
        </p:grpSpPr>
        <p:sp>
          <p:nvSpPr>
            <p:cNvPr id="64" name="Oval 63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65" name="TextBox 64"/>
            <p:cNvSpPr txBox="1"/>
            <p:nvPr/>
          </p:nvSpPr>
          <p:spPr bwMode="auto">
            <a:xfrm>
              <a:off x="3237027" y="355891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</a:t>
              </a:r>
              <a:r>
                <a:rPr lang="en-US" b="1">
                  <a:solidFill>
                    <a:schemeClr val="bg1"/>
                  </a:solidFill>
                </a:rPr>
                <a:t>8</a:t>
              </a:r>
              <a:endParaRPr/>
            </a:p>
          </p:txBody>
        </p:sp>
      </p:grpSp>
      <p:grpSp>
        <p:nvGrpSpPr>
          <p:cNvPr id="925239735" name="Group 65"/>
          <p:cNvGrpSpPr/>
          <p:nvPr/>
        </p:nvGrpSpPr>
        <p:grpSpPr bwMode="auto">
          <a:xfrm>
            <a:off x="6563630" y="1602184"/>
            <a:ext cx="418704" cy="369332"/>
            <a:chOff x="3237443" y="3562478"/>
            <a:chExt cx="418704" cy="369332"/>
          </a:xfrm>
        </p:grpSpPr>
        <p:sp>
          <p:nvSpPr>
            <p:cNvPr id="67" name="Oval 66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68" name="TextBox 67"/>
            <p:cNvSpPr txBox="1"/>
            <p:nvPr/>
          </p:nvSpPr>
          <p:spPr bwMode="auto">
            <a:xfrm>
              <a:off x="3237443" y="356247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75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981680413" name="Group 68"/>
          <p:cNvGrpSpPr/>
          <p:nvPr/>
        </p:nvGrpSpPr>
        <p:grpSpPr bwMode="auto">
          <a:xfrm>
            <a:off x="6067934" y="2123916"/>
            <a:ext cx="418704" cy="369332"/>
            <a:chOff x="3237027" y="3572206"/>
            <a:chExt cx="418704" cy="369332"/>
          </a:xfrm>
        </p:grpSpPr>
        <p:sp>
          <p:nvSpPr>
            <p:cNvPr id="70" name="Oval 69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71" name="TextBox 70"/>
            <p:cNvSpPr txBox="1"/>
            <p:nvPr/>
          </p:nvSpPr>
          <p:spPr bwMode="auto">
            <a:xfrm>
              <a:off x="3237027" y="357220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745010909" name="Group 71"/>
          <p:cNvGrpSpPr/>
          <p:nvPr/>
        </p:nvGrpSpPr>
        <p:grpSpPr bwMode="auto">
          <a:xfrm>
            <a:off x="7058534" y="2059384"/>
            <a:ext cx="418704" cy="369332"/>
            <a:chOff x="3237443" y="3572206"/>
            <a:chExt cx="418704" cy="369332"/>
          </a:xfrm>
        </p:grpSpPr>
        <p:sp>
          <p:nvSpPr>
            <p:cNvPr id="73" name="Oval 72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74" name="TextBox 73"/>
            <p:cNvSpPr txBox="1"/>
            <p:nvPr/>
          </p:nvSpPr>
          <p:spPr bwMode="auto">
            <a:xfrm>
              <a:off x="3237443" y="357220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89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989113621" name="Straight Arrow Connector 74"/>
          <p:cNvCxnSpPr>
            <a:stCxn id="55" idx="3"/>
            <a:endCxn id="58" idx="7"/>
          </p:cNvCxnSpPr>
          <p:nvPr/>
        </p:nvCxnSpPr>
        <p:spPr bwMode="auto">
          <a:xfrm flipH="1">
            <a:off x="5570742" y="1438916"/>
            <a:ext cx="348276" cy="228394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13407728" name="Straight Arrow Connector 75"/>
          <p:cNvCxnSpPr>
            <a:stCxn id="55" idx="5"/>
            <a:endCxn id="67" idx="1"/>
          </p:cNvCxnSpPr>
          <p:nvPr/>
        </p:nvCxnSpPr>
        <p:spPr bwMode="auto">
          <a:xfrm>
            <a:off x="6171030" y="1438916"/>
            <a:ext cx="471868" cy="228394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61985833" name="Straight Arrow Connector 76"/>
          <p:cNvCxnSpPr>
            <a:stCxn id="58" idx="3"/>
            <a:endCxn id="61" idx="7"/>
          </p:cNvCxnSpPr>
          <p:nvPr/>
        </p:nvCxnSpPr>
        <p:spPr bwMode="auto">
          <a:xfrm flipH="1">
            <a:off x="5141102" y="1919322"/>
            <a:ext cx="177628" cy="27166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9712535" name="Straight Arrow Connector 77"/>
          <p:cNvCxnSpPr>
            <a:stCxn id="58" idx="5"/>
            <a:endCxn id="64" idx="1"/>
          </p:cNvCxnSpPr>
          <p:nvPr/>
        </p:nvCxnSpPr>
        <p:spPr bwMode="auto">
          <a:xfrm>
            <a:off x="5570742" y="1919322"/>
            <a:ext cx="120468" cy="273284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96867266" name="Straight Arrow Connector 78"/>
          <p:cNvCxnSpPr>
            <a:stCxn id="67" idx="3"/>
            <a:endCxn id="70" idx="7"/>
          </p:cNvCxnSpPr>
          <p:nvPr/>
        </p:nvCxnSpPr>
        <p:spPr bwMode="auto">
          <a:xfrm flipH="1">
            <a:off x="6399630" y="1919322"/>
            <a:ext cx="243268" cy="259992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29902" name="Straight Arrow Connector 79"/>
          <p:cNvCxnSpPr>
            <a:stCxn id="67" idx="5"/>
            <a:endCxn id="73" idx="1"/>
          </p:cNvCxnSpPr>
          <p:nvPr/>
        </p:nvCxnSpPr>
        <p:spPr bwMode="auto">
          <a:xfrm>
            <a:off x="6894910" y="1919322"/>
            <a:ext cx="242892" cy="19546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671006698" name="Group 80"/>
          <p:cNvGrpSpPr/>
          <p:nvPr/>
        </p:nvGrpSpPr>
        <p:grpSpPr bwMode="auto">
          <a:xfrm>
            <a:off x="4533720" y="2732306"/>
            <a:ext cx="356400" cy="369332"/>
            <a:chOff x="3264517" y="3569056"/>
            <a:chExt cx="356400" cy="369332"/>
          </a:xfrm>
        </p:grpSpPr>
        <p:sp>
          <p:nvSpPr>
            <p:cNvPr id="82" name="Oval 81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83" name="TextBox 82"/>
            <p:cNvSpPr txBox="1"/>
            <p:nvPr/>
          </p:nvSpPr>
          <p:spPr bwMode="auto">
            <a:xfrm>
              <a:off x="3289097" y="3569056"/>
              <a:ext cx="301685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5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061427738" name="Straight Arrow Connector 83"/>
          <p:cNvCxnSpPr>
            <a:stCxn id="61" idx="3"/>
            <a:endCxn id="82" idx="0"/>
          </p:cNvCxnSpPr>
          <p:nvPr/>
        </p:nvCxnSpPr>
        <p:spPr bwMode="auto">
          <a:xfrm flipH="1">
            <a:off x="4711920" y="2442994"/>
            <a:ext cx="177170" cy="29566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58721828" name="TextBox 85"/>
          <p:cNvSpPr txBox="1"/>
          <p:nvPr/>
        </p:nvSpPr>
        <p:spPr bwMode="auto">
          <a:xfrm>
            <a:off x="3914421" y="735697"/>
            <a:ext cx="986104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defRPr/>
            </a:pPr>
            <a:r>
              <a:rPr lang="en-IN" sz="1600"/>
              <a:t>Delete </a:t>
            </a:r>
            <a:r>
              <a:rPr lang="en-IN" sz="1600" b="1">
                <a:solidFill>
                  <a:srgbClr val="C00000"/>
                </a:solidFill>
              </a:rPr>
              <a:t>73</a:t>
            </a:r>
            <a:endParaRPr lang="en-US" sz="1600" b="1">
              <a:solidFill>
                <a:srgbClr val="C00000"/>
              </a:solidFill>
            </a:endParaRPr>
          </a:p>
        </p:txBody>
      </p:sp>
      <p:grpSp>
        <p:nvGrpSpPr>
          <p:cNvPr id="2075307547" name="Group 86"/>
          <p:cNvGrpSpPr/>
          <p:nvPr/>
        </p:nvGrpSpPr>
        <p:grpSpPr bwMode="auto">
          <a:xfrm>
            <a:off x="5829120" y="1132106"/>
            <a:ext cx="418704" cy="369332"/>
            <a:chOff x="3237027" y="3572206"/>
            <a:chExt cx="418704" cy="369332"/>
          </a:xfrm>
        </p:grpSpPr>
        <p:sp>
          <p:nvSpPr>
            <p:cNvPr id="88" name="Oval 87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89" name="TextBox 88"/>
            <p:cNvSpPr txBox="1"/>
            <p:nvPr/>
          </p:nvSpPr>
          <p:spPr bwMode="auto">
            <a:xfrm>
              <a:off x="3237027" y="357220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sp>
        <p:nvSpPr>
          <p:cNvPr id="1373496971" name="TextBox 89"/>
          <p:cNvSpPr txBox="1"/>
          <p:nvPr/>
        </p:nvSpPr>
        <p:spPr bwMode="auto">
          <a:xfrm>
            <a:off x="4828810" y="2720638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202087310" name="TextBox 90"/>
          <p:cNvSpPr txBox="1"/>
          <p:nvPr/>
        </p:nvSpPr>
        <p:spPr bwMode="auto">
          <a:xfrm>
            <a:off x="4543338" y="211103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  <p:sp>
        <p:nvSpPr>
          <p:cNvPr id="194419249" name="TextBox 91"/>
          <p:cNvSpPr txBox="1"/>
          <p:nvPr/>
        </p:nvSpPr>
        <p:spPr bwMode="auto">
          <a:xfrm>
            <a:off x="5362210" y="2111038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525928732" name="TextBox 93"/>
          <p:cNvSpPr txBox="1"/>
          <p:nvPr/>
        </p:nvSpPr>
        <p:spPr bwMode="auto">
          <a:xfrm>
            <a:off x="7389814" y="204876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461687819" name="TextBox 94"/>
          <p:cNvSpPr txBox="1"/>
          <p:nvPr/>
        </p:nvSpPr>
        <p:spPr bwMode="auto">
          <a:xfrm>
            <a:off x="5000538" y="157763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  <p:sp>
        <p:nvSpPr>
          <p:cNvPr id="711905955" name="TextBox 95"/>
          <p:cNvSpPr txBox="1"/>
          <p:nvPr/>
        </p:nvSpPr>
        <p:spPr bwMode="auto">
          <a:xfrm>
            <a:off x="6886210" y="1577638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R</a:t>
            </a:r>
            <a:endParaRPr lang="en-US" b="1"/>
          </a:p>
        </p:txBody>
      </p:sp>
      <p:sp>
        <p:nvSpPr>
          <p:cNvPr id="1103570723" name="TextBox 96"/>
          <p:cNvSpPr txBox="1"/>
          <p:nvPr/>
        </p:nvSpPr>
        <p:spPr bwMode="auto">
          <a:xfrm>
            <a:off x="5600428" y="112043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  <p:cxnSp>
        <p:nvCxnSpPr>
          <p:cNvPr id="1201308260" name="Straight Connector 98"/>
          <p:cNvCxnSpPr>
            <a:stCxn id="1732794384" idx="1"/>
          </p:cNvCxnSpPr>
          <p:nvPr/>
        </p:nvCxnSpPr>
        <p:spPr bwMode="auto">
          <a:xfrm>
            <a:off x="3915575" y="3469340"/>
            <a:ext cx="0" cy="27297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94547014" name="TextBox 99"/>
          <p:cNvSpPr txBox="1"/>
          <p:nvPr/>
        </p:nvSpPr>
        <p:spPr bwMode="auto">
          <a:xfrm>
            <a:off x="3910775" y="3469340"/>
            <a:ext cx="986104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defRPr/>
            </a:pPr>
            <a:r>
              <a:rPr lang="en-IN" sz="1600"/>
              <a:t>Delete </a:t>
            </a:r>
            <a:r>
              <a:rPr lang="en-IN" sz="1600" b="1">
                <a:solidFill>
                  <a:srgbClr val="C00000"/>
                </a:solidFill>
              </a:rPr>
              <a:t>74</a:t>
            </a:r>
            <a:endParaRPr lang="en-US" sz="1600" b="1">
              <a:solidFill>
                <a:srgbClr val="C00000"/>
              </a:solidFill>
            </a:endParaRPr>
          </a:p>
        </p:txBody>
      </p:sp>
      <p:grpSp>
        <p:nvGrpSpPr>
          <p:cNvPr id="1101198335" name="Group 100"/>
          <p:cNvGrpSpPr/>
          <p:nvPr/>
        </p:nvGrpSpPr>
        <p:grpSpPr bwMode="auto">
          <a:xfrm>
            <a:off x="5631090" y="3863218"/>
            <a:ext cx="418704" cy="369332"/>
            <a:chOff x="3237027" y="3574016"/>
            <a:chExt cx="418704" cy="369332"/>
          </a:xfrm>
        </p:grpSpPr>
        <p:sp>
          <p:nvSpPr>
            <p:cNvPr id="102" name="Oval 101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03" name="TextBox 102"/>
            <p:cNvSpPr txBox="1"/>
            <p:nvPr/>
          </p:nvSpPr>
          <p:spPr bwMode="auto">
            <a:xfrm>
              <a:off x="3237027" y="357401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74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472319871" name="Group 103"/>
          <p:cNvGrpSpPr/>
          <p:nvPr/>
        </p:nvGrpSpPr>
        <p:grpSpPr bwMode="auto">
          <a:xfrm>
            <a:off x="5022282" y="4341492"/>
            <a:ext cx="418704" cy="369332"/>
            <a:chOff x="3228507" y="3571884"/>
            <a:chExt cx="418704" cy="369332"/>
          </a:xfrm>
        </p:grpSpPr>
        <p:sp>
          <p:nvSpPr>
            <p:cNvPr id="105" name="Oval 104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06" name="TextBox 105"/>
            <p:cNvSpPr txBox="1"/>
            <p:nvPr/>
          </p:nvSpPr>
          <p:spPr bwMode="auto">
            <a:xfrm>
              <a:off x="3228507" y="357188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775640999" name="Group 106"/>
          <p:cNvGrpSpPr/>
          <p:nvPr/>
        </p:nvGrpSpPr>
        <p:grpSpPr bwMode="auto">
          <a:xfrm>
            <a:off x="4602786" y="4858762"/>
            <a:ext cx="418704" cy="369332"/>
            <a:chOff x="3238651" y="3565482"/>
            <a:chExt cx="418704" cy="369332"/>
          </a:xfrm>
        </p:grpSpPr>
        <p:sp>
          <p:nvSpPr>
            <p:cNvPr id="108" name="Oval 107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09" name="TextBox 108"/>
            <p:cNvSpPr txBox="1"/>
            <p:nvPr/>
          </p:nvSpPr>
          <p:spPr bwMode="auto">
            <a:xfrm>
              <a:off x="3238651" y="3565482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10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52076477" name="Group 109"/>
          <p:cNvGrpSpPr/>
          <p:nvPr/>
        </p:nvGrpSpPr>
        <p:grpSpPr bwMode="auto">
          <a:xfrm>
            <a:off x="5403282" y="4853818"/>
            <a:ext cx="418704" cy="372896"/>
            <a:chOff x="3237027" y="3558914"/>
            <a:chExt cx="418704" cy="372896"/>
          </a:xfrm>
        </p:grpSpPr>
        <p:sp>
          <p:nvSpPr>
            <p:cNvPr id="111" name="Oval 110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12" name="TextBox 111"/>
            <p:cNvSpPr txBox="1"/>
            <p:nvPr/>
          </p:nvSpPr>
          <p:spPr bwMode="auto">
            <a:xfrm>
              <a:off x="3237027" y="355891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</a:t>
              </a:r>
              <a:r>
                <a:rPr lang="en-US" b="1">
                  <a:solidFill>
                    <a:schemeClr val="bg1"/>
                  </a:solidFill>
                </a:rPr>
                <a:t>8</a:t>
              </a:r>
              <a:endParaRPr/>
            </a:p>
          </p:txBody>
        </p:sp>
      </p:grpSp>
      <p:grpSp>
        <p:nvGrpSpPr>
          <p:cNvPr id="483006608" name="Group 112"/>
          <p:cNvGrpSpPr/>
          <p:nvPr/>
        </p:nvGrpSpPr>
        <p:grpSpPr bwMode="auto">
          <a:xfrm>
            <a:off x="6355386" y="4332086"/>
            <a:ext cx="418704" cy="369332"/>
            <a:chOff x="3237443" y="3562478"/>
            <a:chExt cx="418704" cy="369332"/>
          </a:xfrm>
        </p:grpSpPr>
        <p:sp>
          <p:nvSpPr>
            <p:cNvPr id="114" name="Oval 113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15" name="TextBox 114"/>
            <p:cNvSpPr txBox="1"/>
            <p:nvPr/>
          </p:nvSpPr>
          <p:spPr bwMode="auto">
            <a:xfrm>
              <a:off x="3237443" y="356247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75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240824502" name="Group 118"/>
          <p:cNvGrpSpPr/>
          <p:nvPr/>
        </p:nvGrpSpPr>
        <p:grpSpPr bwMode="auto">
          <a:xfrm>
            <a:off x="6850290" y="4789286"/>
            <a:ext cx="418704" cy="369332"/>
            <a:chOff x="3237443" y="3572206"/>
            <a:chExt cx="418704" cy="369332"/>
          </a:xfrm>
        </p:grpSpPr>
        <p:sp>
          <p:nvSpPr>
            <p:cNvPr id="120" name="Oval 119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21" name="TextBox 120"/>
            <p:cNvSpPr txBox="1"/>
            <p:nvPr/>
          </p:nvSpPr>
          <p:spPr bwMode="auto">
            <a:xfrm>
              <a:off x="3237443" y="357220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89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516323458" name="Straight Arrow Connector 121"/>
          <p:cNvCxnSpPr>
            <a:stCxn id="102" idx="3"/>
            <a:endCxn id="105" idx="7"/>
          </p:cNvCxnSpPr>
          <p:nvPr/>
        </p:nvCxnSpPr>
        <p:spPr bwMode="auto">
          <a:xfrm flipH="1">
            <a:off x="5362498" y="4168818"/>
            <a:ext cx="348276" cy="228394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71716110" name="Straight Arrow Connector 122"/>
          <p:cNvCxnSpPr>
            <a:stCxn id="102" idx="5"/>
            <a:endCxn id="114" idx="1"/>
          </p:cNvCxnSpPr>
          <p:nvPr/>
        </p:nvCxnSpPr>
        <p:spPr bwMode="auto">
          <a:xfrm>
            <a:off x="5962786" y="4168818"/>
            <a:ext cx="471868" cy="228394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3494826" name="Straight Arrow Connector 123"/>
          <p:cNvCxnSpPr>
            <a:stCxn id="105" idx="3"/>
            <a:endCxn id="108" idx="7"/>
          </p:cNvCxnSpPr>
          <p:nvPr/>
        </p:nvCxnSpPr>
        <p:spPr bwMode="auto">
          <a:xfrm flipH="1">
            <a:off x="4932858" y="4649224"/>
            <a:ext cx="177628" cy="27166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02796152" name="Straight Arrow Connector 124"/>
          <p:cNvCxnSpPr>
            <a:stCxn id="105" idx="5"/>
            <a:endCxn id="111" idx="1"/>
          </p:cNvCxnSpPr>
          <p:nvPr/>
        </p:nvCxnSpPr>
        <p:spPr bwMode="auto">
          <a:xfrm>
            <a:off x="5362498" y="4649224"/>
            <a:ext cx="120468" cy="273284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82541603" name="Straight Arrow Connector 126"/>
          <p:cNvCxnSpPr>
            <a:stCxn id="114" idx="5"/>
            <a:endCxn id="120" idx="1"/>
          </p:cNvCxnSpPr>
          <p:nvPr/>
        </p:nvCxnSpPr>
        <p:spPr bwMode="auto">
          <a:xfrm>
            <a:off x="6686666" y="4649224"/>
            <a:ext cx="242892" cy="19546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503366483" name="Group 127"/>
          <p:cNvGrpSpPr/>
          <p:nvPr/>
        </p:nvGrpSpPr>
        <p:grpSpPr bwMode="auto">
          <a:xfrm>
            <a:off x="4325476" y="5462208"/>
            <a:ext cx="356400" cy="369332"/>
            <a:chOff x="3264517" y="3569056"/>
            <a:chExt cx="356400" cy="369332"/>
          </a:xfrm>
        </p:grpSpPr>
        <p:sp>
          <p:nvSpPr>
            <p:cNvPr id="129" name="Oval 128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30" name="TextBox 129"/>
            <p:cNvSpPr txBox="1"/>
            <p:nvPr/>
          </p:nvSpPr>
          <p:spPr bwMode="auto">
            <a:xfrm>
              <a:off x="3289097" y="3569056"/>
              <a:ext cx="301685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5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253495530" name="Straight Arrow Connector 130"/>
          <p:cNvCxnSpPr>
            <a:stCxn id="108" idx="3"/>
            <a:endCxn id="129" idx="0"/>
          </p:cNvCxnSpPr>
          <p:nvPr/>
        </p:nvCxnSpPr>
        <p:spPr bwMode="auto">
          <a:xfrm flipH="1">
            <a:off x="4503676" y="5172896"/>
            <a:ext cx="177170" cy="29566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431879044" name="Group 140"/>
          <p:cNvGrpSpPr/>
          <p:nvPr/>
        </p:nvGrpSpPr>
        <p:grpSpPr bwMode="auto">
          <a:xfrm>
            <a:off x="5630815" y="3850341"/>
            <a:ext cx="418704" cy="372271"/>
            <a:chOff x="3237443" y="3559538"/>
            <a:chExt cx="418704" cy="372271"/>
          </a:xfrm>
        </p:grpSpPr>
        <p:sp>
          <p:nvSpPr>
            <p:cNvPr id="142" name="Oval 141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43" name="TextBox 142"/>
            <p:cNvSpPr txBox="1"/>
            <p:nvPr/>
          </p:nvSpPr>
          <p:spPr bwMode="auto">
            <a:xfrm>
              <a:off x="3237443" y="3559538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75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985081840" name="Group 143"/>
          <p:cNvGrpSpPr/>
          <p:nvPr/>
        </p:nvGrpSpPr>
        <p:grpSpPr bwMode="auto">
          <a:xfrm>
            <a:off x="6355111" y="4337357"/>
            <a:ext cx="418704" cy="369332"/>
            <a:chOff x="3237443" y="3572206"/>
            <a:chExt cx="418704" cy="369332"/>
          </a:xfrm>
        </p:grpSpPr>
        <p:sp>
          <p:nvSpPr>
            <p:cNvPr id="145" name="Oval 144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46" name="TextBox 145"/>
            <p:cNvSpPr txBox="1"/>
            <p:nvPr/>
          </p:nvSpPr>
          <p:spPr bwMode="auto">
            <a:xfrm>
              <a:off x="3237443" y="3572206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89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sp>
        <p:nvSpPr>
          <p:cNvPr id="1625836796" name="TextBox 146"/>
          <p:cNvSpPr txBox="1"/>
          <p:nvPr/>
        </p:nvSpPr>
        <p:spPr bwMode="auto">
          <a:xfrm>
            <a:off x="4010966" y="5462208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753757940" name="TextBox 147"/>
          <p:cNvSpPr txBox="1"/>
          <p:nvPr/>
        </p:nvSpPr>
        <p:spPr bwMode="auto">
          <a:xfrm>
            <a:off x="4325384" y="484094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  <p:sp>
        <p:nvSpPr>
          <p:cNvPr id="1046571824" name="TextBox 148"/>
          <p:cNvSpPr txBox="1"/>
          <p:nvPr/>
        </p:nvSpPr>
        <p:spPr bwMode="auto">
          <a:xfrm>
            <a:off x="5763566" y="484094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957434164" name="TextBox 150"/>
          <p:cNvSpPr txBox="1"/>
          <p:nvPr/>
        </p:nvSpPr>
        <p:spPr bwMode="auto">
          <a:xfrm>
            <a:off x="4782584" y="430754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  <p:sp>
        <p:nvSpPr>
          <p:cNvPr id="1719286170" name="TextBox 151"/>
          <p:cNvSpPr txBox="1"/>
          <p:nvPr/>
        </p:nvSpPr>
        <p:spPr bwMode="auto">
          <a:xfrm>
            <a:off x="6754166" y="430754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351141614" name="TextBox 152"/>
          <p:cNvSpPr txBox="1"/>
          <p:nvPr/>
        </p:nvSpPr>
        <p:spPr bwMode="auto">
          <a:xfrm>
            <a:off x="6072713" y="3850340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b="1">
                <a:solidFill>
                  <a:srgbClr val="C00000"/>
                </a:solidFill>
              </a:rPr>
              <a:t>Critical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277916306" name="TextBox 154"/>
          <p:cNvSpPr txBox="1"/>
          <p:nvPr/>
        </p:nvSpPr>
        <p:spPr bwMode="auto">
          <a:xfrm>
            <a:off x="7045331" y="4135916"/>
            <a:ext cx="2199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/>
              <a:t>Case 1: </a:t>
            </a:r>
            <a:r>
              <a:rPr lang="en-US"/>
              <a:t>Right Rotation of Node </a:t>
            </a:r>
            <a:r>
              <a:rPr lang="en-US" b="1">
                <a:solidFill>
                  <a:srgbClr val="C00000"/>
                </a:solidFill>
              </a:rPr>
              <a:t>75 </a:t>
            </a:r>
            <a:endParaRPr/>
          </a:p>
        </p:txBody>
      </p:sp>
      <p:grpSp>
        <p:nvGrpSpPr>
          <p:cNvPr id="906042240" name="Group 158"/>
          <p:cNvGrpSpPr/>
          <p:nvPr/>
        </p:nvGrpSpPr>
        <p:grpSpPr bwMode="auto">
          <a:xfrm>
            <a:off x="10103692" y="3890592"/>
            <a:ext cx="418704" cy="369332"/>
            <a:chOff x="3228507" y="3571884"/>
            <a:chExt cx="418704" cy="369332"/>
          </a:xfrm>
        </p:grpSpPr>
        <p:sp>
          <p:nvSpPr>
            <p:cNvPr id="160" name="Oval 159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61" name="TextBox 160"/>
            <p:cNvSpPr txBox="1"/>
            <p:nvPr/>
          </p:nvSpPr>
          <p:spPr bwMode="auto">
            <a:xfrm>
              <a:off x="3228507" y="357188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13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552134464" name="Group 161"/>
          <p:cNvGrpSpPr/>
          <p:nvPr/>
        </p:nvGrpSpPr>
        <p:grpSpPr bwMode="auto">
          <a:xfrm>
            <a:off x="9445336" y="4383755"/>
            <a:ext cx="418704" cy="369332"/>
            <a:chOff x="3238651" y="3565482"/>
            <a:chExt cx="418704" cy="369332"/>
          </a:xfrm>
        </p:grpSpPr>
        <p:sp>
          <p:nvSpPr>
            <p:cNvPr id="163" name="Oval 162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64" name="TextBox 163"/>
            <p:cNvSpPr txBox="1"/>
            <p:nvPr/>
          </p:nvSpPr>
          <p:spPr bwMode="auto">
            <a:xfrm>
              <a:off x="3238651" y="3565482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10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468772517" name="Group 164"/>
          <p:cNvGrpSpPr/>
          <p:nvPr/>
        </p:nvGrpSpPr>
        <p:grpSpPr bwMode="auto">
          <a:xfrm>
            <a:off x="10906866" y="4383755"/>
            <a:ext cx="418704" cy="369332"/>
            <a:chOff x="3237027" y="3568443"/>
            <a:chExt cx="418704" cy="369332"/>
          </a:xfrm>
        </p:grpSpPr>
        <p:sp>
          <p:nvSpPr>
            <p:cNvPr id="166" name="Oval 165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67" name="TextBox 166"/>
            <p:cNvSpPr txBox="1"/>
            <p:nvPr/>
          </p:nvSpPr>
          <p:spPr bwMode="auto">
            <a:xfrm>
              <a:off x="3237027" y="3568443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chemeClr val="bg1"/>
                  </a:solidFill>
                </a:rPr>
                <a:t>75</a:t>
              </a:r>
              <a:endParaRPr/>
            </a:p>
          </p:txBody>
        </p:sp>
      </p:grpSp>
      <p:cxnSp>
        <p:nvCxnSpPr>
          <p:cNvPr id="664006760" name="Straight Arrow Connector 175"/>
          <p:cNvCxnSpPr>
            <a:stCxn id="160" idx="3"/>
            <a:endCxn id="163" idx="7"/>
          </p:cNvCxnSpPr>
          <p:nvPr/>
        </p:nvCxnSpPr>
        <p:spPr bwMode="auto">
          <a:xfrm flipH="1">
            <a:off x="9775407" y="4198324"/>
            <a:ext cx="416488" cy="247553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93299603" name="Straight Arrow Connector 176"/>
          <p:cNvCxnSpPr>
            <a:stCxn id="160" idx="5"/>
            <a:endCxn id="166" idx="1"/>
          </p:cNvCxnSpPr>
          <p:nvPr/>
        </p:nvCxnSpPr>
        <p:spPr bwMode="auto">
          <a:xfrm>
            <a:off x="10443908" y="4198324"/>
            <a:ext cx="542642" cy="244592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31775031" name="Group 178"/>
          <p:cNvGrpSpPr/>
          <p:nvPr/>
        </p:nvGrpSpPr>
        <p:grpSpPr bwMode="auto">
          <a:xfrm>
            <a:off x="9030603" y="5010075"/>
            <a:ext cx="356400" cy="369332"/>
            <a:chOff x="3264517" y="3569056"/>
            <a:chExt cx="356400" cy="369332"/>
          </a:xfrm>
        </p:grpSpPr>
        <p:sp>
          <p:nvSpPr>
            <p:cNvPr id="180" name="Oval 179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81" name="TextBox 180"/>
            <p:cNvSpPr txBox="1"/>
            <p:nvPr/>
          </p:nvSpPr>
          <p:spPr bwMode="auto">
            <a:xfrm>
              <a:off x="3289097" y="3569056"/>
              <a:ext cx="301685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5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15208290" name="Straight Arrow Connector 181"/>
          <p:cNvCxnSpPr>
            <a:stCxn id="163" idx="3"/>
            <a:endCxn id="180" idx="0"/>
          </p:cNvCxnSpPr>
          <p:nvPr/>
        </p:nvCxnSpPr>
        <p:spPr bwMode="auto">
          <a:xfrm flipH="1">
            <a:off x="9208803" y="4697889"/>
            <a:ext cx="314593" cy="31854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190834568" name="Group 196"/>
          <p:cNvGrpSpPr/>
          <p:nvPr/>
        </p:nvGrpSpPr>
        <p:grpSpPr bwMode="auto">
          <a:xfrm>
            <a:off x="11539389" y="4969587"/>
            <a:ext cx="418704" cy="369332"/>
            <a:chOff x="3246919" y="3574134"/>
            <a:chExt cx="418704" cy="369332"/>
          </a:xfrm>
        </p:grpSpPr>
        <p:sp>
          <p:nvSpPr>
            <p:cNvPr id="198" name="Oval 197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199" name="TextBox 198"/>
            <p:cNvSpPr txBox="1"/>
            <p:nvPr/>
          </p:nvSpPr>
          <p:spPr bwMode="auto">
            <a:xfrm>
              <a:off x="3246919" y="3574134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89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grpSp>
        <p:nvGrpSpPr>
          <p:cNvPr id="1505129726" name="Group 199"/>
          <p:cNvGrpSpPr/>
          <p:nvPr/>
        </p:nvGrpSpPr>
        <p:grpSpPr bwMode="auto">
          <a:xfrm>
            <a:off x="10348417" y="5017359"/>
            <a:ext cx="418704" cy="369332"/>
            <a:chOff x="3237443" y="3569762"/>
            <a:chExt cx="418704" cy="369332"/>
          </a:xfrm>
        </p:grpSpPr>
        <p:sp>
          <p:nvSpPr>
            <p:cNvPr id="201" name="Oval 200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02" name="TextBox 201"/>
            <p:cNvSpPr txBox="1"/>
            <p:nvPr/>
          </p:nvSpPr>
          <p:spPr bwMode="auto">
            <a:xfrm>
              <a:off x="3237443" y="3569762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28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cxnSp>
        <p:nvCxnSpPr>
          <p:cNvPr id="240257897" name="Straight Arrow Connector 203"/>
          <p:cNvCxnSpPr>
            <a:stCxn id="166" idx="3"/>
            <a:endCxn id="201" idx="7"/>
          </p:cNvCxnSpPr>
          <p:nvPr/>
        </p:nvCxnSpPr>
        <p:spPr bwMode="auto">
          <a:xfrm flipH="1">
            <a:off x="10679697" y="4694928"/>
            <a:ext cx="306853" cy="380273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50325960" name="Straight Arrow Connector 205"/>
          <p:cNvCxnSpPr>
            <a:stCxn id="166" idx="5"/>
            <a:endCxn id="198" idx="1"/>
          </p:cNvCxnSpPr>
          <p:nvPr/>
        </p:nvCxnSpPr>
        <p:spPr bwMode="auto">
          <a:xfrm>
            <a:off x="11238562" y="4694928"/>
            <a:ext cx="370619" cy="328129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825915723" name="Group 206"/>
          <p:cNvGrpSpPr/>
          <p:nvPr/>
        </p:nvGrpSpPr>
        <p:grpSpPr bwMode="auto">
          <a:xfrm>
            <a:off x="7926475" y="4935196"/>
            <a:ext cx="418704" cy="369332"/>
            <a:chOff x="3237443" y="3569762"/>
            <a:chExt cx="418704" cy="369332"/>
          </a:xfrm>
        </p:grpSpPr>
        <p:sp>
          <p:nvSpPr>
            <p:cNvPr id="208" name="Oval 207"/>
            <p:cNvSpPr/>
            <p:nvPr/>
          </p:nvSpPr>
          <p:spPr bwMode="auto">
            <a:xfrm>
              <a:off x="3264517" y="3575410"/>
              <a:ext cx="356400" cy="356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 b="1"/>
            </a:p>
          </p:txBody>
        </p:sp>
        <p:sp>
          <p:nvSpPr>
            <p:cNvPr id="209" name="TextBox 208"/>
            <p:cNvSpPr txBox="1"/>
            <p:nvPr/>
          </p:nvSpPr>
          <p:spPr bwMode="auto">
            <a:xfrm>
              <a:off x="3237443" y="3569762"/>
              <a:ext cx="418704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>
                <a:defRPr/>
              </a:pPr>
              <a:r>
                <a:rPr lang="en-IN" b="1">
                  <a:solidFill>
                    <a:schemeClr val="bg1"/>
                  </a:solidFill>
                </a:rPr>
                <a:t>28</a:t>
              </a:r>
              <a:endParaRPr lang="en-US" b="1">
                <a:solidFill>
                  <a:schemeClr val="bg1"/>
                </a:solidFill>
              </a:endParaRPr>
            </a:p>
          </p:txBody>
        </p:sp>
      </p:grpSp>
      <p:sp>
        <p:nvSpPr>
          <p:cNvPr id="2099020030" name="TextBox 209"/>
          <p:cNvSpPr txBox="1"/>
          <p:nvPr/>
        </p:nvSpPr>
        <p:spPr bwMode="auto">
          <a:xfrm>
            <a:off x="8702556" y="505296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1069119588" name="TextBox 210"/>
          <p:cNvSpPr txBox="1"/>
          <p:nvPr/>
        </p:nvSpPr>
        <p:spPr bwMode="auto">
          <a:xfrm>
            <a:off x="10042292" y="5035613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27953002" name="TextBox 211"/>
          <p:cNvSpPr txBox="1"/>
          <p:nvPr/>
        </p:nvSpPr>
        <p:spPr bwMode="auto">
          <a:xfrm>
            <a:off x="11930087" y="4981772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396958938" name="TextBox 212"/>
          <p:cNvSpPr txBox="1"/>
          <p:nvPr/>
        </p:nvSpPr>
        <p:spPr bwMode="auto">
          <a:xfrm>
            <a:off x="9160500" y="4383755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L</a:t>
            </a:r>
            <a:endParaRPr lang="en-US" b="1"/>
          </a:p>
        </p:txBody>
      </p:sp>
      <p:sp>
        <p:nvSpPr>
          <p:cNvPr id="1987390235" name="TextBox 213"/>
          <p:cNvSpPr txBox="1"/>
          <p:nvPr/>
        </p:nvSpPr>
        <p:spPr bwMode="auto">
          <a:xfrm>
            <a:off x="11234662" y="438375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sp>
        <p:nvSpPr>
          <p:cNvPr id="365107294" name="TextBox 214"/>
          <p:cNvSpPr txBox="1"/>
          <p:nvPr/>
        </p:nvSpPr>
        <p:spPr bwMode="auto">
          <a:xfrm>
            <a:off x="10535522" y="377425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IN" b="1"/>
              <a:t>B</a:t>
            </a:r>
            <a:endParaRPr lang="en-US" b="1"/>
          </a:p>
        </p:txBody>
      </p:sp>
      <p:cxnSp>
        <p:nvCxnSpPr>
          <p:cNvPr id="201923746" name="Straight Arrow Connector 16"/>
          <p:cNvCxnSpPr/>
          <p:nvPr/>
        </p:nvCxnSpPr>
        <p:spPr bwMode="auto">
          <a:xfrm>
            <a:off x="7551263" y="4782247"/>
            <a:ext cx="1308548" cy="0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1786156" name="Straight Connector 29"/>
          <p:cNvCxnSpPr/>
          <p:nvPr/>
        </p:nvCxnSpPr>
        <p:spPr bwMode="auto">
          <a:xfrm>
            <a:off x="3915575" y="3469340"/>
            <a:ext cx="8146437" cy="134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975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51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1298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786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8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96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51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907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590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18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63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82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894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409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753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646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29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08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79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72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21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458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7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196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23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68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01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1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407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98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1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86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006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427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307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68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86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496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087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41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92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687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90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57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30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454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8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198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319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564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76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006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82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32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1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49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9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4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36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49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879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08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82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4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836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75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7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43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28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14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91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23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91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04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006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134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5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299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2093299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77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32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834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25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8" dur="500"/>
                                        <p:tgtEl>
                                          <p:spTgt spid="24025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12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020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119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95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39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107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108903" grpId="0" animBg="1"/>
      <p:bldP spid="1736463189" grpId="0"/>
      <p:bldP spid="1060829836" grpId="0"/>
      <p:bldP spid="1732794384" grpId="0" animBg="1"/>
      <p:bldP spid="1958721828" grpId="0" animBg="1"/>
      <p:bldP spid="1373496971" grpId="0"/>
      <p:bldP spid="1202087310" grpId="0"/>
      <p:bldP spid="194419249" grpId="0"/>
      <p:bldP spid="525928732" grpId="0"/>
      <p:bldP spid="461687819" grpId="0"/>
      <p:bldP spid="711905955" grpId="0"/>
      <p:bldP spid="1103570723" grpId="0"/>
      <p:bldP spid="2094547014" grpId="0" animBg="1"/>
      <p:bldP spid="1625836796" grpId="0"/>
      <p:bldP spid="1753757940" grpId="0"/>
      <p:bldP spid="1046571824" grpId="0"/>
      <p:bldP spid="1957434164" grpId="0"/>
      <p:bldP spid="1719286170" grpId="0"/>
      <p:bldP spid="1351141614" grpId="0"/>
      <p:bldP spid="1277916306" grpId="0"/>
      <p:bldP spid="2099020030" grpId="0"/>
      <p:bldP spid="1069119588" grpId="0"/>
      <p:bldP spid="27953002" grpId="0"/>
      <p:bldP spid="396958938" grpId="0"/>
      <p:bldP spid="1987390235" grpId="0"/>
      <p:bldP spid="36510729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9495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Construct the AVL (Height Balanced Tree) for given examples</a:t>
            </a:r>
            <a:endParaRPr/>
          </a:p>
        </p:txBody>
      </p:sp>
      <p:sp>
        <p:nvSpPr>
          <p:cNvPr id="91386938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64, 1, 44, 26, 13, 110, 98, 85</a:t>
            </a:r>
            <a:endParaRPr/>
          </a:p>
          <a:p>
            <a:pPr>
              <a:defRPr/>
            </a:pPr>
            <a:r>
              <a:rPr lang="en-US"/>
              <a:t>42,06,54,62,88,50,22,32,12,33</a:t>
            </a:r>
            <a:endParaRPr/>
          </a:p>
          <a:p>
            <a:pPr>
              <a:defRPr/>
            </a:pPr>
            <a:r>
              <a:rPr lang="en-US"/>
              <a:t>150, 155, 160, 115, 110, 140, 120, 145, 130, 147, 170, 180</a:t>
            </a:r>
            <a:endParaRPr/>
          </a:p>
          <a:p>
            <a:pPr>
              <a:defRPr/>
            </a:pPr>
            <a:r>
              <a:rPr lang="en-US"/>
              <a:t>10,20,30,40,50,60,70,80</a:t>
            </a:r>
            <a:endParaRPr/>
          </a:p>
          <a:p>
            <a:pPr>
              <a:defRPr/>
            </a:pPr>
            <a:r>
              <a:rPr lang="en-US"/>
              <a:t>A,Z,B,Y,C,X,D,U,E</a:t>
            </a:r>
            <a:endParaRPr/>
          </a:p>
          <a:p>
            <a:pPr>
              <a:defRPr/>
            </a:pPr>
            <a:r>
              <a:rPr lang="en-US"/>
              <a:t>MAR, MAY, NOV, AUG, APR, JAN, DEC, JUN, FEB, JUL, OCT, SEP</a:t>
            </a:r>
            <a:endParaRPr/>
          </a:p>
          <a:p>
            <a:pPr>
              <a:defRPr/>
            </a:pPr>
            <a:r>
              <a:rPr lang="en-US"/>
              <a:t>3,5,11,8,4,1,12,7,2,6,10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66192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/>
              <a:t>Weight Balanced Tree</a:t>
            </a:r>
            <a:endParaRPr lang="en-US"/>
          </a:p>
        </p:txBody>
      </p:sp>
      <p:sp>
        <p:nvSpPr>
          <p:cNvPr id="157125537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 a </a:t>
            </a:r>
            <a:r>
              <a:rPr lang="en-US" b="1">
                <a:solidFill>
                  <a:srgbClr val="C00000"/>
                </a:solidFill>
              </a:rPr>
              <a:t>weight balanced tree</a:t>
            </a:r>
            <a:r>
              <a:rPr lang="en-US"/>
              <a:t>, the </a:t>
            </a:r>
            <a:r>
              <a:rPr lang="en-US" b="1">
                <a:solidFill>
                  <a:srgbClr val="C00000"/>
                </a:solidFill>
              </a:rPr>
              <a:t>nodes are arranged </a:t>
            </a:r>
            <a:r>
              <a:rPr lang="en-US"/>
              <a:t>on the </a:t>
            </a:r>
            <a:r>
              <a:rPr lang="en-US" b="1">
                <a:solidFill>
                  <a:srgbClr val="C00000"/>
                </a:solidFill>
              </a:rPr>
              <a:t>basis of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the knowledge available on the </a:t>
            </a:r>
            <a:r>
              <a:rPr lang="en-US" b="1">
                <a:solidFill>
                  <a:srgbClr val="C00000"/>
                </a:solidFill>
              </a:rPr>
              <a:t>probability for searching </a:t>
            </a:r>
            <a:r>
              <a:rPr lang="en-US"/>
              <a:t>each node</a:t>
            </a:r>
            <a:endParaRPr/>
          </a:p>
          <a:p>
            <a:pPr>
              <a:defRPr/>
            </a:pPr>
            <a:r>
              <a:rPr lang="en-US"/>
              <a:t>The node with </a:t>
            </a:r>
            <a:r>
              <a:rPr lang="en-US" b="1">
                <a:solidFill>
                  <a:srgbClr val="C00000"/>
                </a:solidFill>
              </a:rPr>
              <a:t>highest probability </a:t>
            </a:r>
            <a:r>
              <a:rPr lang="en-US"/>
              <a:t>is placed at the </a:t>
            </a:r>
            <a:r>
              <a:rPr lang="en-US" b="1">
                <a:solidFill>
                  <a:srgbClr val="C00000"/>
                </a:solidFill>
              </a:rPr>
              <a:t>root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of the tree</a:t>
            </a:r>
            <a:endParaRPr/>
          </a:p>
          <a:p>
            <a:pPr>
              <a:defRPr/>
            </a:pPr>
            <a:r>
              <a:rPr lang="en-US"/>
              <a:t>The </a:t>
            </a:r>
            <a:r>
              <a:rPr lang="en-US" b="1">
                <a:solidFill>
                  <a:srgbClr val="C00000"/>
                </a:solidFill>
              </a:rPr>
              <a:t>nodes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in the </a:t>
            </a:r>
            <a:r>
              <a:rPr lang="en-US" b="1">
                <a:solidFill>
                  <a:srgbClr val="C00000"/>
                </a:solidFill>
              </a:rPr>
              <a:t>left sub-tree </a:t>
            </a:r>
            <a:r>
              <a:rPr lang="en-US"/>
              <a:t>are </a:t>
            </a:r>
            <a:r>
              <a:rPr lang="en-US" b="1">
                <a:solidFill>
                  <a:srgbClr val="C00000"/>
                </a:solidFill>
              </a:rPr>
              <a:t>less in ranking </a:t>
            </a:r>
            <a:r>
              <a:rPr lang="en-US"/>
              <a:t>as well as </a:t>
            </a:r>
            <a:r>
              <a:rPr lang="en-US" b="1">
                <a:solidFill>
                  <a:srgbClr val="C00000"/>
                </a:solidFill>
              </a:rPr>
              <a:t>less in probability </a:t>
            </a:r>
            <a:r>
              <a:rPr lang="en-US"/>
              <a:t>then the root node</a:t>
            </a:r>
            <a:endParaRPr/>
          </a:p>
          <a:p>
            <a:pPr>
              <a:defRPr/>
            </a:pPr>
            <a:r>
              <a:rPr lang="en-US"/>
              <a:t>The </a:t>
            </a:r>
            <a:r>
              <a:rPr lang="en-US" b="1">
                <a:solidFill>
                  <a:srgbClr val="C00000"/>
                </a:solidFill>
              </a:rPr>
              <a:t>nodes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in the </a:t>
            </a:r>
            <a:r>
              <a:rPr lang="en-US" b="1">
                <a:solidFill>
                  <a:srgbClr val="C00000"/>
                </a:solidFill>
              </a:rPr>
              <a:t>right sub-tree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are </a:t>
            </a:r>
            <a:r>
              <a:rPr lang="en-US" b="1">
                <a:solidFill>
                  <a:srgbClr val="C00000"/>
                </a:solidFill>
              </a:rPr>
              <a:t>higher in ranking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but </a:t>
            </a:r>
            <a:r>
              <a:rPr lang="en-US" b="1">
                <a:solidFill>
                  <a:srgbClr val="C00000"/>
                </a:solidFill>
              </a:rPr>
              <a:t>less in probability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then the root node</a:t>
            </a:r>
            <a:endParaRPr/>
          </a:p>
          <a:p>
            <a:pPr>
              <a:defRPr/>
            </a:pPr>
            <a:r>
              <a:rPr lang="en-US"/>
              <a:t>Each node of such a Tree has an information field contains the value of the node and count number of times node has been visited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255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2553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2553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2553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2553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5700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/>
              <a:t>Weight Balanced Tree</a:t>
            </a:r>
            <a:endParaRPr lang="en-US"/>
          </a:p>
        </p:txBody>
      </p:sp>
      <p:sp>
        <p:nvSpPr>
          <p:cNvPr id="1627809783" name="Oval 3"/>
          <p:cNvSpPr/>
          <p:nvPr/>
        </p:nvSpPr>
        <p:spPr bwMode="auto">
          <a:xfrm>
            <a:off x="5637143" y="1586755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P</a:t>
            </a:r>
            <a:endParaRPr/>
          </a:p>
        </p:txBody>
      </p:sp>
      <p:sp>
        <p:nvSpPr>
          <p:cNvPr id="1701714655" name="Oval 4"/>
          <p:cNvSpPr/>
          <p:nvPr/>
        </p:nvSpPr>
        <p:spPr bwMode="auto">
          <a:xfrm>
            <a:off x="3833191" y="2653555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E</a:t>
            </a:r>
            <a:endParaRPr/>
          </a:p>
        </p:txBody>
      </p:sp>
      <p:sp>
        <p:nvSpPr>
          <p:cNvPr id="89049655" name="Oval 5"/>
          <p:cNvSpPr/>
          <p:nvPr/>
        </p:nvSpPr>
        <p:spPr bwMode="auto">
          <a:xfrm>
            <a:off x="4823791" y="3644155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K</a:t>
            </a:r>
            <a:endParaRPr/>
          </a:p>
        </p:txBody>
      </p:sp>
      <p:sp>
        <p:nvSpPr>
          <p:cNvPr id="1218691972" name="Oval 6"/>
          <p:cNvSpPr/>
          <p:nvPr/>
        </p:nvSpPr>
        <p:spPr bwMode="auto">
          <a:xfrm>
            <a:off x="3680791" y="4482355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G</a:t>
            </a:r>
            <a:endParaRPr/>
          </a:p>
        </p:txBody>
      </p:sp>
      <p:sp>
        <p:nvSpPr>
          <p:cNvPr id="1143780206" name="Oval 7"/>
          <p:cNvSpPr/>
          <p:nvPr/>
        </p:nvSpPr>
        <p:spPr bwMode="auto">
          <a:xfrm>
            <a:off x="5623891" y="4558555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M</a:t>
            </a:r>
            <a:endParaRPr/>
          </a:p>
        </p:txBody>
      </p:sp>
      <p:sp>
        <p:nvSpPr>
          <p:cNvPr id="2137904286" name="Oval 8"/>
          <p:cNvSpPr/>
          <p:nvPr/>
        </p:nvSpPr>
        <p:spPr bwMode="auto">
          <a:xfrm>
            <a:off x="7414591" y="2640303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T</a:t>
            </a:r>
            <a:endParaRPr/>
          </a:p>
        </p:txBody>
      </p:sp>
      <p:sp>
        <p:nvSpPr>
          <p:cNvPr id="1845835962" name="Oval 9"/>
          <p:cNvSpPr/>
          <p:nvPr/>
        </p:nvSpPr>
        <p:spPr bwMode="auto">
          <a:xfrm>
            <a:off x="6576391" y="3644155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S</a:t>
            </a:r>
            <a:endParaRPr/>
          </a:p>
        </p:txBody>
      </p:sp>
      <p:sp>
        <p:nvSpPr>
          <p:cNvPr id="1605528587" name="Oval 10"/>
          <p:cNvSpPr/>
          <p:nvPr/>
        </p:nvSpPr>
        <p:spPr bwMode="auto">
          <a:xfrm>
            <a:off x="8305800" y="3640842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V</a:t>
            </a:r>
            <a:endParaRPr/>
          </a:p>
        </p:txBody>
      </p:sp>
      <p:cxnSp>
        <p:nvCxnSpPr>
          <p:cNvPr id="754584163" name="Straight Arrow Connector 12"/>
          <p:cNvCxnSpPr>
            <a:stCxn id="1627809783" idx="3"/>
            <a:endCxn id="1701714655" idx="7"/>
          </p:cNvCxnSpPr>
          <p:nvPr/>
        </p:nvCxnSpPr>
        <p:spPr bwMode="auto">
          <a:xfrm flipH="1">
            <a:off x="4288476" y="2042040"/>
            <a:ext cx="1426782" cy="68963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76107252" name="Straight Arrow Connector 14"/>
          <p:cNvCxnSpPr>
            <a:stCxn id="1627809783" idx="5"/>
            <a:endCxn id="2137904286" idx="1"/>
          </p:cNvCxnSpPr>
          <p:nvPr/>
        </p:nvCxnSpPr>
        <p:spPr bwMode="auto">
          <a:xfrm>
            <a:off x="6092428" y="2042040"/>
            <a:ext cx="1400278" cy="676378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30369774" name="Straight Arrow Connector 16"/>
          <p:cNvCxnSpPr>
            <a:stCxn id="1701714655" idx="5"/>
            <a:endCxn id="89049655" idx="1"/>
          </p:cNvCxnSpPr>
          <p:nvPr/>
        </p:nvCxnSpPr>
        <p:spPr bwMode="auto">
          <a:xfrm>
            <a:off x="4288476" y="3108840"/>
            <a:ext cx="613430" cy="61343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4241020" name="Straight Arrow Connector 18"/>
          <p:cNvCxnSpPr>
            <a:stCxn id="89049655" idx="3"/>
            <a:endCxn id="1218691972" idx="7"/>
          </p:cNvCxnSpPr>
          <p:nvPr/>
        </p:nvCxnSpPr>
        <p:spPr bwMode="auto">
          <a:xfrm flipH="1">
            <a:off x="4136076" y="4099440"/>
            <a:ext cx="765830" cy="46103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07613502" name="Straight Arrow Connector 20"/>
          <p:cNvCxnSpPr>
            <a:stCxn id="89049655" idx="5"/>
            <a:endCxn id="1143780206" idx="1"/>
          </p:cNvCxnSpPr>
          <p:nvPr/>
        </p:nvCxnSpPr>
        <p:spPr bwMode="auto">
          <a:xfrm>
            <a:off x="5279076" y="4099440"/>
            <a:ext cx="422930" cy="53723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48866366" name="Straight Arrow Connector 22"/>
          <p:cNvCxnSpPr>
            <a:stCxn id="2137904286" idx="3"/>
            <a:endCxn id="1845835962" idx="7"/>
          </p:cNvCxnSpPr>
          <p:nvPr/>
        </p:nvCxnSpPr>
        <p:spPr bwMode="auto">
          <a:xfrm flipH="1">
            <a:off x="7031676" y="3095588"/>
            <a:ext cx="461030" cy="626682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69423439" name="Straight Arrow Connector 24"/>
          <p:cNvCxnSpPr>
            <a:stCxn id="2137904286" idx="5"/>
            <a:endCxn id="1605528587" idx="1"/>
          </p:cNvCxnSpPr>
          <p:nvPr/>
        </p:nvCxnSpPr>
        <p:spPr bwMode="auto">
          <a:xfrm>
            <a:off x="7869877" y="3095589"/>
            <a:ext cx="514039" cy="623369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67969319" name="TextBox 25"/>
          <p:cNvSpPr txBox="1"/>
          <p:nvPr/>
        </p:nvSpPr>
        <p:spPr bwMode="auto">
          <a:xfrm>
            <a:off x="6203568" y="162877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b="1"/>
              <a:t>23</a:t>
            </a:r>
            <a:endParaRPr/>
          </a:p>
        </p:txBody>
      </p:sp>
      <p:sp>
        <p:nvSpPr>
          <p:cNvPr id="188647774" name="TextBox 26"/>
          <p:cNvSpPr txBox="1"/>
          <p:nvPr/>
        </p:nvSpPr>
        <p:spPr bwMode="auto">
          <a:xfrm>
            <a:off x="7901656" y="259522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b="1"/>
              <a:t>21</a:t>
            </a:r>
            <a:endParaRPr/>
          </a:p>
        </p:txBody>
      </p:sp>
      <p:sp>
        <p:nvSpPr>
          <p:cNvPr id="93086987" name="TextBox 27"/>
          <p:cNvSpPr txBox="1"/>
          <p:nvPr/>
        </p:nvSpPr>
        <p:spPr bwMode="auto">
          <a:xfrm>
            <a:off x="3397558" y="257735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b="1"/>
              <a:t>20</a:t>
            </a:r>
            <a:endParaRPr/>
          </a:p>
        </p:txBody>
      </p:sp>
      <p:sp>
        <p:nvSpPr>
          <p:cNvPr id="1250772211" name="TextBox 28"/>
          <p:cNvSpPr txBox="1"/>
          <p:nvPr/>
        </p:nvSpPr>
        <p:spPr bwMode="auto">
          <a:xfrm>
            <a:off x="5345034" y="36471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b="1"/>
              <a:t>15</a:t>
            </a:r>
            <a:endParaRPr/>
          </a:p>
        </p:txBody>
      </p:sp>
      <p:sp>
        <p:nvSpPr>
          <p:cNvPr id="441421104" name="TextBox 29"/>
          <p:cNvSpPr txBox="1"/>
          <p:nvPr/>
        </p:nvSpPr>
        <p:spPr bwMode="auto">
          <a:xfrm>
            <a:off x="3312922" y="45934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b="1"/>
              <a:t>11</a:t>
            </a:r>
            <a:endParaRPr/>
          </a:p>
        </p:txBody>
      </p:sp>
      <p:sp>
        <p:nvSpPr>
          <p:cNvPr id="756252586" name="TextBox 30"/>
          <p:cNvSpPr txBox="1"/>
          <p:nvPr/>
        </p:nvSpPr>
        <p:spPr bwMode="auto">
          <a:xfrm>
            <a:off x="5218438" y="467964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b="1"/>
              <a:t>10</a:t>
            </a:r>
            <a:endParaRPr/>
          </a:p>
        </p:txBody>
      </p:sp>
      <p:sp>
        <p:nvSpPr>
          <p:cNvPr id="1595426485" name="TextBox 31"/>
          <p:cNvSpPr txBox="1"/>
          <p:nvPr/>
        </p:nvSpPr>
        <p:spPr bwMode="auto">
          <a:xfrm>
            <a:off x="6673193" y="414528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b="1"/>
              <a:t>14</a:t>
            </a:r>
            <a:endParaRPr/>
          </a:p>
        </p:txBody>
      </p:sp>
      <p:sp>
        <p:nvSpPr>
          <p:cNvPr id="1890664940" name="TextBox 32"/>
          <p:cNvSpPr txBox="1"/>
          <p:nvPr/>
        </p:nvSpPr>
        <p:spPr bwMode="auto">
          <a:xfrm>
            <a:off x="8420496" y="42008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b="1"/>
              <a:t>13</a:t>
            </a:r>
            <a:endParaRPr/>
          </a:p>
        </p:txBody>
      </p:sp>
      <p:sp>
        <p:nvSpPr>
          <p:cNvPr id="231249085" name="TextBox 33"/>
          <p:cNvSpPr txBox="1"/>
          <p:nvPr/>
        </p:nvSpPr>
        <p:spPr bwMode="auto">
          <a:xfrm>
            <a:off x="8739049" y="965492"/>
            <a:ext cx="1228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b="1"/>
              <a:t>Probability</a:t>
            </a:r>
            <a:endParaRPr/>
          </a:p>
        </p:txBody>
      </p:sp>
      <p:cxnSp>
        <p:nvCxnSpPr>
          <p:cNvPr id="578350653" name="Straight Arrow Connector 35"/>
          <p:cNvCxnSpPr>
            <a:stCxn id="231249085" idx="1"/>
            <a:endCxn id="1867969319" idx="3"/>
          </p:cNvCxnSpPr>
          <p:nvPr/>
        </p:nvCxnSpPr>
        <p:spPr bwMode="auto">
          <a:xfrm flipH="1">
            <a:off x="6622273" y="1150158"/>
            <a:ext cx="2116777" cy="66328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7069359" name="Straight Arrow Connector 37"/>
          <p:cNvCxnSpPr>
            <a:stCxn id="231249085" idx="1"/>
            <a:endCxn id="188647774" idx="0"/>
          </p:cNvCxnSpPr>
          <p:nvPr/>
        </p:nvCxnSpPr>
        <p:spPr bwMode="auto">
          <a:xfrm flipH="1">
            <a:off x="8111009" y="1150159"/>
            <a:ext cx="628040" cy="144506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809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714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49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9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78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790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3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528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584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07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369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4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61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66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942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96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47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86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77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42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25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42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664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249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350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578350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069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1507069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7809783" grpId="0" animBg="1"/>
      <p:bldP spid="1701714655" grpId="0" animBg="1"/>
      <p:bldP spid="89049655" grpId="0" animBg="1"/>
      <p:bldP spid="1218691972" grpId="0" animBg="1"/>
      <p:bldP spid="1143780206" grpId="0" animBg="1"/>
      <p:bldP spid="2137904286" grpId="0" animBg="1"/>
      <p:bldP spid="1845835962" grpId="0" animBg="1"/>
      <p:bldP spid="1605528587" grpId="0" animBg="1"/>
      <p:bldP spid="1867969319" grpId="0"/>
      <p:bldP spid="188647774" grpId="0"/>
      <p:bldP spid="93086987" grpId="0"/>
      <p:bldP spid="1250772211" grpId="0"/>
      <p:bldP spid="441421104" grpId="0"/>
      <p:bldP spid="756252586" grpId="0"/>
      <p:bldP spid="1595426485" grpId="0"/>
      <p:bldP spid="1890664940" grpId="0"/>
      <p:bldP spid="23124908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417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/>
              <a:t>Weight Balanced Tree</a:t>
            </a:r>
            <a:endParaRPr lang="en-US"/>
          </a:p>
        </p:txBody>
      </p:sp>
      <p:grpSp>
        <p:nvGrpSpPr>
          <p:cNvPr id="2095647953" name="Group 5"/>
          <p:cNvGrpSpPr/>
          <p:nvPr/>
        </p:nvGrpSpPr>
        <p:grpSpPr bwMode="auto">
          <a:xfrm>
            <a:off x="3276600" y="1066800"/>
            <a:ext cx="762000" cy="381000"/>
            <a:chOff x="381000" y="1143000"/>
            <a:chExt cx="762000" cy="381000"/>
          </a:xfrm>
        </p:grpSpPr>
        <p:sp>
          <p:nvSpPr>
            <p:cNvPr id="4" name="Rectangle 3"/>
            <p:cNvSpPr/>
            <p:nvPr/>
          </p:nvSpPr>
          <p:spPr bwMode="auto">
            <a:xfrm>
              <a:off x="381000" y="1143000"/>
              <a:ext cx="381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2400" b="1"/>
                <a:t>M</a:t>
              </a:r>
              <a:endParaRPr/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762000" y="1143000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2400" b="1"/>
                <a:t>2</a:t>
              </a:r>
              <a:endParaRPr/>
            </a:p>
          </p:txBody>
        </p:sp>
      </p:grpSp>
      <p:grpSp>
        <p:nvGrpSpPr>
          <p:cNvPr id="1355267984" name="Group 6"/>
          <p:cNvGrpSpPr/>
          <p:nvPr/>
        </p:nvGrpSpPr>
        <p:grpSpPr bwMode="auto">
          <a:xfrm>
            <a:off x="2286000" y="1752599"/>
            <a:ext cx="762000" cy="381000"/>
            <a:chOff x="381000" y="1143000"/>
            <a:chExt cx="762000" cy="381000"/>
          </a:xfrm>
        </p:grpSpPr>
        <p:sp>
          <p:nvSpPr>
            <p:cNvPr id="8" name="Rectangle 7"/>
            <p:cNvSpPr/>
            <p:nvPr/>
          </p:nvSpPr>
          <p:spPr bwMode="auto">
            <a:xfrm>
              <a:off x="381000" y="1143000"/>
              <a:ext cx="381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2400" b="1"/>
                <a:t>G</a:t>
              </a:r>
              <a:endParaRPr/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762000" y="1143000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2400" b="1"/>
                <a:t>4</a:t>
              </a:r>
              <a:endParaRPr/>
            </a:p>
          </p:txBody>
        </p:sp>
      </p:grpSp>
      <p:grpSp>
        <p:nvGrpSpPr>
          <p:cNvPr id="2117367694" name="Group 9"/>
          <p:cNvGrpSpPr/>
          <p:nvPr/>
        </p:nvGrpSpPr>
        <p:grpSpPr bwMode="auto">
          <a:xfrm>
            <a:off x="1752599" y="2514600"/>
            <a:ext cx="762000" cy="381000"/>
            <a:chOff x="381000" y="1143000"/>
            <a:chExt cx="762000" cy="381000"/>
          </a:xfrm>
        </p:grpSpPr>
        <p:sp>
          <p:nvSpPr>
            <p:cNvPr id="11" name="Rectangle 10"/>
            <p:cNvSpPr/>
            <p:nvPr/>
          </p:nvSpPr>
          <p:spPr bwMode="auto">
            <a:xfrm>
              <a:off x="381000" y="1143000"/>
              <a:ext cx="381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2400" b="1"/>
                <a:t>D</a:t>
              </a:r>
              <a:endParaRPr/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762000" y="1143000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2400" b="1"/>
                <a:t>4</a:t>
              </a:r>
              <a:endParaRPr/>
            </a:p>
          </p:txBody>
        </p:sp>
      </p:grpSp>
      <p:grpSp>
        <p:nvGrpSpPr>
          <p:cNvPr id="1932731714" name="Group 12"/>
          <p:cNvGrpSpPr/>
          <p:nvPr/>
        </p:nvGrpSpPr>
        <p:grpSpPr bwMode="auto">
          <a:xfrm>
            <a:off x="2819400" y="2514600"/>
            <a:ext cx="762000" cy="381000"/>
            <a:chOff x="381000" y="1143000"/>
            <a:chExt cx="762000" cy="381000"/>
          </a:xfrm>
        </p:grpSpPr>
        <p:sp>
          <p:nvSpPr>
            <p:cNvPr id="14" name="Rectangle 13"/>
            <p:cNvSpPr/>
            <p:nvPr/>
          </p:nvSpPr>
          <p:spPr bwMode="auto">
            <a:xfrm>
              <a:off x="381000" y="1143000"/>
              <a:ext cx="381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2400" b="1"/>
                <a:t>L</a:t>
              </a:r>
              <a:endParaRPr/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762000" y="1143000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2400" b="1"/>
                <a:t>5</a:t>
              </a:r>
              <a:endParaRPr/>
            </a:p>
          </p:txBody>
        </p:sp>
      </p:grpSp>
      <p:grpSp>
        <p:nvGrpSpPr>
          <p:cNvPr id="2120397831" name="Group 15"/>
          <p:cNvGrpSpPr/>
          <p:nvPr/>
        </p:nvGrpSpPr>
        <p:grpSpPr bwMode="auto">
          <a:xfrm>
            <a:off x="4419600" y="1828800"/>
            <a:ext cx="762000" cy="381000"/>
            <a:chOff x="381000" y="1143000"/>
            <a:chExt cx="762000" cy="381000"/>
          </a:xfrm>
        </p:grpSpPr>
        <p:sp>
          <p:nvSpPr>
            <p:cNvPr id="17" name="Rectangle 16"/>
            <p:cNvSpPr/>
            <p:nvPr/>
          </p:nvSpPr>
          <p:spPr bwMode="auto">
            <a:xfrm>
              <a:off x="381000" y="1143000"/>
              <a:ext cx="381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2400" b="1"/>
                <a:t>T</a:t>
              </a:r>
              <a:endParaRPr/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762000" y="1143000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2400" b="1"/>
                <a:t>3</a:t>
              </a:r>
              <a:endParaRPr/>
            </a:p>
          </p:txBody>
        </p:sp>
      </p:grpSp>
      <p:grpSp>
        <p:nvGrpSpPr>
          <p:cNvPr id="1835189163" name="Group 18"/>
          <p:cNvGrpSpPr/>
          <p:nvPr/>
        </p:nvGrpSpPr>
        <p:grpSpPr bwMode="auto">
          <a:xfrm>
            <a:off x="3962400" y="2514600"/>
            <a:ext cx="762000" cy="381000"/>
            <a:chOff x="381000" y="1143000"/>
            <a:chExt cx="762000" cy="381000"/>
          </a:xfrm>
        </p:grpSpPr>
        <p:sp>
          <p:nvSpPr>
            <p:cNvPr id="20" name="Rectangle 19"/>
            <p:cNvSpPr/>
            <p:nvPr/>
          </p:nvSpPr>
          <p:spPr bwMode="auto">
            <a:xfrm>
              <a:off x="381000" y="1143000"/>
              <a:ext cx="381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2400" b="1"/>
                <a:t>P</a:t>
              </a:r>
              <a:endParaRPr/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762000" y="1143000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2400" b="1"/>
                <a:t>6</a:t>
              </a:r>
              <a:endParaRPr/>
            </a:p>
          </p:txBody>
        </p:sp>
      </p:grpSp>
      <p:grpSp>
        <p:nvGrpSpPr>
          <p:cNvPr id="1138661655" name="Group 21"/>
          <p:cNvGrpSpPr/>
          <p:nvPr/>
        </p:nvGrpSpPr>
        <p:grpSpPr bwMode="auto">
          <a:xfrm>
            <a:off x="4876800" y="2514600"/>
            <a:ext cx="762000" cy="381000"/>
            <a:chOff x="381000" y="1143000"/>
            <a:chExt cx="762000" cy="381000"/>
          </a:xfrm>
        </p:grpSpPr>
        <p:sp>
          <p:nvSpPr>
            <p:cNvPr id="23" name="Rectangle 22"/>
            <p:cNvSpPr/>
            <p:nvPr/>
          </p:nvSpPr>
          <p:spPr bwMode="auto">
            <a:xfrm>
              <a:off x="381000" y="1143000"/>
              <a:ext cx="381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2400" b="1"/>
                <a:t>Z</a:t>
              </a:r>
              <a:endParaRPr/>
            </a:p>
          </p:txBody>
        </p:sp>
        <p:sp>
          <p:nvSpPr>
            <p:cNvPr id="24" name="Rectangle 23"/>
            <p:cNvSpPr/>
            <p:nvPr/>
          </p:nvSpPr>
          <p:spPr bwMode="auto">
            <a:xfrm>
              <a:off x="762000" y="1143000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2400" b="1"/>
                <a:t>1</a:t>
              </a:r>
              <a:endParaRPr/>
            </a:p>
          </p:txBody>
        </p:sp>
      </p:grpSp>
      <p:cxnSp>
        <p:nvCxnSpPr>
          <p:cNvPr id="1966833100" name="Straight Arrow Connector 25"/>
          <p:cNvCxnSpPr>
            <a:stCxn id="4" idx="1"/>
            <a:endCxn id="9" idx="0"/>
          </p:cNvCxnSpPr>
          <p:nvPr/>
        </p:nvCxnSpPr>
        <p:spPr bwMode="auto">
          <a:xfrm flipH="1">
            <a:off x="2857500" y="1257300"/>
            <a:ext cx="419100" cy="4953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22118949" name="Straight Arrow Connector 27"/>
          <p:cNvCxnSpPr>
            <a:stCxn id="5" idx="3"/>
            <a:endCxn id="17" idx="0"/>
          </p:cNvCxnSpPr>
          <p:nvPr/>
        </p:nvCxnSpPr>
        <p:spPr bwMode="auto">
          <a:xfrm>
            <a:off x="4038600" y="1257300"/>
            <a:ext cx="571500" cy="5715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19474640" name="Straight Arrow Connector 31"/>
          <p:cNvCxnSpPr>
            <a:stCxn id="8" idx="1"/>
            <a:endCxn id="11" idx="0"/>
          </p:cNvCxnSpPr>
          <p:nvPr/>
        </p:nvCxnSpPr>
        <p:spPr bwMode="auto">
          <a:xfrm flipH="1">
            <a:off x="1943100" y="1943100"/>
            <a:ext cx="342900" cy="5715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83668805" name="Straight Arrow Connector 33"/>
          <p:cNvCxnSpPr>
            <a:stCxn id="9" idx="3"/>
            <a:endCxn id="15" idx="0"/>
          </p:cNvCxnSpPr>
          <p:nvPr/>
        </p:nvCxnSpPr>
        <p:spPr bwMode="auto">
          <a:xfrm>
            <a:off x="3048000" y="1943100"/>
            <a:ext cx="342900" cy="5715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3033758" name="Straight Arrow Connector 39"/>
          <p:cNvCxnSpPr>
            <a:stCxn id="18" idx="3"/>
            <a:endCxn id="24" idx="0"/>
          </p:cNvCxnSpPr>
          <p:nvPr/>
        </p:nvCxnSpPr>
        <p:spPr bwMode="auto">
          <a:xfrm>
            <a:off x="5181600" y="2019300"/>
            <a:ext cx="266700" cy="4953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50953147" name="Straight Arrow Connector 41"/>
          <p:cNvCxnSpPr>
            <a:stCxn id="17" idx="1"/>
            <a:endCxn id="20" idx="0"/>
          </p:cNvCxnSpPr>
          <p:nvPr/>
        </p:nvCxnSpPr>
        <p:spPr bwMode="auto">
          <a:xfrm flipH="1">
            <a:off x="4152900" y="2019300"/>
            <a:ext cx="266700" cy="4953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2234790" name="TextBox 42"/>
          <p:cNvSpPr txBox="1"/>
          <p:nvPr/>
        </p:nvSpPr>
        <p:spPr bwMode="auto">
          <a:xfrm>
            <a:off x="2978755" y="3124200"/>
            <a:ext cx="1440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b="1"/>
              <a:t>Ordered Tree</a:t>
            </a:r>
            <a:endParaRPr/>
          </a:p>
        </p:txBody>
      </p:sp>
      <p:grpSp>
        <p:nvGrpSpPr>
          <p:cNvPr id="687994009" name="Group 43"/>
          <p:cNvGrpSpPr/>
          <p:nvPr/>
        </p:nvGrpSpPr>
        <p:grpSpPr bwMode="auto">
          <a:xfrm>
            <a:off x="7086600" y="3493532"/>
            <a:ext cx="762000" cy="381000"/>
            <a:chOff x="381000" y="1143000"/>
            <a:chExt cx="762000" cy="381000"/>
          </a:xfrm>
        </p:grpSpPr>
        <p:sp>
          <p:nvSpPr>
            <p:cNvPr id="45" name="Rectangle 44"/>
            <p:cNvSpPr/>
            <p:nvPr/>
          </p:nvSpPr>
          <p:spPr bwMode="auto">
            <a:xfrm>
              <a:off x="381000" y="1143000"/>
              <a:ext cx="381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2400" b="1"/>
                <a:t>P</a:t>
              </a:r>
              <a:endParaRPr/>
            </a:p>
          </p:txBody>
        </p:sp>
        <p:sp>
          <p:nvSpPr>
            <p:cNvPr id="46" name="Rectangle 45"/>
            <p:cNvSpPr/>
            <p:nvPr/>
          </p:nvSpPr>
          <p:spPr bwMode="auto">
            <a:xfrm>
              <a:off x="762000" y="1143000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2400" b="1"/>
                <a:t>6</a:t>
              </a:r>
              <a:endParaRPr/>
            </a:p>
          </p:txBody>
        </p:sp>
      </p:grpSp>
      <p:sp>
        <p:nvSpPr>
          <p:cNvPr id="1615119317" name="Oval 46"/>
          <p:cNvSpPr/>
          <p:nvPr/>
        </p:nvSpPr>
        <p:spPr bwMode="auto">
          <a:xfrm>
            <a:off x="8382000" y="116205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P</a:t>
            </a:r>
            <a:endParaRPr/>
          </a:p>
        </p:txBody>
      </p:sp>
      <p:sp>
        <p:nvSpPr>
          <p:cNvPr id="1958883188" name="Oval 47"/>
          <p:cNvSpPr/>
          <p:nvPr/>
        </p:nvSpPr>
        <p:spPr bwMode="auto">
          <a:xfrm>
            <a:off x="7239000" y="16764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D</a:t>
            </a:r>
            <a:endParaRPr/>
          </a:p>
        </p:txBody>
      </p:sp>
      <p:sp>
        <p:nvSpPr>
          <p:cNvPr id="555235990" name="Oval 48"/>
          <p:cNvSpPr/>
          <p:nvPr/>
        </p:nvSpPr>
        <p:spPr bwMode="auto">
          <a:xfrm>
            <a:off x="7772400" y="167640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G</a:t>
            </a:r>
            <a:endParaRPr/>
          </a:p>
        </p:txBody>
      </p:sp>
      <p:sp>
        <p:nvSpPr>
          <p:cNvPr id="173083197" name="Oval 49"/>
          <p:cNvSpPr/>
          <p:nvPr/>
        </p:nvSpPr>
        <p:spPr bwMode="auto">
          <a:xfrm>
            <a:off x="7505700" y="2153593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L</a:t>
            </a:r>
            <a:endParaRPr/>
          </a:p>
        </p:txBody>
      </p:sp>
      <p:sp>
        <p:nvSpPr>
          <p:cNvPr id="1071751626" name="Oval 50"/>
          <p:cNvSpPr/>
          <p:nvPr/>
        </p:nvSpPr>
        <p:spPr bwMode="auto">
          <a:xfrm>
            <a:off x="6959096" y="214454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M</a:t>
            </a:r>
            <a:endParaRPr/>
          </a:p>
        </p:txBody>
      </p:sp>
      <p:sp>
        <p:nvSpPr>
          <p:cNvPr id="1862715829" name="Oval 51"/>
          <p:cNvSpPr/>
          <p:nvPr/>
        </p:nvSpPr>
        <p:spPr bwMode="auto">
          <a:xfrm>
            <a:off x="9036867" y="1752599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T</a:t>
            </a:r>
            <a:endParaRPr/>
          </a:p>
        </p:txBody>
      </p:sp>
      <p:sp>
        <p:nvSpPr>
          <p:cNvPr id="429281351" name="Oval 52"/>
          <p:cNvSpPr/>
          <p:nvPr/>
        </p:nvSpPr>
        <p:spPr bwMode="auto">
          <a:xfrm>
            <a:off x="9525000" y="2004010"/>
            <a:ext cx="5334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Z</a:t>
            </a:r>
            <a:endParaRPr/>
          </a:p>
        </p:txBody>
      </p:sp>
      <p:grpSp>
        <p:nvGrpSpPr>
          <p:cNvPr id="1476174324" name="Group 53"/>
          <p:cNvGrpSpPr/>
          <p:nvPr/>
        </p:nvGrpSpPr>
        <p:grpSpPr bwMode="auto">
          <a:xfrm>
            <a:off x="5867399" y="4343400"/>
            <a:ext cx="762000" cy="381000"/>
            <a:chOff x="381000" y="1143000"/>
            <a:chExt cx="762000" cy="381000"/>
          </a:xfrm>
        </p:grpSpPr>
        <p:sp>
          <p:nvSpPr>
            <p:cNvPr id="55" name="Rectangle 54"/>
            <p:cNvSpPr/>
            <p:nvPr/>
          </p:nvSpPr>
          <p:spPr bwMode="auto">
            <a:xfrm>
              <a:off x="381000" y="1143000"/>
              <a:ext cx="381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2400" b="1"/>
                <a:t>L</a:t>
              </a:r>
              <a:endParaRPr/>
            </a:p>
          </p:txBody>
        </p:sp>
        <p:sp>
          <p:nvSpPr>
            <p:cNvPr id="56" name="Rectangle 55"/>
            <p:cNvSpPr/>
            <p:nvPr/>
          </p:nvSpPr>
          <p:spPr bwMode="auto">
            <a:xfrm>
              <a:off x="762000" y="1143000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2400" b="1"/>
                <a:t>5</a:t>
              </a:r>
              <a:endParaRPr/>
            </a:p>
          </p:txBody>
        </p:sp>
      </p:grpSp>
      <p:grpSp>
        <p:nvGrpSpPr>
          <p:cNvPr id="1930459737" name="Group 56"/>
          <p:cNvGrpSpPr/>
          <p:nvPr/>
        </p:nvGrpSpPr>
        <p:grpSpPr bwMode="auto">
          <a:xfrm>
            <a:off x="4876800" y="5105400"/>
            <a:ext cx="762000" cy="381000"/>
            <a:chOff x="381000" y="1143000"/>
            <a:chExt cx="762000" cy="381000"/>
          </a:xfrm>
        </p:grpSpPr>
        <p:sp>
          <p:nvSpPr>
            <p:cNvPr id="58" name="Rectangle 57"/>
            <p:cNvSpPr/>
            <p:nvPr/>
          </p:nvSpPr>
          <p:spPr bwMode="auto">
            <a:xfrm>
              <a:off x="381000" y="1143000"/>
              <a:ext cx="381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2400" b="1"/>
                <a:t>G</a:t>
              </a:r>
              <a:endParaRPr/>
            </a:p>
          </p:txBody>
        </p:sp>
        <p:sp>
          <p:nvSpPr>
            <p:cNvPr id="59" name="Rectangle 58"/>
            <p:cNvSpPr/>
            <p:nvPr/>
          </p:nvSpPr>
          <p:spPr bwMode="auto">
            <a:xfrm>
              <a:off x="762000" y="1143000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2400" b="1"/>
                <a:t>4</a:t>
              </a:r>
              <a:endParaRPr/>
            </a:p>
          </p:txBody>
        </p:sp>
      </p:grpSp>
      <p:grpSp>
        <p:nvGrpSpPr>
          <p:cNvPr id="1452191036" name="Group 59"/>
          <p:cNvGrpSpPr/>
          <p:nvPr/>
        </p:nvGrpSpPr>
        <p:grpSpPr bwMode="auto">
          <a:xfrm>
            <a:off x="4229100" y="5867399"/>
            <a:ext cx="762000" cy="381000"/>
            <a:chOff x="381000" y="1143000"/>
            <a:chExt cx="762000" cy="381000"/>
          </a:xfrm>
        </p:grpSpPr>
        <p:sp>
          <p:nvSpPr>
            <p:cNvPr id="61" name="Rectangle 60"/>
            <p:cNvSpPr/>
            <p:nvPr/>
          </p:nvSpPr>
          <p:spPr bwMode="auto">
            <a:xfrm>
              <a:off x="381000" y="1143000"/>
              <a:ext cx="381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2400" b="1"/>
                <a:t>D</a:t>
              </a:r>
              <a:endParaRPr/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762000" y="1143000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2400" b="1"/>
                <a:t>4</a:t>
              </a:r>
              <a:endParaRPr/>
            </a:p>
          </p:txBody>
        </p:sp>
      </p:grpSp>
      <p:grpSp>
        <p:nvGrpSpPr>
          <p:cNvPr id="1334415249" name="Group 62"/>
          <p:cNvGrpSpPr/>
          <p:nvPr/>
        </p:nvGrpSpPr>
        <p:grpSpPr bwMode="auto">
          <a:xfrm>
            <a:off x="6477000" y="5105400"/>
            <a:ext cx="762000" cy="381000"/>
            <a:chOff x="381000" y="1143000"/>
            <a:chExt cx="762000" cy="381000"/>
          </a:xfrm>
        </p:grpSpPr>
        <p:sp>
          <p:nvSpPr>
            <p:cNvPr id="64" name="Rectangle 63"/>
            <p:cNvSpPr/>
            <p:nvPr/>
          </p:nvSpPr>
          <p:spPr bwMode="auto">
            <a:xfrm>
              <a:off x="381000" y="1143000"/>
              <a:ext cx="381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2400" b="1"/>
                <a:t>M</a:t>
              </a:r>
              <a:endParaRPr/>
            </a:p>
          </p:txBody>
        </p:sp>
        <p:sp>
          <p:nvSpPr>
            <p:cNvPr id="65" name="Rectangle 64"/>
            <p:cNvSpPr/>
            <p:nvPr/>
          </p:nvSpPr>
          <p:spPr bwMode="auto">
            <a:xfrm>
              <a:off x="762000" y="1143000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2400" b="1"/>
                <a:t>2</a:t>
              </a:r>
              <a:endParaRPr/>
            </a:p>
          </p:txBody>
        </p:sp>
      </p:grpSp>
      <p:grpSp>
        <p:nvGrpSpPr>
          <p:cNvPr id="1521271260" name="Group 65"/>
          <p:cNvGrpSpPr/>
          <p:nvPr/>
        </p:nvGrpSpPr>
        <p:grpSpPr bwMode="auto">
          <a:xfrm>
            <a:off x="8267700" y="4343400"/>
            <a:ext cx="762000" cy="381000"/>
            <a:chOff x="381000" y="1143000"/>
            <a:chExt cx="762000" cy="381000"/>
          </a:xfrm>
        </p:grpSpPr>
        <p:sp>
          <p:nvSpPr>
            <p:cNvPr id="67" name="Rectangle 66"/>
            <p:cNvSpPr/>
            <p:nvPr/>
          </p:nvSpPr>
          <p:spPr bwMode="auto">
            <a:xfrm>
              <a:off x="381000" y="1143000"/>
              <a:ext cx="381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2400" b="1"/>
                <a:t>T</a:t>
              </a:r>
              <a:endParaRPr/>
            </a:p>
          </p:txBody>
        </p:sp>
        <p:sp>
          <p:nvSpPr>
            <p:cNvPr id="68" name="Rectangle 67"/>
            <p:cNvSpPr/>
            <p:nvPr/>
          </p:nvSpPr>
          <p:spPr bwMode="auto">
            <a:xfrm>
              <a:off x="762000" y="1143000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2400" b="1"/>
                <a:t>3</a:t>
              </a:r>
              <a:endParaRPr/>
            </a:p>
          </p:txBody>
        </p:sp>
      </p:grpSp>
      <p:grpSp>
        <p:nvGrpSpPr>
          <p:cNvPr id="905774641" name="Group 68"/>
          <p:cNvGrpSpPr/>
          <p:nvPr/>
        </p:nvGrpSpPr>
        <p:grpSpPr bwMode="auto">
          <a:xfrm>
            <a:off x="9189267" y="5105400"/>
            <a:ext cx="762000" cy="381000"/>
            <a:chOff x="381000" y="1143000"/>
            <a:chExt cx="762000" cy="381000"/>
          </a:xfrm>
        </p:grpSpPr>
        <p:sp>
          <p:nvSpPr>
            <p:cNvPr id="70" name="Rectangle 69"/>
            <p:cNvSpPr/>
            <p:nvPr/>
          </p:nvSpPr>
          <p:spPr bwMode="auto">
            <a:xfrm>
              <a:off x="381000" y="1143000"/>
              <a:ext cx="381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2400" b="1"/>
                <a:t>Z</a:t>
              </a:r>
              <a:endParaRPr/>
            </a:p>
          </p:txBody>
        </p:sp>
        <p:sp>
          <p:nvSpPr>
            <p:cNvPr id="71" name="Rectangle 70"/>
            <p:cNvSpPr/>
            <p:nvPr/>
          </p:nvSpPr>
          <p:spPr bwMode="auto">
            <a:xfrm>
              <a:off x="762000" y="1143000"/>
              <a:ext cx="381000" cy="3810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2400"/>
                <a:t>1</a:t>
              </a:r>
              <a:endParaRPr/>
            </a:p>
          </p:txBody>
        </p:sp>
      </p:grpSp>
      <p:cxnSp>
        <p:nvCxnSpPr>
          <p:cNvPr id="1239642171" name="Straight Arrow Connector 72"/>
          <p:cNvCxnSpPr>
            <a:stCxn id="45" idx="1"/>
            <a:endCxn id="56" idx="0"/>
          </p:cNvCxnSpPr>
          <p:nvPr/>
        </p:nvCxnSpPr>
        <p:spPr bwMode="auto">
          <a:xfrm flipH="1">
            <a:off x="6438899" y="3684032"/>
            <a:ext cx="647700" cy="659368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47496817" name="Straight Arrow Connector 74"/>
          <p:cNvCxnSpPr>
            <a:stCxn id="55" idx="1"/>
            <a:endCxn id="59" idx="0"/>
          </p:cNvCxnSpPr>
          <p:nvPr/>
        </p:nvCxnSpPr>
        <p:spPr bwMode="auto">
          <a:xfrm flipH="1">
            <a:off x="5448300" y="4533900"/>
            <a:ext cx="419100" cy="5715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41562420" name="Straight Arrow Connector 76"/>
          <p:cNvCxnSpPr>
            <a:stCxn id="58" idx="1"/>
            <a:endCxn id="61" idx="0"/>
          </p:cNvCxnSpPr>
          <p:nvPr/>
        </p:nvCxnSpPr>
        <p:spPr bwMode="auto">
          <a:xfrm flipH="1">
            <a:off x="4419600" y="5295899"/>
            <a:ext cx="457200" cy="5715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15440123" name="Straight Arrow Connector 78"/>
          <p:cNvCxnSpPr>
            <a:stCxn id="56" idx="3"/>
            <a:endCxn id="65" idx="0"/>
          </p:cNvCxnSpPr>
          <p:nvPr/>
        </p:nvCxnSpPr>
        <p:spPr bwMode="auto">
          <a:xfrm>
            <a:off x="6629400" y="4533900"/>
            <a:ext cx="419100" cy="5715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36364121" name="Straight Arrow Connector 80"/>
          <p:cNvCxnSpPr>
            <a:stCxn id="46" idx="3"/>
            <a:endCxn id="67" idx="0"/>
          </p:cNvCxnSpPr>
          <p:nvPr/>
        </p:nvCxnSpPr>
        <p:spPr bwMode="auto">
          <a:xfrm>
            <a:off x="7848600" y="3684032"/>
            <a:ext cx="609600" cy="659368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47490201" name="Straight Arrow Connector 82"/>
          <p:cNvCxnSpPr>
            <a:stCxn id="68" idx="3"/>
            <a:endCxn id="70" idx="0"/>
          </p:cNvCxnSpPr>
          <p:nvPr/>
        </p:nvCxnSpPr>
        <p:spPr bwMode="auto">
          <a:xfrm>
            <a:off x="9029701" y="4533900"/>
            <a:ext cx="350067" cy="5715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5647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267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7367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73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39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18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66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83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11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47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66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033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953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34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11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88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23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75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71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28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994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64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1239642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17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496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347496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45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544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115440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15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6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1641562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19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6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436364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27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0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47490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774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34790" grpId="0"/>
      <p:bldP spid="1615119317" grpId="0" animBg="1"/>
      <p:bldP spid="1958883188" grpId="0" animBg="1"/>
      <p:bldP spid="555235990" grpId="0" animBg="1"/>
      <p:bldP spid="173083197" grpId="0" animBg="1"/>
      <p:bldP spid="1071751626" grpId="0" animBg="1"/>
      <p:bldP spid="1862715829" grpId="0" animBg="1"/>
      <p:bldP spid="42928135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2073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/>
              <a:t>Multiway</a:t>
            </a:r>
            <a:r>
              <a:rPr lang="en-IN"/>
              <a:t> Search Tree (B - Tree)</a:t>
            </a:r>
            <a:endParaRPr lang="en-US"/>
          </a:p>
        </p:txBody>
      </p:sp>
      <p:sp>
        <p:nvSpPr>
          <p:cNvPr id="84214966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The </a:t>
            </a:r>
            <a:r>
              <a:rPr lang="en-US" b="1">
                <a:solidFill>
                  <a:srgbClr val="C00000"/>
                </a:solidFill>
              </a:rPr>
              <a:t>nodes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in a </a:t>
            </a:r>
            <a:r>
              <a:rPr lang="en-US" b="1">
                <a:solidFill>
                  <a:srgbClr val="C00000"/>
                </a:solidFill>
              </a:rPr>
              <a:t>binary tree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/>
              <a:t>like AVL tree </a:t>
            </a:r>
            <a:r>
              <a:rPr lang="en-US" b="1">
                <a:solidFill>
                  <a:srgbClr val="C00000"/>
                </a:solidFill>
              </a:rPr>
              <a:t>contains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 b="1">
                <a:solidFill>
                  <a:srgbClr val="C00000"/>
                </a:solidFill>
              </a:rPr>
              <a:t>only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 b="1">
                <a:solidFill>
                  <a:srgbClr val="C00000"/>
                </a:solidFill>
              </a:rPr>
              <a:t>one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 b="1">
                <a:solidFill>
                  <a:srgbClr val="C00000"/>
                </a:solidFill>
              </a:rPr>
              <a:t>record</a:t>
            </a:r>
            <a:endParaRPr/>
          </a:p>
          <a:p>
            <a:pPr>
              <a:defRPr/>
            </a:pPr>
            <a:r>
              <a:rPr lang="en-US" b="1">
                <a:solidFill>
                  <a:srgbClr val="C00000"/>
                </a:solidFill>
              </a:rPr>
              <a:t>AVL tree is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commonly </a:t>
            </a:r>
            <a:r>
              <a:rPr lang="en-US" b="1">
                <a:solidFill>
                  <a:srgbClr val="C00000"/>
                </a:solidFill>
              </a:rPr>
              <a:t>stored in primary memory</a:t>
            </a:r>
            <a:endParaRPr/>
          </a:p>
          <a:p>
            <a:pPr>
              <a:defRPr/>
            </a:pPr>
            <a:r>
              <a:rPr lang="en-US"/>
              <a:t>In </a:t>
            </a:r>
            <a:r>
              <a:rPr lang="en-US" b="1">
                <a:solidFill>
                  <a:srgbClr val="C00000"/>
                </a:solidFill>
              </a:rPr>
              <a:t>database applications </a:t>
            </a:r>
            <a:r>
              <a:rPr lang="en-US"/>
              <a:t>where </a:t>
            </a:r>
            <a:r>
              <a:rPr lang="en-US" b="1">
                <a:solidFill>
                  <a:srgbClr val="C00000"/>
                </a:solidFill>
              </a:rPr>
              <a:t>huge volume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/>
              <a:t>of </a:t>
            </a:r>
            <a:r>
              <a:rPr lang="en-US" b="1">
                <a:solidFill>
                  <a:srgbClr val="C00000"/>
                </a:solidFill>
              </a:rPr>
              <a:t>data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is handled, the </a:t>
            </a:r>
            <a:r>
              <a:rPr lang="en-US" b="1">
                <a:solidFill>
                  <a:srgbClr val="C00000"/>
                </a:solidFill>
              </a:rPr>
              <a:t>search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 b="1">
                <a:solidFill>
                  <a:srgbClr val="C00000"/>
                </a:solidFill>
              </a:rPr>
              <a:t>tree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/>
              <a:t>can </a:t>
            </a:r>
            <a:r>
              <a:rPr lang="en-US" b="1">
                <a:solidFill>
                  <a:srgbClr val="C00000"/>
                </a:solidFill>
              </a:rPr>
              <a:t>not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 b="1">
                <a:solidFill>
                  <a:srgbClr val="C00000"/>
                </a:solidFill>
              </a:rPr>
              <a:t>be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 b="1">
                <a:solidFill>
                  <a:srgbClr val="C00000"/>
                </a:solidFill>
              </a:rPr>
              <a:t>accommodated </a:t>
            </a:r>
            <a:r>
              <a:rPr lang="en-US"/>
              <a:t>in </a:t>
            </a:r>
            <a:r>
              <a:rPr lang="en-US" b="1">
                <a:solidFill>
                  <a:srgbClr val="C00000"/>
                </a:solidFill>
              </a:rPr>
              <a:t>primary memory</a:t>
            </a:r>
            <a:endParaRPr/>
          </a:p>
          <a:p>
            <a:pPr>
              <a:defRPr/>
            </a:pPr>
            <a:r>
              <a:rPr lang="en-US" b="1">
                <a:solidFill>
                  <a:srgbClr val="C00000"/>
                </a:solidFill>
              </a:rPr>
              <a:t>B-Trees</a:t>
            </a:r>
            <a:r>
              <a:rPr lang="en-US"/>
              <a:t> are primarily meant for </a:t>
            </a:r>
            <a:r>
              <a:rPr lang="en-US" b="1">
                <a:solidFill>
                  <a:srgbClr val="C00000"/>
                </a:solidFill>
              </a:rPr>
              <a:t>secondary storage</a:t>
            </a:r>
            <a:endParaRPr/>
          </a:p>
          <a:p>
            <a:pPr>
              <a:defRPr/>
            </a:pPr>
            <a:r>
              <a:rPr lang="en-US" b="1">
                <a:solidFill>
                  <a:srgbClr val="C00000"/>
                </a:solidFill>
              </a:rPr>
              <a:t>B-Tree</a:t>
            </a:r>
            <a:r>
              <a:rPr lang="en-US"/>
              <a:t> is a </a:t>
            </a:r>
            <a:r>
              <a:rPr lang="en-US" b="1">
                <a:solidFill>
                  <a:srgbClr val="C00000"/>
                </a:solidFill>
              </a:rPr>
              <a:t>M-way tree </a:t>
            </a:r>
            <a:r>
              <a:rPr lang="en-US"/>
              <a:t>which can have </a:t>
            </a:r>
            <a:r>
              <a:rPr lang="en-US" b="1">
                <a:solidFill>
                  <a:srgbClr val="C00000"/>
                </a:solidFill>
              </a:rPr>
              <a:t>maximum of M Children</a:t>
            </a:r>
            <a:endParaRPr/>
          </a:p>
        </p:txBody>
      </p:sp>
      <p:sp>
        <p:nvSpPr>
          <p:cNvPr id="1239305524" name="Rectangle 3"/>
          <p:cNvSpPr/>
          <p:nvPr/>
        </p:nvSpPr>
        <p:spPr bwMode="auto">
          <a:xfrm>
            <a:off x="5410200" y="4111782"/>
            <a:ext cx="1600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10,  15,  20</a:t>
            </a:r>
            <a:endParaRPr/>
          </a:p>
        </p:txBody>
      </p:sp>
      <p:sp>
        <p:nvSpPr>
          <p:cNvPr id="2012272921" name="Rectangle 4"/>
          <p:cNvSpPr/>
          <p:nvPr/>
        </p:nvSpPr>
        <p:spPr bwMode="auto">
          <a:xfrm>
            <a:off x="3657600" y="4873782"/>
            <a:ext cx="838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2, 3</a:t>
            </a:r>
            <a:endParaRPr/>
          </a:p>
        </p:txBody>
      </p:sp>
      <p:sp>
        <p:nvSpPr>
          <p:cNvPr id="893609374" name="Rectangle 5"/>
          <p:cNvSpPr/>
          <p:nvPr/>
        </p:nvSpPr>
        <p:spPr bwMode="auto">
          <a:xfrm>
            <a:off x="5105400" y="4873782"/>
            <a:ext cx="990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11, 14</a:t>
            </a:r>
            <a:endParaRPr/>
          </a:p>
        </p:txBody>
      </p:sp>
      <p:sp>
        <p:nvSpPr>
          <p:cNvPr id="1872103019" name="Rectangle 6"/>
          <p:cNvSpPr/>
          <p:nvPr/>
        </p:nvSpPr>
        <p:spPr bwMode="auto">
          <a:xfrm>
            <a:off x="6553200" y="4873782"/>
            <a:ext cx="609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16</a:t>
            </a:r>
            <a:endParaRPr/>
          </a:p>
        </p:txBody>
      </p:sp>
      <p:sp>
        <p:nvSpPr>
          <p:cNvPr id="669739363" name="Rectangle 8"/>
          <p:cNvSpPr/>
          <p:nvPr/>
        </p:nvSpPr>
        <p:spPr bwMode="auto">
          <a:xfrm>
            <a:off x="7620000" y="4876800"/>
            <a:ext cx="609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21</a:t>
            </a:r>
            <a:endParaRPr/>
          </a:p>
        </p:txBody>
      </p:sp>
      <p:cxnSp>
        <p:nvCxnSpPr>
          <p:cNvPr id="1949246111" name="Straight Arrow Connector 10"/>
          <p:cNvCxnSpPr>
            <a:stCxn id="1239305524" idx="1"/>
            <a:endCxn id="2012272921" idx="0"/>
          </p:cNvCxnSpPr>
          <p:nvPr/>
        </p:nvCxnSpPr>
        <p:spPr bwMode="auto">
          <a:xfrm flipH="1">
            <a:off x="4076699" y="4340382"/>
            <a:ext cx="1333500" cy="5334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21280381" name="Straight Arrow Connector 13"/>
          <p:cNvCxnSpPr>
            <a:endCxn id="893609374" idx="0"/>
          </p:cNvCxnSpPr>
          <p:nvPr/>
        </p:nvCxnSpPr>
        <p:spPr bwMode="auto">
          <a:xfrm flipH="1">
            <a:off x="5600700" y="4568982"/>
            <a:ext cx="266700" cy="3048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9443596" name="Straight Arrow Connector 15"/>
          <p:cNvCxnSpPr>
            <a:endCxn id="1872103019" idx="0"/>
          </p:cNvCxnSpPr>
          <p:nvPr/>
        </p:nvCxnSpPr>
        <p:spPr bwMode="auto">
          <a:xfrm>
            <a:off x="6553200" y="4568982"/>
            <a:ext cx="304800" cy="3048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9537659" name="Straight Arrow Connector 17"/>
          <p:cNvCxnSpPr>
            <a:stCxn id="1239305524" idx="3"/>
            <a:endCxn id="669739363" idx="0"/>
          </p:cNvCxnSpPr>
          <p:nvPr/>
        </p:nvCxnSpPr>
        <p:spPr bwMode="auto">
          <a:xfrm>
            <a:off x="7010399" y="4340382"/>
            <a:ext cx="914400" cy="536418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51457661" name="TextBox 18"/>
          <p:cNvSpPr txBox="1"/>
          <p:nvPr/>
        </p:nvSpPr>
        <p:spPr bwMode="auto">
          <a:xfrm>
            <a:off x="5314256" y="5558136"/>
            <a:ext cx="17723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sz="2400" b="1"/>
              <a:t>4 – way Tree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1496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1496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1496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1496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1496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0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2272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609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10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39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246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28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4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45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305524" grpId="0" animBg="1"/>
      <p:bldP spid="2012272921" grpId="0" animBg="1"/>
      <p:bldP spid="893609374" grpId="0" animBg="1"/>
      <p:bldP spid="1872103019" grpId="0" animBg="1"/>
      <p:bldP spid="669739363" grpId="0" animBg="1"/>
      <p:bldP spid="55145766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134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/>
              <a:t>Multiway</a:t>
            </a:r>
            <a:r>
              <a:rPr lang="en-IN"/>
              <a:t> Search Tree (B - Tree)</a:t>
            </a:r>
            <a:endParaRPr lang="en-US"/>
          </a:p>
        </p:txBody>
      </p:sp>
      <p:sp>
        <p:nvSpPr>
          <p:cNvPr id="92202228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An </a:t>
            </a:r>
            <a:r>
              <a:rPr lang="en-US" b="1">
                <a:solidFill>
                  <a:srgbClr val="C00000"/>
                </a:solidFill>
              </a:rPr>
              <a:t>M- way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/>
              <a:t>tree contains </a:t>
            </a:r>
            <a:r>
              <a:rPr lang="en-US" b="1">
                <a:solidFill>
                  <a:srgbClr val="C00000"/>
                </a:solidFill>
              </a:rPr>
              <a:t>multiple keys </a:t>
            </a:r>
            <a:r>
              <a:rPr lang="en-US"/>
              <a:t>in a node</a:t>
            </a:r>
            <a:endParaRPr/>
          </a:p>
          <a:p>
            <a:pPr>
              <a:defRPr/>
            </a:pPr>
            <a:r>
              <a:rPr lang="en-US"/>
              <a:t>This leads to </a:t>
            </a:r>
            <a:r>
              <a:rPr lang="en-US" b="1">
                <a:solidFill>
                  <a:srgbClr val="C00000"/>
                </a:solidFill>
              </a:rPr>
              <a:t>reduction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/>
              <a:t>in overall </a:t>
            </a:r>
            <a:r>
              <a:rPr lang="en-US" b="1">
                <a:solidFill>
                  <a:srgbClr val="C00000"/>
                </a:solidFill>
              </a:rPr>
              <a:t>height</a:t>
            </a:r>
            <a:r>
              <a:rPr lang="en-US"/>
              <a:t> of the tree</a:t>
            </a:r>
            <a:endParaRPr/>
          </a:p>
          <a:p>
            <a:pPr>
              <a:defRPr/>
            </a:pPr>
            <a:r>
              <a:rPr lang="en-US"/>
              <a:t>If a </a:t>
            </a:r>
            <a:r>
              <a:rPr lang="en-US" b="1">
                <a:solidFill>
                  <a:srgbClr val="C00000"/>
                </a:solidFill>
              </a:rPr>
              <a:t>node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/>
              <a:t>of M-way tree </a:t>
            </a:r>
            <a:r>
              <a:rPr lang="en-US" b="1">
                <a:solidFill>
                  <a:srgbClr val="C00000"/>
                </a:solidFill>
              </a:rPr>
              <a:t>holds K keys </a:t>
            </a:r>
            <a:r>
              <a:rPr lang="en-US"/>
              <a:t>then it will have </a:t>
            </a:r>
            <a:r>
              <a:rPr lang="en-US" b="1">
                <a:solidFill>
                  <a:srgbClr val="C00000"/>
                </a:solidFill>
              </a:rPr>
              <a:t>k+1 children</a:t>
            </a:r>
            <a:endParaRPr/>
          </a:p>
        </p:txBody>
      </p:sp>
      <p:sp>
        <p:nvSpPr>
          <p:cNvPr id="386657772" name="Rectangle 3"/>
          <p:cNvSpPr/>
          <p:nvPr/>
        </p:nvSpPr>
        <p:spPr bwMode="auto">
          <a:xfrm>
            <a:off x="3429000" y="3730782"/>
            <a:ext cx="1600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K1,  K2,  K3</a:t>
            </a:r>
            <a:endParaRPr/>
          </a:p>
        </p:txBody>
      </p:sp>
      <p:cxnSp>
        <p:nvCxnSpPr>
          <p:cNvPr id="779534899" name="Straight Arrow Connector 4"/>
          <p:cNvCxnSpPr>
            <a:stCxn id="386657772" idx="1"/>
          </p:cNvCxnSpPr>
          <p:nvPr/>
        </p:nvCxnSpPr>
        <p:spPr bwMode="auto">
          <a:xfrm flipH="1">
            <a:off x="2095500" y="3959382"/>
            <a:ext cx="1333500" cy="5334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50657743" name="Straight Arrow Connector 5"/>
          <p:cNvCxnSpPr/>
          <p:nvPr/>
        </p:nvCxnSpPr>
        <p:spPr bwMode="auto">
          <a:xfrm flipH="1">
            <a:off x="3619500" y="4187982"/>
            <a:ext cx="266700" cy="3048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66174462" name="Straight Arrow Connector 6"/>
          <p:cNvCxnSpPr/>
          <p:nvPr/>
        </p:nvCxnSpPr>
        <p:spPr bwMode="auto">
          <a:xfrm>
            <a:off x="4572000" y="4187982"/>
            <a:ext cx="304800" cy="3048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66561549" name="Straight Arrow Connector 7"/>
          <p:cNvCxnSpPr>
            <a:stCxn id="386657772" idx="3"/>
          </p:cNvCxnSpPr>
          <p:nvPr/>
        </p:nvCxnSpPr>
        <p:spPr bwMode="auto">
          <a:xfrm>
            <a:off x="5029200" y="3959382"/>
            <a:ext cx="914400" cy="536418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0486342" name="TextBox 8"/>
          <p:cNvSpPr txBox="1"/>
          <p:nvPr/>
        </p:nvSpPr>
        <p:spPr bwMode="auto">
          <a:xfrm>
            <a:off x="7010399" y="3048001"/>
            <a:ext cx="1982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/>
              <a:t>No of Keys = 3</a:t>
            </a:r>
            <a:endParaRPr/>
          </a:p>
        </p:txBody>
      </p:sp>
      <p:sp>
        <p:nvSpPr>
          <p:cNvPr id="346918559" name="TextBox 9"/>
          <p:cNvSpPr txBox="1"/>
          <p:nvPr/>
        </p:nvSpPr>
        <p:spPr bwMode="auto">
          <a:xfrm>
            <a:off x="7010401" y="4186536"/>
            <a:ext cx="35289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/>
              <a:t>No of Ways or children = 4</a:t>
            </a:r>
            <a:endParaRPr/>
          </a:p>
        </p:txBody>
      </p:sp>
      <p:cxnSp>
        <p:nvCxnSpPr>
          <p:cNvPr id="1344791093" name="Straight Arrow Connector 13"/>
          <p:cNvCxnSpPr>
            <a:stCxn id="440486342" idx="1"/>
          </p:cNvCxnSpPr>
          <p:nvPr/>
        </p:nvCxnSpPr>
        <p:spPr bwMode="auto">
          <a:xfrm flipH="1">
            <a:off x="4876800" y="3278834"/>
            <a:ext cx="2133600" cy="378767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9011633" name="Straight Arrow Connector 15"/>
          <p:cNvCxnSpPr>
            <a:stCxn id="346918559" idx="1"/>
          </p:cNvCxnSpPr>
          <p:nvPr/>
        </p:nvCxnSpPr>
        <p:spPr bwMode="auto">
          <a:xfrm flipH="1" flipV="1">
            <a:off x="6172200" y="4416582"/>
            <a:ext cx="838200" cy="786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222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222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222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657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534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7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17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56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86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79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34479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918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01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549011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657772" grpId="0" animBg="1"/>
      <p:bldP spid="440486342" grpId="0"/>
      <p:bldP spid="34691855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186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/>
              <a:t>Multiway</a:t>
            </a:r>
            <a:r>
              <a:rPr lang="en-IN"/>
              <a:t> Search Tree (B - Tree)</a:t>
            </a:r>
            <a:endParaRPr lang="en-US"/>
          </a:p>
        </p:txBody>
      </p:sp>
      <p:sp>
        <p:nvSpPr>
          <p:cNvPr id="154771882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 </a:t>
            </a:r>
            <a:r>
              <a:rPr lang="en-US" b="1">
                <a:solidFill>
                  <a:srgbClr val="C00000"/>
                </a:solidFill>
              </a:rPr>
              <a:t>tree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of </a:t>
            </a:r>
            <a:r>
              <a:rPr lang="en-US" b="1">
                <a:solidFill>
                  <a:srgbClr val="C00000"/>
                </a:solidFill>
              </a:rPr>
              <a:t>order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 b="1">
                <a:solidFill>
                  <a:srgbClr val="C00000"/>
                </a:solidFill>
              </a:rPr>
              <a:t>M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is a </a:t>
            </a:r>
            <a:r>
              <a:rPr lang="en-US" b="1">
                <a:solidFill>
                  <a:srgbClr val="C00000"/>
                </a:solidFill>
              </a:rPr>
              <a:t>M-way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search tree with the following properties</a:t>
            </a:r>
            <a:endParaRPr/>
          </a:p>
          <a:p>
            <a:pPr marL="819150" lvl="1" indent="-457200">
              <a:buFont typeface="+mj-lt"/>
              <a:buAutoNum type="arabicPeriod"/>
              <a:defRPr/>
            </a:pPr>
            <a:r>
              <a:rPr lang="en-US"/>
              <a:t>The </a:t>
            </a:r>
            <a:r>
              <a:rPr lang="en-US" b="1">
                <a:solidFill>
                  <a:srgbClr val="C00000"/>
                </a:solidFill>
              </a:rPr>
              <a:t>Root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can have </a:t>
            </a:r>
            <a:r>
              <a:rPr lang="en-US" b="1">
                <a:solidFill>
                  <a:srgbClr val="C00000"/>
                </a:solidFill>
              </a:rPr>
              <a:t>1 to M-1 keys</a:t>
            </a:r>
            <a:endParaRPr/>
          </a:p>
          <a:p>
            <a:pPr marL="819150" lvl="1" indent="-457200">
              <a:buFont typeface="+mj-lt"/>
              <a:buAutoNum type="arabicPeriod"/>
              <a:defRPr/>
            </a:pPr>
            <a:r>
              <a:rPr lang="en-US"/>
              <a:t>All </a:t>
            </a:r>
            <a:r>
              <a:rPr lang="en-US" b="1">
                <a:solidFill>
                  <a:srgbClr val="C00000"/>
                </a:solidFill>
              </a:rPr>
              <a:t>nodes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/>
              <a:t>(</a:t>
            </a:r>
            <a:r>
              <a:rPr lang="en-US" b="1">
                <a:solidFill>
                  <a:srgbClr val="C00000"/>
                </a:solidFill>
              </a:rPr>
              <a:t>except Root</a:t>
            </a:r>
            <a:r>
              <a:rPr lang="en-US"/>
              <a:t>) have </a:t>
            </a:r>
            <a:r>
              <a:rPr lang="en-US" b="1">
                <a:solidFill>
                  <a:srgbClr val="C00000"/>
                </a:solidFill>
              </a:rPr>
              <a:t>(M-1)/2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/>
              <a:t>to </a:t>
            </a:r>
            <a:r>
              <a:rPr lang="en-US" b="1">
                <a:solidFill>
                  <a:srgbClr val="C00000"/>
                </a:solidFill>
              </a:rPr>
              <a:t>(M-1) keys</a:t>
            </a:r>
            <a:endParaRPr/>
          </a:p>
          <a:p>
            <a:pPr marL="819150" lvl="1" indent="-457200">
              <a:buFont typeface="+mj-lt"/>
              <a:buAutoNum type="arabicPeriod"/>
              <a:defRPr/>
            </a:pPr>
            <a:r>
              <a:rPr lang="en-US"/>
              <a:t>All </a:t>
            </a:r>
            <a:r>
              <a:rPr lang="en-US" b="1">
                <a:solidFill>
                  <a:srgbClr val="C00000"/>
                </a:solidFill>
              </a:rPr>
              <a:t>leaves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are at the </a:t>
            </a:r>
            <a:r>
              <a:rPr lang="en-US" b="1">
                <a:solidFill>
                  <a:srgbClr val="C00000"/>
                </a:solidFill>
              </a:rPr>
              <a:t>same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 b="1">
                <a:solidFill>
                  <a:srgbClr val="C00000"/>
                </a:solidFill>
              </a:rPr>
              <a:t>level</a:t>
            </a:r>
            <a:endParaRPr/>
          </a:p>
          <a:p>
            <a:pPr marL="819150" lvl="1" indent="-457200">
              <a:buFont typeface="+mj-lt"/>
              <a:buAutoNum type="arabicPeriod"/>
              <a:defRPr/>
            </a:pPr>
            <a:r>
              <a:rPr lang="en-US"/>
              <a:t>If a node has </a:t>
            </a:r>
            <a:r>
              <a:rPr lang="en-US" b="1">
                <a:solidFill>
                  <a:srgbClr val="C00000"/>
                </a:solidFill>
              </a:rPr>
              <a:t>‘t’</a:t>
            </a:r>
            <a:r>
              <a:rPr lang="en-US"/>
              <a:t> number of </a:t>
            </a:r>
            <a:r>
              <a:rPr lang="en-US" b="1">
                <a:solidFill>
                  <a:srgbClr val="C00000"/>
                </a:solidFill>
              </a:rPr>
              <a:t>children</a:t>
            </a:r>
            <a:r>
              <a:rPr lang="en-US"/>
              <a:t>, then it must have </a:t>
            </a:r>
            <a:r>
              <a:rPr lang="en-US" b="1">
                <a:solidFill>
                  <a:srgbClr val="C00000"/>
                </a:solidFill>
              </a:rPr>
              <a:t>‘t-1’ keys</a:t>
            </a:r>
            <a:endParaRPr/>
          </a:p>
          <a:p>
            <a:pPr marL="819150" lvl="1" indent="-457200">
              <a:buFont typeface="+mj-lt"/>
              <a:buAutoNum type="arabicPeriod"/>
              <a:defRPr/>
            </a:pPr>
            <a:r>
              <a:rPr lang="en-US">
                <a:solidFill>
                  <a:srgbClr val="C00000"/>
                </a:solidFill>
                <a:latin typeface="Roboto Condensed"/>
                <a:ea typeface="Roboto Condensed"/>
              </a:rPr>
              <a:t>​</a:t>
            </a:r>
            <a:r>
              <a:rPr lang="en-US" b="1">
                <a:solidFill>
                  <a:srgbClr val="C00000"/>
                </a:solidFill>
              </a:rPr>
              <a:t>​Keys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of the nodes are stored in </a:t>
            </a:r>
            <a:r>
              <a:rPr lang="en-US" b="1">
                <a:solidFill>
                  <a:srgbClr val="C00000"/>
                </a:solidFill>
              </a:rPr>
              <a:t>ascending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 b="1">
                <a:solidFill>
                  <a:srgbClr val="C00000"/>
                </a:solidFill>
              </a:rPr>
              <a:t>order</a:t>
            </a:r>
            <a:endParaRPr/>
          </a:p>
          <a:p>
            <a:pPr marL="819150" lvl="1" indent="-457200">
              <a:buFont typeface="+mj-lt"/>
              <a:buAutoNum type="arabicPeriod"/>
              <a:defRPr/>
            </a:pPr>
            <a:endParaRPr lang="en-US"/>
          </a:p>
        </p:txBody>
      </p:sp>
      <p:sp>
        <p:nvSpPr>
          <p:cNvPr id="1231692705" name="Rectangle 3"/>
          <p:cNvSpPr/>
          <p:nvPr/>
        </p:nvSpPr>
        <p:spPr bwMode="auto">
          <a:xfrm>
            <a:off x="4336988" y="4264182"/>
            <a:ext cx="3200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K</a:t>
            </a:r>
            <a:r>
              <a:rPr lang="en-US" sz="2400" b="1" baseline="-25000"/>
              <a:t>0</a:t>
            </a:r>
            <a:r>
              <a:rPr lang="en-US" sz="2400" b="1"/>
              <a:t>, K</a:t>
            </a:r>
            <a:r>
              <a:rPr lang="en-US" sz="2400" b="1" baseline="-25000"/>
              <a:t>1</a:t>
            </a:r>
            <a:r>
              <a:rPr lang="en-US" sz="2400" b="1"/>
              <a:t>,  K</a:t>
            </a:r>
            <a:r>
              <a:rPr lang="en-US" sz="2400" b="1" baseline="-25000"/>
              <a:t>2</a:t>
            </a:r>
            <a:r>
              <a:rPr lang="en-US" sz="2400" b="1"/>
              <a:t>, ……… ,K</a:t>
            </a:r>
            <a:r>
              <a:rPr lang="en-US" sz="2400" b="1" baseline="-25000"/>
              <a:t>n-1</a:t>
            </a:r>
            <a:endParaRPr/>
          </a:p>
        </p:txBody>
      </p:sp>
      <p:cxnSp>
        <p:nvCxnSpPr>
          <p:cNvPr id="1633090289" name="Straight Arrow Connector 4"/>
          <p:cNvCxnSpPr/>
          <p:nvPr/>
        </p:nvCxnSpPr>
        <p:spPr bwMode="auto">
          <a:xfrm flipH="1">
            <a:off x="3574988" y="4493914"/>
            <a:ext cx="762000" cy="76388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87269834" name="Straight Arrow Connector 5"/>
          <p:cNvCxnSpPr/>
          <p:nvPr/>
        </p:nvCxnSpPr>
        <p:spPr bwMode="auto">
          <a:xfrm flipH="1">
            <a:off x="4489388" y="4721382"/>
            <a:ext cx="495300" cy="536418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66085078" name="Straight Arrow Connector 6"/>
          <p:cNvCxnSpPr/>
          <p:nvPr/>
        </p:nvCxnSpPr>
        <p:spPr bwMode="auto">
          <a:xfrm flipH="1">
            <a:off x="5460939" y="4721382"/>
            <a:ext cx="47531" cy="536418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84308183" name="Straight Arrow Connector 7"/>
          <p:cNvCxnSpPr/>
          <p:nvPr/>
        </p:nvCxnSpPr>
        <p:spPr bwMode="auto">
          <a:xfrm>
            <a:off x="6775388" y="4722514"/>
            <a:ext cx="228600" cy="53528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80007559" name="Straight Arrow Connector 13"/>
          <p:cNvCxnSpPr/>
          <p:nvPr/>
        </p:nvCxnSpPr>
        <p:spPr bwMode="auto">
          <a:xfrm>
            <a:off x="7546914" y="4492782"/>
            <a:ext cx="371475" cy="765018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69552124" name="TextBox 16"/>
          <p:cNvSpPr txBox="1"/>
          <p:nvPr/>
        </p:nvSpPr>
        <p:spPr bwMode="auto">
          <a:xfrm>
            <a:off x="3346388" y="5135647"/>
            <a:ext cx="463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/>
              <a:t>P</a:t>
            </a:r>
            <a:r>
              <a:rPr lang="en-US" sz="2400" b="1" baseline="-25000"/>
              <a:t>0</a:t>
            </a:r>
            <a:endParaRPr/>
          </a:p>
        </p:txBody>
      </p:sp>
      <p:sp>
        <p:nvSpPr>
          <p:cNvPr id="290791339" name="TextBox 17"/>
          <p:cNvSpPr txBox="1"/>
          <p:nvPr/>
        </p:nvSpPr>
        <p:spPr bwMode="auto">
          <a:xfrm>
            <a:off x="4265620" y="5140112"/>
            <a:ext cx="463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/>
              <a:t>P</a:t>
            </a:r>
            <a:r>
              <a:rPr lang="en-US" sz="2400" b="1" baseline="-25000"/>
              <a:t>1</a:t>
            </a:r>
            <a:endParaRPr/>
          </a:p>
        </p:txBody>
      </p:sp>
      <p:sp>
        <p:nvSpPr>
          <p:cNvPr id="1136497701" name="TextBox 18"/>
          <p:cNvSpPr txBox="1"/>
          <p:nvPr/>
        </p:nvSpPr>
        <p:spPr bwMode="auto">
          <a:xfrm>
            <a:off x="5180020" y="5140112"/>
            <a:ext cx="463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/>
              <a:t>P</a:t>
            </a:r>
            <a:r>
              <a:rPr lang="en-US" sz="2400" b="1" baseline="-25000"/>
              <a:t>2</a:t>
            </a:r>
            <a:endParaRPr/>
          </a:p>
        </p:txBody>
      </p:sp>
      <p:sp>
        <p:nvSpPr>
          <p:cNvPr id="803213081" name="TextBox 19"/>
          <p:cNvSpPr txBox="1"/>
          <p:nvPr/>
        </p:nvSpPr>
        <p:spPr bwMode="auto">
          <a:xfrm>
            <a:off x="6780221" y="5140112"/>
            <a:ext cx="6399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/>
              <a:t>P</a:t>
            </a:r>
            <a:r>
              <a:rPr lang="en-US" sz="2400" b="1" baseline="-25000"/>
              <a:t>n-1</a:t>
            </a:r>
            <a:endParaRPr/>
          </a:p>
        </p:txBody>
      </p:sp>
      <p:sp>
        <p:nvSpPr>
          <p:cNvPr id="2091689803" name="TextBox 20"/>
          <p:cNvSpPr txBox="1"/>
          <p:nvPr/>
        </p:nvSpPr>
        <p:spPr bwMode="auto">
          <a:xfrm>
            <a:off x="7770820" y="5140112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/>
              <a:t>P</a:t>
            </a:r>
            <a:r>
              <a:rPr lang="en-US" sz="2400" b="1" baseline="-25000"/>
              <a:t>n</a:t>
            </a:r>
            <a:endParaRPr lang="en-US" sz="2400" b="1" baseline="-25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7188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7188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7188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7188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7188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7188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692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090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269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08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08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00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55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79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49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21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689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1692705" grpId="0" animBg="1"/>
      <p:bldP spid="1169552124" grpId="0"/>
      <p:bldP spid="290791339" grpId="0"/>
      <p:bldP spid="1136497701" grpId="0"/>
      <p:bldP spid="803213081" grpId="0"/>
      <p:bldP spid="209168980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806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/>
              <a:t>Multiway</a:t>
            </a:r>
            <a:r>
              <a:rPr lang="en-IN"/>
              <a:t> Search Tree (B - Tree)</a:t>
            </a:r>
            <a:endParaRPr lang="en-US"/>
          </a:p>
        </p:txBody>
      </p:sp>
      <p:sp>
        <p:nvSpPr>
          <p:cNvPr id="2039318248" name="Content Placeholder 2"/>
          <p:cNvSpPr>
            <a:spLocks noGrp="1"/>
          </p:cNvSpPr>
          <p:nvPr>
            <p:ph idx="1"/>
          </p:nvPr>
        </p:nvSpPr>
        <p:spPr bwMode="auto">
          <a:xfrm>
            <a:off x="131180" y="2547852"/>
            <a:ext cx="11929641" cy="3906157"/>
          </a:xfrm>
        </p:spPr>
        <p:txBody>
          <a:bodyPr/>
          <a:lstStyle/>
          <a:p>
            <a:pPr>
              <a:defRPr/>
            </a:pPr>
            <a:r>
              <a:rPr lang="en-US" b="1"/>
              <a:t>K</a:t>
            </a:r>
            <a:r>
              <a:rPr lang="en-US" b="1" baseline="-25000"/>
              <a:t>0</a:t>
            </a:r>
            <a:r>
              <a:rPr lang="en-US" b="1"/>
              <a:t>, K</a:t>
            </a:r>
            <a:r>
              <a:rPr lang="en-US" b="1" baseline="-25000"/>
              <a:t>1</a:t>
            </a:r>
            <a:r>
              <a:rPr lang="en-US" b="1"/>
              <a:t>,  K</a:t>
            </a:r>
            <a:r>
              <a:rPr lang="en-US" b="1" baseline="-25000"/>
              <a:t>2</a:t>
            </a:r>
            <a:r>
              <a:rPr lang="en-US" b="1"/>
              <a:t>, ……… ,K</a:t>
            </a:r>
            <a:r>
              <a:rPr lang="en-US" b="1" baseline="-25000"/>
              <a:t>n-1 </a:t>
            </a:r>
            <a:r>
              <a:rPr lang="en-US"/>
              <a:t>are </a:t>
            </a:r>
            <a:r>
              <a:rPr lang="en-US" b="1">
                <a:solidFill>
                  <a:srgbClr val="C00000"/>
                </a:solidFill>
              </a:rPr>
              <a:t>keys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stored in the node</a:t>
            </a:r>
            <a:endParaRPr/>
          </a:p>
          <a:p>
            <a:pPr>
              <a:defRPr/>
            </a:pPr>
            <a:r>
              <a:rPr lang="en-US" b="1"/>
              <a:t>Sub-Trees</a:t>
            </a:r>
            <a:r>
              <a:rPr lang="en-US"/>
              <a:t> are pointed by </a:t>
            </a:r>
            <a:r>
              <a:rPr lang="en-US" b="1">
                <a:solidFill>
                  <a:srgbClr val="C00000"/>
                </a:solidFill>
              </a:rPr>
              <a:t>P</a:t>
            </a:r>
            <a:r>
              <a:rPr lang="en-US" b="1" baseline="-25000">
                <a:solidFill>
                  <a:srgbClr val="C00000"/>
                </a:solidFill>
              </a:rPr>
              <a:t>0</a:t>
            </a:r>
            <a:r>
              <a:rPr lang="en-US" b="1">
                <a:solidFill>
                  <a:srgbClr val="C00000"/>
                </a:solidFill>
              </a:rPr>
              <a:t>, P</a:t>
            </a:r>
            <a:r>
              <a:rPr lang="en-US" b="1" baseline="-25000">
                <a:solidFill>
                  <a:srgbClr val="C00000"/>
                </a:solidFill>
              </a:rPr>
              <a:t>1</a:t>
            </a:r>
            <a:r>
              <a:rPr lang="en-US" b="1">
                <a:solidFill>
                  <a:srgbClr val="C00000"/>
                </a:solidFill>
              </a:rPr>
              <a:t>,  P</a:t>
            </a:r>
            <a:r>
              <a:rPr lang="en-US" b="1" baseline="-25000">
                <a:solidFill>
                  <a:srgbClr val="C00000"/>
                </a:solidFill>
              </a:rPr>
              <a:t>2</a:t>
            </a:r>
            <a:r>
              <a:rPr lang="en-US" b="1">
                <a:solidFill>
                  <a:srgbClr val="C00000"/>
                </a:solidFill>
              </a:rPr>
              <a:t>, ……… ,</a:t>
            </a:r>
            <a:r>
              <a:rPr lang="en-US" b="1">
                <a:solidFill>
                  <a:srgbClr val="C00000"/>
                </a:solidFill>
              </a:rPr>
              <a:t>P</a:t>
            </a:r>
            <a:r>
              <a:rPr lang="en-US" b="1" baseline="-25000">
                <a:solidFill>
                  <a:srgbClr val="C00000"/>
                </a:solidFill>
              </a:rPr>
              <a:t>n</a:t>
            </a:r>
            <a:r>
              <a:rPr lang="en-US" b="1">
                <a:solidFill>
                  <a:srgbClr val="C00000"/>
                </a:solidFill>
              </a:rPr>
              <a:t> </a:t>
            </a:r>
            <a:r>
              <a:rPr lang="en-US"/>
              <a:t>then</a:t>
            </a:r>
            <a:endParaRPr/>
          </a:p>
          <a:p>
            <a:pPr lvl="1">
              <a:defRPr/>
            </a:pPr>
            <a:r>
              <a:rPr lang="en-US"/>
              <a:t>K</a:t>
            </a:r>
            <a:r>
              <a:rPr lang="en-US" baseline="-25000"/>
              <a:t>0</a:t>
            </a:r>
            <a:r>
              <a:rPr lang="en-US"/>
              <a:t> &gt;= all keys of sub-tree P</a:t>
            </a:r>
            <a:r>
              <a:rPr lang="en-US" baseline="-25000"/>
              <a:t>0</a:t>
            </a:r>
            <a:endParaRPr/>
          </a:p>
          <a:p>
            <a:pPr lvl="1">
              <a:defRPr/>
            </a:pPr>
            <a:r>
              <a:rPr lang="en-US"/>
              <a:t>K</a:t>
            </a:r>
            <a:r>
              <a:rPr lang="en-US" baseline="-25000"/>
              <a:t>1</a:t>
            </a:r>
            <a:r>
              <a:rPr lang="en-US"/>
              <a:t> &gt;= all keys of sub-tree P</a:t>
            </a:r>
            <a:r>
              <a:rPr lang="en-US" baseline="-25000"/>
              <a:t>1</a:t>
            </a:r>
            <a:endParaRPr/>
          </a:p>
          <a:p>
            <a:pPr lvl="1">
              <a:defRPr/>
            </a:pPr>
            <a:r>
              <a:rPr lang="en-US" baseline="-25000"/>
              <a:t>………..</a:t>
            </a:r>
            <a:endParaRPr lang="en-US"/>
          </a:p>
          <a:p>
            <a:pPr lvl="1">
              <a:defRPr/>
            </a:pPr>
            <a:r>
              <a:rPr lang="en-US" baseline="-25000"/>
              <a:t>………..</a:t>
            </a:r>
            <a:endParaRPr lang="en-US"/>
          </a:p>
          <a:p>
            <a:pPr lvl="1">
              <a:defRPr/>
            </a:pPr>
            <a:r>
              <a:rPr lang="en-US"/>
              <a:t>K</a:t>
            </a:r>
            <a:r>
              <a:rPr lang="en-US" baseline="-25000"/>
              <a:t>n-1</a:t>
            </a:r>
            <a:r>
              <a:rPr lang="en-US"/>
              <a:t> &gt;= all keys of sub-tree P</a:t>
            </a:r>
            <a:r>
              <a:rPr lang="en-US" baseline="-25000"/>
              <a:t>n-1</a:t>
            </a:r>
            <a:endParaRPr lang="en-US"/>
          </a:p>
          <a:p>
            <a:pPr lvl="1">
              <a:defRPr/>
            </a:pPr>
            <a:r>
              <a:rPr lang="en-US"/>
              <a:t>K</a:t>
            </a:r>
            <a:r>
              <a:rPr lang="en-US" baseline="-25000"/>
              <a:t>n-1</a:t>
            </a:r>
            <a:r>
              <a:rPr lang="en-US"/>
              <a:t> &lt; all keys of sub-tree </a:t>
            </a:r>
            <a:r>
              <a:rPr lang="en-US"/>
              <a:t>P</a:t>
            </a:r>
            <a:r>
              <a:rPr lang="en-US" baseline="-25000"/>
              <a:t>n</a:t>
            </a:r>
            <a:endParaRPr lang="en-US"/>
          </a:p>
          <a:p>
            <a:pPr lvl="1">
              <a:defRPr/>
            </a:pPr>
            <a:endParaRPr lang="en-US"/>
          </a:p>
        </p:txBody>
      </p:sp>
      <p:sp>
        <p:nvSpPr>
          <p:cNvPr id="1714293961" name="Rectangle 3"/>
          <p:cNvSpPr/>
          <p:nvPr/>
        </p:nvSpPr>
        <p:spPr bwMode="auto">
          <a:xfrm>
            <a:off x="4419600" y="1097034"/>
            <a:ext cx="3200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K</a:t>
            </a:r>
            <a:r>
              <a:rPr lang="en-US" sz="2400" b="1" baseline="-25000"/>
              <a:t>0</a:t>
            </a:r>
            <a:r>
              <a:rPr lang="en-US" sz="2400" b="1"/>
              <a:t>, K</a:t>
            </a:r>
            <a:r>
              <a:rPr lang="en-US" sz="2400" b="1" baseline="-25000"/>
              <a:t>1</a:t>
            </a:r>
            <a:r>
              <a:rPr lang="en-US" sz="2400" b="1"/>
              <a:t>,  K</a:t>
            </a:r>
            <a:r>
              <a:rPr lang="en-US" sz="2400" b="1" baseline="-25000"/>
              <a:t>2</a:t>
            </a:r>
            <a:r>
              <a:rPr lang="en-US" sz="2400" b="1"/>
              <a:t>, ……… ,K</a:t>
            </a:r>
            <a:r>
              <a:rPr lang="en-US" sz="2400" b="1" baseline="-25000"/>
              <a:t>n-1</a:t>
            </a:r>
            <a:endParaRPr/>
          </a:p>
        </p:txBody>
      </p:sp>
      <p:cxnSp>
        <p:nvCxnSpPr>
          <p:cNvPr id="1296820695" name="Straight Arrow Connector 4"/>
          <p:cNvCxnSpPr/>
          <p:nvPr/>
        </p:nvCxnSpPr>
        <p:spPr bwMode="auto">
          <a:xfrm flipH="1">
            <a:off x="3657600" y="1326766"/>
            <a:ext cx="762000" cy="76388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29095648" name="Straight Arrow Connector 5"/>
          <p:cNvCxnSpPr/>
          <p:nvPr/>
        </p:nvCxnSpPr>
        <p:spPr bwMode="auto">
          <a:xfrm flipH="1">
            <a:off x="4572000" y="1554234"/>
            <a:ext cx="495300" cy="536418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68912005" name="Straight Arrow Connector 6"/>
          <p:cNvCxnSpPr/>
          <p:nvPr/>
        </p:nvCxnSpPr>
        <p:spPr bwMode="auto">
          <a:xfrm flipH="1">
            <a:off x="5543551" y="1554234"/>
            <a:ext cx="47531" cy="536418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977954" name="Straight Arrow Connector 7"/>
          <p:cNvCxnSpPr/>
          <p:nvPr/>
        </p:nvCxnSpPr>
        <p:spPr bwMode="auto">
          <a:xfrm>
            <a:off x="6858000" y="1555366"/>
            <a:ext cx="228600" cy="53528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5322088" name="Straight Arrow Connector 8"/>
          <p:cNvCxnSpPr/>
          <p:nvPr/>
        </p:nvCxnSpPr>
        <p:spPr bwMode="auto">
          <a:xfrm>
            <a:off x="7629526" y="1325634"/>
            <a:ext cx="371475" cy="765018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05999563" name="TextBox 9"/>
          <p:cNvSpPr txBox="1"/>
          <p:nvPr/>
        </p:nvSpPr>
        <p:spPr bwMode="auto">
          <a:xfrm>
            <a:off x="3429000" y="1968499"/>
            <a:ext cx="463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/>
              <a:t>P</a:t>
            </a:r>
            <a:r>
              <a:rPr lang="en-US" sz="2400" b="1" baseline="-25000"/>
              <a:t>0</a:t>
            </a:r>
            <a:endParaRPr/>
          </a:p>
        </p:txBody>
      </p:sp>
      <p:sp>
        <p:nvSpPr>
          <p:cNvPr id="1826934001" name="TextBox 10"/>
          <p:cNvSpPr txBox="1"/>
          <p:nvPr/>
        </p:nvSpPr>
        <p:spPr bwMode="auto">
          <a:xfrm>
            <a:off x="4348232" y="1972964"/>
            <a:ext cx="463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/>
              <a:t>P</a:t>
            </a:r>
            <a:r>
              <a:rPr lang="en-US" sz="2400" b="1" baseline="-25000"/>
              <a:t>1</a:t>
            </a:r>
            <a:endParaRPr/>
          </a:p>
        </p:txBody>
      </p:sp>
      <p:sp>
        <p:nvSpPr>
          <p:cNvPr id="1802648046" name="TextBox 11"/>
          <p:cNvSpPr txBox="1"/>
          <p:nvPr/>
        </p:nvSpPr>
        <p:spPr bwMode="auto">
          <a:xfrm>
            <a:off x="5262632" y="1972964"/>
            <a:ext cx="463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/>
              <a:t>P</a:t>
            </a:r>
            <a:r>
              <a:rPr lang="en-US" sz="2400" b="1" baseline="-25000"/>
              <a:t>2</a:t>
            </a:r>
            <a:endParaRPr/>
          </a:p>
        </p:txBody>
      </p:sp>
      <p:sp>
        <p:nvSpPr>
          <p:cNvPr id="1227424914" name="TextBox 12"/>
          <p:cNvSpPr txBox="1"/>
          <p:nvPr/>
        </p:nvSpPr>
        <p:spPr bwMode="auto">
          <a:xfrm>
            <a:off x="6862833" y="1972964"/>
            <a:ext cx="6399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/>
              <a:t>P</a:t>
            </a:r>
            <a:r>
              <a:rPr lang="en-US" sz="2400" b="1" baseline="-25000"/>
              <a:t>n-1</a:t>
            </a:r>
            <a:endParaRPr/>
          </a:p>
        </p:txBody>
      </p:sp>
      <p:sp>
        <p:nvSpPr>
          <p:cNvPr id="1210189943" name="TextBox 13"/>
          <p:cNvSpPr txBox="1"/>
          <p:nvPr/>
        </p:nvSpPr>
        <p:spPr bwMode="auto">
          <a:xfrm>
            <a:off x="7853432" y="1972964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/>
              <a:t>P</a:t>
            </a:r>
            <a:r>
              <a:rPr lang="en-US" sz="2400" b="1" baseline="-25000"/>
              <a:t>n</a:t>
            </a:r>
            <a:endParaRPr lang="en-US" sz="2400" b="1" baseline="-25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293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820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095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91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7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32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6934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648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424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18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318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3182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3182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3182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3182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3182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3182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3182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4293961" grpId="0" animBg="1"/>
      <p:bldP spid="1105999563" grpId="0"/>
      <p:bldP spid="1826934001" grpId="0"/>
      <p:bldP spid="1802648046" grpId="0"/>
      <p:bldP spid="1227424914" grpId="0"/>
      <p:bldP spid="121018994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3420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IN"/>
              <a:t>Multiway</a:t>
            </a:r>
            <a:r>
              <a:rPr lang="en-IN"/>
              <a:t> Search Tree (B - Tree)</a:t>
            </a:r>
            <a:endParaRPr lang="en-US"/>
          </a:p>
        </p:txBody>
      </p:sp>
      <p:sp>
        <p:nvSpPr>
          <p:cNvPr id="717868534" name="Rectangle 3"/>
          <p:cNvSpPr/>
          <p:nvPr/>
        </p:nvSpPr>
        <p:spPr bwMode="auto">
          <a:xfrm>
            <a:off x="5410200" y="1295400"/>
            <a:ext cx="609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20</a:t>
            </a:r>
            <a:endParaRPr/>
          </a:p>
        </p:txBody>
      </p:sp>
      <p:sp>
        <p:nvSpPr>
          <p:cNvPr id="1960829038" name="Rectangle 4"/>
          <p:cNvSpPr/>
          <p:nvPr/>
        </p:nvSpPr>
        <p:spPr bwMode="auto">
          <a:xfrm>
            <a:off x="2895600" y="2286000"/>
            <a:ext cx="1066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10,  15</a:t>
            </a:r>
            <a:endParaRPr/>
          </a:p>
        </p:txBody>
      </p:sp>
      <p:sp>
        <p:nvSpPr>
          <p:cNvPr id="1386381155" name="Rectangle 5"/>
          <p:cNvSpPr/>
          <p:nvPr/>
        </p:nvSpPr>
        <p:spPr bwMode="auto">
          <a:xfrm>
            <a:off x="7162800" y="2362199"/>
            <a:ext cx="1828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25,  40,  50</a:t>
            </a:r>
            <a:endParaRPr/>
          </a:p>
        </p:txBody>
      </p:sp>
      <p:sp>
        <p:nvSpPr>
          <p:cNvPr id="1276362798" name="Rectangle 6"/>
          <p:cNvSpPr/>
          <p:nvPr/>
        </p:nvSpPr>
        <p:spPr bwMode="auto">
          <a:xfrm>
            <a:off x="1828800" y="3581400"/>
            <a:ext cx="838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2,  8</a:t>
            </a:r>
            <a:endParaRPr/>
          </a:p>
        </p:txBody>
      </p:sp>
      <p:sp>
        <p:nvSpPr>
          <p:cNvPr id="1120419345" name="Rectangle 7"/>
          <p:cNvSpPr/>
          <p:nvPr/>
        </p:nvSpPr>
        <p:spPr bwMode="auto">
          <a:xfrm>
            <a:off x="2971800" y="3594980"/>
            <a:ext cx="6477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11</a:t>
            </a:r>
            <a:endParaRPr/>
          </a:p>
        </p:txBody>
      </p:sp>
      <p:sp>
        <p:nvSpPr>
          <p:cNvPr id="1040616200" name="Rectangle 8"/>
          <p:cNvSpPr/>
          <p:nvPr/>
        </p:nvSpPr>
        <p:spPr bwMode="auto">
          <a:xfrm>
            <a:off x="3962400" y="3594980"/>
            <a:ext cx="1066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16,  18</a:t>
            </a:r>
            <a:endParaRPr/>
          </a:p>
        </p:txBody>
      </p:sp>
      <p:sp>
        <p:nvSpPr>
          <p:cNvPr id="784878362" name="Rectangle 9"/>
          <p:cNvSpPr/>
          <p:nvPr/>
        </p:nvSpPr>
        <p:spPr bwMode="auto">
          <a:xfrm>
            <a:off x="5715000" y="3594980"/>
            <a:ext cx="6477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22</a:t>
            </a:r>
            <a:endParaRPr/>
          </a:p>
        </p:txBody>
      </p:sp>
      <p:sp>
        <p:nvSpPr>
          <p:cNvPr id="170486410" name="Rectangle 10"/>
          <p:cNvSpPr/>
          <p:nvPr/>
        </p:nvSpPr>
        <p:spPr bwMode="auto">
          <a:xfrm>
            <a:off x="6553200" y="3594980"/>
            <a:ext cx="1066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30,  35</a:t>
            </a:r>
            <a:endParaRPr/>
          </a:p>
        </p:txBody>
      </p:sp>
      <p:sp>
        <p:nvSpPr>
          <p:cNvPr id="710611584" name="Rectangle 11"/>
          <p:cNvSpPr/>
          <p:nvPr/>
        </p:nvSpPr>
        <p:spPr bwMode="auto">
          <a:xfrm>
            <a:off x="7772400" y="3571592"/>
            <a:ext cx="1066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42,  44</a:t>
            </a:r>
            <a:endParaRPr/>
          </a:p>
        </p:txBody>
      </p:sp>
      <p:sp>
        <p:nvSpPr>
          <p:cNvPr id="1293404369" name="Rectangle 12"/>
          <p:cNvSpPr/>
          <p:nvPr/>
        </p:nvSpPr>
        <p:spPr bwMode="auto">
          <a:xfrm>
            <a:off x="9107787" y="3579891"/>
            <a:ext cx="1066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55,  60</a:t>
            </a:r>
            <a:endParaRPr/>
          </a:p>
        </p:txBody>
      </p:sp>
      <p:cxnSp>
        <p:nvCxnSpPr>
          <p:cNvPr id="627879790" name="Straight Arrow Connector 14"/>
          <p:cNvCxnSpPr>
            <a:stCxn id="717868534" idx="1"/>
            <a:endCxn id="1960829038" idx="0"/>
          </p:cNvCxnSpPr>
          <p:nvPr/>
        </p:nvCxnSpPr>
        <p:spPr bwMode="auto">
          <a:xfrm flipH="1">
            <a:off x="3429000" y="1524000"/>
            <a:ext cx="1981200" cy="7620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12451921" name="Straight Arrow Connector 16"/>
          <p:cNvCxnSpPr>
            <a:stCxn id="1960829038" idx="1"/>
            <a:endCxn id="1276362798" idx="0"/>
          </p:cNvCxnSpPr>
          <p:nvPr/>
        </p:nvCxnSpPr>
        <p:spPr bwMode="auto">
          <a:xfrm flipH="1">
            <a:off x="2247900" y="2514600"/>
            <a:ext cx="647700" cy="10668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45112114" name="Straight Arrow Connector 18"/>
          <p:cNvCxnSpPr>
            <a:stCxn id="1960829038" idx="2"/>
            <a:endCxn id="1120419345" idx="0"/>
          </p:cNvCxnSpPr>
          <p:nvPr/>
        </p:nvCxnSpPr>
        <p:spPr bwMode="auto">
          <a:xfrm flipH="1">
            <a:off x="3295650" y="2743200"/>
            <a:ext cx="133350" cy="85178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837635" name="Straight Arrow Connector 20"/>
          <p:cNvCxnSpPr>
            <a:stCxn id="1960829038" idx="3"/>
            <a:endCxn id="1040616200" idx="0"/>
          </p:cNvCxnSpPr>
          <p:nvPr/>
        </p:nvCxnSpPr>
        <p:spPr bwMode="auto">
          <a:xfrm>
            <a:off x="3962400" y="2514600"/>
            <a:ext cx="533400" cy="108038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22833146" name="Straight Arrow Connector 22"/>
          <p:cNvCxnSpPr>
            <a:stCxn id="717868534" idx="3"/>
            <a:endCxn id="1386381155" idx="0"/>
          </p:cNvCxnSpPr>
          <p:nvPr/>
        </p:nvCxnSpPr>
        <p:spPr bwMode="auto">
          <a:xfrm>
            <a:off x="6019800" y="1524000"/>
            <a:ext cx="2057400" cy="8382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27339768" name="Straight Arrow Connector 25"/>
          <p:cNvCxnSpPr>
            <a:stCxn id="1386381155" idx="1"/>
            <a:endCxn id="784878362" idx="0"/>
          </p:cNvCxnSpPr>
          <p:nvPr/>
        </p:nvCxnSpPr>
        <p:spPr bwMode="auto">
          <a:xfrm flipH="1">
            <a:off x="6038850" y="2590800"/>
            <a:ext cx="1123950" cy="100418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86407400" name="Straight Arrow Connector 29"/>
          <p:cNvCxnSpPr>
            <a:endCxn id="170486410" idx="0"/>
          </p:cNvCxnSpPr>
          <p:nvPr/>
        </p:nvCxnSpPr>
        <p:spPr bwMode="auto">
          <a:xfrm flipH="1">
            <a:off x="7086600" y="2819400"/>
            <a:ext cx="685800" cy="77558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98546465" name="Straight Arrow Connector 31"/>
          <p:cNvCxnSpPr>
            <a:endCxn id="710611584" idx="0"/>
          </p:cNvCxnSpPr>
          <p:nvPr/>
        </p:nvCxnSpPr>
        <p:spPr bwMode="auto">
          <a:xfrm flipH="1">
            <a:off x="8305800" y="2819400"/>
            <a:ext cx="76200" cy="752192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37037025" name="Straight Arrow Connector 33"/>
          <p:cNvCxnSpPr>
            <a:stCxn id="1386381155" idx="3"/>
            <a:endCxn id="1293404369" idx="0"/>
          </p:cNvCxnSpPr>
          <p:nvPr/>
        </p:nvCxnSpPr>
        <p:spPr bwMode="auto">
          <a:xfrm>
            <a:off x="8991601" y="2590801"/>
            <a:ext cx="649587" cy="989091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6251544" name="TextBox 34"/>
          <p:cNvSpPr txBox="1"/>
          <p:nvPr/>
        </p:nvSpPr>
        <p:spPr bwMode="auto">
          <a:xfrm>
            <a:off x="4191001" y="4719936"/>
            <a:ext cx="39999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/>
              <a:t>B-Tree of Order 4 (4 way Tree)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6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829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38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362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419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61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878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8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1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40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879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245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11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3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833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339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40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546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037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25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868534" grpId="0" animBg="1"/>
      <p:bldP spid="1960829038" grpId="0" animBg="1"/>
      <p:bldP spid="1386381155" grpId="0" animBg="1"/>
      <p:bldP spid="1276362798" grpId="0" animBg="1"/>
      <p:bldP spid="1120419345" grpId="0" animBg="1"/>
      <p:bldP spid="1040616200" grpId="0" animBg="1"/>
      <p:bldP spid="784878362" grpId="0" animBg="1"/>
      <p:bldP spid="170486410" grpId="0" animBg="1"/>
      <p:bldP spid="710611584" grpId="0" animBg="1"/>
      <p:bldP spid="1293404369" grpId="0" animBg="1"/>
      <p:bldP spid="44625154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6218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Insertion of Key in B-Tree</a:t>
            </a:r>
            <a:endParaRPr/>
          </a:p>
        </p:txBody>
      </p:sp>
      <p:sp>
        <p:nvSpPr>
          <p:cNvPr id="204768909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457200" indent="-457200">
              <a:buFont typeface="+mj-lt"/>
              <a:buAutoNum type="arabicPeriod"/>
              <a:defRPr/>
            </a:pPr>
            <a:r>
              <a:rPr lang="en-US"/>
              <a:t>If </a:t>
            </a:r>
            <a:r>
              <a:rPr lang="en-US" b="1">
                <a:solidFill>
                  <a:srgbClr val="C00000"/>
                </a:solidFill>
              </a:rPr>
              <a:t>Root </a:t>
            </a:r>
            <a:r>
              <a:rPr lang="en-US"/>
              <a:t>is</a:t>
            </a:r>
            <a:r>
              <a:rPr lang="en-US" b="1">
                <a:solidFill>
                  <a:srgbClr val="FF0000"/>
                </a:solidFill>
              </a:rPr>
              <a:t> </a:t>
            </a:r>
            <a:r>
              <a:rPr lang="en-US" b="1">
                <a:solidFill>
                  <a:srgbClr val="C00000"/>
                </a:solidFill>
              </a:rPr>
              <a:t>NULL</a:t>
            </a:r>
            <a:r>
              <a:rPr lang="en-US"/>
              <a:t>, </a:t>
            </a:r>
            <a:r>
              <a:rPr lang="en-US" b="1">
                <a:solidFill>
                  <a:srgbClr val="C00000"/>
                </a:solidFill>
              </a:rPr>
              <a:t>construct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a node and </a:t>
            </a:r>
            <a:r>
              <a:rPr lang="en-US" b="1">
                <a:solidFill>
                  <a:srgbClr val="C00000"/>
                </a:solidFill>
              </a:rPr>
              <a:t>insert key</a:t>
            </a:r>
            <a:endParaRPr/>
          </a:p>
          <a:p>
            <a:pPr marL="457200" indent="-457200">
              <a:buFont typeface="+mj-lt"/>
              <a:buAutoNum type="arabicPeriod"/>
              <a:defRPr/>
            </a:pPr>
            <a:r>
              <a:rPr lang="en-US"/>
              <a:t>If </a:t>
            </a:r>
            <a:r>
              <a:rPr lang="en-US" b="1">
                <a:solidFill>
                  <a:srgbClr val="C00000"/>
                </a:solidFill>
              </a:rPr>
              <a:t>Root </a:t>
            </a:r>
            <a:r>
              <a:rPr lang="en-US"/>
              <a:t>is </a:t>
            </a:r>
            <a:r>
              <a:rPr lang="en-US" b="1">
                <a:solidFill>
                  <a:srgbClr val="C00000"/>
                </a:solidFill>
              </a:rPr>
              <a:t>NOT NULL</a:t>
            </a:r>
            <a:endParaRPr/>
          </a:p>
          <a:p>
            <a:pPr marL="876299" lvl="1" indent="-514350">
              <a:buFont typeface="+mj-lt"/>
              <a:buAutoNum type="romanUcPeriod"/>
              <a:defRPr/>
            </a:pPr>
            <a:r>
              <a:rPr lang="en-US"/>
              <a:t>Find the </a:t>
            </a:r>
            <a:r>
              <a:rPr lang="en-US" b="1">
                <a:solidFill>
                  <a:srgbClr val="C00000"/>
                </a:solidFill>
              </a:rPr>
              <a:t>correct leaf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node to which key should be added</a:t>
            </a:r>
            <a:endParaRPr/>
          </a:p>
          <a:p>
            <a:pPr marL="876299" lvl="1" indent="-514350">
              <a:buFont typeface="+mj-lt"/>
              <a:buAutoNum type="romanUcPeriod"/>
              <a:defRPr/>
            </a:pPr>
            <a:r>
              <a:rPr lang="en-US"/>
              <a:t>If </a:t>
            </a:r>
            <a:r>
              <a:rPr lang="en-US" b="1">
                <a:solidFill>
                  <a:srgbClr val="C00000"/>
                </a:solidFill>
              </a:rPr>
              <a:t>leaf node has space </a:t>
            </a:r>
            <a:r>
              <a:rPr lang="en-US"/>
              <a:t>to accommodate key, it is </a:t>
            </a:r>
            <a:r>
              <a:rPr lang="en-US" b="1">
                <a:solidFill>
                  <a:srgbClr val="C00000"/>
                </a:solidFill>
              </a:rPr>
              <a:t>inserted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and </a:t>
            </a:r>
            <a:r>
              <a:rPr lang="en-US" b="1">
                <a:solidFill>
                  <a:srgbClr val="C00000"/>
                </a:solidFill>
              </a:rPr>
              <a:t>sorted</a:t>
            </a:r>
            <a:endParaRPr/>
          </a:p>
          <a:p>
            <a:pPr marL="876299" lvl="1" indent="-514350">
              <a:buFont typeface="+mj-lt"/>
              <a:buAutoNum type="romanUcPeriod"/>
              <a:defRPr/>
            </a:pPr>
            <a:r>
              <a:rPr lang="en-US"/>
              <a:t>If </a:t>
            </a:r>
            <a:r>
              <a:rPr lang="en-US" b="1">
                <a:solidFill>
                  <a:srgbClr val="C00000"/>
                </a:solidFill>
              </a:rPr>
              <a:t>leaf node does not have space </a:t>
            </a:r>
            <a:r>
              <a:rPr lang="en-US"/>
              <a:t>to accommodate key, we </a:t>
            </a:r>
            <a:r>
              <a:rPr lang="en-US" b="1">
                <a:solidFill>
                  <a:srgbClr val="C00000"/>
                </a:solidFill>
              </a:rPr>
              <a:t>split node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into two parts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7689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7689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76890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76890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76890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403882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/>
              <a:t>Split Node (5 way Tree, max 4 Keys)</a:t>
            </a:r>
            <a:endParaRPr/>
          </a:p>
        </p:txBody>
      </p:sp>
      <p:sp>
        <p:nvSpPr>
          <p:cNvPr id="1056167584" name="Rectangle 3"/>
          <p:cNvSpPr/>
          <p:nvPr/>
        </p:nvSpPr>
        <p:spPr bwMode="auto">
          <a:xfrm>
            <a:off x="2019300" y="1524000"/>
            <a:ext cx="2667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5,  10,  15,  20</a:t>
            </a:r>
            <a:endParaRPr/>
          </a:p>
        </p:txBody>
      </p:sp>
      <p:sp>
        <p:nvSpPr>
          <p:cNvPr id="1015555376" name="TextBox 4"/>
          <p:cNvSpPr txBox="1"/>
          <p:nvPr/>
        </p:nvSpPr>
        <p:spPr bwMode="auto">
          <a:xfrm>
            <a:off x="3124200" y="1084970"/>
            <a:ext cx="359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/>
              <a:t>P</a:t>
            </a:r>
            <a:endParaRPr/>
          </a:p>
        </p:txBody>
      </p:sp>
      <p:sp>
        <p:nvSpPr>
          <p:cNvPr id="574703680" name="TextBox 5"/>
          <p:cNvSpPr txBox="1"/>
          <p:nvPr/>
        </p:nvSpPr>
        <p:spPr bwMode="auto">
          <a:xfrm>
            <a:off x="2705100" y="2189399"/>
            <a:ext cx="1314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/>
              <a:t>Insert - 3</a:t>
            </a:r>
            <a:endParaRPr/>
          </a:p>
        </p:txBody>
      </p:sp>
      <p:sp>
        <p:nvSpPr>
          <p:cNvPr id="1909961423" name="Rectangle 6"/>
          <p:cNvSpPr/>
          <p:nvPr/>
        </p:nvSpPr>
        <p:spPr bwMode="auto">
          <a:xfrm>
            <a:off x="2019300" y="2819400"/>
            <a:ext cx="2667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3,  5,  10,  15,  20</a:t>
            </a:r>
            <a:endParaRPr/>
          </a:p>
        </p:txBody>
      </p:sp>
      <p:sp>
        <p:nvSpPr>
          <p:cNvPr id="44690109" name="TextBox 7"/>
          <p:cNvSpPr txBox="1"/>
          <p:nvPr/>
        </p:nvSpPr>
        <p:spPr bwMode="auto">
          <a:xfrm>
            <a:off x="3661775" y="3272136"/>
            <a:ext cx="1285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>
                <a:solidFill>
                  <a:srgbClr val="C00000"/>
                </a:solidFill>
              </a:rPr>
              <a:t>Overflow</a:t>
            </a:r>
            <a:endParaRPr/>
          </a:p>
        </p:txBody>
      </p:sp>
      <p:sp>
        <p:nvSpPr>
          <p:cNvPr id="522077543" name="Rectangle 11"/>
          <p:cNvSpPr/>
          <p:nvPr/>
        </p:nvSpPr>
        <p:spPr bwMode="auto">
          <a:xfrm>
            <a:off x="3009901" y="2651064"/>
            <a:ext cx="381000" cy="7779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6206224" name="Rectangle 12"/>
          <p:cNvSpPr/>
          <p:nvPr/>
        </p:nvSpPr>
        <p:spPr bwMode="auto">
          <a:xfrm>
            <a:off x="3009900" y="3962400"/>
            <a:ext cx="533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10</a:t>
            </a:r>
            <a:endParaRPr/>
          </a:p>
        </p:txBody>
      </p:sp>
      <p:sp>
        <p:nvSpPr>
          <p:cNvPr id="1760858871" name="Rectangle 13"/>
          <p:cNvSpPr/>
          <p:nvPr/>
        </p:nvSpPr>
        <p:spPr bwMode="auto">
          <a:xfrm>
            <a:off x="1752599" y="4724399"/>
            <a:ext cx="9525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3,  5</a:t>
            </a:r>
            <a:endParaRPr/>
          </a:p>
        </p:txBody>
      </p:sp>
      <p:sp>
        <p:nvSpPr>
          <p:cNvPr id="161733172" name="Rectangle 14"/>
          <p:cNvSpPr/>
          <p:nvPr/>
        </p:nvSpPr>
        <p:spPr bwMode="auto">
          <a:xfrm>
            <a:off x="3733800" y="4724399"/>
            <a:ext cx="1181099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15,  20</a:t>
            </a:r>
            <a:endParaRPr/>
          </a:p>
        </p:txBody>
      </p:sp>
      <p:cxnSp>
        <p:nvCxnSpPr>
          <p:cNvPr id="1233902331" name="Straight Arrow Connector 16"/>
          <p:cNvCxnSpPr>
            <a:stCxn id="326206224" idx="1"/>
            <a:endCxn id="1760858871" idx="0"/>
          </p:cNvCxnSpPr>
          <p:nvPr/>
        </p:nvCxnSpPr>
        <p:spPr bwMode="auto">
          <a:xfrm flipH="1">
            <a:off x="2228850" y="4191000"/>
            <a:ext cx="781050" cy="5334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6444465" name="Straight Arrow Connector 18"/>
          <p:cNvCxnSpPr>
            <a:stCxn id="326206224" idx="3"/>
            <a:endCxn id="161733172" idx="0"/>
          </p:cNvCxnSpPr>
          <p:nvPr/>
        </p:nvCxnSpPr>
        <p:spPr bwMode="auto">
          <a:xfrm>
            <a:off x="3543300" y="4191000"/>
            <a:ext cx="781050" cy="5334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7100893" name="Straight Connector 15"/>
          <p:cNvCxnSpPr/>
          <p:nvPr/>
        </p:nvCxnSpPr>
        <p:spPr bwMode="auto">
          <a:xfrm>
            <a:off x="5867399" y="1143000"/>
            <a:ext cx="0" cy="5181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2739446" name="Rectangle 17"/>
          <p:cNvSpPr/>
          <p:nvPr/>
        </p:nvSpPr>
        <p:spPr bwMode="auto">
          <a:xfrm>
            <a:off x="6934200" y="1524000"/>
            <a:ext cx="2667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1,  5,  9,  11</a:t>
            </a:r>
            <a:endParaRPr/>
          </a:p>
        </p:txBody>
      </p:sp>
      <p:sp>
        <p:nvSpPr>
          <p:cNvPr id="1114056334" name="TextBox 19"/>
          <p:cNvSpPr txBox="1"/>
          <p:nvPr/>
        </p:nvSpPr>
        <p:spPr bwMode="auto">
          <a:xfrm>
            <a:off x="6838616" y="2133601"/>
            <a:ext cx="1314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/>
              <a:t>Insert - 3</a:t>
            </a:r>
            <a:endParaRPr/>
          </a:p>
        </p:txBody>
      </p:sp>
      <p:sp>
        <p:nvSpPr>
          <p:cNvPr id="666013084" name="Rectangle 20"/>
          <p:cNvSpPr/>
          <p:nvPr/>
        </p:nvSpPr>
        <p:spPr bwMode="auto">
          <a:xfrm>
            <a:off x="6934200" y="2743200"/>
            <a:ext cx="2667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1,  3,  5,  9,  11</a:t>
            </a:r>
            <a:endParaRPr/>
          </a:p>
        </p:txBody>
      </p:sp>
      <p:sp>
        <p:nvSpPr>
          <p:cNvPr id="1646188263" name="TextBox 21"/>
          <p:cNvSpPr txBox="1"/>
          <p:nvPr/>
        </p:nvSpPr>
        <p:spPr bwMode="auto">
          <a:xfrm>
            <a:off x="8534401" y="2286001"/>
            <a:ext cx="1285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>
                <a:solidFill>
                  <a:srgbClr val="C00000"/>
                </a:solidFill>
              </a:rPr>
              <a:t>Overflow</a:t>
            </a:r>
            <a:endParaRPr/>
          </a:p>
        </p:txBody>
      </p:sp>
      <p:sp>
        <p:nvSpPr>
          <p:cNvPr id="1691250069" name="Rectangle 22"/>
          <p:cNvSpPr/>
          <p:nvPr/>
        </p:nvSpPr>
        <p:spPr bwMode="auto">
          <a:xfrm>
            <a:off x="8001000" y="2590801"/>
            <a:ext cx="381000" cy="7779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70730184" name="Rectangle 23"/>
          <p:cNvSpPr/>
          <p:nvPr/>
        </p:nvSpPr>
        <p:spPr bwMode="auto">
          <a:xfrm>
            <a:off x="8077200" y="3733800"/>
            <a:ext cx="533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5</a:t>
            </a:r>
            <a:endParaRPr/>
          </a:p>
        </p:txBody>
      </p:sp>
      <p:sp>
        <p:nvSpPr>
          <p:cNvPr id="1681037287" name="Rectangle 24"/>
          <p:cNvSpPr/>
          <p:nvPr/>
        </p:nvSpPr>
        <p:spPr bwMode="auto">
          <a:xfrm>
            <a:off x="6819900" y="4495800"/>
            <a:ext cx="9525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1,  3</a:t>
            </a:r>
            <a:endParaRPr/>
          </a:p>
        </p:txBody>
      </p:sp>
      <p:sp>
        <p:nvSpPr>
          <p:cNvPr id="220485274" name="Rectangle 25"/>
          <p:cNvSpPr/>
          <p:nvPr/>
        </p:nvSpPr>
        <p:spPr bwMode="auto">
          <a:xfrm>
            <a:off x="8801100" y="4495800"/>
            <a:ext cx="1181099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9,  11</a:t>
            </a:r>
            <a:endParaRPr lang="en-US" sz="2400" b="1"/>
          </a:p>
        </p:txBody>
      </p:sp>
      <p:cxnSp>
        <p:nvCxnSpPr>
          <p:cNvPr id="807924376" name="Straight Arrow Connector 26"/>
          <p:cNvCxnSpPr>
            <a:stCxn id="1370730184" idx="1"/>
            <a:endCxn id="1681037287" idx="0"/>
          </p:cNvCxnSpPr>
          <p:nvPr/>
        </p:nvCxnSpPr>
        <p:spPr bwMode="auto">
          <a:xfrm flipH="1">
            <a:off x="7296149" y="3962400"/>
            <a:ext cx="781050" cy="5334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417810" name="Straight Arrow Connector 27"/>
          <p:cNvCxnSpPr>
            <a:stCxn id="1370730184" idx="3"/>
            <a:endCxn id="220485274" idx="0"/>
          </p:cNvCxnSpPr>
          <p:nvPr/>
        </p:nvCxnSpPr>
        <p:spPr bwMode="auto">
          <a:xfrm>
            <a:off x="8610600" y="3962400"/>
            <a:ext cx="781050" cy="5334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55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167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703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996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90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077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206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90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233902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858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44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6444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3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00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7100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3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05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1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18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25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691250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73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92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807924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03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7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5417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485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6167584" grpId="0" animBg="1"/>
      <p:bldP spid="1015555376" grpId="0"/>
      <p:bldP spid="574703680" grpId="0"/>
      <p:bldP spid="1909961423" grpId="0" animBg="1"/>
      <p:bldP spid="44690109" grpId="0"/>
      <p:bldP spid="522077543" grpId="0" animBg="1"/>
      <p:bldP spid="326206224" grpId="0" animBg="1"/>
      <p:bldP spid="1760858871" grpId="0" animBg="1"/>
      <p:bldP spid="161733172" grpId="0" animBg="1"/>
      <p:bldP spid="922739446" grpId="0" animBg="1"/>
      <p:bldP spid="1114056334" grpId="0"/>
      <p:bldP spid="666013084" grpId="0" animBg="1"/>
      <p:bldP spid="1646188263" grpId="0"/>
      <p:bldP spid="1691250069" grpId="0" animBg="1"/>
      <p:bldP spid="1370730184" grpId="0" animBg="1"/>
      <p:bldP spid="1681037287" grpId="0" animBg="1"/>
      <p:bldP spid="22048527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47045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Split Node (5 way Tree, max 4 Keys)</a:t>
            </a:r>
            <a:endParaRPr/>
          </a:p>
        </p:txBody>
      </p:sp>
      <p:sp>
        <p:nvSpPr>
          <p:cNvPr id="731107180" name="Rectangle 15"/>
          <p:cNvSpPr/>
          <p:nvPr/>
        </p:nvSpPr>
        <p:spPr bwMode="auto">
          <a:xfrm>
            <a:off x="4724399" y="1143000"/>
            <a:ext cx="2667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10,  20,  30,  40</a:t>
            </a:r>
            <a:endParaRPr/>
          </a:p>
        </p:txBody>
      </p:sp>
      <p:sp>
        <p:nvSpPr>
          <p:cNvPr id="2107049784" name="Rectangle 16"/>
          <p:cNvSpPr/>
          <p:nvPr/>
        </p:nvSpPr>
        <p:spPr bwMode="auto">
          <a:xfrm>
            <a:off x="1905000" y="2057400"/>
            <a:ext cx="152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3,  5,  6,  8</a:t>
            </a:r>
            <a:endParaRPr/>
          </a:p>
        </p:txBody>
      </p:sp>
      <p:sp>
        <p:nvSpPr>
          <p:cNvPr id="1566764415" name="Rectangle 17"/>
          <p:cNvSpPr/>
          <p:nvPr/>
        </p:nvSpPr>
        <p:spPr bwMode="auto">
          <a:xfrm>
            <a:off x="3657600" y="2057400"/>
            <a:ext cx="1219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12,  14</a:t>
            </a:r>
            <a:endParaRPr lang="en-US" sz="2400" b="1"/>
          </a:p>
        </p:txBody>
      </p:sp>
      <p:sp>
        <p:nvSpPr>
          <p:cNvPr id="676734929" name="Rectangle 18"/>
          <p:cNvSpPr/>
          <p:nvPr/>
        </p:nvSpPr>
        <p:spPr bwMode="auto">
          <a:xfrm>
            <a:off x="5257800" y="2057400"/>
            <a:ext cx="1828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21,  25,  27</a:t>
            </a:r>
            <a:endParaRPr lang="en-US" sz="2400" b="1"/>
          </a:p>
        </p:txBody>
      </p:sp>
      <p:sp>
        <p:nvSpPr>
          <p:cNvPr id="945644277" name="Rectangle 19"/>
          <p:cNvSpPr/>
          <p:nvPr/>
        </p:nvSpPr>
        <p:spPr bwMode="auto">
          <a:xfrm>
            <a:off x="7391400" y="2057400"/>
            <a:ext cx="1219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31,  35</a:t>
            </a:r>
            <a:endParaRPr lang="en-US" sz="2400" b="1"/>
          </a:p>
        </p:txBody>
      </p:sp>
      <p:sp>
        <p:nvSpPr>
          <p:cNvPr id="706068762" name="Rectangle 20"/>
          <p:cNvSpPr/>
          <p:nvPr/>
        </p:nvSpPr>
        <p:spPr bwMode="auto">
          <a:xfrm>
            <a:off x="8839200" y="2057400"/>
            <a:ext cx="1600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42,  45,  48</a:t>
            </a:r>
            <a:endParaRPr lang="en-US" sz="2400" b="1"/>
          </a:p>
        </p:txBody>
      </p:sp>
      <p:cxnSp>
        <p:nvCxnSpPr>
          <p:cNvPr id="1581657631" name="Straight Arrow Connector 22"/>
          <p:cNvCxnSpPr>
            <a:stCxn id="731107180" idx="1"/>
            <a:endCxn id="2107049784" idx="0"/>
          </p:cNvCxnSpPr>
          <p:nvPr/>
        </p:nvCxnSpPr>
        <p:spPr bwMode="auto">
          <a:xfrm flipH="1">
            <a:off x="2667000" y="1371600"/>
            <a:ext cx="2057400" cy="6858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68041102" name="Straight Arrow Connector 24"/>
          <p:cNvCxnSpPr>
            <a:endCxn id="1566764415" idx="0"/>
          </p:cNvCxnSpPr>
          <p:nvPr/>
        </p:nvCxnSpPr>
        <p:spPr bwMode="auto">
          <a:xfrm flipH="1">
            <a:off x="4267200" y="1600200"/>
            <a:ext cx="1219200" cy="4572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60667598" name="Straight Arrow Connector 26"/>
          <p:cNvCxnSpPr>
            <a:stCxn id="731107180" idx="2"/>
            <a:endCxn id="676734929" idx="0"/>
          </p:cNvCxnSpPr>
          <p:nvPr/>
        </p:nvCxnSpPr>
        <p:spPr bwMode="auto">
          <a:xfrm>
            <a:off x="6057900" y="1600200"/>
            <a:ext cx="114300" cy="4572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12765835" name="Straight Arrow Connector 28"/>
          <p:cNvCxnSpPr>
            <a:endCxn id="945644277" idx="0"/>
          </p:cNvCxnSpPr>
          <p:nvPr/>
        </p:nvCxnSpPr>
        <p:spPr bwMode="auto">
          <a:xfrm>
            <a:off x="6629400" y="1600200"/>
            <a:ext cx="1371600" cy="4572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02852775" name="Straight Arrow Connector 30"/>
          <p:cNvCxnSpPr>
            <a:stCxn id="731107180" idx="3"/>
            <a:endCxn id="706068762" idx="0"/>
          </p:cNvCxnSpPr>
          <p:nvPr/>
        </p:nvCxnSpPr>
        <p:spPr bwMode="auto">
          <a:xfrm>
            <a:off x="7391400" y="1371600"/>
            <a:ext cx="2247900" cy="6858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39902197" name="Rectangle 31"/>
          <p:cNvSpPr/>
          <p:nvPr/>
        </p:nvSpPr>
        <p:spPr bwMode="auto">
          <a:xfrm>
            <a:off x="4724399" y="4038600"/>
            <a:ext cx="2667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10,  20,  30,  40</a:t>
            </a:r>
            <a:endParaRPr/>
          </a:p>
        </p:txBody>
      </p:sp>
      <p:sp>
        <p:nvSpPr>
          <p:cNvPr id="607583479" name="Rectangle 32"/>
          <p:cNvSpPr/>
          <p:nvPr/>
        </p:nvSpPr>
        <p:spPr bwMode="auto">
          <a:xfrm>
            <a:off x="1676400" y="4953000"/>
            <a:ext cx="152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3,  5,  6,  8</a:t>
            </a:r>
            <a:endParaRPr/>
          </a:p>
        </p:txBody>
      </p:sp>
      <p:sp>
        <p:nvSpPr>
          <p:cNvPr id="473616369" name="Rectangle 33"/>
          <p:cNvSpPr/>
          <p:nvPr/>
        </p:nvSpPr>
        <p:spPr bwMode="auto">
          <a:xfrm>
            <a:off x="3352800" y="4953000"/>
            <a:ext cx="1219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12,  14</a:t>
            </a:r>
            <a:endParaRPr lang="en-US" sz="2400" b="1"/>
          </a:p>
        </p:txBody>
      </p:sp>
      <p:sp>
        <p:nvSpPr>
          <p:cNvPr id="1249790187" name="Rectangle 34"/>
          <p:cNvSpPr/>
          <p:nvPr/>
        </p:nvSpPr>
        <p:spPr bwMode="auto">
          <a:xfrm>
            <a:off x="4800600" y="4953000"/>
            <a:ext cx="1828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21,  25,  27</a:t>
            </a:r>
            <a:endParaRPr lang="en-US" sz="2400" b="1"/>
          </a:p>
        </p:txBody>
      </p:sp>
      <p:sp>
        <p:nvSpPr>
          <p:cNvPr id="622006002" name="Rectangle 35"/>
          <p:cNvSpPr/>
          <p:nvPr/>
        </p:nvSpPr>
        <p:spPr bwMode="auto">
          <a:xfrm>
            <a:off x="6858000" y="4953000"/>
            <a:ext cx="1752599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IN" sz="2400" b="1"/>
              <a:t>  31,  35</a:t>
            </a:r>
            <a:endParaRPr lang="en-US" sz="2400" b="1"/>
          </a:p>
        </p:txBody>
      </p:sp>
      <p:sp>
        <p:nvSpPr>
          <p:cNvPr id="464577827" name="Rectangle 36"/>
          <p:cNvSpPr/>
          <p:nvPr/>
        </p:nvSpPr>
        <p:spPr bwMode="auto">
          <a:xfrm>
            <a:off x="8839200" y="4953000"/>
            <a:ext cx="1600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42,  45,  48</a:t>
            </a:r>
            <a:endParaRPr lang="en-US" sz="2400" b="1"/>
          </a:p>
        </p:txBody>
      </p:sp>
      <p:cxnSp>
        <p:nvCxnSpPr>
          <p:cNvPr id="1759956232" name="Straight Arrow Connector 37"/>
          <p:cNvCxnSpPr>
            <a:stCxn id="739902197" idx="1"/>
            <a:endCxn id="607583479" idx="0"/>
          </p:cNvCxnSpPr>
          <p:nvPr/>
        </p:nvCxnSpPr>
        <p:spPr bwMode="auto">
          <a:xfrm flipH="1">
            <a:off x="2438400" y="4267200"/>
            <a:ext cx="2286000" cy="6858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98716335" name="Straight Arrow Connector 38"/>
          <p:cNvCxnSpPr>
            <a:endCxn id="473616369" idx="0"/>
          </p:cNvCxnSpPr>
          <p:nvPr/>
        </p:nvCxnSpPr>
        <p:spPr bwMode="auto">
          <a:xfrm flipH="1">
            <a:off x="3962400" y="4495800"/>
            <a:ext cx="1219200" cy="4572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55199450" name="Straight Arrow Connector 39"/>
          <p:cNvCxnSpPr>
            <a:stCxn id="739902197" idx="2"/>
            <a:endCxn id="1249790187" idx="0"/>
          </p:cNvCxnSpPr>
          <p:nvPr/>
        </p:nvCxnSpPr>
        <p:spPr bwMode="auto">
          <a:xfrm flipH="1">
            <a:off x="5715000" y="4495800"/>
            <a:ext cx="342900" cy="4572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10232788" name="Straight Arrow Connector 40"/>
          <p:cNvCxnSpPr>
            <a:endCxn id="622006002" idx="0"/>
          </p:cNvCxnSpPr>
          <p:nvPr/>
        </p:nvCxnSpPr>
        <p:spPr bwMode="auto">
          <a:xfrm>
            <a:off x="6629400" y="4495800"/>
            <a:ext cx="1104900" cy="4572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13813829" name="Straight Arrow Connector 41"/>
          <p:cNvCxnSpPr>
            <a:stCxn id="739902197" idx="3"/>
            <a:endCxn id="464577827" idx="0"/>
          </p:cNvCxnSpPr>
          <p:nvPr/>
        </p:nvCxnSpPr>
        <p:spPr bwMode="auto">
          <a:xfrm>
            <a:off x="7391400" y="4267200"/>
            <a:ext cx="2247900" cy="6858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46395295" name="TextBox 42"/>
          <p:cNvSpPr txBox="1"/>
          <p:nvPr/>
        </p:nvSpPr>
        <p:spPr bwMode="auto">
          <a:xfrm>
            <a:off x="5238416" y="3043536"/>
            <a:ext cx="14702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/>
              <a:t>Insert - 38</a:t>
            </a:r>
            <a:endParaRPr/>
          </a:p>
        </p:txBody>
      </p:sp>
      <p:sp>
        <p:nvSpPr>
          <p:cNvPr id="1902495150" name="TextBox 45"/>
          <p:cNvSpPr txBox="1"/>
          <p:nvPr/>
        </p:nvSpPr>
        <p:spPr bwMode="auto">
          <a:xfrm>
            <a:off x="7924801" y="4953001"/>
            <a:ext cx="5757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sz="2400" b="1">
                <a:solidFill>
                  <a:srgbClr val="FFFF00"/>
                </a:solidFill>
              </a:rPr>
              <a:t>,38</a:t>
            </a:r>
            <a:endParaRPr lang="en-US" sz="2400" b="1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0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7049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4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734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64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068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657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04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667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765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85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395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90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616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9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00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5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956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1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199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23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81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58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495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1107180" grpId="0" animBg="1"/>
      <p:bldP spid="2107049784" grpId="0" animBg="1"/>
      <p:bldP spid="1566764415" grpId="0" animBg="1"/>
      <p:bldP spid="676734929" grpId="0" animBg="1"/>
      <p:bldP spid="945644277" grpId="0" animBg="1"/>
      <p:bldP spid="706068762" grpId="0" animBg="1"/>
      <p:bldP spid="739902197" grpId="0" animBg="1"/>
      <p:bldP spid="607583479" grpId="0" animBg="1"/>
      <p:bldP spid="473616369" grpId="0" animBg="1"/>
      <p:bldP spid="1249790187" grpId="0" animBg="1"/>
      <p:bldP spid="622006002" grpId="0" animBg="1"/>
      <p:bldP spid="464577827" grpId="0" animBg="1"/>
      <p:bldP spid="114639529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9554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Split Node (5 way Tree, max 4 Keys)</a:t>
            </a:r>
            <a:endParaRPr/>
          </a:p>
        </p:txBody>
      </p:sp>
      <p:sp>
        <p:nvSpPr>
          <p:cNvPr id="510222030" name="Rectangle 14"/>
          <p:cNvSpPr/>
          <p:nvPr/>
        </p:nvSpPr>
        <p:spPr bwMode="auto">
          <a:xfrm>
            <a:off x="4724399" y="990600"/>
            <a:ext cx="2667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10,  20,  30,  40</a:t>
            </a:r>
            <a:endParaRPr/>
          </a:p>
        </p:txBody>
      </p:sp>
      <p:sp>
        <p:nvSpPr>
          <p:cNvPr id="1022810563" name="Rectangle 15"/>
          <p:cNvSpPr/>
          <p:nvPr/>
        </p:nvSpPr>
        <p:spPr bwMode="auto">
          <a:xfrm>
            <a:off x="1676400" y="1905000"/>
            <a:ext cx="152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3,  5,  6,  8</a:t>
            </a:r>
            <a:endParaRPr/>
          </a:p>
        </p:txBody>
      </p:sp>
      <p:sp>
        <p:nvSpPr>
          <p:cNvPr id="914454459" name="Rectangle 16"/>
          <p:cNvSpPr/>
          <p:nvPr/>
        </p:nvSpPr>
        <p:spPr bwMode="auto">
          <a:xfrm>
            <a:off x="3352800" y="1905000"/>
            <a:ext cx="1219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12,  14</a:t>
            </a:r>
            <a:endParaRPr lang="en-US" sz="2400" b="1"/>
          </a:p>
        </p:txBody>
      </p:sp>
      <p:sp>
        <p:nvSpPr>
          <p:cNvPr id="751694456" name="Rectangle 17"/>
          <p:cNvSpPr/>
          <p:nvPr/>
        </p:nvSpPr>
        <p:spPr bwMode="auto">
          <a:xfrm>
            <a:off x="4800600" y="1905000"/>
            <a:ext cx="1828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21,  25,  27</a:t>
            </a:r>
            <a:endParaRPr lang="en-US" sz="2400" b="1"/>
          </a:p>
        </p:txBody>
      </p:sp>
      <p:sp>
        <p:nvSpPr>
          <p:cNvPr id="1087166182" name="Rectangle 18"/>
          <p:cNvSpPr/>
          <p:nvPr/>
        </p:nvSpPr>
        <p:spPr bwMode="auto">
          <a:xfrm>
            <a:off x="6858000" y="1905000"/>
            <a:ext cx="1752599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IN" sz="2400" b="1"/>
              <a:t>  31,  35,  38</a:t>
            </a:r>
            <a:endParaRPr lang="en-US" sz="2400" b="1"/>
          </a:p>
        </p:txBody>
      </p:sp>
      <p:sp>
        <p:nvSpPr>
          <p:cNvPr id="970809885" name="Rectangle 19"/>
          <p:cNvSpPr/>
          <p:nvPr/>
        </p:nvSpPr>
        <p:spPr bwMode="auto">
          <a:xfrm>
            <a:off x="8839200" y="1905000"/>
            <a:ext cx="1600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42,  45,  48</a:t>
            </a:r>
            <a:endParaRPr lang="en-US" sz="2400" b="1"/>
          </a:p>
        </p:txBody>
      </p:sp>
      <p:cxnSp>
        <p:nvCxnSpPr>
          <p:cNvPr id="1352046786" name="Straight Arrow Connector 20"/>
          <p:cNvCxnSpPr>
            <a:stCxn id="510222030" idx="1"/>
            <a:endCxn id="1022810563" idx="0"/>
          </p:cNvCxnSpPr>
          <p:nvPr/>
        </p:nvCxnSpPr>
        <p:spPr bwMode="auto">
          <a:xfrm flipH="1">
            <a:off x="2438400" y="1219200"/>
            <a:ext cx="2286000" cy="6858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24455583" name="Straight Arrow Connector 21"/>
          <p:cNvCxnSpPr>
            <a:endCxn id="914454459" idx="0"/>
          </p:cNvCxnSpPr>
          <p:nvPr/>
        </p:nvCxnSpPr>
        <p:spPr bwMode="auto">
          <a:xfrm flipH="1">
            <a:off x="3962400" y="1447800"/>
            <a:ext cx="1219200" cy="4572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43328182" name="Straight Arrow Connector 22"/>
          <p:cNvCxnSpPr>
            <a:stCxn id="510222030" idx="2"/>
            <a:endCxn id="751694456" idx="0"/>
          </p:cNvCxnSpPr>
          <p:nvPr/>
        </p:nvCxnSpPr>
        <p:spPr bwMode="auto">
          <a:xfrm flipH="1">
            <a:off x="5715000" y="1447800"/>
            <a:ext cx="342900" cy="4572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47778009" name="Straight Arrow Connector 23"/>
          <p:cNvCxnSpPr>
            <a:endCxn id="1087166182" idx="0"/>
          </p:cNvCxnSpPr>
          <p:nvPr/>
        </p:nvCxnSpPr>
        <p:spPr bwMode="auto">
          <a:xfrm>
            <a:off x="6629400" y="1447800"/>
            <a:ext cx="1104900" cy="4572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26178084" name="Straight Arrow Connector 24"/>
          <p:cNvCxnSpPr>
            <a:stCxn id="510222030" idx="3"/>
            <a:endCxn id="970809885" idx="0"/>
          </p:cNvCxnSpPr>
          <p:nvPr/>
        </p:nvCxnSpPr>
        <p:spPr bwMode="auto">
          <a:xfrm>
            <a:off x="7391400" y="1219200"/>
            <a:ext cx="2247900" cy="6858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22900644" name="TextBox 27"/>
          <p:cNvSpPr txBox="1"/>
          <p:nvPr/>
        </p:nvSpPr>
        <p:spPr bwMode="auto">
          <a:xfrm>
            <a:off x="5520361" y="2664767"/>
            <a:ext cx="1151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/>
              <a:t>Insert </a:t>
            </a:r>
            <a:r>
              <a:rPr lang="en-US" sz="2400" b="1">
                <a:solidFill>
                  <a:srgbClr val="FF0000"/>
                </a:solidFill>
              </a:rPr>
              <a:t>7</a:t>
            </a:r>
            <a:endParaRPr/>
          </a:p>
        </p:txBody>
      </p:sp>
      <p:sp>
        <p:nvSpPr>
          <p:cNvPr id="955952853" name="Rectangle 28"/>
          <p:cNvSpPr/>
          <p:nvPr/>
        </p:nvSpPr>
        <p:spPr bwMode="auto">
          <a:xfrm>
            <a:off x="4876800" y="3429000"/>
            <a:ext cx="2667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10,  20,  30,  40</a:t>
            </a:r>
            <a:endParaRPr/>
          </a:p>
        </p:txBody>
      </p:sp>
      <p:sp>
        <p:nvSpPr>
          <p:cNvPr id="927412102" name="Rectangle 29"/>
          <p:cNvSpPr/>
          <p:nvPr/>
        </p:nvSpPr>
        <p:spPr bwMode="auto">
          <a:xfrm>
            <a:off x="1676400" y="4343400"/>
            <a:ext cx="1676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3, 5, 6,   , 8</a:t>
            </a:r>
            <a:endParaRPr/>
          </a:p>
        </p:txBody>
      </p:sp>
      <p:sp>
        <p:nvSpPr>
          <p:cNvPr id="572331996" name="Rectangle 30"/>
          <p:cNvSpPr/>
          <p:nvPr/>
        </p:nvSpPr>
        <p:spPr bwMode="auto">
          <a:xfrm>
            <a:off x="3657600" y="4343400"/>
            <a:ext cx="1219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12,  14</a:t>
            </a:r>
            <a:endParaRPr lang="en-US" sz="2400" b="1"/>
          </a:p>
        </p:txBody>
      </p:sp>
      <p:sp>
        <p:nvSpPr>
          <p:cNvPr id="970489855" name="Rectangle 31"/>
          <p:cNvSpPr/>
          <p:nvPr/>
        </p:nvSpPr>
        <p:spPr bwMode="auto">
          <a:xfrm>
            <a:off x="4953000" y="4343400"/>
            <a:ext cx="1828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21,  25,  27</a:t>
            </a:r>
            <a:endParaRPr lang="en-US" sz="2400" b="1"/>
          </a:p>
        </p:txBody>
      </p:sp>
      <p:sp>
        <p:nvSpPr>
          <p:cNvPr id="1196408486" name="Rectangle 32"/>
          <p:cNvSpPr/>
          <p:nvPr/>
        </p:nvSpPr>
        <p:spPr bwMode="auto">
          <a:xfrm>
            <a:off x="7010399" y="4343400"/>
            <a:ext cx="1752599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IN" sz="2400" b="1"/>
              <a:t>  31,  35,  38</a:t>
            </a:r>
            <a:endParaRPr lang="en-US" sz="2400" b="1"/>
          </a:p>
        </p:txBody>
      </p:sp>
      <p:sp>
        <p:nvSpPr>
          <p:cNvPr id="1362447281" name="Rectangle 33"/>
          <p:cNvSpPr/>
          <p:nvPr/>
        </p:nvSpPr>
        <p:spPr bwMode="auto">
          <a:xfrm>
            <a:off x="8991600" y="4343400"/>
            <a:ext cx="1600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42,  45,  48</a:t>
            </a:r>
            <a:endParaRPr lang="en-US" sz="2400" b="1"/>
          </a:p>
        </p:txBody>
      </p:sp>
      <p:cxnSp>
        <p:nvCxnSpPr>
          <p:cNvPr id="189819695" name="Straight Arrow Connector 34"/>
          <p:cNvCxnSpPr>
            <a:stCxn id="955952853" idx="1"/>
            <a:endCxn id="927412102" idx="0"/>
          </p:cNvCxnSpPr>
          <p:nvPr/>
        </p:nvCxnSpPr>
        <p:spPr bwMode="auto">
          <a:xfrm flipH="1">
            <a:off x="2514600" y="3657600"/>
            <a:ext cx="2362199" cy="6858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80444908" name="Straight Arrow Connector 35"/>
          <p:cNvCxnSpPr>
            <a:endCxn id="572331996" idx="0"/>
          </p:cNvCxnSpPr>
          <p:nvPr/>
        </p:nvCxnSpPr>
        <p:spPr bwMode="auto">
          <a:xfrm flipH="1">
            <a:off x="4267200" y="3886200"/>
            <a:ext cx="1219200" cy="4572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5322653" name="Straight Arrow Connector 36"/>
          <p:cNvCxnSpPr>
            <a:stCxn id="955952853" idx="2"/>
            <a:endCxn id="970489855" idx="0"/>
          </p:cNvCxnSpPr>
          <p:nvPr/>
        </p:nvCxnSpPr>
        <p:spPr bwMode="auto">
          <a:xfrm flipH="1">
            <a:off x="5867399" y="3886200"/>
            <a:ext cx="342900" cy="4572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43179144" name="Straight Arrow Connector 37"/>
          <p:cNvCxnSpPr>
            <a:endCxn id="1196408486" idx="0"/>
          </p:cNvCxnSpPr>
          <p:nvPr/>
        </p:nvCxnSpPr>
        <p:spPr bwMode="auto">
          <a:xfrm>
            <a:off x="6781800" y="3886200"/>
            <a:ext cx="1104900" cy="4572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94702906" name="Straight Arrow Connector 38"/>
          <p:cNvCxnSpPr>
            <a:stCxn id="955952853" idx="3"/>
            <a:endCxn id="1362447281" idx="0"/>
          </p:cNvCxnSpPr>
          <p:nvPr/>
        </p:nvCxnSpPr>
        <p:spPr bwMode="auto">
          <a:xfrm>
            <a:off x="7543800" y="3657600"/>
            <a:ext cx="2247900" cy="685800"/>
          </a:xfrm>
          <a:prstGeom prst="straightConnector1">
            <a:avLst/>
          </a:prstGeom>
          <a:ln w="28575">
            <a:solidFill>
              <a:srgbClr val="B84742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75369381" name="TextBox 40"/>
          <p:cNvSpPr txBox="1"/>
          <p:nvPr/>
        </p:nvSpPr>
        <p:spPr bwMode="auto">
          <a:xfrm>
            <a:off x="2631642" y="434340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sz="2400" b="1">
                <a:solidFill>
                  <a:srgbClr val="FFFF00"/>
                </a:solidFill>
              </a:rPr>
              <a:t>7</a:t>
            </a:r>
            <a:endParaRPr lang="en-US" sz="2400" b="1">
              <a:solidFill>
                <a:srgbClr val="FFFF00"/>
              </a:solidFill>
            </a:endParaRPr>
          </a:p>
        </p:txBody>
      </p:sp>
      <p:sp>
        <p:nvSpPr>
          <p:cNvPr id="732946689" name="TextBox 41"/>
          <p:cNvSpPr txBox="1"/>
          <p:nvPr/>
        </p:nvSpPr>
        <p:spPr bwMode="auto">
          <a:xfrm>
            <a:off x="1676401" y="4961982"/>
            <a:ext cx="1285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>
                <a:solidFill>
                  <a:srgbClr val="FF0000"/>
                </a:solidFill>
              </a:rPr>
              <a:t>Overflow</a:t>
            </a:r>
            <a:endParaRPr/>
          </a:p>
        </p:txBody>
      </p:sp>
      <p:sp>
        <p:nvSpPr>
          <p:cNvPr id="1092380565" name="Rectangle 42"/>
          <p:cNvSpPr/>
          <p:nvPr/>
        </p:nvSpPr>
        <p:spPr bwMode="auto">
          <a:xfrm>
            <a:off x="2362199" y="4038601"/>
            <a:ext cx="269442" cy="7779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22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5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9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16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80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46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45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2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77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7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810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900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952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33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489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40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447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19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444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322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79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702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41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536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10" fill="hold"/>
                                        <p:tgtEl>
                                          <p:spTgt spid="9274121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3" dur="10" fill="hold"/>
                                        <p:tgtEl>
                                          <p:spTgt spid="9274121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10" fill="hold"/>
                                        <p:tgtEl>
                                          <p:spTgt spid="9274121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94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380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0222030" grpId="0" animBg="1"/>
      <p:bldP spid="1022810563" grpId="0" animBg="1"/>
      <p:bldP spid="914454459" grpId="0" animBg="1"/>
      <p:bldP spid="751694456" grpId="0" animBg="1"/>
      <p:bldP spid="1087166182" grpId="0" animBg="1"/>
      <p:bldP spid="970809885" grpId="0" animBg="1"/>
      <p:bldP spid="1922900644" grpId="0"/>
      <p:bldP spid="955952853" grpId="0" animBg="1"/>
      <p:bldP spid="927412102" grpId="0" animBg="1"/>
      <p:bldP spid="572331996" grpId="0" animBg="1"/>
      <p:bldP spid="970489855" grpId="0" animBg="1"/>
      <p:bldP spid="1196408486" grpId="0" animBg="1"/>
      <p:bldP spid="1362447281" grpId="0" animBg="1"/>
      <p:bldP spid="1775369381" grpId="0"/>
      <p:bldP spid="732946689" grpId="0"/>
      <p:bldP spid="109238056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8054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Split Node (5 way Tree, max 4 Keys)</a:t>
            </a:r>
            <a:endParaRPr/>
          </a:p>
        </p:txBody>
      </p:sp>
      <p:sp>
        <p:nvSpPr>
          <p:cNvPr id="191803039" name="Rectangle 3"/>
          <p:cNvSpPr/>
          <p:nvPr/>
        </p:nvSpPr>
        <p:spPr bwMode="auto">
          <a:xfrm>
            <a:off x="4876800" y="1066800"/>
            <a:ext cx="2667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   10,  20,  30,  40</a:t>
            </a:r>
            <a:endParaRPr/>
          </a:p>
        </p:txBody>
      </p:sp>
      <p:sp>
        <p:nvSpPr>
          <p:cNvPr id="888218484" name="Rectangle 4"/>
          <p:cNvSpPr/>
          <p:nvPr/>
        </p:nvSpPr>
        <p:spPr bwMode="auto">
          <a:xfrm>
            <a:off x="1676400" y="1981200"/>
            <a:ext cx="838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3, 5</a:t>
            </a:r>
            <a:endParaRPr/>
          </a:p>
        </p:txBody>
      </p:sp>
      <p:sp>
        <p:nvSpPr>
          <p:cNvPr id="217083202" name="Rectangle 5"/>
          <p:cNvSpPr/>
          <p:nvPr/>
        </p:nvSpPr>
        <p:spPr bwMode="auto">
          <a:xfrm>
            <a:off x="3657600" y="1981200"/>
            <a:ext cx="1219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12,  14</a:t>
            </a:r>
            <a:endParaRPr lang="en-US" sz="2400" b="1"/>
          </a:p>
        </p:txBody>
      </p:sp>
      <p:sp>
        <p:nvSpPr>
          <p:cNvPr id="1944086523" name="Rectangle 6"/>
          <p:cNvSpPr/>
          <p:nvPr/>
        </p:nvSpPr>
        <p:spPr bwMode="auto">
          <a:xfrm>
            <a:off x="4953000" y="1981200"/>
            <a:ext cx="1828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21,  25,  27</a:t>
            </a:r>
            <a:endParaRPr lang="en-US" sz="2400" b="1"/>
          </a:p>
        </p:txBody>
      </p:sp>
      <p:sp>
        <p:nvSpPr>
          <p:cNvPr id="170923384" name="Rectangle 7"/>
          <p:cNvSpPr/>
          <p:nvPr/>
        </p:nvSpPr>
        <p:spPr bwMode="auto">
          <a:xfrm>
            <a:off x="7010399" y="1981200"/>
            <a:ext cx="1752599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IN" sz="2400" b="1"/>
              <a:t>  31,  35,  38</a:t>
            </a:r>
            <a:endParaRPr lang="en-US" sz="2400" b="1"/>
          </a:p>
        </p:txBody>
      </p:sp>
      <p:sp>
        <p:nvSpPr>
          <p:cNvPr id="1144415415" name="Rectangle 8"/>
          <p:cNvSpPr/>
          <p:nvPr/>
        </p:nvSpPr>
        <p:spPr bwMode="auto">
          <a:xfrm>
            <a:off x="8991600" y="1981200"/>
            <a:ext cx="1600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42,  45,  48</a:t>
            </a:r>
            <a:endParaRPr lang="en-US" sz="2400" b="1"/>
          </a:p>
        </p:txBody>
      </p:sp>
      <p:cxnSp>
        <p:nvCxnSpPr>
          <p:cNvPr id="816585023" name="Straight Arrow Connector 9"/>
          <p:cNvCxnSpPr>
            <a:stCxn id="191803039" idx="1"/>
            <a:endCxn id="888218484" idx="0"/>
          </p:cNvCxnSpPr>
          <p:nvPr/>
        </p:nvCxnSpPr>
        <p:spPr bwMode="auto">
          <a:xfrm flipH="1">
            <a:off x="2095500" y="1295400"/>
            <a:ext cx="2781300" cy="6858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53208917" name="Straight Arrow Connector 10"/>
          <p:cNvCxnSpPr>
            <a:endCxn id="217083202" idx="0"/>
          </p:cNvCxnSpPr>
          <p:nvPr/>
        </p:nvCxnSpPr>
        <p:spPr bwMode="auto">
          <a:xfrm flipH="1">
            <a:off x="4267200" y="1524000"/>
            <a:ext cx="1447800" cy="4572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3687256" name="Straight Arrow Connector 11"/>
          <p:cNvCxnSpPr>
            <a:stCxn id="191803039" idx="2"/>
            <a:endCxn id="1944086523" idx="0"/>
          </p:cNvCxnSpPr>
          <p:nvPr/>
        </p:nvCxnSpPr>
        <p:spPr bwMode="auto">
          <a:xfrm flipH="1">
            <a:off x="5867399" y="1524000"/>
            <a:ext cx="342900" cy="4572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03336954" name="Straight Arrow Connector 12"/>
          <p:cNvCxnSpPr>
            <a:endCxn id="170923384" idx="0"/>
          </p:cNvCxnSpPr>
          <p:nvPr/>
        </p:nvCxnSpPr>
        <p:spPr bwMode="auto">
          <a:xfrm>
            <a:off x="6781800" y="1524000"/>
            <a:ext cx="1104900" cy="4572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84507960" name="Straight Arrow Connector 13"/>
          <p:cNvCxnSpPr>
            <a:stCxn id="191803039" idx="3"/>
            <a:endCxn id="1144415415" idx="0"/>
          </p:cNvCxnSpPr>
          <p:nvPr/>
        </p:nvCxnSpPr>
        <p:spPr bwMode="auto">
          <a:xfrm>
            <a:off x="7543800" y="1295400"/>
            <a:ext cx="2247900" cy="6858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90712511" name="TextBox 14"/>
          <p:cNvSpPr txBox="1"/>
          <p:nvPr/>
        </p:nvSpPr>
        <p:spPr bwMode="auto">
          <a:xfrm>
            <a:off x="4993842" y="1066801"/>
            <a:ext cx="4892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IN" sz="2400" b="1">
                <a:solidFill>
                  <a:srgbClr val="FFFF00"/>
                </a:solidFill>
              </a:rPr>
              <a:t>6, </a:t>
            </a:r>
            <a:endParaRPr lang="en-US" sz="2400" b="1">
              <a:solidFill>
                <a:srgbClr val="FFFF00"/>
              </a:solidFill>
            </a:endParaRPr>
          </a:p>
        </p:txBody>
      </p:sp>
      <p:sp>
        <p:nvSpPr>
          <p:cNvPr id="1111061072" name="TextBox 15"/>
          <p:cNvSpPr txBox="1"/>
          <p:nvPr/>
        </p:nvSpPr>
        <p:spPr bwMode="auto">
          <a:xfrm>
            <a:off x="7624175" y="990601"/>
            <a:ext cx="1285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>
                <a:solidFill>
                  <a:srgbClr val="FF0000"/>
                </a:solidFill>
              </a:rPr>
              <a:t>Overflow</a:t>
            </a:r>
            <a:endParaRPr/>
          </a:p>
        </p:txBody>
      </p:sp>
      <p:sp>
        <p:nvSpPr>
          <p:cNvPr id="302613611" name="Rectangle 16"/>
          <p:cNvSpPr/>
          <p:nvPr/>
        </p:nvSpPr>
        <p:spPr bwMode="auto">
          <a:xfrm>
            <a:off x="5902758" y="963707"/>
            <a:ext cx="307542" cy="6477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31776008" name="Rectangle 19"/>
          <p:cNvSpPr/>
          <p:nvPr/>
        </p:nvSpPr>
        <p:spPr bwMode="auto">
          <a:xfrm>
            <a:off x="3886200" y="5131525"/>
            <a:ext cx="1219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12,  14</a:t>
            </a:r>
            <a:endParaRPr lang="en-US" sz="2400" b="1"/>
          </a:p>
        </p:txBody>
      </p:sp>
      <p:sp>
        <p:nvSpPr>
          <p:cNvPr id="281755439" name="Rectangle 20"/>
          <p:cNvSpPr/>
          <p:nvPr/>
        </p:nvSpPr>
        <p:spPr bwMode="auto">
          <a:xfrm>
            <a:off x="5181600" y="5131525"/>
            <a:ext cx="1828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21,  25,  27</a:t>
            </a:r>
            <a:endParaRPr lang="en-US" sz="2400" b="1"/>
          </a:p>
        </p:txBody>
      </p:sp>
      <p:sp>
        <p:nvSpPr>
          <p:cNvPr id="1862303182" name="Rectangle 21"/>
          <p:cNvSpPr/>
          <p:nvPr/>
        </p:nvSpPr>
        <p:spPr bwMode="auto">
          <a:xfrm>
            <a:off x="7086600" y="5131525"/>
            <a:ext cx="1752599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IN" sz="2400" b="1"/>
              <a:t>  31,  35,  38</a:t>
            </a:r>
            <a:endParaRPr lang="en-US" sz="2400" b="1"/>
          </a:p>
        </p:txBody>
      </p:sp>
      <p:sp>
        <p:nvSpPr>
          <p:cNvPr id="1458438032" name="Rectangle 22"/>
          <p:cNvSpPr/>
          <p:nvPr/>
        </p:nvSpPr>
        <p:spPr bwMode="auto">
          <a:xfrm>
            <a:off x="8915400" y="5131525"/>
            <a:ext cx="1600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2400" b="1"/>
              <a:t>42,  45,  48</a:t>
            </a:r>
            <a:endParaRPr lang="en-US" sz="2400" b="1"/>
          </a:p>
        </p:txBody>
      </p:sp>
      <p:cxnSp>
        <p:nvCxnSpPr>
          <p:cNvPr id="374188907" name="Straight Arrow Connector 23"/>
          <p:cNvCxnSpPr>
            <a:stCxn id="970070805" idx="2"/>
            <a:endCxn id="1681273327" idx="0"/>
          </p:cNvCxnSpPr>
          <p:nvPr/>
        </p:nvCxnSpPr>
        <p:spPr bwMode="auto">
          <a:xfrm flipH="1">
            <a:off x="3314700" y="4445725"/>
            <a:ext cx="209550" cy="6858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25179110" name="Straight Arrow Connector 24"/>
          <p:cNvCxnSpPr>
            <a:stCxn id="970070805" idx="3"/>
            <a:endCxn id="1731776008" idx="0"/>
          </p:cNvCxnSpPr>
          <p:nvPr/>
        </p:nvCxnSpPr>
        <p:spPr bwMode="auto">
          <a:xfrm>
            <a:off x="4152900" y="4217125"/>
            <a:ext cx="342900" cy="9144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1969512" name="Straight Arrow Connector 25"/>
          <p:cNvCxnSpPr>
            <a:stCxn id="316999687" idx="1"/>
            <a:endCxn id="281755439" idx="0"/>
          </p:cNvCxnSpPr>
          <p:nvPr/>
        </p:nvCxnSpPr>
        <p:spPr bwMode="auto">
          <a:xfrm flipH="1">
            <a:off x="6096000" y="4217125"/>
            <a:ext cx="952500" cy="9144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37078338" name="Straight Arrow Connector 26"/>
          <p:cNvCxnSpPr>
            <a:stCxn id="316999687" idx="2"/>
            <a:endCxn id="1862303182" idx="0"/>
          </p:cNvCxnSpPr>
          <p:nvPr/>
        </p:nvCxnSpPr>
        <p:spPr bwMode="auto">
          <a:xfrm>
            <a:off x="7677150" y="4445725"/>
            <a:ext cx="285750" cy="6858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11457382" name="Straight Arrow Connector 27"/>
          <p:cNvCxnSpPr>
            <a:stCxn id="316999687" idx="3"/>
            <a:endCxn id="1458438032" idx="0"/>
          </p:cNvCxnSpPr>
          <p:nvPr/>
        </p:nvCxnSpPr>
        <p:spPr bwMode="auto">
          <a:xfrm>
            <a:off x="8305800" y="4217125"/>
            <a:ext cx="1409700" cy="9144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70070805" name="Rectangle 31"/>
          <p:cNvSpPr/>
          <p:nvPr/>
        </p:nvSpPr>
        <p:spPr bwMode="auto">
          <a:xfrm>
            <a:off x="2895600" y="3988525"/>
            <a:ext cx="12573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6,  10</a:t>
            </a:r>
            <a:endParaRPr/>
          </a:p>
        </p:txBody>
      </p:sp>
      <p:sp>
        <p:nvSpPr>
          <p:cNvPr id="316999687" name="Rectangle 33"/>
          <p:cNvSpPr/>
          <p:nvPr/>
        </p:nvSpPr>
        <p:spPr bwMode="auto">
          <a:xfrm>
            <a:off x="7048500" y="3988525"/>
            <a:ext cx="12573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30, 40</a:t>
            </a:r>
            <a:endParaRPr/>
          </a:p>
        </p:txBody>
      </p:sp>
      <p:sp>
        <p:nvSpPr>
          <p:cNvPr id="952289432" name="Rectangle 34"/>
          <p:cNvSpPr/>
          <p:nvPr/>
        </p:nvSpPr>
        <p:spPr bwMode="auto">
          <a:xfrm>
            <a:off x="5562600" y="3150325"/>
            <a:ext cx="838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20</a:t>
            </a:r>
            <a:endParaRPr/>
          </a:p>
        </p:txBody>
      </p:sp>
      <p:cxnSp>
        <p:nvCxnSpPr>
          <p:cNvPr id="1616750467" name="Straight Arrow Connector 36"/>
          <p:cNvCxnSpPr>
            <a:stCxn id="952289432" idx="1"/>
            <a:endCxn id="970070805" idx="0"/>
          </p:cNvCxnSpPr>
          <p:nvPr/>
        </p:nvCxnSpPr>
        <p:spPr bwMode="auto">
          <a:xfrm flipH="1">
            <a:off x="3524250" y="3378925"/>
            <a:ext cx="2038349" cy="6096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57767501" name="Straight Arrow Connector 38"/>
          <p:cNvCxnSpPr>
            <a:stCxn id="952289432" idx="3"/>
            <a:endCxn id="316999687" idx="0"/>
          </p:cNvCxnSpPr>
          <p:nvPr/>
        </p:nvCxnSpPr>
        <p:spPr bwMode="auto">
          <a:xfrm>
            <a:off x="6400800" y="3378925"/>
            <a:ext cx="1276350" cy="6096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39434960" name="Rectangle 39"/>
          <p:cNvSpPr/>
          <p:nvPr/>
        </p:nvSpPr>
        <p:spPr bwMode="auto">
          <a:xfrm>
            <a:off x="2667000" y="1981200"/>
            <a:ext cx="838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7, 8</a:t>
            </a:r>
            <a:endParaRPr/>
          </a:p>
        </p:txBody>
      </p:sp>
      <p:cxnSp>
        <p:nvCxnSpPr>
          <p:cNvPr id="1226676004" name="Straight Arrow Connector 42"/>
          <p:cNvCxnSpPr>
            <a:stCxn id="1090712511" idx="2"/>
            <a:endCxn id="1339434960" idx="0"/>
          </p:cNvCxnSpPr>
          <p:nvPr/>
        </p:nvCxnSpPr>
        <p:spPr bwMode="auto">
          <a:xfrm flipH="1">
            <a:off x="3086100" y="1528466"/>
            <a:ext cx="2152360" cy="452735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33321306" name="Rectangle 44"/>
          <p:cNvSpPr/>
          <p:nvPr/>
        </p:nvSpPr>
        <p:spPr bwMode="auto">
          <a:xfrm>
            <a:off x="1752599" y="5131525"/>
            <a:ext cx="838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3, 5</a:t>
            </a:r>
            <a:endParaRPr/>
          </a:p>
        </p:txBody>
      </p:sp>
      <p:sp>
        <p:nvSpPr>
          <p:cNvPr id="1681273327" name="Rectangle 45"/>
          <p:cNvSpPr/>
          <p:nvPr/>
        </p:nvSpPr>
        <p:spPr bwMode="auto">
          <a:xfrm>
            <a:off x="2895600" y="5131525"/>
            <a:ext cx="8382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7, 8</a:t>
            </a:r>
            <a:endParaRPr/>
          </a:p>
        </p:txBody>
      </p:sp>
      <p:cxnSp>
        <p:nvCxnSpPr>
          <p:cNvPr id="1347475983" name="Straight Arrow Connector 47"/>
          <p:cNvCxnSpPr>
            <a:stCxn id="970070805" idx="1"/>
            <a:endCxn id="1333321306" idx="0"/>
          </p:cNvCxnSpPr>
          <p:nvPr/>
        </p:nvCxnSpPr>
        <p:spPr bwMode="auto">
          <a:xfrm flipH="1">
            <a:off x="2171700" y="4217125"/>
            <a:ext cx="723900" cy="9144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0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83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4086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23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41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585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20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87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336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4507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21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67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434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71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6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61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02613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28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75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1616750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76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57767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070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999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475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2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188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27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179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77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6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755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078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303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145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438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803039" grpId="0" animBg="1"/>
      <p:bldP spid="888218484" grpId="0" animBg="1"/>
      <p:bldP spid="217083202" grpId="0" animBg="1"/>
      <p:bldP spid="1944086523" grpId="0" animBg="1"/>
      <p:bldP spid="170923384" grpId="0" animBg="1"/>
      <p:bldP spid="1144415415" grpId="0" animBg="1"/>
      <p:bldP spid="1090712511" grpId="0"/>
      <p:bldP spid="1111061072" grpId="0"/>
      <p:bldP spid="302613611" grpId="0" animBg="1"/>
      <p:bldP spid="1731776008" grpId="0" animBg="1"/>
      <p:bldP spid="281755439" grpId="0" animBg="1"/>
      <p:bldP spid="1862303182" grpId="0" animBg="1"/>
      <p:bldP spid="1458438032" grpId="0" animBg="1"/>
      <p:bldP spid="970070805" grpId="0" animBg="1"/>
      <p:bldP spid="316999687" grpId="0" animBg="1"/>
      <p:bldP spid="952289432" grpId="0" animBg="1"/>
      <p:bldP spid="1339434960" grpId="0" animBg="1"/>
      <p:bldP spid="1333321306" grpId="0" animBg="1"/>
      <p:bldP spid="168127332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1561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Construct M-Way Tree</a:t>
            </a:r>
            <a:endParaRPr/>
          </a:p>
        </p:txBody>
      </p:sp>
      <p:sp>
        <p:nvSpPr>
          <p:cNvPr id="598656437" name="TextBox 3"/>
          <p:cNvSpPr txBox="1"/>
          <p:nvPr/>
        </p:nvSpPr>
        <p:spPr bwMode="auto">
          <a:xfrm>
            <a:off x="1714500" y="717179"/>
            <a:ext cx="876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/>
              <a:t>Construct </a:t>
            </a:r>
            <a:r>
              <a:rPr lang="en-US" sz="2400" b="1">
                <a:solidFill>
                  <a:srgbClr val="C00000"/>
                </a:solidFill>
              </a:rPr>
              <a:t>5 Order (5 Way) </a:t>
            </a:r>
            <a:r>
              <a:rPr lang="en-US" sz="2400"/>
              <a:t>Tree from following data</a:t>
            </a:r>
            <a:endParaRPr/>
          </a:p>
          <a:p>
            <a:pPr algn="ctr">
              <a:defRPr/>
            </a:pPr>
            <a:r>
              <a:rPr lang="en-US" sz="2400"/>
              <a:t>1, 7, 6, 2, 11, 5, 10, 13, 12, 20, 16, 24, 3, 4, 18, 19, 14, 25</a:t>
            </a:r>
            <a:endParaRPr/>
          </a:p>
        </p:txBody>
      </p:sp>
      <p:cxnSp>
        <p:nvCxnSpPr>
          <p:cNvPr id="1132512142" name="Straight Connector 5"/>
          <p:cNvCxnSpPr/>
          <p:nvPr/>
        </p:nvCxnSpPr>
        <p:spPr bwMode="auto">
          <a:xfrm>
            <a:off x="1714500" y="1631578"/>
            <a:ext cx="8763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0651008" name="TextBox 8"/>
          <p:cNvSpPr txBox="1"/>
          <p:nvPr/>
        </p:nvSpPr>
        <p:spPr bwMode="auto">
          <a:xfrm>
            <a:off x="147917" y="1716744"/>
            <a:ext cx="119275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000"/>
              <a:t>We are asked to </a:t>
            </a:r>
            <a:r>
              <a:rPr lang="en-US" sz="2000" b="1">
                <a:solidFill>
                  <a:srgbClr val="C00000"/>
                </a:solidFill>
              </a:rPr>
              <a:t>create 5 Order Tree (5 Way Tree) maximum 4 records</a:t>
            </a:r>
            <a:r>
              <a:rPr lang="en-US" sz="2000">
                <a:solidFill>
                  <a:srgbClr val="C00000"/>
                </a:solidFill>
              </a:rPr>
              <a:t> </a:t>
            </a:r>
            <a:r>
              <a:rPr lang="en-US" sz="2000"/>
              <a:t>can be accommodated in a node</a:t>
            </a:r>
            <a:endParaRPr/>
          </a:p>
        </p:txBody>
      </p:sp>
      <p:cxnSp>
        <p:nvCxnSpPr>
          <p:cNvPr id="742562661" name="Straight Connector 9"/>
          <p:cNvCxnSpPr/>
          <p:nvPr/>
        </p:nvCxnSpPr>
        <p:spPr bwMode="auto">
          <a:xfrm>
            <a:off x="76205" y="2290486"/>
            <a:ext cx="11998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26782792" name="TextBox 10"/>
          <p:cNvSpPr txBox="1"/>
          <p:nvPr/>
        </p:nvSpPr>
        <p:spPr bwMode="auto">
          <a:xfrm>
            <a:off x="80682" y="2290487"/>
            <a:ext cx="113204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/>
              <a:t>Insert </a:t>
            </a:r>
            <a:r>
              <a:rPr lang="en-US" sz="2400" b="1">
                <a:solidFill>
                  <a:srgbClr val="C00000"/>
                </a:solidFill>
              </a:rPr>
              <a:t>1</a:t>
            </a:r>
            <a:endParaRPr/>
          </a:p>
        </p:txBody>
      </p:sp>
      <p:sp>
        <p:nvSpPr>
          <p:cNvPr id="872247132" name="Rectangle 11"/>
          <p:cNvSpPr/>
          <p:nvPr/>
        </p:nvSpPr>
        <p:spPr bwMode="auto">
          <a:xfrm>
            <a:off x="118782" y="2976286"/>
            <a:ext cx="1093941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>
                <a:solidFill>
                  <a:srgbClr val="FFFF00"/>
                </a:solidFill>
              </a:rPr>
              <a:t>1</a:t>
            </a:r>
            <a:endParaRPr/>
          </a:p>
        </p:txBody>
      </p:sp>
      <p:sp>
        <p:nvSpPr>
          <p:cNvPr id="1404666579" name="TextBox 12"/>
          <p:cNvSpPr txBox="1"/>
          <p:nvPr/>
        </p:nvSpPr>
        <p:spPr bwMode="auto">
          <a:xfrm>
            <a:off x="1618128" y="2290487"/>
            <a:ext cx="113204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/>
              <a:t>Insert </a:t>
            </a:r>
            <a:r>
              <a:rPr lang="en-US" sz="2400" b="1">
                <a:solidFill>
                  <a:srgbClr val="C00000"/>
                </a:solidFill>
              </a:rPr>
              <a:t>7</a:t>
            </a:r>
            <a:endParaRPr/>
          </a:p>
        </p:txBody>
      </p:sp>
      <p:sp>
        <p:nvSpPr>
          <p:cNvPr id="2139598842" name="Rectangle 13"/>
          <p:cNvSpPr/>
          <p:nvPr/>
        </p:nvSpPr>
        <p:spPr bwMode="auto">
          <a:xfrm>
            <a:off x="2068114" y="2976286"/>
            <a:ext cx="1093941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1,  </a:t>
            </a:r>
            <a:r>
              <a:rPr lang="en-US" sz="2400" b="1">
                <a:solidFill>
                  <a:srgbClr val="FFFF00"/>
                </a:solidFill>
              </a:rPr>
              <a:t>7</a:t>
            </a:r>
            <a:endParaRPr/>
          </a:p>
        </p:txBody>
      </p:sp>
      <p:sp>
        <p:nvSpPr>
          <p:cNvPr id="1729931630" name="TextBox 14"/>
          <p:cNvSpPr txBox="1"/>
          <p:nvPr/>
        </p:nvSpPr>
        <p:spPr bwMode="auto">
          <a:xfrm>
            <a:off x="3500720" y="2290487"/>
            <a:ext cx="113204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/>
              <a:t>Insert </a:t>
            </a:r>
            <a:r>
              <a:rPr lang="en-US" sz="2400" b="1">
                <a:solidFill>
                  <a:srgbClr val="C00000"/>
                </a:solidFill>
              </a:rPr>
              <a:t>6</a:t>
            </a:r>
            <a:endParaRPr/>
          </a:p>
        </p:txBody>
      </p:sp>
      <p:sp>
        <p:nvSpPr>
          <p:cNvPr id="1382926810" name="Rectangle 15"/>
          <p:cNvSpPr/>
          <p:nvPr/>
        </p:nvSpPr>
        <p:spPr bwMode="auto">
          <a:xfrm>
            <a:off x="3876993" y="2976286"/>
            <a:ext cx="1093941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1,  </a:t>
            </a:r>
            <a:r>
              <a:rPr lang="en-US" sz="2400" b="1">
                <a:solidFill>
                  <a:srgbClr val="FFFF00"/>
                </a:solidFill>
              </a:rPr>
              <a:t>6</a:t>
            </a:r>
            <a:r>
              <a:rPr lang="en-US" sz="2400" b="1"/>
              <a:t>,  7</a:t>
            </a:r>
            <a:endParaRPr/>
          </a:p>
        </p:txBody>
      </p:sp>
      <p:sp>
        <p:nvSpPr>
          <p:cNvPr id="1559105285" name="TextBox 16"/>
          <p:cNvSpPr txBox="1"/>
          <p:nvPr/>
        </p:nvSpPr>
        <p:spPr bwMode="auto">
          <a:xfrm>
            <a:off x="5302629" y="2290487"/>
            <a:ext cx="113204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/>
              <a:t>Insert </a:t>
            </a:r>
            <a:r>
              <a:rPr lang="en-US" sz="2400" b="1">
                <a:solidFill>
                  <a:srgbClr val="C00000"/>
                </a:solidFill>
              </a:rPr>
              <a:t>2</a:t>
            </a:r>
            <a:endParaRPr/>
          </a:p>
        </p:txBody>
      </p:sp>
      <p:sp>
        <p:nvSpPr>
          <p:cNvPr id="438980290" name="Rectangle 17"/>
          <p:cNvSpPr/>
          <p:nvPr/>
        </p:nvSpPr>
        <p:spPr bwMode="auto">
          <a:xfrm>
            <a:off x="5553395" y="2976286"/>
            <a:ext cx="1474941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1,  </a:t>
            </a:r>
            <a:r>
              <a:rPr lang="en-US" sz="2400" b="1">
                <a:solidFill>
                  <a:srgbClr val="FFFF00"/>
                </a:solidFill>
              </a:rPr>
              <a:t>2</a:t>
            </a:r>
            <a:r>
              <a:rPr lang="en-US" sz="2400" b="1"/>
              <a:t>,  6,  7</a:t>
            </a:r>
            <a:endParaRPr/>
          </a:p>
        </p:txBody>
      </p:sp>
      <p:cxnSp>
        <p:nvCxnSpPr>
          <p:cNvPr id="298926799" name="Straight Connector 19"/>
          <p:cNvCxnSpPr/>
          <p:nvPr/>
        </p:nvCxnSpPr>
        <p:spPr bwMode="auto">
          <a:xfrm>
            <a:off x="76205" y="4146178"/>
            <a:ext cx="11998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0015203" name="Straight Connector 21"/>
          <p:cNvCxnSpPr/>
          <p:nvPr/>
        </p:nvCxnSpPr>
        <p:spPr bwMode="auto">
          <a:xfrm>
            <a:off x="1618128" y="2290486"/>
            <a:ext cx="0" cy="18556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9399049" name="Straight Connector 22"/>
          <p:cNvCxnSpPr/>
          <p:nvPr/>
        </p:nvCxnSpPr>
        <p:spPr bwMode="auto">
          <a:xfrm>
            <a:off x="3500720" y="2290486"/>
            <a:ext cx="0" cy="1857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5483247" name="Straight Connector 23"/>
          <p:cNvCxnSpPr/>
          <p:nvPr/>
        </p:nvCxnSpPr>
        <p:spPr bwMode="auto">
          <a:xfrm>
            <a:off x="5302629" y="2290486"/>
            <a:ext cx="0" cy="1857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42002487" name="TextBox 24"/>
          <p:cNvSpPr txBox="1"/>
          <p:nvPr/>
        </p:nvSpPr>
        <p:spPr bwMode="auto">
          <a:xfrm>
            <a:off x="7203147" y="2290486"/>
            <a:ext cx="1287532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/>
              <a:t>Insert </a:t>
            </a:r>
            <a:r>
              <a:rPr lang="en-US" sz="2400" b="1">
                <a:solidFill>
                  <a:srgbClr val="C00000"/>
                </a:solidFill>
              </a:rPr>
              <a:t>11</a:t>
            </a:r>
            <a:endParaRPr/>
          </a:p>
        </p:txBody>
      </p:sp>
      <p:sp>
        <p:nvSpPr>
          <p:cNvPr id="1593987463" name="Rectangle 25"/>
          <p:cNvSpPr/>
          <p:nvPr/>
        </p:nvSpPr>
        <p:spPr bwMode="auto">
          <a:xfrm>
            <a:off x="7411577" y="2866913"/>
            <a:ext cx="1905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1,  2,  6,  7, </a:t>
            </a:r>
            <a:r>
              <a:rPr lang="en-US" sz="2400" b="1">
                <a:solidFill>
                  <a:srgbClr val="FFFF00"/>
                </a:solidFill>
              </a:rPr>
              <a:t>11</a:t>
            </a:r>
            <a:endParaRPr/>
          </a:p>
        </p:txBody>
      </p:sp>
      <p:sp>
        <p:nvSpPr>
          <p:cNvPr id="1151682181" name="TextBox 26"/>
          <p:cNvSpPr txBox="1"/>
          <p:nvPr/>
        </p:nvSpPr>
        <p:spPr bwMode="auto">
          <a:xfrm>
            <a:off x="7644352" y="3548249"/>
            <a:ext cx="1285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>
                <a:solidFill>
                  <a:srgbClr val="C00000"/>
                </a:solidFill>
              </a:rPr>
              <a:t>Overflow</a:t>
            </a:r>
            <a:endParaRPr/>
          </a:p>
        </p:txBody>
      </p:sp>
      <p:sp>
        <p:nvSpPr>
          <p:cNvPr id="1682426708" name="Rectangle 27"/>
          <p:cNvSpPr/>
          <p:nvPr/>
        </p:nvSpPr>
        <p:spPr bwMode="auto">
          <a:xfrm>
            <a:off x="8173578" y="2818285"/>
            <a:ext cx="334683" cy="570945"/>
          </a:xfrm>
          <a:prstGeom prst="rect">
            <a:avLst/>
          </a:prstGeom>
          <a:noFill/>
          <a:ln w="28575">
            <a:solidFill>
              <a:srgbClr val="B847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32240316" name="Rectangle 28"/>
          <p:cNvSpPr/>
          <p:nvPr/>
        </p:nvSpPr>
        <p:spPr bwMode="auto">
          <a:xfrm>
            <a:off x="9308360" y="3552713"/>
            <a:ext cx="8001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1,  2</a:t>
            </a:r>
            <a:endParaRPr/>
          </a:p>
        </p:txBody>
      </p:sp>
      <p:sp>
        <p:nvSpPr>
          <p:cNvPr id="998265161" name="Rectangle 29"/>
          <p:cNvSpPr/>
          <p:nvPr/>
        </p:nvSpPr>
        <p:spPr bwMode="auto">
          <a:xfrm>
            <a:off x="10489461" y="3552713"/>
            <a:ext cx="884517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7,  11</a:t>
            </a:r>
            <a:endParaRPr/>
          </a:p>
        </p:txBody>
      </p:sp>
      <p:sp>
        <p:nvSpPr>
          <p:cNvPr id="165771204" name="Rectangle 30"/>
          <p:cNvSpPr/>
          <p:nvPr/>
        </p:nvSpPr>
        <p:spPr bwMode="auto">
          <a:xfrm>
            <a:off x="9994162" y="2747687"/>
            <a:ext cx="647699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6</a:t>
            </a:r>
            <a:endParaRPr/>
          </a:p>
        </p:txBody>
      </p:sp>
      <p:cxnSp>
        <p:nvCxnSpPr>
          <p:cNvPr id="56125636" name="Straight Arrow Connector 32"/>
          <p:cNvCxnSpPr>
            <a:stCxn id="165771204" idx="1"/>
            <a:endCxn id="1932240316" idx="0"/>
          </p:cNvCxnSpPr>
          <p:nvPr/>
        </p:nvCxnSpPr>
        <p:spPr bwMode="auto">
          <a:xfrm flipH="1">
            <a:off x="9708411" y="2976287"/>
            <a:ext cx="285751" cy="57642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1472813" name="Straight Arrow Connector 34"/>
          <p:cNvCxnSpPr>
            <a:stCxn id="165771204" idx="3"/>
            <a:endCxn id="998265161" idx="0"/>
          </p:cNvCxnSpPr>
          <p:nvPr/>
        </p:nvCxnSpPr>
        <p:spPr bwMode="auto">
          <a:xfrm>
            <a:off x="10641861" y="2976287"/>
            <a:ext cx="289859" cy="57642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51441813" name="Straight Connector 36"/>
          <p:cNvCxnSpPr/>
          <p:nvPr/>
        </p:nvCxnSpPr>
        <p:spPr bwMode="auto">
          <a:xfrm>
            <a:off x="2622180" y="4146178"/>
            <a:ext cx="0" cy="24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5140693" name="TextBox 37"/>
          <p:cNvSpPr txBox="1"/>
          <p:nvPr/>
        </p:nvSpPr>
        <p:spPr bwMode="auto">
          <a:xfrm>
            <a:off x="76205" y="4146179"/>
            <a:ext cx="113204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/>
              <a:t>Insert </a:t>
            </a:r>
            <a:r>
              <a:rPr lang="en-US" sz="2400" b="1">
                <a:solidFill>
                  <a:srgbClr val="C00000"/>
                </a:solidFill>
              </a:rPr>
              <a:t>5</a:t>
            </a:r>
            <a:endParaRPr/>
          </a:p>
        </p:txBody>
      </p:sp>
      <p:sp>
        <p:nvSpPr>
          <p:cNvPr id="1448693396" name="Rectangle 38"/>
          <p:cNvSpPr/>
          <p:nvPr/>
        </p:nvSpPr>
        <p:spPr bwMode="auto">
          <a:xfrm>
            <a:off x="169902" y="5544670"/>
            <a:ext cx="937239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1,2,</a:t>
            </a:r>
            <a:r>
              <a:rPr lang="en-US" sz="2400" b="1">
                <a:solidFill>
                  <a:srgbClr val="FFFF00"/>
                </a:solidFill>
              </a:rPr>
              <a:t>5</a:t>
            </a:r>
            <a:endParaRPr/>
          </a:p>
        </p:txBody>
      </p:sp>
      <p:sp>
        <p:nvSpPr>
          <p:cNvPr id="271463506" name="Rectangle 39"/>
          <p:cNvSpPr/>
          <p:nvPr/>
        </p:nvSpPr>
        <p:spPr bwMode="auto">
          <a:xfrm>
            <a:off x="1411943" y="5544670"/>
            <a:ext cx="755389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7,11</a:t>
            </a:r>
            <a:endParaRPr/>
          </a:p>
        </p:txBody>
      </p:sp>
      <p:sp>
        <p:nvSpPr>
          <p:cNvPr id="1807074373" name="Rectangle 40"/>
          <p:cNvSpPr/>
          <p:nvPr/>
        </p:nvSpPr>
        <p:spPr bwMode="auto">
          <a:xfrm>
            <a:off x="878543" y="4739644"/>
            <a:ext cx="647699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6</a:t>
            </a:r>
            <a:endParaRPr/>
          </a:p>
        </p:txBody>
      </p:sp>
      <p:cxnSp>
        <p:nvCxnSpPr>
          <p:cNvPr id="1254535601" name="Straight Arrow Connector 41"/>
          <p:cNvCxnSpPr>
            <a:stCxn id="1807074373" idx="1"/>
            <a:endCxn id="1448693396" idx="0"/>
          </p:cNvCxnSpPr>
          <p:nvPr/>
        </p:nvCxnSpPr>
        <p:spPr bwMode="auto">
          <a:xfrm flipH="1">
            <a:off x="638522" y="4968244"/>
            <a:ext cx="240020" cy="57642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65063344" name="Straight Arrow Connector 42"/>
          <p:cNvCxnSpPr>
            <a:stCxn id="1807074373" idx="3"/>
            <a:endCxn id="271463506" idx="0"/>
          </p:cNvCxnSpPr>
          <p:nvPr/>
        </p:nvCxnSpPr>
        <p:spPr bwMode="auto">
          <a:xfrm>
            <a:off x="1526241" y="4968244"/>
            <a:ext cx="263396" cy="57642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20412397" name="Straight Connector 46"/>
          <p:cNvCxnSpPr/>
          <p:nvPr/>
        </p:nvCxnSpPr>
        <p:spPr bwMode="auto">
          <a:xfrm>
            <a:off x="5293668" y="4142039"/>
            <a:ext cx="0" cy="2412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96810690" name="TextBox 47"/>
          <p:cNvSpPr txBox="1"/>
          <p:nvPr/>
        </p:nvSpPr>
        <p:spPr bwMode="auto">
          <a:xfrm>
            <a:off x="2622180" y="4146179"/>
            <a:ext cx="1287532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/>
              <a:t>Insert </a:t>
            </a:r>
            <a:r>
              <a:rPr lang="en-US" sz="2400" b="1">
                <a:solidFill>
                  <a:srgbClr val="C00000"/>
                </a:solidFill>
              </a:rPr>
              <a:t>10</a:t>
            </a:r>
            <a:endParaRPr/>
          </a:p>
        </p:txBody>
      </p:sp>
      <p:sp>
        <p:nvSpPr>
          <p:cNvPr id="1461982182" name="Rectangle 49"/>
          <p:cNvSpPr/>
          <p:nvPr/>
        </p:nvSpPr>
        <p:spPr bwMode="auto">
          <a:xfrm>
            <a:off x="2895605" y="5551839"/>
            <a:ext cx="918747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1,2,5</a:t>
            </a:r>
            <a:endParaRPr/>
          </a:p>
        </p:txBody>
      </p:sp>
      <p:sp>
        <p:nvSpPr>
          <p:cNvPr id="119353750" name="Rectangle 50"/>
          <p:cNvSpPr/>
          <p:nvPr/>
        </p:nvSpPr>
        <p:spPr bwMode="auto">
          <a:xfrm>
            <a:off x="4038603" y="5551839"/>
            <a:ext cx="1046025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200" b="1"/>
              <a:t>7,</a:t>
            </a:r>
            <a:r>
              <a:rPr lang="en-US" sz="2200" b="1">
                <a:solidFill>
                  <a:srgbClr val="FFFF00"/>
                </a:solidFill>
              </a:rPr>
              <a:t>10</a:t>
            </a:r>
            <a:r>
              <a:rPr lang="en-US" sz="2200" b="1"/>
              <a:t>,11</a:t>
            </a:r>
            <a:endParaRPr/>
          </a:p>
        </p:txBody>
      </p:sp>
      <p:sp>
        <p:nvSpPr>
          <p:cNvPr id="1109703740" name="Rectangle 51"/>
          <p:cNvSpPr/>
          <p:nvPr/>
        </p:nvSpPr>
        <p:spPr bwMode="auto">
          <a:xfrm>
            <a:off x="3667543" y="4746813"/>
            <a:ext cx="647699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6</a:t>
            </a:r>
            <a:endParaRPr/>
          </a:p>
        </p:txBody>
      </p:sp>
      <p:cxnSp>
        <p:nvCxnSpPr>
          <p:cNvPr id="908742795" name="Straight Arrow Connector 52"/>
          <p:cNvCxnSpPr>
            <a:stCxn id="1109703740" idx="1"/>
          </p:cNvCxnSpPr>
          <p:nvPr/>
        </p:nvCxnSpPr>
        <p:spPr bwMode="auto">
          <a:xfrm flipH="1">
            <a:off x="3354978" y="4975413"/>
            <a:ext cx="312564" cy="57642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88951638" name="Straight Arrow Connector 53"/>
          <p:cNvCxnSpPr>
            <a:stCxn id="1109703740" idx="3"/>
            <a:endCxn id="119353750" idx="0"/>
          </p:cNvCxnSpPr>
          <p:nvPr/>
        </p:nvCxnSpPr>
        <p:spPr bwMode="auto">
          <a:xfrm>
            <a:off x="4315242" y="4975413"/>
            <a:ext cx="246375" cy="57642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44094469" name="Straight Connector 43"/>
          <p:cNvCxnSpPr/>
          <p:nvPr/>
        </p:nvCxnSpPr>
        <p:spPr bwMode="auto">
          <a:xfrm>
            <a:off x="7203147" y="2290486"/>
            <a:ext cx="0" cy="1857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62430499" name="TextBox 44"/>
          <p:cNvSpPr txBox="1"/>
          <p:nvPr/>
        </p:nvSpPr>
        <p:spPr bwMode="auto">
          <a:xfrm>
            <a:off x="5293668" y="4142039"/>
            <a:ext cx="1287532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/>
              <a:t>Insert </a:t>
            </a:r>
            <a:r>
              <a:rPr lang="en-US" sz="2400" b="1">
                <a:solidFill>
                  <a:srgbClr val="C00000"/>
                </a:solidFill>
              </a:rPr>
              <a:t>13</a:t>
            </a:r>
            <a:endParaRPr/>
          </a:p>
        </p:txBody>
      </p:sp>
      <p:sp>
        <p:nvSpPr>
          <p:cNvPr id="384395959" name="Rectangle 45"/>
          <p:cNvSpPr/>
          <p:nvPr/>
        </p:nvSpPr>
        <p:spPr bwMode="auto">
          <a:xfrm>
            <a:off x="5420947" y="5480464"/>
            <a:ext cx="918747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1,2,5</a:t>
            </a:r>
            <a:endParaRPr/>
          </a:p>
        </p:txBody>
      </p:sp>
      <p:sp>
        <p:nvSpPr>
          <p:cNvPr id="809675778" name="Rectangle 48"/>
          <p:cNvSpPr/>
          <p:nvPr/>
        </p:nvSpPr>
        <p:spPr bwMode="auto">
          <a:xfrm>
            <a:off x="6563945" y="5480464"/>
            <a:ext cx="1447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200" b="1"/>
              <a:t>7,10,11,</a:t>
            </a:r>
            <a:r>
              <a:rPr lang="en-US" sz="2200" b="1">
                <a:solidFill>
                  <a:srgbClr val="FFFF00"/>
                </a:solidFill>
              </a:rPr>
              <a:t>13</a:t>
            </a:r>
            <a:endParaRPr/>
          </a:p>
        </p:txBody>
      </p:sp>
      <p:sp>
        <p:nvSpPr>
          <p:cNvPr id="681805197" name="Rectangle 54"/>
          <p:cNvSpPr/>
          <p:nvPr/>
        </p:nvSpPr>
        <p:spPr bwMode="auto">
          <a:xfrm>
            <a:off x="6297246" y="4675438"/>
            <a:ext cx="647699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6</a:t>
            </a:r>
            <a:endParaRPr/>
          </a:p>
        </p:txBody>
      </p:sp>
      <p:cxnSp>
        <p:nvCxnSpPr>
          <p:cNvPr id="1930378232" name="Straight Arrow Connector 55"/>
          <p:cNvCxnSpPr>
            <a:stCxn id="681805197" idx="1"/>
            <a:endCxn id="384395959" idx="0"/>
          </p:cNvCxnSpPr>
          <p:nvPr/>
        </p:nvCxnSpPr>
        <p:spPr bwMode="auto">
          <a:xfrm flipH="1">
            <a:off x="5880320" y="4904038"/>
            <a:ext cx="416926" cy="57642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67935874" name="Straight Arrow Connector 56"/>
          <p:cNvCxnSpPr>
            <a:stCxn id="681805197" idx="3"/>
            <a:endCxn id="809675778" idx="0"/>
          </p:cNvCxnSpPr>
          <p:nvPr/>
        </p:nvCxnSpPr>
        <p:spPr bwMode="auto">
          <a:xfrm>
            <a:off x="6944945" y="4904038"/>
            <a:ext cx="342900" cy="57642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65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1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132512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6510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562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42562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78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24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926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98926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015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40015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66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9598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9399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009399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93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2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48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265483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10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98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09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644094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2002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98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682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10" fill="hold"/>
                                        <p:tgtEl>
                                          <p:spTgt spid="15939874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1" dur="10" fill="hold"/>
                                        <p:tgtEl>
                                          <p:spTgt spid="15939874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10" fill="hold"/>
                                        <p:tgtEl>
                                          <p:spTgt spid="15939874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426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7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5612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240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7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91472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26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44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851441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140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07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535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69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6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06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41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62041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810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70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74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982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53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95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43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805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37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39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6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935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8656437" grpId="0"/>
      <p:bldP spid="1726782792" grpId="0" animBg="1"/>
      <p:bldP spid="872247132" grpId="0" animBg="1"/>
      <p:bldP spid="1404666579" grpId="0" animBg="1"/>
      <p:bldP spid="2139598842" grpId="0" animBg="1"/>
      <p:bldP spid="1729931630" grpId="0" animBg="1"/>
      <p:bldP spid="1382926810" grpId="0" animBg="1"/>
      <p:bldP spid="1559105285" grpId="0" animBg="1"/>
      <p:bldP spid="438980290" grpId="0" animBg="1"/>
      <p:bldP spid="2042002487" grpId="0" animBg="1"/>
      <p:bldP spid="1593987463" grpId="0" animBg="1"/>
      <p:bldP spid="1151682181" grpId="0"/>
      <p:bldP spid="1682426708" grpId="0" animBg="1"/>
      <p:bldP spid="1932240316" grpId="0" animBg="1"/>
      <p:bldP spid="998265161" grpId="0" animBg="1"/>
      <p:bldP spid="165771204" grpId="0" animBg="1"/>
      <p:bldP spid="1105140693" grpId="0" animBg="1"/>
      <p:bldP spid="1448693396" grpId="0" animBg="1"/>
      <p:bldP spid="271463506" grpId="0" animBg="1"/>
      <p:bldP spid="1807074373" grpId="0" animBg="1"/>
      <p:bldP spid="1396810690" grpId="0" animBg="1"/>
      <p:bldP spid="1461982182" grpId="0" animBg="1"/>
      <p:bldP spid="119353750" grpId="0" animBg="1"/>
      <p:bldP spid="1109703740" grpId="0" animBg="1"/>
      <p:bldP spid="1262430499" grpId="0" animBg="1"/>
      <p:bldP spid="384395959" grpId="0" animBg="1"/>
      <p:bldP spid="809675778" grpId="0" animBg="1"/>
      <p:bldP spid="68180519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8416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Construct M-Way Tree</a:t>
            </a:r>
            <a:endParaRPr/>
          </a:p>
        </p:txBody>
      </p:sp>
      <p:sp>
        <p:nvSpPr>
          <p:cNvPr id="1411462306" name="TextBox 3"/>
          <p:cNvSpPr txBox="1"/>
          <p:nvPr/>
        </p:nvSpPr>
        <p:spPr bwMode="auto">
          <a:xfrm>
            <a:off x="1714500" y="744073"/>
            <a:ext cx="876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/>
              <a:t>Construct </a:t>
            </a:r>
            <a:r>
              <a:rPr lang="en-US" sz="2400" b="1">
                <a:solidFill>
                  <a:srgbClr val="C00000"/>
                </a:solidFill>
              </a:rPr>
              <a:t>5 Order (5 Way) </a:t>
            </a:r>
            <a:r>
              <a:rPr lang="en-US" sz="2400"/>
              <a:t>Tree from following data</a:t>
            </a:r>
            <a:endParaRPr/>
          </a:p>
          <a:p>
            <a:pPr algn="ctr">
              <a:defRPr/>
            </a:pPr>
            <a:r>
              <a:rPr lang="en-US" sz="2400"/>
              <a:t>1, 7, 6, 2, 11, 5, 10, 13, 12, 20, 16, 24, 3, 4, 18, 19, 14, 25</a:t>
            </a:r>
            <a:endParaRPr/>
          </a:p>
        </p:txBody>
      </p:sp>
      <p:cxnSp>
        <p:nvCxnSpPr>
          <p:cNvPr id="40154223" name="Straight Connector 4"/>
          <p:cNvCxnSpPr/>
          <p:nvPr/>
        </p:nvCxnSpPr>
        <p:spPr bwMode="auto">
          <a:xfrm>
            <a:off x="110958" y="1658472"/>
            <a:ext cx="11998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6719136" name="Straight Connector 14"/>
          <p:cNvCxnSpPr/>
          <p:nvPr/>
        </p:nvCxnSpPr>
        <p:spPr bwMode="auto">
          <a:xfrm>
            <a:off x="110958" y="3745689"/>
            <a:ext cx="11998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2869666" name="Straight Connector 17"/>
          <p:cNvCxnSpPr/>
          <p:nvPr/>
        </p:nvCxnSpPr>
        <p:spPr bwMode="auto">
          <a:xfrm>
            <a:off x="6127370" y="1658473"/>
            <a:ext cx="0" cy="20872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96495409" name="TextBox 18"/>
          <p:cNvSpPr txBox="1"/>
          <p:nvPr/>
        </p:nvSpPr>
        <p:spPr bwMode="auto">
          <a:xfrm>
            <a:off x="110958" y="1658473"/>
            <a:ext cx="1287532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/>
              <a:t>Insert </a:t>
            </a:r>
            <a:r>
              <a:rPr lang="en-US" sz="2400" b="1">
                <a:solidFill>
                  <a:srgbClr val="C00000"/>
                </a:solidFill>
              </a:rPr>
              <a:t>12</a:t>
            </a:r>
            <a:endParaRPr/>
          </a:p>
        </p:txBody>
      </p:sp>
      <p:sp>
        <p:nvSpPr>
          <p:cNvPr id="518013088" name="Rectangle 19"/>
          <p:cNvSpPr/>
          <p:nvPr/>
        </p:nvSpPr>
        <p:spPr bwMode="auto">
          <a:xfrm>
            <a:off x="206186" y="3149298"/>
            <a:ext cx="876299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1,2,5</a:t>
            </a:r>
            <a:endParaRPr/>
          </a:p>
        </p:txBody>
      </p:sp>
      <p:sp>
        <p:nvSpPr>
          <p:cNvPr id="1230503140" name="Rectangle 20"/>
          <p:cNvSpPr/>
          <p:nvPr/>
        </p:nvSpPr>
        <p:spPr bwMode="auto">
          <a:xfrm>
            <a:off x="1196786" y="3149298"/>
            <a:ext cx="1771651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200" b="1"/>
              <a:t>7,10,11,</a:t>
            </a:r>
            <a:r>
              <a:rPr lang="en-US" sz="2200" b="1">
                <a:solidFill>
                  <a:srgbClr val="FFFF00"/>
                </a:solidFill>
              </a:rPr>
              <a:t>12</a:t>
            </a:r>
            <a:r>
              <a:rPr lang="en-US" sz="2200" b="1"/>
              <a:t>,13</a:t>
            </a:r>
            <a:endParaRPr lang="en-US" sz="2200" b="1">
              <a:solidFill>
                <a:srgbClr val="FFFF00"/>
              </a:solidFill>
            </a:endParaRPr>
          </a:p>
        </p:txBody>
      </p:sp>
      <p:sp>
        <p:nvSpPr>
          <p:cNvPr id="641281112" name="Rectangle 21"/>
          <p:cNvSpPr/>
          <p:nvPr/>
        </p:nvSpPr>
        <p:spPr bwMode="auto">
          <a:xfrm>
            <a:off x="1082486" y="2344272"/>
            <a:ext cx="647699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6</a:t>
            </a:r>
            <a:endParaRPr/>
          </a:p>
        </p:txBody>
      </p:sp>
      <p:cxnSp>
        <p:nvCxnSpPr>
          <p:cNvPr id="45566370" name="Straight Arrow Connector 22"/>
          <p:cNvCxnSpPr>
            <a:stCxn id="641281112" idx="1"/>
            <a:endCxn id="518013088" idx="0"/>
          </p:cNvCxnSpPr>
          <p:nvPr/>
        </p:nvCxnSpPr>
        <p:spPr bwMode="auto">
          <a:xfrm flipH="1">
            <a:off x="644337" y="2572872"/>
            <a:ext cx="438149" cy="57642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67077569" name="Straight Arrow Connector 23"/>
          <p:cNvCxnSpPr>
            <a:stCxn id="641281112" idx="3"/>
            <a:endCxn id="1230503140" idx="0"/>
          </p:cNvCxnSpPr>
          <p:nvPr/>
        </p:nvCxnSpPr>
        <p:spPr bwMode="auto">
          <a:xfrm>
            <a:off x="1730185" y="2572872"/>
            <a:ext cx="352427" cy="57642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00602970" name="TextBox 31"/>
          <p:cNvSpPr txBox="1"/>
          <p:nvPr/>
        </p:nvSpPr>
        <p:spPr bwMode="auto">
          <a:xfrm>
            <a:off x="1984286" y="2751586"/>
            <a:ext cx="11913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200" b="1">
                <a:solidFill>
                  <a:srgbClr val="C00000"/>
                </a:solidFill>
              </a:rPr>
              <a:t>Overflow</a:t>
            </a:r>
            <a:endParaRPr/>
          </a:p>
        </p:txBody>
      </p:sp>
      <p:sp>
        <p:nvSpPr>
          <p:cNvPr id="1734295801" name="Rectangle 32"/>
          <p:cNvSpPr/>
          <p:nvPr/>
        </p:nvSpPr>
        <p:spPr bwMode="auto">
          <a:xfrm>
            <a:off x="1840110" y="3075713"/>
            <a:ext cx="334683" cy="570945"/>
          </a:xfrm>
          <a:prstGeom prst="rect">
            <a:avLst/>
          </a:prstGeom>
          <a:noFill/>
          <a:ln w="28575">
            <a:solidFill>
              <a:srgbClr val="B847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45874555" name="Rectangle 33"/>
          <p:cNvSpPr/>
          <p:nvPr/>
        </p:nvSpPr>
        <p:spPr bwMode="auto">
          <a:xfrm>
            <a:off x="3177985" y="3149298"/>
            <a:ext cx="876299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1,2,5</a:t>
            </a:r>
            <a:endParaRPr/>
          </a:p>
        </p:txBody>
      </p:sp>
      <p:sp>
        <p:nvSpPr>
          <p:cNvPr id="925193986" name="Rectangle 34"/>
          <p:cNvSpPr/>
          <p:nvPr/>
        </p:nvSpPr>
        <p:spPr bwMode="auto">
          <a:xfrm>
            <a:off x="4054287" y="2344272"/>
            <a:ext cx="876299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6, 11</a:t>
            </a:r>
            <a:endParaRPr/>
          </a:p>
        </p:txBody>
      </p:sp>
      <p:cxnSp>
        <p:nvCxnSpPr>
          <p:cNvPr id="327820668" name="Straight Arrow Connector 35"/>
          <p:cNvCxnSpPr>
            <a:stCxn id="925193986" idx="1"/>
            <a:endCxn id="1045874555" idx="0"/>
          </p:cNvCxnSpPr>
          <p:nvPr/>
        </p:nvCxnSpPr>
        <p:spPr bwMode="auto">
          <a:xfrm flipH="1">
            <a:off x="3616136" y="2572872"/>
            <a:ext cx="438151" cy="57642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61066012" name="Rectangle 37"/>
          <p:cNvSpPr/>
          <p:nvPr/>
        </p:nvSpPr>
        <p:spPr bwMode="auto">
          <a:xfrm>
            <a:off x="4155684" y="3142716"/>
            <a:ext cx="745085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7,10</a:t>
            </a:r>
            <a:endParaRPr/>
          </a:p>
        </p:txBody>
      </p:sp>
      <p:sp>
        <p:nvSpPr>
          <p:cNvPr id="1597435879" name="Rectangle 38"/>
          <p:cNvSpPr/>
          <p:nvPr/>
        </p:nvSpPr>
        <p:spPr bwMode="auto">
          <a:xfrm>
            <a:off x="5006786" y="3142716"/>
            <a:ext cx="942561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12,13</a:t>
            </a:r>
            <a:endParaRPr/>
          </a:p>
        </p:txBody>
      </p:sp>
      <p:cxnSp>
        <p:nvCxnSpPr>
          <p:cNvPr id="1514317142" name="Straight Arrow Connector 40"/>
          <p:cNvCxnSpPr>
            <a:stCxn id="925193986" idx="2"/>
            <a:endCxn id="1561066012" idx="0"/>
          </p:cNvCxnSpPr>
          <p:nvPr/>
        </p:nvCxnSpPr>
        <p:spPr bwMode="auto">
          <a:xfrm>
            <a:off x="4492436" y="2801472"/>
            <a:ext cx="35790" cy="341244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73340255" name="Straight Arrow Connector 42"/>
          <p:cNvCxnSpPr>
            <a:stCxn id="925193986" idx="3"/>
            <a:endCxn id="1597435879" idx="0"/>
          </p:cNvCxnSpPr>
          <p:nvPr/>
        </p:nvCxnSpPr>
        <p:spPr bwMode="auto">
          <a:xfrm>
            <a:off x="4930586" y="2572872"/>
            <a:ext cx="547481" cy="569844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16179553" name="TextBox 44"/>
          <p:cNvSpPr txBox="1"/>
          <p:nvPr/>
        </p:nvSpPr>
        <p:spPr bwMode="auto">
          <a:xfrm>
            <a:off x="6127370" y="1658473"/>
            <a:ext cx="22076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/>
              <a:t>Insert </a:t>
            </a:r>
            <a:r>
              <a:rPr lang="en-US" sz="2400" b="1">
                <a:solidFill>
                  <a:srgbClr val="C00000"/>
                </a:solidFill>
              </a:rPr>
              <a:t>20, 16, 24</a:t>
            </a:r>
            <a:endParaRPr/>
          </a:p>
        </p:txBody>
      </p:sp>
      <p:sp>
        <p:nvSpPr>
          <p:cNvPr id="1905103113" name="Rectangle 45"/>
          <p:cNvSpPr/>
          <p:nvPr/>
        </p:nvSpPr>
        <p:spPr bwMode="auto">
          <a:xfrm>
            <a:off x="6242574" y="3131097"/>
            <a:ext cx="876299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1,2,5</a:t>
            </a:r>
            <a:endParaRPr/>
          </a:p>
        </p:txBody>
      </p:sp>
      <p:sp>
        <p:nvSpPr>
          <p:cNvPr id="719910601" name="Rectangle 46"/>
          <p:cNvSpPr/>
          <p:nvPr/>
        </p:nvSpPr>
        <p:spPr bwMode="auto">
          <a:xfrm>
            <a:off x="7566136" y="2326071"/>
            <a:ext cx="876299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6, 11</a:t>
            </a:r>
            <a:endParaRPr/>
          </a:p>
        </p:txBody>
      </p:sp>
      <p:cxnSp>
        <p:nvCxnSpPr>
          <p:cNvPr id="2087276886" name="Straight Arrow Connector 47"/>
          <p:cNvCxnSpPr>
            <a:stCxn id="719910601" idx="1"/>
            <a:endCxn id="1905103113" idx="0"/>
          </p:cNvCxnSpPr>
          <p:nvPr/>
        </p:nvCxnSpPr>
        <p:spPr bwMode="auto">
          <a:xfrm flipH="1">
            <a:off x="6680725" y="2554671"/>
            <a:ext cx="885411" cy="576426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46941937" name="Rectangle 48"/>
          <p:cNvSpPr/>
          <p:nvPr/>
        </p:nvSpPr>
        <p:spPr bwMode="auto">
          <a:xfrm>
            <a:off x="7220273" y="3124515"/>
            <a:ext cx="745085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7,10</a:t>
            </a:r>
            <a:endParaRPr/>
          </a:p>
        </p:txBody>
      </p:sp>
      <p:sp>
        <p:nvSpPr>
          <p:cNvPr id="434267482" name="Rectangle 49"/>
          <p:cNvSpPr/>
          <p:nvPr/>
        </p:nvSpPr>
        <p:spPr bwMode="auto">
          <a:xfrm>
            <a:off x="8071373" y="3124515"/>
            <a:ext cx="2161762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12,13,</a:t>
            </a:r>
            <a:r>
              <a:rPr lang="en-US" sz="2400" b="1">
                <a:solidFill>
                  <a:srgbClr val="FFFF00"/>
                </a:solidFill>
              </a:rPr>
              <a:t>16,20,24</a:t>
            </a:r>
            <a:endParaRPr/>
          </a:p>
        </p:txBody>
      </p:sp>
      <p:cxnSp>
        <p:nvCxnSpPr>
          <p:cNvPr id="1679621782" name="Straight Arrow Connector 50"/>
          <p:cNvCxnSpPr>
            <a:stCxn id="719910601" idx="2"/>
            <a:endCxn id="546941937" idx="0"/>
          </p:cNvCxnSpPr>
          <p:nvPr/>
        </p:nvCxnSpPr>
        <p:spPr bwMode="auto">
          <a:xfrm flipH="1">
            <a:off x="7592815" y="2783271"/>
            <a:ext cx="411470" cy="341244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12626079" name="Straight Arrow Connector 51"/>
          <p:cNvCxnSpPr>
            <a:stCxn id="719910601" idx="3"/>
            <a:endCxn id="434267482" idx="0"/>
          </p:cNvCxnSpPr>
          <p:nvPr/>
        </p:nvCxnSpPr>
        <p:spPr bwMode="auto">
          <a:xfrm>
            <a:off x="8442434" y="2554671"/>
            <a:ext cx="709820" cy="569844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11153380" name="TextBox 66"/>
          <p:cNvSpPr txBox="1"/>
          <p:nvPr/>
        </p:nvSpPr>
        <p:spPr bwMode="auto">
          <a:xfrm>
            <a:off x="9318735" y="2673898"/>
            <a:ext cx="11913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200" b="1">
                <a:solidFill>
                  <a:srgbClr val="C00000"/>
                </a:solidFill>
              </a:rPr>
              <a:t>Overflow</a:t>
            </a:r>
            <a:endParaRPr/>
          </a:p>
        </p:txBody>
      </p:sp>
      <p:sp>
        <p:nvSpPr>
          <p:cNvPr id="526506928" name="Rectangle 67"/>
          <p:cNvSpPr/>
          <p:nvPr/>
        </p:nvSpPr>
        <p:spPr bwMode="auto">
          <a:xfrm>
            <a:off x="8984053" y="3070363"/>
            <a:ext cx="334683" cy="570945"/>
          </a:xfrm>
          <a:prstGeom prst="rect">
            <a:avLst/>
          </a:prstGeom>
          <a:noFill/>
          <a:ln w="28575">
            <a:solidFill>
              <a:srgbClr val="B847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26105337" name="Rectangle 68"/>
          <p:cNvSpPr/>
          <p:nvPr/>
        </p:nvSpPr>
        <p:spPr bwMode="auto">
          <a:xfrm>
            <a:off x="1186724" y="4368376"/>
            <a:ext cx="1447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6, 11, 16</a:t>
            </a:r>
            <a:endParaRPr/>
          </a:p>
        </p:txBody>
      </p:sp>
      <p:sp>
        <p:nvSpPr>
          <p:cNvPr id="2134460414" name="Rectangle 69"/>
          <p:cNvSpPr/>
          <p:nvPr/>
        </p:nvSpPr>
        <p:spPr bwMode="auto">
          <a:xfrm>
            <a:off x="43724" y="5509166"/>
            <a:ext cx="828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1,2,5</a:t>
            </a:r>
            <a:endParaRPr/>
          </a:p>
        </p:txBody>
      </p:sp>
      <p:sp>
        <p:nvSpPr>
          <p:cNvPr id="728186016" name="Rectangle 70"/>
          <p:cNvSpPr/>
          <p:nvPr/>
        </p:nvSpPr>
        <p:spPr bwMode="auto">
          <a:xfrm>
            <a:off x="967090" y="5509166"/>
            <a:ext cx="720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7,10</a:t>
            </a:r>
            <a:endParaRPr/>
          </a:p>
        </p:txBody>
      </p:sp>
      <p:sp>
        <p:nvSpPr>
          <p:cNvPr id="755199281" name="Rectangle 71"/>
          <p:cNvSpPr/>
          <p:nvPr/>
        </p:nvSpPr>
        <p:spPr bwMode="auto">
          <a:xfrm>
            <a:off x="1805289" y="5509166"/>
            <a:ext cx="900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12,13</a:t>
            </a:r>
            <a:endParaRPr/>
          </a:p>
        </p:txBody>
      </p:sp>
      <p:sp>
        <p:nvSpPr>
          <p:cNvPr id="388453926" name="Rectangle 72"/>
          <p:cNvSpPr/>
          <p:nvPr/>
        </p:nvSpPr>
        <p:spPr bwMode="auto">
          <a:xfrm>
            <a:off x="2818301" y="5509166"/>
            <a:ext cx="900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20,24</a:t>
            </a:r>
            <a:endParaRPr/>
          </a:p>
        </p:txBody>
      </p:sp>
      <p:cxnSp>
        <p:nvCxnSpPr>
          <p:cNvPr id="108293588" name="Straight Arrow Connector 74"/>
          <p:cNvCxnSpPr>
            <a:stCxn id="1026105337" idx="1"/>
            <a:endCxn id="2134460414" idx="0"/>
          </p:cNvCxnSpPr>
          <p:nvPr/>
        </p:nvCxnSpPr>
        <p:spPr bwMode="auto">
          <a:xfrm flipH="1">
            <a:off x="457724" y="4596976"/>
            <a:ext cx="729000" cy="91219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26856492" name="Straight Arrow Connector 76"/>
          <p:cNvCxnSpPr>
            <a:endCxn id="728186016" idx="0"/>
          </p:cNvCxnSpPr>
          <p:nvPr/>
        </p:nvCxnSpPr>
        <p:spPr bwMode="auto">
          <a:xfrm flipH="1">
            <a:off x="1327090" y="4825576"/>
            <a:ext cx="165534" cy="68359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70934753" name="Straight Arrow Connector 79"/>
          <p:cNvCxnSpPr>
            <a:endCxn id="755199281" idx="0"/>
          </p:cNvCxnSpPr>
          <p:nvPr/>
        </p:nvCxnSpPr>
        <p:spPr bwMode="auto">
          <a:xfrm>
            <a:off x="2082612" y="4825576"/>
            <a:ext cx="172677" cy="68359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16089370" name="Straight Arrow Connector 81"/>
          <p:cNvCxnSpPr>
            <a:stCxn id="1026105337" idx="3"/>
            <a:endCxn id="388453926" idx="0"/>
          </p:cNvCxnSpPr>
          <p:nvPr/>
        </p:nvCxnSpPr>
        <p:spPr bwMode="auto">
          <a:xfrm>
            <a:off x="2634524" y="4596976"/>
            <a:ext cx="633777" cy="91219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2267630" name="TextBox 53"/>
          <p:cNvSpPr txBox="1"/>
          <p:nvPr/>
        </p:nvSpPr>
        <p:spPr bwMode="auto">
          <a:xfrm>
            <a:off x="3852573" y="3745689"/>
            <a:ext cx="1367682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/>
              <a:t>Insert </a:t>
            </a:r>
            <a:r>
              <a:rPr lang="en-US" sz="2400" b="1">
                <a:solidFill>
                  <a:srgbClr val="C00000"/>
                </a:solidFill>
              </a:rPr>
              <a:t>3,4</a:t>
            </a:r>
            <a:endParaRPr/>
          </a:p>
        </p:txBody>
      </p:sp>
      <p:sp>
        <p:nvSpPr>
          <p:cNvPr id="848389690" name="Rectangle 54"/>
          <p:cNvSpPr/>
          <p:nvPr/>
        </p:nvSpPr>
        <p:spPr bwMode="auto">
          <a:xfrm>
            <a:off x="5337633" y="4368376"/>
            <a:ext cx="1447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6, 11, 16</a:t>
            </a:r>
            <a:endParaRPr/>
          </a:p>
        </p:txBody>
      </p:sp>
      <p:sp>
        <p:nvSpPr>
          <p:cNvPr id="879123217" name="Rectangle 55"/>
          <p:cNvSpPr/>
          <p:nvPr/>
        </p:nvSpPr>
        <p:spPr bwMode="auto">
          <a:xfrm>
            <a:off x="3927932" y="5509166"/>
            <a:ext cx="1332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1,2, </a:t>
            </a:r>
            <a:r>
              <a:rPr lang="en-US" sz="2400" b="1">
                <a:solidFill>
                  <a:srgbClr val="FFFF00"/>
                </a:solidFill>
              </a:rPr>
              <a:t>3,4</a:t>
            </a:r>
            <a:r>
              <a:rPr lang="en-US" sz="2400" b="1"/>
              <a:t>,5</a:t>
            </a:r>
            <a:endParaRPr/>
          </a:p>
        </p:txBody>
      </p:sp>
      <p:sp>
        <p:nvSpPr>
          <p:cNvPr id="81162051" name="Rectangle 56"/>
          <p:cNvSpPr/>
          <p:nvPr/>
        </p:nvSpPr>
        <p:spPr bwMode="auto">
          <a:xfrm>
            <a:off x="5345584" y="5509166"/>
            <a:ext cx="745085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7,10</a:t>
            </a:r>
            <a:endParaRPr/>
          </a:p>
        </p:txBody>
      </p:sp>
      <p:sp>
        <p:nvSpPr>
          <p:cNvPr id="73921217" name="Rectangle 57"/>
          <p:cNvSpPr/>
          <p:nvPr/>
        </p:nvSpPr>
        <p:spPr bwMode="auto">
          <a:xfrm>
            <a:off x="6166868" y="5509166"/>
            <a:ext cx="900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12,13</a:t>
            </a:r>
            <a:endParaRPr/>
          </a:p>
        </p:txBody>
      </p:sp>
      <p:sp>
        <p:nvSpPr>
          <p:cNvPr id="30868822" name="Rectangle 58"/>
          <p:cNvSpPr/>
          <p:nvPr/>
        </p:nvSpPr>
        <p:spPr bwMode="auto">
          <a:xfrm>
            <a:off x="7179880" y="5509166"/>
            <a:ext cx="900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20,24</a:t>
            </a:r>
            <a:endParaRPr/>
          </a:p>
        </p:txBody>
      </p:sp>
      <p:cxnSp>
        <p:nvCxnSpPr>
          <p:cNvPr id="371195314" name="Straight Arrow Connector 59"/>
          <p:cNvCxnSpPr>
            <a:stCxn id="848389690" idx="1"/>
            <a:endCxn id="879123217" idx="0"/>
          </p:cNvCxnSpPr>
          <p:nvPr/>
        </p:nvCxnSpPr>
        <p:spPr bwMode="auto">
          <a:xfrm flipH="1">
            <a:off x="4593932" y="4596976"/>
            <a:ext cx="743701" cy="91219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16577228" name="Straight Arrow Connector 60"/>
          <p:cNvCxnSpPr>
            <a:endCxn id="81162051" idx="0"/>
          </p:cNvCxnSpPr>
          <p:nvPr/>
        </p:nvCxnSpPr>
        <p:spPr bwMode="auto">
          <a:xfrm flipH="1">
            <a:off x="5718127" y="4825576"/>
            <a:ext cx="124892" cy="68359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60603999" name="Straight Arrow Connector 61"/>
          <p:cNvCxnSpPr>
            <a:endCxn id="73921217" idx="0"/>
          </p:cNvCxnSpPr>
          <p:nvPr/>
        </p:nvCxnSpPr>
        <p:spPr bwMode="auto">
          <a:xfrm>
            <a:off x="6281168" y="4825576"/>
            <a:ext cx="335700" cy="68359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81532038" name="Straight Arrow Connector 62"/>
          <p:cNvCxnSpPr>
            <a:stCxn id="848389690" idx="3"/>
            <a:endCxn id="30868822" idx="0"/>
          </p:cNvCxnSpPr>
          <p:nvPr/>
        </p:nvCxnSpPr>
        <p:spPr bwMode="auto">
          <a:xfrm>
            <a:off x="6785433" y="4596976"/>
            <a:ext cx="844447" cy="91219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91602973" name="TextBox 63"/>
          <p:cNvSpPr txBox="1"/>
          <p:nvPr/>
        </p:nvSpPr>
        <p:spPr bwMode="auto">
          <a:xfrm>
            <a:off x="3839133" y="4960047"/>
            <a:ext cx="11913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200" b="1">
                <a:solidFill>
                  <a:srgbClr val="C00000"/>
                </a:solidFill>
              </a:rPr>
              <a:t>Overflow</a:t>
            </a:r>
            <a:endParaRPr/>
          </a:p>
        </p:txBody>
      </p:sp>
      <p:sp>
        <p:nvSpPr>
          <p:cNvPr id="1426252627" name="Rectangle 64"/>
          <p:cNvSpPr/>
          <p:nvPr/>
        </p:nvSpPr>
        <p:spPr bwMode="auto">
          <a:xfrm>
            <a:off x="4468576" y="5462656"/>
            <a:ext cx="334683" cy="570945"/>
          </a:xfrm>
          <a:prstGeom prst="rect">
            <a:avLst/>
          </a:prstGeom>
          <a:noFill/>
          <a:ln w="28575">
            <a:solidFill>
              <a:srgbClr val="B847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11200227" name="Rectangle 65"/>
          <p:cNvSpPr/>
          <p:nvPr/>
        </p:nvSpPr>
        <p:spPr bwMode="auto">
          <a:xfrm>
            <a:off x="9237281" y="4120181"/>
            <a:ext cx="1828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3,  6,  11,  16</a:t>
            </a:r>
            <a:endParaRPr/>
          </a:p>
        </p:txBody>
      </p:sp>
      <p:sp>
        <p:nvSpPr>
          <p:cNvPr id="258971673" name="Rectangle 73"/>
          <p:cNvSpPr/>
          <p:nvPr/>
        </p:nvSpPr>
        <p:spPr bwMode="auto">
          <a:xfrm>
            <a:off x="9464868" y="5260971"/>
            <a:ext cx="720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7,10</a:t>
            </a:r>
            <a:endParaRPr/>
          </a:p>
        </p:txBody>
      </p:sp>
      <p:sp>
        <p:nvSpPr>
          <p:cNvPr id="1867628142" name="Rectangle 75"/>
          <p:cNvSpPr/>
          <p:nvPr/>
        </p:nvSpPr>
        <p:spPr bwMode="auto">
          <a:xfrm>
            <a:off x="10272705" y="5260971"/>
            <a:ext cx="900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12,13</a:t>
            </a:r>
            <a:endParaRPr/>
          </a:p>
        </p:txBody>
      </p:sp>
      <p:sp>
        <p:nvSpPr>
          <p:cNvPr id="1269603985" name="Rectangle 77"/>
          <p:cNvSpPr/>
          <p:nvPr/>
        </p:nvSpPr>
        <p:spPr bwMode="auto">
          <a:xfrm>
            <a:off x="11245376" y="5260971"/>
            <a:ext cx="900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20,24</a:t>
            </a:r>
            <a:endParaRPr/>
          </a:p>
        </p:txBody>
      </p:sp>
      <p:sp>
        <p:nvSpPr>
          <p:cNvPr id="400124814" name="Rectangle 78"/>
          <p:cNvSpPr/>
          <p:nvPr/>
        </p:nvSpPr>
        <p:spPr bwMode="auto">
          <a:xfrm>
            <a:off x="8795477" y="5260971"/>
            <a:ext cx="576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4,5</a:t>
            </a:r>
            <a:endParaRPr/>
          </a:p>
        </p:txBody>
      </p:sp>
      <p:sp>
        <p:nvSpPr>
          <p:cNvPr id="224592061" name="Rectangle 80"/>
          <p:cNvSpPr/>
          <p:nvPr/>
        </p:nvSpPr>
        <p:spPr bwMode="auto">
          <a:xfrm>
            <a:off x="8170481" y="5260971"/>
            <a:ext cx="576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1,2</a:t>
            </a:r>
            <a:endParaRPr/>
          </a:p>
        </p:txBody>
      </p:sp>
      <p:cxnSp>
        <p:nvCxnSpPr>
          <p:cNvPr id="81818905" name="Straight Arrow Connector 82"/>
          <p:cNvCxnSpPr>
            <a:stCxn id="1211200227" idx="1"/>
            <a:endCxn id="224592061" idx="0"/>
          </p:cNvCxnSpPr>
          <p:nvPr/>
        </p:nvCxnSpPr>
        <p:spPr bwMode="auto">
          <a:xfrm flipH="1">
            <a:off x="8458481" y="4348781"/>
            <a:ext cx="778800" cy="91219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43950381" name="Straight Arrow Connector 83"/>
          <p:cNvCxnSpPr>
            <a:endCxn id="400124814" idx="0"/>
          </p:cNvCxnSpPr>
          <p:nvPr/>
        </p:nvCxnSpPr>
        <p:spPr bwMode="auto">
          <a:xfrm flipH="1">
            <a:off x="9083477" y="4577381"/>
            <a:ext cx="454122" cy="68359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69351460" name="Straight Arrow Connector 84"/>
          <p:cNvCxnSpPr>
            <a:endCxn id="258971673" idx="0"/>
          </p:cNvCxnSpPr>
          <p:nvPr/>
        </p:nvCxnSpPr>
        <p:spPr bwMode="auto">
          <a:xfrm flipH="1">
            <a:off x="9824868" y="4577381"/>
            <a:ext cx="80284" cy="68359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83799335" name="Straight Arrow Connector 85"/>
          <p:cNvCxnSpPr>
            <a:endCxn id="1867628142" idx="0"/>
          </p:cNvCxnSpPr>
          <p:nvPr/>
        </p:nvCxnSpPr>
        <p:spPr bwMode="auto">
          <a:xfrm>
            <a:off x="10463205" y="4577381"/>
            <a:ext cx="259500" cy="68359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40242945" name="Straight Arrow Connector 86"/>
          <p:cNvCxnSpPr>
            <a:stCxn id="1211200227" idx="3"/>
            <a:endCxn id="1269603985" idx="0"/>
          </p:cNvCxnSpPr>
          <p:nvPr/>
        </p:nvCxnSpPr>
        <p:spPr bwMode="auto">
          <a:xfrm>
            <a:off x="11066080" y="4348781"/>
            <a:ext cx="629295" cy="91219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29847252" name="Straight Connector 87"/>
          <p:cNvCxnSpPr/>
          <p:nvPr/>
        </p:nvCxnSpPr>
        <p:spPr bwMode="auto">
          <a:xfrm>
            <a:off x="3852573" y="3745689"/>
            <a:ext cx="0" cy="27626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46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5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40154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719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266719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86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22869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49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28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01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0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77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602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10" fill="hold"/>
                                        <p:tgtEl>
                                          <p:spTgt spid="1230503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4" dur="10" fill="hold"/>
                                        <p:tgtEl>
                                          <p:spTgt spid="1230503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10" fill="hold"/>
                                        <p:tgtEl>
                                          <p:spTgt spid="1230503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295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19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327820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874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31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51431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06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4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7334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35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179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10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1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27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4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67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62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626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153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10" fill="hold"/>
                                        <p:tgtEl>
                                          <p:spTgt spid="4342674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9" dur="10" fill="hold"/>
                                        <p:tgtEl>
                                          <p:spTgt spid="4342674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" dur="10" fill="hold"/>
                                        <p:tgtEl>
                                          <p:spTgt spid="4342674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506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05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9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3" dur="500"/>
                                        <p:tgtEl>
                                          <p:spTgt spid="10829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446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856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726856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8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934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1870934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19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089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1116089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453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47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1229847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7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389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123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6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2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19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57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603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53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602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10" fill="hold"/>
                                        <p:tgtEl>
                                          <p:spTgt spid="8791232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92" dur="10" fill="hold"/>
                                        <p:tgtEl>
                                          <p:spTgt spid="8791232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10" fill="hold"/>
                                        <p:tgtEl>
                                          <p:spTgt spid="8791232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25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20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8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81818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59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95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5" dur="500"/>
                                        <p:tgtEl>
                                          <p:spTgt spid="1043950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24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935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97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79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62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242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603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1462306" grpId="0"/>
      <p:bldP spid="1096495409" grpId="0" animBg="1"/>
      <p:bldP spid="518013088" grpId="0" animBg="1"/>
      <p:bldP spid="1230503140" grpId="0" animBg="1"/>
      <p:bldP spid="641281112" grpId="0" animBg="1"/>
      <p:bldP spid="1800602970" grpId="0"/>
      <p:bldP spid="1734295801" grpId="0" animBg="1"/>
      <p:bldP spid="1045874555" grpId="0" animBg="1"/>
      <p:bldP spid="925193986" grpId="0" animBg="1"/>
      <p:bldP spid="1561066012" grpId="0" animBg="1"/>
      <p:bldP spid="1597435879" grpId="0" animBg="1"/>
      <p:bldP spid="716179553" grpId="0" animBg="1"/>
      <p:bldP spid="1905103113" grpId="0" animBg="1"/>
      <p:bldP spid="719910601" grpId="0" animBg="1"/>
      <p:bldP spid="546941937" grpId="0" animBg="1"/>
      <p:bldP spid="434267482" grpId="0" animBg="1"/>
      <p:bldP spid="2011153380" grpId="0"/>
      <p:bldP spid="526506928" grpId="0" animBg="1"/>
      <p:bldP spid="1026105337" grpId="0" animBg="1"/>
      <p:bldP spid="2134460414" grpId="0" animBg="1"/>
      <p:bldP spid="728186016" grpId="0" animBg="1"/>
      <p:bldP spid="755199281" grpId="0" animBg="1"/>
      <p:bldP spid="388453926" grpId="0" animBg="1"/>
      <p:bldP spid="352267630" grpId="0" animBg="1"/>
      <p:bldP spid="848389690" grpId="0" animBg="1"/>
      <p:bldP spid="879123217" grpId="0" animBg="1"/>
      <p:bldP spid="81162051" grpId="0" animBg="1"/>
      <p:bldP spid="73921217" grpId="0" animBg="1"/>
      <p:bldP spid="30868822" grpId="0" animBg="1"/>
      <p:bldP spid="1691602973" grpId="0"/>
      <p:bldP spid="1426252627" grpId="0" animBg="1"/>
      <p:bldP spid="1211200227" grpId="0" animBg="1"/>
      <p:bldP spid="258971673" grpId="0" animBg="1"/>
      <p:bldP spid="1867628142" grpId="0" animBg="1"/>
      <p:bldP spid="1269603985" grpId="0" animBg="1"/>
      <p:bldP spid="400124814" grpId="0" animBg="1"/>
      <p:bldP spid="22459206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8419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Construct M-Way Tree</a:t>
            </a:r>
            <a:endParaRPr/>
          </a:p>
        </p:txBody>
      </p:sp>
      <p:sp>
        <p:nvSpPr>
          <p:cNvPr id="1407355796" name="TextBox 3"/>
          <p:cNvSpPr txBox="1"/>
          <p:nvPr/>
        </p:nvSpPr>
        <p:spPr bwMode="auto">
          <a:xfrm>
            <a:off x="1714500" y="757520"/>
            <a:ext cx="876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/>
              <a:t>Construct </a:t>
            </a:r>
            <a:r>
              <a:rPr lang="en-US" sz="2400" b="1">
                <a:solidFill>
                  <a:srgbClr val="C00000"/>
                </a:solidFill>
              </a:rPr>
              <a:t>5 Order (5 Way) </a:t>
            </a:r>
            <a:r>
              <a:rPr lang="en-US" sz="2400"/>
              <a:t>Tree from following data</a:t>
            </a:r>
            <a:endParaRPr/>
          </a:p>
          <a:p>
            <a:pPr algn="ctr">
              <a:defRPr/>
            </a:pPr>
            <a:r>
              <a:rPr lang="en-US" sz="2400"/>
              <a:t>1, 7, 6, 2, 11, 5, 10, 13, 12, 20, 16, 24, 3, 4, 18, 19, 14, 25</a:t>
            </a:r>
            <a:endParaRPr/>
          </a:p>
        </p:txBody>
      </p:sp>
      <p:cxnSp>
        <p:nvCxnSpPr>
          <p:cNvPr id="1264174359" name="Straight Connector 4"/>
          <p:cNvCxnSpPr/>
          <p:nvPr/>
        </p:nvCxnSpPr>
        <p:spPr bwMode="auto">
          <a:xfrm>
            <a:off x="87412" y="1671919"/>
            <a:ext cx="11998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12712228" name="Straight Connector 39"/>
          <p:cNvCxnSpPr/>
          <p:nvPr/>
        </p:nvCxnSpPr>
        <p:spPr bwMode="auto">
          <a:xfrm>
            <a:off x="87412" y="3814502"/>
            <a:ext cx="11998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64838808" name="TextBox 40"/>
          <p:cNvSpPr txBox="1"/>
          <p:nvPr/>
        </p:nvSpPr>
        <p:spPr bwMode="auto">
          <a:xfrm>
            <a:off x="87412" y="1662977"/>
            <a:ext cx="206979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/>
              <a:t>Insert </a:t>
            </a:r>
            <a:r>
              <a:rPr lang="en-US" sz="2400" b="1">
                <a:solidFill>
                  <a:srgbClr val="C00000"/>
                </a:solidFill>
              </a:rPr>
              <a:t>18,19,14</a:t>
            </a:r>
            <a:endParaRPr/>
          </a:p>
        </p:txBody>
      </p:sp>
      <p:sp>
        <p:nvSpPr>
          <p:cNvPr id="425739009" name="Rectangle 41"/>
          <p:cNvSpPr/>
          <p:nvPr/>
        </p:nvSpPr>
        <p:spPr bwMode="auto">
          <a:xfrm>
            <a:off x="2568394" y="1896040"/>
            <a:ext cx="1828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3,  6,  11,  16</a:t>
            </a:r>
            <a:endParaRPr/>
          </a:p>
        </p:txBody>
      </p:sp>
      <p:sp>
        <p:nvSpPr>
          <p:cNvPr id="1400234171" name="Rectangle 42"/>
          <p:cNvSpPr/>
          <p:nvPr/>
        </p:nvSpPr>
        <p:spPr bwMode="auto">
          <a:xfrm>
            <a:off x="2263595" y="2962841"/>
            <a:ext cx="745085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7,10</a:t>
            </a:r>
            <a:endParaRPr/>
          </a:p>
        </p:txBody>
      </p:sp>
      <p:sp>
        <p:nvSpPr>
          <p:cNvPr id="289660526" name="Rectangle 43"/>
          <p:cNvSpPr/>
          <p:nvPr/>
        </p:nvSpPr>
        <p:spPr bwMode="auto">
          <a:xfrm>
            <a:off x="3330395" y="2962841"/>
            <a:ext cx="1620077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12, 13, </a:t>
            </a:r>
            <a:r>
              <a:rPr lang="en-US" sz="2400" b="1">
                <a:solidFill>
                  <a:srgbClr val="FFFF00"/>
                </a:solidFill>
              </a:rPr>
              <a:t>14</a:t>
            </a:r>
            <a:endParaRPr/>
          </a:p>
        </p:txBody>
      </p:sp>
      <p:sp>
        <p:nvSpPr>
          <p:cNvPr id="106148659" name="Rectangle 44"/>
          <p:cNvSpPr/>
          <p:nvPr/>
        </p:nvSpPr>
        <p:spPr bwMode="auto">
          <a:xfrm>
            <a:off x="5311594" y="2962841"/>
            <a:ext cx="2133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>
                <a:solidFill>
                  <a:srgbClr val="FFFF00"/>
                </a:solidFill>
              </a:rPr>
              <a:t>18, 19</a:t>
            </a:r>
            <a:r>
              <a:rPr lang="en-US" sz="2400" b="1"/>
              <a:t>, 20, 24</a:t>
            </a:r>
            <a:endParaRPr/>
          </a:p>
        </p:txBody>
      </p:sp>
      <p:sp>
        <p:nvSpPr>
          <p:cNvPr id="1108755207" name="Rectangle 45"/>
          <p:cNvSpPr/>
          <p:nvPr/>
        </p:nvSpPr>
        <p:spPr bwMode="auto">
          <a:xfrm>
            <a:off x="1120594" y="2962841"/>
            <a:ext cx="609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4,5</a:t>
            </a:r>
            <a:endParaRPr/>
          </a:p>
        </p:txBody>
      </p:sp>
      <p:sp>
        <p:nvSpPr>
          <p:cNvPr id="294586526" name="Rectangle 46"/>
          <p:cNvSpPr/>
          <p:nvPr/>
        </p:nvSpPr>
        <p:spPr bwMode="auto">
          <a:xfrm>
            <a:off x="53794" y="2962841"/>
            <a:ext cx="609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1,2</a:t>
            </a:r>
            <a:endParaRPr/>
          </a:p>
        </p:txBody>
      </p:sp>
      <p:cxnSp>
        <p:nvCxnSpPr>
          <p:cNvPr id="1223637265" name="Straight Arrow Connector 47"/>
          <p:cNvCxnSpPr>
            <a:stCxn id="425739009" idx="1"/>
            <a:endCxn id="294586526" idx="0"/>
          </p:cNvCxnSpPr>
          <p:nvPr/>
        </p:nvCxnSpPr>
        <p:spPr bwMode="auto">
          <a:xfrm flipH="1">
            <a:off x="358594" y="2124641"/>
            <a:ext cx="2209800" cy="838201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25435341" name="Straight Arrow Connector 48"/>
          <p:cNvCxnSpPr>
            <a:endCxn id="1108755207" idx="0"/>
          </p:cNvCxnSpPr>
          <p:nvPr/>
        </p:nvCxnSpPr>
        <p:spPr bwMode="auto">
          <a:xfrm flipH="1">
            <a:off x="1425394" y="2353240"/>
            <a:ext cx="1485900" cy="609601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65416698" name="Straight Arrow Connector 49"/>
          <p:cNvCxnSpPr>
            <a:endCxn id="1400234171" idx="0"/>
          </p:cNvCxnSpPr>
          <p:nvPr/>
        </p:nvCxnSpPr>
        <p:spPr bwMode="auto">
          <a:xfrm flipH="1">
            <a:off x="2636137" y="2353240"/>
            <a:ext cx="701738" cy="609601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3836933" name="Straight Arrow Connector 50"/>
          <p:cNvCxnSpPr/>
          <p:nvPr/>
        </p:nvCxnSpPr>
        <p:spPr bwMode="auto">
          <a:xfrm>
            <a:off x="3903551" y="2353240"/>
            <a:ext cx="236883" cy="609601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61656463" name="Straight Arrow Connector 51"/>
          <p:cNvCxnSpPr>
            <a:stCxn id="425739009" idx="3"/>
            <a:endCxn id="106148659" idx="0"/>
          </p:cNvCxnSpPr>
          <p:nvPr/>
        </p:nvCxnSpPr>
        <p:spPr bwMode="auto">
          <a:xfrm>
            <a:off x="4397194" y="2124641"/>
            <a:ext cx="1981200" cy="838201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06634351" name="TextBox 86"/>
          <p:cNvSpPr txBox="1"/>
          <p:nvPr/>
        </p:nvSpPr>
        <p:spPr bwMode="auto">
          <a:xfrm>
            <a:off x="87412" y="3814502"/>
            <a:ext cx="1287532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/>
              <a:t>Insert </a:t>
            </a:r>
            <a:r>
              <a:rPr lang="en-US" sz="2400" b="1">
                <a:solidFill>
                  <a:srgbClr val="C00000"/>
                </a:solidFill>
              </a:rPr>
              <a:t>25</a:t>
            </a:r>
            <a:endParaRPr/>
          </a:p>
        </p:txBody>
      </p:sp>
      <p:sp>
        <p:nvSpPr>
          <p:cNvPr id="1417210662" name="Rectangle 87"/>
          <p:cNvSpPr/>
          <p:nvPr/>
        </p:nvSpPr>
        <p:spPr bwMode="auto">
          <a:xfrm>
            <a:off x="1707791" y="4261521"/>
            <a:ext cx="176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3,  6,  11,  16</a:t>
            </a:r>
            <a:endParaRPr/>
          </a:p>
        </p:txBody>
      </p:sp>
      <p:sp>
        <p:nvSpPr>
          <p:cNvPr id="1021933660" name="Rectangle 88"/>
          <p:cNvSpPr/>
          <p:nvPr/>
        </p:nvSpPr>
        <p:spPr bwMode="auto">
          <a:xfrm>
            <a:off x="1403326" y="5012022"/>
            <a:ext cx="720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7,10</a:t>
            </a:r>
            <a:endParaRPr/>
          </a:p>
        </p:txBody>
      </p:sp>
      <p:sp>
        <p:nvSpPr>
          <p:cNvPr id="1432322068" name="Rectangle 89"/>
          <p:cNvSpPr/>
          <p:nvPr/>
        </p:nvSpPr>
        <p:spPr bwMode="auto">
          <a:xfrm>
            <a:off x="2228813" y="5012022"/>
            <a:ext cx="140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12, 13</a:t>
            </a:r>
            <a:r>
              <a:rPr lang="en-US" sz="2400" b="1">
                <a:solidFill>
                  <a:schemeClr val="bg1"/>
                </a:solidFill>
              </a:rPr>
              <a:t>, 14</a:t>
            </a:r>
            <a:endParaRPr/>
          </a:p>
        </p:txBody>
      </p:sp>
      <p:sp>
        <p:nvSpPr>
          <p:cNvPr id="1845746937" name="Rectangle 90"/>
          <p:cNvSpPr/>
          <p:nvPr/>
        </p:nvSpPr>
        <p:spPr bwMode="auto">
          <a:xfrm>
            <a:off x="3738300" y="5012022"/>
            <a:ext cx="230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>
                <a:solidFill>
                  <a:schemeClr val="bg1"/>
                </a:solidFill>
              </a:rPr>
              <a:t>18, 19, </a:t>
            </a:r>
            <a:r>
              <a:rPr lang="en-US" sz="2400" b="1"/>
              <a:t>20, 24, </a:t>
            </a:r>
            <a:r>
              <a:rPr lang="en-US" sz="2400" b="1">
                <a:solidFill>
                  <a:srgbClr val="FFFF00"/>
                </a:solidFill>
              </a:rPr>
              <a:t>25</a:t>
            </a:r>
            <a:endParaRPr/>
          </a:p>
        </p:txBody>
      </p:sp>
      <p:sp>
        <p:nvSpPr>
          <p:cNvPr id="772971170" name="Rectangle 91"/>
          <p:cNvSpPr/>
          <p:nvPr/>
        </p:nvSpPr>
        <p:spPr bwMode="auto">
          <a:xfrm>
            <a:off x="721839" y="5012022"/>
            <a:ext cx="576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4,5</a:t>
            </a:r>
            <a:endParaRPr/>
          </a:p>
        </p:txBody>
      </p:sp>
      <p:sp>
        <p:nvSpPr>
          <p:cNvPr id="205853936" name="Rectangle 92"/>
          <p:cNvSpPr/>
          <p:nvPr/>
        </p:nvSpPr>
        <p:spPr bwMode="auto">
          <a:xfrm>
            <a:off x="40352" y="5012022"/>
            <a:ext cx="576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1,2</a:t>
            </a:r>
            <a:endParaRPr/>
          </a:p>
        </p:txBody>
      </p:sp>
      <p:cxnSp>
        <p:nvCxnSpPr>
          <p:cNvPr id="1189641663" name="Straight Arrow Connector 93"/>
          <p:cNvCxnSpPr>
            <a:stCxn id="1417210662" idx="1"/>
            <a:endCxn id="205853936" idx="0"/>
          </p:cNvCxnSpPr>
          <p:nvPr/>
        </p:nvCxnSpPr>
        <p:spPr bwMode="auto">
          <a:xfrm flipH="1">
            <a:off x="328352" y="4490121"/>
            <a:ext cx="1379438" cy="521901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04153974" name="Straight Arrow Connector 94"/>
          <p:cNvCxnSpPr>
            <a:endCxn id="772971170" idx="0"/>
          </p:cNvCxnSpPr>
          <p:nvPr/>
        </p:nvCxnSpPr>
        <p:spPr bwMode="auto">
          <a:xfrm flipH="1">
            <a:off x="1009839" y="4728903"/>
            <a:ext cx="1049556" cy="283119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41858785" name="Straight Arrow Connector 95"/>
          <p:cNvCxnSpPr>
            <a:endCxn id="1021933660" idx="0"/>
          </p:cNvCxnSpPr>
          <p:nvPr/>
        </p:nvCxnSpPr>
        <p:spPr bwMode="auto">
          <a:xfrm flipH="1">
            <a:off x="1763326" y="4708782"/>
            <a:ext cx="755328" cy="30324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48857386" name="Straight Arrow Connector 96"/>
          <p:cNvCxnSpPr>
            <a:endCxn id="1432322068" idx="0"/>
          </p:cNvCxnSpPr>
          <p:nvPr/>
        </p:nvCxnSpPr>
        <p:spPr bwMode="auto">
          <a:xfrm flipH="1">
            <a:off x="2930812" y="4718722"/>
            <a:ext cx="54450" cy="2933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63509176" name="Straight Arrow Connector 97"/>
          <p:cNvCxnSpPr>
            <a:stCxn id="1417210662" idx="3"/>
            <a:endCxn id="1845746937" idx="0"/>
          </p:cNvCxnSpPr>
          <p:nvPr/>
        </p:nvCxnSpPr>
        <p:spPr bwMode="auto">
          <a:xfrm>
            <a:off x="3471791" y="4490121"/>
            <a:ext cx="1418509" cy="521901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92326238" name="TextBox 98"/>
          <p:cNvSpPr txBox="1"/>
          <p:nvPr/>
        </p:nvSpPr>
        <p:spPr bwMode="auto">
          <a:xfrm>
            <a:off x="4828034" y="4650708"/>
            <a:ext cx="11913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200" b="1">
                <a:solidFill>
                  <a:srgbClr val="C00000"/>
                </a:solidFill>
              </a:rPr>
              <a:t>Overflow</a:t>
            </a:r>
            <a:endParaRPr/>
          </a:p>
        </p:txBody>
      </p:sp>
      <p:sp>
        <p:nvSpPr>
          <p:cNvPr id="1760301421" name="Rectangle 99"/>
          <p:cNvSpPr/>
          <p:nvPr/>
        </p:nvSpPr>
        <p:spPr bwMode="auto">
          <a:xfrm>
            <a:off x="4738612" y="4957262"/>
            <a:ext cx="334683" cy="570945"/>
          </a:xfrm>
          <a:prstGeom prst="rect">
            <a:avLst/>
          </a:prstGeom>
          <a:noFill/>
          <a:ln w="28575">
            <a:solidFill>
              <a:srgbClr val="B847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24041583" name="Rectangle 100"/>
          <p:cNvSpPr/>
          <p:nvPr/>
        </p:nvSpPr>
        <p:spPr bwMode="auto">
          <a:xfrm>
            <a:off x="1371616" y="5776558"/>
            <a:ext cx="2382077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3,  6,  11,  16</a:t>
            </a:r>
            <a:r>
              <a:rPr lang="en-US" sz="2400" b="1">
                <a:solidFill>
                  <a:srgbClr val="FFFF00"/>
                </a:solidFill>
              </a:rPr>
              <a:t>, 20</a:t>
            </a:r>
            <a:endParaRPr/>
          </a:p>
        </p:txBody>
      </p:sp>
      <p:sp>
        <p:nvSpPr>
          <p:cNvPr id="756955807" name="TextBox 101"/>
          <p:cNvSpPr txBox="1"/>
          <p:nvPr/>
        </p:nvSpPr>
        <p:spPr bwMode="auto">
          <a:xfrm>
            <a:off x="3810015" y="5802872"/>
            <a:ext cx="119135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200" b="1">
                <a:solidFill>
                  <a:srgbClr val="C00000"/>
                </a:solidFill>
              </a:rPr>
              <a:t>Overflow</a:t>
            </a:r>
            <a:endParaRPr/>
          </a:p>
        </p:txBody>
      </p:sp>
      <p:sp>
        <p:nvSpPr>
          <p:cNvPr id="1250003441" name="Rectangle 102"/>
          <p:cNvSpPr/>
          <p:nvPr/>
        </p:nvSpPr>
        <p:spPr bwMode="auto">
          <a:xfrm>
            <a:off x="2259511" y="5719136"/>
            <a:ext cx="334683" cy="570945"/>
          </a:xfrm>
          <a:prstGeom prst="rect">
            <a:avLst/>
          </a:prstGeom>
          <a:noFill/>
          <a:ln w="28575">
            <a:solidFill>
              <a:srgbClr val="B847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67315439" name="Rectangle 103"/>
          <p:cNvSpPr/>
          <p:nvPr/>
        </p:nvSpPr>
        <p:spPr bwMode="auto">
          <a:xfrm>
            <a:off x="8557902" y="4261521"/>
            <a:ext cx="533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11</a:t>
            </a:r>
            <a:endParaRPr/>
          </a:p>
        </p:txBody>
      </p:sp>
      <p:sp>
        <p:nvSpPr>
          <p:cNvPr id="1979446819" name="Rectangle 104"/>
          <p:cNvSpPr/>
          <p:nvPr/>
        </p:nvSpPr>
        <p:spPr bwMode="auto">
          <a:xfrm>
            <a:off x="6966666" y="5012022"/>
            <a:ext cx="677342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3, 6</a:t>
            </a:r>
            <a:endParaRPr/>
          </a:p>
        </p:txBody>
      </p:sp>
      <p:sp>
        <p:nvSpPr>
          <p:cNvPr id="1424473520" name="Rectangle 105"/>
          <p:cNvSpPr/>
          <p:nvPr/>
        </p:nvSpPr>
        <p:spPr bwMode="auto">
          <a:xfrm>
            <a:off x="9954450" y="5012022"/>
            <a:ext cx="1010477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16, 20</a:t>
            </a:r>
            <a:endParaRPr/>
          </a:p>
        </p:txBody>
      </p:sp>
      <p:sp>
        <p:nvSpPr>
          <p:cNvPr id="1457484186" name="Rectangle 106"/>
          <p:cNvSpPr/>
          <p:nvPr/>
        </p:nvSpPr>
        <p:spPr bwMode="auto">
          <a:xfrm>
            <a:off x="7678813" y="5774022"/>
            <a:ext cx="745085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7,10</a:t>
            </a:r>
            <a:endParaRPr/>
          </a:p>
        </p:txBody>
      </p:sp>
      <p:sp>
        <p:nvSpPr>
          <p:cNvPr id="39420387" name="Rectangle 107"/>
          <p:cNvSpPr/>
          <p:nvPr/>
        </p:nvSpPr>
        <p:spPr bwMode="auto">
          <a:xfrm>
            <a:off x="8499827" y="5774022"/>
            <a:ext cx="140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12, 13</a:t>
            </a:r>
            <a:r>
              <a:rPr lang="en-US" sz="2400" b="1">
                <a:solidFill>
                  <a:schemeClr val="bg1"/>
                </a:solidFill>
              </a:rPr>
              <a:t>, 14</a:t>
            </a:r>
            <a:endParaRPr/>
          </a:p>
        </p:txBody>
      </p:sp>
      <p:sp>
        <p:nvSpPr>
          <p:cNvPr id="1782607174" name="Rectangle 108"/>
          <p:cNvSpPr/>
          <p:nvPr/>
        </p:nvSpPr>
        <p:spPr bwMode="auto">
          <a:xfrm>
            <a:off x="6993286" y="5774022"/>
            <a:ext cx="609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4,5</a:t>
            </a:r>
            <a:endParaRPr/>
          </a:p>
        </p:txBody>
      </p:sp>
      <p:sp>
        <p:nvSpPr>
          <p:cNvPr id="1914187012" name="Rectangle 109"/>
          <p:cNvSpPr/>
          <p:nvPr/>
        </p:nvSpPr>
        <p:spPr bwMode="auto">
          <a:xfrm>
            <a:off x="6307758" y="5774022"/>
            <a:ext cx="609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1,2</a:t>
            </a:r>
            <a:endParaRPr/>
          </a:p>
        </p:txBody>
      </p:sp>
      <p:sp>
        <p:nvSpPr>
          <p:cNvPr id="1791391527" name="Rectangle 110"/>
          <p:cNvSpPr/>
          <p:nvPr/>
        </p:nvSpPr>
        <p:spPr bwMode="auto">
          <a:xfrm>
            <a:off x="9979755" y="5774022"/>
            <a:ext cx="972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18, 19</a:t>
            </a:r>
            <a:endParaRPr/>
          </a:p>
        </p:txBody>
      </p:sp>
      <p:sp>
        <p:nvSpPr>
          <p:cNvPr id="789313346" name="Rectangle 111"/>
          <p:cNvSpPr/>
          <p:nvPr/>
        </p:nvSpPr>
        <p:spPr bwMode="auto">
          <a:xfrm>
            <a:off x="11027682" y="5774022"/>
            <a:ext cx="1010477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400" b="1"/>
              <a:t>24, 25</a:t>
            </a:r>
            <a:endParaRPr/>
          </a:p>
        </p:txBody>
      </p:sp>
      <p:cxnSp>
        <p:nvCxnSpPr>
          <p:cNvPr id="1657825313" name="Straight Arrow Connector 112"/>
          <p:cNvCxnSpPr>
            <a:stCxn id="367315439" idx="1"/>
            <a:endCxn id="1979446819" idx="0"/>
          </p:cNvCxnSpPr>
          <p:nvPr/>
        </p:nvCxnSpPr>
        <p:spPr bwMode="auto">
          <a:xfrm flipH="1">
            <a:off x="7305337" y="4490121"/>
            <a:ext cx="1252565" cy="521901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9020755" name="Straight Arrow Connector 113"/>
          <p:cNvCxnSpPr>
            <a:stCxn id="367315439" idx="3"/>
            <a:endCxn id="1424473520" idx="0"/>
          </p:cNvCxnSpPr>
          <p:nvPr/>
        </p:nvCxnSpPr>
        <p:spPr bwMode="auto">
          <a:xfrm>
            <a:off x="9091302" y="4490121"/>
            <a:ext cx="1368387" cy="521901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53847402" name="Straight Arrow Connector 114"/>
          <p:cNvCxnSpPr>
            <a:stCxn id="1979446819" idx="1"/>
            <a:endCxn id="1914187012" idx="0"/>
          </p:cNvCxnSpPr>
          <p:nvPr/>
        </p:nvCxnSpPr>
        <p:spPr bwMode="auto">
          <a:xfrm flipH="1">
            <a:off x="6612558" y="5240622"/>
            <a:ext cx="354108" cy="5334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91064475" name="Straight Arrow Connector 115"/>
          <p:cNvCxnSpPr>
            <a:stCxn id="1979446819" idx="2"/>
            <a:endCxn id="1782607174" idx="0"/>
          </p:cNvCxnSpPr>
          <p:nvPr/>
        </p:nvCxnSpPr>
        <p:spPr bwMode="auto">
          <a:xfrm flipH="1">
            <a:off x="7298086" y="5469222"/>
            <a:ext cx="7251" cy="3048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68304222" name="Straight Arrow Connector 116"/>
          <p:cNvCxnSpPr>
            <a:stCxn id="1979446819" idx="3"/>
            <a:endCxn id="1457484186" idx="0"/>
          </p:cNvCxnSpPr>
          <p:nvPr/>
        </p:nvCxnSpPr>
        <p:spPr bwMode="auto">
          <a:xfrm>
            <a:off x="7644008" y="5240622"/>
            <a:ext cx="407349" cy="5334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92178566" name="Straight Arrow Connector 117"/>
          <p:cNvCxnSpPr>
            <a:stCxn id="1424473520" idx="1"/>
            <a:endCxn id="39420387" idx="0"/>
          </p:cNvCxnSpPr>
          <p:nvPr/>
        </p:nvCxnSpPr>
        <p:spPr bwMode="auto">
          <a:xfrm flipH="1">
            <a:off x="9201827" y="5240622"/>
            <a:ext cx="752623" cy="5334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21829540" name="Straight Arrow Connector 118"/>
          <p:cNvCxnSpPr>
            <a:stCxn id="1424473520" idx="2"/>
            <a:endCxn id="1791391527" idx="0"/>
          </p:cNvCxnSpPr>
          <p:nvPr/>
        </p:nvCxnSpPr>
        <p:spPr bwMode="auto">
          <a:xfrm>
            <a:off x="10459689" y="5469222"/>
            <a:ext cx="6066" cy="3048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99846798" name="Straight Arrow Connector 119"/>
          <p:cNvCxnSpPr>
            <a:stCxn id="1424473520" idx="3"/>
            <a:endCxn id="789313346" idx="0"/>
          </p:cNvCxnSpPr>
          <p:nvPr/>
        </p:nvCxnSpPr>
        <p:spPr bwMode="auto">
          <a:xfrm>
            <a:off x="10964927" y="5240622"/>
            <a:ext cx="567994" cy="533400"/>
          </a:xfrm>
          <a:prstGeom prst="straightConnector1">
            <a:avLst/>
          </a:prstGeom>
          <a:ln w="28575">
            <a:solidFill>
              <a:srgbClr val="B84742"/>
            </a:solidFill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35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17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26417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838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71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1271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739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234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660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4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755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586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637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5435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416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6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656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63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21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933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32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46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97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53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64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415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858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857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09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326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10" fill="hold"/>
                                        <p:tgtEl>
                                          <p:spTgt spid="18457469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7" dur="10" fill="hold"/>
                                        <p:tgtEl>
                                          <p:spTgt spid="18457469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10" fill="hold"/>
                                        <p:tgtEl>
                                          <p:spTgt spid="18457469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30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04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955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10" fill="hold"/>
                                        <p:tgtEl>
                                          <p:spTgt spid="15240415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5" dur="10" fill="hold"/>
                                        <p:tgtEl>
                                          <p:spTgt spid="15240415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" dur="10" fill="hold"/>
                                        <p:tgtEl>
                                          <p:spTgt spid="15240415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003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315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82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1657825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46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2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69020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73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18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60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48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847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1753847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064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1491064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30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368304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39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3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178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1692178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1829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1621829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46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1699846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7355796" grpId="0"/>
      <p:bldP spid="1664838808" grpId="0" animBg="1"/>
      <p:bldP spid="425739009" grpId="0" animBg="1"/>
      <p:bldP spid="1400234171" grpId="0" animBg="1"/>
      <p:bldP spid="289660526" grpId="0" animBg="1"/>
      <p:bldP spid="106148659" grpId="0" animBg="1"/>
      <p:bldP spid="1108755207" grpId="0" animBg="1"/>
      <p:bldP spid="294586526" grpId="0" animBg="1"/>
      <p:bldP spid="906634351" grpId="0" animBg="1"/>
      <p:bldP spid="1417210662" grpId="0" animBg="1"/>
      <p:bldP spid="1021933660" grpId="0" animBg="1"/>
      <p:bldP spid="1432322068" grpId="0" animBg="1"/>
      <p:bldP spid="1845746937" grpId="0" animBg="1"/>
      <p:bldP spid="772971170" grpId="0" animBg="1"/>
      <p:bldP spid="205853936" grpId="0" animBg="1"/>
      <p:bldP spid="1792326238" grpId="0"/>
      <p:bldP spid="1760301421" grpId="0" animBg="1"/>
      <p:bldP spid="1524041583" grpId="0" animBg="1"/>
      <p:bldP spid="756955807" grpId="0"/>
      <p:bldP spid="1250003441" grpId="0" animBg="1"/>
      <p:bldP spid="367315439" grpId="0" animBg="1"/>
      <p:bldP spid="1979446819" grpId="0" animBg="1"/>
      <p:bldP spid="1424473520" grpId="0" animBg="1"/>
      <p:bldP spid="1457484186" grpId="0" animBg="1"/>
      <p:bldP spid="39420387" grpId="0" animBg="1"/>
      <p:bldP spid="1782607174" grpId="0" animBg="1"/>
      <p:bldP spid="1914187012" grpId="0" animBg="1"/>
      <p:bldP spid="1791391527" grpId="0" animBg="1"/>
      <p:bldP spid="78931334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4143701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B Tree examples for practice</a:t>
            </a:r>
            <a:endParaRPr/>
          </a:p>
        </p:txBody>
      </p:sp>
      <p:sp>
        <p:nvSpPr>
          <p:cNvPr id="952729744" name="Content Placeholder 4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/>
              <a:t>Order 5:</a:t>
            </a:r>
            <a:r>
              <a:rPr lang="en-US"/>
              <a:t> 1,7,6,2,11,5,10,13,12,20,16,24,3,4,18,19,14,25</a:t>
            </a:r>
            <a:endParaRPr/>
          </a:p>
          <a:p>
            <a:pPr>
              <a:defRPr/>
            </a:pPr>
            <a:r>
              <a:rPr lang="en-US" b="1"/>
              <a:t>2-3 Tree:</a:t>
            </a:r>
            <a:r>
              <a:rPr lang="en-US"/>
              <a:t> 12, 50, 85, 6, 10, 37, 100, 120, 25, 70 </a:t>
            </a:r>
            <a:endParaRPr/>
          </a:p>
          <a:p>
            <a:pPr>
              <a:defRPr/>
            </a:pPr>
            <a:r>
              <a:rPr lang="en-US" b="1"/>
              <a:t>B-Tree:</a:t>
            </a:r>
            <a:r>
              <a:rPr lang="en-US"/>
              <a:t> a, g, f, b, k, c, h, n, j</a:t>
            </a:r>
            <a:endParaRPr/>
          </a:p>
          <a:p>
            <a:pPr>
              <a:defRPr/>
            </a:pPr>
            <a:r>
              <a:rPr lang="en-US"/>
              <a:t>Insert the following letters into an empty B-tree of </a:t>
            </a:r>
            <a:r>
              <a:rPr lang="en-US" b="1"/>
              <a:t>order 5</a:t>
            </a:r>
            <a:r>
              <a:rPr lang="en-US"/>
              <a:t>: </a:t>
            </a:r>
            <a:endParaRPr/>
          </a:p>
          <a:p>
            <a:pPr lvl="1">
              <a:defRPr/>
            </a:pPr>
            <a:r>
              <a:rPr lang="en-US"/>
              <a:t>C N G A H E K Q M F W L T Z D P R X Y S</a:t>
            </a:r>
            <a:endParaRPr/>
          </a:p>
          <a:p>
            <a:pPr>
              <a:defRPr/>
            </a:pPr>
            <a:r>
              <a:rPr lang="en-US" b="1"/>
              <a:t>Order 5: </a:t>
            </a:r>
            <a:r>
              <a:rPr lang="en-US"/>
              <a:t>78,21,14,11,97,85,74,63,45,42,57,20,16,19,32,30,31</a:t>
            </a:r>
            <a:endParaRPr/>
          </a:p>
          <a:p>
            <a:pPr>
              <a:defRPr/>
            </a:pPr>
            <a:r>
              <a:rPr lang="en-US" b="1"/>
              <a:t>Order 4:</a:t>
            </a:r>
            <a:r>
              <a:rPr lang="en-US"/>
              <a:t> 100, 150, 50, 55, 250, 200, 170, 65, 75, 20, 30, 52, 10, 25, 180, 190, 300, 5</a:t>
            </a:r>
            <a:endParaRPr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925098" name="Text Placeholder 1"/>
          <p:cNvSpPr>
            <a:spLocks noGrp="1"/>
          </p:cNvSpPr>
          <p:nvPr>
            <p:ph type="body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pradyuman.jadeja@darshan.ac.in</a:t>
            </a:r>
            <a:endParaRPr/>
          </a:p>
        </p:txBody>
      </p:sp>
      <p:sp>
        <p:nvSpPr>
          <p:cNvPr id="278075943" name="Text Placeholder 2"/>
          <p:cNvSpPr>
            <a:spLocks noGrp="1"/>
          </p:cNvSpPr>
          <p:nvPr>
            <p:ph type="body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+91 9879461848</a:t>
            </a:r>
            <a:endParaRPr/>
          </a:p>
        </p:txBody>
      </p:sp>
      <p:sp>
        <p:nvSpPr>
          <p:cNvPr id="908260274" name="Text Placeholder 3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Computer Engineering Department</a:t>
            </a:r>
            <a:endParaRPr/>
          </a:p>
        </p:txBody>
      </p:sp>
      <p:sp>
        <p:nvSpPr>
          <p:cNvPr id="1659027750" name="Text Placeholder 4"/>
          <p:cNvSpPr>
            <a:spLocks noGrp="1"/>
          </p:cNvSpPr>
          <p:nvPr>
            <p:ph type="body" sz="quarter" idx="14"/>
          </p:nvPr>
        </p:nvSpPr>
        <p:spPr bwMode="auto"/>
        <p:txBody>
          <a:bodyPr/>
          <a:lstStyle/>
          <a:p>
            <a:pPr>
              <a:defRPr/>
            </a:pPr>
            <a:r>
              <a:rPr lang="en-IN"/>
              <a:t>Dr.</a:t>
            </a:r>
            <a:r>
              <a:rPr lang="en-IN"/>
              <a:t> </a:t>
            </a:r>
            <a:r>
              <a:rPr lang="en-IN"/>
              <a:t>Pradyumansinh</a:t>
            </a:r>
            <a:r>
              <a:rPr lang="en-IN"/>
              <a:t> </a:t>
            </a:r>
            <a:r>
              <a:rPr lang="en-IN"/>
              <a:t>Jadeja</a:t>
            </a:r>
            <a:endParaRPr lang="en-IN"/>
          </a:p>
        </p:txBody>
      </p:sp>
      <p:sp>
        <p:nvSpPr>
          <p:cNvPr id="279862985" name="Text Placeholder 1026"/>
          <p:cNvSpPr>
            <a:spLocks noGrp="1"/>
          </p:cNvSpPr>
          <p:nvPr>
            <p:ph type="body" sz="quarter" idx="16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/>
              <a:t>Data Structures </a:t>
            </a:r>
            <a:r>
              <a:rPr lang="en-US">
                <a:latin typeface="Roboto Condensed Light"/>
                <a:ea typeface="Roboto Condensed Light"/>
              </a:rPr>
              <a:t>(DS)</a:t>
            </a:r>
            <a:endParaRPr/>
          </a:p>
          <a:p>
            <a:pPr>
              <a:defRPr/>
            </a:pPr>
            <a:r>
              <a:rPr lang="en-US">
                <a:latin typeface="Roboto Condensed Light"/>
                <a:ea typeface="Roboto Condensed Light"/>
              </a:rPr>
              <a:t>#2301CS301</a:t>
            </a:r>
            <a:endParaRPr/>
          </a:p>
        </p:txBody>
      </p:sp>
      <p:pic>
        <p:nvPicPr>
          <p:cNvPr id="953422725" name="Picture Placeholder 6"/>
          <p:cNvPicPr>
            <a:picLocks noChangeAspect="1" noGrp="1"/>
          </p:cNvPicPr>
          <p:nvPr>
            <p:ph type="pic" sz="quarter" idx="10"/>
          </p:nvPr>
        </p:nvPicPr>
        <p:blipFill rotWithShape="1">
          <a:blip r:embed="rId3"/>
          <a:stretch/>
        </p:blipFill>
        <p:spPr bwMode="auto"/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DeptPPT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Arial"/>
        <a:cs typeface="Arial"/>
      </a:majorFont>
      <a:minorFont>
        <a:latin typeface="Roboto Condensed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43</Slides>
  <Notes>43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 part 3 - Non-linear Data Structure</dc:title>
  <dc:creator>ADMIN</dc:creator>
  <cp:keywords>Tree, Data Structure, Darshan University, Dr. Pradyumansinh Jadeja</cp:keywords>
  <cp:lastModifiedBy/>
  <cp:revision>829</cp:revision>
  <dcterms:created xsi:type="dcterms:W3CDTF">2020-05-01T05:09:15Z</dcterms:created>
  <dcterms:modified xsi:type="dcterms:W3CDTF">2026-08-11T18:49:11Z</dcterms:modified>
</cp:coreProperties>
</file>