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374" r:id="rId2"/>
    <p:sldId id="370" r:id="rId3"/>
    <p:sldId id="354" r:id="rId4"/>
    <p:sldId id="324" r:id="rId5"/>
    <p:sldId id="325" r:id="rId6"/>
    <p:sldId id="364" r:id="rId7"/>
    <p:sldId id="363" r:id="rId8"/>
    <p:sldId id="352" r:id="rId9"/>
    <p:sldId id="340" r:id="rId10"/>
    <p:sldId id="355" r:id="rId11"/>
    <p:sldId id="328" r:id="rId12"/>
    <p:sldId id="329" r:id="rId13"/>
    <p:sldId id="360" r:id="rId14"/>
    <p:sldId id="362" r:id="rId15"/>
    <p:sldId id="356" r:id="rId16"/>
    <p:sldId id="330" r:id="rId17"/>
    <p:sldId id="361" r:id="rId18"/>
    <p:sldId id="372" r:id="rId19"/>
    <p:sldId id="357" r:id="rId20"/>
    <p:sldId id="326" r:id="rId21"/>
    <p:sldId id="347" r:id="rId22"/>
    <p:sldId id="348" r:id="rId23"/>
    <p:sldId id="366" r:id="rId24"/>
    <p:sldId id="365" r:id="rId25"/>
    <p:sldId id="359" r:id="rId26"/>
    <p:sldId id="335" r:id="rId27"/>
    <p:sldId id="336" r:id="rId28"/>
    <p:sldId id="368" r:id="rId29"/>
    <p:sldId id="371" r:id="rId30"/>
    <p:sldId id="373" r:id="rId31"/>
    <p:sldId id="375" r:id="rId32"/>
  </p:sldIdLst>
  <p:sldSz cx="12192000" cy="6858000"/>
  <p:notesSz cx="6858000" cy="9144000"/>
  <p:embeddedFontLst>
    <p:embeddedFont>
      <p:font typeface="Roboto Condensed Light" panose="02000000000000000000" pitchFamily="2" charset="0"/>
      <p:regular r:id="rId35"/>
      <p:italic r:id="rId36"/>
    </p:embeddedFont>
    <p:embeddedFont>
      <p:font typeface="Segoe UI Black" panose="020B0A02040204020203" pitchFamily="34" charset="0"/>
      <p:bold r:id="rId37"/>
      <p:boldItalic r:id="rId38"/>
    </p:embeddedFont>
    <p:embeddedFont>
      <p:font typeface="Wingdings 3" panose="05040102010807070707" pitchFamily="18" charset="2"/>
      <p:regular r:id="rId39"/>
    </p:embeddedFont>
    <p:embeddedFont>
      <p:font typeface="Roboto Light" panose="02000000000000000000" pitchFamily="2" charset="0"/>
      <p:regular r:id="rId40"/>
      <p:italic r:id="rId41"/>
    </p:embeddedFont>
    <p:embeddedFont>
      <p:font typeface="Wingdings 2" panose="05020102010507070707" pitchFamily="18" charset="2"/>
      <p:regular r:id="rId42"/>
    </p:embeddedFont>
    <p:embeddedFont>
      <p:font typeface="Open Sans Semibold" panose="020B0604020202020204" charset="0"/>
      <p:bold r:id="rId43"/>
      <p:boldItalic r:id="rId44"/>
    </p:embeddedFont>
    <p:embeddedFont>
      <p:font typeface="Calibri" panose="020F0502020204030204" pitchFamily="34" charset="0"/>
      <p:regular r:id="rId45"/>
      <p:bold r:id="rId46"/>
      <p:italic r:id="rId47"/>
      <p:boldItalic r:id="rId48"/>
    </p:embeddedFont>
    <p:embeddedFont>
      <p:font typeface="Open Sans" panose="020B0604020202020204" charset="0"/>
      <p:regular r:id="rId49"/>
      <p:bold r:id="rId50"/>
      <p:italic r:id="rId51"/>
      <p:boldItalic r:id="rId52"/>
    </p:embeddedFont>
    <p:embeddedFont>
      <p:font typeface="Roboto Condensed" panose="02000000000000000000" pitchFamily="2" charset="0"/>
      <p:regular r:id="rId53"/>
      <p:bold r:id="rId54"/>
      <p:italic r:id="rId55"/>
      <p:boldItalic r:id="rId56"/>
    </p:embeddedFont>
    <p:embeddedFont>
      <p:font typeface="Consolas" panose="020B0609020204030204" pitchFamily="49" charset="0"/>
      <p:regular r:id="rId57"/>
      <p:bold r:id="rId58"/>
      <p:italic r:id="rId59"/>
      <p:boldItalic r:id="rId6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33NhO+w5ESyKDOhD2DdMJw==" hashData="4BGCV6kXAHshjujfEwKJfldyZ0BoVzabmBF2yl/3YqK4C+/s+p+FrVRj/p8MrlY/DJtvBEN8wFD655nSiUV8TA=="/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>
    <p:extLst>
      <p:ext uri="{19B8F6BF-5375-455C-9EA6-DF929625EA0E}">
        <p15:presenceInfo xmlns:p15="http://schemas.microsoft.com/office/powerpoint/2012/main" userId="LENOV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064"/>
    <a:srgbClr val="F54337"/>
    <a:srgbClr val="ED524F"/>
    <a:srgbClr val="3366FF"/>
    <a:srgbClr val="301B92"/>
    <a:srgbClr val="673BB7"/>
    <a:srgbClr val="607D8B"/>
    <a:srgbClr val="B71B1C"/>
    <a:srgbClr val="D81A60"/>
    <a:srgbClr val="890E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0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1944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55" Type="http://schemas.openxmlformats.org/officeDocument/2006/relationships/font" Target="fonts/font21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font" Target="fonts/font19.fntdata"/><Relationship Id="rId58" Type="http://schemas.openxmlformats.org/officeDocument/2006/relationships/font" Target="fonts/font24.fntdata"/><Relationship Id="rId5" Type="http://schemas.openxmlformats.org/officeDocument/2006/relationships/slide" Target="slides/slide4.xml"/><Relationship Id="rId61" Type="http://schemas.openxmlformats.org/officeDocument/2006/relationships/commentAuthors" Target="commentAuthor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56" Type="http://schemas.openxmlformats.org/officeDocument/2006/relationships/font" Target="fonts/font22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59" Type="http://schemas.openxmlformats.org/officeDocument/2006/relationships/font" Target="fonts/font25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54" Type="http://schemas.openxmlformats.org/officeDocument/2006/relationships/font" Target="fonts/font20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font" Target="fonts/font15.fntdata"/><Relationship Id="rId57" Type="http://schemas.openxmlformats.org/officeDocument/2006/relationships/font" Target="fonts/font2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font" Target="fonts/font18.fntdata"/><Relationship Id="rId60" Type="http://schemas.openxmlformats.org/officeDocument/2006/relationships/font" Target="fonts/font26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87FD0-6366-498E-B5AA-8D5EAADA1318}" type="datetimeFigureOut">
              <a:rPr lang="en-IN" smtClean="0"/>
              <a:t>27-07-2026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5F676-4FC3-4D3C-BE37-3352AFB19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425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7A3D7D-4DD0-4519-9573-665089B66871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7093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microsoft.com/office/2007/relationships/hdphoto" Target="../media/hdphoto3.wdp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8.jpeg"/><Relationship Id="rId5" Type="http://schemas.openxmlformats.org/officeDocument/2006/relationships/image" Target="../media/image3.png"/><Relationship Id="rId10" Type="http://schemas.openxmlformats.org/officeDocument/2006/relationships/image" Target="../media/image14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baseline="0" dirty="0"/>
              <a:t> University</a:t>
            </a:r>
            <a:r>
              <a:rPr lang="en-US" sz="1600" dirty="0"/>
              <a:t>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" descr="E:\Clients\Darshan\Data Structure\2018\PPT\images\data-structure.png"/>
          <p:cNvPicPr>
            <a:picLocks noChangeAspect="1" noChangeArrowheads="1"/>
          </p:cNvPicPr>
          <p:nvPr userDrawn="1"/>
        </p:nvPicPr>
        <p:blipFill>
          <a:blip r:embed="rId11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artisticLineDrawing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916" y="2065383"/>
            <a:ext cx="2866958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0" name="Hexagon 2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1D3064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34" name="Rectangle 33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01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9678496" y="861192"/>
            <a:ext cx="2554142" cy="587454"/>
            <a:chOff x="9424496" y="861192"/>
            <a:chExt cx="2554142" cy="58745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5018" y="861192"/>
              <a:ext cx="1932495" cy="587453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24496" y="8611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131180" y="8761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815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(Part 1) – Introduction to Data Structure</a:t>
            </a:r>
          </a:p>
        </p:txBody>
      </p:sp>
      <p:sp>
        <p:nvSpPr>
          <p:cNvPr id="25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9780096" y="5890392"/>
            <a:ext cx="2554142" cy="587454"/>
            <a:chOff x="9475296" y="5890392"/>
            <a:chExt cx="2554142" cy="58745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815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(Part 1) – Introduction to Data Structure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131180" y="8761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BB346F31-C7D8-DF35-B3E9-E3B7EB21A595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-49704" y="5915792"/>
            <a:ext cx="2554142" cy="587454"/>
            <a:chOff x="242396" y="5890392"/>
            <a:chExt cx="2554142" cy="58745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8918" y="5890392"/>
              <a:ext cx="1932495" cy="587453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2423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131180" y="8888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815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(Part 1) – Introduction to Data Structure</a:t>
            </a:r>
          </a:p>
        </p:txBody>
      </p:sp>
      <p:sp>
        <p:nvSpPr>
          <p:cNvPr id="25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FB170BB5-C8D8-B43D-366F-053EE63BF137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" name="Group 3"/>
          <p:cNvGrpSpPr/>
          <p:nvPr userDrawn="1"/>
        </p:nvGrpSpPr>
        <p:grpSpPr>
          <a:xfrm>
            <a:off x="9437224" y="6087939"/>
            <a:ext cx="2554142" cy="650953"/>
            <a:chOff x="9437224" y="6087939"/>
            <a:chExt cx="2554142" cy="65095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DD61FEC-075B-4EDD-97CA-36E6F72630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8046" y="6151439"/>
              <a:ext cx="1932495" cy="587453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B550E12-AA95-4B1B-A8D2-ED01E515FC43}"/>
                </a:ext>
              </a:extLst>
            </p:cNvPr>
            <p:cNvSpPr/>
            <p:nvPr userDrawn="1"/>
          </p:nvSpPr>
          <p:spPr>
            <a:xfrm>
              <a:off x="9437224" y="6087939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752158" y="149992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815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(Part 1) – Introduction to Data Structure</a:t>
            </a: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1A5C4F-8A41-EBFD-B2B5-2C732E0F9FF1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 userDrawn="1"/>
        </p:nvGrpSpPr>
        <p:grpSpPr>
          <a:xfrm>
            <a:off x="9726758" y="6003345"/>
            <a:ext cx="2554142" cy="587454"/>
            <a:chOff x="9475296" y="5890392"/>
            <a:chExt cx="2554142" cy="58745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815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(Part 1) – Introduction to Data Structure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B345A3-38B2-BCBB-D269-D39495CE8AF6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-249812" y="5990021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3815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#2301CS301 (DS)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(Part 1) – Introduction to Data Structure</a:t>
            </a:r>
          </a:p>
        </p:txBody>
      </p:sp>
      <p:sp>
        <p:nvSpPr>
          <p:cNvPr id="20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D084F9-3A54-A135-A700-24D255E8A648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>
            <a:normAutofit/>
          </a:bodyPr>
          <a:lstStyle>
            <a:lvl1pPr algn="l">
              <a:defRPr lang="en-US" sz="4400" b="0" kern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0485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23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68375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2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239837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0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454150" indent="-28575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1600" kern="120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marL="625475" lvl="1" indent="-263525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896938" lvl="2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dirty="0"/>
              <a:t>Third level</a:t>
            </a:r>
          </a:p>
          <a:p>
            <a:pPr marL="1168400" lvl="3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–"/>
            </a:pPr>
            <a:r>
              <a:rPr lang="en-US" dirty="0"/>
              <a:t>Fourth level</a:t>
            </a:r>
          </a:p>
          <a:p>
            <a:pPr marL="1439863" lvl="4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»"/>
            </a:pPr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5384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da-DK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Unit</a:t>
            </a:r>
            <a:r>
              <a:rPr lang="da-DK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– 1: </a:t>
            </a:r>
            <a:r>
              <a:rPr lang="en-US" sz="1800" dirty="0"/>
              <a:t>Introduction to Data Structure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ktangel 11"/>
          <p:cNvSpPr/>
          <p:nvPr userDrawn="1"/>
        </p:nvSpPr>
        <p:spPr>
          <a:xfrm>
            <a:off x="6197600" y="6480727"/>
            <a:ext cx="59944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en-US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Darshan</a:t>
            </a:r>
            <a:r>
              <a:rPr lang="en-US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Institute of Engineering &amp; Technology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ktangel 11"/>
          <p:cNvSpPr/>
          <p:nvPr userDrawn="1"/>
        </p:nvSpPr>
        <p:spPr>
          <a:xfrm>
            <a:off x="5384800" y="6477000"/>
            <a:ext cx="812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fld id="{4CCBBDC9-ADEB-48F3-A42C-1AD0249F062A}" type="slidenum">
              <a:rPr lang="da-DK" sz="18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pPr indent="-342900" algn="ctr">
                <a:defRPr/>
              </a:pPr>
              <a:t>‹#›</a:t>
            </a:fld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648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3" r:id="rId2"/>
    <p:sldLayoutId id="2147483670" r:id="rId3"/>
    <p:sldLayoutId id="2147483687" r:id="rId4"/>
    <p:sldLayoutId id="2147483688" r:id="rId5"/>
    <p:sldLayoutId id="2147483671" r:id="rId6"/>
    <p:sldLayoutId id="2147483672" r:id="rId7"/>
    <p:sldLayoutId id="2147483689" r:id="rId8"/>
    <p:sldLayoutId id="2147483690" r:id="rId9"/>
    <p:sldLayoutId id="2147483673" r:id="rId10"/>
    <p:sldLayoutId id="2147483691" r:id="rId11"/>
    <p:sldLayoutId id="2147483674" r:id="rId12"/>
    <p:sldLayoutId id="2147483676" r:id="rId13"/>
    <p:sldLayoutId id="2147483677" r:id="rId14"/>
    <p:sldLayoutId id="2147483678" r:id="rId15"/>
    <p:sldLayoutId id="2147483679" r:id="rId16"/>
    <p:sldLayoutId id="2147483681" r:id="rId17"/>
    <p:sldLayoutId id="2147483683" r:id="rId18"/>
    <p:sldLayoutId id="2147483682" r:id="rId19"/>
    <p:sldLayoutId id="2147483684" r:id="rId20"/>
    <p:sldLayoutId id="2147483685" r:id="rId21"/>
    <p:sldLayoutId id="2147483686" r:id="rId22"/>
    <p:sldLayoutId id="2147483692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60510" cy="2563094"/>
          </a:xfrm>
        </p:spPr>
        <p:txBody>
          <a:bodyPr/>
          <a:lstStyle/>
          <a:p>
            <a:r>
              <a:rPr lang="en-US" sz="3200" b="0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Unit-1 (Part 1)</a:t>
            </a:r>
            <a:r>
              <a:rPr lang="en-US" sz="4400" dirty="0" smtClean="0"/>
              <a:t> </a:t>
            </a:r>
            <a:br>
              <a:rPr lang="en-US" sz="4400" dirty="0" smtClean="0"/>
            </a:br>
            <a:r>
              <a:rPr lang="en-US" sz="4400" dirty="0" smtClean="0"/>
              <a:t>Introduction to </a:t>
            </a:r>
            <a:br>
              <a:rPr lang="en-US" sz="4400" dirty="0" smtClean="0"/>
            </a:br>
            <a:r>
              <a:rPr lang="en-US" sz="4400" dirty="0" smtClean="0"/>
              <a:t>Data Structure</a:t>
            </a:r>
            <a:br>
              <a:rPr lang="en-US" sz="4400" dirty="0" smtClean="0"/>
            </a:br>
            <a:endParaRPr lang="en-US" sz="6000" b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pradyuman.jadeja@darshan.ac.in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+91 9879461848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Dr. </a:t>
            </a:r>
            <a:r>
              <a:rPr lang="en-US" dirty="0" err="1"/>
              <a:t>Pradyumansinh</a:t>
            </a:r>
            <a:r>
              <a:rPr lang="en-US" dirty="0"/>
              <a:t> </a:t>
            </a:r>
            <a:r>
              <a:rPr lang="en-US" dirty="0" err="1"/>
              <a:t>Jadeja</a:t>
            </a:r>
            <a:endParaRPr lang="en-US" dirty="0"/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 Structures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(DS)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#2301CS301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832691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790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1157831"/>
            <a:ext cx="968864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Topics to be covered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Data Structure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Classification of Data Structure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Primitive vs. Non-Primitive Data Structure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Linear vs. Non-Linear Data Structures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Performance Analysis and Measurement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Analysis of algorithms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Time Complexity Calculation</a:t>
            </a:r>
          </a:p>
        </p:txBody>
      </p:sp>
    </p:spTree>
    <p:extLst>
      <p:ext uri="{BB962C8B-B14F-4D97-AF65-F5344CB8AC3E}">
        <p14:creationId xmlns:p14="http://schemas.microsoft.com/office/powerpoint/2010/main" val="2966533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ED680-ECDA-2C59-AF2D-3A5BD10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Structure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B7375-27ED-AEFF-9C20-9AC5FE68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281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is the </a:t>
            </a:r>
            <a:r>
              <a:rPr lang="en-US" b="1" dirty="0">
                <a:solidFill>
                  <a:srgbClr val="C00000"/>
                </a:solidFill>
              </a:rPr>
              <a:t>basic fact </a:t>
            </a:r>
            <a:r>
              <a:rPr lang="en-US" dirty="0"/>
              <a:t>or entity that is utilized in calculation or manipulation.</a:t>
            </a:r>
          </a:p>
          <a:p>
            <a:r>
              <a:rPr lang="en-IN" dirty="0"/>
              <a:t>There are two different types of data : </a:t>
            </a:r>
            <a:r>
              <a:rPr lang="en-IN" b="1" dirty="0">
                <a:solidFill>
                  <a:srgbClr val="C00000"/>
                </a:solidFill>
              </a:rPr>
              <a:t>Numeric</a:t>
            </a:r>
            <a:r>
              <a:rPr lang="en-IN" dirty="0"/>
              <a:t> and </a:t>
            </a:r>
            <a:r>
              <a:rPr lang="en-IN" b="1" dirty="0">
                <a:solidFill>
                  <a:srgbClr val="C00000"/>
                </a:solidFill>
              </a:rPr>
              <a:t>Alphanumeric</a:t>
            </a:r>
            <a:r>
              <a:rPr lang="en-IN" dirty="0"/>
              <a:t>.</a:t>
            </a:r>
            <a:endParaRPr lang="en-US" dirty="0"/>
          </a:p>
          <a:p>
            <a:r>
              <a:rPr lang="en-US" dirty="0"/>
              <a:t>When a programmer collects such type of data for processing, he would </a:t>
            </a:r>
            <a:r>
              <a:rPr lang="en-US" b="1" dirty="0">
                <a:solidFill>
                  <a:srgbClr val="C00000"/>
                </a:solidFill>
              </a:rPr>
              <a:t>require to store </a:t>
            </a:r>
            <a:r>
              <a:rPr lang="en-US" dirty="0"/>
              <a:t>them in </a:t>
            </a:r>
            <a:r>
              <a:rPr lang="en-US" b="1" dirty="0">
                <a:solidFill>
                  <a:srgbClr val="C00000"/>
                </a:solidFill>
              </a:rPr>
              <a:t>computer’s main memory</a:t>
            </a:r>
            <a:r>
              <a:rPr lang="en-US" dirty="0"/>
              <a:t>.</a:t>
            </a:r>
          </a:p>
          <a:p>
            <a:r>
              <a:rPr lang="en-IN" dirty="0"/>
              <a:t>The </a:t>
            </a:r>
            <a:r>
              <a:rPr lang="en-IN" b="1" dirty="0">
                <a:solidFill>
                  <a:srgbClr val="C00000"/>
                </a:solidFill>
              </a:rPr>
              <a:t>process of storing data </a:t>
            </a:r>
            <a:r>
              <a:rPr lang="en-IN" dirty="0"/>
              <a:t>items in </a:t>
            </a:r>
            <a:r>
              <a:rPr lang="en-IN" b="1" dirty="0">
                <a:solidFill>
                  <a:srgbClr val="C00000"/>
                </a:solidFill>
              </a:rPr>
              <a:t>computer’s main memory </a:t>
            </a:r>
            <a:r>
              <a:rPr lang="en-IN" dirty="0"/>
              <a:t>is called </a:t>
            </a:r>
            <a:r>
              <a:rPr lang="en-IN" b="1" i="1" dirty="0">
                <a:solidFill>
                  <a:srgbClr val="C00000"/>
                </a:solidFill>
              </a:rPr>
              <a:t>representation</a:t>
            </a:r>
            <a:r>
              <a:rPr lang="en-IN" i="1" dirty="0"/>
              <a:t>.</a:t>
            </a:r>
            <a:endParaRPr lang="en-IN" dirty="0"/>
          </a:p>
          <a:p>
            <a:r>
              <a:rPr lang="en-IN" dirty="0"/>
              <a:t>Data to be processed </a:t>
            </a:r>
            <a:r>
              <a:rPr lang="en-IN" b="1" dirty="0">
                <a:solidFill>
                  <a:srgbClr val="C00000"/>
                </a:solidFill>
              </a:rPr>
              <a:t>must be organized </a:t>
            </a:r>
            <a:r>
              <a:rPr lang="en-IN" dirty="0"/>
              <a:t>in a particular fashion, these organization </a:t>
            </a:r>
            <a:r>
              <a:rPr lang="en-IN" b="1" dirty="0">
                <a:solidFill>
                  <a:srgbClr val="C00000"/>
                </a:solidFill>
              </a:rPr>
              <a:t>leads to structuring of data</a:t>
            </a:r>
            <a:r>
              <a:rPr lang="en-IN" dirty="0"/>
              <a:t>, and hence the mission to study the </a:t>
            </a:r>
            <a:r>
              <a:rPr lang="en-IN" b="1" dirty="0">
                <a:solidFill>
                  <a:srgbClr val="C00000"/>
                </a:solidFill>
              </a:rPr>
              <a:t>Data Structures</a:t>
            </a:r>
            <a:r>
              <a:rPr lang="en-IN" dirty="0"/>
              <a:t>.</a:t>
            </a:r>
            <a:endParaRPr lang="en-US" dirty="0"/>
          </a:p>
        </p:txBody>
      </p:sp>
      <p:pic>
        <p:nvPicPr>
          <p:cNvPr id="2050" name="Picture 2" descr="E:\Clients\Darshan\Data Structure\2018\PPT\images\data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6315" y="4604657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1205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Structure?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b="1" i="1" dirty="0">
                <a:solidFill>
                  <a:srgbClr val="C00000"/>
                </a:solidFill>
              </a:rPr>
              <a:t>Data Structure </a:t>
            </a:r>
            <a:r>
              <a:rPr lang="en-US" dirty="0"/>
              <a:t>is a representation of the logical relationship existing between individual elements of data.</a:t>
            </a:r>
            <a:endParaRPr lang="en-IN" dirty="0"/>
          </a:p>
          <a:p>
            <a:r>
              <a:rPr lang="en-IN" dirty="0"/>
              <a:t>In other words, a data structure is a </a:t>
            </a:r>
            <a:r>
              <a:rPr lang="en-IN" b="1" dirty="0">
                <a:solidFill>
                  <a:srgbClr val="C00000"/>
                </a:solidFill>
              </a:rPr>
              <a:t>way of organizing all data items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that </a:t>
            </a:r>
            <a:r>
              <a:rPr lang="en-IN" b="1" dirty="0"/>
              <a:t>considers</a:t>
            </a:r>
            <a:r>
              <a:rPr lang="en-IN" dirty="0"/>
              <a:t> not only the </a:t>
            </a:r>
            <a:r>
              <a:rPr lang="en-IN" b="1" dirty="0"/>
              <a:t>elements stored </a:t>
            </a:r>
            <a:r>
              <a:rPr lang="en-IN" dirty="0"/>
              <a:t>but also their </a:t>
            </a:r>
            <a:r>
              <a:rPr lang="en-IN" b="1" dirty="0"/>
              <a:t>relationship to each other.</a:t>
            </a:r>
          </a:p>
          <a:p>
            <a:r>
              <a:rPr lang="en-IN" dirty="0"/>
              <a:t>We can also define data structure as a </a:t>
            </a:r>
            <a:r>
              <a:rPr lang="en-IN" b="1" dirty="0">
                <a:solidFill>
                  <a:srgbClr val="C00000"/>
                </a:solidFill>
              </a:rPr>
              <a:t>mathematical or logical model</a:t>
            </a:r>
            <a:r>
              <a:rPr lang="en-IN" dirty="0"/>
              <a:t> of a particular </a:t>
            </a:r>
            <a:r>
              <a:rPr lang="en-IN" b="1" dirty="0">
                <a:solidFill>
                  <a:srgbClr val="C00000"/>
                </a:solidFill>
              </a:rPr>
              <a:t>organization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of </a:t>
            </a:r>
            <a:r>
              <a:rPr lang="en-IN" b="1" dirty="0">
                <a:solidFill>
                  <a:srgbClr val="C00000"/>
                </a:solidFill>
              </a:rPr>
              <a:t>data items.</a:t>
            </a:r>
          </a:p>
          <a:p>
            <a:r>
              <a:rPr lang="en-IN" dirty="0"/>
              <a:t>Data Structure mainly specifies the following four things :</a:t>
            </a:r>
          </a:p>
          <a:p>
            <a:pPr lvl="1"/>
            <a:r>
              <a:rPr lang="en-IN" dirty="0"/>
              <a:t>Organization of Data</a:t>
            </a:r>
          </a:p>
          <a:p>
            <a:pPr lvl="1"/>
            <a:r>
              <a:rPr lang="en-IN" dirty="0"/>
              <a:t>Accessing Methods</a:t>
            </a:r>
          </a:p>
          <a:p>
            <a:pPr lvl="1"/>
            <a:r>
              <a:rPr lang="en-IN" dirty="0"/>
              <a:t>Degree of Associativity</a:t>
            </a:r>
          </a:p>
          <a:p>
            <a:pPr lvl="1"/>
            <a:r>
              <a:rPr lang="en-IN" dirty="0"/>
              <a:t>Processing alternatives for information</a:t>
            </a:r>
          </a:p>
          <a:p>
            <a:pPr>
              <a:lnSpc>
                <a:spcPct val="100000"/>
              </a:lnSpc>
            </a:pPr>
            <a:endParaRPr lang="en-IN" dirty="0"/>
          </a:p>
        </p:txBody>
      </p:sp>
      <p:pic>
        <p:nvPicPr>
          <p:cNvPr id="3074" name="Picture 2" descr="E:\Clients\Darshan\Data Structure\2018\PPT\images\data structure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496" y="4772391"/>
            <a:ext cx="1345324" cy="1095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1030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CBBA29-61F2-13B9-B6E1-9ABC7EDC2F97}"/>
              </a:ext>
            </a:extLst>
          </p:cNvPr>
          <p:cNvSpPr/>
          <p:nvPr/>
        </p:nvSpPr>
        <p:spPr>
          <a:xfrm>
            <a:off x="4856085" y="2254928"/>
            <a:ext cx="2139719" cy="2432482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Structure?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b="1" dirty="0"/>
              <a:t>representation</a:t>
            </a:r>
            <a:r>
              <a:rPr lang="en-IN" dirty="0"/>
              <a:t> of a particular data </a:t>
            </a:r>
            <a:r>
              <a:rPr lang="en-IN" b="1" dirty="0"/>
              <a:t>structure in the memory</a:t>
            </a:r>
            <a:r>
              <a:rPr lang="en-IN" dirty="0"/>
              <a:t> of a computer is called </a:t>
            </a:r>
            <a:r>
              <a:rPr lang="en-IN" b="1" i="1" dirty="0">
                <a:solidFill>
                  <a:srgbClr val="C00000"/>
                </a:solidFill>
              </a:rPr>
              <a:t>Storage Structure.</a:t>
            </a:r>
          </a:p>
          <a:p>
            <a:r>
              <a:rPr lang="en-IN" dirty="0"/>
              <a:t>The storage structure </a:t>
            </a:r>
            <a:r>
              <a:rPr lang="en-IN" b="1" dirty="0"/>
              <a:t>representation</a:t>
            </a:r>
            <a:r>
              <a:rPr lang="en-IN" dirty="0"/>
              <a:t> </a:t>
            </a:r>
            <a:r>
              <a:rPr lang="en-IN" b="1" dirty="0"/>
              <a:t>in auxiliary memory </a:t>
            </a:r>
            <a:r>
              <a:rPr lang="en-IN" dirty="0"/>
              <a:t>is called as </a:t>
            </a:r>
            <a:r>
              <a:rPr lang="en-IN" b="1" i="1" dirty="0">
                <a:solidFill>
                  <a:srgbClr val="C00000"/>
                </a:solidFill>
              </a:rPr>
              <a:t>File Structure.</a:t>
            </a:r>
          </a:p>
        </p:txBody>
      </p:sp>
      <p:pic>
        <p:nvPicPr>
          <p:cNvPr id="4098" name="Picture 2" descr="E:\Clients\Darshan\Data Structure\2018\PPT\images\Algorith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487710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E:\Clients\Darshan\Data Structure\2018\PPT\images\data structur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535336"/>
            <a:ext cx="1625934" cy="132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E:\Clients\Darshan\Data Structure\2018\PPT\images\Amazon-Interview-Questions - Copy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1" y="2535336"/>
            <a:ext cx="1488951" cy="109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lus 3"/>
          <p:cNvSpPr/>
          <p:nvPr/>
        </p:nvSpPr>
        <p:spPr>
          <a:xfrm>
            <a:off x="4191000" y="2906810"/>
            <a:ext cx="533400" cy="533400"/>
          </a:xfrm>
          <a:prstGeom prst="mathPlus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qual 5"/>
          <p:cNvSpPr/>
          <p:nvPr/>
        </p:nvSpPr>
        <p:spPr>
          <a:xfrm>
            <a:off x="7155744" y="2906810"/>
            <a:ext cx="533400" cy="533400"/>
          </a:xfrm>
          <a:prstGeom prst="mathEqual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90801" y="4083445"/>
            <a:ext cx="14608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Algorithm</a:t>
            </a:r>
            <a:endParaRPr lang="en-US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953001" y="4083445"/>
            <a:ext cx="20428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Data Structure</a:t>
            </a:r>
            <a:endParaRPr lang="en-US" sz="2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8110974" y="4083445"/>
            <a:ext cx="1269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Program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991663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  <p:bldP spid="4" grpId="0" animBg="1"/>
      <p:bldP spid="6" grpId="0" animBg="1"/>
      <p:bldP spid="7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Structure?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IN" dirty="0"/>
              <a:t>In simple words, </a:t>
            </a:r>
            <a:r>
              <a:rPr lang="en-IN" b="1" dirty="0">
                <a:solidFill>
                  <a:srgbClr val="C00000"/>
                </a:solidFill>
              </a:rPr>
              <a:t>Data Structure </a:t>
            </a:r>
            <a:r>
              <a:rPr lang="en-IN" dirty="0"/>
              <a:t>is a way of </a:t>
            </a:r>
            <a:r>
              <a:rPr lang="en-IN" b="1" dirty="0">
                <a:solidFill>
                  <a:srgbClr val="C00000"/>
                </a:solidFill>
              </a:rPr>
              <a:t>organizing data </a:t>
            </a:r>
            <a:r>
              <a:rPr lang="en-IN" dirty="0"/>
              <a:t>in </a:t>
            </a:r>
            <a:r>
              <a:rPr lang="en-IN" b="1" dirty="0">
                <a:solidFill>
                  <a:srgbClr val="C00000"/>
                </a:solidFill>
              </a:rPr>
              <a:t>computer memory </a:t>
            </a:r>
            <a:r>
              <a:rPr lang="en-IN" dirty="0"/>
              <a:t>so that they can be </a:t>
            </a:r>
            <a:r>
              <a:rPr lang="en-IN" b="1" dirty="0">
                <a:solidFill>
                  <a:srgbClr val="C00000"/>
                </a:solidFill>
              </a:rPr>
              <a:t>accessed efficiently</a:t>
            </a:r>
            <a:r>
              <a:rPr lang="en-IN" dirty="0"/>
              <a:t>.</a:t>
            </a:r>
          </a:p>
          <a:p>
            <a:pPr>
              <a:lnSpc>
                <a:spcPct val="100000"/>
              </a:lnSpc>
            </a:pPr>
            <a:r>
              <a:rPr lang="en-IN" dirty="0"/>
              <a:t>Data structures are responsible for storing, organizing, processing and accessing data efficiently.</a:t>
            </a:r>
          </a:p>
          <a:p>
            <a:pPr>
              <a:lnSpc>
                <a:spcPct val="100000"/>
              </a:lnSpc>
            </a:pPr>
            <a:r>
              <a:rPr lang="en-IN" dirty="0"/>
              <a:t>There are different types of data structures available having their own characteristics, applications, advantages and disadvantages.</a:t>
            </a:r>
          </a:p>
          <a:p>
            <a:pPr>
              <a:lnSpc>
                <a:spcPct val="100000"/>
              </a:lnSpc>
            </a:pPr>
            <a:r>
              <a:rPr lang="en-US" dirty="0"/>
              <a:t>The programmer should </a:t>
            </a:r>
            <a:r>
              <a:rPr lang="en-US" b="1" dirty="0">
                <a:solidFill>
                  <a:srgbClr val="C00000"/>
                </a:solidFill>
              </a:rPr>
              <a:t>identify the most suitable data structure </a:t>
            </a:r>
            <a:r>
              <a:rPr lang="en-US" dirty="0"/>
              <a:t>from available data structures for the given problem definition.</a:t>
            </a:r>
            <a:endParaRPr lang="en-IN" dirty="0"/>
          </a:p>
          <a:p>
            <a:pPr>
              <a:lnSpc>
                <a:spcPct val="100000"/>
              </a:lnSpc>
            </a:pPr>
            <a:r>
              <a:rPr lang="en-IN" dirty="0"/>
              <a:t>In order to identify the suitable structure for the given problem, one needs to know the available data structures.</a:t>
            </a:r>
          </a:p>
          <a:p>
            <a:pPr>
              <a:lnSpc>
                <a:spcPct val="100000"/>
              </a:lnSpc>
            </a:pPr>
            <a:endParaRPr lang="en-IN" dirty="0"/>
          </a:p>
        </p:txBody>
      </p:sp>
      <p:pic>
        <p:nvPicPr>
          <p:cNvPr id="3074" name="Picture 2" descr="E:\Clients\Darshan\Data Structure\2018\PPT\images\data structure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496" y="4772391"/>
            <a:ext cx="1345324" cy="1095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6594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ED680-ECDA-2C59-AF2D-3A5BD10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of Data Structure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B7375-27ED-AEFF-9C20-9AC5FE68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611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Classification of Data Structure</a:t>
            </a:r>
            <a:endParaRPr lang="en-US" dirty="0"/>
          </a:p>
        </p:txBody>
      </p:sp>
      <p:sp>
        <p:nvSpPr>
          <p:cNvPr id="54" name="Rounded Rectangle 53"/>
          <p:cNvSpPr/>
          <p:nvPr/>
        </p:nvSpPr>
        <p:spPr>
          <a:xfrm>
            <a:off x="4650809" y="997857"/>
            <a:ext cx="2286000" cy="457200"/>
          </a:xfrm>
          <a:prstGeom prst="roundRect">
            <a:avLst/>
          </a:prstGeom>
          <a:solidFill>
            <a:schemeClr val="bg2">
              <a:lumMod val="95000"/>
            </a:schemeClr>
          </a:solidFill>
          <a:ln w="25400" cap="flat" cmpd="sng" algn="ctr">
            <a:solidFill>
              <a:sysClr val="windowText" lastClr="000000">
                <a:shade val="50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</a:rPr>
              <a:t>Data Structure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</a:endParaRPr>
          </a:p>
        </p:txBody>
      </p:sp>
      <p:grpSp>
        <p:nvGrpSpPr>
          <p:cNvPr id="56" name="Group 55"/>
          <p:cNvGrpSpPr/>
          <p:nvPr/>
        </p:nvGrpSpPr>
        <p:grpSpPr>
          <a:xfrm>
            <a:off x="2060009" y="1455057"/>
            <a:ext cx="7949852" cy="914400"/>
            <a:chOff x="609600" y="1600200"/>
            <a:chExt cx="7949852" cy="914400"/>
          </a:xfrm>
          <a:solidFill>
            <a:schemeClr val="bg2">
              <a:lumMod val="95000"/>
            </a:schemeClr>
          </a:solidFill>
        </p:grpSpPr>
        <p:sp>
          <p:nvSpPr>
            <p:cNvPr id="58" name="Rounded Rectangle 57"/>
            <p:cNvSpPr/>
            <p:nvPr/>
          </p:nvSpPr>
          <p:spPr>
            <a:xfrm>
              <a:off x="609600" y="2057400"/>
              <a:ext cx="2590800" cy="457200"/>
            </a:xfrm>
            <a:prstGeom prst="roundRect">
              <a:avLst/>
            </a:prstGeom>
            <a:grpFill/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</a:rPr>
                <a:t>Primitive Data Structure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5435252" y="2057400"/>
              <a:ext cx="3124200" cy="457200"/>
            </a:xfrm>
            <a:prstGeom prst="roundRect">
              <a:avLst/>
            </a:prstGeom>
            <a:grpFill/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</a:rPr>
                <a:t>Non-Primitive Data Structure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</a:endParaRPr>
            </a:p>
          </p:txBody>
        </p:sp>
        <p:cxnSp>
          <p:nvCxnSpPr>
            <p:cNvPr id="62" name="Straight Connector 61"/>
            <p:cNvCxnSpPr/>
            <p:nvPr/>
          </p:nvCxnSpPr>
          <p:spPr>
            <a:xfrm>
              <a:off x="1905000" y="1752600"/>
              <a:ext cx="5105400" cy="0"/>
            </a:xfrm>
            <a:prstGeom prst="lin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cxnSp>
          <p:nvCxnSpPr>
            <p:cNvPr id="64" name="Straight Arrow Connector 63"/>
            <p:cNvCxnSpPr>
              <a:endCxn id="58" idx="0"/>
            </p:cNvCxnSpPr>
            <p:nvPr/>
          </p:nvCxnSpPr>
          <p:spPr>
            <a:xfrm>
              <a:off x="1905000" y="1752600"/>
              <a:ext cx="0" cy="304800"/>
            </a:xfrm>
            <a:prstGeom prst="straightConnector1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cxnSp>
          <p:nvCxnSpPr>
            <p:cNvPr id="66" name="Straight Arrow Connector 65"/>
            <p:cNvCxnSpPr>
              <a:endCxn id="60" idx="0"/>
            </p:cNvCxnSpPr>
            <p:nvPr/>
          </p:nvCxnSpPr>
          <p:spPr>
            <a:xfrm>
              <a:off x="6997352" y="1752600"/>
              <a:ext cx="0" cy="304800"/>
            </a:xfrm>
            <a:prstGeom prst="straightConnector1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  <a:tailEnd type="arrow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  <p:cxnSp>
          <p:nvCxnSpPr>
            <p:cNvPr id="67" name="Straight Connector 66"/>
            <p:cNvCxnSpPr>
              <a:stCxn id="54" idx="2"/>
            </p:cNvCxnSpPr>
            <p:nvPr/>
          </p:nvCxnSpPr>
          <p:spPr>
            <a:xfrm>
              <a:off x="4343400" y="1600200"/>
              <a:ext cx="0" cy="152400"/>
            </a:xfrm>
            <a:prstGeom prst="line">
              <a:avLst/>
            </a:prstGeom>
            <a:grpFill/>
            <a:ln w="38100" cap="flat" cmpd="sng" algn="ctr">
              <a:solidFill>
                <a:sysClr val="windowText" lastClr="000000"/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</p:cxnSp>
      </p:grpSp>
      <p:grpSp>
        <p:nvGrpSpPr>
          <p:cNvPr id="68" name="Group 67"/>
          <p:cNvGrpSpPr/>
          <p:nvPr/>
        </p:nvGrpSpPr>
        <p:grpSpPr>
          <a:xfrm>
            <a:off x="1744771" y="2369457"/>
            <a:ext cx="3678476" cy="1811055"/>
            <a:chOff x="294362" y="2514600"/>
            <a:chExt cx="3678476" cy="1811055"/>
          </a:xfrm>
          <a:solidFill>
            <a:schemeClr val="bg2">
              <a:lumMod val="95000"/>
            </a:schemeClr>
          </a:solidFill>
        </p:grpSpPr>
        <p:sp>
          <p:nvSpPr>
            <p:cNvPr id="69" name="Rounded Rectangle 68"/>
            <p:cNvSpPr/>
            <p:nvPr/>
          </p:nvSpPr>
          <p:spPr>
            <a:xfrm>
              <a:off x="294362" y="2895600"/>
              <a:ext cx="1077238" cy="457200"/>
            </a:xfrm>
            <a:prstGeom prst="roundRect">
              <a:avLst/>
            </a:prstGeom>
            <a:grp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Integer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1213981" y="3716055"/>
              <a:ext cx="1077238" cy="609600"/>
            </a:xfrm>
            <a:prstGeom prst="roundRect">
              <a:avLst/>
            </a:prstGeom>
            <a:grp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Floating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Point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1882282" y="2895600"/>
              <a:ext cx="1291224" cy="457200"/>
            </a:xfrm>
            <a:prstGeom prst="roundRect">
              <a:avLst/>
            </a:prstGeom>
            <a:grp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Characters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2895600" y="3716055"/>
              <a:ext cx="1077238" cy="457200"/>
            </a:xfrm>
            <a:prstGeom prst="roundRect">
              <a:avLst/>
            </a:prstGeom>
            <a:grp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Pointers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cxnSp>
          <p:nvCxnSpPr>
            <p:cNvPr id="75" name="Straight Connector 74"/>
            <p:cNvCxnSpPr/>
            <p:nvPr/>
          </p:nvCxnSpPr>
          <p:spPr>
            <a:xfrm>
              <a:off x="832981" y="2667000"/>
              <a:ext cx="2601238" cy="0"/>
            </a:xfrm>
            <a:prstGeom prst="line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76" name="Straight Arrow Connector 75"/>
            <p:cNvCxnSpPr>
              <a:endCxn id="69" idx="0"/>
            </p:cNvCxnSpPr>
            <p:nvPr/>
          </p:nvCxnSpPr>
          <p:spPr>
            <a:xfrm>
              <a:off x="832981" y="2667000"/>
              <a:ext cx="0" cy="228600"/>
            </a:xfrm>
            <a:prstGeom prst="straightConnector1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77" name="Straight Arrow Connector 76"/>
            <p:cNvCxnSpPr>
              <a:endCxn id="71" idx="0"/>
            </p:cNvCxnSpPr>
            <p:nvPr/>
          </p:nvCxnSpPr>
          <p:spPr>
            <a:xfrm>
              <a:off x="2516688" y="2653553"/>
              <a:ext cx="11206" cy="242047"/>
            </a:xfrm>
            <a:prstGeom prst="straightConnector1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79" name="Straight Arrow Connector 78"/>
            <p:cNvCxnSpPr>
              <a:endCxn id="73" idx="0"/>
            </p:cNvCxnSpPr>
            <p:nvPr/>
          </p:nvCxnSpPr>
          <p:spPr>
            <a:xfrm>
              <a:off x="3434219" y="2667000"/>
              <a:ext cx="0" cy="1049055"/>
            </a:xfrm>
            <a:prstGeom prst="straightConnector1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81" name="Straight Arrow Connector 80"/>
            <p:cNvCxnSpPr>
              <a:endCxn id="70" idx="0"/>
            </p:cNvCxnSpPr>
            <p:nvPr/>
          </p:nvCxnSpPr>
          <p:spPr>
            <a:xfrm>
              <a:off x="1752600" y="2667000"/>
              <a:ext cx="0" cy="1049055"/>
            </a:xfrm>
            <a:prstGeom prst="straightConnector1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83" name="Straight Connector 82"/>
            <p:cNvCxnSpPr>
              <a:stCxn id="58" idx="2"/>
            </p:cNvCxnSpPr>
            <p:nvPr/>
          </p:nvCxnSpPr>
          <p:spPr>
            <a:xfrm>
              <a:off x="1905000" y="2514600"/>
              <a:ext cx="0" cy="152400"/>
            </a:xfrm>
            <a:prstGeom prst="line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</p:grpSp>
      <p:grpSp>
        <p:nvGrpSpPr>
          <p:cNvPr id="85" name="Group 84"/>
          <p:cNvGrpSpPr/>
          <p:nvPr/>
        </p:nvGrpSpPr>
        <p:grpSpPr>
          <a:xfrm>
            <a:off x="6022409" y="3207657"/>
            <a:ext cx="3886199" cy="1295400"/>
            <a:chOff x="4572000" y="3352800"/>
            <a:chExt cx="3886199" cy="1295400"/>
          </a:xfrm>
          <a:solidFill>
            <a:schemeClr val="bg2">
              <a:lumMod val="95000"/>
            </a:schemeClr>
          </a:solidFill>
        </p:grpSpPr>
        <p:sp>
          <p:nvSpPr>
            <p:cNvPr id="86" name="Rounded Rectangle 85"/>
            <p:cNvSpPr/>
            <p:nvPr/>
          </p:nvSpPr>
          <p:spPr>
            <a:xfrm>
              <a:off x="4572000" y="4038600"/>
              <a:ext cx="1077238" cy="609600"/>
            </a:xfrm>
            <a:prstGeom prst="roundRect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Linear List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87" name="Rounded Rectangle 86"/>
            <p:cNvSpPr/>
            <p:nvPr/>
          </p:nvSpPr>
          <p:spPr>
            <a:xfrm>
              <a:off x="7173238" y="4038600"/>
              <a:ext cx="1284961" cy="609600"/>
            </a:xfrm>
            <a:prstGeom prst="roundRect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Non-Linear List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cxnSp>
          <p:nvCxnSpPr>
            <p:cNvPr id="90" name="Straight Connector 89"/>
            <p:cNvCxnSpPr/>
            <p:nvPr/>
          </p:nvCxnSpPr>
          <p:spPr>
            <a:xfrm>
              <a:off x="5110619" y="3733800"/>
              <a:ext cx="2705100" cy="0"/>
            </a:xfrm>
            <a:prstGeom prst="line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91" name="Straight Arrow Connector 90"/>
            <p:cNvCxnSpPr>
              <a:endCxn id="86" idx="0"/>
            </p:cNvCxnSpPr>
            <p:nvPr/>
          </p:nvCxnSpPr>
          <p:spPr>
            <a:xfrm>
              <a:off x="5110619" y="3716055"/>
              <a:ext cx="0" cy="322545"/>
            </a:xfrm>
            <a:prstGeom prst="straightConnector1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92" name="Straight Arrow Connector 91"/>
            <p:cNvCxnSpPr>
              <a:cxnSpLocks/>
              <a:endCxn id="87" idx="0"/>
            </p:cNvCxnSpPr>
            <p:nvPr/>
          </p:nvCxnSpPr>
          <p:spPr>
            <a:xfrm>
              <a:off x="7815719" y="3733800"/>
              <a:ext cx="0" cy="304800"/>
            </a:xfrm>
            <a:prstGeom prst="straightConnector1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99" name="Straight Connector 98"/>
            <p:cNvCxnSpPr>
              <a:stCxn id="116" idx="2"/>
            </p:cNvCxnSpPr>
            <p:nvPr/>
          </p:nvCxnSpPr>
          <p:spPr>
            <a:xfrm>
              <a:off x="6634619" y="3352800"/>
              <a:ext cx="0" cy="381000"/>
            </a:xfrm>
            <a:prstGeom prst="line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</p:grpSp>
      <p:grpSp>
        <p:nvGrpSpPr>
          <p:cNvPr id="100" name="Group 99"/>
          <p:cNvGrpSpPr/>
          <p:nvPr/>
        </p:nvGrpSpPr>
        <p:grpSpPr>
          <a:xfrm>
            <a:off x="5326171" y="4503057"/>
            <a:ext cx="2374725" cy="1066800"/>
            <a:chOff x="3875762" y="4648200"/>
            <a:chExt cx="2374725" cy="1066800"/>
          </a:xfrm>
          <a:solidFill>
            <a:schemeClr val="bg2">
              <a:lumMod val="95000"/>
            </a:schemeClr>
          </a:solidFill>
        </p:grpSpPr>
        <p:sp>
          <p:nvSpPr>
            <p:cNvPr id="101" name="Rounded Rectangle 100"/>
            <p:cNvSpPr/>
            <p:nvPr/>
          </p:nvSpPr>
          <p:spPr>
            <a:xfrm>
              <a:off x="3875762" y="5257800"/>
              <a:ext cx="1077238" cy="457200"/>
            </a:xfrm>
            <a:prstGeom prst="roundRect">
              <a:avLst/>
            </a:prstGeom>
            <a:grp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Stack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02" name="Rounded Rectangle 101"/>
            <p:cNvSpPr/>
            <p:nvPr/>
          </p:nvSpPr>
          <p:spPr>
            <a:xfrm>
              <a:off x="5173249" y="5257800"/>
              <a:ext cx="1077238" cy="457200"/>
            </a:xfrm>
            <a:prstGeom prst="roundRect">
              <a:avLst/>
            </a:prstGeom>
            <a:grp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Queue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cxnSp>
          <p:nvCxnSpPr>
            <p:cNvPr id="103" name="Straight Connector 102"/>
            <p:cNvCxnSpPr/>
            <p:nvPr/>
          </p:nvCxnSpPr>
          <p:spPr>
            <a:xfrm>
              <a:off x="4409162" y="4953000"/>
              <a:ext cx="1302706" cy="0"/>
            </a:xfrm>
            <a:prstGeom prst="line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04" name="Straight Arrow Connector 103"/>
            <p:cNvCxnSpPr>
              <a:endCxn id="101" idx="0"/>
            </p:cNvCxnSpPr>
            <p:nvPr/>
          </p:nvCxnSpPr>
          <p:spPr>
            <a:xfrm>
              <a:off x="4409162" y="4953000"/>
              <a:ext cx="5219" cy="304800"/>
            </a:xfrm>
            <a:prstGeom prst="straightConnector1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05" name="Straight Arrow Connector 104"/>
            <p:cNvCxnSpPr>
              <a:endCxn id="102" idx="0"/>
            </p:cNvCxnSpPr>
            <p:nvPr/>
          </p:nvCxnSpPr>
          <p:spPr>
            <a:xfrm>
              <a:off x="5711868" y="4953000"/>
              <a:ext cx="0" cy="304800"/>
            </a:xfrm>
            <a:prstGeom prst="straightConnector1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06" name="Straight Connector 105"/>
            <p:cNvCxnSpPr>
              <a:stCxn id="86" idx="2"/>
            </p:cNvCxnSpPr>
            <p:nvPr/>
          </p:nvCxnSpPr>
          <p:spPr>
            <a:xfrm>
              <a:off x="5110619" y="4648200"/>
              <a:ext cx="0" cy="304800"/>
            </a:xfrm>
            <a:prstGeom prst="line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</p:grpSp>
      <p:grpSp>
        <p:nvGrpSpPr>
          <p:cNvPr id="107" name="Group 106"/>
          <p:cNvGrpSpPr/>
          <p:nvPr/>
        </p:nvGrpSpPr>
        <p:grpSpPr>
          <a:xfrm>
            <a:off x="8085028" y="4503057"/>
            <a:ext cx="2362200" cy="1066800"/>
            <a:chOff x="6634619" y="4648200"/>
            <a:chExt cx="2362200" cy="1066800"/>
          </a:xfrm>
          <a:solidFill>
            <a:schemeClr val="bg2">
              <a:lumMod val="95000"/>
            </a:schemeClr>
          </a:solidFill>
        </p:grpSpPr>
        <p:sp>
          <p:nvSpPr>
            <p:cNvPr id="108" name="Rounded Rectangle 107"/>
            <p:cNvSpPr/>
            <p:nvPr/>
          </p:nvSpPr>
          <p:spPr>
            <a:xfrm>
              <a:off x="6634619" y="5257800"/>
              <a:ext cx="1077238" cy="457200"/>
            </a:xfrm>
            <a:prstGeom prst="roundRect">
              <a:avLst/>
            </a:prstGeom>
            <a:grp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Graphs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09" name="Rounded Rectangle 108"/>
            <p:cNvSpPr/>
            <p:nvPr/>
          </p:nvSpPr>
          <p:spPr>
            <a:xfrm>
              <a:off x="7919581" y="5257800"/>
              <a:ext cx="1077238" cy="457200"/>
            </a:xfrm>
            <a:prstGeom prst="roundRect">
              <a:avLst/>
            </a:prstGeom>
            <a:grpFill/>
            <a:ln w="9525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Trees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cxnSp>
          <p:nvCxnSpPr>
            <p:cNvPr id="110" name="Straight Connector 109"/>
            <p:cNvCxnSpPr/>
            <p:nvPr/>
          </p:nvCxnSpPr>
          <p:spPr>
            <a:xfrm>
              <a:off x="7173238" y="4953000"/>
              <a:ext cx="1284962" cy="0"/>
            </a:xfrm>
            <a:prstGeom prst="line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11" name="Straight Arrow Connector 110"/>
            <p:cNvCxnSpPr>
              <a:endCxn id="108" idx="0"/>
            </p:cNvCxnSpPr>
            <p:nvPr/>
          </p:nvCxnSpPr>
          <p:spPr>
            <a:xfrm>
              <a:off x="7173238" y="4953000"/>
              <a:ext cx="0" cy="304800"/>
            </a:xfrm>
            <a:prstGeom prst="straightConnector1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12" name="Straight Arrow Connector 111"/>
            <p:cNvCxnSpPr>
              <a:endCxn id="109" idx="0"/>
            </p:cNvCxnSpPr>
            <p:nvPr/>
          </p:nvCxnSpPr>
          <p:spPr>
            <a:xfrm>
              <a:off x="8458200" y="4953000"/>
              <a:ext cx="0" cy="304800"/>
            </a:xfrm>
            <a:prstGeom prst="straightConnector1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13" name="Straight Arrow Connector 112"/>
            <p:cNvCxnSpPr>
              <a:cxnSpLocks/>
              <a:stCxn id="87" idx="2"/>
            </p:cNvCxnSpPr>
            <p:nvPr/>
          </p:nvCxnSpPr>
          <p:spPr>
            <a:xfrm>
              <a:off x="7815719" y="4648200"/>
              <a:ext cx="0" cy="304800"/>
            </a:xfrm>
            <a:prstGeom prst="straightConnector1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</p:grpSp>
      <p:grpSp>
        <p:nvGrpSpPr>
          <p:cNvPr id="114" name="Group 113"/>
          <p:cNvGrpSpPr/>
          <p:nvPr/>
        </p:nvGrpSpPr>
        <p:grpSpPr>
          <a:xfrm>
            <a:off x="6022409" y="2369457"/>
            <a:ext cx="4277638" cy="838200"/>
            <a:chOff x="4572000" y="2514600"/>
            <a:chExt cx="4277638" cy="838200"/>
          </a:xfrm>
          <a:solidFill>
            <a:schemeClr val="bg2">
              <a:lumMod val="95000"/>
            </a:schemeClr>
          </a:solidFill>
        </p:grpSpPr>
        <p:sp>
          <p:nvSpPr>
            <p:cNvPr id="115" name="Rounded Rectangle 114"/>
            <p:cNvSpPr/>
            <p:nvPr/>
          </p:nvSpPr>
          <p:spPr>
            <a:xfrm>
              <a:off x="4572000" y="2895600"/>
              <a:ext cx="1077238" cy="457200"/>
            </a:xfrm>
            <a:prstGeom prst="roundRect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Arrays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16" name="Rounded Rectangle 115"/>
            <p:cNvSpPr/>
            <p:nvPr/>
          </p:nvSpPr>
          <p:spPr>
            <a:xfrm>
              <a:off x="6096000" y="2895600"/>
              <a:ext cx="1077238" cy="457200"/>
            </a:xfrm>
            <a:prstGeom prst="roundRect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Lists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sp>
          <p:nvSpPr>
            <p:cNvPr id="117" name="Rounded Rectangle 116"/>
            <p:cNvSpPr/>
            <p:nvPr/>
          </p:nvSpPr>
          <p:spPr>
            <a:xfrm>
              <a:off x="7772400" y="2895600"/>
              <a:ext cx="1077238" cy="457200"/>
            </a:xfrm>
            <a:prstGeom prst="roundRect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</a:rPr>
                <a:t>Files</a:t>
              </a:r>
              <a:endPara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endParaRPr>
            </a:p>
          </p:txBody>
        </p:sp>
        <p:cxnSp>
          <p:nvCxnSpPr>
            <p:cNvPr id="118" name="Straight Connector 117"/>
            <p:cNvCxnSpPr/>
            <p:nvPr/>
          </p:nvCxnSpPr>
          <p:spPr>
            <a:xfrm>
              <a:off x="5110619" y="2667000"/>
              <a:ext cx="3200400" cy="0"/>
            </a:xfrm>
            <a:prstGeom prst="line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19" name="Straight Arrow Connector 118"/>
            <p:cNvCxnSpPr>
              <a:endCxn id="115" idx="0"/>
            </p:cNvCxnSpPr>
            <p:nvPr/>
          </p:nvCxnSpPr>
          <p:spPr>
            <a:xfrm>
              <a:off x="5110619" y="2667000"/>
              <a:ext cx="0" cy="228600"/>
            </a:xfrm>
            <a:prstGeom prst="straightConnector1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20" name="Straight Arrow Connector 119"/>
            <p:cNvCxnSpPr>
              <a:endCxn id="116" idx="0"/>
            </p:cNvCxnSpPr>
            <p:nvPr/>
          </p:nvCxnSpPr>
          <p:spPr>
            <a:xfrm>
              <a:off x="6634619" y="2667000"/>
              <a:ext cx="0" cy="228600"/>
            </a:xfrm>
            <a:prstGeom prst="straightConnector1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21" name="Straight Arrow Connector 120"/>
            <p:cNvCxnSpPr>
              <a:endCxn id="117" idx="0"/>
            </p:cNvCxnSpPr>
            <p:nvPr/>
          </p:nvCxnSpPr>
          <p:spPr>
            <a:xfrm>
              <a:off x="8311019" y="2667000"/>
              <a:ext cx="0" cy="228600"/>
            </a:xfrm>
            <a:prstGeom prst="straightConnector1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tailEnd type="arrow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  <p:cxnSp>
          <p:nvCxnSpPr>
            <p:cNvPr id="122" name="Straight Connector 121"/>
            <p:cNvCxnSpPr>
              <a:stCxn id="60" idx="2"/>
            </p:cNvCxnSpPr>
            <p:nvPr/>
          </p:nvCxnSpPr>
          <p:spPr>
            <a:xfrm>
              <a:off x="6997352" y="2514600"/>
              <a:ext cx="0" cy="152400"/>
            </a:xfrm>
            <a:prstGeom prst="line">
              <a:avLst/>
            </a:prstGeom>
            <a:grpFill/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</p:cxnSp>
      </p:grpSp>
    </p:spTree>
    <p:extLst>
      <p:ext uri="{BB962C8B-B14F-4D97-AF65-F5344CB8AC3E}">
        <p14:creationId xmlns:p14="http://schemas.microsoft.com/office/powerpoint/2010/main" val="174242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ED680-ECDA-2C59-AF2D-3A5BD10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Primitive vs. Non-Primitive Data Structures</a:t>
            </a:r>
            <a:endParaRPr lang="en-US" sz="4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B7375-27ED-AEFF-9C20-9AC5FE68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578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Primitive and Non-Primitive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Primitive Data Structures</a:t>
            </a:r>
          </a:p>
          <a:p>
            <a:pPr lvl="1"/>
            <a:r>
              <a:rPr lang="en-IN" dirty="0"/>
              <a:t>Primitive data structures are basic structures and are directly operated upon by machine instructions.</a:t>
            </a:r>
          </a:p>
          <a:p>
            <a:pPr lvl="1"/>
            <a:r>
              <a:rPr lang="en-IN" b="1" i="1" dirty="0">
                <a:solidFill>
                  <a:srgbClr val="C00000"/>
                </a:solidFill>
              </a:rPr>
              <a:t>Integers</a:t>
            </a:r>
            <a:r>
              <a:rPr lang="en-IN" dirty="0"/>
              <a:t>, </a:t>
            </a:r>
            <a:r>
              <a:rPr lang="en-IN" b="1" i="1" dirty="0">
                <a:solidFill>
                  <a:srgbClr val="C00000"/>
                </a:solidFill>
              </a:rPr>
              <a:t>floats</a:t>
            </a:r>
            <a:r>
              <a:rPr lang="en-IN" dirty="0"/>
              <a:t>, </a:t>
            </a:r>
            <a:r>
              <a:rPr lang="en-IN" b="1" i="1" dirty="0">
                <a:solidFill>
                  <a:srgbClr val="C00000"/>
                </a:solidFill>
              </a:rPr>
              <a:t>character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and </a:t>
            </a:r>
            <a:r>
              <a:rPr lang="en-IN" b="1" i="1" dirty="0">
                <a:solidFill>
                  <a:srgbClr val="C00000"/>
                </a:solidFill>
              </a:rPr>
              <a:t>pointers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are examples of primitive data structures.</a:t>
            </a:r>
          </a:p>
          <a:p>
            <a:r>
              <a:rPr lang="en-US" b="1" dirty="0"/>
              <a:t>Non primitive data structure</a:t>
            </a:r>
          </a:p>
          <a:p>
            <a:pPr lvl="1"/>
            <a:r>
              <a:rPr lang="en-IN" dirty="0"/>
              <a:t>These are derived </a:t>
            </a:r>
            <a:r>
              <a:rPr lang="en-IN" dirty="0">
                <a:ea typeface="Roboto Light" pitchFamily="2" charset="0"/>
              </a:rPr>
              <a:t>from</a:t>
            </a:r>
            <a:r>
              <a:rPr lang="en-IN" dirty="0"/>
              <a:t> primitive data structures.</a:t>
            </a:r>
          </a:p>
          <a:p>
            <a:pPr lvl="1"/>
            <a:r>
              <a:rPr lang="en-IN" dirty="0"/>
              <a:t>The non-primitive data structures emphasize on structuring of a group of homogeneous or heterogeneous  data items.</a:t>
            </a:r>
          </a:p>
          <a:p>
            <a:pPr lvl="1"/>
            <a:r>
              <a:rPr lang="en-IN" dirty="0"/>
              <a:t>Examples of Non-primitive data type are </a:t>
            </a:r>
            <a:r>
              <a:rPr lang="en-IN" b="1" i="1" dirty="0">
                <a:solidFill>
                  <a:srgbClr val="C00000"/>
                </a:solidFill>
              </a:rPr>
              <a:t>Array</a:t>
            </a:r>
            <a:r>
              <a:rPr lang="en-IN" dirty="0"/>
              <a:t>, </a:t>
            </a:r>
            <a:r>
              <a:rPr lang="en-IN" b="1" i="1" dirty="0">
                <a:solidFill>
                  <a:srgbClr val="C00000"/>
                </a:solidFill>
              </a:rPr>
              <a:t>Stack</a:t>
            </a:r>
            <a:r>
              <a:rPr lang="en-IN" dirty="0"/>
              <a:t>,</a:t>
            </a:r>
            <a:r>
              <a:rPr lang="en-IN" b="1" i="1" dirty="0">
                <a:solidFill>
                  <a:srgbClr val="C00000"/>
                </a:solidFill>
              </a:rPr>
              <a:t> Queue</a:t>
            </a:r>
            <a:r>
              <a:rPr lang="en-IN" dirty="0"/>
              <a:t>,</a:t>
            </a:r>
            <a:r>
              <a:rPr lang="en-IN" b="1" i="1" dirty="0">
                <a:solidFill>
                  <a:srgbClr val="C00000"/>
                </a:solidFill>
              </a:rPr>
              <a:t> Linked List</a:t>
            </a:r>
            <a:r>
              <a:rPr lang="en-IN" dirty="0"/>
              <a:t>, </a:t>
            </a:r>
            <a:r>
              <a:rPr lang="en-IN" b="1" i="1" dirty="0">
                <a:solidFill>
                  <a:srgbClr val="C00000"/>
                </a:solidFill>
              </a:rPr>
              <a:t>Tree</a:t>
            </a:r>
            <a:r>
              <a:rPr lang="en-IN" dirty="0"/>
              <a:t>, </a:t>
            </a:r>
            <a:r>
              <a:rPr lang="en-IN" b="1" i="1" dirty="0">
                <a:solidFill>
                  <a:srgbClr val="C00000"/>
                </a:solidFill>
              </a:rPr>
              <a:t>Graph</a:t>
            </a:r>
            <a:r>
              <a:rPr lang="en-IN" dirty="0"/>
              <a:t> and </a:t>
            </a:r>
            <a:r>
              <a:rPr lang="en-IN" b="1" i="1" dirty="0">
                <a:solidFill>
                  <a:srgbClr val="C00000"/>
                </a:solidFill>
              </a:rPr>
              <a:t>File</a:t>
            </a:r>
            <a:r>
              <a:rPr lang="en-IN" b="1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9453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Non-Primitive Data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Array:</a:t>
            </a:r>
            <a:r>
              <a:rPr lang="en-IN" dirty="0"/>
              <a:t> An array is a fixed-size sequenced collection of elements of the same data type.</a:t>
            </a:r>
          </a:p>
          <a:p>
            <a:r>
              <a:rPr lang="en-IN" b="1" dirty="0"/>
              <a:t>List:</a:t>
            </a:r>
            <a:r>
              <a:rPr lang="en-IN" dirty="0"/>
              <a:t> An ordered set containing variable number of elements is called as Lists.</a:t>
            </a:r>
          </a:p>
          <a:p>
            <a:r>
              <a:rPr lang="en-IN" b="1" dirty="0"/>
              <a:t>File:</a:t>
            </a:r>
            <a:r>
              <a:rPr lang="en-IN" dirty="0"/>
              <a:t> A file is a collection of logically related information. It can be viewed as a large list of records consisting of various fields.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09800" y="2881085"/>
            <a:ext cx="609600" cy="45720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819400" y="2881085"/>
            <a:ext cx="609600" cy="45720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429000" y="2881085"/>
            <a:ext cx="609600" cy="45720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038600" y="2881085"/>
            <a:ext cx="609600" cy="45720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648200" y="2881085"/>
            <a:ext cx="609600" cy="45720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209800" y="4481285"/>
            <a:ext cx="609600" cy="45720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048000" y="4481285"/>
            <a:ext cx="609600" cy="45720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886200" y="4481285"/>
            <a:ext cx="609600" cy="45720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724400" y="4481285"/>
            <a:ext cx="609600" cy="45720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562600" y="4481285"/>
            <a:ext cx="609600" cy="45720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stCxn id="9" idx="3"/>
            <a:endCxn id="10" idx="1"/>
          </p:cNvCxnSpPr>
          <p:nvPr/>
        </p:nvCxnSpPr>
        <p:spPr>
          <a:xfrm>
            <a:off x="2819400" y="4709885"/>
            <a:ext cx="228600" cy="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0" idx="3"/>
            <a:endCxn id="11" idx="1"/>
          </p:cNvCxnSpPr>
          <p:nvPr/>
        </p:nvCxnSpPr>
        <p:spPr>
          <a:xfrm>
            <a:off x="3657600" y="4709885"/>
            <a:ext cx="228600" cy="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1" idx="3"/>
            <a:endCxn id="12" idx="1"/>
          </p:cNvCxnSpPr>
          <p:nvPr/>
        </p:nvCxnSpPr>
        <p:spPr>
          <a:xfrm>
            <a:off x="4495800" y="4709885"/>
            <a:ext cx="228600" cy="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2" idx="3"/>
            <a:endCxn id="13" idx="1"/>
          </p:cNvCxnSpPr>
          <p:nvPr/>
        </p:nvCxnSpPr>
        <p:spPr>
          <a:xfrm>
            <a:off x="5334000" y="4709885"/>
            <a:ext cx="228600" cy="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881085"/>
            <a:ext cx="306284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3124200" y="3307241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Array</a:t>
            </a:r>
            <a:endParaRPr lang="en-US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3581400" y="4938485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List</a:t>
            </a:r>
            <a:endParaRPr lang="en-US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8008420" y="4569153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File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47606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22" grpId="0"/>
      <p:bldP spid="27" grpId="0"/>
      <p:bldP spid="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533DC-DBDE-2221-D355-D1D191806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Primitive vs. Non-Primitive Data Structures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69AEE1E-7ED9-2B5A-BA26-389F20D94B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1489711"/>
              </p:ext>
            </p:extLst>
          </p:nvPr>
        </p:nvGraphicFramePr>
        <p:xfrm>
          <a:off x="131763" y="876301"/>
          <a:ext cx="11928473" cy="1375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8490">
                  <a:extLst>
                    <a:ext uri="{9D8B030D-6E8A-4147-A177-3AD203B41FA5}">
                      <a16:colId xmlns:a16="http://schemas.microsoft.com/office/drawing/2014/main" val="2260447900"/>
                    </a:ext>
                  </a:extLst>
                </a:gridCol>
                <a:gridCol w="4961157">
                  <a:extLst>
                    <a:ext uri="{9D8B030D-6E8A-4147-A177-3AD203B41FA5}">
                      <a16:colId xmlns:a16="http://schemas.microsoft.com/office/drawing/2014/main" val="157133776"/>
                    </a:ext>
                  </a:extLst>
                </a:gridCol>
                <a:gridCol w="5258826">
                  <a:extLst>
                    <a:ext uri="{9D8B030D-6E8A-4147-A177-3AD203B41FA5}">
                      <a16:colId xmlns:a16="http://schemas.microsoft.com/office/drawing/2014/main" val="2119577743"/>
                    </a:ext>
                  </a:extLst>
                </a:gridCol>
              </a:tblGrid>
              <a:tr h="613990">
                <a:tc>
                  <a:txBody>
                    <a:bodyPr/>
                    <a:lstStyle/>
                    <a:p>
                      <a:r>
                        <a:rPr lang="en-US" sz="2400" b="1" dirty="0"/>
                        <a:t>Aspect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Primitive Data Structure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Non-Primitive Data Structure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8089256"/>
                  </a:ext>
                </a:extLst>
              </a:tr>
              <a:tr h="759788">
                <a:tc>
                  <a:txBody>
                    <a:bodyPr/>
                    <a:lstStyle/>
                    <a:p>
                      <a:r>
                        <a:rPr lang="en-US" sz="2400" b="1" dirty="0"/>
                        <a:t>Definition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These are </a:t>
                      </a:r>
                      <a:r>
                        <a:rPr lang="en-US" sz="2200" b="1" dirty="0"/>
                        <a:t>basic structures </a:t>
                      </a:r>
                      <a:r>
                        <a:rPr lang="en-US" sz="2200" dirty="0"/>
                        <a:t>and are directly operated upon by machine instructions.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dirty="0"/>
                        <a:t>These are </a:t>
                      </a:r>
                      <a:r>
                        <a:rPr lang="en-IN" sz="2200" b="1" dirty="0"/>
                        <a:t>derived</a:t>
                      </a:r>
                      <a:r>
                        <a:rPr lang="en-IN" sz="2200" dirty="0"/>
                        <a:t> </a:t>
                      </a:r>
                      <a:r>
                        <a:rPr lang="en-IN" sz="2200" dirty="0">
                          <a:ea typeface="Roboto Light" pitchFamily="2" charset="0"/>
                        </a:rPr>
                        <a:t>from</a:t>
                      </a:r>
                      <a:r>
                        <a:rPr lang="en-IN" sz="2200" dirty="0"/>
                        <a:t> primitive data structures.</a:t>
                      </a:r>
                      <a:endParaRPr lang="en-US" sz="2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360135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797C814-50F9-2D0B-714B-7F00CC4FE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198862"/>
              </p:ext>
            </p:extLst>
          </p:nvPr>
        </p:nvGraphicFramePr>
        <p:xfrm>
          <a:off x="131762" y="2259796"/>
          <a:ext cx="11928473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8490">
                  <a:extLst>
                    <a:ext uri="{9D8B030D-6E8A-4147-A177-3AD203B41FA5}">
                      <a16:colId xmlns:a16="http://schemas.microsoft.com/office/drawing/2014/main" val="756383479"/>
                    </a:ext>
                  </a:extLst>
                </a:gridCol>
                <a:gridCol w="4961157">
                  <a:extLst>
                    <a:ext uri="{9D8B030D-6E8A-4147-A177-3AD203B41FA5}">
                      <a16:colId xmlns:a16="http://schemas.microsoft.com/office/drawing/2014/main" val="3293170927"/>
                    </a:ext>
                  </a:extLst>
                </a:gridCol>
                <a:gridCol w="5258826">
                  <a:extLst>
                    <a:ext uri="{9D8B030D-6E8A-4147-A177-3AD203B41FA5}">
                      <a16:colId xmlns:a16="http://schemas.microsoft.com/office/drawing/2014/main" val="426609403"/>
                    </a:ext>
                  </a:extLst>
                </a:gridCol>
              </a:tblGrid>
              <a:tr h="446874">
                <a:tc>
                  <a:txBody>
                    <a:bodyPr/>
                    <a:lstStyle/>
                    <a:p>
                      <a:r>
                        <a:rPr lang="en-US" sz="2400" b="1" dirty="0"/>
                        <a:t>Examples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Int, float, char, double, </a:t>
                      </a:r>
                      <a:r>
                        <a:rPr lang="en-US" sz="2200" dirty="0" err="1"/>
                        <a:t>boolean</a:t>
                      </a:r>
                      <a:r>
                        <a:rPr lang="en-US" sz="2200" dirty="0"/>
                        <a:t>, etc.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Array, Stack, Queue, Linked List, Tree, Graph, etc.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140443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7E691C6-03EC-4844-D7B1-D24BA89B6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987679"/>
              </p:ext>
            </p:extLst>
          </p:nvPr>
        </p:nvGraphicFramePr>
        <p:xfrm>
          <a:off x="131761" y="3018558"/>
          <a:ext cx="11928473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8490">
                  <a:extLst>
                    <a:ext uri="{9D8B030D-6E8A-4147-A177-3AD203B41FA5}">
                      <a16:colId xmlns:a16="http://schemas.microsoft.com/office/drawing/2014/main" val="2356449036"/>
                    </a:ext>
                  </a:extLst>
                </a:gridCol>
                <a:gridCol w="4961157">
                  <a:extLst>
                    <a:ext uri="{9D8B030D-6E8A-4147-A177-3AD203B41FA5}">
                      <a16:colId xmlns:a16="http://schemas.microsoft.com/office/drawing/2014/main" val="3742863797"/>
                    </a:ext>
                  </a:extLst>
                </a:gridCol>
                <a:gridCol w="5258826">
                  <a:extLst>
                    <a:ext uri="{9D8B030D-6E8A-4147-A177-3AD203B41FA5}">
                      <a16:colId xmlns:a16="http://schemas.microsoft.com/office/drawing/2014/main" val="2752805369"/>
                    </a:ext>
                  </a:extLst>
                </a:gridCol>
              </a:tblGrid>
              <a:tr h="759788">
                <a:tc>
                  <a:txBody>
                    <a:bodyPr/>
                    <a:lstStyle/>
                    <a:p>
                      <a:r>
                        <a:rPr lang="en-US" sz="2400" b="1" dirty="0"/>
                        <a:t>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Fixed</a:t>
                      </a:r>
                      <a:r>
                        <a:rPr lang="en-US" sz="2200" dirty="0"/>
                        <a:t> and </a:t>
                      </a:r>
                      <a:r>
                        <a:rPr lang="en-US" sz="2200" b="1" dirty="0"/>
                        <a:t>predefined</a:t>
                      </a:r>
                      <a:r>
                        <a:rPr lang="en-US" sz="2200" dirty="0"/>
                        <a:t> by the programming language.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Dynamic</a:t>
                      </a:r>
                      <a:r>
                        <a:rPr lang="en-US" sz="2200" dirty="0"/>
                        <a:t> and </a:t>
                      </a:r>
                      <a:r>
                        <a:rPr lang="en-US" sz="2200" b="1" dirty="0"/>
                        <a:t>can be varied </a:t>
                      </a:r>
                      <a:r>
                        <a:rPr lang="en-US" sz="2200" dirty="0"/>
                        <a:t>during runtime.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249538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44FAB81-928F-92E3-E616-A5827C0FD6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10712"/>
              </p:ext>
            </p:extLst>
          </p:nvPr>
        </p:nvGraphicFramePr>
        <p:xfrm>
          <a:off x="131760" y="3791391"/>
          <a:ext cx="11928473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8490">
                  <a:extLst>
                    <a:ext uri="{9D8B030D-6E8A-4147-A177-3AD203B41FA5}">
                      <a16:colId xmlns:a16="http://schemas.microsoft.com/office/drawing/2014/main" val="661046910"/>
                    </a:ext>
                  </a:extLst>
                </a:gridCol>
                <a:gridCol w="4961157">
                  <a:extLst>
                    <a:ext uri="{9D8B030D-6E8A-4147-A177-3AD203B41FA5}">
                      <a16:colId xmlns:a16="http://schemas.microsoft.com/office/drawing/2014/main" val="4214834772"/>
                    </a:ext>
                  </a:extLst>
                </a:gridCol>
                <a:gridCol w="5258826">
                  <a:extLst>
                    <a:ext uri="{9D8B030D-6E8A-4147-A177-3AD203B41FA5}">
                      <a16:colId xmlns:a16="http://schemas.microsoft.com/office/drawing/2014/main" val="47827164"/>
                    </a:ext>
                  </a:extLst>
                </a:gridCol>
              </a:tblGrid>
              <a:tr h="759788">
                <a:tc>
                  <a:txBody>
                    <a:bodyPr/>
                    <a:lstStyle/>
                    <a:p>
                      <a:r>
                        <a:rPr lang="en-US" sz="2400" b="1" dirty="0"/>
                        <a:t>Operations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b="1" dirty="0"/>
                        <a:t>Limited</a:t>
                      </a:r>
                      <a:r>
                        <a:rPr lang="en-US" sz="2200" dirty="0"/>
                        <a:t> to basic arithmetic and logical operations.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There are </a:t>
                      </a:r>
                      <a:r>
                        <a:rPr lang="en-US" sz="2200" b="1" dirty="0"/>
                        <a:t>variety</a:t>
                      </a:r>
                      <a:r>
                        <a:rPr lang="en-US" sz="2200" dirty="0"/>
                        <a:t> of operations can be performed depending upon the data structure.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892787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C571382-2E77-02B0-BD49-568026A698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331309"/>
              </p:ext>
            </p:extLst>
          </p:nvPr>
        </p:nvGraphicFramePr>
        <p:xfrm>
          <a:off x="131760" y="4544847"/>
          <a:ext cx="11928473" cy="76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8490">
                  <a:extLst>
                    <a:ext uri="{9D8B030D-6E8A-4147-A177-3AD203B41FA5}">
                      <a16:colId xmlns:a16="http://schemas.microsoft.com/office/drawing/2014/main" val="3379603702"/>
                    </a:ext>
                  </a:extLst>
                </a:gridCol>
                <a:gridCol w="4961157">
                  <a:extLst>
                    <a:ext uri="{9D8B030D-6E8A-4147-A177-3AD203B41FA5}">
                      <a16:colId xmlns:a16="http://schemas.microsoft.com/office/drawing/2014/main" val="1340632044"/>
                    </a:ext>
                  </a:extLst>
                </a:gridCol>
                <a:gridCol w="5258826">
                  <a:extLst>
                    <a:ext uri="{9D8B030D-6E8A-4147-A177-3AD203B41FA5}">
                      <a16:colId xmlns:a16="http://schemas.microsoft.com/office/drawing/2014/main" val="2862855422"/>
                    </a:ext>
                  </a:extLst>
                </a:gridCol>
              </a:tblGrid>
              <a:tr h="759788">
                <a:tc>
                  <a:txBody>
                    <a:bodyPr/>
                    <a:lstStyle/>
                    <a:p>
                      <a:r>
                        <a:rPr lang="en-US" sz="2400" b="1" dirty="0"/>
                        <a:t>Usage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Used for representing </a:t>
                      </a:r>
                      <a:r>
                        <a:rPr lang="en-US" sz="2200" b="1" dirty="0"/>
                        <a:t>simple values </a:t>
                      </a:r>
                      <a:r>
                        <a:rPr lang="en-US" sz="2200" dirty="0"/>
                        <a:t>and performing basic operations.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/>
                        <a:t>Used for organizing and managing data in </a:t>
                      </a:r>
                      <a:r>
                        <a:rPr lang="en-US" sz="2200" b="1" dirty="0"/>
                        <a:t>more complex ways</a:t>
                      </a:r>
                      <a:r>
                        <a:rPr lang="en-US" sz="2200" dirty="0"/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252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7867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533DC-DBDE-2221-D355-D1D191806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Primitive vs. Non-Primitive Data Structures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69AEE1E-7ED9-2B5A-BA26-389F20D94B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1041728"/>
              </p:ext>
            </p:extLst>
          </p:nvPr>
        </p:nvGraphicFramePr>
        <p:xfrm>
          <a:off x="131763" y="876301"/>
          <a:ext cx="11928473" cy="411034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708490">
                  <a:extLst>
                    <a:ext uri="{9D8B030D-6E8A-4147-A177-3AD203B41FA5}">
                      <a16:colId xmlns:a16="http://schemas.microsoft.com/office/drawing/2014/main" val="2260447900"/>
                    </a:ext>
                  </a:extLst>
                </a:gridCol>
                <a:gridCol w="4961157">
                  <a:extLst>
                    <a:ext uri="{9D8B030D-6E8A-4147-A177-3AD203B41FA5}">
                      <a16:colId xmlns:a16="http://schemas.microsoft.com/office/drawing/2014/main" val="157133776"/>
                    </a:ext>
                  </a:extLst>
                </a:gridCol>
                <a:gridCol w="5258826">
                  <a:extLst>
                    <a:ext uri="{9D8B030D-6E8A-4147-A177-3AD203B41FA5}">
                      <a16:colId xmlns:a16="http://schemas.microsoft.com/office/drawing/2014/main" val="2119577743"/>
                    </a:ext>
                  </a:extLst>
                </a:gridCol>
              </a:tblGrid>
              <a:tr h="613990">
                <a:tc>
                  <a:txBody>
                    <a:bodyPr/>
                    <a:lstStyle/>
                    <a:p>
                      <a:r>
                        <a:rPr lang="en-US" sz="2400" b="1" dirty="0"/>
                        <a:t>Aspect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Primitive Data Structure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Non-Primitive Data Structure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8089256"/>
                  </a:ext>
                </a:extLst>
              </a:tr>
              <a:tr h="759788">
                <a:tc>
                  <a:txBody>
                    <a:bodyPr/>
                    <a:lstStyle/>
                    <a:p>
                      <a:r>
                        <a:rPr lang="en-US" sz="2400" b="1" dirty="0"/>
                        <a:t>Definition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These are basic structures and are directly operated upon by machine instructions.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These are derived </a:t>
                      </a:r>
                      <a:r>
                        <a:rPr lang="en-IN" sz="2000" dirty="0">
                          <a:ea typeface="Roboto Light" pitchFamily="2" charset="0"/>
                        </a:rPr>
                        <a:t>from</a:t>
                      </a:r>
                      <a:r>
                        <a:rPr lang="en-IN" sz="2000" dirty="0"/>
                        <a:t> primitive data structures.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3601359"/>
                  </a:ext>
                </a:extLst>
              </a:tr>
              <a:tr h="446874">
                <a:tc>
                  <a:txBody>
                    <a:bodyPr/>
                    <a:lstStyle/>
                    <a:p>
                      <a:r>
                        <a:rPr lang="en-US" sz="2400" b="1" dirty="0"/>
                        <a:t>Examples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Int, float, char, double, Boolean, etc.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Array, Stack, Queue, Linked List, Tree, Graph, etc.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2200209"/>
                  </a:ext>
                </a:extLst>
              </a:tr>
              <a:tr h="759788">
                <a:tc>
                  <a:txBody>
                    <a:bodyPr/>
                    <a:lstStyle/>
                    <a:p>
                      <a:r>
                        <a:rPr lang="en-US" sz="2400" b="1" dirty="0"/>
                        <a:t>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Fixed and predefined by the programming language.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Dynamic and can be varied during runtime.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047859"/>
                  </a:ext>
                </a:extLst>
              </a:tr>
              <a:tr h="759788">
                <a:tc>
                  <a:txBody>
                    <a:bodyPr/>
                    <a:lstStyle/>
                    <a:p>
                      <a:r>
                        <a:rPr lang="en-US" sz="2400" b="1" dirty="0"/>
                        <a:t>Operations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Limited to basic arithmetic and logical operations.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There are variety of operations can be performed depending upon the data structure.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1773580"/>
                  </a:ext>
                </a:extLst>
              </a:tr>
              <a:tr h="759788">
                <a:tc>
                  <a:txBody>
                    <a:bodyPr/>
                    <a:lstStyle/>
                    <a:p>
                      <a:r>
                        <a:rPr lang="en-US" sz="2400" b="1" dirty="0"/>
                        <a:t>Usage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Used for representing simple values and performing basic operations.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Used for organizing and managing data in more complex ways.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4485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3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ED680-ECDA-2C59-AF2D-3A5BD10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800" dirty="0"/>
              <a:t>Linear vs. Non-Linear Data Structures</a:t>
            </a:r>
            <a:endParaRPr lang="en-US" sz="4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B7375-27ED-AEFF-9C20-9AC5FE68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2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Linear / Non-Linear Data Structures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Linear Data Structures</a:t>
            </a:r>
          </a:p>
          <a:p>
            <a:pPr lvl="1"/>
            <a:r>
              <a:rPr lang="en-IN" dirty="0"/>
              <a:t>A data structure is said to be Linear, if its elements are connected in linear fashion by means of logically or in sequence memory locations.</a:t>
            </a:r>
          </a:p>
          <a:p>
            <a:pPr lvl="1"/>
            <a:r>
              <a:rPr lang="en-IN" dirty="0"/>
              <a:t>Examples of Linear Data Structure are </a:t>
            </a:r>
            <a:r>
              <a:rPr lang="en-IN" b="1" i="1" dirty="0">
                <a:solidFill>
                  <a:srgbClr val="C00000"/>
                </a:solidFill>
              </a:rPr>
              <a:t>Stack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and </a:t>
            </a:r>
            <a:r>
              <a:rPr lang="en-IN" b="1" i="1" dirty="0">
                <a:solidFill>
                  <a:srgbClr val="C00000"/>
                </a:solidFill>
              </a:rPr>
              <a:t>Queue</a:t>
            </a:r>
            <a:r>
              <a:rPr lang="en-IN" dirty="0"/>
              <a:t>.</a:t>
            </a:r>
          </a:p>
          <a:p>
            <a:r>
              <a:rPr lang="en-US" b="1" dirty="0"/>
              <a:t>Non-Linear Data Structures</a:t>
            </a:r>
          </a:p>
          <a:p>
            <a:pPr lvl="1"/>
            <a:r>
              <a:rPr lang="en-IN" dirty="0"/>
              <a:t>Nonlinear data structures are those data structure in which data items are not arranged in a sequence.</a:t>
            </a:r>
          </a:p>
          <a:p>
            <a:pPr lvl="1"/>
            <a:r>
              <a:rPr lang="en-IN" dirty="0"/>
              <a:t>Examples of Non-linear Data Structure are </a:t>
            </a:r>
            <a:r>
              <a:rPr lang="en-IN" b="1" i="1" dirty="0">
                <a:solidFill>
                  <a:srgbClr val="C00000"/>
                </a:solidFill>
              </a:rPr>
              <a:t>Tree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and </a:t>
            </a:r>
            <a:r>
              <a:rPr lang="en-IN" b="1" i="1" dirty="0">
                <a:solidFill>
                  <a:srgbClr val="C00000"/>
                </a:solidFill>
              </a:rPr>
              <a:t>Graph</a:t>
            </a:r>
            <a:r>
              <a:rPr lang="en-IN" b="1" i="1" dirty="0"/>
              <a:t>.</a:t>
            </a:r>
            <a:endParaRPr lang="en-US" b="1" i="1" dirty="0"/>
          </a:p>
        </p:txBody>
      </p:sp>
      <p:pic>
        <p:nvPicPr>
          <p:cNvPr id="2050" name="Picture 2" descr="E:\Clients\Darshan\Data Structure\images\Data Structure\391px-Data_stack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088" y="3770086"/>
            <a:ext cx="1862137" cy="1338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E:\Clients\Darshan\Data Structure\images\Data Structure\Fifo_queue.sv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288" y="3770086"/>
            <a:ext cx="1738403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E:\Clients\Darshan\Data Structure\images\Data Structure\Tre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3693886"/>
            <a:ext cx="1828800" cy="1507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E:\Clients\Darshan\Data Structure\images\Data Structure\440px-6n-graph2.svg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3605346"/>
            <a:ext cx="1485900" cy="1624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296887" y="5370286"/>
            <a:ext cx="1219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Stack</a:t>
            </a:r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582887" y="5370286"/>
            <a:ext cx="1219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Queue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934200" y="5370286"/>
            <a:ext cx="1219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Tree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8839200" y="5370286"/>
            <a:ext cx="1219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Graph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00225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/>
      <p:bldP spid="9" grpId="0" uiExpand="1"/>
      <p:bldP spid="10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vs. Non-Linear Data Structures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9192273"/>
              </p:ext>
            </p:extLst>
          </p:nvPr>
        </p:nvGraphicFramePr>
        <p:xfrm>
          <a:off x="346229" y="876300"/>
          <a:ext cx="11714008" cy="3650911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14930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7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3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9501">
                <a:tc>
                  <a:txBody>
                    <a:bodyPr/>
                    <a:lstStyle/>
                    <a:p>
                      <a:r>
                        <a:rPr lang="en-US" sz="2100" dirty="0"/>
                        <a:t>Aspect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Linear Data</a:t>
                      </a:r>
                      <a:r>
                        <a:rPr lang="en-US" sz="2100" baseline="0" dirty="0"/>
                        <a:t> Structure</a:t>
                      </a:r>
                      <a:endParaRPr lang="en-US" sz="2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100" dirty="0"/>
                        <a:t>Non-Linear Data</a:t>
                      </a:r>
                      <a:r>
                        <a:rPr lang="en-US" sz="2100" baseline="0" dirty="0"/>
                        <a:t> Structure</a:t>
                      </a:r>
                      <a:endParaRPr lang="en-US" sz="2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Order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Elements are </a:t>
                      </a:r>
                      <a:r>
                        <a:rPr lang="en-US" sz="1800" b="1" dirty="0"/>
                        <a:t>arranged in a linear order </a:t>
                      </a:r>
                      <a:r>
                        <a:rPr lang="en-US" sz="1800" dirty="0"/>
                        <a:t>where each and every element is attached to its previous and next adjacent.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Elements are not arranged in a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</a:rPr>
                        <a:t>sequence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.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223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Level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</a:rPr>
                        <a:t>Single level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is involved.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</a:rPr>
                        <a:t>Multiple levels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are involved.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Implementation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800" kern="1200" dirty="0">
                          <a:solidFill>
                            <a:schemeClr val="dk1"/>
                          </a:solidFill>
                        </a:rPr>
                        <a:t>Its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</a:rPr>
                        <a:t>implementation is easy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in comparison to non-linear data structure.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0" marR="76200" marT="106680" marB="1066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Its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</a:rPr>
                        <a:t>implementation is complex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in comparison to linear data structure.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890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Traversal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Data elements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</a:rPr>
                        <a:t>can be traversed in a single run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only.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Data elements </a:t>
                      </a: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</a:rPr>
                        <a:t>can’t be </a:t>
                      </a: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traversed in a single run only.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1381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Examples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Array, stack, queue, linked list, etc.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</a:rPr>
                        <a:t>Trees and graphs.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949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Operations of Data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Create</a:t>
            </a:r>
            <a:r>
              <a:rPr lang="en-IN" dirty="0" smtClean="0"/>
              <a:t>: It </a:t>
            </a:r>
            <a:r>
              <a:rPr lang="en-IN" dirty="0"/>
              <a:t>results in reserving memory for program </a:t>
            </a:r>
            <a:r>
              <a:rPr lang="en-IN" dirty="0" smtClean="0"/>
              <a:t>elements.</a:t>
            </a:r>
            <a:endParaRPr lang="en-IN" dirty="0"/>
          </a:p>
          <a:p>
            <a:r>
              <a:rPr lang="en-IN" b="1" dirty="0" smtClean="0"/>
              <a:t>Destroy</a:t>
            </a:r>
            <a:r>
              <a:rPr lang="en-IN" dirty="0" smtClean="0"/>
              <a:t>: It destroys </a:t>
            </a:r>
            <a:r>
              <a:rPr lang="en-IN" dirty="0"/>
              <a:t>memory space allocated for specified data </a:t>
            </a:r>
            <a:r>
              <a:rPr lang="en-IN" dirty="0" smtClean="0"/>
              <a:t>structure.</a:t>
            </a:r>
            <a:endParaRPr lang="en-IN" dirty="0"/>
          </a:p>
          <a:p>
            <a:r>
              <a:rPr lang="en-IN" b="1" dirty="0" smtClean="0"/>
              <a:t>Selection</a:t>
            </a:r>
            <a:r>
              <a:rPr lang="en-IN" dirty="0" smtClean="0"/>
              <a:t>: </a:t>
            </a:r>
            <a:r>
              <a:rPr lang="en-IN" dirty="0"/>
              <a:t>I</a:t>
            </a:r>
            <a:r>
              <a:rPr lang="en-IN" dirty="0" smtClean="0"/>
              <a:t>t </a:t>
            </a:r>
            <a:r>
              <a:rPr lang="en-IN" dirty="0"/>
              <a:t>deals with accessing a particular data within a data </a:t>
            </a:r>
            <a:r>
              <a:rPr lang="en-IN" dirty="0" smtClean="0"/>
              <a:t>structure.</a:t>
            </a:r>
            <a:endParaRPr lang="en-IN" dirty="0"/>
          </a:p>
          <a:p>
            <a:r>
              <a:rPr lang="en-IN" b="1" dirty="0" err="1" smtClean="0"/>
              <a:t>Updation</a:t>
            </a:r>
            <a:r>
              <a:rPr lang="en-IN" dirty="0" smtClean="0"/>
              <a:t>: It </a:t>
            </a:r>
            <a:r>
              <a:rPr lang="en-IN" dirty="0"/>
              <a:t>updates or modifies the data in the data </a:t>
            </a:r>
            <a:r>
              <a:rPr lang="en-IN" dirty="0" smtClean="0"/>
              <a:t>structure.</a:t>
            </a:r>
            <a:endParaRPr lang="en-IN" dirty="0"/>
          </a:p>
          <a:p>
            <a:r>
              <a:rPr lang="en-IN" b="1" dirty="0" smtClean="0"/>
              <a:t>Searching</a:t>
            </a:r>
            <a:r>
              <a:rPr lang="en-IN" dirty="0" smtClean="0"/>
              <a:t>: It </a:t>
            </a:r>
            <a:r>
              <a:rPr lang="en-IN" dirty="0"/>
              <a:t>finds the presence of desired data item in the list of data </a:t>
            </a:r>
            <a:r>
              <a:rPr lang="en-IN" dirty="0" smtClean="0"/>
              <a:t>items.</a:t>
            </a:r>
          </a:p>
          <a:p>
            <a:r>
              <a:rPr lang="en-IN" b="1" dirty="0"/>
              <a:t>Sorting</a:t>
            </a:r>
            <a:r>
              <a:rPr lang="en-IN" dirty="0"/>
              <a:t>: </a:t>
            </a:r>
            <a:r>
              <a:rPr lang="en-IN" dirty="0" smtClean="0"/>
              <a:t>It </a:t>
            </a:r>
            <a:r>
              <a:rPr lang="en-IN" dirty="0"/>
              <a:t>is a process of arranging all data items in a data structure in a particular </a:t>
            </a:r>
            <a:r>
              <a:rPr lang="en-IN" dirty="0" smtClean="0"/>
              <a:t>order.</a:t>
            </a:r>
            <a:endParaRPr lang="en-IN" dirty="0"/>
          </a:p>
          <a:p>
            <a:r>
              <a:rPr lang="en-IN" b="1" dirty="0"/>
              <a:t>Merging</a:t>
            </a:r>
            <a:r>
              <a:rPr lang="en-IN" dirty="0"/>
              <a:t>: </a:t>
            </a:r>
            <a:r>
              <a:rPr lang="en-IN" dirty="0" smtClean="0"/>
              <a:t>It </a:t>
            </a:r>
            <a:r>
              <a:rPr lang="en-IN" dirty="0"/>
              <a:t>is a process of combining the data items of two different sorted list into a single sorted </a:t>
            </a:r>
            <a:r>
              <a:rPr lang="en-IN" dirty="0" smtClean="0"/>
              <a:t>list.</a:t>
            </a:r>
            <a:endParaRPr lang="en-IN" dirty="0"/>
          </a:p>
          <a:p>
            <a:r>
              <a:rPr lang="en-IN" b="1" dirty="0"/>
              <a:t>Splitting</a:t>
            </a:r>
            <a:r>
              <a:rPr lang="en-IN" dirty="0"/>
              <a:t>: </a:t>
            </a:r>
            <a:r>
              <a:rPr lang="en-IN" dirty="0" smtClean="0"/>
              <a:t>It </a:t>
            </a:r>
            <a:r>
              <a:rPr lang="en-IN" dirty="0"/>
              <a:t>is a process of partitioning single list to multiple </a:t>
            </a:r>
            <a:r>
              <a:rPr lang="en-IN" dirty="0" smtClean="0"/>
              <a:t>list.</a:t>
            </a:r>
            <a:endParaRPr lang="en-IN" dirty="0"/>
          </a:p>
          <a:p>
            <a:r>
              <a:rPr lang="en-IN" b="1" dirty="0"/>
              <a:t>Traversal</a:t>
            </a:r>
            <a:r>
              <a:rPr lang="en-IN" dirty="0"/>
              <a:t>: </a:t>
            </a:r>
            <a:r>
              <a:rPr lang="en-IN" dirty="0" smtClean="0"/>
              <a:t>It </a:t>
            </a:r>
            <a:r>
              <a:rPr lang="en-IN" dirty="0"/>
              <a:t>is a process of visiting each and every node of a list in systematic </a:t>
            </a:r>
            <a:r>
              <a:rPr lang="en-IN" dirty="0" smtClean="0"/>
              <a:t>manner.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370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ED680-ECDA-2C59-AF2D-3A5BD10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Algorithm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B7375-27ED-AEFF-9C20-9AC5FE68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210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Algorithm?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Algorithm is the </a:t>
            </a:r>
            <a:r>
              <a:rPr lang="en-IN" b="1" dirty="0">
                <a:solidFill>
                  <a:srgbClr val="C00000"/>
                </a:solidFill>
              </a:rPr>
              <a:t>sequence of steps </a:t>
            </a:r>
            <a:r>
              <a:rPr lang="en-IN" dirty="0"/>
              <a:t>to solve a problem.</a:t>
            </a:r>
          </a:p>
          <a:p>
            <a:r>
              <a:rPr lang="en-IN" dirty="0"/>
              <a:t>Infinitely many correct algorithms are available for the same problem.</a:t>
            </a:r>
          </a:p>
          <a:p>
            <a:r>
              <a:rPr lang="en-US" dirty="0"/>
              <a:t>From the available algorithms, a programmer should </a:t>
            </a:r>
            <a:r>
              <a:rPr lang="en-US" b="1" dirty="0">
                <a:solidFill>
                  <a:srgbClr val="C00000"/>
                </a:solidFill>
              </a:rPr>
              <a:t>choose the efficient one</a:t>
            </a:r>
            <a:r>
              <a:rPr lang="en-US" dirty="0"/>
              <a:t>.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We need to learn how to compare the performance of different algorithms and choose the best one to solve a particular problem. </a:t>
            </a:r>
          </a:p>
          <a:p>
            <a:r>
              <a:rPr lang="en-IN" dirty="0"/>
              <a:t>While analysing an algorithm, we mostly consider </a:t>
            </a:r>
            <a:r>
              <a:rPr lang="en-IN" b="1" dirty="0">
                <a:solidFill>
                  <a:srgbClr val="C00000"/>
                </a:solidFill>
              </a:rPr>
              <a:t>time complexity </a:t>
            </a:r>
            <a:r>
              <a:rPr lang="en-IN" dirty="0"/>
              <a:t>and </a:t>
            </a:r>
            <a:r>
              <a:rPr lang="en-IN" b="1" dirty="0">
                <a:solidFill>
                  <a:srgbClr val="C00000"/>
                </a:solidFill>
              </a:rPr>
              <a:t>space complexity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IN" b="1" i="1" dirty="0">
              <a:solidFill>
                <a:srgbClr val="C00000"/>
              </a:solidFill>
            </a:endParaRPr>
          </a:p>
          <a:p>
            <a:endParaRPr lang="en-IN" b="1" i="1" dirty="0">
              <a:solidFill>
                <a:srgbClr val="C00000"/>
              </a:solidFill>
            </a:endParaRPr>
          </a:p>
        </p:txBody>
      </p:sp>
      <p:pic>
        <p:nvPicPr>
          <p:cNvPr id="4098" name="Picture 2" descr="E:\Clients\Darshan\Data Structure\2018\PPT\images\Algorith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591" y="2705146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E:\Clients\Darshan\Data Structure\2018\PPT\images\data structur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8421" y="2639957"/>
            <a:ext cx="1625934" cy="132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E:\Clients\Darshan\Data Structure\2018\PPT\images\Amazon-Interview-Questions - Copy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0975" y="2686217"/>
            <a:ext cx="1488951" cy="109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lus 3"/>
          <p:cNvSpPr/>
          <p:nvPr/>
        </p:nvSpPr>
        <p:spPr>
          <a:xfrm>
            <a:off x="3999606" y="2967205"/>
            <a:ext cx="533400" cy="533400"/>
          </a:xfrm>
          <a:prstGeom prst="mathPlus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qual 5"/>
          <p:cNvSpPr/>
          <p:nvPr/>
        </p:nvSpPr>
        <p:spPr>
          <a:xfrm>
            <a:off x="7024539" y="3079999"/>
            <a:ext cx="533400" cy="533400"/>
          </a:xfrm>
          <a:prstGeom prst="mathEqual">
            <a:avLst/>
          </a:prstGeom>
          <a:solidFill>
            <a:srgbClr val="C0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94658" y="4076746"/>
            <a:ext cx="1600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Algorithm</a:t>
            </a:r>
            <a:endParaRPr lang="en-US" sz="2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4918421" y="4076746"/>
            <a:ext cx="20428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Data Structure</a:t>
            </a:r>
            <a:endParaRPr lang="en-US" sz="2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8110975" y="4076746"/>
            <a:ext cx="12690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Program</a:t>
            </a:r>
            <a:endParaRPr lang="en-US" sz="2400" b="1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98B1E8A-EBD9-35BC-44C5-BADD45A873F6}"/>
              </a:ext>
            </a:extLst>
          </p:cNvPr>
          <p:cNvSpPr/>
          <p:nvPr/>
        </p:nvSpPr>
        <p:spPr>
          <a:xfrm>
            <a:off x="2095130" y="2539014"/>
            <a:ext cx="1793289" cy="2166151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667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6" grpId="0" animBg="1"/>
      <p:bldP spid="7" grpId="0"/>
      <p:bldP spid="11" grpId="0"/>
      <p:bldP spid="12" grpId="0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Time and Space Analysis of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i="1" dirty="0">
                <a:solidFill>
                  <a:srgbClr val="C00000"/>
                </a:solidFill>
              </a:rPr>
              <a:t>Time complexity </a:t>
            </a:r>
            <a:r>
              <a:rPr lang="en-IN" dirty="0"/>
              <a:t>of an algorithm </a:t>
            </a:r>
            <a:r>
              <a:rPr lang="en-IN" b="1" dirty="0"/>
              <a:t>estimates</a:t>
            </a:r>
            <a:r>
              <a:rPr lang="en-IN" dirty="0"/>
              <a:t> the amount of time taken by an algorithm to run as a function of the length of the input.</a:t>
            </a:r>
          </a:p>
          <a:p>
            <a:r>
              <a:rPr lang="en-IN" b="1" i="1" dirty="0">
                <a:solidFill>
                  <a:srgbClr val="C00000"/>
                </a:solidFill>
              </a:rPr>
              <a:t>Space complexity </a:t>
            </a:r>
            <a:r>
              <a:rPr lang="en-IN" dirty="0"/>
              <a:t>of an algorithm </a:t>
            </a:r>
            <a:r>
              <a:rPr lang="en-IN" b="1" dirty="0"/>
              <a:t>estimates</a:t>
            </a:r>
            <a:r>
              <a:rPr lang="en-IN" dirty="0"/>
              <a:t> the amount of space or memory taken by an algorithm to run as a function of the length of the input.</a:t>
            </a:r>
          </a:p>
          <a:p>
            <a:r>
              <a:rPr lang="en-IN" dirty="0"/>
              <a:t>Time &amp; space complexity depends on lots of things like hardware, operating system, processors, etc. </a:t>
            </a:r>
          </a:p>
          <a:p>
            <a:r>
              <a:rPr lang="en-IN" dirty="0"/>
              <a:t>However, we don't consider any of these factors while analysing the algorithm. We will only consider the execution time of an algorithm.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150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Worst-Best-Average Case Time Complexity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Worst-Case Analysis (Big-O Notation): </a:t>
            </a:r>
          </a:p>
          <a:p>
            <a:pPr lvl="1"/>
            <a:r>
              <a:rPr lang="en-IN" dirty="0"/>
              <a:t>In Worst Case analysis </a:t>
            </a:r>
            <a:r>
              <a:rPr lang="en-IN" b="1" dirty="0">
                <a:solidFill>
                  <a:srgbClr val="C00000"/>
                </a:solidFill>
              </a:rPr>
              <a:t>upper bound </a:t>
            </a:r>
            <a:r>
              <a:rPr lang="en-IN" dirty="0"/>
              <a:t>on the running time of an algorithm is calculated.</a:t>
            </a:r>
          </a:p>
          <a:p>
            <a:pPr lvl="1"/>
            <a:r>
              <a:rPr lang="en-US" dirty="0"/>
              <a:t>This case causes a </a:t>
            </a:r>
            <a:r>
              <a:rPr lang="en-US" b="1" dirty="0">
                <a:solidFill>
                  <a:srgbClr val="C00000"/>
                </a:solidFill>
              </a:rPr>
              <a:t>maximum number of operations </a:t>
            </a:r>
            <a:r>
              <a:rPr lang="en-US" dirty="0"/>
              <a:t>to be executed.</a:t>
            </a:r>
          </a:p>
          <a:p>
            <a:pPr lvl="1"/>
            <a:r>
              <a:rPr lang="en-US" dirty="0"/>
              <a:t>It offers a simplified way to express the growth rate of an algorithm as input increases.</a:t>
            </a:r>
          </a:p>
          <a:p>
            <a:pPr lvl="1"/>
            <a:r>
              <a:rPr lang="en-US" dirty="0"/>
              <a:t>An algorithm’s </a:t>
            </a:r>
            <a:r>
              <a:rPr lang="en-US" b="1" dirty="0">
                <a:solidFill>
                  <a:srgbClr val="C00000"/>
                </a:solidFill>
              </a:rPr>
              <a:t>worst-case</a:t>
            </a:r>
            <a:r>
              <a:rPr lang="en-US" dirty="0"/>
              <a:t> time complexity is defined by the </a:t>
            </a:r>
            <a:r>
              <a:rPr lang="en-US" b="1" dirty="0">
                <a:solidFill>
                  <a:schemeClr val="accent6"/>
                </a:solidFill>
              </a:rPr>
              <a:t>Big-O</a:t>
            </a:r>
            <a:r>
              <a:rPr lang="en-US" dirty="0"/>
              <a:t> </a:t>
            </a:r>
            <a:r>
              <a:rPr lang="en-US" b="1" dirty="0"/>
              <a:t>(O) </a:t>
            </a:r>
            <a:r>
              <a:rPr lang="en-US" dirty="0"/>
              <a:t>notation.</a:t>
            </a:r>
          </a:p>
          <a:p>
            <a:pPr lvl="1"/>
            <a:r>
              <a:rPr lang="en-US" dirty="0"/>
              <a:t>For example in Linear Search, the worst case happens when the element to be searched is not present in the array.</a:t>
            </a:r>
          </a:p>
          <a:p>
            <a:pPr lvl="1"/>
            <a:r>
              <a:rPr lang="en-US" dirty="0"/>
              <a:t>For following given array worst case happens when 80 is not present in the array. </a:t>
            </a:r>
          </a:p>
          <a:p>
            <a:pPr lvl="1"/>
            <a:r>
              <a:rPr lang="en-US" dirty="0"/>
              <a:t>So the complexity would be O(n), as total n comparisons had to be done.</a:t>
            </a:r>
          </a:p>
          <a:p>
            <a:pPr marL="457200" lvl="1" indent="0">
              <a:buNone/>
            </a:pPr>
            <a:endParaRPr lang="en-US" b="1" dirty="0"/>
          </a:p>
          <a:p>
            <a:pPr marL="457200" lvl="1" indent="0">
              <a:buNone/>
            </a:pPr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4AB532-7397-2FA7-EE2B-B655EC81EB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531759"/>
              </p:ext>
            </p:extLst>
          </p:nvPr>
        </p:nvGraphicFramePr>
        <p:xfrm>
          <a:off x="2012545" y="4606082"/>
          <a:ext cx="344467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8934">
                  <a:extLst>
                    <a:ext uri="{9D8B030D-6E8A-4147-A177-3AD203B41FA5}">
                      <a16:colId xmlns:a16="http://schemas.microsoft.com/office/drawing/2014/main" val="3309288233"/>
                    </a:ext>
                  </a:extLst>
                </a:gridCol>
                <a:gridCol w="688934">
                  <a:extLst>
                    <a:ext uri="{9D8B030D-6E8A-4147-A177-3AD203B41FA5}">
                      <a16:colId xmlns:a16="http://schemas.microsoft.com/office/drawing/2014/main" val="2046479882"/>
                    </a:ext>
                  </a:extLst>
                </a:gridCol>
                <a:gridCol w="688934">
                  <a:extLst>
                    <a:ext uri="{9D8B030D-6E8A-4147-A177-3AD203B41FA5}">
                      <a16:colId xmlns:a16="http://schemas.microsoft.com/office/drawing/2014/main" val="4000389540"/>
                    </a:ext>
                  </a:extLst>
                </a:gridCol>
                <a:gridCol w="688934">
                  <a:extLst>
                    <a:ext uri="{9D8B030D-6E8A-4147-A177-3AD203B41FA5}">
                      <a16:colId xmlns:a16="http://schemas.microsoft.com/office/drawing/2014/main" val="1902195542"/>
                    </a:ext>
                  </a:extLst>
                </a:gridCol>
                <a:gridCol w="688934">
                  <a:extLst>
                    <a:ext uri="{9D8B030D-6E8A-4147-A177-3AD203B41FA5}">
                      <a16:colId xmlns:a16="http://schemas.microsoft.com/office/drawing/2014/main" val="31469653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4904118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420E9F8-5A56-5685-1377-53889CA1959B}"/>
              </a:ext>
            </a:extLst>
          </p:cNvPr>
          <p:cNvSpPr txBox="1"/>
          <p:nvPr/>
        </p:nvSpPr>
        <p:spPr>
          <a:xfrm>
            <a:off x="1566159" y="4620637"/>
            <a:ext cx="603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: </a:t>
            </a:r>
          </a:p>
        </p:txBody>
      </p:sp>
    </p:spTree>
    <p:extLst>
      <p:ext uri="{BB962C8B-B14F-4D97-AF65-F5344CB8AC3E}">
        <p14:creationId xmlns:p14="http://schemas.microsoft.com/office/powerpoint/2010/main" val="2610065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Worst-Best-Average Case Time Complexity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Best-Case Analysis (Big-</a:t>
            </a:r>
            <a:r>
              <a:rPr lang="en-US" b="1" dirty="0"/>
              <a:t> Ω</a:t>
            </a:r>
            <a:r>
              <a:rPr lang="en-IN" b="1" dirty="0"/>
              <a:t> Notation) :</a:t>
            </a:r>
          </a:p>
          <a:p>
            <a:pPr lvl="1"/>
            <a:r>
              <a:rPr lang="en-IN" dirty="0"/>
              <a:t>In Best Case analysis </a:t>
            </a:r>
            <a:r>
              <a:rPr lang="en-IN" b="1" dirty="0">
                <a:solidFill>
                  <a:srgbClr val="C00000"/>
                </a:solidFill>
              </a:rPr>
              <a:t>lower bound </a:t>
            </a:r>
            <a:r>
              <a:rPr lang="en-IN" dirty="0"/>
              <a:t>on the running time of an algorithm is calculated.</a:t>
            </a:r>
          </a:p>
          <a:p>
            <a:pPr lvl="1"/>
            <a:r>
              <a:rPr lang="en-US" dirty="0"/>
              <a:t>This is the case that causes a </a:t>
            </a:r>
            <a:r>
              <a:rPr lang="en-US" b="1" dirty="0">
                <a:solidFill>
                  <a:srgbClr val="C00000"/>
                </a:solidFill>
              </a:rPr>
              <a:t>minimum number of operations </a:t>
            </a:r>
            <a:r>
              <a:rPr lang="en-US" dirty="0"/>
              <a:t>to be executed.</a:t>
            </a:r>
          </a:p>
          <a:p>
            <a:pPr lvl="1"/>
            <a:r>
              <a:rPr lang="en-US" dirty="0"/>
              <a:t>An algorithm’s </a:t>
            </a:r>
            <a:r>
              <a:rPr lang="en-US" b="1" dirty="0">
                <a:solidFill>
                  <a:srgbClr val="C00000"/>
                </a:solidFill>
              </a:rPr>
              <a:t>best-case</a:t>
            </a:r>
            <a:r>
              <a:rPr lang="en-US" dirty="0"/>
              <a:t> time complexity is defined by the Omega</a:t>
            </a:r>
            <a:r>
              <a:rPr lang="en-US" b="1" dirty="0"/>
              <a:t>(Ω)</a:t>
            </a:r>
            <a:r>
              <a:rPr lang="en-US" dirty="0"/>
              <a:t> notation.</a:t>
            </a:r>
          </a:p>
          <a:p>
            <a:pPr lvl="1"/>
            <a:r>
              <a:rPr lang="en-US" dirty="0"/>
              <a:t>In the Linear Search problem, the best case occurs when searching element is present at the first location.</a:t>
            </a:r>
          </a:p>
          <a:p>
            <a:pPr lvl="1"/>
            <a:r>
              <a:rPr lang="en-US" dirty="0"/>
              <a:t>For following given array best case happens when we are searching for 50 in the array. </a:t>
            </a:r>
          </a:p>
          <a:p>
            <a:pPr lvl="1"/>
            <a:r>
              <a:rPr lang="en-US" dirty="0"/>
              <a:t>So the complexity would be </a:t>
            </a:r>
            <a:r>
              <a:rPr lang="el-GR" dirty="0"/>
              <a:t>Ω</a:t>
            </a:r>
            <a:r>
              <a:rPr lang="en-US" dirty="0"/>
              <a:t>(1), as only 1 comparison needs to be done.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b="1" dirty="0"/>
          </a:p>
          <a:p>
            <a:pPr marL="457200" lvl="1" indent="0">
              <a:buNone/>
            </a:pPr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916246-B33A-5328-2937-C2C02D7B73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08865"/>
              </p:ext>
            </p:extLst>
          </p:nvPr>
        </p:nvGraphicFramePr>
        <p:xfrm>
          <a:off x="2012545" y="3983511"/>
          <a:ext cx="344467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8934">
                  <a:extLst>
                    <a:ext uri="{9D8B030D-6E8A-4147-A177-3AD203B41FA5}">
                      <a16:colId xmlns:a16="http://schemas.microsoft.com/office/drawing/2014/main" val="3309288233"/>
                    </a:ext>
                  </a:extLst>
                </a:gridCol>
                <a:gridCol w="688934">
                  <a:extLst>
                    <a:ext uri="{9D8B030D-6E8A-4147-A177-3AD203B41FA5}">
                      <a16:colId xmlns:a16="http://schemas.microsoft.com/office/drawing/2014/main" val="2046479882"/>
                    </a:ext>
                  </a:extLst>
                </a:gridCol>
                <a:gridCol w="688934">
                  <a:extLst>
                    <a:ext uri="{9D8B030D-6E8A-4147-A177-3AD203B41FA5}">
                      <a16:colId xmlns:a16="http://schemas.microsoft.com/office/drawing/2014/main" val="4000389540"/>
                    </a:ext>
                  </a:extLst>
                </a:gridCol>
                <a:gridCol w="688934">
                  <a:extLst>
                    <a:ext uri="{9D8B030D-6E8A-4147-A177-3AD203B41FA5}">
                      <a16:colId xmlns:a16="http://schemas.microsoft.com/office/drawing/2014/main" val="1902195542"/>
                    </a:ext>
                  </a:extLst>
                </a:gridCol>
                <a:gridCol w="688934">
                  <a:extLst>
                    <a:ext uri="{9D8B030D-6E8A-4147-A177-3AD203B41FA5}">
                      <a16:colId xmlns:a16="http://schemas.microsoft.com/office/drawing/2014/main" val="31469653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4904118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52F25E4-8372-E235-A9CB-90E408CFCEE0}"/>
              </a:ext>
            </a:extLst>
          </p:cNvPr>
          <p:cNvSpPr txBox="1"/>
          <p:nvPr/>
        </p:nvSpPr>
        <p:spPr>
          <a:xfrm>
            <a:off x="1566159" y="3998066"/>
            <a:ext cx="603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: </a:t>
            </a:r>
          </a:p>
        </p:txBody>
      </p:sp>
    </p:spTree>
    <p:extLst>
      <p:ext uri="{BB962C8B-B14F-4D97-AF65-F5344CB8AC3E}">
        <p14:creationId xmlns:p14="http://schemas.microsoft.com/office/powerpoint/2010/main" val="2121191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Worst-Best-Average Case Time Complexity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Average-Case Analysis (Big </a:t>
            </a:r>
            <a:r>
              <a:rPr lang="en-US" b="1" dirty="0"/>
              <a:t>Ꝋ Notation)</a:t>
            </a:r>
            <a:r>
              <a:rPr lang="en-IN" b="1" dirty="0"/>
              <a:t>: </a:t>
            </a:r>
          </a:p>
          <a:p>
            <a:pPr lvl="1"/>
            <a:r>
              <a:rPr lang="en-US" dirty="0"/>
              <a:t>In Average Case analysis, we take </a:t>
            </a:r>
            <a:r>
              <a:rPr lang="en-US" b="1" dirty="0">
                <a:solidFill>
                  <a:srgbClr val="C00000"/>
                </a:solidFill>
              </a:rPr>
              <a:t>all possible inputs </a:t>
            </a:r>
            <a:r>
              <a:rPr lang="en-US" dirty="0"/>
              <a:t>and </a:t>
            </a:r>
            <a:r>
              <a:rPr lang="en-US" b="1" dirty="0">
                <a:solidFill>
                  <a:srgbClr val="C00000"/>
                </a:solidFill>
              </a:rPr>
              <a:t>calculate the average computing time for all of the inputs</a:t>
            </a:r>
            <a:r>
              <a:rPr lang="en-US" dirty="0"/>
              <a:t>.</a:t>
            </a:r>
          </a:p>
          <a:p>
            <a:pPr marL="857250" lvl="1" indent="-395288"/>
            <a:r>
              <a:rPr lang="en-US" dirty="0"/>
              <a:t>An algorithm’s </a:t>
            </a:r>
            <a:r>
              <a:rPr lang="en-US" b="1" dirty="0">
                <a:solidFill>
                  <a:srgbClr val="C00000"/>
                </a:solidFill>
              </a:rPr>
              <a:t>average-case</a:t>
            </a:r>
            <a:r>
              <a:rPr lang="en-US" dirty="0"/>
              <a:t> time complexity is defined by </a:t>
            </a:r>
            <a:r>
              <a:rPr lang="en-US" b="1" dirty="0">
                <a:solidFill>
                  <a:srgbClr val="C00000"/>
                </a:solidFill>
              </a:rPr>
              <a:t>the Theta notation (Ꝋ).</a:t>
            </a:r>
          </a:p>
          <a:p>
            <a:pPr lvl="1"/>
            <a:r>
              <a:rPr lang="en-US" dirty="0"/>
              <a:t>This notation gives the </a:t>
            </a:r>
            <a:r>
              <a:rPr lang="en-US" b="1" dirty="0">
                <a:solidFill>
                  <a:srgbClr val="C00000"/>
                </a:solidFill>
              </a:rPr>
              <a:t>estimated average amount of time </a:t>
            </a:r>
            <a:r>
              <a:rPr lang="en-US" dirty="0"/>
              <a:t>an algorithm requires to consider all input values.</a:t>
            </a:r>
          </a:p>
          <a:p>
            <a:pPr lvl="1"/>
            <a:r>
              <a:rPr lang="en-US" dirty="0"/>
              <a:t>For Linear Search, this case happens when the search element is present somewhere in the middle of the array.</a:t>
            </a:r>
          </a:p>
          <a:p>
            <a:pPr lvl="1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746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6ED680-ECDA-2C59-AF2D-3A5BD1081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 Calculation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5B7375-27ED-AEFF-9C20-9AC5FE685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922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Time Complexity of an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this era we have high configured resources, so immense amount of space would be available to us.</a:t>
            </a:r>
          </a:p>
          <a:p>
            <a:r>
              <a:rPr lang="en-IN" dirty="0"/>
              <a:t>So here the concern is not to optimize space but to optimize time. </a:t>
            </a:r>
          </a:p>
          <a:p>
            <a:r>
              <a:rPr lang="en-IN" dirty="0"/>
              <a:t>Hence Time Complexity is at the prime consideration.</a:t>
            </a:r>
          </a:p>
          <a:p>
            <a:r>
              <a:rPr lang="en-IN" dirty="0"/>
              <a:t>Here we </a:t>
            </a:r>
            <a:r>
              <a:rPr lang="en-IN" b="1" dirty="0">
                <a:solidFill>
                  <a:srgbClr val="C00000"/>
                </a:solidFill>
              </a:rPr>
              <a:t>don’t measure the actual time </a:t>
            </a:r>
            <a:r>
              <a:rPr lang="en-IN" dirty="0"/>
              <a:t>required in executing each statement in the code, but we measure:</a:t>
            </a:r>
          </a:p>
          <a:p>
            <a:pPr lvl="1"/>
            <a:r>
              <a:rPr lang="en-IN" dirty="0"/>
              <a:t>how many times each statements of the algorithm executes</a:t>
            </a:r>
          </a:p>
          <a:p>
            <a:pPr lvl="1"/>
            <a:r>
              <a:rPr lang="en-IN" dirty="0"/>
              <a:t>the number of elementary functions performed by the algorithm</a:t>
            </a:r>
          </a:p>
          <a:p>
            <a:r>
              <a:rPr lang="en-IN" dirty="0"/>
              <a:t>Since the algorithm's performance may vary with different types of input data, we usually use the worst-case Time complexity of an algorithm because that is the maximum time taken for any input size.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3680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Calculating Time Complexity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Calculate Time Complexity of Sum of elements of List (One dimensional Array)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818608" y="1639135"/>
            <a:ext cx="548329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latin typeface="Consolas" pitchFamily="49" charset="0"/>
                <a:cs typeface="Consolas" pitchFamily="49" charset="0"/>
              </a:rPr>
              <a:t>SumOfList</a:t>
            </a:r>
            <a:r>
              <a:rPr lang="en-US" sz="2200" b="1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sz="2200" b="1" dirty="0" err="1">
                <a:latin typeface="Consolas" pitchFamily="49" charset="0"/>
                <a:cs typeface="Consolas" pitchFamily="49" charset="0"/>
              </a:rPr>
              <a:t>A,n</a:t>
            </a:r>
            <a:r>
              <a:rPr lang="en-US" sz="2200" b="1" dirty="0">
                <a:latin typeface="Consolas" pitchFamily="49" charset="0"/>
                <a:cs typeface="Consolas" pitchFamily="49" charset="0"/>
              </a:rPr>
              <a:t>)</a:t>
            </a:r>
          </a:p>
          <a:p>
            <a:r>
              <a:rPr lang="en-US" sz="2200" b="1" dirty="0"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Line 1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  total = 0</a:t>
            </a:r>
          </a:p>
          <a:p>
            <a:r>
              <a:rPr 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Line 2  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for i = 0 to n-1</a:t>
            </a:r>
          </a:p>
          <a:p>
            <a:r>
              <a:rPr 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Line 3 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   total = total + A[i]</a:t>
            </a:r>
          </a:p>
          <a:p>
            <a:r>
              <a:rPr 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Line 4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  return total</a:t>
            </a:r>
          </a:p>
          <a:p>
            <a:r>
              <a:rPr lang="en-US" sz="2200" b="1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82806" y="1454468"/>
            <a:ext cx="4002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A is array, n is no of elements in array</a:t>
            </a:r>
            <a:endParaRPr lang="en-US" sz="2000" dirty="0"/>
          </a:p>
        </p:txBody>
      </p:sp>
      <p:cxnSp>
        <p:nvCxnSpPr>
          <p:cNvPr id="7" name="Straight Arrow Connector 6"/>
          <p:cNvCxnSpPr>
            <a:stCxn id="5" idx="1"/>
          </p:cNvCxnSpPr>
          <p:nvPr/>
        </p:nvCxnSpPr>
        <p:spPr>
          <a:xfrm flipH="1">
            <a:off x="4267204" y="1654523"/>
            <a:ext cx="2615602" cy="218503"/>
          </a:xfrm>
          <a:prstGeom prst="straightConnector1">
            <a:avLst/>
          </a:prstGeom>
          <a:ln w="25400">
            <a:solidFill>
              <a:schemeClr val="tx2">
                <a:lumMod val="75000"/>
              </a:schemeClr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67" idx="1"/>
          </p:cNvCxnSpPr>
          <p:nvPr/>
        </p:nvCxnSpPr>
        <p:spPr>
          <a:xfrm flipH="1">
            <a:off x="4972365" y="2490977"/>
            <a:ext cx="2753493" cy="6077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70" idx="1"/>
          </p:cNvCxnSpPr>
          <p:nvPr/>
        </p:nvCxnSpPr>
        <p:spPr>
          <a:xfrm flipH="1">
            <a:off x="5638802" y="2863811"/>
            <a:ext cx="2087056" cy="6077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73" idx="1"/>
          </p:cNvCxnSpPr>
          <p:nvPr/>
        </p:nvCxnSpPr>
        <p:spPr>
          <a:xfrm flipH="1">
            <a:off x="6882807" y="3193103"/>
            <a:ext cx="843051" cy="6077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76" idx="1"/>
          </p:cNvCxnSpPr>
          <p:nvPr/>
        </p:nvCxnSpPr>
        <p:spPr>
          <a:xfrm flipH="1">
            <a:off x="5391465" y="3541898"/>
            <a:ext cx="2334393" cy="6077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057400" y="4186089"/>
            <a:ext cx="3581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TSumOfList  =  </a:t>
            </a:r>
            <a:r>
              <a:rPr lang="pt-BR" dirty="0"/>
              <a:t>1 + 2 (n+1) + 2n + 1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3243549" y="4512004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=</a:t>
            </a:r>
            <a:r>
              <a:rPr lang="pt-BR" dirty="0"/>
              <a:t> 4n + 4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3243549" y="4829659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=</a:t>
            </a:r>
            <a:r>
              <a:rPr lang="pt-BR" dirty="0"/>
              <a:t> n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5747132" y="4512004"/>
            <a:ext cx="28905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We can neglate constant 4</a:t>
            </a:r>
            <a:endParaRPr lang="en-US" sz="2000" dirty="0"/>
          </a:p>
        </p:txBody>
      </p:sp>
      <p:cxnSp>
        <p:nvCxnSpPr>
          <p:cNvPr id="49" name="Straight Arrow Connector 48"/>
          <p:cNvCxnSpPr>
            <a:stCxn id="45" idx="3"/>
          </p:cNvCxnSpPr>
          <p:nvPr/>
        </p:nvCxnSpPr>
        <p:spPr>
          <a:xfrm flipH="1">
            <a:off x="4191001" y="4696670"/>
            <a:ext cx="1414749" cy="0"/>
          </a:xfrm>
          <a:prstGeom prst="straightConnector1">
            <a:avLst/>
          </a:prstGeom>
          <a:ln w="25400">
            <a:solidFill>
              <a:schemeClr val="tx2">
                <a:lumMod val="75000"/>
              </a:schemeClr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133600" y="5351391"/>
            <a:ext cx="7772400" cy="40011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Time complexity of given algorithm is </a:t>
            </a:r>
            <a:r>
              <a:rPr lang="en-IN" sz="2000" b="1" i="1" dirty="0">
                <a:solidFill>
                  <a:srgbClr val="C00000"/>
                </a:solidFill>
              </a:rPr>
              <a:t>n</a:t>
            </a:r>
            <a:r>
              <a:rPr lang="en-IN" sz="2000" dirty="0"/>
              <a:t> unit time </a:t>
            </a:r>
            <a:endParaRPr lang="en-US" sz="2000" dirty="0"/>
          </a:p>
        </p:txBody>
      </p:sp>
      <p:sp>
        <p:nvSpPr>
          <p:cNvPr id="62" name="TextBox 61"/>
          <p:cNvSpPr txBox="1"/>
          <p:nvPr/>
        </p:nvSpPr>
        <p:spPr>
          <a:xfrm>
            <a:off x="8411658" y="1964648"/>
            <a:ext cx="685800" cy="369332"/>
          </a:xfrm>
          <a:prstGeom prst="rect">
            <a:avLst/>
          </a:prstGeom>
          <a:gradFill rotWithShape="1">
            <a:gsLst>
              <a:gs pos="0">
                <a:sysClr val="windowText" lastClr="000000">
                  <a:shade val="51000"/>
                  <a:satMod val="130000"/>
                </a:sysClr>
              </a:gs>
              <a:gs pos="80000">
                <a:sysClr val="windowText" lastClr="000000">
                  <a:shade val="93000"/>
                  <a:satMod val="130000"/>
                </a:sysClr>
              </a:gs>
              <a:gs pos="100000">
                <a:sysClr val="windowText" lastClr="000000">
                  <a:shade val="94000"/>
                  <a:satMod val="135000"/>
                </a:sysClr>
              </a:gs>
            </a:gsLst>
            <a:lin ang="16200000" scaled="0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Cost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097458" y="1963411"/>
            <a:ext cx="1447800" cy="369332"/>
          </a:xfrm>
          <a:prstGeom prst="rect">
            <a:avLst/>
          </a:prstGeom>
          <a:gradFill rotWithShape="1">
            <a:gsLst>
              <a:gs pos="0">
                <a:sysClr val="windowText" lastClr="000000">
                  <a:shade val="51000"/>
                  <a:satMod val="130000"/>
                </a:sysClr>
              </a:gs>
              <a:gs pos="80000">
                <a:sysClr val="windowText" lastClr="000000">
                  <a:shade val="93000"/>
                  <a:satMod val="130000"/>
                </a:sysClr>
              </a:gs>
              <a:gs pos="100000">
                <a:sysClr val="windowText" lastClr="000000">
                  <a:shade val="94000"/>
                  <a:satMod val="135000"/>
                </a:sysClr>
              </a:gs>
            </a:gsLst>
            <a:lin ang="16200000" scaled="0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No of Times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411658" y="2370843"/>
            <a:ext cx="685800" cy="240268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1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9097458" y="2370843"/>
            <a:ext cx="1447800" cy="240268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1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725858" y="1963411"/>
            <a:ext cx="685800" cy="369332"/>
          </a:xfrm>
          <a:prstGeom prst="rect">
            <a:avLst/>
          </a:prstGeom>
          <a:gradFill rotWithShape="1">
            <a:gsLst>
              <a:gs pos="0">
                <a:sysClr val="windowText" lastClr="000000">
                  <a:shade val="51000"/>
                  <a:satMod val="130000"/>
                </a:sysClr>
              </a:gs>
              <a:gs pos="80000">
                <a:sysClr val="windowText" lastClr="000000">
                  <a:shade val="93000"/>
                  <a:satMod val="130000"/>
                </a:sysClr>
              </a:gs>
              <a:gs pos="100000">
                <a:sysClr val="windowText" lastClr="000000">
                  <a:shade val="94000"/>
                  <a:satMod val="135000"/>
                </a:sysClr>
              </a:gs>
            </a:gsLst>
            <a:lin ang="16200000" scaled="0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rPr>
              <a:t>Line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7725858" y="2370843"/>
            <a:ext cx="685800" cy="240268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1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8411658" y="2743677"/>
            <a:ext cx="685800" cy="240268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2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9097458" y="2743677"/>
            <a:ext cx="1447800" cy="240268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n + 1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7725858" y="2743677"/>
            <a:ext cx="685800" cy="240268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2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8411658" y="3072969"/>
            <a:ext cx="685800" cy="240268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2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9097458" y="3072969"/>
            <a:ext cx="1447800" cy="240268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n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7725858" y="3072969"/>
            <a:ext cx="685800" cy="240268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3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8411658" y="3421764"/>
            <a:ext cx="685800" cy="240268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1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9097458" y="3421764"/>
            <a:ext cx="1447800" cy="240268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1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7725858" y="3421764"/>
            <a:ext cx="685800" cy="240268"/>
          </a:xfrm>
          <a:prstGeom prst="rect">
            <a:avLst/>
          </a:prstGeom>
          <a:gradFill rotWithShape="1">
            <a:gsLst>
              <a:gs pos="0">
                <a:sysClr val="windowText" lastClr="000000">
                  <a:tint val="50000"/>
                  <a:satMod val="300000"/>
                </a:sysClr>
              </a:gs>
              <a:gs pos="35000">
                <a:sysClr val="windowText" lastClr="000000">
                  <a:tint val="37000"/>
                  <a:satMod val="300000"/>
                </a:sysClr>
              </a:gs>
              <a:gs pos="100000">
                <a:sysClr val="windowText" lastClr="000000">
                  <a:tint val="15000"/>
                  <a:satMod val="350000"/>
                </a:sysClr>
              </a:gs>
            </a:gsLst>
            <a:lin ang="16200000" scaled="1"/>
          </a:gradFill>
          <a:ln w="9525" cap="flat" cmpd="sng" algn="ctr">
            <a:solidFill>
              <a:sysClr val="windowText" lastClr="000000">
                <a:shade val="95000"/>
                <a:satMod val="10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4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5206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44" grpId="0"/>
      <p:bldP spid="45" grpId="0"/>
      <p:bldP spid="46" grpId="0"/>
      <p:bldP spid="47" grpId="0"/>
      <p:bldP spid="50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Calculating Time Complexity - Practice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Calculate Time Complexity of searching an element from an Array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818608" y="1639135"/>
            <a:ext cx="786693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err="1">
                <a:latin typeface="Consolas" pitchFamily="49" charset="0"/>
                <a:cs typeface="Consolas" pitchFamily="49" charset="0"/>
              </a:rPr>
              <a:t>SearchArray</a:t>
            </a:r>
            <a:r>
              <a:rPr lang="en-US" sz="2200" b="1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sz="2200" b="1" dirty="0" err="1">
                <a:latin typeface="Consolas" pitchFamily="49" charset="0"/>
                <a:cs typeface="Consolas" pitchFamily="49" charset="0"/>
              </a:rPr>
              <a:t>A,n,x</a:t>
            </a:r>
            <a:r>
              <a:rPr lang="en-US" sz="2200" b="1" dirty="0">
                <a:latin typeface="Consolas" pitchFamily="49" charset="0"/>
                <a:cs typeface="Consolas" pitchFamily="49" charset="0"/>
              </a:rPr>
              <a:t>)</a:t>
            </a:r>
          </a:p>
          <a:p>
            <a:r>
              <a:rPr lang="en-US" sz="2200" b="1" dirty="0"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Line 1  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for i = 0 to n-1</a:t>
            </a:r>
          </a:p>
          <a:p>
            <a:r>
              <a:rPr 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Line 3  	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if A[</a:t>
            </a:r>
            <a:r>
              <a:rPr lang="en-US" sz="22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] equals x</a:t>
            </a:r>
          </a:p>
          <a:p>
            <a:r>
              <a:rPr 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Line 4 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 		return </a:t>
            </a:r>
            <a:r>
              <a:rPr lang="en-US" sz="2200" dirty="0" err="1">
                <a:latin typeface="Consolas" pitchFamily="49" charset="0"/>
                <a:cs typeface="Consolas" pitchFamily="49" charset="0"/>
              </a:rPr>
              <a:t>i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	</a:t>
            </a:r>
          </a:p>
          <a:p>
            <a:r>
              <a:rPr lang="en-US" sz="2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Line 5</a:t>
            </a:r>
            <a:r>
              <a:rPr lang="en-US" sz="2200" dirty="0">
                <a:latin typeface="Consolas" pitchFamily="49" charset="0"/>
                <a:cs typeface="Consolas" pitchFamily="49" charset="0"/>
              </a:rPr>
              <a:t>  return -1</a:t>
            </a:r>
          </a:p>
          <a:p>
            <a:r>
              <a:rPr lang="en-US" sz="2200" b="1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21801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Frequently asked questions: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Data Structure. Draw classification of Data Structure. </a:t>
            </a:r>
          </a:p>
          <a:p>
            <a:r>
              <a:rPr lang="en-US" dirty="0"/>
              <a:t>Differentiate between linear and nonlinear data structures.</a:t>
            </a:r>
          </a:p>
          <a:p>
            <a:r>
              <a:rPr lang="en-US" dirty="0"/>
              <a:t>Define Complexity. Explain Time and Space Complexity. </a:t>
            </a:r>
          </a:p>
          <a:p>
            <a:r>
              <a:rPr lang="en-US" dirty="0"/>
              <a:t>Explain a tradeoff between time and space complexity.</a:t>
            </a:r>
          </a:p>
          <a:p>
            <a:r>
              <a:rPr lang="en-US" dirty="0"/>
              <a:t>Calculate the time complexity for a given algorithm or problem.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889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</a:t>
            </a:r>
            <a:r>
              <a:rPr lang="en-US" dirty="0" smtClean="0"/>
              <a:t> 3 * </a:t>
            </a:r>
            <a:r>
              <a:rPr lang="en-US" dirty="0"/>
              <a:t>5 two dimensional array A which has its base address = </a:t>
            </a:r>
            <a:r>
              <a:rPr lang="en-US" dirty="0" smtClean="0"/>
              <a:t>2500 </a:t>
            </a:r>
            <a:r>
              <a:rPr lang="en-US" dirty="0"/>
              <a:t>and the size of an element = </a:t>
            </a:r>
            <a:r>
              <a:rPr lang="en-US" dirty="0" smtClean="0"/>
              <a:t>4. </a:t>
            </a:r>
            <a:r>
              <a:rPr lang="en-US" dirty="0"/>
              <a:t>Now compute the address of the element, </a:t>
            </a:r>
            <a:r>
              <a:rPr lang="en-US" dirty="0" smtClean="0"/>
              <a:t>A[2][</a:t>
            </a:r>
            <a:r>
              <a:rPr lang="en-US" dirty="0"/>
              <a:t>4] assuming that the elements are stored in column major order</a:t>
            </a:r>
            <a:r>
              <a:rPr lang="en-US" sz="2000" dirty="0"/>
              <a:t>. </a:t>
            </a:r>
            <a:r>
              <a:rPr lang="en-US" dirty="0"/>
              <a:t>(Assume </a:t>
            </a:r>
            <a:r>
              <a:rPr lang="en-US" dirty="0" err="1"/>
              <a:t>LB</a:t>
            </a:r>
            <a:r>
              <a:rPr lang="en-US" baseline="-25000" dirty="0" err="1"/>
              <a:t>r</a:t>
            </a:r>
            <a:r>
              <a:rPr lang="en-US" dirty="0"/>
              <a:t>=</a:t>
            </a:r>
            <a:r>
              <a:rPr lang="en-US" dirty="0" err="1"/>
              <a:t>LB</a:t>
            </a:r>
            <a:r>
              <a:rPr lang="en-US" baseline="-25000" dirty="0" err="1"/>
              <a:t>c</a:t>
            </a:r>
            <a:r>
              <a:rPr lang="en-US" baseline="-25000" dirty="0"/>
              <a:t> </a:t>
            </a:r>
            <a:r>
              <a:rPr lang="en-US" dirty="0"/>
              <a:t>=1</a:t>
            </a:r>
            <a:r>
              <a:rPr lang="en-US" dirty="0" smtClean="0"/>
              <a:t>)</a:t>
            </a:r>
          </a:p>
          <a:p>
            <a:r>
              <a:rPr lang="en-US" dirty="0" smtClean="0"/>
              <a:t>Represent the following polynomials:</a:t>
            </a:r>
          </a:p>
          <a:p>
            <a:pPr lvl="1"/>
            <a:r>
              <a:rPr lang="en-IN" b="1" dirty="0">
                <a:solidFill>
                  <a:prstClr val="black"/>
                </a:solidFill>
                <a:latin typeface="Calibri"/>
              </a:rPr>
              <a:t>X</a:t>
            </a:r>
            <a:r>
              <a:rPr lang="en-IN" b="1" baseline="30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IN" b="1" dirty="0">
                <a:solidFill>
                  <a:prstClr val="black"/>
                </a:solidFill>
                <a:latin typeface="Calibri"/>
              </a:rPr>
              <a:t> + 3X +4</a:t>
            </a:r>
          </a:p>
          <a:p>
            <a:pPr lvl="1"/>
            <a:r>
              <a:rPr lang="en-IN" b="1" dirty="0">
                <a:solidFill>
                  <a:prstClr val="black"/>
                </a:solidFill>
                <a:latin typeface="Calibri"/>
              </a:rPr>
              <a:t>2X</a:t>
            </a:r>
            <a:r>
              <a:rPr lang="en-IN" b="1" baseline="30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IN" b="1" dirty="0">
                <a:solidFill>
                  <a:prstClr val="black"/>
                </a:solidFill>
                <a:latin typeface="Calibri"/>
              </a:rPr>
              <a:t> + 5XY – 4X</a:t>
            </a:r>
            <a:r>
              <a:rPr lang="en-IN" b="1" baseline="30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IN" b="1" dirty="0">
                <a:solidFill>
                  <a:prstClr val="black"/>
                </a:solidFill>
                <a:latin typeface="Calibri"/>
              </a:rPr>
              <a:t>Y – Y</a:t>
            </a:r>
            <a:r>
              <a:rPr lang="en-IN" b="1" baseline="30000" dirty="0">
                <a:solidFill>
                  <a:prstClr val="black"/>
                </a:solidFill>
                <a:latin typeface="Calibri"/>
              </a:rPr>
              <a:t>2</a:t>
            </a:r>
            <a:r>
              <a:rPr lang="en-IN" b="1" dirty="0">
                <a:solidFill>
                  <a:prstClr val="black"/>
                </a:solidFill>
                <a:latin typeface="Calibri"/>
              </a:rPr>
              <a:t>X + Y</a:t>
            </a:r>
            <a:r>
              <a:rPr lang="en-IN" b="1" baseline="30000" dirty="0">
                <a:solidFill>
                  <a:prstClr val="black"/>
                </a:solidFill>
                <a:latin typeface="Calibri"/>
              </a:rPr>
              <a:t>2</a:t>
            </a:r>
            <a:endParaRPr lang="en-US" b="1" baseline="30000" dirty="0">
              <a:solidFill>
                <a:prstClr val="black"/>
              </a:solidFill>
              <a:latin typeface="Calibri"/>
            </a:endParaRPr>
          </a:p>
          <a:p>
            <a:r>
              <a:rPr lang="en-US" dirty="0" smtClean="0"/>
              <a:t>Following Matrix represent which polynomial?</a:t>
            </a:r>
          </a:p>
          <a:p>
            <a:pPr lvl="1"/>
            <a:endParaRPr lang="en-US" b="1" baseline="30000" dirty="0" smtClean="0">
              <a:solidFill>
                <a:prstClr val="black"/>
              </a:solidFill>
              <a:latin typeface="Calibri"/>
            </a:endParaRPr>
          </a:p>
          <a:p>
            <a:pPr lvl="1"/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5078200"/>
              </p:ext>
            </p:extLst>
          </p:nvPr>
        </p:nvGraphicFramePr>
        <p:xfrm>
          <a:off x="1071880" y="4020650"/>
          <a:ext cx="3372104" cy="21058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3026">
                  <a:extLst>
                    <a:ext uri="{9D8B030D-6E8A-4147-A177-3AD203B41FA5}">
                      <a16:colId xmlns:a16="http://schemas.microsoft.com/office/drawing/2014/main" val="1741217451"/>
                    </a:ext>
                  </a:extLst>
                </a:gridCol>
                <a:gridCol w="843026">
                  <a:extLst>
                    <a:ext uri="{9D8B030D-6E8A-4147-A177-3AD203B41FA5}">
                      <a16:colId xmlns:a16="http://schemas.microsoft.com/office/drawing/2014/main" val="1928710661"/>
                    </a:ext>
                  </a:extLst>
                </a:gridCol>
                <a:gridCol w="843026">
                  <a:extLst>
                    <a:ext uri="{9D8B030D-6E8A-4147-A177-3AD203B41FA5}">
                      <a16:colId xmlns:a16="http://schemas.microsoft.com/office/drawing/2014/main" val="1092705088"/>
                    </a:ext>
                  </a:extLst>
                </a:gridCol>
                <a:gridCol w="843026">
                  <a:extLst>
                    <a:ext uri="{9D8B030D-6E8A-4147-A177-3AD203B41FA5}">
                      <a16:colId xmlns:a16="http://schemas.microsoft.com/office/drawing/2014/main" val="2030426119"/>
                    </a:ext>
                  </a:extLst>
                </a:gridCol>
              </a:tblGrid>
              <a:tr h="5264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7605102"/>
                  </a:ext>
                </a:extLst>
              </a:tr>
              <a:tr h="5264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251807"/>
                  </a:ext>
                </a:extLst>
              </a:tr>
              <a:tr h="5264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497226"/>
                  </a:ext>
                </a:extLst>
              </a:tr>
              <a:tr h="526458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6430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7391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pradyuman.jadeja@darshan.ac.in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+91 9879461848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Pradyumansinh</a:t>
            </a:r>
            <a:r>
              <a:rPr lang="en-IN" dirty="0"/>
              <a:t> </a:t>
            </a:r>
            <a:r>
              <a:rPr lang="en-IN" dirty="0" err="1"/>
              <a:t>Jadeja</a:t>
            </a:r>
            <a:endParaRPr lang="en-IN" dirty="0"/>
          </a:p>
        </p:txBody>
      </p:sp>
      <p:sp>
        <p:nvSpPr>
          <p:cNvPr id="9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 Structures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(DS)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#2301CS301</a:t>
            </a: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864476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2227</TotalTime>
  <Words>1867</Words>
  <Application>Microsoft Office PowerPoint</Application>
  <PresentationFormat>Widescreen</PresentationFormat>
  <Paragraphs>300</Paragraphs>
  <Slides>31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5" baseType="lpstr">
      <vt:lpstr>Arial</vt:lpstr>
      <vt:lpstr>Roboto Condensed Light</vt:lpstr>
      <vt:lpstr>Segoe UI Black</vt:lpstr>
      <vt:lpstr>Wingdings 3</vt:lpstr>
      <vt:lpstr>Roboto Light</vt:lpstr>
      <vt:lpstr>Wingdings 2</vt:lpstr>
      <vt:lpstr>Open Sans Semibold</vt:lpstr>
      <vt:lpstr>Times New Roman</vt:lpstr>
      <vt:lpstr>Wingdings</vt:lpstr>
      <vt:lpstr>Calibri</vt:lpstr>
      <vt:lpstr>Open Sans</vt:lpstr>
      <vt:lpstr>Roboto Condensed</vt:lpstr>
      <vt:lpstr>Consolas</vt:lpstr>
      <vt:lpstr>Office Theme</vt:lpstr>
      <vt:lpstr>Unit-1 (Part 1)  Introduction to  Data Structure </vt:lpstr>
      <vt:lpstr>PowerPoint Presentation</vt:lpstr>
      <vt:lpstr>Data Structure</vt:lpstr>
      <vt:lpstr>What is Data?</vt:lpstr>
      <vt:lpstr>What is Data Structure?</vt:lpstr>
      <vt:lpstr>What is Data Structure? Cont.</vt:lpstr>
      <vt:lpstr>What is Data Structure? Cont.</vt:lpstr>
      <vt:lpstr>Classification of Data Structure</vt:lpstr>
      <vt:lpstr>Classification of Data Structure</vt:lpstr>
      <vt:lpstr>Primitive vs. Non-Primitive Data Structures</vt:lpstr>
      <vt:lpstr>Primitive and Non-Primitive Data Structures</vt:lpstr>
      <vt:lpstr>Non-Primitive Data Structure</vt:lpstr>
      <vt:lpstr>Primitive vs. Non-Primitive Data Structures</vt:lpstr>
      <vt:lpstr>Primitive vs. Non-Primitive Data Structures</vt:lpstr>
      <vt:lpstr>Linear vs. Non-Linear Data Structures</vt:lpstr>
      <vt:lpstr>Linear / Non-Linear Data Structures</vt:lpstr>
      <vt:lpstr>Linear vs. Non-Linear Data Structures</vt:lpstr>
      <vt:lpstr>Operations of Data Structure</vt:lpstr>
      <vt:lpstr>Analysis of Algorithm</vt:lpstr>
      <vt:lpstr>What is Algorithm? </vt:lpstr>
      <vt:lpstr>Time and Space Analysis of Algorithms</vt:lpstr>
      <vt:lpstr>Worst-Best-Average Case Time Complexity</vt:lpstr>
      <vt:lpstr>Worst-Best-Average Case Time Complexity</vt:lpstr>
      <vt:lpstr>Worst-Best-Average Case Time Complexity</vt:lpstr>
      <vt:lpstr>Time Complexity Calculation</vt:lpstr>
      <vt:lpstr>Time Complexity of an Algorithm</vt:lpstr>
      <vt:lpstr>Calculating Time Complexity</vt:lpstr>
      <vt:lpstr>Calculating Time Complexity - Practice</vt:lpstr>
      <vt:lpstr>Frequently asked questions: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Unit-1 (Part 1) Introduction to Data Structure</dc:title>
  <dc:creator>ADMIN</dc:creator>
  <cp:keywords>Unit-1 (Part 1) Introduction to Data Structure</cp:keywords>
  <cp:lastModifiedBy>DELL</cp:lastModifiedBy>
  <cp:revision>223</cp:revision>
  <dcterms:created xsi:type="dcterms:W3CDTF">2020-05-01T05:09:15Z</dcterms:created>
  <dcterms:modified xsi:type="dcterms:W3CDTF">2026-07-27T05:52:16Z</dcterms:modified>
  <cp:category>Unit-1 (Part 1) Introduction to Data Structure</cp:category>
</cp:coreProperties>
</file>