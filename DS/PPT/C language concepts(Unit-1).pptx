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83" r:id="rId2"/>
    <p:sldId id="389" r:id="rId3"/>
    <p:sldId id="422" r:id="rId4"/>
    <p:sldId id="423" r:id="rId5"/>
    <p:sldId id="425" r:id="rId6"/>
    <p:sldId id="426" r:id="rId7"/>
    <p:sldId id="395" r:id="rId8"/>
    <p:sldId id="347" r:id="rId9"/>
    <p:sldId id="348" r:id="rId10"/>
    <p:sldId id="349" r:id="rId11"/>
    <p:sldId id="350" r:id="rId12"/>
    <p:sldId id="351" r:id="rId13"/>
    <p:sldId id="352" r:id="rId14"/>
    <p:sldId id="354" r:id="rId15"/>
    <p:sldId id="355" r:id="rId16"/>
    <p:sldId id="360" r:id="rId17"/>
    <p:sldId id="398" r:id="rId18"/>
    <p:sldId id="383" r:id="rId19"/>
    <p:sldId id="384" r:id="rId20"/>
    <p:sldId id="427" r:id="rId21"/>
    <p:sldId id="430" r:id="rId22"/>
    <p:sldId id="428" r:id="rId23"/>
    <p:sldId id="353" r:id="rId24"/>
    <p:sldId id="429" r:id="rId25"/>
    <p:sldId id="385" r:id="rId26"/>
    <p:sldId id="366" r:id="rId27"/>
  </p:sldIdLst>
  <p:sldSz cx="12192000" cy="6858000"/>
  <p:notesSz cx="6858000" cy="9144000"/>
  <p:embeddedFontLst>
    <p:embeddedFont>
      <p:font typeface="Quattrocento Sans" panose="020B0604020202020204" charset="0"/>
      <p:regular r:id="rId30"/>
    </p:embeddedFont>
    <p:embeddedFont>
      <p:font typeface="Roboto Condensed" panose="02000000000000000000" pitchFamily="2" charset="0"/>
      <p:regular r:id="rId31"/>
      <p:bold r:id="rId32"/>
      <p:italic r:id="rId33"/>
      <p:boldItalic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Consolas" panose="020B0609020204030204" pitchFamily="49" charset="0"/>
      <p:regular r:id="rId39"/>
      <p:bold r:id="rId40"/>
      <p:italic r:id="rId41"/>
      <p:boldItalic r:id="rId42"/>
    </p:embeddedFont>
    <p:embeddedFont>
      <p:font typeface="Roboto Condensed Light" panose="02000000000000000000" pitchFamily="2" charset="0"/>
      <p:regular r:id="rId43"/>
      <p:italic r:id="rId44"/>
    </p:embeddedFont>
    <p:embeddedFont>
      <p:font typeface="Wingdings 3" panose="05040102010807070707" pitchFamily="18" charset="2"/>
      <p:regular r:id="rId45"/>
    </p:embeddedFont>
    <p:embeddedFont>
      <p:font typeface="Segoe UI Black" panose="020B0A02040204020203" pitchFamily="34" charset="0"/>
      <p:bold r:id="rId46"/>
      <p:boldItalic r:id="rId47"/>
    </p:embeddedFont>
    <p:embeddedFont>
      <p:font typeface="Wingdings 2" panose="05020102010507070707" pitchFamily="18" charset="2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eHfGCRLqvvhHwjltNaJfPg==" hashData="JzPL1HQd50sdmIlLMxYt/VILa8WatqBWAACrLQxSLV6zcrB9hRXK1wSIQNluvgbGbZyzsGZH2OZ1M7XrfhEK0g=="/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4742"/>
    <a:srgbClr val="2FA0AE"/>
    <a:srgbClr val="558ED5"/>
    <a:srgbClr val="5C0000"/>
    <a:srgbClr val="1D3064"/>
    <a:srgbClr val="F54337"/>
    <a:srgbClr val="ED524F"/>
    <a:srgbClr val="3366FF"/>
    <a:srgbClr val="301B92"/>
    <a:srgbClr val="673B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3" autoAdjust="0"/>
    <p:restoredTop sz="91849" autoAdjust="0"/>
  </p:normalViewPr>
  <p:slideViewPr>
    <p:cSldViewPr snapToGrid="0">
      <p:cViewPr varScale="1">
        <p:scale>
          <a:sx n="76" d="100"/>
          <a:sy n="76" d="100"/>
        </p:scale>
        <p:origin x="10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1944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handoutMaster" Target="handoutMasters/handout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7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font" Target="fonts/font19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87FD0-6366-498E-B5AA-8D5EAADA131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5F676-4FC3-4D3C-BE37-3352AFB19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2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10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8.jpeg"/><Relationship Id="rId5" Type="http://schemas.openxmlformats.org/officeDocument/2006/relationships/image" Target="../media/image3.png"/><Relationship Id="rId10" Type="http://schemas.openxmlformats.org/officeDocument/2006/relationships/image" Target="../media/image13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01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 userDrawn="1"/>
        </p:nvGrpSpPr>
        <p:grpSpPr>
          <a:xfrm>
            <a:off x="9716596" y="886592"/>
            <a:ext cx="2554142" cy="587454"/>
            <a:chOff x="9424496" y="861192"/>
            <a:chExt cx="2554142" cy="587454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5018" y="861192"/>
              <a:ext cx="1932495" cy="587453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24496" y="8611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580" y="9015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4180" y="7239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178758-A4BB-C198-F44C-FD51A0B18B14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0B7279A0-440B-9532-7283-E5154194A0FA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BCCB1A3-386F-60E7-D42A-C38AC92AD77A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C Language Concepts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F1F6482-C299-FCFE-6849-A7876A11FEB5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7E8863-2E3E-13E8-8D70-2306BCD02371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C Language Concepts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 userDrawn="1"/>
        </p:nvGrpSpPr>
        <p:grpSpPr>
          <a:xfrm>
            <a:off x="9792796" y="58903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61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 userDrawn="1"/>
        </p:nvGrpSpPr>
        <p:grpSpPr>
          <a:xfrm>
            <a:off x="-62404" y="5890392"/>
            <a:ext cx="2554142" cy="587454"/>
            <a:chOff x="2423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9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2423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888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BBFDE9B-A9C6-224B-7F70-00AAC84F1AE3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33CFFF58-5625-9995-5D10-E984E6759435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AF972AA5-A555-662F-53D2-B1771C6515BA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C Language Concepts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8A95F5E-6BBB-A4D9-815F-D5F71BFC9EB9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6B3D2A7-7B01-8C51-A700-572E39EB5230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 userDrawn="1"/>
        </p:nvGrpSpPr>
        <p:grpSpPr>
          <a:xfrm>
            <a:off x="9818224" y="6087939"/>
            <a:ext cx="2554142" cy="650953"/>
            <a:chOff x="9437224" y="6087939"/>
            <a:chExt cx="2554142" cy="650953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DD61FEC-075B-4EDD-97CA-36E6F72630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8046" y="6151439"/>
              <a:ext cx="1932495" cy="587453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B550E12-AA95-4B1B-A8D2-ED01E515FC43}"/>
                </a:ext>
              </a:extLst>
            </p:cNvPr>
            <p:cNvSpPr/>
            <p:nvPr userDrawn="1"/>
          </p:nvSpPr>
          <p:spPr>
            <a:xfrm>
              <a:off x="9437224" y="6087939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29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26758" y="1499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996A32-EA43-5DDB-175E-0ED5AED95FAD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AE8DB780-FF70-E5AB-385C-170607ADE29B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E4ACC6A-7DDE-8FC2-1E64-B0D4689126A9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C Language Concepts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7C157EC-A1F2-9845-C504-1D2B22989E1E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582888-3BDB-56A2-96C5-22C554098CC1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>
            <a:off x="9726758" y="6003345"/>
            <a:ext cx="2554142" cy="587454"/>
            <a:chOff x="9475296" y="5890392"/>
            <a:chExt cx="2554142" cy="58745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94CC347-D375-016C-EA04-A68DB7BA4AEF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372A90B7-A619-28A8-E371-91BA6CC97153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161E285-523B-9F2F-920F-20C1CEB21810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C Language Concepts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24BAA9B-5D84-5624-B32A-AB482ED86FAF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57D060-60ED-DDEF-FC2D-A4E910013F6E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249812" y="5977321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2ECCFB7-CFEA-30CE-F341-F4E053290FAD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095D272C-E3E4-1669-8586-CD31D4F1CD11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FFEB6953-3B1D-7B1E-B3CA-A38AAFEC93AD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C Language Concepts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31A9A83-91A7-161C-E525-3DA1D4B7DA98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8D7F2E7-70D1-0256-34B2-5A799B3A40ED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>
            <a:normAutofit/>
          </a:bodyPr>
          <a:lstStyle>
            <a:lvl1pPr algn="l">
              <a:defRPr lang="en-US" sz="4400" b="0" kern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0485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lang="en-US" sz="23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68375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2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39837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0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454150" indent="-28575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1600" kern="1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625475" lvl="1" indent="-263525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896938" lvl="2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168400" lvl="3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–"/>
            </a:pPr>
            <a:r>
              <a:rPr lang="en-US" dirty="0"/>
              <a:t>Fourth level</a:t>
            </a:r>
          </a:p>
          <a:p>
            <a:pPr marL="1439863" lvl="4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»"/>
            </a:pPr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5384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Unit</a:t>
            </a:r>
            <a:r>
              <a:rPr lang="da-DK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– 2: </a:t>
            </a:r>
            <a:r>
              <a:rPr lang="en-US" sz="1800" dirty="0"/>
              <a:t>Linear Data Structure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ktangel 11"/>
          <p:cNvSpPr/>
          <p:nvPr userDrawn="1"/>
        </p:nvSpPr>
        <p:spPr>
          <a:xfrm>
            <a:off x="6197600" y="6480727"/>
            <a:ext cx="59944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en-US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Darshan</a:t>
            </a:r>
            <a:r>
              <a:rPr lang="en-US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Institute of Engineering &amp; Technology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ktangel 11"/>
          <p:cNvSpPr/>
          <p:nvPr userDrawn="1"/>
        </p:nvSpPr>
        <p:spPr>
          <a:xfrm>
            <a:off x="5384800" y="6477000"/>
            <a:ext cx="812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fld id="{4CCBBDC9-ADEB-48F3-A42C-1AD0249F062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5711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38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3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  <p:sldLayoutId id="2147483694" r:id="rId23"/>
    <p:sldLayoutId id="2147483695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60510" cy="2563094"/>
          </a:xfrm>
        </p:spPr>
        <p:txBody>
          <a:bodyPr/>
          <a:lstStyle/>
          <a:p>
            <a:r>
              <a:rPr lang="en-US" sz="44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DS Prerequisites</a:t>
            </a:r>
            <a:r>
              <a:rPr lang="en-US" sz="6000" dirty="0"/>
              <a:t> </a:t>
            </a:r>
            <a:br>
              <a:rPr lang="en-US" sz="6000" dirty="0"/>
            </a:br>
            <a:r>
              <a:rPr lang="en-US" sz="6000" dirty="0"/>
              <a:t>C Language Concepts</a:t>
            </a:r>
            <a:br>
              <a:rPr lang="en-US" sz="6000" dirty="0"/>
            </a:br>
            <a:r>
              <a:rPr lang="en-US" sz="6000" b="0" dirty="0"/>
              <a:t>Pointer, Structure, Function, DMA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/>
              <a:t>Pradyumansinh</a:t>
            </a:r>
            <a:r>
              <a:rPr lang="en-US" dirty="0"/>
              <a:t> </a:t>
            </a:r>
            <a:r>
              <a:rPr lang="en-US" dirty="0" err="1"/>
              <a:t>Jadeja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#2301CS301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FE13BB2-5773-9215-0DE5-397E9A116868}"/>
              </a:ext>
            </a:extLst>
          </p:cNvPr>
          <p:cNvSpPr txBox="1">
            <a:spLocks/>
          </p:cNvSpPr>
          <p:nvPr/>
        </p:nvSpPr>
        <p:spPr>
          <a:xfrm>
            <a:off x="8248206" y="3999543"/>
            <a:ext cx="3590225" cy="64181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pPr algn="r"/>
            <a:r>
              <a:rPr lang="fr-FR" sz="3600" b="0" dirty="0" err="1">
                <a:solidFill>
                  <a:srgbClr val="C00000"/>
                </a:solidFill>
              </a:rPr>
              <a:t>int</a:t>
            </a:r>
            <a:r>
              <a:rPr lang="fr-FR" sz="3600" b="0" dirty="0">
                <a:solidFill>
                  <a:srgbClr val="C00000"/>
                </a:solidFill>
              </a:rPr>
              <a:t> *p = &amp;a;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D5B420B-688F-32D1-88D8-45835B041B13}"/>
              </a:ext>
            </a:extLst>
          </p:cNvPr>
          <p:cNvSpPr txBox="1">
            <a:spLocks/>
          </p:cNvSpPr>
          <p:nvPr/>
        </p:nvSpPr>
        <p:spPr>
          <a:xfrm>
            <a:off x="7418716" y="4756885"/>
            <a:ext cx="4419715" cy="63227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pPr algn="r"/>
            <a:r>
              <a:rPr lang="en-IN" sz="3600" dirty="0">
                <a:solidFill>
                  <a:srgbClr val="569CD6"/>
                </a:solidFill>
                <a:cs typeface="Consolas" panose="020B0609020204030204" pitchFamily="49" charset="0"/>
              </a:rPr>
              <a:t>struct</a:t>
            </a:r>
            <a:r>
              <a:rPr lang="en-IN" sz="3600" dirty="0">
                <a:solidFill>
                  <a:srgbClr val="D4D4D4"/>
                </a:solidFill>
                <a:cs typeface="Consolas" panose="020B0609020204030204" pitchFamily="49" charset="0"/>
              </a:rPr>
              <a:t> </a:t>
            </a:r>
            <a:r>
              <a:rPr lang="en-IN" sz="3600" dirty="0">
                <a:solidFill>
                  <a:schemeClr val="tx1"/>
                </a:solidFill>
                <a:cs typeface="Consolas" panose="020B0609020204030204" pitchFamily="49" charset="0"/>
              </a:rPr>
              <a:t>student s1;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C23189-91E3-1EAC-ABD8-0A5971ABFD48}"/>
              </a:ext>
            </a:extLst>
          </p:cNvPr>
          <p:cNvSpPr txBox="1"/>
          <p:nvPr/>
        </p:nvSpPr>
        <p:spPr>
          <a:xfrm>
            <a:off x="6775544" y="5504683"/>
            <a:ext cx="50628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sym typeface="Consolas"/>
              </a:rPr>
              <a:t>malloc (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sym typeface="Consolas"/>
              </a:rPr>
              <a:t>size_in_bytes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sym typeface="Consolas"/>
              </a:rPr>
              <a:t>);</a:t>
            </a:r>
            <a:endParaRPr lang="en-IN" sz="3600" b="1" dirty="0">
              <a:solidFill>
                <a:schemeClr val="tx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lt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77165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Pointer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142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Pointer?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normal variable is used to store value.</a:t>
            </a:r>
          </a:p>
          <a:p>
            <a:r>
              <a:rPr lang="en-US" dirty="0"/>
              <a:t>A pointer is a variable that </a:t>
            </a:r>
            <a:r>
              <a:rPr lang="en-US" dirty="0">
                <a:solidFill>
                  <a:srgbClr val="C00000"/>
                </a:solidFill>
              </a:rPr>
              <a:t>store address / reference </a:t>
            </a:r>
            <a:r>
              <a:rPr lang="en-US" dirty="0"/>
              <a:t>of another variable.</a:t>
            </a:r>
          </a:p>
          <a:p>
            <a:r>
              <a:rPr lang="en-US" dirty="0"/>
              <a:t>Pointer is </a:t>
            </a:r>
            <a:r>
              <a:rPr lang="en-US" dirty="0">
                <a:solidFill>
                  <a:srgbClr val="C00000"/>
                </a:solidFill>
              </a:rPr>
              <a:t>derived data type </a:t>
            </a:r>
            <a:r>
              <a:rPr lang="en-US" dirty="0"/>
              <a:t>in C language.</a:t>
            </a:r>
          </a:p>
          <a:p>
            <a:r>
              <a:rPr lang="en-US" dirty="0"/>
              <a:t>A pointer contains the memory address of that variable as their value. Pointers are also called </a:t>
            </a:r>
            <a:r>
              <a:rPr lang="en-US" dirty="0">
                <a:solidFill>
                  <a:srgbClr val="C00000"/>
                </a:solidFill>
              </a:rPr>
              <a:t>address variables </a:t>
            </a:r>
            <a:r>
              <a:rPr lang="en-US" dirty="0"/>
              <a:t>because they contain the addresses of other variables.</a:t>
            </a:r>
          </a:p>
        </p:txBody>
      </p:sp>
    </p:spTree>
    <p:extLst>
      <p:ext uri="{BB962C8B-B14F-4D97-AF65-F5344CB8AC3E}">
        <p14:creationId xmlns:p14="http://schemas.microsoft.com/office/powerpoint/2010/main" val="3889081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Declaration &amp; Initialization of Pointer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E47E257-DB3F-B648-8F50-D7128FD266DF}"/>
              </a:ext>
            </a:extLst>
          </p:cNvPr>
          <p:cNvSpPr/>
          <p:nvPr/>
        </p:nvSpPr>
        <p:spPr>
          <a:xfrm>
            <a:off x="6704206" y="2210968"/>
            <a:ext cx="4787017" cy="1815883"/>
          </a:xfrm>
          <a:prstGeom prst="round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67EF3137-F2F6-854D-863F-B48E71581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360" y="4283258"/>
            <a:ext cx="11667281" cy="2163650"/>
          </a:xfrm>
        </p:spPr>
        <p:txBody>
          <a:bodyPr/>
          <a:lstStyle/>
          <a:p>
            <a:r>
              <a:rPr lang="en-US" sz="2200" dirty="0">
                <a:solidFill>
                  <a:srgbClr val="C00000"/>
                </a:solidFill>
              </a:rPr>
              <a:t>p</a:t>
            </a:r>
            <a:r>
              <a:rPr lang="en-US" sz="2200" dirty="0"/>
              <a:t> is integer pointer variable</a:t>
            </a:r>
          </a:p>
          <a:p>
            <a:r>
              <a:rPr lang="en-US" sz="2200" dirty="0">
                <a:solidFill>
                  <a:srgbClr val="C00000"/>
                </a:solidFill>
              </a:rPr>
              <a:t>&amp;</a:t>
            </a:r>
            <a:r>
              <a:rPr lang="en-US" sz="2200" dirty="0"/>
              <a:t> is address of or referencing operator which returns memory address of variable.</a:t>
            </a:r>
          </a:p>
          <a:p>
            <a:r>
              <a:rPr lang="en-US" sz="2200" dirty="0">
                <a:solidFill>
                  <a:srgbClr val="C00000"/>
                </a:solidFill>
              </a:rPr>
              <a:t>*</a:t>
            </a:r>
            <a:r>
              <a:rPr lang="en-US" sz="2200" dirty="0"/>
              <a:t> is indirection or dereferencing operator which returns value stored at that memory address.</a:t>
            </a:r>
          </a:p>
          <a:p>
            <a:r>
              <a:rPr lang="en-US" sz="2200" dirty="0">
                <a:solidFill>
                  <a:srgbClr val="C00000"/>
                </a:solidFill>
              </a:rPr>
              <a:t>&amp;</a:t>
            </a:r>
            <a:r>
              <a:rPr lang="en-US" sz="2200" dirty="0"/>
              <a:t> operator is the inverse of * operator </a:t>
            </a:r>
          </a:p>
          <a:p>
            <a:r>
              <a:rPr lang="en-US" sz="2200" dirty="0">
                <a:solidFill>
                  <a:srgbClr val="C00000"/>
                </a:solidFill>
              </a:rPr>
              <a:t>x = a is same as x = *(&amp;a)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33DB62-B1AF-0A41-88A9-6611F0F3BFDE}"/>
              </a:ext>
            </a:extLst>
          </p:cNvPr>
          <p:cNvSpPr/>
          <p:nvPr/>
        </p:nvSpPr>
        <p:spPr>
          <a:xfrm>
            <a:off x="762354" y="1345438"/>
            <a:ext cx="3642483" cy="369332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+mj-lt"/>
                <a:cs typeface="Consolas" panose="020B0609020204030204" pitchFamily="49" charset="0"/>
              </a:rPr>
              <a:t>datatype *</a:t>
            </a:r>
            <a:r>
              <a:rPr lang="en-IN" b="1" dirty="0" err="1">
                <a:solidFill>
                  <a:schemeClr val="bg1"/>
                </a:solidFill>
                <a:latin typeface="+mj-lt"/>
                <a:cs typeface="Consolas" panose="020B0609020204030204" pitchFamily="49" charset="0"/>
              </a:rPr>
              <a:t>ptr_variablename</a:t>
            </a:r>
            <a:r>
              <a:rPr lang="en-IN" b="1" dirty="0">
                <a:solidFill>
                  <a:schemeClr val="bg1"/>
                </a:solidFill>
                <a:latin typeface="+mj-lt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2B0D659-30F9-BA41-94BF-21C792565A1E}"/>
              </a:ext>
            </a:extLst>
          </p:cNvPr>
          <p:cNvSpPr/>
          <p:nvPr/>
        </p:nvSpPr>
        <p:spPr>
          <a:xfrm>
            <a:off x="262360" y="1345437"/>
            <a:ext cx="4999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</a:t>
            </a:r>
          </a:p>
        </p:txBody>
      </p:sp>
      <p:sp>
        <p:nvSpPr>
          <p:cNvPr id="29" name="Rectangle: Top Corners Rounded 6">
            <a:extLst>
              <a:ext uri="{FF2B5EF4-FFF2-40B4-BE49-F238E27FC236}">
                <a16:creationId xmlns:a16="http://schemas.microsoft.com/office/drawing/2014/main" id="{19D10186-A669-C548-B14E-0BA5B4906599}"/>
              </a:ext>
            </a:extLst>
          </p:cNvPr>
          <p:cNvSpPr/>
          <p:nvPr/>
        </p:nvSpPr>
        <p:spPr>
          <a:xfrm>
            <a:off x="262360" y="1016252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Syntax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8CB3693-B99C-DE49-8125-6B57A9A7CD37}"/>
              </a:ext>
            </a:extLst>
          </p:cNvPr>
          <p:cNvSpPr/>
          <p:nvPr/>
        </p:nvSpPr>
        <p:spPr>
          <a:xfrm>
            <a:off x="762354" y="2210970"/>
            <a:ext cx="5507377" cy="1754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&amp;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3D0C04-30DF-9643-8600-23A307D67E1E}"/>
              </a:ext>
            </a:extLst>
          </p:cNvPr>
          <p:cNvSpPr/>
          <p:nvPr/>
        </p:nvSpPr>
        <p:spPr>
          <a:xfrm>
            <a:off x="262360" y="2210969"/>
            <a:ext cx="499994" cy="17543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2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3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4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5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6</a:t>
            </a:r>
          </a:p>
        </p:txBody>
      </p:sp>
      <p:sp>
        <p:nvSpPr>
          <p:cNvPr id="32" name="Rectangle: Top Corners Rounded 6">
            <a:extLst>
              <a:ext uri="{FF2B5EF4-FFF2-40B4-BE49-F238E27FC236}">
                <a16:creationId xmlns:a16="http://schemas.microsoft.com/office/drawing/2014/main" id="{28088131-4C97-C048-8983-45874414A30A}"/>
              </a:ext>
            </a:extLst>
          </p:cNvPr>
          <p:cNvSpPr/>
          <p:nvPr/>
        </p:nvSpPr>
        <p:spPr>
          <a:xfrm>
            <a:off x="262360" y="1881784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Example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FD0F6E-2F09-B846-AD2C-A988B6F6F413}"/>
              </a:ext>
            </a:extLst>
          </p:cNvPr>
          <p:cNvSpPr txBox="1"/>
          <p:nvPr/>
        </p:nvSpPr>
        <p:spPr>
          <a:xfrm>
            <a:off x="6880908" y="2375560"/>
            <a:ext cx="1381489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Variable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E17322-DB93-FC4E-A4A3-8333DC821638}"/>
              </a:ext>
            </a:extLst>
          </p:cNvPr>
          <p:cNvSpPr txBox="1"/>
          <p:nvPr/>
        </p:nvSpPr>
        <p:spPr>
          <a:xfrm>
            <a:off x="8336942" y="2375560"/>
            <a:ext cx="1381489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Value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DCC0E0-E31D-AB4C-BCDB-27606A07CED3}"/>
              </a:ext>
            </a:extLst>
          </p:cNvPr>
          <p:cNvSpPr txBox="1"/>
          <p:nvPr/>
        </p:nvSpPr>
        <p:spPr>
          <a:xfrm>
            <a:off x="9792977" y="2375559"/>
            <a:ext cx="1381489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Address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53A9A7-6605-8B41-AC99-EC4C0B578A2E}"/>
              </a:ext>
            </a:extLst>
          </p:cNvPr>
          <p:cNvSpPr txBox="1"/>
          <p:nvPr/>
        </p:nvSpPr>
        <p:spPr>
          <a:xfrm>
            <a:off x="6880908" y="2936506"/>
            <a:ext cx="1381489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93ED5A-A24B-0449-BD8A-C5A59135FA12}"/>
              </a:ext>
            </a:extLst>
          </p:cNvPr>
          <p:cNvSpPr txBox="1"/>
          <p:nvPr/>
        </p:nvSpPr>
        <p:spPr>
          <a:xfrm>
            <a:off x="8591076" y="2936506"/>
            <a:ext cx="873219" cy="36933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1D86605-B849-A348-A976-370C86179BF1}"/>
              </a:ext>
            </a:extLst>
          </p:cNvPr>
          <p:cNvSpPr txBox="1"/>
          <p:nvPr/>
        </p:nvSpPr>
        <p:spPr>
          <a:xfrm>
            <a:off x="9792977" y="2936505"/>
            <a:ext cx="1381489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5000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EEABCD-04FF-CB41-B776-076F9DF4BB12}"/>
              </a:ext>
            </a:extLst>
          </p:cNvPr>
          <p:cNvSpPr txBox="1"/>
          <p:nvPr/>
        </p:nvSpPr>
        <p:spPr>
          <a:xfrm>
            <a:off x="6880908" y="3497451"/>
            <a:ext cx="1381489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550554-980E-D745-83FF-D937C060475B}"/>
              </a:ext>
            </a:extLst>
          </p:cNvPr>
          <p:cNvSpPr txBox="1"/>
          <p:nvPr/>
        </p:nvSpPr>
        <p:spPr>
          <a:xfrm>
            <a:off x="8540626" y="3531878"/>
            <a:ext cx="974121" cy="36933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5000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B0D8DEF-DE06-7645-A564-CD3CABD04B5D}"/>
              </a:ext>
            </a:extLst>
          </p:cNvPr>
          <p:cNvSpPr txBox="1"/>
          <p:nvPr/>
        </p:nvSpPr>
        <p:spPr>
          <a:xfrm>
            <a:off x="9792977" y="3497450"/>
            <a:ext cx="1381489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5048</a:t>
            </a:r>
          </a:p>
        </p:txBody>
      </p:sp>
      <p:sp>
        <p:nvSpPr>
          <p:cNvPr id="42" name="Curved Right Arrow 41">
            <a:extLst>
              <a:ext uri="{FF2B5EF4-FFF2-40B4-BE49-F238E27FC236}">
                <a16:creationId xmlns:a16="http://schemas.microsoft.com/office/drawing/2014/main" id="{B7AF8DFA-9701-F246-A0BB-0D72AA33848B}"/>
              </a:ext>
            </a:extLst>
          </p:cNvPr>
          <p:cNvSpPr/>
          <p:nvPr/>
        </p:nvSpPr>
        <p:spPr>
          <a:xfrm rot="10800000">
            <a:off x="9506596" y="3001301"/>
            <a:ext cx="438868" cy="560945"/>
          </a:xfrm>
          <a:prstGeom prst="curvedRightArrow">
            <a:avLst>
              <a:gd name="adj1" fmla="val 20722"/>
              <a:gd name="adj2" fmla="val 50000"/>
              <a:gd name="adj3" fmla="val 25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19647C6-3618-9548-AFF1-CDB5599CC58D}"/>
              </a:ext>
            </a:extLst>
          </p:cNvPr>
          <p:cNvSpPr/>
          <p:nvPr/>
        </p:nvSpPr>
        <p:spPr>
          <a:xfrm>
            <a:off x="6704207" y="1348430"/>
            <a:ext cx="4787017" cy="307777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10 10 5000</a:t>
            </a:r>
          </a:p>
        </p:txBody>
      </p:sp>
      <p:sp>
        <p:nvSpPr>
          <p:cNvPr id="44" name="Rectangle: Top Corners Rounded 7">
            <a:extLst>
              <a:ext uri="{FF2B5EF4-FFF2-40B4-BE49-F238E27FC236}">
                <a16:creationId xmlns:a16="http://schemas.microsoft.com/office/drawing/2014/main" id="{42A33A23-AC8A-0146-936C-3F606E2995D1}"/>
              </a:ext>
            </a:extLst>
          </p:cNvPr>
          <p:cNvSpPr/>
          <p:nvPr/>
        </p:nvSpPr>
        <p:spPr>
          <a:xfrm>
            <a:off x="6704207" y="1019246"/>
            <a:ext cx="87791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66923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/>
      <p:bldP spid="34" grpId="0"/>
      <p:bldP spid="35" grpId="0"/>
      <p:bldP spid="36" grpId="0"/>
      <p:bldP spid="37" grpId="0" animBg="1"/>
      <p:bldP spid="38" grpId="0"/>
      <p:bldP spid="39" grpId="0"/>
      <p:bldP spid="40" grpId="0" animBg="1"/>
      <p:bldP spid="41" grpId="0"/>
      <p:bldP spid="42" grpId="0" animBg="1"/>
      <p:bldP spid="43" grpId="0" build="p" animBg="1"/>
      <p:bldP spid="4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to Pointer – Double Pointer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2008545"/>
          </a:xfrm>
        </p:spPr>
        <p:txBody>
          <a:bodyPr/>
          <a:lstStyle/>
          <a:p>
            <a:r>
              <a:rPr lang="en-US" dirty="0"/>
              <a:t>Pointer holds the address of another variable of same type. </a:t>
            </a:r>
          </a:p>
          <a:p>
            <a:r>
              <a:rPr lang="en-US" dirty="0"/>
              <a:t>When a pointer holds the </a:t>
            </a:r>
            <a:r>
              <a:rPr lang="en-US" dirty="0">
                <a:solidFill>
                  <a:srgbClr val="C00000"/>
                </a:solidFill>
              </a:rPr>
              <a:t>address of another pointer</a:t>
            </a:r>
            <a:r>
              <a:rPr lang="en-US" dirty="0">
                <a:solidFill>
                  <a:srgbClr val="92D050"/>
                </a:solidFill>
              </a:rPr>
              <a:t> </a:t>
            </a:r>
            <a:r>
              <a:rPr lang="en-US" dirty="0"/>
              <a:t>then such type of pointer is known as </a:t>
            </a:r>
            <a:r>
              <a:rPr lang="en-US" dirty="0">
                <a:solidFill>
                  <a:srgbClr val="C00000"/>
                </a:solidFill>
              </a:rPr>
              <a:t>pointer-to-pointer or double pointer</a:t>
            </a:r>
            <a:r>
              <a:rPr lang="en-US" dirty="0"/>
              <a:t>. </a:t>
            </a:r>
          </a:p>
          <a:p>
            <a:r>
              <a:rPr lang="en-IN" dirty="0"/>
              <a:t>The first pointer contains the address of the second pointer, which points to the location that contains the actual value.</a:t>
            </a:r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621B5B-1718-6749-B9CF-04486E544C23}"/>
              </a:ext>
            </a:extLst>
          </p:cNvPr>
          <p:cNvSpPr/>
          <p:nvPr/>
        </p:nvSpPr>
        <p:spPr>
          <a:xfrm>
            <a:off x="262360" y="3462994"/>
            <a:ext cx="3917930" cy="369332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+mj-lt"/>
                <a:cs typeface="Consolas" panose="020B0609020204030204" pitchFamily="49" charset="0"/>
              </a:rPr>
              <a:t>datatype **</a:t>
            </a:r>
            <a:r>
              <a:rPr lang="en-IN" b="1" dirty="0" err="1">
                <a:solidFill>
                  <a:schemeClr val="bg1"/>
                </a:solidFill>
                <a:latin typeface="+mj-lt"/>
                <a:cs typeface="Consolas" panose="020B0609020204030204" pitchFamily="49" charset="0"/>
              </a:rPr>
              <a:t>ptr_variablename</a:t>
            </a:r>
            <a:r>
              <a:rPr lang="en-IN" b="1" dirty="0">
                <a:solidFill>
                  <a:schemeClr val="bg1"/>
                </a:solidFill>
                <a:latin typeface="+mj-lt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6BFC3EE9-579D-CB4F-9675-24D40E717E30}"/>
              </a:ext>
            </a:extLst>
          </p:cNvPr>
          <p:cNvSpPr/>
          <p:nvPr/>
        </p:nvSpPr>
        <p:spPr>
          <a:xfrm>
            <a:off x="262360" y="3133810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Syntax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07BD5-26E6-A14A-BFD9-3DC43820C0E1}"/>
              </a:ext>
            </a:extLst>
          </p:cNvPr>
          <p:cNvSpPr txBox="1"/>
          <p:nvPr/>
        </p:nvSpPr>
        <p:spPr>
          <a:xfrm>
            <a:off x="5980964" y="3298402"/>
            <a:ext cx="1381489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Pointer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C43461-D50D-2A4E-862F-42FA4A2FE6AE}"/>
              </a:ext>
            </a:extLst>
          </p:cNvPr>
          <p:cNvSpPr txBox="1"/>
          <p:nvPr/>
        </p:nvSpPr>
        <p:spPr>
          <a:xfrm>
            <a:off x="7544657" y="3298402"/>
            <a:ext cx="1381489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Pointer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1AAA09-99A4-C04F-B706-4CAEEDEC1DE9}"/>
              </a:ext>
            </a:extLst>
          </p:cNvPr>
          <p:cNvSpPr txBox="1"/>
          <p:nvPr/>
        </p:nvSpPr>
        <p:spPr>
          <a:xfrm>
            <a:off x="9109937" y="3298402"/>
            <a:ext cx="1381489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Variable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64425B-F22E-1145-9994-075271151CBD}"/>
              </a:ext>
            </a:extLst>
          </p:cNvPr>
          <p:cNvSpPr txBox="1"/>
          <p:nvPr/>
        </p:nvSpPr>
        <p:spPr>
          <a:xfrm>
            <a:off x="7671725" y="3859348"/>
            <a:ext cx="112735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address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8AA19F-3AAA-6748-BF0C-F2FC5DD85601}"/>
              </a:ext>
            </a:extLst>
          </p:cNvPr>
          <p:cNvSpPr txBox="1"/>
          <p:nvPr/>
        </p:nvSpPr>
        <p:spPr>
          <a:xfrm>
            <a:off x="6108032" y="3857976"/>
            <a:ext cx="112735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address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A0DC18-98D5-AD4B-BD3D-C8735AA9762A}"/>
              </a:ext>
            </a:extLst>
          </p:cNvPr>
          <p:cNvSpPr txBox="1"/>
          <p:nvPr/>
        </p:nvSpPr>
        <p:spPr>
          <a:xfrm>
            <a:off x="9237005" y="3857976"/>
            <a:ext cx="112735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value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4D79556-CDDE-B045-A303-923B54C3FA77}"/>
              </a:ext>
            </a:extLst>
          </p:cNvPr>
          <p:cNvCxnSpPr>
            <a:stCxn id="11" idx="3"/>
            <a:endCxn id="10" idx="1"/>
          </p:cNvCxnSpPr>
          <p:nvPr/>
        </p:nvCxnSpPr>
        <p:spPr>
          <a:xfrm>
            <a:off x="7235387" y="4042642"/>
            <a:ext cx="436338" cy="137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6E2EF0B-D1F9-944C-ABF0-C886E04E33DA}"/>
              </a:ext>
            </a:extLst>
          </p:cNvPr>
          <p:cNvCxnSpPr/>
          <p:nvPr/>
        </p:nvCxnSpPr>
        <p:spPr>
          <a:xfrm>
            <a:off x="8800667" y="4041270"/>
            <a:ext cx="436338" cy="137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63C7F809-E1A1-C547-A765-4B52CA6AD76F}"/>
              </a:ext>
            </a:extLst>
          </p:cNvPr>
          <p:cNvSpPr/>
          <p:nvPr/>
        </p:nvSpPr>
        <p:spPr>
          <a:xfrm>
            <a:off x="275239" y="4541630"/>
            <a:ext cx="3917930" cy="369332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 err="1">
                <a:solidFill>
                  <a:srgbClr val="569CD6"/>
                </a:solidFill>
                <a:latin typeface="+mj-lt"/>
                <a:cs typeface="Consolas" panose="020B0609020204030204" pitchFamily="49" charset="0"/>
              </a:rPr>
              <a:t>int</a:t>
            </a:r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 **</a:t>
            </a:r>
            <a:r>
              <a:rPr lang="en-IN" b="1" dirty="0" err="1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ptr</a:t>
            </a:r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7" name="Rectangle: Top Corners Rounded 6">
            <a:extLst>
              <a:ext uri="{FF2B5EF4-FFF2-40B4-BE49-F238E27FC236}">
                <a16:creationId xmlns:a16="http://schemas.microsoft.com/office/drawing/2014/main" id="{D2242FF5-E029-554D-965D-F13669876067}"/>
              </a:ext>
            </a:extLst>
          </p:cNvPr>
          <p:cNvSpPr/>
          <p:nvPr/>
        </p:nvSpPr>
        <p:spPr>
          <a:xfrm>
            <a:off x="264295" y="4212446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107873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  <p:bldP spid="8" grpId="0"/>
      <p:bldP spid="9" grpId="0"/>
      <p:bldP spid="10" grpId="0" animBg="1"/>
      <p:bldP spid="11" grpId="0" animBg="1"/>
      <p:bldP spid="12" grpId="0" animBg="1"/>
      <p:bldP spid="15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WAP to print variable, address of pointer variable and double pointer variable.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903084" y="1284272"/>
            <a:ext cx="8472276" cy="36933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#include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&lt;</a:t>
            </a:r>
            <a:r>
              <a:rPr lang="en-IN" dirty="0" err="1">
                <a:solidFill>
                  <a:srgbClr val="CE9178"/>
                </a:solidFill>
                <a:latin typeface="Consolas" panose="020B0609020204030204" pitchFamily="49" charset="0"/>
              </a:rPr>
              <a:t>stdio.h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()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var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pptr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var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3000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&amp;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var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 // address of </a:t>
            </a:r>
            <a:r>
              <a:rPr lang="en-IN" dirty="0" err="1">
                <a:solidFill>
                  <a:srgbClr val="6A9955"/>
                </a:solidFill>
                <a:latin typeface="Consolas" panose="020B0609020204030204" pitchFamily="49" charset="0"/>
              </a:rPr>
              <a:t>var</a:t>
            </a: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pptr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&amp;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 // address of </a:t>
            </a:r>
            <a:r>
              <a:rPr lang="en-IN" dirty="0" err="1">
                <a:solidFill>
                  <a:srgbClr val="6A9955"/>
                </a:solidFill>
                <a:latin typeface="Consolas" panose="020B0609020204030204" pitchFamily="49" charset="0"/>
              </a:rPr>
              <a:t>ptr</a:t>
            </a:r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 using address of operator &amp;</a:t>
            </a: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"Value of </a:t>
            </a:r>
            <a:r>
              <a:rPr lang="en-IN" dirty="0" err="1">
                <a:solidFill>
                  <a:srgbClr val="CE9178"/>
                </a:solidFill>
                <a:latin typeface="Consolas" panose="020B0609020204030204" pitchFamily="49" charset="0"/>
              </a:rPr>
              <a:t>var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 =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var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"Value available at *</a:t>
            </a:r>
            <a:r>
              <a:rPr lang="en-IN" dirty="0" err="1">
                <a:solidFill>
                  <a:srgbClr val="CE9178"/>
                </a:solidFill>
                <a:latin typeface="Consolas" panose="020B0609020204030204" pitchFamily="49" charset="0"/>
              </a:rPr>
              <a:t>ptr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 =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"Value available at **</a:t>
            </a:r>
            <a:r>
              <a:rPr lang="en-IN" dirty="0" err="1">
                <a:solidFill>
                  <a:srgbClr val="CE9178"/>
                </a:solidFill>
                <a:latin typeface="Consolas" panose="020B0609020204030204" pitchFamily="49" charset="0"/>
              </a:rPr>
              <a:t>pptr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 =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pptr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403091" y="1284272"/>
            <a:ext cx="499993" cy="36933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2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3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4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5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6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7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8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9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10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11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12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89FE68-BCE8-454F-B6D7-830E382636F9}"/>
              </a:ext>
            </a:extLst>
          </p:cNvPr>
          <p:cNvSpPr/>
          <p:nvPr/>
        </p:nvSpPr>
        <p:spPr>
          <a:xfrm>
            <a:off x="403090" y="5577858"/>
            <a:ext cx="4787017" cy="738664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Value of </a:t>
            </a:r>
            <a:r>
              <a:rPr lang="en-US" sz="1400" dirty="0" err="1">
                <a:solidFill>
                  <a:schemeClr val="bg1"/>
                </a:solidFill>
                <a:latin typeface="+mj-lt"/>
              </a:rPr>
              <a:t>var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 = 3000</a:t>
            </a:r>
          </a:p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Value available at *</a:t>
            </a:r>
            <a:r>
              <a:rPr lang="en-US" sz="1400" dirty="0" err="1">
                <a:solidFill>
                  <a:schemeClr val="bg1"/>
                </a:solidFill>
                <a:latin typeface="+mj-lt"/>
              </a:rPr>
              <a:t>ptr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 = 3000</a:t>
            </a:r>
          </a:p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Value available at **</a:t>
            </a:r>
            <a:r>
              <a:rPr lang="en-US" sz="1400" dirty="0" err="1">
                <a:solidFill>
                  <a:schemeClr val="bg1"/>
                </a:solidFill>
                <a:latin typeface="+mj-lt"/>
              </a:rPr>
              <a:t>pptr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 = 3000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403091" y="955088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9A825"/>
                </a:solidFill>
              </a:rPr>
              <a:t>Program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C41A6BE6-E231-BA4C-BA83-72B739C39BAF}"/>
              </a:ext>
            </a:extLst>
          </p:cNvPr>
          <p:cNvSpPr/>
          <p:nvPr/>
        </p:nvSpPr>
        <p:spPr>
          <a:xfrm>
            <a:off x="403090" y="5248674"/>
            <a:ext cx="87791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9A825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44045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build="p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77165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797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>
                <a:cs typeface="Consolas" panose="020B0609020204030204" pitchFamily="49" charset="0"/>
              </a:rPr>
              <a:t>Structure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onsolas" panose="020B0609020204030204" pitchFamily="49" charset="0"/>
              </a:rPr>
              <a:t>Structure</a:t>
            </a:r>
            <a:r>
              <a:rPr lang="en-US" dirty="0"/>
              <a:t> is a collection of logically related data items of different </a:t>
            </a:r>
            <a:r>
              <a:rPr lang="en-US" dirty="0" err="1"/>
              <a:t>datatypes</a:t>
            </a:r>
            <a:r>
              <a:rPr lang="en-US" dirty="0"/>
              <a:t> grouped together under single name.  </a:t>
            </a:r>
          </a:p>
          <a:p>
            <a:r>
              <a:rPr lang="en-US" dirty="0">
                <a:cs typeface="Consolas" panose="020B0609020204030204" pitchFamily="49" charset="0"/>
              </a:rPr>
              <a:t>Structure</a:t>
            </a:r>
            <a:r>
              <a:rPr lang="en-US" dirty="0"/>
              <a:t> is a </a:t>
            </a:r>
            <a:r>
              <a:rPr lang="en-US" dirty="0">
                <a:solidFill>
                  <a:srgbClr val="C00000"/>
                </a:solidFill>
              </a:rPr>
              <a:t>user defined </a:t>
            </a:r>
            <a:r>
              <a:rPr lang="en-US" dirty="0" err="1">
                <a:solidFill>
                  <a:srgbClr val="C00000"/>
                </a:solidFill>
              </a:rPr>
              <a:t>datatype</a:t>
            </a:r>
            <a:r>
              <a:rPr lang="en-US" dirty="0"/>
              <a:t>. </a:t>
            </a:r>
          </a:p>
          <a:p>
            <a:r>
              <a:rPr lang="en-US" dirty="0">
                <a:cs typeface="Consolas" panose="020B0609020204030204" pitchFamily="49" charset="0"/>
              </a:rPr>
              <a:t>Structure</a:t>
            </a:r>
            <a:r>
              <a:rPr lang="en-US" dirty="0"/>
              <a:t> helps to build a complex </a:t>
            </a:r>
            <a:r>
              <a:rPr lang="en-US" dirty="0" err="1"/>
              <a:t>datatype</a:t>
            </a:r>
            <a:r>
              <a:rPr lang="en-US" dirty="0"/>
              <a:t> which is more meaningful than an array.</a:t>
            </a:r>
          </a:p>
          <a:p>
            <a:r>
              <a:rPr lang="en-US" dirty="0"/>
              <a:t>But, an array holds similar </a:t>
            </a:r>
            <a:r>
              <a:rPr lang="en-US" dirty="0" err="1"/>
              <a:t>datatype</a:t>
            </a:r>
            <a:r>
              <a:rPr lang="en-US" dirty="0"/>
              <a:t> record, when </a:t>
            </a:r>
            <a:r>
              <a:rPr lang="en-US" dirty="0">
                <a:cs typeface="Consolas" panose="020B0609020204030204" pitchFamily="49" charset="0"/>
              </a:rPr>
              <a:t>structure</a:t>
            </a:r>
            <a:r>
              <a:rPr lang="en-US" dirty="0"/>
              <a:t> holds different </a:t>
            </a:r>
            <a:r>
              <a:rPr lang="en-US" dirty="0" err="1"/>
              <a:t>datatypes</a:t>
            </a:r>
            <a:r>
              <a:rPr lang="en-US" dirty="0"/>
              <a:t> records.</a:t>
            </a:r>
          </a:p>
          <a:p>
            <a:r>
              <a:rPr lang="en-US" dirty="0"/>
              <a:t>Two fundamental aspects of </a:t>
            </a:r>
            <a:r>
              <a:rPr lang="en-US" dirty="0">
                <a:cs typeface="Consolas" panose="020B0609020204030204" pitchFamily="49" charset="0"/>
              </a:rPr>
              <a:t>Structure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Declaration of </a:t>
            </a:r>
            <a:r>
              <a:rPr lang="en-US" dirty="0">
                <a:cs typeface="Consolas" panose="020B0609020204030204" pitchFamily="49" charset="0"/>
              </a:rPr>
              <a:t>Structure</a:t>
            </a:r>
            <a:r>
              <a:rPr lang="en-US" dirty="0"/>
              <a:t> Variable</a:t>
            </a:r>
          </a:p>
          <a:p>
            <a:pPr lvl="1"/>
            <a:r>
              <a:rPr lang="en-US" dirty="0"/>
              <a:t>Accessing of </a:t>
            </a:r>
            <a:r>
              <a:rPr lang="en-US" dirty="0">
                <a:cs typeface="Consolas" panose="020B0609020204030204" pitchFamily="49" charset="0"/>
              </a:rPr>
              <a:t>Structure</a:t>
            </a:r>
            <a:r>
              <a:rPr lang="en-US" dirty="0"/>
              <a:t> Member</a:t>
            </a:r>
          </a:p>
        </p:txBody>
      </p:sp>
    </p:spTree>
    <p:extLst>
      <p:ext uri="{BB962C8B-B14F-4D97-AF65-F5344CB8AC3E}">
        <p14:creationId xmlns:p14="http://schemas.microsoft.com/office/powerpoint/2010/main" val="744290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to Define </a:t>
            </a:r>
            <a:r>
              <a:rPr lang="en-US" dirty="0">
                <a:cs typeface="Consolas" panose="020B0609020204030204" pitchFamily="49" charset="0"/>
              </a:rPr>
              <a:t>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define a </a:t>
            </a:r>
            <a:r>
              <a:rPr lang="en-US" dirty="0">
                <a:cs typeface="Consolas" panose="020B0609020204030204" pitchFamily="49" charset="0"/>
              </a:rPr>
              <a:t>structure</a:t>
            </a:r>
            <a:r>
              <a:rPr lang="en-US" dirty="0"/>
              <a:t>, we need to use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keyword.</a:t>
            </a:r>
          </a:p>
          <a:p>
            <a:r>
              <a:rPr lang="en-US" dirty="0"/>
              <a:t>This keyword is reserved word in C language. We can only use it for </a:t>
            </a:r>
            <a:r>
              <a:rPr lang="en-US" dirty="0">
                <a:cs typeface="Consolas" panose="020B0609020204030204" pitchFamily="49" charset="0"/>
              </a:rPr>
              <a:t>structure</a:t>
            </a:r>
            <a:r>
              <a:rPr lang="en-US" dirty="0"/>
              <a:t> and its object declaration.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9CF278-0CFC-4F81-B2D4-28505379D37C}"/>
              </a:ext>
            </a:extLst>
          </p:cNvPr>
          <p:cNvSpPr/>
          <p:nvPr/>
        </p:nvSpPr>
        <p:spPr>
          <a:xfrm>
            <a:off x="984819" y="2610064"/>
            <a:ext cx="4777100" cy="2031325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569CD6"/>
                </a:solidFill>
                <a:latin typeface="+mj-lt"/>
                <a:cs typeface="Consolas" panose="020B0609020204030204" pitchFamily="49" charset="0"/>
              </a:rPr>
              <a:t>struct</a:t>
            </a:r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 </a:t>
            </a:r>
            <a:r>
              <a:rPr lang="en-IN" b="1" dirty="0" err="1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structure_name</a:t>
            </a:r>
            <a:endParaRPr lang="en-IN" b="1" dirty="0">
              <a:solidFill>
                <a:srgbClr val="D4D4D4"/>
              </a:solidFill>
              <a:latin typeface="+mj-lt"/>
              <a:cs typeface="Consolas" panose="020B0609020204030204" pitchFamily="49" charset="0"/>
            </a:endParaRPr>
          </a:p>
          <a:p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{</a:t>
            </a:r>
          </a:p>
          <a:p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    member1_declaration;</a:t>
            </a:r>
          </a:p>
          <a:p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    member2_declaration;</a:t>
            </a:r>
          </a:p>
          <a:p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    . . .</a:t>
            </a:r>
          </a:p>
          <a:p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    </a:t>
            </a:r>
            <a:r>
              <a:rPr lang="en-IN" b="1" dirty="0" err="1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memberN_declaration</a:t>
            </a:r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;</a:t>
            </a:r>
          </a:p>
          <a:p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};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CAD057C-A69C-134E-A0DB-F49B832FA4D9}"/>
              </a:ext>
            </a:extLst>
          </p:cNvPr>
          <p:cNvCxnSpPr>
            <a:cxnSpLocks/>
          </p:cNvCxnSpPr>
          <p:nvPr/>
        </p:nvCxnSpPr>
        <p:spPr>
          <a:xfrm>
            <a:off x="3833216" y="2788846"/>
            <a:ext cx="2249905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C1AA86F-2E08-154E-B664-0178A2E38F75}"/>
              </a:ext>
            </a:extLst>
          </p:cNvPr>
          <p:cNvCxnSpPr>
            <a:cxnSpLocks/>
          </p:cNvCxnSpPr>
          <p:nvPr/>
        </p:nvCxnSpPr>
        <p:spPr>
          <a:xfrm>
            <a:off x="4194161" y="3759394"/>
            <a:ext cx="1888960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ight Brace 7">
            <a:extLst>
              <a:ext uri="{FF2B5EF4-FFF2-40B4-BE49-F238E27FC236}">
                <a16:creationId xmlns:a16="http://schemas.microsoft.com/office/drawing/2014/main" id="{6F171F5C-3D96-2747-9114-51A365368DCD}"/>
              </a:ext>
            </a:extLst>
          </p:cNvPr>
          <p:cNvSpPr/>
          <p:nvPr/>
        </p:nvSpPr>
        <p:spPr>
          <a:xfrm>
            <a:off x="4088365" y="3287998"/>
            <a:ext cx="226116" cy="956668"/>
          </a:xfrm>
          <a:prstGeom prst="righ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1C15B2C7-10C7-AC47-ADCC-7B1BB0BC2B5C}"/>
              </a:ext>
            </a:extLst>
          </p:cNvPr>
          <p:cNvSpPr/>
          <p:nvPr/>
        </p:nvSpPr>
        <p:spPr>
          <a:xfrm>
            <a:off x="982976" y="2307419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1919" y="2590010"/>
            <a:ext cx="42514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just"/>
            <a:r>
              <a:rPr lang="en-US" dirty="0" err="1"/>
              <a:t>structure_name</a:t>
            </a:r>
            <a:r>
              <a:rPr lang="en-US" dirty="0"/>
              <a:t> is name of custom 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8917" y="3574728"/>
            <a:ext cx="52533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memberN_declaration</a:t>
            </a:r>
            <a:r>
              <a:rPr lang="en-US" dirty="0"/>
              <a:t> is individual member declaration </a:t>
            </a:r>
          </a:p>
        </p:txBody>
      </p:sp>
    </p:spTree>
    <p:extLst>
      <p:ext uri="{BB962C8B-B14F-4D97-AF65-F5344CB8AC3E}">
        <p14:creationId xmlns:p14="http://schemas.microsoft.com/office/powerpoint/2010/main" val="40447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to Define </a:t>
            </a:r>
            <a:r>
              <a:rPr lang="en-US" dirty="0">
                <a:cs typeface="Consolas" panose="020B0609020204030204" pitchFamily="49" charset="0"/>
              </a:rPr>
              <a:t>Structure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9CF278-0CFC-4F81-B2D4-28505379D37C}"/>
              </a:ext>
            </a:extLst>
          </p:cNvPr>
          <p:cNvSpPr/>
          <p:nvPr/>
        </p:nvSpPr>
        <p:spPr>
          <a:xfrm>
            <a:off x="270438" y="1191983"/>
            <a:ext cx="5122367" cy="2031325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569CD6"/>
                </a:solidFill>
                <a:latin typeface="+mj-lt"/>
                <a:cs typeface="Consolas" panose="020B0609020204030204" pitchFamily="49" charset="0"/>
              </a:rPr>
              <a:t>struct</a:t>
            </a:r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 student</a:t>
            </a:r>
          </a:p>
          <a:p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{</a:t>
            </a:r>
          </a:p>
          <a:p>
            <a:pPr lvl="1"/>
            <a:r>
              <a:rPr lang="en-IN" b="1" dirty="0">
                <a:solidFill>
                  <a:srgbClr val="569CD6"/>
                </a:solidFill>
                <a:latin typeface="+mj-lt"/>
                <a:cs typeface="Consolas" panose="020B0609020204030204" pitchFamily="49" charset="0"/>
              </a:rPr>
              <a:t>char</a:t>
            </a:r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 name[</a:t>
            </a:r>
            <a:r>
              <a:rPr lang="en-IN" b="1" dirty="0">
                <a:solidFill>
                  <a:srgbClr val="B5CEA8"/>
                </a:solidFill>
                <a:latin typeface="+mj-lt"/>
                <a:cs typeface="Consolas" panose="020B0609020204030204" pitchFamily="49" charset="0"/>
              </a:rPr>
              <a:t>30</a:t>
            </a:r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]; </a:t>
            </a:r>
            <a:r>
              <a:rPr lang="en-IN" b="1" dirty="0">
                <a:solidFill>
                  <a:srgbClr val="6A9955"/>
                </a:solidFill>
                <a:latin typeface="+mj-lt"/>
                <a:cs typeface="Consolas" panose="020B0609020204030204" pitchFamily="49" charset="0"/>
              </a:rPr>
              <a:t>// Student Name</a:t>
            </a:r>
            <a:endParaRPr lang="en-IN" b="1" dirty="0">
              <a:solidFill>
                <a:srgbClr val="D4D4D4"/>
              </a:solidFill>
              <a:latin typeface="+mj-lt"/>
              <a:cs typeface="Consolas" panose="020B0609020204030204" pitchFamily="49" charset="0"/>
            </a:endParaRPr>
          </a:p>
          <a:p>
            <a:pPr lvl="1"/>
            <a:r>
              <a:rPr lang="en-IN" b="1" dirty="0" err="1">
                <a:solidFill>
                  <a:srgbClr val="569CD6"/>
                </a:solidFill>
                <a:latin typeface="+mj-lt"/>
                <a:cs typeface="Consolas" panose="020B0609020204030204" pitchFamily="49" charset="0"/>
              </a:rPr>
              <a:t>int</a:t>
            </a:r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 </a:t>
            </a:r>
            <a:r>
              <a:rPr lang="en-IN" b="1" dirty="0" err="1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roll_no</a:t>
            </a:r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; </a:t>
            </a:r>
            <a:r>
              <a:rPr lang="en-IN" b="1" dirty="0">
                <a:solidFill>
                  <a:srgbClr val="6A9955"/>
                </a:solidFill>
                <a:latin typeface="+mj-lt"/>
                <a:cs typeface="Consolas" panose="020B0609020204030204" pitchFamily="49" charset="0"/>
              </a:rPr>
              <a:t>// Student Roll No</a:t>
            </a:r>
            <a:endParaRPr lang="en-IN" b="1" dirty="0">
              <a:solidFill>
                <a:srgbClr val="D4D4D4"/>
              </a:solidFill>
              <a:latin typeface="+mj-lt"/>
              <a:cs typeface="Consolas" panose="020B0609020204030204" pitchFamily="49" charset="0"/>
            </a:endParaRPr>
          </a:p>
          <a:p>
            <a:pPr lvl="1"/>
            <a:r>
              <a:rPr lang="en-IN" b="1" dirty="0">
                <a:solidFill>
                  <a:srgbClr val="569CD6"/>
                </a:solidFill>
                <a:latin typeface="+mj-lt"/>
                <a:cs typeface="Consolas" panose="020B0609020204030204" pitchFamily="49" charset="0"/>
              </a:rPr>
              <a:t>float</a:t>
            </a:r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 CPI; </a:t>
            </a:r>
            <a:r>
              <a:rPr lang="en-IN" b="1" dirty="0">
                <a:solidFill>
                  <a:srgbClr val="6A9955"/>
                </a:solidFill>
                <a:latin typeface="+mj-lt"/>
                <a:cs typeface="Consolas" panose="020B0609020204030204" pitchFamily="49" charset="0"/>
              </a:rPr>
              <a:t>// Student CPI</a:t>
            </a:r>
            <a:endParaRPr lang="en-IN" b="1" dirty="0">
              <a:solidFill>
                <a:srgbClr val="D4D4D4"/>
              </a:solidFill>
              <a:latin typeface="+mj-lt"/>
              <a:cs typeface="Consolas" panose="020B0609020204030204" pitchFamily="49" charset="0"/>
            </a:endParaRPr>
          </a:p>
          <a:p>
            <a:pPr lvl="1"/>
            <a:r>
              <a:rPr lang="en-IN" b="1" dirty="0" err="1">
                <a:solidFill>
                  <a:srgbClr val="569CD6"/>
                </a:solidFill>
                <a:latin typeface="+mj-lt"/>
                <a:cs typeface="Consolas" panose="020B0609020204030204" pitchFamily="49" charset="0"/>
              </a:rPr>
              <a:t>int</a:t>
            </a:r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 backlog; </a:t>
            </a:r>
            <a:r>
              <a:rPr lang="en-IN" b="1" dirty="0">
                <a:solidFill>
                  <a:srgbClr val="6A9955"/>
                </a:solidFill>
                <a:latin typeface="+mj-lt"/>
                <a:cs typeface="Consolas" panose="020B0609020204030204" pitchFamily="49" charset="0"/>
              </a:rPr>
              <a:t>// Student Backlog</a:t>
            </a:r>
            <a:endParaRPr lang="en-IN" b="1" dirty="0">
              <a:solidFill>
                <a:srgbClr val="D4D4D4"/>
              </a:solidFill>
              <a:latin typeface="+mj-lt"/>
              <a:cs typeface="Consolas" panose="020B0609020204030204" pitchFamily="49" charset="0"/>
            </a:endParaRPr>
          </a:p>
          <a:p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77A9BE-C55D-0F49-949A-F6A307BFB875}"/>
              </a:ext>
            </a:extLst>
          </p:cNvPr>
          <p:cNvSpPr/>
          <p:nvPr/>
        </p:nvSpPr>
        <p:spPr>
          <a:xfrm>
            <a:off x="270438" y="4912173"/>
            <a:ext cx="7303191" cy="1477328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569CD6"/>
                </a:solidFill>
                <a:latin typeface="+mj-lt"/>
                <a:cs typeface="Consolas" panose="020B0609020204030204" pitchFamily="49" charset="0"/>
              </a:rPr>
              <a:t>struct</a:t>
            </a:r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 student</a:t>
            </a:r>
          </a:p>
          <a:p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{</a:t>
            </a:r>
          </a:p>
          <a:p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    </a:t>
            </a:r>
            <a:r>
              <a:rPr lang="en-IN" b="1" dirty="0">
                <a:solidFill>
                  <a:srgbClr val="569CD6"/>
                </a:solidFill>
                <a:latin typeface="+mj-lt"/>
                <a:cs typeface="Consolas" panose="020B0609020204030204" pitchFamily="49" charset="0"/>
              </a:rPr>
              <a:t>char</a:t>
            </a:r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 name[</a:t>
            </a:r>
            <a:r>
              <a:rPr lang="en-IN" b="1" dirty="0">
                <a:solidFill>
                  <a:srgbClr val="B5CEA8"/>
                </a:solidFill>
                <a:latin typeface="+mj-lt"/>
                <a:cs typeface="Consolas" panose="020B0609020204030204" pitchFamily="49" charset="0"/>
              </a:rPr>
              <a:t>30</a:t>
            </a:r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] = “ABC”; 		</a:t>
            </a:r>
            <a:r>
              <a:rPr lang="en-IN" b="1" dirty="0">
                <a:solidFill>
                  <a:srgbClr val="6A9955"/>
                </a:solidFill>
                <a:latin typeface="+mj-lt"/>
                <a:cs typeface="Consolas" panose="020B0609020204030204" pitchFamily="49" charset="0"/>
              </a:rPr>
              <a:t>// Student Name</a:t>
            </a:r>
            <a:endParaRPr lang="en-IN" b="1" dirty="0">
              <a:solidFill>
                <a:srgbClr val="D4D4D4"/>
              </a:solidFill>
              <a:latin typeface="+mj-lt"/>
              <a:cs typeface="Consolas" panose="020B0609020204030204" pitchFamily="49" charset="0"/>
            </a:endParaRPr>
          </a:p>
          <a:p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    . . . </a:t>
            </a:r>
          </a:p>
          <a:p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A9F616F7-6323-554F-A802-B95B5D6E49D9}"/>
              </a:ext>
            </a:extLst>
          </p:cNvPr>
          <p:cNvSpPr/>
          <p:nvPr/>
        </p:nvSpPr>
        <p:spPr>
          <a:xfrm>
            <a:off x="262359" y="875795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9A825"/>
                </a:solidFill>
              </a:rPr>
              <a:t>Example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B8CAC7E8-CAD5-CB4D-80A3-981CAF7F523D}"/>
              </a:ext>
            </a:extLst>
          </p:cNvPr>
          <p:cNvSpPr/>
          <p:nvPr/>
        </p:nvSpPr>
        <p:spPr>
          <a:xfrm>
            <a:off x="272726" y="4582988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9A825"/>
                </a:solidFill>
              </a:rPr>
              <a:t>Example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4875244-7210-41B5-8475-0FEF8621F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28" y="3338023"/>
            <a:ext cx="11667281" cy="1244965"/>
          </a:xfrm>
        </p:spPr>
        <p:txBody>
          <a:bodyPr/>
          <a:lstStyle/>
          <a:p>
            <a:pPr algn="just"/>
            <a:r>
              <a:rPr lang="en-US" dirty="0"/>
              <a:t>You must terminate structure definition with </a:t>
            </a:r>
            <a:r>
              <a:rPr lang="en-US" dirty="0">
                <a:solidFill>
                  <a:srgbClr val="C00000"/>
                </a:solidFill>
              </a:rPr>
              <a:t>semicolon ;</a:t>
            </a:r>
            <a:r>
              <a:rPr lang="en-US" dirty="0"/>
              <a:t>.</a:t>
            </a:r>
          </a:p>
          <a:p>
            <a:pPr marL="255588" indent="-241300" algn="just"/>
            <a:r>
              <a:rPr lang="en-US" dirty="0"/>
              <a:t>You </a:t>
            </a:r>
            <a:r>
              <a:rPr lang="en-US" dirty="0">
                <a:solidFill>
                  <a:srgbClr val="C00000"/>
                </a:solidFill>
              </a:rPr>
              <a:t>cannot assign value </a:t>
            </a:r>
            <a:r>
              <a:rPr lang="en-US" dirty="0"/>
              <a:t>to members inside the </a:t>
            </a:r>
            <a:r>
              <a:rPr lang="en-US" dirty="0">
                <a:cs typeface="Consolas" panose="020B0609020204030204" pitchFamily="49" charset="0"/>
              </a:rPr>
              <a:t>structure</a:t>
            </a:r>
            <a:r>
              <a:rPr lang="en-US" dirty="0"/>
              <a:t> definition, it will cause  </a:t>
            </a:r>
            <a:r>
              <a:rPr lang="en-US" dirty="0">
                <a:solidFill>
                  <a:srgbClr val="C00000"/>
                </a:solidFill>
              </a:rPr>
              <a:t>compilation error</a:t>
            </a:r>
            <a:r>
              <a:rPr lang="en-US" dirty="0"/>
              <a:t>. 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583E984-95FD-A247-AFA1-06CD196A2AB4}"/>
              </a:ext>
            </a:extLst>
          </p:cNvPr>
          <p:cNvSpPr/>
          <p:nvPr/>
        </p:nvSpPr>
        <p:spPr>
          <a:xfrm>
            <a:off x="493126" y="5442942"/>
            <a:ext cx="2895073" cy="385011"/>
          </a:xfrm>
          <a:prstGeom prst="roundRect">
            <a:avLst/>
          </a:prstGeom>
          <a:noFill/>
          <a:ln w="12700" cap="flat" cmpd="sng" algn="ctr">
            <a:solidFill>
              <a:srgbClr val="F9267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545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</a:t>
            </a:r>
            <a:r>
              <a:rPr lang="en-US" dirty="0">
                <a:cs typeface="Consolas" panose="020B0609020204030204" pitchFamily="49" charset="0"/>
              </a:rPr>
              <a:t>Structure</a:t>
            </a:r>
            <a:r>
              <a:rPr lang="en-US" dirty="0"/>
              <a:t>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data type defines various properties about data stored in memory. </a:t>
            </a:r>
          </a:p>
          <a:p>
            <a:r>
              <a:rPr lang="en-US" dirty="0"/>
              <a:t>To use any type we must declare its variable. </a:t>
            </a:r>
          </a:p>
          <a:p>
            <a:r>
              <a:rPr lang="en-US" dirty="0"/>
              <a:t>Hence, let us learn how to create our custom structure type objects also known as </a:t>
            </a:r>
            <a:r>
              <a:rPr lang="en-US" dirty="0">
                <a:solidFill>
                  <a:srgbClr val="C00000"/>
                </a:solidFill>
                <a:cs typeface="Consolas" panose="020B0609020204030204" pitchFamily="49" charset="0"/>
              </a:rPr>
              <a:t>structure</a:t>
            </a:r>
            <a:r>
              <a:rPr lang="en-US" dirty="0">
                <a:solidFill>
                  <a:srgbClr val="C00000"/>
                </a:solidFill>
              </a:rPr>
              <a:t> variable</a:t>
            </a:r>
            <a:r>
              <a:rPr lang="en-US" dirty="0"/>
              <a:t>.</a:t>
            </a:r>
          </a:p>
          <a:p>
            <a:r>
              <a:rPr lang="en-US" dirty="0"/>
              <a:t>In C programming, there are two ways to declare a </a:t>
            </a:r>
            <a:r>
              <a:rPr lang="en-US" dirty="0">
                <a:cs typeface="Consolas" panose="020B0609020204030204" pitchFamily="49" charset="0"/>
              </a:rPr>
              <a:t>structure</a:t>
            </a:r>
            <a:r>
              <a:rPr lang="en-US" dirty="0"/>
              <a:t> variable: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Along with </a:t>
            </a:r>
            <a:r>
              <a:rPr lang="en-US" dirty="0">
                <a:cs typeface="Consolas" panose="020B0609020204030204" pitchFamily="49" charset="0"/>
              </a:rPr>
              <a:t>structure</a:t>
            </a:r>
            <a:r>
              <a:rPr lang="en-US" dirty="0"/>
              <a:t> definition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After </a:t>
            </a:r>
            <a:r>
              <a:rPr lang="en-US" dirty="0">
                <a:cs typeface="Consolas" panose="020B0609020204030204" pitchFamily="49" charset="0"/>
              </a:rPr>
              <a:t>structure</a:t>
            </a:r>
            <a:r>
              <a:rPr lang="en-US" dirty="0"/>
              <a:t> definition.</a:t>
            </a:r>
          </a:p>
        </p:txBody>
      </p:sp>
    </p:spTree>
    <p:extLst>
      <p:ext uri="{BB962C8B-B14F-4D97-AF65-F5344CB8AC3E}">
        <p14:creationId xmlns:p14="http://schemas.microsoft.com/office/powerpoint/2010/main" val="1488013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</a:t>
            </a:r>
            <a:r>
              <a:rPr lang="en-US" dirty="0">
                <a:cs typeface="Consolas" panose="020B0609020204030204" pitchFamily="49" charset="0"/>
              </a:rPr>
              <a:t>Structure</a:t>
            </a:r>
            <a:r>
              <a:rPr lang="en-US" dirty="0"/>
              <a:t> Variable –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Declaration along with the </a:t>
            </a:r>
            <a:r>
              <a:rPr lang="en-US" dirty="0">
                <a:solidFill>
                  <a:srgbClr val="C00000"/>
                </a:solidFill>
                <a:cs typeface="Consolas" panose="020B0609020204030204" pitchFamily="49" charset="0"/>
              </a:rPr>
              <a:t>structure</a:t>
            </a:r>
            <a:r>
              <a:rPr lang="en-US" dirty="0">
                <a:solidFill>
                  <a:srgbClr val="C00000"/>
                </a:solidFill>
              </a:rPr>
              <a:t> definition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2EA8F2-0E14-6845-BEB4-07DB586C2C5A}"/>
              </a:ext>
            </a:extLst>
          </p:cNvPr>
          <p:cNvSpPr/>
          <p:nvPr/>
        </p:nvSpPr>
        <p:spPr>
          <a:xfrm>
            <a:off x="260073" y="1849071"/>
            <a:ext cx="4777100" cy="2031325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569CD6"/>
                </a:solidFill>
                <a:latin typeface="+mj-lt"/>
                <a:cs typeface="Consolas" panose="020B0609020204030204" pitchFamily="49" charset="0"/>
              </a:rPr>
              <a:t>struct</a:t>
            </a:r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 </a:t>
            </a:r>
            <a:r>
              <a:rPr lang="en-IN" b="1" dirty="0" err="1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structure_name</a:t>
            </a:r>
            <a:endParaRPr lang="en-IN" b="1" dirty="0">
              <a:solidFill>
                <a:srgbClr val="D4D4D4"/>
              </a:solidFill>
              <a:latin typeface="+mj-lt"/>
              <a:cs typeface="Consolas" panose="020B0609020204030204" pitchFamily="49" charset="0"/>
            </a:endParaRPr>
          </a:p>
          <a:p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{</a:t>
            </a:r>
          </a:p>
          <a:p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    member1_declaration;</a:t>
            </a:r>
          </a:p>
          <a:p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    member2_declaration;</a:t>
            </a:r>
          </a:p>
          <a:p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	. . .</a:t>
            </a:r>
          </a:p>
          <a:p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    </a:t>
            </a:r>
            <a:r>
              <a:rPr lang="en-IN" b="1" dirty="0" err="1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memberN_declaration</a:t>
            </a:r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;</a:t>
            </a:r>
          </a:p>
          <a:p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} </a:t>
            </a:r>
            <a:r>
              <a:rPr lang="en-IN" b="1" dirty="0" err="1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structure_variable</a:t>
            </a:r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42BC52A6-A575-2D4F-89C9-A2D0E29C60CD}"/>
              </a:ext>
            </a:extLst>
          </p:cNvPr>
          <p:cNvSpPr/>
          <p:nvPr/>
        </p:nvSpPr>
        <p:spPr>
          <a:xfrm>
            <a:off x="262360" y="1528696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Syntax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34A53D-6A85-2148-ABFC-08AB66623148}"/>
              </a:ext>
            </a:extLst>
          </p:cNvPr>
          <p:cNvSpPr/>
          <p:nvPr/>
        </p:nvSpPr>
        <p:spPr>
          <a:xfrm>
            <a:off x="6554541" y="1849070"/>
            <a:ext cx="4860008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struct student</a:t>
            </a: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1"/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char name[30]; </a:t>
            </a:r>
            <a:r>
              <a:rPr lang="en-IN" b="1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Student Name</a:t>
            </a:r>
          </a:p>
          <a:p>
            <a:pPr lvl="1"/>
            <a:r>
              <a:rPr lang="en-IN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b="1" dirty="0" err="1">
                <a:latin typeface="Consolas" panose="020B0609020204030204" pitchFamily="49" charset="0"/>
                <a:cs typeface="Consolas" panose="020B0609020204030204" pitchFamily="49" charset="0"/>
              </a:rPr>
              <a:t>roll_no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IN" b="1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Student Roll No</a:t>
            </a:r>
          </a:p>
          <a:p>
            <a:pPr lvl="1"/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float CPI; </a:t>
            </a:r>
            <a:r>
              <a:rPr lang="en-IN" b="1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Student CPI</a:t>
            </a:r>
          </a:p>
          <a:p>
            <a:pPr lvl="1"/>
            <a:r>
              <a:rPr lang="en-IN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 backlog; </a:t>
            </a:r>
            <a:r>
              <a:rPr lang="en-IN" b="1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Student Backlog</a:t>
            </a: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} student1;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720015-A8A4-6E4B-8F59-2A7961A43AB4}"/>
              </a:ext>
            </a:extLst>
          </p:cNvPr>
          <p:cNvSpPr/>
          <p:nvPr/>
        </p:nvSpPr>
        <p:spPr>
          <a:xfrm>
            <a:off x="6054547" y="1849069"/>
            <a:ext cx="499994" cy="20313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2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3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4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5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6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7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BF94B59E-2294-F74E-9871-49E41FE25E6A}"/>
              </a:ext>
            </a:extLst>
          </p:cNvPr>
          <p:cNvSpPr/>
          <p:nvPr/>
        </p:nvSpPr>
        <p:spPr>
          <a:xfrm>
            <a:off x="6054546" y="1519884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FC000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11683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</a:t>
            </a:r>
            <a:r>
              <a:rPr lang="en-US" dirty="0">
                <a:cs typeface="Consolas" panose="020B0609020204030204" pitchFamily="49" charset="0"/>
              </a:rPr>
              <a:t>Structure</a:t>
            </a:r>
            <a:r>
              <a:rPr lang="en-US" dirty="0"/>
              <a:t> Variable –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Declaration after Structure definition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02B7F8-2C6C-8145-9706-BC46EC698EFF}"/>
              </a:ext>
            </a:extLst>
          </p:cNvPr>
          <p:cNvSpPr/>
          <p:nvPr/>
        </p:nvSpPr>
        <p:spPr>
          <a:xfrm>
            <a:off x="260078" y="1958315"/>
            <a:ext cx="5506099" cy="338554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569CD6"/>
                </a:solidFill>
                <a:latin typeface="+mj-lt"/>
              </a:rPr>
              <a:t>struct</a:t>
            </a:r>
            <a:r>
              <a:rPr lang="en-IN" sz="1600" b="1" dirty="0">
                <a:solidFill>
                  <a:srgbClr val="D4D4D4"/>
                </a:solidFill>
                <a:latin typeface="+mj-lt"/>
              </a:rPr>
              <a:t> </a:t>
            </a:r>
            <a:r>
              <a:rPr lang="en-IN" sz="1600" b="1" dirty="0" err="1">
                <a:solidFill>
                  <a:srgbClr val="D4D4D4"/>
                </a:solidFill>
                <a:latin typeface="+mj-lt"/>
              </a:rPr>
              <a:t>structure_name</a:t>
            </a:r>
            <a:r>
              <a:rPr lang="en-IN" sz="1600" b="1" dirty="0">
                <a:solidFill>
                  <a:srgbClr val="D4D4D4"/>
                </a:solidFill>
                <a:latin typeface="+mj-lt"/>
              </a:rPr>
              <a:t> </a:t>
            </a:r>
            <a:r>
              <a:rPr lang="en-IN" sz="1600" b="1" dirty="0" err="1">
                <a:solidFill>
                  <a:srgbClr val="D4D4D4"/>
                </a:solidFill>
                <a:latin typeface="+mj-lt"/>
              </a:rPr>
              <a:t>structure_variable</a:t>
            </a:r>
            <a:r>
              <a:rPr lang="en-IN" sz="1600" b="1" dirty="0">
                <a:solidFill>
                  <a:srgbClr val="D4D4D4"/>
                </a:solidFill>
                <a:latin typeface="+mj-lt"/>
              </a:rPr>
              <a:t>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80D03F-BE32-5F4C-AAD1-ACDA50C9FA09}"/>
              </a:ext>
            </a:extLst>
          </p:cNvPr>
          <p:cNvSpPr/>
          <p:nvPr/>
        </p:nvSpPr>
        <p:spPr>
          <a:xfrm>
            <a:off x="762354" y="2981571"/>
            <a:ext cx="8142160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struct student</a:t>
            </a: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1"/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char name[30]; </a:t>
            </a:r>
            <a:r>
              <a:rPr lang="en-IN" b="1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Student Name</a:t>
            </a:r>
          </a:p>
          <a:p>
            <a:pPr lvl="1"/>
            <a:r>
              <a:rPr lang="en-IN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b="1" dirty="0" err="1">
                <a:latin typeface="Consolas" panose="020B0609020204030204" pitchFamily="49" charset="0"/>
                <a:cs typeface="Consolas" panose="020B0609020204030204" pitchFamily="49" charset="0"/>
              </a:rPr>
              <a:t>roll_no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IN" b="1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// Student Roll No</a:t>
            </a:r>
          </a:p>
          <a:p>
            <a:pPr lvl="1"/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float CPI; </a:t>
            </a:r>
            <a:r>
              <a:rPr lang="en-IN" b="1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Student CPI</a:t>
            </a:r>
          </a:p>
          <a:p>
            <a:pPr lvl="1"/>
            <a:r>
              <a:rPr lang="en-IN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 backlog; </a:t>
            </a:r>
            <a:r>
              <a:rPr lang="en-IN" b="1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Student Backlog</a:t>
            </a: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struct student student1; </a:t>
            </a:r>
            <a:r>
              <a:rPr lang="en-IN" b="1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Declare structure variable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6EEBAD-3E5E-CF40-8099-39C7D51C327D}"/>
              </a:ext>
            </a:extLst>
          </p:cNvPr>
          <p:cNvSpPr/>
          <p:nvPr/>
        </p:nvSpPr>
        <p:spPr>
          <a:xfrm>
            <a:off x="262361" y="2981570"/>
            <a:ext cx="499994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2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3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4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5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6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7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8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B8C6038E-FA26-DF43-92FE-4B8E7EC79FF1}"/>
              </a:ext>
            </a:extLst>
          </p:cNvPr>
          <p:cNvSpPr/>
          <p:nvPr/>
        </p:nvSpPr>
        <p:spPr>
          <a:xfrm>
            <a:off x="262361" y="2652386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9A825"/>
                </a:solidFill>
              </a:rPr>
              <a:t>Example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A9A8AAB9-384D-8E4B-9917-8BAE942062FC}"/>
              </a:ext>
            </a:extLst>
          </p:cNvPr>
          <p:cNvSpPr/>
          <p:nvPr/>
        </p:nvSpPr>
        <p:spPr>
          <a:xfrm>
            <a:off x="262360" y="1629129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9A825"/>
                </a:solidFill>
              </a:rPr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236504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</a:t>
            </a:r>
            <a:r>
              <a:rPr lang="en-US" dirty="0">
                <a:cs typeface="Consolas" panose="020B0609020204030204" pitchFamily="49" charset="0"/>
              </a:rPr>
              <a:t>Structure</a:t>
            </a:r>
            <a:r>
              <a:rPr lang="en-US" dirty="0"/>
              <a:t> member (data) – Cont.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60C308-F014-B242-9737-3ED48B0E0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360" y="1098788"/>
            <a:ext cx="11667281" cy="5220000"/>
          </a:xfrm>
        </p:spPr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Dot/period operator (.)</a:t>
            </a:r>
          </a:p>
          <a:p>
            <a:pPr lvl="1" algn="just"/>
            <a:r>
              <a:rPr lang="en-US" dirty="0"/>
              <a:t>It is known as member access operator. We use </a:t>
            </a:r>
            <a:r>
              <a:rPr lang="en-US" dirty="0">
                <a:solidFill>
                  <a:srgbClr val="C00000"/>
                </a:solidFill>
              </a:rPr>
              <a:t>dot operator </a:t>
            </a:r>
            <a:r>
              <a:rPr lang="en-US" dirty="0"/>
              <a:t>to access members of simple </a:t>
            </a:r>
            <a:r>
              <a:rPr lang="en-US" dirty="0">
                <a:cs typeface="Consolas" panose="020B0609020204030204" pitchFamily="49" charset="0"/>
              </a:rPr>
              <a:t>structure</a:t>
            </a:r>
            <a:r>
              <a:rPr lang="en-US" dirty="0"/>
              <a:t> variable.</a:t>
            </a:r>
          </a:p>
          <a:p>
            <a:pPr marL="457200" lvl="1" indent="0" algn="just">
              <a:buNone/>
            </a:pPr>
            <a:endParaRPr lang="en-US" dirty="0"/>
          </a:p>
          <a:p>
            <a:pPr marL="457200" lvl="1" indent="0" algn="just">
              <a:buNone/>
            </a:pPr>
            <a:endParaRPr lang="en-US" dirty="0"/>
          </a:p>
          <a:p>
            <a:pPr algn="just"/>
            <a:endParaRPr lang="en-US" dirty="0"/>
          </a:p>
          <a:p>
            <a:pPr marL="457200" indent="-457200" algn="just">
              <a:buFont typeface="+mj-lt"/>
              <a:buAutoNum type="arabicPeriod" startAt="2"/>
            </a:pPr>
            <a:r>
              <a:rPr lang="en-US" dirty="0">
                <a:solidFill>
                  <a:srgbClr val="C00000"/>
                </a:solidFill>
              </a:rPr>
              <a:t>Arrow operator (-&gt;)</a:t>
            </a:r>
          </a:p>
          <a:p>
            <a:pPr lvl="1" algn="just"/>
            <a:r>
              <a:rPr lang="en-US" dirty="0"/>
              <a:t>In C language it is illegal to access a </a:t>
            </a:r>
            <a:r>
              <a:rPr lang="en-US" dirty="0">
                <a:cs typeface="Consolas" panose="020B0609020204030204" pitchFamily="49" charset="0"/>
              </a:rPr>
              <a:t>structure</a:t>
            </a:r>
            <a:r>
              <a:rPr lang="en-US" dirty="0"/>
              <a:t> member from a pointer to </a:t>
            </a:r>
            <a:r>
              <a:rPr lang="en-US" dirty="0">
                <a:cs typeface="Consolas" panose="020B0609020204030204" pitchFamily="49" charset="0"/>
              </a:rPr>
              <a:t>structure</a:t>
            </a:r>
            <a:r>
              <a:rPr lang="en-US" dirty="0"/>
              <a:t> variable using dot operator. </a:t>
            </a:r>
          </a:p>
          <a:p>
            <a:pPr lvl="1" algn="just"/>
            <a:r>
              <a:rPr lang="en-US" dirty="0"/>
              <a:t>We use </a:t>
            </a:r>
            <a:r>
              <a:rPr lang="en-US" dirty="0">
                <a:solidFill>
                  <a:srgbClr val="C00000"/>
                </a:solidFill>
              </a:rPr>
              <a:t>arrow operator</a:t>
            </a:r>
            <a:r>
              <a:rPr lang="en-US" dirty="0"/>
              <a:t> to access </a:t>
            </a:r>
            <a:r>
              <a:rPr lang="en-US" dirty="0">
                <a:cs typeface="Consolas" panose="020B0609020204030204" pitchFamily="49" charset="0"/>
              </a:rPr>
              <a:t>structure</a:t>
            </a:r>
            <a:r>
              <a:rPr lang="en-US" dirty="0"/>
              <a:t> member from pointer to </a:t>
            </a:r>
            <a:r>
              <a:rPr lang="en-US" dirty="0">
                <a:cs typeface="Consolas" panose="020B0609020204030204" pitchFamily="49" charset="0"/>
              </a:rPr>
              <a:t>structure</a:t>
            </a:r>
            <a:r>
              <a:rPr lang="en-US" dirty="0"/>
              <a:t>.</a:t>
            </a:r>
          </a:p>
          <a:p>
            <a:pPr marL="457200" lvl="1" indent="0" algn="just">
              <a:buNone/>
            </a:pPr>
            <a:endParaRPr lang="en-US" dirty="0"/>
          </a:p>
          <a:p>
            <a:pPr algn="just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EC12B5-0668-1A4E-8520-248D1668DEC7}"/>
              </a:ext>
            </a:extLst>
          </p:cNvPr>
          <p:cNvSpPr/>
          <p:nvPr/>
        </p:nvSpPr>
        <p:spPr>
          <a:xfrm>
            <a:off x="446773" y="2713197"/>
            <a:ext cx="4777100" cy="369332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 err="1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structure_variable.member_name</a:t>
            </a:r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0F58B8-3229-9444-A5C3-00903B54ECB2}"/>
              </a:ext>
            </a:extLst>
          </p:cNvPr>
          <p:cNvSpPr/>
          <p:nvPr/>
        </p:nvSpPr>
        <p:spPr>
          <a:xfrm>
            <a:off x="7155627" y="2713197"/>
            <a:ext cx="47771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6A99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Assign CPI of student1</a:t>
            </a:r>
            <a:endParaRPr lang="en-IN" b="1" dirty="0">
              <a:solidFill>
                <a:srgbClr val="D4D4D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student1.CPI = 7.46;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BA0221-EEB9-C14B-AB1A-E2F04647E2E3}"/>
              </a:ext>
            </a:extLst>
          </p:cNvPr>
          <p:cNvSpPr/>
          <p:nvPr/>
        </p:nvSpPr>
        <p:spPr>
          <a:xfrm>
            <a:off x="6655633" y="2713196"/>
            <a:ext cx="499994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62AA61-D496-9142-A6B0-707C09C1AB95}"/>
              </a:ext>
            </a:extLst>
          </p:cNvPr>
          <p:cNvSpPr/>
          <p:nvPr/>
        </p:nvSpPr>
        <p:spPr>
          <a:xfrm>
            <a:off x="446773" y="5229807"/>
            <a:ext cx="5277094" cy="369332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 err="1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pointer_to_structure</a:t>
            </a:r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-&gt;</a:t>
            </a:r>
            <a:r>
              <a:rPr lang="en-IN" b="1" dirty="0" err="1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member_name</a:t>
            </a:r>
            <a:r>
              <a:rPr lang="en-IN" b="1" dirty="0">
                <a:solidFill>
                  <a:srgbClr val="D4D4D4"/>
                </a:solidFill>
                <a:latin typeface="+mj-lt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6CC263-7A48-9B4E-808F-B915E28CB97E}"/>
              </a:ext>
            </a:extLst>
          </p:cNvPr>
          <p:cNvSpPr/>
          <p:nvPr/>
        </p:nvSpPr>
        <p:spPr>
          <a:xfrm>
            <a:off x="7220894" y="5229805"/>
            <a:ext cx="4708747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6A99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Student1 is a pointer to student </a:t>
            </a:r>
            <a:endParaRPr lang="en-IN" b="1" dirty="0">
              <a:solidFill>
                <a:srgbClr val="D4D4D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b="1" dirty="0">
                <a:latin typeface="Consolas" panose="020B0609020204030204" pitchFamily="49" charset="0"/>
                <a:cs typeface="Consolas" panose="020B0609020204030204" pitchFamily="49" charset="0"/>
              </a:rPr>
              <a:t>student1 -&gt; CPI = 7.46;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DA1C24-6AB2-3649-B354-98A2DB221A70}"/>
              </a:ext>
            </a:extLst>
          </p:cNvPr>
          <p:cNvSpPr/>
          <p:nvPr/>
        </p:nvSpPr>
        <p:spPr>
          <a:xfrm>
            <a:off x="6720901" y="5229804"/>
            <a:ext cx="499994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2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B65429C1-87CD-A341-A0E1-05531B0D7319}"/>
              </a:ext>
            </a:extLst>
          </p:cNvPr>
          <p:cNvSpPr/>
          <p:nvPr/>
        </p:nvSpPr>
        <p:spPr>
          <a:xfrm>
            <a:off x="449059" y="2384012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9A825"/>
                </a:solidFill>
              </a:rPr>
              <a:t>Syntax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5D5434D9-0F5F-FD44-9B0A-567261BDABD9}"/>
              </a:ext>
            </a:extLst>
          </p:cNvPr>
          <p:cNvSpPr/>
          <p:nvPr/>
        </p:nvSpPr>
        <p:spPr>
          <a:xfrm>
            <a:off x="449059" y="4900621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9A825"/>
                </a:solidFill>
              </a:rPr>
              <a:t>Syntax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E757D912-7034-7046-9FF2-63DB037AD888}"/>
              </a:ext>
            </a:extLst>
          </p:cNvPr>
          <p:cNvSpPr/>
          <p:nvPr/>
        </p:nvSpPr>
        <p:spPr>
          <a:xfrm>
            <a:off x="6655633" y="2391306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9A825"/>
                </a:solidFill>
              </a:rPr>
              <a:t>Example</a:t>
            </a: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A62E34EC-44BE-0241-A342-C973A590B900}"/>
              </a:ext>
            </a:extLst>
          </p:cNvPr>
          <p:cNvSpPr/>
          <p:nvPr/>
        </p:nvSpPr>
        <p:spPr>
          <a:xfrm>
            <a:off x="6720901" y="4900619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9A825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858987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Write a program to read and display student information using structure.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398A39-DA79-443A-B149-0FEF04D5E58D}"/>
              </a:ext>
            </a:extLst>
          </p:cNvPr>
          <p:cNvSpPr/>
          <p:nvPr/>
        </p:nvSpPr>
        <p:spPr>
          <a:xfrm>
            <a:off x="697022" y="1040385"/>
            <a:ext cx="6053343" cy="54784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C586C0"/>
                </a:solidFill>
                <a:latin typeface="Consolas" panose="020B0609020204030204" pitchFamily="49" charset="0"/>
              </a:rPr>
              <a:t>#include</a:t>
            </a:r>
            <a:r>
              <a:rPr lang="en-IN" sz="1400" dirty="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&lt;</a:t>
            </a:r>
            <a:r>
              <a:rPr lang="en-IN" sz="1400" dirty="0" err="1">
                <a:solidFill>
                  <a:srgbClr val="CE9178"/>
                </a:solidFill>
                <a:latin typeface="Consolas" panose="020B0609020204030204" pitchFamily="49" charset="0"/>
              </a:rPr>
              <a:t>stdio.h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&gt;</a:t>
            </a:r>
            <a:endParaRPr lang="en-IN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4EC9B0"/>
                </a:solidFill>
                <a:latin typeface="Consolas" panose="020B0609020204030204" pitchFamily="49" charset="0"/>
              </a:rPr>
              <a:t>student</a:t>
            </a:r>
            <a:endParaRPr lang="en-IN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  <a:r>
              <a:rPr lang="en-IN" sz="1400" dirty="0">
                <a:solidFill>
                  <a:srgbClr val="569CD6"/>
                </a:solidFill>
                <a:latin typeface="Consolas" panose="020B0609020204030204" pitchFamily="49" charset="0"/>
              </a:rPr>
              <a:t>char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1400" dirty="0">
                <a:solidFill>
                  <a:srgbClr val="B5CEA8"/>
                </a:solidFill>
                <a:latin typeface="Consolas" panose="020B0609020204030204" pitchFamily="49" charset="0"/>
              </a:rPr>
              <a:t>40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];</a:t>
            </a:r>
            <a:r>
              <a:rPr lang="en-IN" sz="1400" dirty="0">
                <a:solidFill>
                  <a:srgbClr val="6A9955"/>
                </a:solidFill>
                <a:latin typeface="Consolas" panose="020B0609020204030204" pitchFamily="49" charset="0"/>
              </a:rPr>
              <a:t> // Student name</a:t>
            </a:r>
            <a:endParaRPr lang="en-IN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roll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  <a:r>
              <a:rPr lang="en-IN" sz="1400" dirty="0">
                <a:solidFill>
                  <a:srgbClr val="6A9955"/>
                </a:solidFill>
                <a:latin typeface="Consolas" panose="020B0609020204030204" pitchFamily="49" charset="0"/>
              </a:rPr>
              <a:t> // Student </a:t>
            </a:r>
            <a:r>
              <a:rPr lang="en-IN" sz="1400" dirty="0" err="1">
                <a:solidFill>
                  <a:srgbClr val="6A9955"/>
                </a:solidFill>
                <a:latin typeface="Consolas" panose="020B0609020204030204" pitchFamily="49" charset="0"/>
              </a:rPr>
              <a:t>enrollment</a:t>
            </a:r>
            <a:endParaRPr lang="en-IN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569CD6"/>
                </a:solidFill>
                <a:latin typeface="Consolas" panose="020B0609020204030204" pitchFamily="49" charset="0"/>
              </a:rPr>
              <a:t>float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CPI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  <a:r>
              <a:rPr lang="en-IN" sz="1400" dirty="0">
                <a:solidFill>
                  <a:srgbClr val="6A9955"/>
                </a:solidFill>
                <a:latin typeface="Consolas" panose="020B0609020204030204" pitchFamily="49" charset="0"/>
              </a:rPr>
              <a:t> // Student mobile number</a:t>
            </a:r>
            <a:endParaRPr lang="en-IN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backlog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IN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(){</a:t>
            </a:r>
          </a:p>
          <a:p>
            <a:r>
              <a:rPr lang="en-IN" sz="1400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4EC9B0"/>
                </a:solidFill>
                <a:latin typeface="Consolas" panose="020B0609020204030204" pitchFamily="49" charset="0"/>
              </a:rPr>
              <a:t>student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student1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  <a:r>
              <a:rPr lang="en-IN" sz="1400" dirty="0">
                <a:solidFill>
                  <a:srgbClr val="6A9955"/>
                </a:solidFill>
                <a:latin typeface="Consolas" panose="020B0609020204030204" pitchFamily="49" charset="0"/>
              </a:rPr>
              <a:t> // Simple structure variable</a:t>
            </a:r>
            <a:endParaRPr lang="en-IN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6A9955"/>
                </a:solidFill>
                <a:latin typeface="Consolas" panose="020B0609020204030204" pitchFamily="49" charset="0"/>
              </a:rPr>
              <a:t>// Input data in structure members using dot operator</a:t>
            </a:r>
            <a:endParaRPr lang="en-IN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"Enter Student Name:"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scanf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%s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student1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"Enter Student Roll Number:"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scanf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&amp;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student1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roll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"Enter Student CPI:"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scanf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%f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&amp;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student1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CPI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"Enter Student Backlog:"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scanf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D4D4D4"/>
                </a:solidFill>
                <a:latin typeface="Consolas" panose="020B0609020204030204" pitchFamily="49" charset="0"/>
              </a:rPr>
              <a:t>&amp;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student1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backlog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400" dirty="0">
                <a:solidFill>
                  <a:srgbClr val="6A9955"/>
                </a:solidFill>
                <a:latin typeface="Consolas" panose="020B0609020204030204" pitchFamily="49" charset="0"/>
              </a:rPr>
              <a:t>// Display data in structure members using dot operator</a:t>
            </a:r>
            <a:endParaRPr lang="en-IN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D7BA7D"/>
                </a:solidFill>
                <a:latin typeface="Consolas" panose="020B0609020204030204" pitchFamily="49" charset="0"/>
              </a:rPr>
              <a:t>\</a:t>
            </a:r>
            <a:r>
              <a:rPr lang="en-IN" sz="1400" dirty="0" err="1">
                <a:solidFill>
                  <a:srgbClr val="D7BA7D"/>
                </a:solidFill>
                <a:latin typeface="Consolas" panose="020B0609020204030204" pitchFamily="49" charset="0"/>
              </a:rPr>
              <a:t>n</a:t>
            </a:r>
            <a:r>
              <a:rPr lang="en-IN" sz="1400" dirty="0" err="1">
                <a:solidFill>
                  <a:srgbClr val="CE9178"/>
                </a:solidFill>
                <a:latin typeface="Consolas" panose="020B0609020204030204" pitchFamily="49" charset="0"/>
              </a:rPr>
              <a:t>Student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 using simple structure variable.</a:t>
            </a:r>
            <a:r>
              <a:rPr lang="en-IN" sz="1400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"Student name: 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%s</a:t>
            </a:r>
            <a:r>
              <a:rPr lang="en-IN" sz="1400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student1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"Student </a:t>
            </a:r>
            <a:r>
              <a:rPr lang="en-IN" sz="1400" dirty="0" err="1">
                <a:solidFill>
                  <a:srgbClr val="CE9178"/>
                </a:solidFill>
                <a:latin typeface="Consolas" panose="020B0609020204030204" pitchFamily="49" charset="0"/>
              </a:rPr>
              <a:t>Enrollment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IN" sz="1400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student1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roll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"Student CPI: 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%f</a:t>
            </a:r>
            <a:r>
              <a:rPr lang="en-IN" sz="1400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student1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CPI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"Student Backlog: 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%</a:t>
            </a:r>
            <a:r>
              <a:rPr lang="en-IN" sz="1400" dirty="0" err="1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IN" sz="1400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en-IN" sz="1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student1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>
                <a:solidFill>
                  <a:srgbClr val="9CDCFE"/>
                </a:solidFill>
                <a:latin typeface="Consolas" panose="020B0609020204030204" pitchFamily="49" charset="0"/>
              </a:rPr>
              <a:t>backlog</a:t>
            </a:r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en-IN" sz="14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69A0A8-F683-4712-9714-F0527051DD3B}"/>
              </a:ext>
            </a:extLst>
          </p:cNvPr>
          <p:cNvSpPr/>
          <p:nvPr/>
        </p:nvSpPr>
        <p:spPr>
          <a:xfrm>
            <a:off x="197029" y="1040385"/>
            <a:ext cx="499993" cy="54938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7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8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9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10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12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14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16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17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18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19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20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21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22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23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24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25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26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27</a:t>
            </a:r>
            <a:endParaRPr lang="en-US" sz="13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6750365" y="1040385"/>
            <a:ext cx="4787017" cy="2554545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Enter Student </a:t>
            </a:r>
            <a:r>
              <a:rPr lang="en-US" sz="1600" dirty="0" err="1">
                <a:solidFill>
                  <a:schemeClr val="bg1"/>
                </a:solidFill>
                <a:latin typeface="+mj-lt"/>
              </a:rPr>
              <a:t>Name:aaa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Enter Student Roll Number:111</a:t>
            </a:r>
          </a:p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Enter Student CPI:7.89</a:t>
            </a:r>
          </a:p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Enter Student Backlog:0</a:t>
            </a:r>
          </a:p>
          <a:p>
            <a:endParaRPr lang="en-US" sz="1600" dirty="0">
              <a:solidFill>
                <a:schemeClr val="bg1"/>
              </a:solidFill>
              <a:latin typeface="+mj-lt"/>
            </a:endParaRPr>
          </a:p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Student using simple structure variable.</a:t>
            </a:r>
          </a:p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Student name: </a:t>
            </a:r>
            <a:r>
              <a:rPr lang="en-US" sz="1600" dirty="0" err="1">
                <a:solidFill>
                  <a:schemeClr val="bg1"/>
                </a:solidFill>
                <a:latin typeface="+mj-lt"/>
              </a:rPr>
              <a:t>aaa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Student Enrollment: 111</a:t>
            </a:r>
          </a:p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Student CPI: 7.890000</a:t>
            </a:r>
          </a:p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Student Backlog: 0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197029" y="711201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9A825"/>
                </a:solidFill>
              </a:rPr>
              <a:t>Program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44F07624-C23C-4B43-A144-CB0878CB992A}"/>
              </a:ext>
            </a:extLst>
          </p:cNvPr>
          <p:cNvSpPr/>
          <p:nvPr/>
        </p:nvSpPr>
        <p:spPr>
          <a:xfrm>
            <a:off x="6750365" y="711201"/>
            <a:ext cx="87791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9A825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96754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build="p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using Pointer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733536"/>
          </a:xfrm>
        </p:spPr>
        <p:txBody>
          <a:bodyPr/>
          <a:lstStyle/>
          <a:p>
            <a:r>
              <a:rPr lang="en-US" dirty="0"/>
              <a:t>Reference/address of </a:t>
            </a:r>
            <a:r>
              <a:rPr lang="en-US" dirty="0">
                <a:cs typeface="Consolas" panose="020B0609020204030204" pitchFamily="49" charset="0"/>
              </a:rPr>
              <a:t>structure</a:t>
            </a:r>
            <a:r>
              <a:rPr lang="en-US" dirty="0"/>
              <a:t> object is passed as function argument to the definition of function.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E66CB1-15A6-D842-9FB7-3BF14AD99D0B}"/>
              </a:ext>
            </a:extLst>
          </p:cNvPr>
          <p:cNvSpPr/>
          <p:nvPr/>
        </p:nvSpPr>
        <p:spPr>
          <a:xfrm>
            <a:off x="631173" y="1926165"/>
            <a:ext cx="5749375" cy="44935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300" dirty="0">
                <a:solidFill>
                  <a:srgbClr val="C586C0"/>
                </a:solidFill>
                <a:latin typeface="Consolas" panose="020B0609020204030204" pitchFamily="49" charset="0"/>
              </a:rPr>
              <a:t>#include</a:t>
            </a:r>
            <a:r>
              <a:rPr lang="en-IN" sz="1300" dirty="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&lt;</a:t>
            </a:r>
            <a:r>
              <a:rPr lang="en-IN" sz="1300" dirty="0" err="1">
                <a:solidFill>
                  <a:srgbClr val="CE9178"/>
                </a:solidFill>
                <a:latin typeface="Consolas" panose="020B0609020204030204" pitchFamily="49" charset="0"/>
              </a:rPr>
              <a:t>stdio.h</a:t>
            </a:r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&gt;</a:t>
            </a:r>
            <a:endParaRPr lang="en-IN" sz="13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sz="1300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1300" dirty="0">
                <a:solidFill>
                  <a:srgbClr val="4EC9B0"/>
                </a:solidFill>
                <a:latin typeface="Consolas" panose="020B0609020204030204" pitchFamily="49" charset="0"/>
              </a:rPr>
              <a:t>student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sz="1300" dirty="0">
                <a:solidFill>
                  <a:srgbClr val="569CD6"/>
                </a:solidFill>
                <a:latin typeface="Consolas" panose="020B0609020204030204" pitchFamily="49" charset="0"/>
              </a:rPr>
              <a:t>char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13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1300" dirty="0">
                <a:solidFill>
                  <a:srgbClr val="B5CEA8"/>
                </a:solidFill>
                <a:latin typeface="Consolas" panose="020B0609020204030204" pitchFamily="49" charset="0"/>
              </a:rPr>
              <a:t>20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IN" sz="1300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1300" dirty="0" err="1">
                <a:solidFill>
                  <a:srgbClr val="9CDCFE"/>
                </a:solidFill>
                <a:latin typeface="Consolas" panose="020B0609020204030204" pitchFamily="49" charset="0"/>
              </a:rPr>
              <a:t>rollno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300" dirty="0">
                <a:solidFill>
                  <a:srgbClr val="569CD6"/>
                </a:solidFill>
                <a:latin typeface="Consolas" panose="020B0609020204030204" pitchFamily="49" charset="0"/>
              </a:rPr>
              <a:t>float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1300" dirty="0" err="1">
                <a:solidFill>
                  <a:srgbClr val="9CDCFE"/>
                </a:solidFill>
                <a:latin typeface="Consolas" panose="020B0609020204030204" pitchFamily="49" charset="0"/>
              </a:rPr>
              <a:t>cpi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IN" sz="1300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1300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sz="1300" dirty="0" err="1">
                <a:solidFill>
                  <a:srgbClr val="569CD6"/>
                </a:solidFill>
                <a:latin typeface="Consolas" panose="020B0609020204030204" pitchFamily="49" charset="0"/>
              </a:rPr>
              <a:t>struct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1300" dirty="0">
                <a:solidFill>
                  <a:srgbClr val="4EC9B0"/>
                </a:solidFill>
                <a:latin typeface="Consolas" panose="020B0609020204030204" pitchFamily="49" charset="0"/>
              </a:rPr>
              <a:t>student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13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IN" sz="1300" dirty="0" err="1">
                <a:solidFill>
                  <a:srgbClr val="9CDCFE"/>
                </a:solidFill>
                <a:latin typeface="Consolas" panose="020B0609020204030204" pitchFamily="49" charset="0"/>
              </a:rPr>
              <a:t>studPtr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1300" dirty="0">
                <a:solidFill>
                  <a:srgbClr val="9CDCFE"/>
                </a:solidFill>
                <a:latin typeface="Consolas" panose="020B0609020204030204" pitchFamily="49" charset="0"/>
              </a:rPr>
              <a:t>stud1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300" dirty="0" err="1">
                <a:solidFill>
                  <a:srgbClr val="9CDCFE"/>
                </a:solidFill>
                <a:latin typeface="Consolas" panose="020B0609020204030204" pitchFamily="49" charset="0"/>
              </a:rPr>
              <a:t>studPtr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13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1300" dirty="0">
                <a:solidFill>
                  <a:srgbClr val="D4D4D4"/>
                </a:solidFill>
                <a:latin typeface="Consolas" panose="020B0609020204030204" pitchFamily="49" charset="0"/>
              </a:rPr>
              <a:t>&amp;</a:t>
            </a:r>
            <a:r>
              <a:rPr lang="en-IN" sz="1300" dirty="0">
                <a:solidFill>
                  <a:srgbClr val="9CDCFE"/>
                </a:solidFill>
                <a:latin typeface="Consolas" panose="020B0609020204030204" pitchFamily="49" charset="0"/>
              </a:rPr>
              <a:t>stud1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IN" sz="13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"Enter Name: "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300" dirty="0" err="1">
                <a:solidFill>
                  <a:srgbClr val="DCDCAA"/>
                </a:solidFill>
                <a:latin typeface="Consolas" panose="020B0609020204030204" pitchFamily="49" charset="0"/>
              </a:rPr>
              <a:t>scanf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300" dirty="0">
                <a:solidFill>
                  <a:srgbClr val="9CDCFE"/>
                </a:solidFill>
                <a:latin typeface="Consolas" panose="020B0609020204030204" pitchFamily="49" charset="0"/>
              </a:rPr>
              <a:t>%s</a:t>
            </a:r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1300" dirty="0" err="1">
                <a:solidFill>
                  <a:srgbClr val="9CDCFE"/>
                </a:solidFill>
                <a:latin typeface="Consolas" panose="020B0609020204030204" pitchFamily="49" charset="0"/>
              </a:rPr>
              <a:t>studPtr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-&gt;</a:t>
            </a:r>
            <a:r>
              <a:rPr lang="en-IN" sz="13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3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"Enter </a:t>
            </a:r>
            <a:r>
              <a:rPr lang="en-IN" sz="1300" dirty="0" err="1">
                <a:solidFill>
                  <a:srgbClr val="CE9178"/>
                </a:solidFill>
                <a:latin typeface="Consolas" panose="020B0609020204030204" pitchFamily="49" charset="0"/>
              </a:rPr>
              <a:t>RollNo</a:t>
            </a:r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: "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300" dirty="0" err="1">
                <a:solidFill>
                  <a:srgbClr val="DCDCAA"/>
                </a:solidFill>
                <a:latin typeface="Consolas" panose="020B0609020204030204" pitchFamily="49" charset="0"/>
              </a:rPr>
              <a:t>scanf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300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1300" dirty="0">
                <a:solidFill>
                  <a:srgbClr val="D4D4D4"/>
                </a:solidFill>
                <a:latin typeface="Consolas" panose="020B0609020204030204" pitchFamily="49" charset="0"/>
              </a:rPr>
              <a:t>&amp;</a:t>
            </a:r>
            <a:r>
              <a:rPr lang="en-IN" sz="1300" dirty="0" err="1">
                <a:solidFill>
                  <a:srgbClr val="9CDCFE"/>
                </a:solidFill>
                <a:latin typeface="Consolas" panose="020B0609020204030204" pitchFamily="49" charset="0"/>
              </a:rPr>
              <a:t>studPtr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-&gt;</a:t>
            </a:r>
            <a:r>
              <a:rPr lang="en-IN" sz="1300" dirty="0" err="1">
                <a:solidFill>
                  <a:srgbClr val="9CDCFE"/>
                </a:solidFill>
                <a:latin typeface="Consolas" panose="020B0609020204030204" pitchFamily="49" charset="0"/>
              </a:rPr>
              <a:t>rollno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3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"Enter CPI: "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300" dirty="0" err="1">
                <a:solidFill>
                  <a:srgbClr val="DCDCAA"/>
                </a:solidFill>
                <a:latin typeface="Consolas" panose="020B0609020204030204" pitchFamily="49" charset="0"/>
              </a:rPr>
              <a:t>scanf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300" dirty="0">
                <a:solidFill>
                  <a:srgbClr val="9CDCFE"/>
                </a:solidFill>
                <a:latin typeface="Consolas" panose="020B0609020204030204" pitchFamily="49" charset="0"/>
              </a:rPr>
              <a:t>%f</a:t>
            </a:r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1300" dirty="0">
                <a:solidFill>
                  <a:srgbClr val="D4D4D4"/>
                </a:solidFill>
                <a:latin typeface="Consolas" panose="020B0609020204030204" pitchFamily="49" charset="0"/>
              </a:rPr>
              <a:t>&amp;</a:t>
            </a:r>
            <a:r>
              <a:rPr lang="en-IN" sz="1300" dirty="0" err="1">
                <a:solidFill>
                  <a:srgbClr val="9CDCFE"/>
                </a:solidFill>
                <a:latin typeface="Consolas" panose="020B0609020204030204" pitchFamily="49" charset="0"/>
              </a:rPr>
              <a:t>studPtr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-&gt;</a:t>
            </a:r>
            <a:r>
              <a:rPr lang="en-IN" sz="1300" dirty="0" err="1">
                <a:solidFill>
                  <a:srgbClr val="9CDCFE"/>
                </a:solidFill>
                <a:latin typeface="Consolas" panose="020B0609020204030204" pitchFamily="49" charset="0"/>
              </a:rPr>
              <a:t>cpi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3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300" dirty="0">
                <a:solidFill>
                  <a:srgbClr val="D7BA7D"/>
                </a:solidFill>
                <a:latin typeface="Consolas" panose="020B0609020204030204" pitchFamily="49" charset="0"/>
              </a:rPr>
              <a:t>\</a:t>
            </a:r>
            <a:r>
              <a:rPr lang="en-IN" sz="1300" dirty="0" err="1">
                <a:solidFill>
                  <a:srgbClr val="D7BA7D"/>
                </a:solidFill>
                <a:latin typeface="Consolas" panose="020B0609020204030204" pitchFamily="49" charset="0"/>
              </a:rPr>
              <a:t>n</a:t>
            </a:r>
            <a:r>
              <a:rPr lang="en-IN" sz="1300" dirty="0" err="1">
                <a:solidFill>
                  <a:srgbClr val="CE9178"/>
                </a:solidFill>
                <a:latin typeface="Consolas" panose="020B0609020204030204" pitchFamily="49" charset="0"/>
              </a:rPr>
              <a:t>Student</a:t>
            </a:r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 Details:</a:t>
            </a:r>
            <a:r>
              <a:rPr lang="en-IN" sz="1300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3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"Name: </a:t>
            </a:r>
            <a:r>
              <a:rPr lang="en-IN" sz="1300" dirty="0">
                <a:solidFill>
                  <a:srgbClr val="9CDCFE"/>
                </a:solidFill>
                <a:latin typeface="Consolas" panose="020B0609020204030204" pitchFamily="49" charset="0"/>
              </a:rPr>
              <a:t>%s</a:t>
            </a:r>
            <a:r>
              <a:rPr lang="en-IN" sz="1300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1300" dirty="0" err="1">
                <a:solidFill>
                  <a:srgbClr val="9CDCFE"/>
                </a:solidFill>
                <a:latin typeface="Consolas" panose="020B0609020204030204" pitchFamily="49" charset="0"/>
              </a:rPr>
              <a:t>studPtr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-&gt;</a:t>
            </a:r>
            <a:r>
              <a:rPr lang="en-IN" sz="13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3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300" dirty="0" err="1">
                <a:solidFill>
                  <a:srgbClr val="CE9178"/>
                </a:solidFill>
                <a:latin typeface="Consolas" panose="020B0609020204030204" pitchFamily="49" charset="0"/>
              </a:rPr>
              <a:t>RollNo</a:t>
            </a:r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en-IN" sz="1300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1300" dirty="0" err="1">
                <a:solidFill>
                  <a:srgbClr val="9CDCFE"/>
                </a:solidFill>
                <a:latin typeface="Consolas" panose="020B0609020204030204" pitchFamily="49" charset="0"/>
              </a:rPr>
              <a:t>studPtr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-&gt;</a:t>
            </a:r>
            <a:r>
              <a:rPr lang="en-IN" sz="1300" dirty="0" err="1">
                <a:solidFill>
                  <a:srgbClr val="9CDCFE"/>
                </a:solidFill>
                <a:latin typeface="Consolas" panose="020B0609020204030204" pitchFamily="49" charset="0"/>
              </a:rPr>
              <a:t>rollno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3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(”\</a:t>
            </a:r>
            <a:r>
              <a:rPr lang="en-IN" sz="1300" dirty="0" err="1">
                <a:solidFill>
                  <a:srgbClr val="CCCCCC"/>
                </a:solidFill>
                <a:latin typeface="Consolas" panose="020B0609020204030204" pitchFamily="49" charset="0"/>
              </a:rPr>
              <a:t>nCPI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IN" sz="1300" dirty="0">
                <a:solidFill>
                  <a:srgbClr val="D4D4D4"/>
                </a:solidFill>
                <a:latin typeface="Consolas" panose="020B0609020204030204" pitchFamily="49" charset="0"/>
              </a:rPr>
              <a:t>%</a:t>
            </a:r>
            <a:r>
              <a:rPr lang="en-IN" sz="1300" dirty="0">
                <a:solidFill>
                  <a:srgbClr val="CCCCCC"/>
                </a:solidFill>
                <a:latin typeface="Consolas" panose="020B0609020204030204" pitchFamily="49" charset="0"/>
              </a:rPr>
              <a:t>f</a:t>
            </a:r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", </a:t>
            </a:r>
            <a:r>
              <a:rPr lang="en-IN" sz="1300" dirty="0" err="1">
                <a:solidFill>
                  <a:srgbClr val="CE9178"/>
                </a:solidFill>
                <a:latin typeface="Consolas" panose="020B0609020204030204" pitchFamily="49" charset="0"/>
              </a:rPr>
              <a:t>studPtr</a:t>
            </a:r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-&gt;</a:t>
            </a:r>
            <a:r>
              <a:rPr lang="en-IN" sz="1300" dirty="0" err="1">
                <a:solidFill>
                  <a:srgbClr val="CE9178"/>
                </a:solidFill>
                <a:latin typeface="Consolas" panose="020B0609020204030204" pitchFamily="49" charset="0"/>
              </a:rPr>
              <a:t>cpi</a:t>
            </a:r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);</a:t>
            </a:r>
            <a:endParaRPr lang="en-IN" sz="13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return 0;</a:t>
            </a:r>
            <a:endParaRPr lang="en-IN" sz="13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sz="1300" dirty="0">
                <a:solidFill>
                  <a:srgbClr val="CE9178"/>
                </a:solidFill>
                <a:latin typeface="Consolas" panose="020B0609020204030204" pitchFamily="49" charset="0"/>
              </a:rPr>
              <a:t>}</a:t>
            </a:r>
            <a:endParaRPr lang="en-IN" sz="13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C2DC98-CF4D-BA48-878F-206254666814}"/>
              </a:ext>
            </a:extLst>
          </p:cNvPr>
          <p:cNvSpPr/>
          <p:nvPr/>
        </p:nvSpPr>
        <p:spPr>
          <a:xfrm>
            <a:off x="6639315" y="1946317"/>
            <a:ext cx="4874133" cy="2308324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+mj-lt"/>
              </a:rPr>
              <a:t>Enter Name: ABC</a:t>
            </a:r>
          </a:p>
          <a:p>
            <a:r>
              <a:rPr lang="en-IN" dirty="0">
                <a:solidFill>
                  <a:schemeClr val="bg1"/>
                </a:solidFill>
                <a:latin typeface="+mj-lt"/>
              </a:rPr>
              <a:t>Enter </a:t>
            </a:r>
            <a:r>
              <a:rPr lang="en-IN" dirty="0" err="1">
                <a:solidFill>
                  <a:schemeClr val="bg1"/>
                </a:solidFill>
                <a:latin typeface="+mj-lt"/>
              </a:rPr>
              <a:t>RollNo</a:t>
            </a:r>
            <a:r>
              <a:rPr lang="en-IN" dirty="0">
                <a:solidFill>
                  <a:schemeClr val="bg1"/>
                </a:solidFill>
                <a:latin typeface="+mj-lt"/>
              </a:rPr>
              <a:t>: 121</a:t>
            </a:r>
          </a:p>
          <a:p>
            <a:r>
              <a:rPr lang="en-IN" dirty="0">
                <a:solidFill>
                  <a:schemeClr val="bg1"/>
                </a:solidFill>
                <a:latin typeface="+mj-lt"/>
              </a:rPr>
              <a:t>Enter CPI: 7.46</a:t>
            </a:r>
          </a:p>
          <a:p>
            <a:endParaRPr lang="en-IN" dirty="0">
              <a:solidFill>
                <a:schemeClr val="bg1"/>
              </a:solidFill>
              <a:latin typeface="+mj-lt"/>
            </a:endParaRPr>
          </a:p>
          <a:p>
            <a:r>
              <a:rPr lang="en-IN" dirty="0">
                <a:solidFill>
                  <a:schemeClr val="bg1"/>
                </a:solidFill>
                <a:latin typeface="+mj-lt"/>
              </a:rPr>
              <a:t>Student Details:</a:t>
            </a:r>
          </a:p>
          <a:p>
            <a:r>
              <a:rPr lang="en-IN" dirty="0">
                <a:solidFill>
                  <a:schemeClr val="bg1"/>
                </a:solidFill>
                <a:latin typeface="+mj-lt"/>
              </a:rPr>
              <a:t>Name: ABC</a:t>
            </a:r>
          </a:p>
          <a:p>
            <a:r>
              <a:rPr lang="en-IN" dirty="0" err="1">
                <a:solidFill>
                  <a:schemeClr val="bg1"/>
                </a:solidFill>
                <a:latin typeface="+mj-lt"/>
              </a:rPr>
              <a:t>RollNo</a:t>
            </a:r>
            <a:r>
              <a:rPr lang="en-IN" dirty="0">
                <a:solidFill>
                  <a:schemeClr val="bg1"/>
                </a:solidFill>
                <a:latin typeface="+mj-lt"/>
              </a:rPr>
              <a:t>: 121</a:t>
            </a:r>
          </a:p>
          <a:p>
            <a:r>
              <a:rPr lang="en-IN" dirty="0">
                <a:solidFill>
                  <a:schemeClr val="bg1"/>
                </a:solidFill>
                <a:latin typeface="+mj-lt"/>
              </a:rPr>
              <a:t>CPI: 7.460000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98966D1C-C633-9C4A-9183-A263EF6718EA}"/>
              </a:ext>
            </a:extLst>
          </p:cNvPr>
          <p:cNvSpPr/>
          <p:nvPr/>
        </p:nvSpPr>
        <p:spPr>
          <a:xfrm>
            <a:off x="131180" y="1596981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9A825"/>
                </a:solidFill>
              </a:rPr>
              <a:t>Program</a:t>
            </a:r>
          </a:p>
        </p:txBody>
      </p:sp>
      <p:sp>
        <p:nvSpPr>
          <p:cNvPr id="7" name="Rectangle: Top Corners Rounded 7">
            <a:extLst>
              <a:ext uri="{FF2B5EF4-FFF2-40B4-BE49-F238E27FC236}">
                <a16:creationId xmlns:a16="http://schemas.microsoft.com/office/drawing/2014/main" id="{F574A6EA-9C75-5044-8735-ADAD2FF8A524}"/>
              </a:ext>
            </a:extLst>
          </p:cNvPr>
          <p:cNvSpPr/>
          <p:nvPr/>
        </p:nvSpPr>
        <p:spPr>
          <a:xfrm>
            <a:off x="6639315" y="1617133"/>
            <a:ext cx="87791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9A825"/>
                </a:solidFill>
              </a:rPr>
              <a:t>Output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ADB8B4-3704-1C4C-8CB9-E28EDA0C7EF2}"/>
              </a:ext>
            </a:extLst>
          </p:cNvPr>
          <p:cNvSpPr/>
          <p:nvPr/>
        </p:nvSpPr>
        <p:spPr>
          <a:xfrm>
            <a:off x="131180" y="1926165"/>
            <a:ext cx="499993" cy="44935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7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8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9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10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12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13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14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15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16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17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18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19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20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21</a:t>
            </a:r>
          </a:p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00249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build="allAtOnce" animBg="1"/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0BB8-F72C-465B-894C-59217AFB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77165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Dynamic </a:t>
            </a:r>
            <a:r>
              <a:rPr lang="en-US">
                <a:solidFill>
                  <a:schemeClr val="accent3"/>
                </a:solidFill>
              </a:rPr>
              <a:t>memory allocation</a:t>
            </a:r>
            <a:endParaRPr lang="en-US" dirty="0">
              <a:solidFill>
                <a:schemeClr val="accent3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B1FADF-1ACD-4B06-BC9D-45A10B136ED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676D9-8827-4B1B-9BC7-6E47B7A9E882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2DEDA6F-DE53-4741-B83C-8B9528C0D1C7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4CC2C-2F5E-452B-A4FA-DA5D69E53CFE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201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malloc</a:t>
            </a:r>
            <a:r>
              <a:rPr lang="en-IN" dirty="0"/>
              <a:t>() function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3013097"/>
          </a:xfrm>
        </p:spPr>
        <p:txBody>
          <a:bodyPr/>
          <a:lstStyle/>
          <a:p>
            <a:r>
              <a:rPr lang="en-US" dirty="0" err="1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malloc</a:t>
            </a:r>
            <a:r>
              <a:rPr lang="en-US" dirty="0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 ()</a:t>
            </a:r>
            <a:r>
              <a:rPr lang="en-IN" dirty="0"/>
              <a:t> is used to allocate a fixed amount of memory during the execution of a program.</a:t>
            </a:r>
          </a:p>
          <a:p>
            <a:r>
              <a:rPr lang="en-US" dirty="0" err="1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malloc</a:t>
            </a:r>
            <a:r>
              <a:rPr lang="en-US" dirty="0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 ()</a:t>
            </a:r>
            <a:r>
              <a:rPr lang="en-IN" dirty="0"/>
              <a:t> allocates </a:t>
            </a:r>
            <a:r>
              <a:rPr lang="en-US" dirty="0" err="1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size_in_bytes</a:t>
            </a:r>
            <a:r>
              <a:rPr lang="en-US" dirty="0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N" dirty="0"/>
              <a:t>of memory from heap, if the allocation succeeds, a pointer to the block of memory is returned else </a:t>
            </a:r>
            <a:r>
              <a:rPr lang="en-US" dirty="0">
                <a:solidFill>
                  <a:srgbClr val="92D050"/>
                </a:solidFill>
                <a:latin typeface="Consolas" panose="020B0609020204030204" pitchFamily="49" charset="0"/>
              </a:rPr>
              <a:t>NULL </a:t>
            </a:r>
            <a:r>
              <a:rPr lang="en-IN" dirty="0"/>
              <a:t>is returned.</a:t>
            </a:r>
          </a:p>
          <a:p>
            <a:r>
              <a:rPr lang="en-IN" dirty="0"/>
              <a:t>Allocated memory space may not be contiguous.</a:t>
            </a:r>
          </a:p>
          <a:p>
            <a:r>
              <a:rPr lang="en-IN" dirty="0"/>
              <a:t>Each block contains a </a:t>
            </a:r>
            <a:r>
              <a:rPr lang="en-US" dirty="0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n-IN" dirty="0"/>
              <a:t>, a pointer to the next block, and the space itself. </a:t>
            </a:r>
          </a:p>
          <a:p>
            <a:r>
              <a:rPr lang="en-IN" dirty="0"/>
              <a:t>The blocks are kept in ascending order of </a:t>
            </a:r>
            <a:r>
              <a:rPr lang="en-IN"/>
              <a:t>storage address.</a:t>
            </a:r>
            <a:endParaRPr lang="en-IN" dirty="0"/>
          </a:p>
          <a:p>
            <a:r>
              <a:rPr lang="en-IN" dirty="0"/>
              <a:t>The memory is not initialized.</a:t>
            </a:r>
          </a:p>
          <a:p>
            <a:endParaRPr lang="en-US" dirty="0"/>
          </a:p>
        </p:txBody>
      </p:sp>
      <p:graphicFrame>
        <p:nvGraphicFramePr>
          <p:cNvPr id="4" name="Google Shape;170;p21">
            <a:extLst>
              <a:ext uri="{FF2B5EF4-FFF2-40B4-BE49-F238E27FC236}">
                <a16:creationId xmlns:a16="http://schemas.microsoft.com/office/drawing/2014/main" id="{448FB20E-CA29-A841-9ACC-5F28845BF9F2}"/>
              </a:ext>
            </a:extLst>
          </p:cNvPr>
          <p:cNvGraphicFramePr/>
          <p:nvPr/>
        </p:nvGraphicFramePr>
        <p:xfrm>
          <a:off x="277944" y="4028784"/>
          <a:ext cx="10890925" cy="15545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1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7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C00000"/>
                          </a:solidFill>
                        </a:rPr>
                        <a:t>Syntax</a:t>
                      </a:r>
                      <a:endParaRPr sz="1800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C00000"/>
                          </a:solidFill>
                        </a:rPr>
                        <a:t>Description</a:t>
                      </a:r>
                      <a:endParaRPr sz="1800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 err="1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ptr_var</a:t>
                      </a: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= (</a:t>
                      </a:r>
                      <a:r>
                        <a:rPr lang="en-US" sz="1800" b="0" u="none" strike="noStrike" cap="none" dirty="0" err="1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cast_type</a:t>
                      </a: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*) malloc (</a:t>
                      </a:r>
                      <a:r>
                        <a:rPr lang="en-US" sz="1800" b="0" u="none" strike="noStrike" cap="none" dirty="0" err="1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size_in_bytes</a:t>
                      </a: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800" b="0" dirty="0">
                        <a:solidFill>
                          <a:schemeClr val="tx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This statement returns a pointer to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size_in_bytes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of uninitialized storage, or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NULL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if the request cannot be satisfied. 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Example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fp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= (</a:t>
                      </a:r>
                      <a:r>
                        <a:rPr lang="en-US" sz="1800" b="0" u="none" strike="noStrike" kern="1200" cap="none" dirty="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*)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malloc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1800" b="0" u="none" strike="noStrike" kern="1200" cap="none" dirty="0" err="1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sizeof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1800" b="0" u="none" strike="noStrike" kern="1200" cap="none" dirty="0" err="1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*20);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19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a C program to allocate memory using </a:t>
            </a:r>
            <a:r>
              <a:rPr lang="en-US" dirty="0" err="1"/>
              <a:t>malloc</a:t>
            </a:r>
            <a:r>
              <a:rPr lang="en-US" dirty="0"/>
              <a:t>.</a:t>
            </a:r>
          </a:p>
        </p:txBody>
      </p:sp>
      <p:sp>
        <p:nvSpPr>
          <p:cNvPr id="4" name="Google Shape;176;p22"/>
          <p:cNvSpPr/>
          <p:nvPr/>
        </p:nvSpPr>
        <p:spPr>
          <a:xfrm>
            <a:off x="798173" y="1341354"/>
            <a:ext cx="11063268" cy="2553638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#include 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stdio.h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 main()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    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 *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fp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 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fp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 is a pointer variable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    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fp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 = (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 *)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malloc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sizeof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)); 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//returns a pointer to 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 size storage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    *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fp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 = 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25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 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//store 25 in the address pointed by 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fp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    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"%d"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 *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fp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 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//print the value of 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fp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 i.e. 25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    free(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fp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 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//free up the space pointed to by 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fp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Google Shape;177;p22"/>
          <p:cNvSpPr/>
          <p:nvPr/>
        </p:nvSpPr>
        <p:spPr>
          <a:xfrm>
            <a:off x="298180" y="1341354"/>
            <a:ext cx="499993" cy="25536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575757"/>
                </a:solidFill>
                <a:latin typeface="Consolas" panose="020B0609020204030204" pitchFamily="49" charset="0"/>
                <a:ea typeface="Consolas"/>
                <a:cs typeface="Courier New" panose="02070309020205020404" pitchFamily="49" charset="0"/>
                <a:sym typeface="Consolas"/>
              </a:rPr>
              <a:t>1</a:t>
            </a:r>
            <a:endParaRPr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575757"/>
                </a:solidFill>
                <a:latin typeface="Consolas" panose="020B0609020204030204" pitchFamily="49" charset="0"/>
                <a:ea typeface="Consolas"/>
                <a:cs typeface="Courier New" panose="02070309020205020404" pitchFamily="49" charset="0"/>
                <a:sym typeface="Consolas"/>
              </a:rPr>
              <a:t>2</a:t>
            </a:r>
            <a:endParaRPr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575757"/>
                </a:solidFill>
                <a:latin typeface="Consolas" panose="020B0609020204030204" pitchFamily="49" charset="0"/>
                <a:ea typeface="Consolas"/>
                <a:cs typeface="Courier New" panose="02070309020205020404" pitchFamily="49" charset="0"/>
                <a:sym typeface="Consolas"/>
              </a:rPr>
              <a:t>3</a:t>
            </a:r>
            <a:endParaRPr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575757"/>
                </a:solidFill>
                <a:latin typeface="Consolas" panose="020B0609020204030204" pitchFamily="49" charset="0"/>
                <a:ea typeface="Consolas"/>
                <a:cs typeface="Courier New" panose="02070309020205020404" pitchFamily="49" charset="0"/>
                <a:sym typeface="Consolas"/>
              </a:rPr>
              <a:t>4</a:t>
            </a:r>
            <a:endParaRPr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575757"/>
                </a:solidFill>
                <a:latin typeface="Consolas" panose="020B0609020204030204" pitchFamily="49" charset="0"/>
                <a:ea typeface="Consolas"/>
                <a:cs typeface="Courier New" panose="02070309020205020404" pitchFamily="49" charset="0"/>
                <a:sym typeface="Consolas"/>
              </a:rPr>
              <a:t>5</a:t>
            </a:r>
            <a:endParaRPr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575757"/>
                </a:solidFill>
                <a:latin typeface="Consolas" panose="020B0609020204030204" pitchFamily="49" charset="0"/>
                <a:ea typeface="Consolas"/>
                <a:cs typeface="Courier New" panose="02070309020205020404" pitchFamily="49" charset="0"/>
                <a:sym typeface="Consolas"/>
              </a:rPr>
              <a:t>6</a:t>
            </a:r>
            <a:endParaRPr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575757"/>
                </a:solidFill>
                <a:latin typeface="Consolas" panose="020B0609020204030204" pitchFamily="49" charset="0"/>
                <a:ea typeface="Consolas"/>
                <a:cs typeface="Courier New" panose="02070309020205020404" pitchFamily="49" charset="0"/>
                <a:sym typeface="Consolas"/>
              </a:rPr>
              <a:t>7</a:t>
            </a:r>
            <a:endParaRPr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575757"/>
                </a:solidFill>
                <a:latin typeface="Consolas" panose="020B0609020204030204" pitchFamily="49" charset="0"/>
                <a:ea typeface="Consolas"/>
                <a:cs typeface="Courier New" panose="02070309020205020404" pitchFamily="49" charset="0"/>
                <a:sym typeface="Consolas"/>
              </a:rPr>
              <a:t>8</a:t>
            </a:r>
            <a:endParaRPr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575757"/>
                </a:solidFill>
                <a:latin typeface="Consolas" panose="020B0609020204030204" pitchFamily="49" charset="0"/>
                <a:ea typeface="Consolas"/>
                <a:cs typeface="Courier New" panose="02070309020205020404" pitchFamily="49" charset="0"/>
                <a:sym typeface="Consolas"/>
              </a:rPr>
              <a:t>9</a:t>
            </a:r>
            <a:endParaRPr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Google Shape;178;p22"/>
          <p:cNvSpPr/>
          <p:nvPr/>
        </p:nvSpPr>
        <p:spPr>
          <a:xfrm>
            <a:off x="298180" y="1012170"/>
            <a:ext cx="1090550" cy="329184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9A825"/>
                </a:solidFill>
                <a:ea typeface="Quattrocento Sans"/>
                <a:cs typeface="Quattrocento Sans"/>
                <a:sym typeface="Quattrocento Sans"/>
              </a:rPr>
              <a:t>Program</a:t>
            </a:r>
            <a:endParaRPr dirty="0">
              <a:solidFill>
                <a:srgbClr val="F9A825"/>
              </a:solidFill>
            </a:endParaRPr>
          </a:p>
        </p:txBody>
      </p:sp>
      <p:sp>
        <p:nvSpPr>
          <p:cNvPr id="7" name="Google Shape;179;p22">
            <a:extLst>
              <a:ext uri="{FF2B5EF4-FFF2-40B4-BE49-F238E27FC236}">
                <a16:creationId xmlns:a16="http://schemas.microsoft.com/office/drawing/2014/main" id="{081F3549-8540-E44B-893A-8C8801AA6533}"/>
              </a:ext>
            </a:extLst>
          </p:cNvPr>
          <p:cNvSpPr/>
          <p:nvPr/>
        </p:nvSpPr>
        <p:spPr>
          <a:xfrm>
            <a:off x="292460" y="4350864"/>
            <a:ext cx="1312085" cy="329184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9A825"/>
                </a:solidFill>
                <a:ea typeface="Quattrocento Sans"/>
                <a:cs typeface="Quattrocento Sans"/>
                <a:sym typeface="Quattrocento Sans"/>
              </a:rPr>
              <a:t>Output</a:t>
            </a:r>
            <a:endParaRPr sz="1600" dirty="0">
              <a:solidFill>
                <a:srgbClr val="F9A825"/>
              </a:solidFill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" name="Google Shape;180;p22">
            <a:extLst>
              <a:ext uri="{FF2B5EF4-FFF2-40B4-BE49-F238E27FC236}">
                <a16:creationId xmlns:a16="http://schemas.microsoft.com/office/drawing/2014/main" id="{4BF53837-BDCF-C24B-93AB-2D182CA21854}"/>
              </a:ext>
            </a:extLst>
          </p:cNvPr>
          <p:cNvSpPr txBox="1">
            <a:spLocks/>
          </p:cNvSpPr>
          <p:nvPr/>
        </p:nvSpPr>
        <p:spPr>
          <a:xfrm>
            <a:off x="298180" y="4680048"/>
            <a:ext cx="5457493" cy="371292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65113" indent="-2651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9625" indent="-3524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 3" panose="05040102010807070707" pitchFamily="18" charset="2"/>
              <a:buNone/>
            </a:pPr>
            <a:r>
              <a:rPr lang="en-I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4384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free() function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506269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free</a:t>
            </a:r>
            <a:r>
              <a:rPr lang="en-IN" dirty="0"/>
              <a:t> </a:t>
            </a:r>
            <a:r>
              <a:rPr lang="en-IN" dirty="0" err="1"/>
              <a:t>deallocates</a:t>
            </a:r>
            <a:r>
              <a:rPr lang="en-IN" dirty="0"/>
              <a:t> the space pointed to by fp.</a:t>
            </a:r>
          </a:p>
          <a:p>
            <a:r>
              <a:rPr lang="en-IN" dirty="0"/>
              <a:t>It does nothing if </a:t>
            </a:r>
            <a:r>
              <a:rPr lang="en-IN" dirty="0" err="1"/>
              <a:t>fp</a:t>
            </a:r>
            <a:r>
              <a:rPr lang="en-IN" dirty="0"/>
              <a:t> is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NULL</a:t>
            </a:r>
            <a:r>
              <a:rPr lang="en-IN" dirty="0"/>
              <a:t>.</a:t>
            </a:r>
          </a:p>
          <a:p>
            <a:r>
              <a:rPr lang="en-IN" dirty="0" err="1"/>
              <a:t>fp</a:t>
            </a:r>
            <a:r>
              <a:rPr lang="en-IN" dirty="0"/>
              <a:t> must be a pointer to space previously allocated by </a:t>
            </a:r>
            <a:r>
              <a:rPr lang="en-IN" dirty="0" err="1">
                <a:solidFill>
                  <a:srgbClr val="C00000"/>
                </a:solidFill>
                <a:latin typeface="Consolas" panose="020B0609020204030204" pitchFamily="49" charset="0"/>
              </a:rPr>
              <a:t>calloc</a:t>
            </a:r>
            <a:r>
              <a:rPr lang="en-IN" dirty="0"/>
              <a:t>,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malloc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/>
              <a:t>or </a:t>
            </a:r>
            <a:r>
              <a:rPr lang="en-IN" dirty="0" err="1">
                <a:solidFill>
                  <a:srgbClr val="C00000"/>
                </a:solidFill>
                <a:latin typeface="Consolas" panose="020B0609020204030204" pitchFamily="49" charset="0"/>
              </a:rPr>
              <a:t>realloc</a:t>
            </a:r>
            <a:r>
              <a:rPr lang="en-IN" dirty="0"/>
              <a:t>. </a:t>
            </a:r>
          </a:p>
        </p:txBody>
      </p:sp>
      <p:graphicFrame>
        <p:nvGraphicFramePr>
          <p:cNvPr id="4" name="Google Shape;170;p21">
            <a:extLst>
              <a:ext uri="{FF2B5EF4-FFF2-40B4-BE49-F238E27FC236}">
                <a16:creationId xmlns:a16="http://schemas.microsoft.com/office/drawing/2014/main" id="{448FB20E-CA29-A841-9ACC-5F28845BF9F2}"/>
              </a:ext>
            </a:extLst>
          </p:cNvPr>
          <p:cNvGraphicFramePr/>
          <p:nvPr/>
        </p:nvGraphicFramePr>
        <p:xfrm>
          <a:off x="328565" y="2628640"/>
          <a:ext cx="10890925" cy="12801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1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7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C00000"/>
                          </a:solidFill>
                        </a:rPr>
                        <a:t>Syntax</a:t>
                      </a:r>
                      <a:endParaRPr sz="1800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C00000"/>
                          </a:solidFill>
                        </a:rPr>
                        <a:t>Description</a:t>
                      </a:r>
                      <a:endParaRPr sz="1800" b="1" u="none" strike="noStrike" cap="none" dirty="0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void free(void *);</a:t>
                      </a: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This statement free up the memory not needed anymore.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Example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free(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fp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94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3E7D5-9039-1C11-3A3A-7169C0DC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EFF42-AC66-E558-FC25-4763E23F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77165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Functions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B6FE01-6CE9-7480-E59C-A0D2191E1F62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179871" y="0"/>
            <a:ext cx="0" cy="682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6E90F9-80C1-B3A9-79F7-8928C7CFDA8C}"/>
              </a:ext>
            </a:extLst>
          </p:cNvPr>
          <p:cNvCxnSpPr>
            <a:cxnSpLocks/>
          </p:cNvCxnSpPr>
          <p:nvPr/>
        </p:nvCxnSpPr>
        <p:spPr>
          <a:xfrm>
            <a:off x="1179871" y="5063613"/>
            <a:ext cx="0" cy="179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671B6345-A17D-D8B6-5A49-185E140760C0}"/>
              </a:ext>
            </a:extLst>
          </p:cNvPr>
          <p:cNvSpPr/>
          <p:nvPr/>
        </p:nvSpPr>
        <p:spPr>
          <a:xfrm>
            <a:off x="942590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C5CE299-A670-5F4F-475B-56C652BC7880}"/>
              </a:ext>
            </a:extLst>
          </p:cNvPr>
          <p:cNvCxnSpPr>
            <a:cxnSpLocks/>
          </p:cNvCxnSpPr>
          <p:nvPr/>
        </p:nvCxnSpPr>
        <p:spPr>
          <a:xfrm>
            <a:off x="1179871" y="1157468"/>
            <a:ext cx="0" cy="246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7818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WAP to add two number using add(</a:t>
            </a:r>
            <a:r>
              <a:rPr lang="en-US" dirty="0" err="1"/>
              <a:t>int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dirty="0"/>
              <a:t>) Function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398A39-DA79-443A-B149-0FEF04D5E58D}"/>
              </a:ext>
            </a:extLst>
          </p:cNvPr>
          <p:cNvSpPr/>
          <p:nvPr/>
        </p:nvSpPr>
        <p:spPr>
          <a:xfrm>
            <a:off x="888324" y="1306972"/>
            <a:ext cx="6367912" cy="341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#include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&lt;</a:t>
            </a:r>
            <a:r>
              <a:rPr lang="en-IN" dirty="0" err="1">
                <a:solidFill>
                  <a:srgbClr val="CE9178"/>
                </a:solidFill>
                <a:latin typeface="Consolas" panose="020B0609020204030204" pitchFamily="49" charset="0"/>
              </a:rPr>
              <a:t>stdio.h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add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 // function declaration</a:t>
            </a: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6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add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 // function call</a:t>
            </a: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add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 // function definition </a:t>
            </a: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"Addition is =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69A0A8-F683-4712-9714-F0527051DD3B}"/>
              </a:ext>
            </a:extLst>
          </p:cNvPr>
          <p:cNvSpPr/>
          <p:nvPr/>
        </p:nvSpPr>
        <p:spPr>
          <a:xfrm>
            <a:off x="388332" y="1305872"/>
            <a:ext cx="499993" cy="3416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2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3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4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5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6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7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8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9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10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11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7502886" y="1319940"/>
            <a:ext cx="3996771" cy="369332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+mj-lt"/>
              </a:rPr>
              <a:t>Addition is = 11 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388332" y="968892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9A825"/>
                </a:solidFill>
              </a:rPr>
              <a:t>Program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44F07624-C23C-4B43-A144-CB0878CB992A}"/>
              </a:ext>
            </a:extLst>
          </p:cNvPr>
          <p:cNvSpPr/>
          <p:nvPr/>
        </p:nvSpPr>
        <p:spPr>
          <a:xfrm>
            <a:off x="7502886" y="990756"/>
            <a:ext cx="87791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9A825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682574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WAP to find maximum number from two number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398A39-DA79-443A-B149-0FEF04D5E58D}"/>
              </a:ext>
            </a:extLst>
          </p:cNvPr>
          <p:cNvSpPr/>
          <p:nvPr/>
        </p:nvSpPr>
        <p:spPr>
          <a:xfrm>
            <a:off x="991355" y="1332730"/>
            <a:ext cx="5788135" cy="42473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#include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&lt;</a:t>
            </a:r>
            <a:r>
              <a:rPr lang="en-IN" dirty="0" err="1">
                <a:solidFill>
                  <a:srgbClr val="CE9178"/>
                </a:solidFill>
                <a:latin typeface="Consolas" panose="020B0609020204030204" pitchFamily="49" charset="0"/>
              </a:rPr>
              <a:t>stdio.h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max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(){</a:t>
            </a:r>
          </a:p>
          <a:p>
            <a:pPr lvl="1"/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100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200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maxvalue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maxvalue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max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"Max value is :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maxvalue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max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pPr lvl="1"/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&gt;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 // return a</a:t>
            </a: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lvl="1"/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lvl="1"/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 // return b</a:t>
            </a: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69A0A8-F683-4712-9714-F0527051DD3B}"/>
              </a:ext>
            </a:extLst>
          </p:cNvPr>
          <p:cNvSpPr/>
          <p:nvPr/>
        </p:nvSpPr>
        <p:spPr>
          <a:xfrm>
            <a:off x="487095" y="1331859"/>
            <a:ext cx="499993" cy="50783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2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3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4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5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6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7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8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9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10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11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12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13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14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15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16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17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D3284F-95E2-4F26-9D5F-AAD352CF22BD}"/>
              </a:ext>
            </a:extLst>
          </p:cNvPr>
          <p:cNvSpPr/>
          <p:nvPr/>
        </p:nvSpPr>
        <p:spPr>
          <a:xfrm>
            <a:off x="7529885" y="1301053"/>
            <a:ext cx="3996771" cy="369332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+mj-lt"/>
              </a:rPr>
              <a:t>Max value is : 200  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DE2E865-9E82-412F-B6BA-A643E4B60DC8}"/>
              </a:ext>
            </a:extLst>
          </p:cNvPr>
          <p:cNvSpPr/>
          <p:nvPr/>
        </p:nvSpPr>
        <p:spPr>
          <a:xfrm>
            <a:off x="491363" y="994650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9A825"/>
                </a:solidFill>
              </a:rPr>
              <a:t>Program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44F07624-C23C-4B43-A144-CB0878CB992A}"/>
              </a:ext>
            </a:extLst>
          </p:cNvPr>
          <p:cNvSpPr/>
          <p:nvPr/>
        </p:nvSpPr>
        <p:spPr>
          <a:xfrm>
            <a:off x="7529885" y="971869"/>
            <a:ext cx="87791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9A825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7472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build="p" animBg="1"/>
      <p:bldP spid="7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by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424443"/>
          </a:xfrm>
        </p:spPr>
        <p:txBody>
          <a:bodyPr/>
          <a:lstStyle/>
          <a:p>
            <a:r>
              <a:rPr lang="en-IN" dirty="0"/>
              <a:t>In this approach, the values are passed as function argument to the definition of function.</a:t>
            </a:r>
            <a:endParaRPr lang="en-US" dirty="0"/>
          </a:p>
          <a:p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820A03-3691-3141-8367-750417CBF49F}"/>
              </a:ext>
            </a:extLst>
          </p:cNvPr>
          <p:cNvSpPr/>
          <p:nvPr/>
        </p:nvSpPr>
        <p:spPr>
          <a:xfrm>
            <a:off x="762353" y="1637289"/>
            <a:ext cx="6253730" cy="42473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#include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&lt;</a:t>
            </a:r>
            <a:r>
              <a:rPr lang="en-IN" dirty="0" err="1">
                <a:solidFill>
                  <a:srgbClr val="CE9178"/>
                </a:solidFill>
                <a:latin typeface="Consolas" panose="020B0609020204030204" pitchFamily="49" charset="0"/>
              </a:rPr>
              <a:t>stdio.h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fun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20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</a:t>
            </a:r>
            <a:r>
              <a:rPr lang="en-IN" dirty="0" err="1">
                <a:solidFill>
                  <a:srgbClr val="D7BA7D"/>
                </a:solidFill>
                <a:latin typeface="Consolas" panose="020B0609020204030204" pitchFamily="49" charset="0"/>
              </a:rPr>
              <a:t>n</a:t>
            </a:r>
            <a:r>
              <a:rPr lang="en-IN" dirty="0" err="1">
                <a:solidFill>
                  <a:srgbClr val="CE9178"/>
                </a:solidFill>
                <a:latin typeface="Consolas" panose="020B0609020204030204" pitchFamily="49" charset="0"/>
              </a:rPr>
              <a:t>Values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 before calling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%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d</a:t>
            </a:r>
            <a:r>
              <a:rPr lang="en-IN" dirty="0" err="1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fun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</a:t>
            </a:r>
            <a:r>
              <a:rPr lang="en-IN" dirty="0" err="1">
                <a:solidFill>
                  <a:srgbClr val="D7BA7D"/>
                </a:solidFill>
                <a:latin typeface="Consolas" panose="020B0609020204030204" pitchFamily="49" charset="0"/>
              </a:rPr>
              <a:t>n</a:t>
            </a:r>
            <a:r>
              <a:rPr lang="en-IN" dirty="0" err="1">
                <a:solidFill>
                  <a:srgbClr val="CE9178"/>
                </a:solidFill>
                <a:latin typeface="Consolas" panose="020B0609020204030204" pitchFamily="49" charset="0"/>
              </a:rPr>
              <a:t>Values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 after calling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%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d</a:t>
            </a:r>
            <a:r>
              <a:rPr lang="en-IN" dirty="0" err="1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fun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11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22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3820662-56BF-D94E-8251-CE819FC75E75}"/>
              </a:ext>
            </a:extLst>
          </p:cNvPr>
          <p:cNvSpPr/>
          <p:nvPr/>
        </p:nvSpPr>
        <p:spPr>
          <a:xfrm>
            <a:off x="262360" y="1637289"/>
            <a:ext cx="499993" cy="42473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2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3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4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5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6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7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8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9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10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11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12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13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14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15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j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2B3D4D-2472-4043-AA7D-1545E7DF3BC0}"/>
              </a:ext>
            </a:extLst>
          </p:cNvPr>
          <p:cNvSpPr/>
          <p:nvPr/>
        </p:nvSpPr>
        <p:spPr>
          <a:xfrm>
            <a:off x="7170821" y="1653223"/>
            <a:ext cx="4407594" cy="52322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Values before calling 10, 20</a:t>
            </a:r>
          </a:p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Values after calling 10, 20</a:t>
            </a:r>
          </a:p>
        </p:txBody>
      </p:sp>
      <p:sp>
        <p:nvSpPr>
          <p:cNvPr id="26" name="Rectangle: Top Corners Rounded 6">
            <a:extLst>
              <a:ext uri="{FF2B5EF4-FFF2-40B4-BE49-F238E27FC236}">
                <a16:creationId xmlns:a16="http://schemas.microsoft.com/office/drawing/2014/main" id="{B0F07691-FFE9-5D4A-80D5-9FD2BAA6871B}"/>
              </a:ext>
            </a:extLst>
          </p:cNvPr>
          <p:cNvSpPr/>
          <p:nvPr/>
        </p:nvSpPr>
        <p:spPr>
          <a:xfrm>
            <a:off x="262360" y="1308105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9A825"/>
                </a:solidFill>
              </a:rPr>
              <a:t>Program</a:t>
            </a:r>
          </a:p>
        </p:txBody>
      </p:sp>
      <p:sp>
        <p:nvSpPr>
          <p:cNvPr id="27" name="Rectangle: Top Corners Rounded 7">
            <a:extLst>
              <a:ext uri="{FF2B5EF4-FFF2-40B4-BE49-F238E27FC236}">
                <a16:creationId xmlns:a16="http://schemas.microsoft.com/office/drawing/2014/main" id="{837D5C82-290B-6B43-93E0-FDE0ED368029}"/>
              </a:ext>
            </a:extLst>
          </p:cNvPr>
          <p:cNvSpPr/>
          <p:nvPr/>
        </p:nvSpPr>
        <p:spPr>
          <a:xfrm>
            <a:off x="7170820" y="1324039"/>
            <a:ext cx="950496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rgbClr val="F9A825"/>
                </a:solidFill>
              </a:rPr>
              <a:t>Output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D09C17-4410-C747-8A69-AA10B340E17D}"/>
              </a:ext>
            </a:extLst>
          </p:cNvPr>
          <p:cNvSpPr txBox="1"/>
          <p:nvPr/>
        </p:nvSpPr>
        <p:spPr>
          <a:xfrm>
            <a:off x="8051130" y="4570132"/>
            <a:ext cx="613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E9008A-96C8-EC47-92C8-4E5A679387CC}"/>
              </a:ext>
            </a:extLst>
          </p:cNvPr>
          <p:cNvSpPr txBox="1"/>
          <p:nvPr/>
        </p:nvSpPr>
        <p:spPr>
          <a:xfrm>
            <a:off x="8965531" y="4570132"/>
            <a:ext cx="613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07B6E-5BE1-8647-AB2B-5F6EC39C649F}"/>
              </a:ext>
            </a:extLst>
          </p:cNvPr>
          <p:cNvSpPr txBox="1"/>
          <p:nvPr/>
        </p:nvSpPr>
        <p:spPr>
          <a:xfrm>
            <a:off x="10790318" y="4570132"/>
            <a:ext cx="613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FC0823-09D3-334A-B505-6A3D63E897B4}"/>
              </a:ext>
            </a:extLst>
          </p:cNvPr>
          <p:cNvSpPr txBox="1"/>
          <p:nvPr/>
        </p:nvSpPr>
        <p:spPr>
          <a:xfrm>
            <a:off x="7102636" y="3709373"/>
            <a:ext cx="884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Address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77FC0F-D0F8-AE46-8AEA-A610C7962785}"/>
              </a:ext>
            </a:extLst>
          </p:cNvPr>
          <p:cNvSpPr txBox="1"/>
          <p:nvPr/>
        </p:nvSpPr>
        <p:spPr>
          <a:xfrm>
            <a:off x="7118684" y="4102768"/>
            <a:ext cx="701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Value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A59F79-5EE2-DF46-B405-242DE82DBF30}"/>
              </a:ext>
            </a:extLst>
          </p:cNvPr>
          <p:cNvSpPr txBox="1"/>
          <p:nvPr/>
        </p:nvSpPr>
        <p:spPr>
          <a:xfrm>
            <a:off x="7136728" y="4570132"/>
            <a:ext cx="914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Variable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12AEC0-ADD3-A449-85F1-7DCDF7ED2604}"/>
              </a:ext>
            </a:extLst>
          </p:cNvPr>
          <p:cNvSpPr txBox="1"/>
          <p:nvPr/>
        </p:nvSpPr>
        <p:spPr>
          <a:xfrm>
            <a:off x="7986958" y="3750801"/>
            <a:ext cx="735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48252</a:t>
            </a:r>
            <a:endParaRPr 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9B4A681-F3DF-A149-A2ED-831B03E2B700}"/>
              </a:ext>
            </a:extLst>
          </p:cNvPr>
          <p:cNvSpPr txBox="1"/>
          <p:nvPr/>
        </p:nvSpPr>
        <p:spPr>
          <a:xfrm>
            <a:off x="8932446" y="3743942"/>
            <a:ext cx="6837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24688</a:t>
            </a:r>
            <a:endParaRPr lang="en-US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C641CA9-8CBF-374F-A87F-91B123A0977D}"/>
              </a:ext>
            </a:extLst>
          </p:cNvPr>
          <p:cNvSpPr txBox="1"/>
          <p:nvPr/>
        </p:nvSpPr>
        <p:spPr>
          <a:xfrm>
            <a:off x="9934070" y="4554743"/>
            <a:ext cx="613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X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A1D7B38-B9DA-7D4C-AA6D-EC513F4B6E5E}"/>
              </a:ext>
            </a:extLst>
          </p:cNvPr>
          <p:cNvSpPr/>
          <p:nvPr/>
        </p:nvSpPr>
        <p:spPr>
          <a:xfrm>
            <a:off x="7988968" y="4078705"/>
            <a:ext cx="745958" cy="4090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10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D3CB3E0-AD0C-544F-B22D-FC5DDA4916FB}"/>
              </a:ext>
            </a:extLst>
          </p:cNvPr>
          <p:cNvSpPr/>
          <p:nvPr/>
        </p:nvSpPr>
        <p:spPr>
          <a:xfrm>
            <a:off x="8899357" y="4078705"/>
            <a:ext cx="745958" cy="4090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20</a:t>
            </a:r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BB6CF4C-4D4C-EF4A-8117-297D6362148C}"/>
              </a:ext>
            </a:extLst>
          </p:cNvPr>
          <p:cNvSpPr/>
          <p:nvPr/>
        </p:nvSpPr>
        <p:spPr>
          <a:xfrm>
            <a:off x="9809746" y="4078705"/>
            <a:ext cx="745958" cy="4090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519E0E6-C267-6644-A5D5-C1536C9B9396}"/>
              </a:ext>
            </a:extLst>
          </p:cNvPr>
          <p:cNvSpPr/>
          <p:nvPr/>
        </p:nvSpPr>
        <p:spPr>
          <a:xfrm>
            <a:off x="10724144" y="4078705"/>
            <a:ext cx="745958" cy="4090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6BA90C2-A571-BC46-93E3-B8DAA3CA2A17}"/>
              </a:ext>
            </a:extLst>
          </p:cNvPr>
          <p:cNvSpPr txBox="1"/>
          <p:nvPr/>
        </p:nvSpPr>
        <p:spPr>
          <a:xfrm>
            <a:off x="10106525" y="4055240"/>
            <a:ext cx="613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92D050"/>
                </a:solidFill>
              </a:rPr>
              <a:t>11</a:t>
            </a:r>
            <a:endParaRPr lang="en-US" sz="1200" b="1" dirty="0">
              <a:solidFill>
                <a:srgbClr val="92D05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A8C96B6-E159-3A48-A56F-BB8CE1D84C21}"/>
              </a:ext>
            </a:extLst>
          </p:cNvPr>
          <p:cNvSpPr txBox="1"/>
          <p:nvPr/>
        </p:nvSpPr>
        <p:spPr>
          <a:xfrm>
            <a:off x="11011229" y="4065365"/>
            <a:ext cx="613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92D050"/>
                </a:solidFill>
              </a:rPr>
              <a:t>22</a:t>
            </a:r>
            <a:endParaRPr lang="en-US" sz="1200" b="1" dirty="0">
              <a:solidFill>
                <a:srgbClr val="92D050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C912026-7EB3-884E-8F29-37018E87BAAC}"/>
              </a:ext>
            </a:extLst>
          </p:cNvPr>
          <p:cNvCxnSpPr/>
          <p:nvPr/>
        </p:nvCxnSpPr>
        <p:spPr>
          <a:xfrm>
            <a:off x="10040112" y="4300568"/>
            <a:ext cx="292608" cy="0"/>
          </a:xfrm>
          <a:prstGeom prst="line">
            <a:avLst/>
          </a:prstGeom>
          <a:ln w="28575">
            <a:solidFill>
              <a:srgbClr val="FF17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35499F2-3CAE-3E45-AEF6-D7395061A33E}"/>
              </a:ext>
            </a:extLst>
          </p:cNvPr>
          <p:cNvCxnSpPr/>
          <p:nvPr/>
        </p:nvCxnSpPr>
        <p:spPr>
          <a:xfrm>
            <a:off x="10925885" y="4288376"/>
            <a:ext cx="292608" cy="0"/>
          </a:xfrm>
          <a:prstGeom prst="line">
            <a:avLst/>
          </a:prstGeom>
          <a:ln w="28575">
            <a:solidFill>
              <a:srgbClr val="FF17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16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45" grpId="0" animBg="1"/>
      <p:bldP spid="46" grpId="0" animBg="1"/>
      <p:bldP spid="47" grpId="0" animBg="1"/>
      <p:bldP spid="48" grpId="0" animBg="1"/>
      <p:bldP spid="49" grpId="0"/>
      <p:bldP spid="5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by Reference / Address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759294"/>
          </a:xfrm>
        </p:spPr>
        <p:txBody>
          <a:bodyPr/>
          <a:lstStyle/>
          <a:p>
            <a:r>
              <a:rPr lang="en-IN" dirty="0"/>
              <a:t>In this approach, the references / addresses are passed as function argument to the definition of function.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820A03-3691-3141-8367-750417CBF49F}"/>
              </a:ext>
            </a:extLst>
          </p:cNvPr>
          <p:cNvSpPr/>
          <p:nvPr/>
        </p:nvSpPr>
        <p:spPr>
          <a:xfrm>
            <a:off x="762352" y="1950656"/>
            <a:ext cx="6251811" cy="42473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#include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&lt;</a:t>
            </a:r>
            <a:r>
              <a:rPr lang="en-IN" dirty="0" err="1">
                <a:solidFill>
                  <a:srgbClr val="CE9178"/>
                </a:solidFill>
                <a:latin typeface="Consolas" panose="020B0609020204030204" pitchFamily="49" charset="0"/>
              </a:rPr>
              <a:t>stdio.h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fun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20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</a:t>
            </a:r>
            <a:r>
              <a:rPr lang="en-IN" dirty="0" err="1">
                <a:solidFill>
                  <a:srgbClr val="D7BA7D"/>
                </a:solidFill>
                <a:latin typeface="Consolas" panose="020B0609020204030204" pitchFamily="49" charset="0"/>
              </a:rPr>
              <a:t>n</a:t>
            </a:r>
            <a:r>
              <a:rPr lang="en-IN" dirty="0" err="1">
                <a:solidFill>
                  <a:srgbClr val="CE9178"/>
                </a:solidFill>
                <a:latin typeface="Consolas" panose="020B0609020204030204" pitchFamily="49" charset="0"/>
              </a:rPr>
              <a:t>Values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 before calling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%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d</a:t>
            </a:r>
            <a:r>
              <a:rPr lang="en-IN" dirty="0" err="1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fun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&amp;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&amp;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</a:t>
            </a:r>
            <a:r>
              <a:rPr lang="en-IN" dirty="0" err="1">
                <a:solidFill>
                  <a:srgbClr val="D7BA7D"/>
                </a:solidFill>
                <a:latin typeface="Consolas" panose="020B0609020204030204" pitchFamily="49" charset="0"/>
              </a:rPr>
              <a:t>n</a:t>
            </a:r>
            <a:r>
              <a:rPr lang="en-IN" dirty="0" err="1">
                <a:solidFill>
                  <a:srgbClr val="CE9178"/>
                </a:solidFill>
                <a:latin typeface="Consolas" panose="020B0609020204030204" pitchFamily="49" charset="0"/>
              </a:rPr>
              <a:t>Values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 after calling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%d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%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d</a:t>
            </a:r>
            <a:r>
              <a:rPr lang="en-IN" dirty="0" err="1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fun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11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22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820662-56BF-D94E-8251-CE819FC75E75}"/>
              </a:ext>
            </a:extLst>
          </p:cNvPr>
          <p:cNvSpPr/>
          <p:nvPr/>
        </p:nvSpPr>
        <p:spPr>
          <a:xfrm>
            <a:off x="262360" y="1950656"/>
            <a:ext cx="499993" cy="42473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2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3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4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5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6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7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8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9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10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11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12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13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14</a:t>
            </a:r>
          </a:p>
          <a:p>
            <a:pPr algn="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2B3D4D-2472-4043-AA7D-1545E7DF3BC0}"/>
              </a:ext>
            </a:extLst>
          </p:cNvPr>
          <p:cNvSpPr/>
          <p:nvPr/>
        </p:nvSpPr>
        <p:spPr>
          <a:xfrm>
            <a:off x="7170821" y="1958017"/>
            <a:ext cx="4407594" cy="52322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Values before calling 10, 20</a:t>
            </a:r>
          </a:p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Values after  calling 11, 22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B0F07691-FFE9-5D4A-80D5-9FD2BAA6871B}"/>
              </a:ext>
            </a:extLst>
          </p:cNvPr>
          <p:cNvSpPr/>
          <p:nvPr/>
        </p:nvSpPr>
        <p:spPr>
          <a:xfrm>
            <a:off x="262360" y="1621472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Program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837D5C82-290B-6B43-93E0-FDE0ED368029}"/>
              </a:ext>
            </a:extLst>
          </p:cNvPr>
          <p:cNvSpPr/>
          <p:nvPr/>
        </p:nvSpPr>
        <p:spPr>
          <a:xfrm>
            <a:off x="7170820" y="1628833"/>
            <a:ext cx="950496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1D7B38-B9DA-7D4C-AA6D-EC513F4B6E5E}"/>
              </a:ext>
            </a:extLst>
          </p:cNvPr>
          <p:cNvSpPr/>
          <p:nvPr/>
        </p:nvSpPr>
        <p:spPr>
          <a:xfrm>
            <a:off x="7988968" y="4078705"/>
            <a:ext cx="745958" cy="4090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10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3CB3E0-AD0C-544F-B22D-FC5DDA4916FB}"/>
              </a:ext>
            </a:extLst>
          </p:cNvPr>
          <p:cNvSpPr/>
          <p:nvPr/>
        </p:nvSpPr>
        <p:spPr>
          <a:xfrm>
            <a:off x="8899357" y="4078705"/>
            <a:ext cx="745958" cy="4090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20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B6CF4C-4D4C-EF4A-8117-297D6362148C}"/>
              </a:ext>
            </a:extLst>
          </p:cNvPr>
          <p:cNvSpPr/>
          <p:nvPr/>
        </p:nvSpPr>
        <p:spPr>
          <a:xfrm>
            <a:off x="9809746" y="4078705"/>
            <a:ext cx="745958" cy="4090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48252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19E0E6-C267-6644-A5D5-C1536C9B9396}"/>
              </a:ext>
            </a:extLst>
          </p:cNvPr>
          <p:cNvSpPr/>
          <p:nvPr/>
        </p:nvSpPr>
        <p:spPr>
          <a:xfrm>
            <a:off x="10724144" y="4078705"/>
            <a:ext cx="745958" cy="4090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24688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D09C17-4410-C747-8A69-AA10B340E17D}"/>
              </a:ext>
            </a:extLst>
          </p:cNvPr>
          <p:cNvSpPr txBox="1"/>
          <p:nvPr/>
        </p:nvSpPr>
        <p:spPr>
          <a:xfrm>
            <a:off x="8051130" y="4570132"/>
            <a:ext cx="613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E9008A-96C8-EC47-92C8-4E5A679387CC}"/>
              </a:ext>
            </a:extLst>
          </p:cNvPr>
          <p:cNvSpPr txBox="1"/>
          <p:nvPr/>
        </p:nvSpPr>
        <p:spPr>
          <a:xfrm>
            <a:off x="8965531" y="4570132"/>
            <a:ext cx="613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107B6E-5BE1-8647-AB2B-5F6EC39C649F}"/>
              </a:ext>
            </a:extLst>
          </p:cNvPr>
          <p:cNvSpPr txBox="1"/>
          <p:nvPr/>
        </p:nvSpPr>
        <p:spPr>
          <a:xfrm>
            <a:off x="10790318" y="4570132"/>
            <a:ext cx="613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*Y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FC0823-09D3-334A-B505-6A3D63E897B4}"/>
              </a:ext>
            </a:extLst>
          </p:cNvPr>
          <p:cNvSpPr txBox="1"/>
          <p:nvPr/>
        </p:nvSpPr>
        <p:spPr>
          <a:xfrm>
            <a:off x="7102636" y="3709373"/>
            <a:ext cx="884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Address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77FC0F-D0F8-AE46-8AEA-A610C7962785}"/>
              </a:ext>
            </a:extLst>
          </p:cNvPr>
          <p:cNvSpPr txBox="1"/>
          <p:nvPr/>
        </p:nvSpPr>
        <p:spPr>
          <a:xfrm>
            <a:off x="7118683" y="4102768"/>
            <a:ext cx="781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Value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A59F79-5EE2-DF46-B405-242DE82DBF30}"/>
              </a:ext>
            </a:extLst>
          </p:cNvPr>
          <p:cNvSpPr txBox="1"/>
          <p:nvPr/>
        </p:nvSpPr>
        <p:spPr>
          <a:xfrm>
            <a:off x="7136728" y="4570132"/>
            <a:ext cx="914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Variable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12AEC0-ADD3-A449-85F1-7DCDF7ED2604}"/>
              </a:ext>
            </a:extLst>
          </p:cNvPr>
          <p:cNvSpPr txBox="1"/>
          <p:nvPr/>
        </p:nvSpPr>
        <p:spPr>
          <a:xfrm>
            <a:off x="7986958" y="3750801"/>
            <a:ext cx="735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48252</a:t>
            </a:r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B4A681-F3DF-A149-A2ED-831B03E2B700}"/>
              </a:ext>
            </a:extLst>
          </p:cNvPr>
          <p:cNvSpPr txBox="1"/>
          <p:nvPr/>
        </p:nvSpPr>
        <p:spPr>
          <a:xfrm>
            <a:off x="8932446" y="3743942"/>
            <a:ext cx="6837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24688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641CA9-8CBF-374F-A87F-91B123A0977D}"/>
              </a:ext>
            </a:extLst>
          </p:cNvPr>
          <p:cNvSpPr txBox="1"/>
          <p:nvPr/>
        </p:nvSpPr>
        <p:spPr>
          <a:xfrm>
            <a:off x="9934070" y="4554743"/>
            <a:ext cx="613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*X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42A4DD-0ED8-F641-81E1-C4D78ECF7EF1}"/>
              </a:ext>
            </a:extLst>
          </p:cNvPr>
          <p:cNvSpPr txBox="1"/>
          <p:nvPr/>
        </p:nvSpPr>
        <p:spPr>
          <a:xfrm>
            <a:off x="8273716" y="4051719"/>
            <a:ext cx="613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92D050"/>
                </a:solidFill>
              </a:rPr>
              <a:t>11</a:t>
            </a:r>
            <a:endParaRPr lang="en-US" sz="1200" b="1" dirty="0">
              <a:solidFill>
                <a:srgbClr val="92D050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3E9514A-2009-E940-B279-AF185D540547}"/>
              </a:ext>
            </a:extLst>
          </p:cNvPr>
          <p:cNvCxnSpPr/>
          <p:nvPr/>
        </p:nvCxnSpPr>
        <p:spPr>
          <a:xfrm>
            <a:off x="8207303" y="4297047"/>
            <a:ext cx="292608" cy="0"/>
          </a:xfrm>
          <a:prstGeom prst="line">
            <a:avLst/>
          </a:prstGeom>
          <a:ln w="28575">
            <a:solidFill>
              <a:srgbClr val="FF17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7AA94B7-1553-4942-B0A5-1DF69FA45DA7}"/>
              </a:ext>
            </a:extLst>
          </p:cNvPr>
          <p:cNvSpPr txBox="1"/>
          <p:nvPr/>
        </p:nvSpPr>
        <p:spPr>
          <a:xfrm>
            <a:off x="9194132" y="4075184"/>
            <a:ext cx="613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92D050"/>
                </a:solidFill>
              </a:rPr>
              <a:t>22</a:t>
            </a:r>
            <a:endParaRPr lang="en-US" sz="1200" b="1" dirty="0">
              <a:solidFill>
                <a:srgbClr val="92D050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967029F-8DC1-1644-8DDC-40BA5D74832A}"/>
              </a:ext>
            </a:extLst>
          </p:cNvPr>
          <p:cNvCxnSpPr/>
          <p:nvPr/>
        </p:nvCxnSpPr>
        <p:spPr>
          <a:xfrm>
            <a:off x="9108788" y="4298195"/>
            <a:ext cx="292608" cy="0"/>
          </a:xfrm>
          <a:prstGeom prst="line">
            <a:avLst/>
          </a:prstGeom>
          <a:ln w="28575">
            <a:solidFill>
              <a:srgbClr val="FF17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417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build="p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Pradyumansinh</a:t>
            </a:r>
            <a:r>
              <a:rPr lang="en-IN" dirty="0"/>
              <a:t> </a:t>
            </a:r>
            <a:r>
              <a:rPr lang="en-IN" dirty="0" err="1"/>
              <a:t>Jadeja</a:t>
            </a:r>
            <a:endParaRPr lang="en-IN" dirty="0"/>
          </a:p>
        </p:txBody>
      </p:sp>
      <p:sp>
        <p:nvSpPr>
          <p:cNvPr id="9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#2301CS301</a:t>
            </a: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25292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ptPPT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5717</TotalTime>
  <Words>1646</Words>
  <Application>Microsoft Office PowerPoint</Application>
  <PresentationFormat>Widescreen</PresentationFormat>
  <Paragraphs>555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41" baseType="lpstr">
      <vt:lpstr>Open Sans Semibold</vt:lpstr>
      <vt:lpstr>Open Sans</vt:lpstr>
      <vt:lpstr>Times New Roman</vt:lpstr>
      <vt:lpstr>Quattrocento Sans</vt:lpstr>
      <vt:lpstr>Wingdings</vt:lpstr>
      <vt:lpstr>Roboto Condensed</vt:lpstr>
      <vt:lpstr>Calibri</vt:lpstr>
      <vt:lpstr>Consolas</vt:lpstr>
      <vt:lpstr>Arial</vt:lpstr>
      <vt:lpstr>Roboto Condensed Light</vt:lpstr>
      <vt:lpstr>Wingdings 3</vt:lpstr>
      <vt:lpstr>Segoe UI Black</vt:lpstr>
      <vt:lpstr>Wingdings 2</vt:lpstr>
      <vt:lpstr>Courier New</vt:lpstr>
      <vt:lpstr>Office Theme</vt:lpstr>
      <vt:lpstr>DS Prerequisites  C Language Concepts Pointer, Structure, Function, DMA</vt:lpstr>
      <vt:lpstr>Pointer</vt:lpstr>
      <vt:lpstr>What is Pointer?</vt:lpstr>
      <vt:lpstr>Declaration &amp; Initialization of Pointer</vt:lpstr>
      <vt:lpstr>Pointer to Pointer – Double Pointer</vt:lpstr>
      <vt:lpstr>WAP to print variable, address of pointer variable and double pointer variable. </vt:lpstr>
      <vt:lpstr>Structure</vt:lpstr>
      <vt:lpstr>What is Structure?</vt:lpstr>
      <vt:lpstr>Syntax to Define Structure</vt:lpstr>
      <vt:lpstr>Example to Define Structure</vt:lpstr>
      <vt:lpstr>Create Structure variable</vt:lpstr>
      <vt:lpstr>Create Structure Variable – Cont.</vt:lpstr>
      <vt:lpstr>Create Structure Variable – Cont.</vt:lpstr>
      <vt:lpstr>Access Structure member (data) – Cont.</vt:lpstr>
      <vt:lpstr>Write a program to read and display student information using structure.</vt:lpstr>
      <vt:lpstr>Structure using Pointer</vt:lpstr>
      <vt:lpstr>Dynamic memory allocation</vt:lpstr>
      <vt:lpstr>malloc() function </vt:lpstr>
      <vt:lpstr>Write a C program to allocate memory using malloc.</vt:lpstr>
      <vt:lpstr>free() function </vt:lpstr>
      <vt:lpstr>Functions</vt:lpstr>
      <vt:lpstr>WAP to add two number using add(int, int) Function</vt:lpstr>
      <vt:lpstr>WAP to find maximum number from two number </vt:lpstr>
      <vt:lpstr>Call by Value</vt:lpstr>
      <vt:lpstr>Call by Reference / Address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 List - Linear Data Structure</dc:title>
  <dc:creator>ADMIN</dc:creator>
  <cp:keywords>Linked List, Data Structure, Darshan Institute of Engineering &amp; Technology, DIET</cp:keywords>
  <cp:lastModifiedBy>DELL</cp:lastModifiedBy>
  <cp:revision>936</cp:revision>
  <dcterms:created xsi:type="dcterms:W3CDTF">2020-05-01T05:09:15Z</dcterms:created>
  <dcterms:modified xsi:type="dcterms:W3CDTF">2026-06-16T05:59:16Z</dcterms:modified>
</cp:coreProperties>
</file>