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29.xml" ContentType="application/vnd.openxmlformats-officedocument.presentationml.notesSlide+xml"/>
  <Override PartName="/ppt/notesSlides/notesSlide13.xml" ContentType="application/vnd.openxmlformats-officedocument.presentationml.notesSlide+xml"/>
  <Override PartName="/ppt/notesSlides/notesSlide6.xml" ContentType="application/vnd.openxmlformats-officedocument.presentationml.notesSlide+xml"/>
  <Override PartName="/ppt/notesMasters/notesMaster1.xml" ContentType="application/vnd.openxmlformats-officedocument.presentationml.notesMaster+xml"/>
  <Override PartName="/ppt/slides/slide6.xml" ContentType="application/vnd.openxmlformats-officedocument.presentationml.slide+xml"/>
  <Override PartName="/ppt/slides/slide2.xml" ContentType="application/vnd.openxmlformats-officedocument.presentationml.slide+xml"/>
  <Override PartName="/ppt/slideLayouts/slideLayout22.xml" ContentType="application/vnd.openxmlformats-officedocument.presentationml.slideLayout+xml"/>
  <Override PartName="/ppt/slideLayouts/slideLayout20.xml" ContentType="application/vnd.openxmlformats-officedocument.presentationml.slideLayout+xml"/>
  <Override PartName="/ppt/slideLayouts/slideLayout8.xml" ContentType="application/vnd.openxmlformats-officedocument.presentationml.slideLayout+xml"/>
  <Override PartName="/ppt/slideLayouts/slideLayout18.xml" ContentType="application/vnd.openxmlformats-officedocument.presentationml.slideLayout+xml"/>
  <Override PartName="/ppt/notesSlides/notesSlide3.xml" ContentType="application/vnd.openxmlformats-officedocument.presentationml.notesSlide+xml"/>
  <Override PartName="/ppt/slides/slide5.xml" ContentType="application/vnd.openxmlformats-officedocument.presentationml.slide+xml"/>
  <Override PartName="/ppt/slideLayouts/slideLayout15.xml" ContentType="application/vnd.openxmlformats-officedocument.presentationml.slideLayout+xml"/>
  <Override PartName="/ppt/notesSlides/notesSlide26.xml" ContentType="application/vnd.openxmlformats-officedocument.presentationml.notesSlide+xml"/>
  <Override PartName="/ppt/slideLayouts/slideLayout14.xml" ContentType="application/vnd.openxmlformats-officedocument.presentationml.slideLayout+xml"/>
  <Override PartName="/ppt/slides/slide10.xml" ContentType="application/vnd.openxmlformats-officedocument.presentationml.slide+xml"/>
  <Override PartName="/ppt/slideLayouts/slideLayout23.xml" ContentType="application/vnd.openxmlformats-officedocument.presentationml.slideLayout+xml"/>
  <Override PartName="/ppt/notesSlides/notesSlide11.xml" ContentType="application/vnd.openxmlformats-officedocument.presentationml.notesSlide+xml"/>
  <Override PartName="/docProps/core.xml" ContentType="application/vnd.openxmlformats-package.core-properties+xml"/>
  <Override PartName="/ppt/slideLayouts/slideLayout6.xml" ContentType="application/vnd.openxmlformats-officedocument.presentationml.slideLayout+xml"/>
  <Override PartName="/ppt/slideLayouts/slideLayout2.xml" ContentType="application/vnd.openxmlformats-officedocument.presentationml.slideLayout+xml"/>
  <Override PartName="/ppt/slides/slide32.xml" ContentType="application/vnd.openxmlformats-officedocument.presentationml.slide+xml"/>
  <Override PartName="/ppt/slideLayouts/slideLayout19.xml" ContentType="application/vnd.openxmlformats-officedocument.presentationml.slideLayout+xml"/>
  <Override PartName="/ppt/slideLayouts/slideLayout21.xml" ContentType="application/vnd.openxmlformats-officedocument.presentationml.slideLayout+xml"/>
  <Override PartName="/ppt/slides/slide8.xml" ContentType="application/vnd.openxmlformats-officedocument.presentationml.slide+xml"/>
  <Override PartName="/ppt/presentation.xml" ContentType="application/vnd.openxmlformats-officedocument.presentationml.presentation.main+xml"/>
  <Override PartName="/ppt/notesSlides/notesSlide7.xml" ContentType="application/vnd.openxmlformats-officedocument.presentationml.notesSlide+xml"/>
  <Override PartName="/ppt/viewProps.xml" ContentType="application/vnd.openxmlformats-officedocument.presentationml.viewProps+xml"/>
  <Override PartName="/docProps/app.xml" ContentType="application/vnd.openxmlformats-officedocument.extended-properties+xml"/>
  <Override PartName="/ppt/tableStyles.xml" ContentType="application/vnd.openxmlformats-officedocument.presentationml.tableStyles+xml"/>
  <Override PartName="/ppt/notesSlides/notesSlide4.xml" ContentType="application/vnd.openxmlformats-officedocument.presentationml.notesSlide+xml"/>
  <Override PartName="/ppt/slides/slide7.xml" ContentType="application/vnd.openxmlformats-officedocument.presentationml.slide+xml"/>
  <Override PartName="/ppt/notesSlides/notesSlide31.xml" ContentType="application/vnd.openxmlformats-officedocument.presentationml.notesSlide+xml"/>
  <Override PartName="/ppt/slideLayouts/slideLayout17.xml" ContentType="application/vnd.openxmlformats-officedocument.presentationml.slideLayout+xml"/>
  <Override PartName="/ppt/slideLayouts/slideLayout5.xml" ContentType="application/vnd.openxmlformats-officedocument.presentationml.slideLayout+xml"/>
  <Override PartName="/ppt/slides/slide12.xml" ContentType="application/vnd.openxmlformats-officedocument.presentationml.slide+xml"/>
  <Override PartName="/ppt/slideLayouts/slideLayout1.xml" ContentType="application/vnd.openxmlformats-officedocument.presentationml.slideLayout+xml"/>
  <Override PartName="/ppt/slideLayouts/slideLayout4.xml" ContentType="application/vnd.openxmlformats-officedocument.presentationml.slideLayout+xml"/>
  <Override PartName="/ppt/notesSlides/notesSlide22.xml" ContentType="application/vnd.openxmlformats-officedocument.presentationml.notesSlide+xml"/>
  <Override PartName="/ppt/slides/slide3.xml" ContentType="application/vnd.openxmlformats-officedocument.presentationml.slide+xml"/>
  <Override PartName="/ppt/theme/theme1.xml" ContentType="application/vnd.openxmlformats-officedocument.theme+xml"/>
  <Override PartName="/ppt/slides/slide30.xml" ContentType="application/vnd.openxmlformats-officedocument.presentationml.slid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notesSlides/notesSlide28.xml" ContentType="application/vnd.openxmlformats-officedocument.presentationml.notesSlide+xml"/>
  <Override PartName="/ppt/slideLayouts/slideLayout7.xml" ContentType="application/vnd.openxmlformats-officedocument.presentationml.slideLayout+xml"/>
  <Override PartName="/ppt/slides/slide15.xml" ContentType="application/vnd.openxmlformats-officedocument.presentationml.slide+xml"/>
  <Override PartName="/ppt/slides/slide29.xml" ContentType="application/vnd.openxmlformats-officedocument.presentationml.slide+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slides/slide14.xml" ContentType="application/vnd.openxmlformats-officedocument.presentationml.slide+xml"/>
  <Override PartName="/ppt/slides/slide13.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4.xml" ContentType="application/vnd.openxmlformats-officedocument.presentationml.slide+xml"/>
  <Override PartName="/ppt/slideLayouts/slideLayout16.xml" ContentType="application/vnd.openxmlformats-officedocument.presentationml.slideLayout+xml"/>
  <Override PartName="/ppt/slides/slide19.xml" ContentType="application/vnd.openxmlformats-officedocument.presentationml.slide+xml"/>
  <Override PartName="/ppt/notesSlides/notesSlide30.xml" ContentType="application/vnd.openxmlformats-officedocument.presentationml.notesSlide+xml"/>
  <Override PartName="/ppt/slides/slide22.xml" ContentType="application/vnd.openxmlformats-officedocument.presentationml.slide+xml"/>
  <Override PartName="/ppt/notesSlides/notesSlide17.xml" ContentType="application/vnd.openxmlformats-officedocument.presentationml.notesSlide+xml"/>
  <Override PartName="/ppt/slides/slide20.xml" ContentType="application/vnd.openxmlformats-officedocument.presentationml.slide+xml"/>
  <Override PartName="/ppt/slides/slide28.xml" ContentType="application/vnd.openxmlformats-officedocument.presentationml.slide+xml"/>
  <Override PartName="/ppt/notesSlides/notesSlide10.xml" ContentType="application/vnd.openxmlformats-officedocument.presentationml.notesSlide+xml"/>
  <Override PartName="/ppt/notesSlides/notesSlide20.xml" ContentType="application/vnd.openxmlformats-officedocument.presentationml.notesSlide+xml"/>
  <Override PartName="/ppt/slideLayouts/slideLayout24.xml" ContentType="application/vnd.openxmlformats-officedocument.presentationml.slideLayout+xml"/>
  <Override PartName="/ppt/slides/slide23.xml" ContentType="application/vnd.openxmlformats-officedocument.presentationml.slide+xml"/>
  <Override PartName="/ppt/slides/slide24.xml" ContentType="application/vnd.openxmlformats-officedocument.presentationml.slide+xml"/>
  <Override PartName="/ppt/slides/slide1.xml" ContentType="application/vnd.openxmlformats-officedocument.presentationml.slide+xml"/>
  <Override PartName="/ppt/slides/slide25.xml" ContentType="application/vnd.openxmlformats-officedocument.presentationml.slide+xml"/>
  <Override PartName="/ppt/notesSlides/notesSlide14.xml" ContentType="application/vnd.openxmlformats-officedocument.presentationml.notesSlide+xml"/>
  <Override PartName="/ppt/slideLayouts/slideLayout13.xml" ContentType="application/vnd.openxmlformats-officedocument.presentationml.slideLayout+xml"/>
  <Override PartName="/ppt/notesSlides/notesSlide21.xml" ContentType="application/vnd.openxmlformats-officedocument.presentationml.notesSlide+xml"/>
  <Override PartName="/ppt/slides/slide26.xml" ContentType="application/vnd.openxmlformats-officedocument.presentationml.slide+xml"/>
  <Override PartName="/ppt/slides/slide31.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33.xml" ContentType="application/vnd.openxmlformats-officedocument.presentationml.notes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2.xml" ContentType="application/vnd.openxmlformats-officedocument.presentationml.notesSlide+xml"/>
  <Override PartName="/ppt/notesSlides/notesSlide9.xml" ContentType="application/vnd.openxmlformats-officedocument.presentationml.notesSlide+xml"/>
  <Override PartName="/ppt/slides/slide11.xml" ContentType="application/vnd.openxmlformats-officedocument.presentationml.slide+xml"/>
  <Override PartName="/ppt/slideLayouts/slideLayout12.xml" ContentType="application/vnd.openxmlformats-officedocument.presentationml.slideLayout+xml"/>
  <Override PartName="/ppt/notesSlides/notesSlide12.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5.xml" ContentType="application/vnd.openxmlformats-officedocument.presentationml.notesSlide+xml"/>
  <Override PartName="/ppt/presProps.xml" ContentType="application/vnd.openxmlformats-officedocument.presentationml.presProps+xml"/>
  <Override PartName="/ppt/slides/slide21.xml" ContentType="application/vnd.openxmlformats-officedocument.presentationml.slide+xml"/>
  <Override PartName="/ppt/notesSlides/notesSlide27.xml" ContentType="application/vnd.openxmlformats-officedocument.presentationml.notesSlide+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embedTrueTypeFonts="1" saveSubsetFonts="1">
  <p:sldMasterIdLst>
    <p:sldMasterId id="2147483648" r:id="rId1"/>
  </p:sldMasterIdLst>
  <p:notesMasterIdLst>
    <p:notesMasterId r:id="rId38"/>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Lst>
  <p:sldSz cx="12192000" cy="6858000"/>
  <p:notesSz cx="6858000" cy="9144000"/>
  <p:defaultText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83" d="100"/>
          <a:sy n="83" d="100"/>
        </p:scale>
        <p:origin x="792" y="86"/>
      </p:cViewPr>
      <p:guideLst>
        <p:guide pos="3840"/>
        <p:guide pos="2160" orient="horz"/>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notesMaster" Target="notesMasters/notesMaster1.xml"/><Relationship Id="rId39" Type="http://schemas.openxmlformats.org/officeDocument/2006/relationships/presProps" Target="presProps.xml" /><Relationship Id="rId40" Type="http://schemas.openxmlformats.org/officeDocument/2006/relationships/tableStyles" Target="tableStyles.xml" /><Relationship Id="rId41"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608487974"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1325211849"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D648E3F3-8B31-41D2-AA9B-9796555DB866}" type="datetimeFigureOut">
              <a:rPr lang="en-US"/>
              <a:t>7/18/2025</a:t>
            </a:fld>
            <a:endParaRPr lang="en-US"/>
          </a:p>
        </p:txBody>
      </p:sp>
      <p:sp>
        <p:nvSpPr>
          <p:cNvPr id="1075351464" name="Slide Image Placeholder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576084859"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449415978"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2111499182"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BC79BDEF-6165-4E72-B1A6-6E8034CEC248}"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430B6A6-6452-4FF2-C69F-4CFF5E431006}" type="slidenum">
              <a:rPr/>
              <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EC8AA34-D344-7DB8-18C6-78E84C904D63}" type="slidenum">
              <a:rPr/>
              <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390459533" name="Slide Image Placeholder 1"/>
          <p:cNvSpPr>
            <a:spLocks noChangeAspect="1" noGrp="1" noRot="1"/>
          </p:cNvSpPr>
          <p:nvPr>
            <p:ph type="sldImg"/>
          </p:nvPr>
        </p:nvSpPr>
        <p:spPr bwMode="auto"/>
      </p:sp>
      <p:sp>
        <p:nvSpPr>
          <p:cNvPr id="1617442657" name="Notes Placeholder 2"/>
          <p:cNvSpPr>
            <a:spLocks noGrp="1"/>
          </p:cNvSpPr>
          <p:nvPr>
            <p:ph type="body" idx="1"/>
          </p:nvPr>
        </p:nvSpPr>
        <p:spPr bwMode="auto"/>
        <p:txBody>
          <a:bodyPr/>
          <a:lstStyle/>
          <a:p>
            <a:pPr>
              <a:defRPr/>
            </a:pPr>
            <a:endParaRPr lang="en-US"/>
          </a:p>
        </p:txBody>
      </p:sp>
      <p:sp>
        <p:nvSpPr>
          <p:cNvPr id="1293675533" name="Slide Number Placeholder 3"/>
          <p:cNvSpPr>
            <a:spLocks noGrp="1"/>
          </p:cNvSpPr>
          <p:nvPr>
            <p:ph type="sldNum" sz="quarter" idx="10"/>
          </p:nvPr>
        </p:nvSpPr>
        <p:spPr bwMode="auto"/>
        <p:txBody>
          <a:bodyPr/>
          <a:lstStyle/>
          <a:p>
            <a:pPr>
              <a:defRPr/>
            </a:pPr>
            <a:fld id="{3F7A3D7D-4DD0-4519-9573-665089B66871}"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43EC57F-B29F-F8A3-2109-F4750CA11A22}" type="slidenum">
              <a:rPr/>
              <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C5FDDC7-F465-EE36-2307-D6D0904FA9A4}" type="slidenum">
              <a:rPr/>
              <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403E420-2C61-1A5B-6764-C027FA37B72F}" type="slidenum">
              <a:rPr/>
              <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7BF0360-77FF-A92B-94B2-9A0D787E4F72}" type="slidenum">
              <a:rPr/>
              <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52AC37F-4011-DB91-E19F-688E394014ED}" type="slidenum">
              <a:rPr/>
              <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03815E5-85DA-CFEC-5155-5C993092295A}"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424796F8-A1D3-ABD0-3AC5-5D0DEEC2601B}" type="slidenum">
              <a:rPr/>
              <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B97E7FE-57B3-0C4C-50B4-D34641099BD5}" type="slidenum">
              <a:rPr/>
              <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CB81DE4-F00B-5A42-50DF-ACC3FED2C55F}" type="slidenum">
              <a:rPr/>
              <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E8D14895-42C6-3790-992F-F15B6BC96E13}" type="slidenum">
              <a:rPr/>
              <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99EE701-1F56-FE6F-4232-F12BF0F76B41}" type="slidenum">
              <a:rPr/>
              <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286161C-AD60-D6E8-EF2D-4D9D031C90CB}" type="slidenum">
              <a:rPr/>
              <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8E89DDC-0DF0-5118-43AC-9E9A50473FD6}" type="slidenum">
              <a:rPr/>
              <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9A647F4-6481-FD14-348E-F52582EC14AB}" type="slidenum">
              <a:rPr/>
              <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6DA622B-62DB-9230-A2D8-77891F909A23}" type="slidenum">
              <a:rPr/>
              <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342C151-DF08-C725-0164-03BCB2A450EE}" type="slidenum">
              <a:rPr/>
              <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CEC78BFA-BBD4-168C-DCFB-B2BF3D2C26D2}" type="slidenum">
              <a:rPr/>
              <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60765A9-95E6-5635-D180-8A5176B2D1F6}" type="slidenum">
              <a:rPr/>
              <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3EBBABBB-9D05-15CE-0C2F-54306E8B9C7E}" type="slidenum">
              <a:rPr/>
              <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6357AAF1-5FC1-16C6-B1A3-B7A007CE7EB8}" type="slidenum">
              <a:rPr/>
              <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77BE61AD-A69F-83E4-A2CB-19D451BC5076}" type="slidenum">
              <a:rPr/>
              <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7776913-93A0-5262-4D69-82BD6734F9DA}" type="slidenum">
              <a:rPr/>
              <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5238A2FE-83B7-7E13-681D-E4B7CC458B0C}" type="slidenum">
              <a:rPr/>
              <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B098D2AB-1CD6-B833-F54B-2A08D8695DB6}" type="slidenum">
              <a:rPr/>
              <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35A1055-CEDC-1D07-A6D9-9CB05767CB27}" type="slidenum">
              <a:rPr/>
              <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DCBC3CB2-A3B7-EACC-D102-6485BF27FC71}" type="slidenum">
              <a:rPr/>
              <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0D32AD6F-E414-BE3C-4438-0D7D0F080C0F}" type="slidenum">
              <a:rPr/>
              <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868AC52E-BC28-09AF-F8EF-35E2C8F9FCB6}" type="slidenum">
              <a:rPr/>
              <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AA63EA2F-F31B-79DB-7CC7-FAC1579C76F2}" type="slidenum">
              <a:rPr/>
              <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BF3C178-6699-12B5-9FF4-CAD0689CDC20}" type="slidenum">
              <a:rPr/>
              <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271163AC-4F15-E859-75FF-6D390EF4F0DC}" type="slidenum">
              <a:rPr/>
              <a:t/>
            </a:fld>
            <a:endParaRPr/>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jpg"/><Relationship Id="rId9" Type="http://schemas.openxmlformats.org/officeDocument/2006/relationships/image" Target="../media/image8.png"/><Relationship Id="rId10" Type="http://schemas.openxmlformats.org/officeDocument/2006/relationships/image" Target="../media/image9.png"/></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jpg"/><Relationship Id="rId9" Type="http://schemas.openxmlformats.org/officeDocument/2006/relationships/image" Target="../media/image9.png"/></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 Id="rId3" Type="http://schemas.openxmlformats.org/officeDocument/2006/relationships/image" Target="../media/image10.png"/></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11.png"/><Relationship Id="rId4" Type="http://schemas.openxmlformats.org/officeDocument/2006/relationships/image" Target="../media/image12.png"/></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7.jpg"/></Relationships>
</file>

<file path=ppt/slideLayouts/_rels/slideLayout13.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7.jpg"/></Relationships>
</file>

<file path=ppt/slideLayouts/_rels/slideLayout14.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7.jpg"/></Relationships>
</file>

<file path=ppt/slideLayouts/_rels/slideLayout15.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7.jpg"/></Relationships>
</file>

<file path=ppt/slideLayouts/_rels/slideLayout16.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7.jpg"/></Relationships>
</file>

<file path=ppt/slideLayouts/_rels/slideLayout17.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7.jpg"/></Relationships>
</file>

<file path=ppt/slideLayouts/_rels/slideLayout18.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7.jpg"/></Relationships>
</file>

<file path=ppt/slideLayouts/_rels/slideLayout19.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7.jpg"/></Relationships>
</file>

<file path=ppt/slideLayouts/_rels/slideLayout20.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7.jpg"/></Relationships>
</file>

<file path=ppt/slideLayouts/_rels/slideLayout21.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14.jpg"/><Relationship Id="rId10" Type="http://schemas.openxmlformats.org/officeDocument/2006/relationships/image" Target="../media/image7.jpg"/></Relationships>
</file>

<file path=ppt/slideLayouts/_rels/slideLayout22.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12.png"/><Relationship Id="rId8" Type="http://schemas.openxmlformats.org/officeDocument/2006/relationships/image" Target="../media/image5.png"/><Relationship Id="rId9" Type="http://schemas.openxmlformats.org/officeDocument/2006/relationships/image" Target="../media/image7.jpg"/></Relationships>
</file>

<file path=ppt/slideLayouts/_rels/slideLayout2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Default Color">
    <p:spTree>
      <p:nvGrpSpPr>
        <p:cNvPr id="1" name=""/>
        <p:cNvGrpSpPr/>
        <p:nvPr/>
      </p:nvGrpSpPr>
      <p:grpSpPr bwMode="auto">
        <a:xfrm>
          <a:off x="0" y="0"/>
          <a:ext cx="0" cy="0"/>
          <a:chOff x="0" y="0"/>
          <a:chExt cx="0" cy="0"/>
        </a:xfrm>
      </p:grpSpPr>
      <p:pic>
        <p:nvPicPr>
          <p:cNvPr id="1652444253"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945193733" name="TextBox 2"/>
          <p:cNvSpPr txBox="1"/>
          <p:nvPr userDrawn="1"/>
        </p:nvSpPr>
        <p:spPr bwMode="auto">
          <a:xfrm>
            <a:off x="1837677" y="5802204"/>
            <a:ext cx="2287806" cy="338554"/>
          </a:xfrm>
          <a:prstGeom prst="rect">
            <a:avLst/>
          </a:prstGeom>
          <a:noFill/>
        </p:spPr>
        <p:txBody>
          <a:bodyPr wrap="none" rtlCol="0">
            <a:spAutoFit/>
          </a:bodyPr>
          <a:lstStyle/>
          <a:p>
            <a:pPr>
              <a:defRPr/>
            </a:pPr>
            <a:r>
              <a:rPr lang="en-US" sz="1600"/>
              <a:t>Darshan</a:t>
            </a:r>
            <a:r>
              <a:rPr lang="en-US" sz="1600"/>
              <a:t> </a:t>
            </a:r>
            <a:r>
              <a:rPr lang="en-US" sz="1600"/>
              <a:t>University, </a:t>
            </a:r>
            <a:r>
              <a:rPr lang="en-US" sz="1600"/>
              <a:t>Rajkot</a:t>
            </a:r>
            <a:endParaRPr/>
          </a:p>
        </p:txBody>
      </p:sp>
      <p:sp>
        <p:nvSpPr>
          <p:cNvPr id="117107749"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bodyPr>
          <a:lstStyle/>
          <a:p>
            <a:pPr>
              <a:defRPr/>
            </a:pPr>
            <a:endParaRPr lang="en-US"/>
          </a:p>
        </p:txBody>
      </p:sp>
      <p:sp>
        <p:nvSpPr>
          <p:cNvPr id="1640163433"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bodyPr>
          <a:lstStyle/>
          <a:p>
            <a:pPr>
              <a:defRPr/>
            </a:pPr>
            <a:endParaRPr lang="en-US"/>
          </a:p>
        </p:txBody>
      </p:sp>
      <p:pic>
        <p:nvPicPr>
          <p:cNvPr id="1861457910"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cxnSp>
        <p:nvCxnSpPr>
          <p:cNvPr id="548921963"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885452754"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783176447" name="Picture 25"/>
          <p:cNvPicPr>
            <a:picLocks noChangeAspect="1"/>
          </p:cNvPicPr>
          <p:nvPr userDrawn="1"/>
        </p:nvPicPr>
        <p:blipFill rotWithShape="1">
          <a:blip r:embed="rId4"/>
          <a:stretch/>
        </p:blipFill>
        <p:spPr bwMode="auto">
          <a:xfrm>
            <a:off x="1998063" y="6232297"/>
            <a:ext cx="182880" cy="182880"/>
          </a:xfrm>
          <a:prstGeom prst="rect">
            <a:avLst/>
          </a:prstGeom>
        </p:spPr>
      </p:pic>
      <p:pic>
        <p:nvPicPr>
          <p:cNvPr id="1443624952" name="Picture 26"/>
          <p:cNvPicPr>
            <a:picLocks noChangeAspect="1"/>
          </p:cNvPicPr>
          <p:nvPr userDrawn="1"/>
        </p:nvPicPr>
        <p:blipFill rotWithShape="1">
          <a:blip r:embed="rId5"/>
          <a:stretch/>
        </p:blipFill>
        <p:spPr bwMode="auto">
          <a:xfrm>
            <a:off x="1998063" y="6505320"/>
            <a:ext cx="182880" cy="182880"/>
          </a:xfrm>
          <a:prstGeom prst="rect">
            <a:avLst/>
          </a:prstGeom>
        </p:spPr>
      </p:pic>
      <p:sp>
        <p:nvSpPr>
          <p:cNvPr id="188698525"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1088284976"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2080141437"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402883268"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0">
                      <a:srgbClr val="1D3064"/>
                    </a:gs>
                    <a:gs pos="100000">
                      <a:schemeClr val="tx2"/>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660612606" name="Picture 54"/>
          <p:cNvPicPr>
            <a:picLocks noChangeAspect="1"/>
          </p:cNvPicPr>
          <p:nvPr userDrawn="1"/>
        </p:nvPicPr>
        <p:blipFill rotWithShape="1">
          <a:blip r:embed="rId6"/>
          <a:srcRect l="62023" t="18062" r="2730" b="17724"/>
          <a:stretch/>
        </p:blipFill>
        <p:spPr bwMode="auto">
          <a:xfrm>
            <a:off x="63248" y="837717"/>
            <a:ext cx="1087893" cy="772151"/>
          </a:xfrm>
          <a:prstGeom prst="rect">
            <a:avLst/>
          </a:prstGeom>
        </p:spPr>
      </p:pic>
      <p:sp>
        <p:nvSpPr>
          <p:cNvPr id="1746300672"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 </a:t>
            </a:r>
            <a:r>
              <a:rPr lang="en-US"/>
              <a:t>Subject Code</a:t>
            </a:r>
            <a:endParaRPr/>
          </a:p>
        </p:txBody>
      </p:sp>
      <p:pic>
        <p:nvPicPr>
          <p:cNvPr id="5986873" name="Picture 19"/>
          <p:cNvPicPr>
            <a:picLocks noChangeAspect="1"/>
          </p:cNvPicPr>
          <p:nvPr userDrawn="1"/>
        </p:nvPicPr>
        <p:blipFill rotWithShape="1">
          <a:blip r:embed="rId7"/>
          <a:srcRect l="144383" t="-16142" r="-144383" b="22103"/>
          <a:stretch/>
        </p:blipFill>
        <p:spPr bwMode="auto">
          <a:xfrm>
            <a:off x="1834747" y="3985791"/>
            <a:ext cx="3075940" cy="2892592"/>
          </a:xfrm>
          <a:prstGeom prst="rect">
            <a:avLst/>
          </a:prstGeom>
        </p:spPr>
      </p:pic>
      <p:pic>
        <p:nvPicPr>
          <p:cNvPr id="574004348" name="Picture 35" descr="User icon Royalty Free Vector Image - VectorStock"/>
          <p:cNvPicPr>
            <a:picLocks noChangeAspect="1" noChangeArrowheads="1"/>
          </p:cNvPicPr>
          <p:nvPr userDrawn="1"/>
        </p:nvPicPr>
        <p:blipFill rotWithShape="1">
          <a:blip r:embed="rId8">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308624822" name="Picture Placeholder 36"/>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pic>
        <p:nvPicPr>
          <p:cNvPr id="1454014487" name="Picture 4" descr="http://btechsmartclass.com/DS/images/Tree.png"/>
          <p:cNvPicPr>
            <a:picLocks noChangeAspect="1" noChangeArrowheads="1"/>
          </p:cNvPicPr>
          <p:nvPr userDrawn="1"/>
        </p:nvPicPr>
        <p:blipFill rotWithShape="1">
          <a:blip r:embed="rId9">
            <a:duotone>
              <a:schemeClr val="accent1">
                <a:shade val="45000"/>
                <a:satMod val="135000"/>
              </a:schemeClr>
              <a:prstClr val="white"/>
            </a:duotone>
          </a:blip>
          <a:srcRect l="0" t="0" r="46857" b="0"/>
          <a:stretch/>
        </p:blipFill>
        <p:spPr bwMode="auto">
          <a:xfrm>
            <a:off x="8145345" y="1822751"/>
            <a:ext cx="3573396" cy="2881771"/>
          </a:xfrm>
          <a:prstGeom prst="rect">
            <a:avLst/>
          </a:prstGeom>
          <a:noFill/>
        </p:spPr>
      </p:pic>
      <p:pic>
        <p:nvPicPr>
          <p:cNvPr id="1515414810" name="Picture 30"/>
          <p:cNvPicPr>
            <a:picLocks noChangeAspect="1"/>
          </p:cNvPicPr>
          <p:nvPr userDrawn="1"/>
        </p:nvPicPr>
        <p:blipFill rotWithShape="1">
          <a:blip r:embed="rId10"/>
          <a:stretch/>
        </p:blipFill>
        <p:spPr bwMode="auto">
          <a:xfrm>
            <a:off x="9137162" y="307556"/>
            <a:ext cx="2704049" cy="821995"/>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Thank You Slide - Default Color">
    <p:spTree>
      <p:nvGrpSpPr>
        <p:cNvPr id="1" name=""/>
        <p:cNvGrpSpPr/>
        <p:nvPr/>
      </p:nvGrpSpPr>
      <p:grpSpPr bwMode="auto">
        <a:xfrm>
          <a:off x="0" y="0"/>
          <a:ext cx="0" cy="0"/>
          <a:chOff x="0" y="0"/>
          <a:chExt cx="0" cy="0"/>
        </a:xfrm>
      </p:grpSpPr>
      <p:pic>
        <p:nvPicPr>
          <p:cNvPr id="2137118557"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642728969" name="TextBox 2"/>
          <p:cNvSpPr txBox="1"/>
          <p:nvPr userDrawn="1"/>
        </p:nvSpPr>
        <p:spPr bwMode="auto">
          <a:xfrm>
            <a:off x="1837677" y="5802204"/>
            <a:ext cx="2287806" cy="338554"/>
          </a:xfrm>
          <a:prstGeom prst="rect">
            <a:avLst/>
          </a:prstGeom>
          <a:noFill/>
        </p:spPr>
        <p:txBody>
          <a:bodyPr wrap="none" rtlCol="0">
            <a:spAutoFit/>
          </a:bodyPr>
          <a:lstStyle/>
          <a:p>
            <a:pPr>
              <a:defRPr/>
            </a:pPr>
            <a:r>
              <a:rPr lang="en-US" sz="1600"/>
              <a:t>Darshan</a:t>
            </a:r>
            <a:r>
              <a:rPr lang="en-US" sz="1600"/>
              <a:t> </a:t>
            </a:r>
            <a:r>
              <a:rPr lang="en-US" sz="1600"/>
              <a:t>University, </a:t>
            </a:r>
            <a:r>
              <a:rPr lang="en-US" sz="1600"/>
              <a:t>Rajkot</a:t>
            </a:r>
            <a:endParaRPr/>
          </a:p>
        </p:txBody>
      </p:sp>
      <p:sp>
        <p:nvSpPr>
          <p:cNvPr id="2022593723"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bodyPr>
          <a:lstStyle/>
          <a:p>
            <a:pPr>
              <a:defRPr/>
            </a:pPr>
            <a:endParaRPr lang="en-US"/>
          </a:p>
        </p:txBody>
      </p:sp>
      <p:sp>
        <p:nvSpPr>
          <p:cNvPr id="891735778"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bodyPr>
          <a:lstStyle/>
          <a:p>
            <a:pPr>
              <a:defRPr/>
            </a:pPr>
            <a:endParaRPr lang="en-US"/>
          </a:p>
        </p:txBody>
      </p:sp>
      <p:pic>
        <p:nvPicPr>
          <p:cNvPr id="1743664723"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cxnSp>
        <p:nvCxnSpPr>
          <p:cNvPr id="836301927"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pic>
        <p:nvPicPr>
          <p:cNvPr id="748254022" name="Picture 25"/>
          <p:cNvPicPr>
            <a:picLocks noChangeAspect="1"/>
          </p:cNvPicPr>
          <p:nvPr userDrawn="1"/>
        </p:nvPicPr>
        <p:blipFill rotWithShape="1">
          <a:blip r:embed="rId4"/>
          <a:stretch/>
        </p:blipFill>
        <p:spPr bwMode="auto">
          <a:xfrm>
            <a:off x="1998063" y="6232297"/>
            <a:ext cx="182880" cy="182880"/>
          </a:xfrm>
          <a:prstGeom prst="rect">
            <a:avLst/>
          </a:prstGeom>
        </p:spPr>
      </p:pic>
      <p:pic>
        <p:nvPicPr>
          <p:cNvPr id="1322882912" name="Picture 26"/>
          <p:cNvPicPr>
            <a:picLocks noChangeAspect="1"/>
          </p:cNvPicPr>
          <p:nvPr userDrawn="1"/>
        </p:nvPicPr>
        <p:blipFill rotWithShape="1">
          <a:blip r:embed="rId5"/>
          <a:stretch/>
        </p:blipFill>
        <p:spPr bwMode="auto">
          <a:xfrm>
            <a:off x="1998063" y="6505320"/>
            <a:ext cx="182880" cy="182880"/>
          </a:xfrm>
          <a:prstGeom prst="rect">
            <a:avLst/>
          </a:prstGeom>
        </p:spPr>
      </p:pic>
      <p:sp>
        <p:nvSpPr>
          <p:cNvPr id="742266295"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219209628"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668634033"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301049322"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0">
                      <a:srgbClr val="1D3064"/>
                    </a:gs>
                    <a:gs pos="100000">
                      <a:schemeClr val="tx2"/>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856706387" name="Picture 54"/>
          <p:cNvPicPr>
            <a:picLocks noChangeAspect="1"/>
          </p:cNvPicPr>
          <p:nvPr userDrawn="1"/>
        </p:nvPicPr>
        <p:blipFill rotWithShape="1">
          <a:blip r:embed="rId6"/>
          <a:srcRect l="62023" t="18062" r="2730" b="17724"/>
          <a:stretch/>
        </p:blipFill>
        <p:spPr bwMode="auto">
          <a:xfrm>
            <a:off x="63248" y="837717"/>
            <a:ext cx="1087893" cy="772151"/>
          </a:xfrm>
          <a:prstGeom prst="rect">
            <a:avLst/>
          </a:prstGeom>
        </p:spPr>
      </p:pic>
      <p:sp>
        <p:nvSpPr>
          <p:cNvPr id="1601376972"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 </a:t>
            </a:r>
            <a:r>
              <a:rPr lang="en-US"/>
              <a:t>Subject Code</a:t>
            </a:r>
            <a:endParaRPr/>
          </a:p>
        </p:txBody>
      </p:sp>
      <p:pic>
        <p:nvPicPr>
          <p:cNvPr id="409103032" name="Picture 19"/>
          <p:cNvPicPr>
            <a:picLocks noChangeAspect="1"/>
          </p:cNvPicPr>
          <p:nvPr userDrawn="1"/>
        </p:nvPicPr>
        <p:blipFill rotWithShape="1">
          <a:blip r:embed="rId7"/>
          <a:srcRect l="144383" t="-16142" r="-144383" b="22103"/>
          <a:stretch/>
        </p:blipFill>
        <p:spPr bwMode="auto">
          <a:xfrm>
            <a:off x="1834747" y="3985791"/>
            <a:ext cx="3075940" cy="2892592"/>
          </a:xfrm>
          <a:prstGeom prst="rect">
            <a:avLst/>
          </a:prstGeom>
        </p:spPr>
      </p:pic>
      <p:pic>
        <p:nvPicPr>
          <p:cNvPr id="1752917394" name="Picture 35" descr="User icon Royalty Free Vector Image - VectorStock"/>
          <p:cNvPicPr>
            <a:picLocks noChangeAspect="1" noChangeArrowheads="1"/>
          </p:cNvPicPr>
          <p:nvPr userDrawn="1"/>
        </p:nvPicPr>
        <p:blipFill rotWithShape="1">
          <a:blip r:embed="rId8">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690052493" name="Picture Placeholder 36"/>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
        <p:nvSpPr>
          <p:cNvPr id="712136168" name="Hexagon 29"/>
          <p:cNvSpPr/>
          <p:nvPr userDrawn="1"/>
        </p:nvSpPr>
        <p:spPr bwMode="auto">
          <a:xfrm rot="5400000">
            <a:off x="4309292" y="1717040"/>
            <a:ext cx="3461658" cy="2984188"/>
          </a:xfrm>
          <a:prstGeom prst="hexagon">
            <a:avLst>
              <a:gd name="adj" fmla="val 25000"/>
              <a:gd name="vf" fmla="val 115470"/>
            </a:avLst>
          </a:prstGeom>
          <a:solidFill>
            <a:schemeClr val="bg1">
              <a:lumMod val="95000"/>
            </a:schemeClr>
          </a:solidFill>
          <a:ln w="57150">
            <a:solidFill>
              <a:srgbClr val="1D3064"/>
            </a:solidFill>
            <a:prstDash val="lgDash"/>
          </a:ln>
        </p:spPr>
        <p:style>
          <a:lnRef idx="1">
            <a:schemeClr val="accent1"/>
          </a:lnRef>
          <a:fillRef idx="2">
            <a:schemeClr val="accent1"/>
          </a:fillRef>
          <a:effectRef idx="1">
            <a:schemeClr val="accent1"/>
          </a:effectRef>
          <a:fontRef idx="minor">
            <a:schemeClr val="dk1"/>
          </a:fontRef>
        </p:style>
        <p:txBody>
          <a:bodyPr rtlCol="0" anchor="ctr"/>
          <a:lstStyle/>
          <a:p>
            <a:pPr algn="ctr">
              <a:defRPr/>
            </a:pPr>
            <a:endParaRPr lang="en-US"/>
          </a:p>
        </p:txBody>
      </p:sp>
      <p:sp>
        <p:nvSpPr>
          <p:cNvPr id="1310182350" name="TextBox 30"/>
          <p:cNvSpPr txBox="1"/>
          <p:nvPr userDrawn="1"/>
        </p:nvSpPr>
        <p:spPr bwMode="auto">
          <a:xfrm>
            <a:off x="5014038" y="2239638"/>
            <a:ext cx="2052165" cy="1938992"/>
          </a:xfrm>
          <a:prstGeom prst="rect">
            <a:avLst/>
          </a:prstGeom>
          <a:noFill/>
        </p:spPr>
        <p:txBody>
          <a:bodyPr wrap="none" rtlCol="0">
            <a:spAutoFit/>
          </a:bodyPr>
          <a:lstStyle/>
          <a:p>
            <a:pPr algn="ctr">
              <a:defRPr/>
            </a:pPr>
            <a:r>
              <a:rPr lang="en-US" sz="6000" b="1" i="1"/>
              <a:t>Thank</a:t>
            </a:r>
            <a:endParaRPr/>
          </a:p>
          <a:p>
            <a:pPr algn="ctr">
              <a:defRPr/>
            </a:pPr>
            <a:r>
              <a:rPr lang="en-US" sz="6000" b="1" i="1"/>
              <a:t>You</a:t>
            </a:r>
            <a:endParaRPr lang="en-US" sz="6000" b="1" i="1"/>
          </a:p>
        </p:txBody>
      </p:sp>
      <p:sp>
        <p:nvSpPr>
          <p:cNvPr id="852213088" name="Rectangle 33"/>
          <p:cNvSpPr/>
          <p:nvPr userDrawn="1"/>
        </p:nvSpPr>
        <p:spPr bwMode="auto">
          <a:xfrm>
            <a:off x="7678346" y="2221532"/>
            <a:ext cx="4513654"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defRPr/>
            </a:pPr>
            <a:endParaRPr lang="en-US"/>
          </a:p>
        </p:txBody>
      </p:sp>
      <p:sp>
        <p:nvSpPr>
          <p:cNvPr id="541923927" name="Rectangle 34"/>
          <p:cNvSpPr/>
          <p:nvPr userDrawn="1"/>
        </p:nvSpPr>
        <p:spPr bwMode="auto">
          <a:xfrm>
            <a:off x="0" y="2221532"/>
            <a:ext cx="4402106" cy="1951692"/>
          </a:xfrm>
          <a:prstGeom prst="rect">
            <a:avLst/>
          </a:prstGeom>
          <a:solidFill>
            <a:srgbClr val="1D3064"/>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defRPr/>
            </a:pPr>
            <a:endParaRPr lang="en-US"/>
          </a:p>
        </p:txBody>
      </p:sp>
      <p:pic>
        <p:nvPicPr>
          <p:cNvPr id="1680159624" name="Picture 32"/>
          <p:cNvPicPr>
            <a:picLocks noChangeAspect="1"/>
          </p:cNvPicPr>
          <p:nvPr userDrawn="1"/>
        </p:nvPicPr>
        <p:blipFill rotWithShape="1">
          <a:blip r:embed="rId9"/>
          <a:stretch/>
        </p:blipFill>
        <p:spPr bwMode="auto">
          <a:xfrm>
            <a:off x="9137162" y="307556"/>
            <a:ext cx="2704049" cy="821995"/>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Content - Logo on TR">
    <p:spTree>
      <p:nvGrpSpPr>
        <p:cNvPr id="1" name=""/>
        <p:cNvGrpSpPr/>
        <p:nvPr/>
      </p:nvGrpSpPr>
      <p:grpSpPr bwMode="auto">
        <a:xfrm>
          <a:off x="0" y="0"/>
          <a:ext cx="0" cy="0"/>
          <a:chOff x="0" y="0"/>
          <a:chExt cx="0" cy="0"/>
        </a:xfrm>
      </p:grpSpPr>
      <p:grpSp>
        <p:nvGrpSpPr>
          <p:cNvPr id="468580550" name="Group 13"/>
          <p:cNvGrpSpPr/>
          <p:nvPr userDrawn="1"/>
        </p:nvGrpSpPr>
        <p:grpSpPr bwMode="auto">
          <a:xfrm>
            <a:off x="9678496" y="861192"/>
            <a:ext cx="2554142" cy="587454"/>
            <a:chOff x="9424496" y="861192"/>
            <a:chExt cx="2554142" cy="587454"/>
          </a:xfrm>
        </p:grpSpPr>
        <p:pic>
          <p:nvPicPr>
            <p:cNvPr id="15" name="Picture 14"/>
            <p:cNvPicPr>
              <a:picLocks noChangeAspect="1"/>
            </p:cNvPicPr>
            <p:nvPr userDrawn="1"/>
          </p:nvPicPr>
          <p:blipFill rotWithShape="1">
            <a:blip r:embed="rId2"/>
            <a:stretch/>
          </p:blipFill>
          <p:spPr bwMode="auto">
            <a:xfrm>
              <a:off x="9875018" y="861192"/>
              <a:ext cx="1932495" cy="587453"/>
            </a:xfrm>
            <a:prstGeom prst="rect">
              <a:avLst/>
            </a:prstGeom>
          </p:spPr>
        </p:pic>
        <p:sp>
          <p:nvSpPr>
            <p:cNvPr id="21" name="Rectangle 20"/>
            <p:cNvSpPr/>
            <p:nvPr userDrawn="1"/>
          </p:nvSpPr>
          <p:spPr bwMode="auto">
            <a:xfrm>
              <a:off x="9424496" y="8611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pic>
        <p:nvPicPr>
          <p:cNvPr id="1368236151" name="Shape 56"/>
          <p:cNvPicPr/>
          <p:nvPr userDrawn="1"/>
        </p:nvPicPr>
        <p:blipFill rotWithShape="1">
          <a:blip r:embed="rId3">
            <a:alphaModFix/>
          </a:blip>
          <a:srcRect l="0" t="86739" r="1768" b="3534"/>
          <a:stretch/>
        </p:blipFill>
        <p:spPr bwMode="auto">
          <a:xfrm>
            <a:off x="0" y="0"/>
            <a:ext cx="12192000" cy="711201"/>
          </a:xfrm>
          <a:prstGeom prst="rect">
            <a:avLst/>
          </a:prstGeom>
          <a:noFill/>
          <a:ln>
            <a:noFill/>
          </a:ln>
          <a:effectLst/>
        </p:spPr>
      </p:pic>
      <p:sp>
        <p:nvSpPr>
          <p:cNvPr id="1080911564" name="Title 1"/>
          <p:cNvSpPr>
            <a:spLocks noGrp="1"/>
          </p:cNvSpPr>
          <p:nvPr>
            <p:ph type="title"/>
          </p:nvPr>
        </p:nvSpPr>
        <p:spPr bwMode="auto">
          <a:xfrm>
            <a:off x="0" y="1"/>
            <a:ext cx="12192000" cy="711200"/>
          </a:xfrm>
          <a:prstGeom prst="rect">
            <a:avLst/>
          </a:prstGeom>
          <a:solidFill>
            <a:srgbClr val="C0C0C0">
              <a:alpha val="50000"/>
            </a:srgbClr>
          </a:solidFill>
          <a:ln>
            <a:noFill/>
          </a:ln>
        </p:spPr>
        <p:txBody>
          <a:bodyPr lIns="216000" tIns="108000" rIns="216000" bIns="108000">
            <a:normAutofit/>
          </a:bodyPr>
          <a:lstStyle>
            <a:lvl1pPr>
              <a:defRPr lang="en-US" sz="3400" b="1">
                <a:solidFill>
                  <a:schemeClr val="tx1">
                    <a:lumMod val="90000"/>
                    <a:lumOff val="10000"/>
                  </a:schemeClr>
                </a:solidFill>
                <a:latin typeface="+mj-lt"/>
                <a:ea typeface="+mj-ea"/>
                <a:cs typeface="+mj-cs"/>
              </a:defRPr>
            </a:lvl1pPr>
          </a:lstStyle>
          <a:p>
            <a:pPr>
              <a:defRPr/>
            </a:pPr>
            <a:r>
              <a:rPr lang="en-US"/>
              <a:t>Click to edit Master title style</a:t>
            </a:r>
            <a:endParaRPr/>
          </a:p>
        </p:txBody>
      </p:sp>
      <p:sp>
        <p:nvSpPr>
          <p:cNvPr id="1254637313" name="Content Placeholder 2"/>
          <p:cNvSpPr>
            <a:spLocks noGrp="1"/>
          </p:cNvSpPr>
          <p:nvPr>
            <p:ph idx="1"/>
          </p:nvPr>
        </p:nvSpPr>
        <p:spPr bwMode="auto">
          <a:xfrm>
            <a:off x="131180" y="863444"/>
            <a:ext cx="11929641" cy="5590565"/>
          </a:xfrm>
        </p:spPr>
        <p:txBody>
          <a:bodyPr>
            <a:noAutofit/>
          </a:bodyPr>
          <a:lstStyle>
            <a:lvl1pPr marL="265113" indent="-265113" algn="just">
              <a:lnSpc>
                <a:spcPct val="113999"/>
              </a:lnSpc>
              <a:buClr>
                <a:schemeClr val="accent6"/>
              </a:buClr>
              <a:buFont typeface="Wingdings 3"/>
              <a:buChar char=""/>
              <a:defRPr sz="2400">
                <a:solidFill>
                  <a:schemeClr val="tx1"/>
                </a:solidFill>
              </a:defRPr>
            </a:lvl1pPr>
            <a:lvl2pPr marL="809625" indent="-352425" algn="just">
              <a:lnSpc>
                <a:spcPct val="113999"/>
              </a:lnSpc>
              <a:buClr>
                <a:schemeClr val="accent6"/>
              </a:buClr>
              <a:buFont typeface="Wingdings 3"/>
              <a:buChar char=""/>
              <a:defRPr sz="2000">
                <a:solidFill>
                  <a:schemeClr val="tx1"/>
                </a:solidFill>
              </a:defRPr>
            </a:lvl2pPr>
            <a:lvl3pPr marL="1143000" indent="-228600" algn="just">
              <a:lnSpc>
                <a:spcPct val="113999"/>
              </a:lnSpc>
              <a:buClr>
                <a:schemeClr val="accent6"/>
              </a:buClr>
              <a:buFont typeface="Wingdings"/>
              <a:buChar char="§"/>
              <a:defRPr sz="1800">
                <a:solidFill>
                  <a:schemeClr val="tx1"/>
                </a:solidFill>
              </a:defRPr>
            </a:lvl3pPr>
            <a:lvl4pPr algn="just">
              <a:lnSpc>
                <a:spcPct val="113999"/>
              </a:lnSpc>
              <a:buClr>
                <a:schemeClr val="accent6"/>
              </a:buClr>
              <a:defRPr sz="1600">
                <a:solidFill>
                  <a:schemeClr val="tx1"/>
                </a:solidFill>
              </a:defRPr>
            </a:lvl4pPr>
            <a:lvl5pPr algn="just">
              <a:lnSpc>
                <a:spcPct val="113999"/>
              </a:lnSpc>
              <a:buClr>
                <a:schemeClr val="accent6"/>
              </a:buClr>
              <a:defRPr sz="1600">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cxnSp>
        <p:nvCxnSpPr>
          <p:cNvPr id="270615984" name="Straight Connector 19"/>
          <p:cNvCxnSpPr/>
          <p:nvPr userDrawn="1"/>
        </p:nvCxnSpPr>
        <p:spPr bwMode="auto">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84462987"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928558084"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
        <p:nvSpPr>
          <p:cNvPr id="838937945"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1560365378" name="Straight Connector 22"/>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925266735" name="Footer Placeholder 2"/>
          <p:cNvSpPr txBox="1"/>
          <p:nvPr userDrawn="1"/>
        </p:nvSpPr>
        <p:spPr bwMode="auto">
          <a:xfrm>
            <a:off x="4038598" y="6604000"/>
            <a:ext cx="4571999"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 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a:t>
            </a:r>
            <a:r>
              <a:rPr lang="en-US">
                <a:solidFill>
                  <a:schemeClr val="tx1">
                    <a:lumMod val="90000"/>
                    <a:lumOff val="10000"/>
                  </a:schemeClr>
                </a:solidFill>
                <a:latin typeface="Roboto Condensed Light"/>
                <a:ea typeface="Roboto Condensed Light"/>
              </a:rPr>
              <a:t>Unit 3 (Part 2) – Tree -  Non-Linear Data Structure</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Content - Logo on BR">
    <p:spTree>
      <p:nvGrpSpPr>
        <p:cNvPr id="1" name=""/>
        <p:cNvGrpSpPr/>
        <p:nvPr/>
      </p:nvGrpSpPr>
      <p:grpSpPr bwMode="auto">
        <a:xfrm>
          <a:off x="0" y="0"/>
          <a:ext cx="0" cy="0"/>
          <a:chOff x="0" y="0"/>
          <a:chExt cx="0" cy="0"/>
        </a:xfrm>
      </p:grpSpPr>
      <p:grpSp>
        <p:nvGrpSpPr>
          <p:cNvPr id="137585744" name="Group 13"/>
          <p:cNvGrpSpPr/>
          <p:nvPr userDrawn="1"/>
        </p:nvGrpSpPr>
        <p:grpSpPr bwMode="auto">
          <a:xfrm>
            <a:off x="9792796" y="5890392"/>
            <a:ext cx="2554142" cy="587454"/>
            <a:chOff x="9475296" y="5890392"/>
            <a:chExt cx="2554142" cy="587454"/>
          </a:xfrm>
        </p:grpSpPr>
        <p:pic>
          <p:nvPicPr>
            <p:cNvPr id="15" name="Picture 14"/>
            <p:cNvPicPr>
              <a:picLocks noChangeAspect="1"/>
            </p:cNvPicPr>
            <p:nvPr userDrawn="1"/>
          </p:nvPicPr>
          <p:blipFill rotWithShape="1">
            <a:blip r:embed="rId2"/>
            <a:stretch/>
          </p:blipFill>
          <p:spPr bwMode="auto">
            <a:xfrm>
              <a:off x="9824218" y="5890392"/>
              <a:ext cx="1932495" cy="587453"/>
            </a:xfrm>
            <a:prstGeom prst="rect">
              <a:avLst/>
            </a:prstGeom>
          </p:spPr>
        </p:pic>
        <p:sp>
          <p:nvSpPr>
            <p:cNvPr id="21" name="Rectangle 20"/>
            <p:cNvSpPr/>
            <p:nvPr userDrawn="1"/>
          </p:nvSpPr>
          <p:spPr bwMode="auto">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510987689"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00616213"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
        <p:nvSpPr>
          <p:cNvPr id="1874604713"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pic>
        <p:nvPicPr>
          <p:cNvPr id="1035514790" name="Shape 56"/>
          <p:cNvPicPr/>
          <p:nvPr userDrawn="1"/>
        </p:nvPicPr>
        <p:blipFill rotWithShape="1">
          <a:blip r:embed="rId3">
            <a:alphaModFix/>
          </a:blip>
          <a:srcRect l="0" t="86739" r="1768" b="3534"/>
          <a:stretch/>
        </p:blipFill>
        <p:spPr bwMode="auto">
          <a:xfrm>
            <a:off x="0" y="0"/>
            <a:ext cx="12192000" cy="711201"/>
          </a:xfrm>
          <a:prstGeom prst="rect">
            <a:avLst/>
          </a:prstGeom>
          <a:noFill/>
          <a:ln>
            <a:noFill/>
          </a:ln>
          <a:effectLst/>
        </p:spPr>
      </p:pic>
      <p:sp>
        <p:nvSpPr>
          <p:cNvPr id="1333019625" name="Title 1"/>
          <p:cNvSpPr>
            <a:spLocks noGrp="1"/>
          </p:cNvSpPr>
          <p:nvPr>
            <p:ph type="title"/>
          </p:nvPr>
        </p:nvSpPr>
        <p:spPr bwMode="auto">
          <a:xfrm>
            <a:off x="0" y="1"/>
            <a:ext cx="12192000" cy="711200"/>
          </a:xfrm>
          <a:prstGeom prst="rect">
            <a:avLst/>
          </a:prstGeom>
          <a:solidFill>
            <a:srgbClr val="C0C0C0">
              <a:alpha val="50000"/>
            </a:srgbClr>
          </a:solidFill>
          <a:ln>
            <a:noFill/>
          </a:ln>
        </p:spPr>
        <p:txBody>
          <a:bodyPr lIns="216000" tIns="108000" rIns="216000" bIns="108000">
            <a:normAutofit/>
          </a:bodyPr>
          <a:lstStyle>
            <a:lvl1pPr>
              <a:defRPr lang="en-US" sz="3400" b="1">
                <a:solidFill>
                  <a:schemeClr val="tx1">
                    <a:lumMod val="90000"/>
                    <a:lumOff val="10000"/>
                  </a:schemeClr>
                </a:solidFill>
                <a:latin typeface="+mj-lt"/>
                <a:ea typeface="+mj-ea"/>
                <a:cs typeface="+mj-cs"/>
              </a:defRPr>
            </a:lvl1pPr>
          </a:lstStyle>
          <a:p>
            <a:pPr>
              <a:defRPr/>
            </a:pPr>
            <a:r>
              <a:rPr lang="en-US"/>
              <a:t>Click to edit Master title style</a:t>
            </a:r>
            <a:endParaRPr/>
          </a:p>
        </p:txBody>
      </p:sp>
      <p:sp>
        <p:nvSpPr>
          <p:cNvPr id="98525535" name="Content Placeholder 2"/>
          <p:cNvSpPr>
            <a:spLocks noGrp="1"/>
          </p:cNvSpPr>
          <p:nvPr>
            <p:ph idx="1"/>
          </p:nvPr>
        </p:nvSpPr>
        <p:spPr bwMode="auto">
          <a:xfrm>
            <a:off x="131180" y="863444"/>
            <a:ext cx="11929641" cy="5590565"/>
          </a:xfrm>
        </p:spPr>
        <p:txBody>
          <a:bodyPr>
            <a:noAutofit/>
          </a:bodyPr>
          <a:lstStyle>
            <a:lvl1pPr marL="265113" indent="-265113" algn="just">
              <a:lnSpc>
                <a:spcPct val="113999"/>
              </a:lnSpc>
              <a:spcBef>
                <a:spcPts val="1000"/>
              </a:spcBef>
              <a:buClr>
                <a:schemeClr val="accent6"/>
              </a:buClr>
              <a:buFont typeface="Wingdings 3"/>
              <a:buChar char=""/>
              <a:defRPr sz="2400">
                <a:solidFill>
                  <a:schemeClr val="tx1"/>
                </a:solidFill>
              </a:defRPr>
            </a:lvl1pPr>
            <a:lvl2pPr marL="809625" indent="-352425" algn="just">
              <a:lnSpc>
                <a:spcPct val="113999"/>
              </a:lnSpc>
              <a:spcBef>
                <a:spcPts val="1000"/>
              </a:spcBef>
              <a:buClr>
                <a:schemeClr val="accent6"/>
              </a:buClr>
              <a:buFont typeface="Wingdings 3"/>
              <a:buChar char=""/>
              <a:defRPr sz="2000">
                <a:solidFill>
                  <a:schemeClr val="tx1"/>
                </a:solidFill>
              </a:defRPr>
            </a:lvl2pPr>
            <a:lvl3pPr marL="1143000" indent="-228600" algn="just">
              <a:lnSpc>
                <a:spcPct val="113999"/>
              </a:lnSpc>
              <a:spcBef>
                <a:spcPts val="1000"/>
              </a:spcBef>
              <a:buClr>
                <a:schemeClr val="accent6"/>
              </a:buClr>
              <a:buFont typeface="Wingdings"/>
              <a:buChar char="§"/>
              <a:defRPr sz="1800">
                <a:solidFill>
                  <a:schemeClr val="tx1"/>
                </a:solidFill>
              </a:defRPr>
            </a:lvl3pPr>
            <a:lvl4pPr algn="just">
              <a:lnSpc>
                <a:spcPct val="113999"/>
              </a:lnSpc>
              <a:spcBef>
                <a:spcPts val="1000"/>
              </a:spcBef>
              <a:buClr>
                <a:schemeClr val="accent6"/>
              </a:buClr>
              <a:defRPr sz="1600">
                <a:solidFill>
                  <a:schemeClr val="tx1"/>
                </a:solidFill>
              </a:defRPr>
            </a:lvl4pPr>
            <a:lvl5pPr algn="just">
              <a:lnSpc>
                <a:spcPct val="113999"/>
              </a:lnSpc>
              <a:spcBef>
                <a:spcPts val="1000"/>
              </a:spcBef>
              <a:buClr>
                <a:schemeClr val="accent6"/>
              </a:buClr>
              <a:defRPr sz="1600">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cxnSp>
        <p:nvCxnSpPr>
          <p:cNvPr id="713641723" name="Straight Connector 19"/>
          <p:cNvCxnSpPr/>
          <p:nvPr userDrawn="1"/>
        </p:nvCxnSpPr>
        <p:spPr bwMode="auto">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51818905" name="Straight Connector 23"/>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51623696" name="Footer Placeholder 2"/>
          <p:cNvSpPr txBox="1"/>
          <p:nvPr userDrawn="1"/>
        </p:nvSpPr>
        <p:spPr bwMode="auto">
          <a:xfrm>
            <a:off x="4038598" y="6604000"/>
            <a:ext cx="4571999"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 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a:t>
            </a:r>
            <a:r>
              <a:rPr lang="en-US">
                <a:solidFill>
                  <a:schemeClr val="tx1">
                    <a:lumMod val="90000"/>
                    <a:lumOff val="10000"/>
                  </a:schemeClr>
                </a:solidFill>
                <a:latin typeface="Roboto Condensed Light"/>
                <a:ea typeface="Roboto Condensed Light"/>
              </a:rPr>
              <a:t>Unit 3 (Part 2) – Tree -  Non-Linear Data Structure</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and Content - Logo on BL">
    <p:spTree>
      <p:nvGrpSpPr>
        <p:cNvPr id="1" name=""/>
        <p:cNvGrpSpPr/>
        <p:nvPr/>
      </p:nvGrpSpPr>
      <p:grpSpPr bwMode="auto">
        <a:xfrm>
          <a:off x="0" y="0"/>
          <a:ext cx="0" cy="0"/>
          <a:chOff x="0" y="0"/>
          <a:chExt cx="0" cy="0"/>
        </a:xfrm>
      </p:grpSpPr>
      <p:grpSp>
        <p:nvGrpSpPr>
          <p:cNvPr id="1184744471" name="Group 13"/>
          <p:cNvGrpSpPr/>
          <p:nvPr userDrawn="1"/>
        </p:nvGrpSpPr>
        <p:grpSpPr bwMode="auto">
          <a:xfrm>
            <a:off x="-49704" y="5915792"/>
            <a:ext cx="2554142" cy="587454"/>
            <a:chOff x="242396" y="5890392"/>
            <a:chExt cx="2554142" cy="587454"/>
          </a:xfrm>
        </p:grpSpPr>
        <p:pic>
          <p:nvPicPr>
            <p:cNvPr id="15" name="Picture 14"/>
            <p:cNvPicPr>
              <a:picLocks noChangeAspect="1"/>
            </p:cNvPicPr>
            <p:nvPr userDrawn="1"/>
          </p:nvPicPr>
          <p:blipFill rotWithShape="1">
            <a:blip r:embed="rId2"/>
            <a:stretch/>
          </p:blipFill>
          <p:spPr bwMode="auto">
            <a:xfrm>
              <a:off x="438918" y="5890392"/>
              <a:ext cx="1932495" cy="587453"/>
            </a:xfrm>
            <a:prstGeom prst="rect">
              <a:avLst/>
            </a:prstGeom>
          </p:spPr>
        </p:pic>
        <p:sp>
          <p:nvSpPr>
            <p:cNvPr id="21" name="Rectangle 20"/>
            <p:cNvSpPr/>
            <p:nvPr userDrawn="1"/>
          </p:nvSpPr>
          <p:spPr bwMode="auto">
            <a:xfrm>
              <a:off x="2423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pic>
        <p:nvPicPr>
          <p:cNvPr id="1482301528" name="Shape 56"/>
          <p:cNvPicPr/>
          <p:nvPr userDrawn="1"/>
        </p:nvPicPr>
        <p:blipFill rotWithShape="1">
          <a:blip r:embed="rId3">
            <a:alphaModFix/>
          </a:blip>
          <a:srcRect l="0" t="86739" r="1768" b="3534"/>
          <a:stretch/>
        </p:blipFill>
        <p:spPr bwMode="auto">
          <a:xfrm>
            <a:off x="0" y="0"/>
            <a:ext cx="12192000" cy="711201"/>
          </a:xfrm>
          <a:prstGeom prst="rect">
            <a:avLst/>
          </a:prstGeom>
          <a:noFill/>
          <a:ln>
            <a:noFill/>
          </a:ln>
          <a:effectLst/>
        </p:spPr>
      </p:pic>
      <p:sp>
        <p:nvSpPr>
          <p:cNvPr id="1984646545" name="Title 1"/>
          <p:cNvSpPr>
            <a:spLocks noGrp="1"/>
          </p:cNvSpPr>
          <p:nvPr>
            <p:ph type="title"/>
          </p:nvPr>
        </p:nvSpPr>
        <p:spPr bwMode="auto">
          <a:xfrm>
            <a:off x="0" y="1"/>
            <a:ext cx="12192000" cy="711200"/>
          </a:xfrm>
          <a:prstGeom prst="rect">
            <a:avLst/>
          </a:prstGeom>
          <a:solidFill>
            <a:srgbClr val="C0C0C0">
              <a:alpha val="50000"/>
            </a:srgbClr>
          </a:solidFill>
          <a:ln>
            <a:noFill/>
          </a:ln>
        </p:spPr>
        <p:txBody>
          <a:bodyPr lIns="216000" tIns="108000" rIns="216000" bIns="108000">
            <a:normAutofit/>
          </a:bodyPr>
          <a:lstStyle>
            <a:lvl1pPr>
              <a:defRPr lang="en-US" sz="3400" b="1">
                <a:solidFill>
                  <a:schemeClr val="tx1">
                    <a:lumMod val="90000"/>
                    <a:lumOff val="10000"/>
                  </a:schemeClr>
                </a:solidFill>
                <a:latin typeface="+mj-lt"/>
                <a:ea typeface="+mj-ea"/>
                <a:cs typeface="+mj-cs"/>
              </a:defRPr>
            </a:lvl1pPr>
          </a:lstStyle>
          <a:p>
            <a:pPr>
              <a:defRPr/>
            </a:pPr>
            <a:r>
              <a:rPr lang="en-US"/>
              <a:t>Click to edit Master title style</a:t>
            </a:r>
            <a:endParaRPr/>
          </a:p>
        </p:txBody>
      </p:sp>
      <p:sp>
        <p:nvSpPr>
          <p:cNvPr id="1072977357" name="Content Placeholder 2"/>
          <p:cNvSpPr>
            <a:spLocks noGrp="1"/>
          </p:cNvSpPr>
          <p:nvPr>
            <p:ph idx="1"/>
          </p:nvPr>
        </p:nvSpPr>
        <p:spPr bwMode="auto">
          <a:xfrm>
            <a:off x="131180" y="863444"/>
            <a:ext cx="11929641" cy="5590565"/>
          </a:xfrm>
        </p:spPr>
        <p:txBody>
          <a:bodyPr>
            <a:noAutofit/>
          </a:bodyPr>
          <a:lstStyle>
            <a:lvl1pPr marL="265113" indent="-265113" algn="just">
              <a:buClr>
                <a:schemeClr val="accent6"/>
              </a:buClr>
              <a:buFont typeface="Wingdings 3"/>
              <a:buChar char=""/>
              <a:defRPr sz="2400">
                <a:solidFill>
                  <a:schemeClr val="tx1"/>
                </a:solidFill>
              </a:defRPr>
            </a:lvl1pPr>
            <a:lvl2pPr marL="809625" indent="-352425" algn="just">
              <a:buClr>
                <a:schemeClr val="accent6"/>
              </a:buClr>
              <a:buFont typeface="Wingdings 3"/>
              <a:buChar char=""/>
              <a:defRPr sz="2000">
                <a:solidFill>
                  <a:schemeClr val="tx1"/>
                </a:solidFill>
              </a:defRPr>
            </a:lvl2pPr>
            <a:lvl3pPr marL="1143000" indent="-228600" algn="just">
              <a:buClr>
                <a:schemeClr val="accent6"/>
              </a:buClr>
              <a:buFont typeface="Wingdings"/>
              <a:buChar char="§"/>
              <a:defRPr sz="1800">
                <a:solidFill>
                  <a:schemeClr val="tx1"/>
                </a:solidFill>
              </a:defRPr>
            </a:lvl3pPr>
            <a:lvl4pPr algn="just">
              <a:buClr>
                <a:schemeClr val="accent6"/>
              </a:buClr>
              <a:defRPr sz="1600">
                <a:solidFill>
                  <a:schemeClr val="tx1"/>
                </a:solidFill>
              </a:defRPr>
            </a:lvl4pPr>
            <a:lvl5pPr algn="just">
              <a:buClr>
                <a:schemeClr val="accent6"/>
              </a:buClr>
              <a:defRPr sz="1600">
                <a:solidFill>
                  <a:schemeClr val="tx1"/>
                </a:solidFill>
              </a:defRPr>
            </a:lvl5p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cxnSp>
        <p:nvCxnSpPr>
          <p:cNvPr id="714740041" name="Straight Connector 19"/>
          <p:cNvCxnSpPr/>
          <p:nvPr userDrawn="1"/>
        </p:nvCxnSpPr>
        <p:spPr bwMode="auto">
          <a:xfrm>
            <a:off x="0" y="711201"/>
            <a:ext cx="12192000" cy="0"/>
          </a:xfrm>
          <a:prstGeom prst="line">
            <a:avLst/>
          </a:prstGeom>
          <a:ln w="1270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88097115"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91787721"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
        <p:nvSpPr>
          <p:cNvPr id="928659462"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987752801" name="Straight Connector 23"/>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459035741" name="Footer Placeholder 2"/>
          <p:cNvSpPr txBox="1"/>
          <p:nvPr userDrawn="1"/>
        </p:nvSpPr>
        <p:spPr bwMode="auto">
          <a:xfrm>
            <a:off x="4038598" y="6604000"/>
            <a:ext cx="4571999"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 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a:t>
            </a:r>
            <a:r>
              <a:rPr lang="en-US">
                <a:solidFill>
                  <a:schemeClr val="tx1">
                    <a:lumMod val="90000"/>
                    <a:lumOff val="10000"/>
                  </a:schemeClr>
                </a:solidFill>
                <a:latin typeface="Roboto Condensed Light"/>
                <a:ea typeface="Roboto Condensed Light"/>
              </a:rPr>
              <a:t>Unit 3 (Part 2) – Tree -  Non-Linear Data Structure</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Section Header">
    <p:spTree>
      <p:nvGrpSpPr>
        <p:cNvPr id="1" name=""/>
        <p:cNvGrpSpPr/>
        <p:nvPr/>
      </p:nvGrpSpPr>
      <p:grpSpPr bwMode="auto">
        <a:xfrm>
          <a:off x="0" y="0"/>
          <a:ext cx="0" cy="0"/>
          <a:chOff x="0" y="0"/>
          <a:chExt cx="0" cy="0"/>
        </a:xfrm>
      </p:grpSpPr>
      <p:pic>
        <p:nvPicPr>
          <p:cNvPr id="521707384" name="Picture 10"/>
          <p:cNvPicPr>
            <a:picLocks noChangeAspect="1"/>
          </p:cNvPicPr>
          <p:nvPr userDrawn="1"/>
        </p:nvPicPr>
        <p:blipFill rotWithShape="1">
          <a:blip r:embed="rId2">
            <a:duotone>
              <a:schemeClr val="accent1">
                <a:shade val="45000"/>
                <a:satMod val="135000"/>
              </a:schemeClr>
              <a:prstClr val="white"/>
            </a:duotone>
          </a:blip>
          <a:srcRect l="0" t="0" r="11581" b="21180"/>
          <a:stretch/>
        </p:blipFill>
        <p:spPr bwMode="auto">
          <a:xfrm rot="16199999">
            <a:off x="9807099" y="606901"/>
            <a:ext cx="2991808" cy="1778000"/>
          </a:xfrm>
          <a:prstGeom prst="rect">
            <a:avLst/>
          </a:prstGeom>
        </p:spPr>
      </p:pic>
      <p:pic>
        <p:nvPicPr>
          <p:cNvPr id="39262555" name="Picture 11"/>
          <p:cNvPicPr>
            <a:picLocks noChangeAspect="1"/>
          </p:cNvPicPr>
          <p:nvPr userDrawn="1"/>
        </p:nvPicPr>
        <p:blipFill rotWithShape="1">
          <a:blip r:embed="rId3"/>
          <a:srcRect l="79646" t="18062" r="2730" b="17724"/>
          <a:stretch/>
        </p:blipFill>
        <p:spPr bwMode="auto">
          <a:xfrm>
            <a:off x="0" y="401568"/>
            <a:ext cx="543946" cy="772151"/>
          </a:xfrm>
          <a:prstGeom prst="rect">
            <a:avLst/>
          </a:prstGeom>
        </p:spPr>
      </p:pic>
      <p:sp>
        <p:nvSpPr>
          <p:cNvPr id="435462987" name="Title 1"/>
          <p:cNvSpPr>
            <a:spLocks noGrp="1"/>
          </p:cNvSpPr>
          <p:nvPr>
            <p:ph type="title" hasCustomPrompt="1"/>
          </p:nvPr>
        </p:nvSpPr>
        <p:spPr bwMode="auto">
          <a:xfrm>
            <a:off x="831850" y="1709738"/>
            <a:ext cx="10515600" cy="2852737"/>
          </a:xfrm>
        </p:spPr>
        <p:txBody>
          <a:bodyPr anchor="b">
            <a:normAutofit/>
          </a:bodyPr>
          <a:lstStyle>
            <a:lvl1pPr>
              <a:defRPr lang="en-US" sz="6000" b="1">
                <a:gradFill>
                  <a:gsLst>
                    <a:gs pos="0">
                      <a:srgbClr val="1D3064"/>
                    </a:gs>
                    <a:gs pos="100000">
                      <a:schemeClr val="tx2"/>
                    </a:gs>
                  </a:gsLst>
                  <a:lin ang="0" scaled="1"/>
                </a:gradFill>
                <a:latin typeface="+mn-lt"/>
                <a:ea typeface="+mn-ea"/>
                <a:cs typeface="+mn-cs"/>
              </a:defRPr>
            </a:lvl1pPr>
          </a:lstStyle>
          <a:p>
            <a:pPr>
              <a:defRPr/>
            </a:pPr>
            <a:r>
              <a:rPr lang="en-US"/>
              <a:t>Write here Section Title</a:t>
            </a:r>
            <a:endParaRPr/>
          </a:p>
        </p:txBody>
      </p:sp>
      <p:sp>
        <p:nvSpPr>
          <p:cNvPr id="82249633" name="Text Placeholder 2"/>
          <p:cNvSpPr>
            <a:spLocks noGrp="1"/>
          </p:cNvSpPr>
          <p:nvPr>
            <p:ph type="body" idx="1" hasCustomPrompt="1"/>
          </p:nvPr>
        </p:nvSpPr>
        <p:spPr bwMode="auto">
          <a:xfrm>
            <a:off x="831850" y="4589463"/>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en-US"/>
              <a:t>Write here Section Subtitle</a:t>
            </a:r>
            <a:endParaRPr/>
          </a:p>
        </p:txBody>
      </p:sp>
      <p:sp>
        <p:nvSpPr>
          <p:cNvPr id="628667915" name="Freeform 17"/>
          <p:cNvSpPr/>
          <p:nvPr userDrawn="1"/>
        </p:nvSpPr>
        <p:spPr bwMode="auto">
          <a:xfrm>
            <a:off x="0" y="5905332"/>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0">
                <a:srgbClr val="1D3064"/>
              </a:gs>
              <a:gs pos="50000">
                <a:srgbClr val="1D3064"/>
              </a:gs>
              <a:gs pos="100000">
                <a:schemeClr val="tx2"/>
              </a:gs>
            </a:gsLst>
            <a:lin ang="10800000" scaled="1"/>
          </a:gradFill>
          <a:ln>
            <a:noFill/>
          </a:ln>
        </p:spPr>
        <p:txBody>
          <a:bodyPr vert="horz" wrap="square" lIns="91440" tIns="45720" rIns="91440" bIns="45720" numCol="1" anchor="t" anchorCtr="0" compatLnSpc="1">
            <a:prstTxWarp prst="textNoShape"/>
          </a:bodyPr>
          <a:lstStyle/>
          <a:p>
            <a:pPr>
              <a:defRPr/>
            </a:pPr>
            <a:endParaRPr lang="en-US"/>
          </a:p>
        </p:txBody>
      </p:sp>
      <p:grpSp>
        <p:nvGrpSpPr>
          <p:cNvPr id="643860803" name="Group 8"/>
          <p:cNvGrpSpPr/>
          <p:nvPr userDrawn="1"/>
        </p:nvGrpSpPr>
        <p:grpSpPr bwMode="auto">
          <a:xfrm>
            <a:off x="9437223" y="6087939"/>
            <a:ext cx="2554142" cy="587454"/>
            <a:chOff x="131177" y="5775962"/>
            <a:chExt cx="2530239" cy="581956"/>
          </a:xfrm>
        </p:grpSpPr>
        <p:pic>
          <p:nvPicPr>
            <p:cNvPr id="13" name="Picture 12"/>
            <p:cNvPicPr>
              <a:picLocks noChangeAspect="1"/>
            </p:cNvPicPr>
            <p:nvPr userDrawn="1"/>
          </p:nvPicPr>
          <p:blipFill rotWithShape="1">
            <a:blip r:embed="rId4"/>
            <a:stretch/>
          </p:blipFill>
          <p:spPr bwMode="auto">
            <a:xfrm>
              <a:off x="131177" y="5775962"/>
              <a:ext cx="2530238" cy="581955"/>
            </a:xfrm>
            <a:prstGeom prst="rect">
              <a:avLst/>
            </a:prstGeom>
          </p:spPr>
        </p:pic>
        <p:sp>
          <p:nvSpPr>
            <p:cNvPr id="14" name="Rectangle 13"/>
            <p:cNvSpPr/>
            <p:nvPr userDrawn="1"/>
          </p:nvSpPr>
          <p:spPr bwMode="auto">
            <a:xfrm>
              <a:off x="131178" y="5775962"/>
              <a:ext cx="2530238" cy="581956"/>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Blanck - Logo on TR">
    <p:spTree>
      <p:nvGrpSpPr>
        <p:cNvPr id="1" name=""/>
        <p:cNvGrpSpPr/>
        <p:nvPr/>
      </p:nvGrpSpPr>
      <p:grpSpPr bwMode="auto">
        <a:xfrm>
          <a:off x="0" y="0"/>
          <a:ext cx="0" cy="0"/>
          <a:chOff x="0" y="0"/>
          <a:chExt cx="0" cy="0"/>
        </a:xfrm>
      </p:grpSpPr>
      <p:grpSp>
        <p:nvGrpSpPr>
          <p:cNvPr id="1468205293" name="Group 13"/>
          <p:cNvGrpSpPr/>
          <p:nvPr userDrawn="1"/>
        </p:nvGrpSpPr>
        <p:grpSpPr bwMode="auto">
          <a:xfrm>
            <a:off x="9752158" y="102445"/>
            <a:ext cx="2554142" cy="587454"/>
            <a:chOff x="9475296" y="5890392"/>
            <a:chExt cx="2554142" cy="587454"/>
          </a:xfrm>
        </p:grpSpPr>
        <p:pic>
          <p:nvPicPr>
            <p:cNvPr id="15" name="Picture 14"/>
            <p:cNvPicPr>
              <a:picLocks noChangeAspect="1"/>
            </p:cNvPicPr>
            <p:nvPr userDrawn="1"/>
          </p:nvPicPr>
          <p:blipFill rotWithShape="1">
            <a:blip r:embed="rId2"/>
            <a:stretch/>
          </p:blipFill>
          <p:spPr bwMode="auto">
            <a:xfrm>
              <a:off x="9824218" y="5890392"/>
              <a:ext cx="1932495" cy="587453"/>
            </a:xfrm>
            <a:prstGeom prst="rect">
              <a:avLst/>
            </a:prstGeom>
          </p:spPr>
        </p:pic>
        <p:sp>
          <p:nvSpPr>
            <p:cNvPr id="19" name="Rectangle 18"/>
            <p:cNvSpPr/>
            <p:nvPr userDrawn="1"/>
          </p:nvSpPr>
          <p:spPr bwMode="auto">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350924163"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65204164"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
        <p:nvSpPr>
          <p:cNvPr id="1347420556"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1482234877" name="Straight Connector 19"/>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755762018" name="Footer Placeholder 2"/>
          <p:cNvSpPr txBox="1"/>
          <p:nvPr userDrawn="1"/>
        </p:nvSpPr>
        <p:spPr bwMode="auto">
          <a:xfrm>
            <a:off x="4038598" y="6604000"/>
            <a:ext cx="4571999"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 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a:t>
            </a:r>
            <a:r>
              <a:rPr lang="en-US">
                <a:solidFill>
                  <a:schemeClr val="tx1">
                    <a:lumMod val="90000"/>
                    <a:lumOff val="10000"/>
                  </a:schemeClr>
                </a:solidFill>
                <a:latin typeface="Roboto Condensed Light"/>
                <a:ea typeface="Roboto Condensed Light"/>
              </a:rPr>
              <a:t>Unit 3 (Part 2) – Tree -  Non-Linear Data Structure</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Blanck - Logo on BR">
    <p:spTree>
      <p:nvGrpSpPr>
        <p:cNvPr id="1" name=""/>
        <p:cNvGrpSpPr/>
        <p:nvPr/>
      </p:nvGrpSpPr>
      <p:grpSpPr bwMode="auto">
        <a:xfrm>
          <a:off x="0" y="0"/>
          <a:ext cx="0" cy="0"/>
          <a:chOff x="0" y="0"/>
          <a:chExt cx="0" cy="0"/>
        </a:xfrm>
      </p:grpSpPr>
      <p:grpSp>
        <p:nvGrpSpPr>
          <p:cNvPr id="2014757767" name="Group 13"/>
          <p:cNvGrpSpPr/>
          <p:nvPr userDrawn="1"/>
        </p:nvGrpSpPr>
        <p:grpSpPr bwMode="auto">
          <a:xfrm>
            <a:off x="9726758" y="6003345"/>
            <a:ext cx="2554142" cy="587454"/>
            <a:chOff x="9475296" y="5890392"/>
            <a:chExt cx="2554142" cy="587454"/>
          </a:xfrm>
        </p:grpSpPr>
        <p:pic>
          <p:nvPicPr>
            <p:cNvPr id="15" name="Picture 14"/>
            <p:cNvPicPr>
              <a:picLocks noChangeAspect="1"/>
            </p:cNvPicPr>
            <p:nvPr userDrawn="1"/>
          </p:nvPicPr>
          <p:blipFill rotWithShape="1">
            <a:blip r:embed="rId2"/>
            <a:stretch/>
          </p:blipFill>
          <p:spPr bwMode="auto">
            <a:xfrm>
              <a:off x="9824218" y="5890392"/>
              <a:ext cx="1932495" cy="587453"/>
            </a:xfrm>
            <a:prstGeom prst="rect">
              <a:avLst/>
            </a:prstGeom>
          </p:spPr>
        </p:pic>
        <p:sp>
          <p:nvSpPr>
            <p:cNvPr id="19" name="Rectangle 18"/>
            <p:cNvSpPr/>
            <p:nvPr userDrawn="1"/>
          </p:nvSpPr>
          <p:spPr bwMode="auto">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803907423"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737858595"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
        <p:nvSpPr>
          <p:cNvPr id="1735033186"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1509136657" name="Straight Connector 20"/>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828378324" name="Footer Placeholder 2"/>
          <p:cNvSpPr txBox="1"/>
          <p:nvPr userDrawn="1"/>
        </p:nvSpPr>
        <p:spPr bwMode="auto">
          <a:xfrm>
            <a:off x="4038598" y="6604000"/>
            <a:ext cx="4571999"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 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a:t>
            </a:r>
            <a:r>
              <a:rPr lang="en-US">
                <a:solidFill>
                  <a:schemeClr val="tx1">
                    <a:lumMod val="90000"/>
                    <a:lumOff val="10000"/>
                  </a:schemeClr>
                </a:solidFill>
                <a:latin typeface="Roboto Condensed Light"/>
                <a:ea typeface="Roboto Condensed Light"/>
              </a:rPr>
              <a:t>Unit 3 (Part 2) – Tree -  Non-Linear Data Structure</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Blanck - Logo on BL">
    <p:spTree>
      <p:nvGrpSpPr>
        <p:cNvPr id="1" name=""/>
        <p:cNvGrpSpPr/>
        <p:nvPr/>
      </p:nvGrpSpPr>
      <p:grpSpPr bwMode="auto">
        <a:xfrm>
          <a:off x="0" y="0"/>
          <a:ext cx="0" cy="0"/>
          <a:chOff x="0" y="0"/>
          <a:chExt cx="0" cy="0"/>
        </a:xfrm>
      </p:grpSpPr>
      <p:grpSp>
        <p:nvGrpSpPr>
          <p:cNvPr id="1595467677" name="Group 13"/>
          <p:cNvGrpSpPr/>
          <p:nvPr userDrawn="1"/>
        </p:nvGrpSpPr>
        <p:grpSpPr bwMode="auto">
          <a:xfrm>
            <a:off x="-249812" y="5990021"/>
            <a:ext cx="2554142" cy="587454"/>
            <a:chOff x="9475296" y="5890392"/>
            <a:chExt cx="2554142" cy="587454"/>
          </a:xfrm>
        </p:grpSpPr>
        <p:pic>
          <p:nvPicPr>
            <p:cNvPr id="15" name="Picture 14"/>
            <p:cNvPicPr>
              <a:picLocks noChangeAspect="1"/>
            </p:cNvPicPr>
            <p:nvPr userDrawn="1"/>
          </p:nvPicPr>
          <p:blipFill rotWithShape="1">
            <a:blip r:embed="rId2"/>
            <a:stretch/>
          </p:blipFill>
          <p:spPr bwMode="auto">
            <a:xfrm>
              <a:off x="9824218" y="5890392"/>
              <a:ext cx="1932495" cy="587453"/>
            </a:xfrm>
            <a:prstGeom prst="rect">
              <a:avLst/>
            </a:prstGeom>
          </p:spPr>
        </p:pic>
        <p:sp>
          <p:nvSpPr>
            <p:cNvPr id="19" name="Rectangle 18"/>
            <p:cNvSpPr/>
            <p:nvPr userDrawn="1"/>
          </p:nvSpPr>
          <p:spPr bwMode="auto">
            <a:xfrm>
              <a:off x="9475296" y="5890392"/>
              <a:ext cx="2554142" cy="587454"/>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grpSp>
      <p:sp>
        <p:nvSpPr>
          <p:cNvPr id="1820448651" name="Rectangle: Rounded Corners 16"/>
          <p:cNvSpPr/>
          <p:nvPr userDrawn="1"/>
        </p:nvSpPr>
        <p:spPr bwMode="auto">
          <a:xfrm>
            <a:off x="0" y="6604000"/>
            <a:ext cx="12191998" cy="254000"/>
          </a:xfrm>
          <a:prstGeom prst="roundRect">
            <a:avLst>
              <a:gd name="adj" fmla="val 0"/>
            </a:avLst>
          </a:prstGeom>
          <a:solidFill>
            <a:srgbClr val="DFDFD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31610692" name="Date Placeholder 1"/>
          <p:cNvSpPr txBox="1"/>
          <p:nvPr userDrawn="1"/>
        </p:nvSpPr>
        <p:spPr bwMode="auto">
          <a:xfrm>
            <a:off x="838200" y="6604000"/>
            <a:ext cx="2743200" cy="255126"/>
          </a:xfrm>
          <a:prstGeom prst="rect">
            <a:avLst/>
          </a:prstGeom>
        </p:spPr>
        <p:txBody>
          <a:bodyPr vert="horz" lIns="91440" tIns="45720" rIns="91440" bIns="45720" rtlCol="0" anchor="ctr"/>
          <a:lstStyle>
            <a:defPPr>
              <a:defRPr lang="en-US"/>
            </a:defPPr>
            <a:lvl1pPr marL="0" algn="l"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Dr. </a:t>
            </a:r>
            <a:r>
              <a:rPr lang="en-US">
                <a:solidFill>
                  <a:schemeClr val="tx1">
                    <a:lumMod val="90000"/>
                    <a:lumOff val="10000"/>
                  </a:schemeClr>
                </a:solidFill>
                <a:latin typeface="Roboto Condensed Light"/>
                <a:ea typeface="Roboto Condensed Light"/>
              </a:rPr>
              <a:t>Pradyumansinh</a:t>
            </a:r>
            <a:r>
              <a:rPr lang="en-US">
                <a:solidFill>
                  <a:schemeClr val="tx1">
                    <a:lumMod val="90000"/>
                    <a:lumOff val="10000"/>
                  </a:schemeClr>
                </a:solidFill>
                <a:latin typeface="Roboto Condensed Light"/>
                <a:ea typeface="Roboto Condensed Light"/>
              </a:rPr>
              <a:t> U. </a:t>
            </a:r>
            <a:r>
              <a:rPr lang="en-US">
                <a:solidFill>
                  <a:schemeClr val="tx1">
                    <a:lumMod val="90000"/>
                    <a:lumOff val="10000"/>
                  </a:schemeClr>
                </a:solidFill>
                <a:latin typeface="Roboto Condensed Light"/>
                <a:ea typeface="Roboto Condensed Light"/>
              </a:rPr>
              <a:t>Jadeja</a:t>
            </a:r>
            <a:endParaRPr lang="en-US">
              <a:solidFill>
                <a:schemeClr val="tx1">
                  <a:lumMod val="90000"/>
                  <a:lumOff val="10000"/>
                </a:schemeClr>
              </a:solidFill>
              <a:latin typeface="Roboto Condensed Light"/>
              <a:ea typeface="Roboto Condensed Light"/>
            </a:endParaRPr>
          </a:p>
        </p:txBody>
      </p:sp>
      <p:sp>
        <p:nvSpPr>
          <p:cNvPr id="1433504894" name="Slide Number Placeholder 3"/>
          <p:cNvSpPr txBox="1"/>
          <p:nvPr userDrawn="1"/>
        </p:nvSpPr>
        <p:spPr bwMode="auto">
          <a:xfrm>
            <a:off x="8610600" y="6604000"/>
            <a:ext cx="2743200" cy="255126"/>
          </a:xfrm>
          <a:prstGeom prst="rect">
            <a:avLst/>
          </a:prstGeom>
        </p:spPr>
        <p:txBody>
          <a:bodyPr vert="horz" lIns="91440" tIns="45720" rIns="91440" bIns="45720" rtlCol="0" anchor="ctr"/>
          <a:lstStyle>
            <a:defPPr>
              <a:defRPr lang="en-US"/>
            </a:defPPr>
            <a:lvl1pPr marL="0" algn="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fld id="{ADF2434F-F1F1-4B15-80AA-A2C3BF057F48}" type="slidenum">
              <a:rPr lang="en-US" b="1">
                <a:solidFill>
                  <a:schemeClr val="tx1">
                    <a:lumMod val="90000"/>
                    <a:lumOff val="10000"/>
                  </a:schemeClr>
                </a:solidFill>
                <a:latin typeface="+mn-lt"/>
              </a:rPr>
              <a:t>‹#›</a:t>
            </a:fld>
            <a:endParaRPr lang="en-US" b="1">
              <a:solidFill>
                <a:schemeClr val="tx1">
                  <a:lumMod val="90000"/>
                  <a:lumOff val="10000"/>
                </a:schemeClr>
              </a:solidFill>
              <a:latin typeface="+mn-lt"/>
            </a:endParaRPr>
          </a:p>
        </p:txBody>
      </p:sp>
      <p:cxnSp>
        <p:nvCxnSpPr>
          <p:cNvPr id="847153113" name="Straight Connector 20"/>
          <p:cNvCxnSpPr/>
          <p:nvPr userDrawn="1"/>
        </p:nvCxnSpPr>
        <p:spPr bwMode="auto">
          <a:xfrm>
            <a:off x="0" y="6606251"/>
            <a:ext cx="12192000" cy="0"/>
          </a:xfrm>
          <a:prstGeom prst="line">
            <a:avLst/>
          </a:prstGeom>
          <a:ln w="12700">
            <a:solidFill>
              <a:schemeClr val="bg1">
                <a:lumMod val="75000"/>
                <a:alpha val="70000"/>
              </a:schemeClr>
            </a:solidFill>
          </a:ln>
        </p:spPr>
        <p:style>
          <a:lnRef idx="1">
            <a:schemeClr val="accent1"/>
          </a:lnRef>
          <a:fillRef idx="0">
            <a:schemeClr val="accent1"/>
          </a:fillRef>
          <a:effectRef idx="0">
            <a:schemeClr val="accent1"/>
          </a:effectRef>
          <a:fontRef idx="minor">
            <a:schemeClr val="tx1"/>
          </a:fontRef>
        </p:style>
      </p:cxnSp>
      <p:sp>
        <p:nvSpPr>
          <p:cNvPr id="1455843343" name="Footer Placeholder 2"/>
          <p:cNvSpPr txBox="1"/>
          <p:nvPr userDrawn="1"/>
        </p:nvSpPr>
        <p:spPr bwMode="auto">
          <a:xfrm>
            <a:off x="4038598" y="6604000"/>
            <a:ext cx="4571999" cy="254000"/>
          </a:xfrm>
          <a:prstGeom prst="rect">
            <a:avLst/>
          </a:prstGeom>
        </p:spPr>
        <p:txBody>
          <a:bodyPr vert="horz" lIns="91440" tIns="45720" rIns="91440" bIns="45720" rtlCol="0" anchor="ctr"/>
          <a:lstStyle>
            <a:defPPr>
              <a:defRPr lang="en-US"/>
            </a:defPPr>
            <a:lvl1pPr marL="0" algn="ctr" defTabSz="914400" rtl="0">
              <a:defRPr sz="1200">
                <a:solidFill>
                  <a:schemeClr val="tx1">
                    <a:tint val="75000"/>
                  </a:schemeClr>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a:solidFill>
                  <a:schemeClr val="tx1">
                    <a:lumMod val="90000"/>
                    <a:lumOff val="10000"/>
                  </a:schemeClr>
                </a:solidFill>
                <a:latin typeface="Roboto Condensed Light"/>
                <a:ea typeface="Roboto Condensed Light"/>
              </a:rPr>
              <a:t># 2301CS301 (DS)   </a:t>
            </a:r>
            <a:r>
              <a:rPr lang="en-US">
                <a:solidFill>
                  <a:schemeClr val="tx1">
                    <a:lumMod val="90000"/>
                    <a:lumOff val="10000"/>
                  </a:schemeClr>
                </a:solidFill>
                <a:latin typeface="Wingdings"/>
                <a:ea typeface="Roboto Condensed Light"/>
              </a:rPr>
              <a:t></a:t>
            </a:r>
            <a:r>
              <a:rPr lang="en-US">
                <a:solidFill>
                  <a:schemeClr val="tx1">
                    <a:lumMod val="90000"/>
                    <a:lumOff val="10000"/>
                  </a:schemeClr>
                </a:solidFill>
                <a:latin typeface="Roboto Condensed Light"/>
                <a:ea typeface="Roboto Condensed Light"/>
              </a:rPr>
              <a:t>   </a:t>
            </a:r>
            <a:r>
              <a:rPr lang="en-US">
                <a:solidFill>
                  <a:schemeClr val="tx1">
                    <a:lumMod val="90000"/>
                    <a:lumOff val="10000"/>
                  </a:schemeClr>
                </a:solidFill>
                <a:latin typeface="Roboto Condensed Light"/>
                <a:ea typeface="Roboto Condensed Light"/>
              </a:rPr>
              <a:t>Unit 3 (Part 2) – Tree -  Non-Linear Data Structure</a:t>
            </a:r>
            <a:endParaRPr lang="en-US">
              <a:solidFill>
                <a:schemeClr val="tx1">
                  <a:lumMod val="90000"/>
                  <a:lumOff val="10000"/>
                </a:schemeClr>
              </a:solidFill>
              <a:latin typeface="Roboto Condensed Light"/>
              <a:ea typeface="Roboto Condense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Complete Blanck">
    <p:spTree>
      <p:nvGrpSpPr>
        <p:cNvPr id="1" name=""/>
        <p:cNvGrpSpPr/>
        <p:nvPr/>
      </p:nvGrpSpPr>
      <p:grpSpPr bwMode="auto">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1_Complete Blanck">
    <p:spTree>
      <p:nvGrpSpPr>
        <p:cNvPr id="1" name=""/>
        <p:cNvGrpSpPr/>
        <p:nvPr/>
      </p:nvGrpSpPr>
      <p:grpSpPr bwMode="auto">
        <a:xfrm>
          <a:off x="0" y="0"/>
          <a:ext cx="0" cy="0"/>
          <a:chOff x="0" y="0"/>
          <a:chExt cx="0" cy="0"/>
        </a:xfrm>
      </p:grpSpPr>
      <p:sp>
        <p:nvSpPr>
          <p:cNvPr id="568305787" name="TextBox 6"/>
          <p:cNvSpPr txBox="1"/>
          <p:nvPr userDrawn="1"/>
        </p:nvSpPr>
        <p:spPr bwMode="auto">
          <a:xfrm>
            <a:off x="375920" y="457200"/>
            <a:ext cx="4185761" cy="523220"/>
          </a:xfrm>
          <a:prstGeom prst="rect">
            <a:avLst/>
          </a:prstGeom>
          <a:noFill/>
        </p:spPr>
        <p:txBody>
          <a:bodyPr wrap="none" rtlCol="0">
            <a:spAutoFit/>
          </a:bodyPr>
          <a:lstStyle/>
          <a:p>
            <a:pPr>
              <a:defRPr/>
            </a:pPr>
            <a:r>
              <a:rPr lang="en-US" sz="2800">
                <a:solidFill>
                  <a:srgbClr val="FF0000"/>
                </a:solidFill>
              </a:rPr>
              <a:t>How to Crop Circular Photo?</a:t>
            </a:r>
            <a:endParaRPr/>
          </a:p>
        </p:txBody>
      </p:sp>
      <p:sp>
        <p:nvSpPr>
          <p:cNvPr id="1479594432" name="Picture Placeholder 10"/>
          <p:cNvSpPr>
            <a:spLocks noGrp="1"/>
          </p:cNvSpPr>
          <p:nvPr>
            <p:ph type="pic" sz="quarter" idx="10"/>
          </p:nvPr>
        </p:nvSpPr>
        <p:spPr bwMode="auto">
          <a:xfrm>
            <a:off x="4013200" y="1808163"/>
            <a:ext cx="3890962" cy="3890962"/>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p:spPr>
        <p:txBody>
          <a:bodyPr wrap="square">
            <a:noAutofit/>
          </a:bodyPr>
          <a:lstStyle/>
          <a:p>
            <a:pPr>
              <a:defRPr/>
            </a:pPr>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Teal">
    <p:spTree>
      <p:nvGrpSpPr>
        <p:cNvPr id="1" name=""/>
        <p:cNvGrpSpPr/>
        <p:nvPr/>
      </p:nvGrpSpPr>
      <p:grpSpPr bwMode="auto">
        <a:xfrm>
          <a:off x="0" y="0"/>
          <a:ext cx="0" cy="0"/>
          <a:chOff x="0" y="0"/>
          <a:chExt cx="0" cy="0"/>
        </a:xfrm>
      </p:grpSpPr>
      <p:pic>
        <p:nvPicPr>
          <p:cNvPr id="1832054330"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337094109"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854453555"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1650269698"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4">
                  <a:lumMod val="50000"/>
                </a:schemeClr>
              </a:gs>
              <a:gs pos="100000">
                <a:srgbClr val="009788"/>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491452303"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2061710042"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230063726"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68433938"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884007405"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319913606"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552544756"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853364103"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584853526"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605694142"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chemeClr val="accent4">
                        <a:lumMod val="50000"/>
                      </a:schemeClr>
                    </a:gs>
                    <a:gs pos="100000">
                      <a:srgbClr val="009788"/>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359417513"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337687375"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332292005"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263098003" name="Picture 19"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707090164" name="Picture Placeholder 20"/>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Cyan">
    <p:spTree>
      <p:nvGrpSpPr>
        <p:cNvPr id="1" name=""/>
        <p:cNvGrpSpPr/>
        <p:nvPr/>
      </p:nvGrpSpPr>
      <p:grpSpPr bwMode="auto">
        <a:xfrm>
          <a:off x="0" y="0"/>
          <a:ext cx="0" cy="0"/>
          <a:chOff x="0" y="0"/>
          <a:chExt cx="0" cy="0"/>
        </a:xfrm>
      </p:grpSpPr>
      <p:pic>
        <p:nvPicPr>
          <p:cNvPr id="567392474"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168943299"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085923502"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556217587"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2">
                  <a:lumMod val="50000"/>
                </a:schemeClr>
              </a:gs>
              <a:gs pos="100000">
                <a:schemeClr val="accent2"/>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2016208165"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944096170"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847661167"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31772936"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994670483"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99200658"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871810681"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2117147919"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913929824"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535828688"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chemeClr val="accent2">
                        <a:lumMod val="50000"/>
                      </a:schemeClr>
                    </a:gs>
                    <a:gs pos="100000">
                      <a:schemeClr val="accent2"/>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788473620"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724817521"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851624999"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480558344" name="Picture 29"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489221025" name="Picture Placeholder 33"/>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Light Green">
    <p:spTree>
      <p:nvGrpSpPr>
        <p:cNvPr id="1" name=""/>
        <p:cNvGrpSpPr/>
        <p:nvPr/>
      </p:nvGrpSpPr>
      <p:grpSpPr bwMode="auto">
        <a:xfrm>
          <a:off x="0" y="0"/>
          <a:ext cx="0" cy="0"/>
          <a:chOff x="0" y="0"/>
          <a:chExt cx="0" cy="0"/>
        </a:xfrm>
      </p:grpSpPr>
      <p:pic>
        <p:nvPicPr>
          <p:cNvPr id="1570832491"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407783035"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211430340"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1886863078"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3">
                  <a:lumMod val="50000"/>
                </a:schemeClr>
              </a:gs>
              <a:gs pos="100000">
                <a:schemeClr val="accent3"/>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687950164"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406198639"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833315558"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82313221"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817324943"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462199155"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729515420"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389986036"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722653814"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662476608"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chemeClr val="accent3">
                        <a:lumMod val="50000"/>
                      </a:schemeClr>
                    </a:gs>
                    <a:gs pos="100000">
                      <a:schemeClr val="accent3"/>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422077233"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551642791"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1750105494"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698825517"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458297680"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Amber">
    <p:spTree>
      <p:nvGrpSpPr>
        <p:cNvPr id="1" name=""/>
        <p:cNvGrpSpPr/>
        <p:nvPr/>
      </p:nvGrpSpPr>
      <p:grpSpPr bwMode="auto">
        <a:xfrm>
          <a:off x="0" y="0"/>
          <a:ext cx="0" cy="0"/>
          <a:chOff x="0" y="0"/>
          <a:chExt cx="0" cy="0"/>
        </a:xfrm>
      </p:grpSpPr>
      <p:pic>
        <p:nvPicPr>
          <p:cNvPr id="411564475"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273235809"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246126349"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360754572"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5">
                  <a:lumMod val="50000"/>
                </a:schemeClr>
              </a:gs>
              <a:gs pos="100000">
                <a:schemeClr val="accent5"/>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730887494"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1031617105"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246015208"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10800483"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1398689892"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047472496"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494140998"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932820327"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597138877"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875806213"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chemeClr val="accent5">
                        <a:lumMod val="75000"/>
                      </a:schemeClr>
                    </a:gs>
                    <a:gs pos="100000">
                      <a:schemeClr val="accent5"/>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327514085"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344278645"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1109897398"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219628105"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754063240"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Maroon">
    <p:spTree>
      <p:nvGrpSpPr>
        <p:cNvPr id="1" name=""/>
        <p:cNvGrpSpPr/>
        <p:nvPr/>
      </p:nvGrpSpPr>
      <p:grpSpPr bwMode="auto">
        <a:xfrm>
          <a:off x="0" y="0"/>
          <a:ext cx="0" cy="0"/>
          <a:chOff x="0" y="0"/>
          <a:chExt cx="0" cy="0"/>
        </a:xfrm>
      </p:grpSpPr>
      <p:pic>
        <p:nvPicPr>
          <p:cNvPr id="1749877506"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099447092"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036059845"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1676929396"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chemeClr val="accent6">
                  <a:lumMod val="50000"/>
                </a:schemeClr>
              </a:gs>
              <a:gs pos="100000">
                <a:schemeClr val="accent6"/>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697991470"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737374828"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2142047465"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13064359"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711888962"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318958860"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2076028060"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1420686313"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330111488"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759888429"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chemeClr val="accent6">
                        <a:lumMod val="50000"/>
                      </a:schemeClr>
                    </a:gs>
                    <a:gs pos="100000">
                      <a:schemeClr val="accent6"/>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317385276"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763508356"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508891024"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711297573"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601128628"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Blue Gray">
    <p:spTree>
      <p:nvGrpSpPr>
        <p:cNvPr id="1" name=""/>
        <p:cNvGrpSpPr/>
        <p:nvPr/>
      </p:nvGrpSpPr>
      <p:grpSpPr bwMode="auto">
        <a:xfrm>
          <a:off x="0" y="0"/>
          <a:ext cx="0" cy="0"/>
          <a:chOff x="0" y="0"/>
          <a:chExt cx="0" cy="0"/>
        </a:xfrm>
      </p:grpSpPr>
      <p:pic>
        <p:nvPicPr>
          <p:cNvPr id="384510919"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974780692"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38257296"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394887430"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273238"/>
              </a:gs>
              <a:gs pos="100000">
                <a:srgbClr val="607D8B"/>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83707460"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299096098"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370912232"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899611587"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1305921617"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455704098"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098953822"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532972999"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478677008"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287486222"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273238"/>
                    </a:gs>
                    <a:gs pos="100000">
                      <a:srgbClr val="607D8B"/>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233947993"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483968263"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982228707"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842202997"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452839321"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Brown">
    <p:spTree>
      <p:nvGrpSpPr>
        <p:cNvPr id="1" name=""/>
        <p:cNvGrpSpPr/>
        <p:nvPr/>
      </p:nvGrpSpPr>
      <p:grpSpPr bwMode="auto">
        <a:xfrm>
          <a:off x="0" y="0"/>
          <a:ext cx="0" cy="0"/>
          <a:chOff x="0" y="0"/>
          <a:chExt cx="0" cy="0"/>
        </a:xfrm>
      </p:grpSpPr>
      <p:pic>
        <p:nvPicPr>
          <p:cNvPr id="29914223"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764008075"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2104621942"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912925175"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E2622"/>
              </a:gs>
              <a:gs pos="100000">
                <a:srgbClr val="795547"/>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2119088213"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966068273"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38510131"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96379151"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204497648"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382087185"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960049494"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2113129148"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415175499"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579976738"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3E2622"/>
                    </a:gs>
                    <a:gs pos="100000">
                      <a:srgbClr val="795547"/>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182278178"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986182789"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216362469"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28541002"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2105960731"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Deep Puple">
    <p:spTree>
      <p:nvGrpSpPr>
        <p:cNvPr id="1" name=""/>
        <p:cNvGrpSpPr/>
        <p:nvPr/>
      </p:nvGrpSpPr>
      <p:grpSpPr bwMode="auto">
        <a:xfrm>
          <a:off x="0" y="0"/>
          <a:ext cx="0" cy="0"/>
          <a:chOff x="0" y="0"/>
          <a:chExt cx="0" cy="0"/>
        </a:xfrm>
      </p:grpSpPr>
      <p:pic>
        <p:nvPicPr>
          <p:cNvPr id="81206444"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24914949"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173663659"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1913868450"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301B92"/>
              </a:gs>
              <a:gs pos="100000">
                <a:srgbClr val="673BB7"/>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2022680847"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1890211559"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616313882"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29440174"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1069231524"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891124318"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580107355"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774167531"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229918420"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769011914"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301B92"/>
                    </a:gs>
                    <a:gs pos="100000">
                      <a:srgbClr val="673BB7"/>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629034535"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709685181"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159814143"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421923756"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057354835"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Blue">
    <p:spTree>
      <p:nvGrpSpPr>
        <p:cNvPr id="1" name=""/>
        <p:cNvGrpSpPr/>
        <p:nvPr/>
      </p:nvGrpSpPr>
      <p:grpSpPr bwMode="auto">
        <a:xfrm>
          <a:off x="0" y="0"/>
          <a:ext cx="0" cy="0"/>
          <a:chOff x="0" y="0"/>
          <a:chExt cx="0" cy="0"/>
        </a:xfrm>
      </p:grpSpPr>
      <p:pic>
        <p:nvPicPr>
          <p:cNvPr id="2068883867"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357551943"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387427536"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888293193"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0E47A1"/>
              </a:gs>
              <a:gs pos="100000">
                <a:srgbClr val="03A9F5"/>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720981491"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4633095"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883025804"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7448040"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691506136"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1279812184"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27007192"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1169654694"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2060570072"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807460315"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0E47A1"/>
                    </a:gs>
                    <a:gs pos="100000">
                      <a:srgbClr val="03A9F5"/>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417996173"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264106823"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347818340"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601612759"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550023136"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Red">
    <p:spTree>
      <p:nvGrpSpPr>
        <p:cNvPr id="1" name=""/>
        <p:cNvGrpSpPr/>
        <p:nvPr/>
      </p:nvGrpSpPr>
      <p:grpSpPr bwMode="auto">
        <a:xfrm>
          <a:off x="0" y="0"/>
          <a:ext cx="0" cy="0"/>
          <a:chOff x="0" y="0"/>
          <a:chExt cx="0" cy="0"/>
        </a:xfrm>
      </p:grpSpPr>
      <p:pic>
        <p:nvPicPr>
          <p:cNvPr id="541098944"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86811785"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049692851"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421146503"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B71B1C"/>
              </a:gs>
              <a:gs pos="100000">
                <a:srgbClr val="ED524F"/>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010644034"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680508622"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237087607"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559744950"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663166576"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2042534237"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442792760"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733785714"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552568986"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59178000"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B71B1C"/>
                    </a:gs>
                    <a:gs pos="100000">
                      <a:srgbClr val="ED524F"/>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1466500277"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581574365"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1519517020"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1146899087" name="Picture 30"/>
          <p:cNvPicPr>
            <a:picLocks noChangeAspect="1"/>
          </p:cNvPicPr>
          <p:nvPr userDrawn="1"/>
        </p:nvPicPr>
        <p:blipFill rotWithShape="1">
          <a:blip r:embed="rId9"/>
          <a:srcRect l="24746" t="7575" r="25760" b="18186"/>
          <a:stretch/>
        </p:blipFill>
        <p:spPr bwMode="auto">
          <a:xfrm>
            <a:off x="356499" y="5214354"/>
            <a:ext cx="1354234" cy="1354234"/>
          </a:xfrm>
          <a:custGeom>
            <a:avLst/>
            <a:gdLst>
              <a:gd name="connsiteX0" fmla="*/ 2286000 w 4572000"/>
              <a:gd name="connsiteY0" fmla="*/ 0 h 4572000"/>
              <a:gd name="connsiteX1" fmla="*/ 4572000 w 4572000"/>
              <a:gd name="connsiteY1" fmla="*/ 2286000 h 4572000"/>
              <a:gd name="connsiteX2" fmla="*/ 2286000 w 4572000"/>
              <a:gd name="connsiteY2" fmla="*/ 4572000 h 4572000"/>
              <a:gd name="connsiteX3" fmla="*/ 0 w 4572000"/>
              <a:gd name="connsiteY3" fmla="*/ 2286000 h 4572000"/>
              <a:gd name="connsiteX4" fmla="*/ 2286000 w 4572000"/>
              <a:gd name="connsiteY4" fmla="*/ 0 h 4572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72000" h="4572000" fill="norm" stroke="1" extrusionOk="0">
                <a:moveTo>
                  <a:pt x="2286000" y="0"/>
                </a:moveTo>
                <a:cubicBezTo>
                  <a:pt x="3548523" y="0"/>
                  <a:pt x="4572000" y="1023477"/>
                  <a:pt x="4572000" y="2286000"/>
                </a:cubicBezTo>
                <a:cubicBezTo>
                  <a:pt x="4572000" y="3548523"/>
                  <a:pt x="3548523" y="4572000"/>
                  <a:pt x="2286000" y="4572000"/>
                </a:cubicBezTo>
                <a:cubicBezTo>
                  <a:pt x="1023477" y="4572000"/>
                  <a:pt x="0" y="3548523"/>
                  <a:pt x="0" y="2286000"/>
                </a:cubicBezTo>
                <a:cubicBezTo>
                  <a:pt x="0" y="1023477"/>
                  <a:pt x="1023477" y="0"/>
                  <a:pt x="2286000" y="0"/>
                </a:cubicBezTo>
                <a:close/>
              </a:path>
            </a:pathLst>
          </a:custGeom>
          <a:noFill/>
          <a:ln w="6350">
            <a:solidFill>
              <a:schemeClr val="bg1">
                <a:lumMod val="65000"/>
              </a:schemeClr>
            </a:solidFill>
          </a:ln>
          <a:effectLst/>
        </p:spPr>
      </p:pic>
      <p:pic>
        <p:nvPicPr>
          <p:cNvPr id="764210494" name="Picture 20" descr="User icon Royalty Free Vector Image - VectorStock"/>
          <p:cNvPicPr>
            <a:picLocks noChangeAspect="1" noChangeArrowheads="1"/>
          </p:cNvPicPr>
          <p:nvPr userDrawn="1"/>
        </p:nvPicPr>
        <p:blipFill rotWithShape="1">
          <a:blip r:embed="rId10">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81638190"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userDrawn="1">
  <p:cSld name="Title Slide - Pink">
    <p:spTree>
      <p:nvGrpSpPr>
        <p:cNvPr id="1" name=""/>
        <p:cNvGrpSpPr/>
        <p:nvPr/>
      </p:nvGrpSpPr>
      <p:grpSpPr bwMode="auto">
        <a:xfrm>
          <a:off x="0" y="0"/>
          <a:ext cx="0" cy="0"/>
          <a:chOff x="0" y="0"/>
          <a:chExt cx="0" cy="0"/>
        </a:xfrm>
      </p:grpSpPr>
      <p:pic>
        <p:nvPicPr>
          <p:cNvPr id="1901739548" name="Picture 24"/>
          <p:cNvPicPr>
            <a:picLocks noChangeAspect="1"/>
          </p:cNvPicPr>
          <p:nvPr userDrawn="1"/>
        </p:nvPicPr>
        <p:blipFill rotWithShape="1">
          <a:blip r:embed="rId2">
            <a:duotone>
              <a:schemeClr val="accent1">
                <a:shade val="45000"/>
                <a:satMod val="135000"/>
              </a:schemeClr>
              <a:prstClr val="white"/>
            </a:duotone>
          </a:blip>
          <a:srcRect l="0" t="18750" r="0" b="25000"/>
          <a:stretch/>
        </p:blipFill>
        <p:spPr bwMode="auto">
          <a:xfrm>
            <a:off x="0" y="0"/>
            <a:ext cx="12192000" cy="6858000"/>
          </a:xfrm>
          <a:prstGeom prst="rect">
            <a:avLst/>
          </a:prstGeom>
        </p:spPr>
      </p:pic>
      <p:sp>
        <p:nvSpPr>
          <p:cNvPr id="1978035459" name="TextBox 2"/>
          <p:cNvSpPr txBox="1"/>
          <p:nvPr userDrawn="1"/>
        </p:nvSpPr>
        <p:spPr bwMode="auto">
          <a:xfrm>
            <a:off x="1837677" y="5802204"/>
            <a:ext cx="4514377" cy="338554"/>
          </a:xfrm>
          <a:prstGeom prst="rect">
            <a:avLst/>
          </a:prstGeom>
          <a:noFill/>
        </p:spPr>
        <p:txBody>
          <a:bodyPr wrap="none" rtlCol="0">
            <a:spAutoFit/>
          </a:bodyPr>
          <a:lstStyle/>
          <a:p>
            <a:pPr>
              <a:defRPr/>
            </a:pPr>
            <a:r>
              <a:rPr lang="en-US" sz="1600"/>
              <a:t>Darshan Institute of Engineering &amp; Technology, Rajkot</a:t>
            </a:r>
            <a:endParaRPr/>
          </a:p>
        </p:txBody>
      </p:sp>
      <p:sp>
        <p:nvSpPr>
          <p:cNvPr id="1062692501" name="Freeform 13"/>
          <p:cNvSpPr/>
          <p:nvPr userDrawn="1"/>
        </p:nvSpPr>
        <p:spPr bwMode="auto">
          <a:xfrm>
            <a:off x="2554514" y="1"/>
            <a:ext cx="5255702" cy="1335004"/>
          </a:xfrm>
          <a:custGeom>
            <a:avLst/>
            <a:gdLst>
              <a:gd name="T0" fmla="*/ 2048 w 2048"/>
              <a:gd name="T1" fmla="*/ 0 h 517"/>
              <a:gd name="T2" fmla="*/ 1934 w 2048"/>
              <a:gd name="T3" fmla="*/ 72 h 517"/>
              <a:gd name="T4" fmla="*/ 0 w 2048"/>
              <a:gd name="T5" fmla="*/ 0 h 517"/>
              <a:gd name="T6" fmla="*/ 2048 w 2048"/>
              <a:gd name="T7" fmla="*/ 0 h 517"/>
            </a:gdLst>
            <a:ahLst/>
            <a:cxnLst>
              <a:cxn ang="0">
                <a:pos x="T0" y="T1"/>
              </a:cxn>
              <a:cxn ang="0">
                <a:pos x="T2" y="T3"/>
              </a:cxn>
              <a:cxn ang="0">
                <a:pos x="T4" y="T5"/>
              </a:cxn>
              <a:cxn ang="0">
                <a:pos x="T6" y="T7"/>
              </a:cxn>
            </a:cxnLst>
            <a:rect l="0" t="0" r="r" b="b"/>
            <a:pathLst>
              <a:path w="2048" h="517" fill="norm" stroke="1" extrusionOk="0">
                <a:moveTo>
                  <a:pt x="2048" y="0"/>
                </a:moveTo>
                <a:cubicBezTo>
                  <a:pt x="2011" y="25"/>
                  <a:pt x="1973" y="49"/>
                  <a:pt x="1934" y="72"/>
                </a:cubicBezTo>
                <a:cubicBezTo>
                  <a:pt x="1177" y="517"/>
                  <a:pt x="332" y="480"/>
                  <a:pt x="0" y="0"/>
                </a:cubicBezTo>
                <a:lnTo>
                  <a:pt x="2048" y="0"/>
                </a:ln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sp>
        <p:nvSpPr>
          <p:cNvPr id="204085115" name="Freeform 17"/>
          <p:cNvSpPr/>
          <p:nvPr userDrawn="1"/>
        </p:nvSpPr>
        <p:spPr bwMode="auto">
          <a:xfrm>
            <a:off x="0" y="5905331"/>
            <a:ext cx="1901425" cy="952668"/>
          </a:xfrm>
          <a:custGeom>
            <a:avLst/>
            <a:gdLst>
              <a:gd name="T0" fmla="*/ 2048 w 2048"/>
              <a:gd name="T1" fmla="*/ 1024 h 1024"/>
              <a:gd name="T2" fmla="*/ 0 w 2048"/>
              <a:gd name="T3" fmla="*/ 1024 h 1024"/>
              <a:gd name="T4" fmla="*/ 0 w 2048"/>
              <a:gd name="T5" fmla="*/ 0 h 1024"/>
              <a:gd name="T6" fmla="*/ 2048 w 2048"/>
              <a:gd name="T7" fmla="*/ 1024 h 1024"/>
            </a:gdLst>
            <a:ahLst/>
            <a:cxnLst>
              <a:cxn ang="0">
                <a:pos x="T0" y="T1"/>
              </a:cxn>
              <a:cxn ang="0">
                <a:pos x="T2" y="T3"/>
              </a:cxn>
              <a:cxn ang="0">
                <a:pos x="T4" y="T5"/>
              </a:cxn>
              <a:cxn ang="0">
                <a:pos x="T6" y="T7"/>
              </a:cxn>
            </a:cxnLst>
            <a:rect l="0" t="0" r="r" b="b"/>
            <a:pathLst>
              <a:path w="2048" h="1024" fill="norm" stroke="1" extrusionOk="0">
                <a:moveTo>
                  <a:pt x="2048" y="1024"/>
                </a:moveTo>
                <a:cubicBezTo>
                  <a:pt x="0" y="1024"/>
                  <a:pt x="0" y="1024"/>
                  <a:pt x="0" y="1024"/>
                </a:cubicBezTo>
                <a:cubicBezTo>
                  <a:pt x="0" y="0"/>
                  <a:pt x="0" y="0"/>
                  <a:pt x="0" y="0"/>
                </a:cubicBezTo>
                <a:cubicBezTo>
                  <a:pt x="880" y="66"/>
                  <a:pt x="1621" y="411"/>
                  <a:pt x="2048" y="1024"/>
                </a:cubicBezTo>
                <a:close/>
              </a:path>
            </a:pathLst>
          </a:custGeom>
          <a:gradFill>
            <a:gsLst>
              <a:gs pos="10000">
                <a:srgbClr val="890E4F"/>
              </a:gs>
              <a:gs pos="100000">
                <a:srgbClr val="D81A60"/>
              </a:gs>
            </a:gsLst>
            <a:lin ang="10800000" scaled="1"/>
          </a:gradFill>
          <a:ln>
            <a:noFill/>
          </a:ln>
        </p:spPr>
        <p:txBody>
          <a:bodyPr vert="horz" wrap="square" lIns="91440" tIns="45720" rIns="91440" bIns="45720" numCol="1" anchor="t" anchorCtr="0" compatLnSpc="1">
            <a:prstTxWarp prst="textNoShape"/>
          </a:bodyPr>
          <a:lstStyle/>
          <a:p>
            <a:pPr lvl="0">
              <a:defRPr/>
            </a:pPr>
            <a:endParaRPr lang="en-US"/>
          </a:p>
        </p:txBody>
      </p:sp>
      <p:pic>
        <p:nvPicPr>
          <p:cNvPr id="1789256428" name="Picture 31"/>
          <p:cNvPicPr>
            <a:picLocks noChangeAspect="1"/>
          </p:cNvPicPr>
          <p:nvPr userDrawn="1"/>
        </p:nvPicPr>
        <p:blipFill rotWithShape="1">
          <a:blip r:embed="rId3">
            <a:duotone>
              <a:schemeClr val="bg2">
                <a:shade val="45000"/>
                <a:satMod val="135000"/>
              </a:schemeClr>
              <a:prstClr val="white"/>
            </a:duotone>
          </a:blip>
          <a:stretch/>
        </p:blipFill>
        <p:spPr bwMode="auto">
          <a:xfrm>
            <a:off x="8808334" y="4602222"/>
            <a:ext cx="3383666" cy="2255777"/>
          </a:xfrm>
          <a:prstGeom prst="rect">
            <a:avLst/>
          </a:prstGeom>
        </p:spPr>
      </p:pic>
      <p:pic>
        <p:nvPicPr>
          <p:cNvPr id="1947372372" name="Picture 32"/>
          <p:cNvPicPr>
            <a:picLocks noChangeAspect="1"/>
          </p:cNvPicPr>
          <p:nvPr userDrawn="1"/>
        </p:nvPicPr>
        <p:blipFill rotWithShape="1">
          <a:blip r:embed="rId4"/>
          <a:stretch/>
        </p:blipFill>
        <p:spPr bwMode="auto">
          <a:xfrm>
            <a:off x="8440861" y="2096941"/>
            <a:ext cx="2813885" cy="2119207"/>
          </a:xfrm>
          <a:prstGeom prst="rect">
            <a:avLst/>
          </a:prstGeom>
        </p:spPr>
      </p:pic>
      <p:cxnSp>
        <p:nvCxnSpPr>
          <p:cNvPr id="113473586" name="Straight Connector 44"/>
          <p:cNvCxnSpPr/>
          <p:nvPr/>
        </p:nvCxnSpPr>
        <p:spPr bwMode="auto">
          <a:xfrm>
            <a:off x="1926694" y="6124097"/>
            <a:ext cx="4356000"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029966467" name="Title 1"/>
          <p:cNvSpPr>
            <a:spLocks noGrp="1"/>
          </p:cNvSpPr>
          <p:nvPr userDrawn="1">
            <p:ph type="ctrTitle"/>
          </p:nvPr>
        </p:nvSpPr>
        <p:spPr bwMode="auto">
          <a:xfrm>
            <a:off x="559490" y="1122364"/>
            <a:ext cx="7035300" cy="2578780"/>
          </a:xfrm>
        </p:spPr>
        <p:txBody>
          <a:bodyPr wrap="square" anchor="t">
            <a:noAutofit/>
          </a:bodyPr>
          <a:lstStyle>
            <a:lvl1pPr algn="l">
              <a:defRPr lang="en-US" sz="6600" b="1">
                <a:solidFill>
                  <a:schemeClr val="tx1">
                    <a:lumMod val="90000"/>
                    <a:lumOff val="10000"/>
                  </a:schemeClr>
                </a:solidFill>
                <a:latin typeface="+mj-lt"/>
                <a:ea typeface="Segoe UI Black"/>
                <a:cs typeface="+mn-cs"/>
              </a:defRPr>
            </a:lvl1pPr>
          </a:lstStyle>
          <a:p>
            <a:pPr>
              <a:defRPr/>
            </a:pPr>
            <a:r>
              <a:rPr lang="en-US"/>
              <a:t>Click to edit Master title style</a:t>
            </a:r>
            <a:endParaRPr/>
          </a:p>
        </p:txBody>
      </p:sp>
      <p:pic>
        <p:nvPicPr>
          <p:cNvPr id="935190931" name="Picture 25"/>
          <p:cNvPicPr>
            <a:picLocks noChangeAspect="1"/>
          </p:cNvPicPr>
          <p:nvPr userDrawn="1"/>
        </p:nvPicPr>
        <p:blipFill rotWithShape="1">
          <a:blip r:embed="rId5"/>
          <a:stretch/>
        </p:blipFill>
        <p:spPr bwMode="auto">
          <a:xfrm>
            <a:off x="1998063" y="6232297"/>
            <a:ext cx="182880" cy="182880"/>
          </a:xfrm>
          <a:prstGeom prst="rect">
            <a:avLst/>
          </a:prstGeom>
        </p:spPr>
      </p:pic>
      <p:pic>
        <p:nvPicPr>
          <p:cNvPr id="296661341" name="Picture 26"/>
          <p:cNvPicPr>
            <a:picLocks noChangeAspect="1"/>
          </p:cNvPicPr>
          <p:nvPr userDrawn="1"/>
        </p:nvPicPr>
        <p:blipFill rotWithShape="1">
          <a:blip r:embed="rId6"/>
          <a:stretch/>
        </p:blipFill>
        <p:spPr bwMode="auto">
          <a:xfrm>
            <a:off x="1998063" y="6505320"/>
            <a:ext cx="182880" cy="182880"/>
          </a:xfrm>
          <a:prstGeom prst="rect">
            <a:avLst/>
          </a:prstGeom>
        </p:spPr>
      </p:pic>
      <p:sp>
        <p:nvSpPr>
          <p:cNvPr id="1390298297" name="Text Placeholder 2"/>
          <p:cNvSpPr>
            <a:spLocks noGrp="1"/>
          </p:cNvSpPr>
          <p:nvPr userDrawn="1">
            <p:ph type="body" sz="quarter" idx="11" hasCustomPrompt="1"/>
          </p:nvPr>
        </p:nvSpPr>
        <p:spPr bwMode="auto">
          <a:xfrm>
            <a:off x="2180943" y="6175935"/>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Email Address</a:t>
            </a:r>
            <a:endParaRPr/>
          </a:p>
        </p:txBody>
      </p:sp>
      <p:sp>
        <p:nvSpPr>
          <p:cNvPr id="1057279884" name="Text Placeholder 2"/>
          <p:cNvSpPr>
            <a:spLocks noGrp="1"/>
          </p:cNvSpPr>
          <p:nvPr userDrawn="1">
            <p:ph type="body" sz="quarter" idx="12" hasCustomPrompt="1"/>
          </p:nvPr>
        </p:nvSpPr>
        <p:spPr bwMode="auto">
          <a:xfrm>
            <a:off x="2183874" y="6460218"/>
            <a:ext cx="3735998" cy="290081"/>
          </a:xfrm>
        </p:spPr>
        <p:txBody>
          <a:bodyPr anchor="ctr">
            <a:noAutofit/>
          </a:bodyPr>
          <a:lstStyle>
            <a:lvl1pPr marL="0" indent="0" algn="l" defTabSz="914400" rtl="0">
              <a:lnSpc>
                <a:spcPct val="90000"/>
              </a:lnSpc>
              <a:spcBef>
                <a:spcPts val="0"/>
              </a:spcBef>
              <a:buNone/>
              <a:defRPr lang="en-US" sz="1600" b="0">
                <a:solidFill>
                  <a:schemeClr val="tx1"/>
                </a:solidFill>
                <a:latin typeface="Roboto Condensed Light"/>
                <a:ea typeface="Roboto Condensed Light"/>
                <a:cs typeface="+mn-cs"/>
              </a:defRPr>
            </a:lvl1pPr>
          </a:lstStyle>
          <a:p>
            <a:pPr lvl="0">
              <a:defRPr/>
            </a:pPr>
            <a:r>
              <a:rPr lang="en-US"/>
              <a:t>Click to edit Phone No.</a:t>
            </a:r>
            <a:endParaRPr/>
          </a:p>
        </p:txBody>
      </p:sp>
      <p:sp>
        <p:nvSpPr>
          <p:cNvPr id="1421931786" name="Text Placeholder 2"/>
          <p:cNvSpPr>
            <a:spLocks noGrp="1"/>
          </p:cNvSpPr>
          <p:nvPr>
            <p:ph type="body" sz="quarter" idx="13" hasCustomPrompt="1"/>
          </p:nvPr>
        </p:nvSpPr>
        <p:spPr bwMode="auto">
          <a:xfrm>
            <a:off x="1837678" y="5537768"/>
            <a:ext cx="3735998" cy="290081"/>
          </a:xfrm>
        </p:spPr>
        <p:txBody>
          <a:bodyPr anchor="ctr">
            <a:noAutofit/>
          </a:bodyPr>
          <a:lstStyle>
            <a:lvl1pPr marL="0" indent="0" algn="l" defTabSz="914400" rtl="0">
              <a:lnSpc>
                <a:spcPct val="90000"/>
              </a:lnSpc>
              <a:spcBef>
                <a:spcPts val="0"/>
              </a:spcBef>
              <a:buNone/>
              <a:defRPr lang="en-US" sz="1600">
                <a:solidFill>
                  <a:schemeClr val="tx1"/>
                </a:solidFill>
                <a:latin typeface="+mn-lt"/>
                <a:ea typeface="+mn-ea"/>
                <a:cs typeface="+mn-cs"/>
              </a:defRPr>
            </a:lvl1pPr>
          </a:lstStyle>
          <a:p>
            <a:pPr lvl="0">
              <a:defRPr/>
            </a:pPr>
            <a:r>
              <a:rPr lang="en-US"/>
              <a:t>Write here Department Name</a:t>
            </a:r>
            <a:endParaRPr/>
          </a:p>
        </p:txBody>
      </p:sp>
      <p:sp>
        <p:nvSpPr>
          <p:cNvPr id="1213580768" name="Text Placeholder 2"/>
          <p:cNvSpPr>
            <a:spLocks noGrp="1"/>
          </p:cNvSpPr>
          <p:nvPr>
            <p:ph type="body" sz="quarter" idx="14" hasCustomPrompt="1"/>
          </p:nvPr>
        </p:nvSpPr>
        <p:spPr bwMode="auto">
          <a:xfrm>
            <a:off x="1837677" y="5273332"/>
            <a:ext cx="5581038" cy="290081"/>
          </a:xfrm>
        </p:spPr>
        <p:txBody>
          <a:bodyPr anchor="ctr">
            <a:noAutofit/>
          </a:bodyPr>
          <a:lstStyle>
            <a:lvl1pPr marL="0" indent="0" algn="l" defTabSz="914400" rtl="0">
              <a:lnSpc>
                <a:spcPct val="90000"/>
              </a:lnSpc>
              <a:spcBef>
                <a:spcPts val="0"/>
              </a:spcBef>
              <a:buNone/>
              <a:defRPr lang="en-US" sz="1800" b="1">
                <a:gradFill>
                  <a:gsLst>
                    <a:gs pos="10000">
                      <a:srgbClr val="890E4F"/>
                    </a:gs>
                    <a:gs pos="100000">
                      <a:srgbClr val="D81A60"/>
                    </a:gs>
                  </a:gsLst>
                  <a:lin ang="0" scaled="1"/>
                </a:gradFill>
                <a:latin typeface="+mn-lt"/>
                <a:ea typeface="+mn-ea"/>
                <a:cs typeface="+mn-cs"/>
              </a:defRPr>
            </a:lvl1pPr>
          </a:lstStyle>
          <a:p>
            <a:pPr lvl="0">
              <a:defRPr/>
            </a:pPr>
            <a:r>
              <a:rPr lang="en-US"/>
              <a:t>Write here your Author Name (i.e. Prof. Jay R </a:t>
            </a:r>
            <a:r>
              <a:rPr lang="en-US"/>
              <a:t>Dhamsaniya</a:t>
            </a:r>
            <a:r>
              <a:rPr lang="en-US"/>
              <a:t>)</a:t>
            </a:r>
            <a:endParaRPr/>
          </a:p>
        </p:txBody>
      </p:sp>
      <p:pic>
        <p:nvPicPr>
          <p:cNvPr id="530721530" name="Picture 53"/>
          <p:cNvPicPr>
            <a:picLocks noChangeAspect="1"/>
          </p:cNvPicPr>
          <p:nvPr userDrawn="1"/>
        </p:nvPicPr>
        <p:blipFill rotWithShape="1">
          <a:blip r:embed="rId7"/>
          <a:stretch/>
        </p:blipFill>
        <p:spPr bwMode="auto">
          <a:xfrm>
            <a:off x="8295842" y="307556"/>
            <a:ext cx="3573889" cy="821995"/>
          </a:xfrm>
          <a:prstGeom prst="rect">
            <a:avLst/>
          </a:prstGeom>
        </p:spPr>
      </p:pic>
      <p:pic>
        <p:nvPicPr>
          <p:cNvPr id="1322825031" name="Picture 54"/>
          <p:cNvPicPr>
            <a:picLocks noChangeAspect="1"/>
          </p:cNvPicPr>
          <p:nvPr userDrawn="1"/>
        </p:nvPicPr>
        <p:blipFill rotWithShape="1">
          <a:blip r:embed="rId8"/>
          <a:srcRect l="62023" t="18062" r="2730" b="17724"/>
          <a:stretch/>
        </p:blipFill>
        <p:spPr bwMode="auto">
          <a:xfrm>
            <a:off x="63248" y="837717"/>
            <a:ext cx="1087893" cy="772151"/>
          </a:xfrm>
          <a:prstGeom prst="rect">
            <a:avLst/>
          </a:prstGeom>
        </p:spPr>
      </p:pic>
      <p:sp>
        <p:nvSpPr>
          <p:cNvPr id="473279370" name="Text Placeholder 2"/>
          <p:cNvSpPr>
            <a:spLocks noGrp="1"/>
          </p:cNvSpPr>
          <p:nvPr>
            <p:ph type="body" sz="quarter" idx="16" hasCustomPrompt="1"/>
          </p:nvPr>
        </p:nvSpPr>
        <p:spPr bwMode="auto">
          <a:xfrm>
            <a:off x="2581756" y="20384"/>
            <a:ext cx="4646357" cy="734653"/>
          </a:xfrm>
        </p:spPr>
        <p:txBody>
          <a:bodyPr anchor="ctr">
            <a:noAutofit/>
          </a:bodyPr>
          <a:lstStyle>
            <a:lvl1pPr marL="0" indent="0" algn="ctr" defTabSz="914400" rtl="0">
              <a:lnSpc>
                <a:spcPct val="90000"/>
              </a:lnSpc>
              <a:spcBef>
                <a:spcPts val="0"/>
              </a:spcBef>
              <a:buNone/>
              <a:defRPr lang="en-US" sz="1800" b="0">
                <a:solidFill>
                  <a:schemeClr val="lt1"/>
                </a:solidFill>
                <a:latin typeface="+mn-lt"/>
                <a:ea typeface="+mn-ea"/>
                <a:cs typeface="+mn-cs"/>
              </a:defRPr>
            </a:lvl1pPr>
          </a:lstStyle>
          <a:p>
            <a:pPr lvl="0">
              <a:defRPr/>
            </a:pPr>
            <a:r>
              <a:rPr lang="en-US"/>
              <a:t>Write Subject Name (Short Name)</a:t>
            </a:r>
            <a:endParaRPr/>
          </a:p>
          <a:p>
            <a:pPr lvl="0">
              <a:defRPr/>
            </a:pPr>
            <a:r>
              <a:rPr lang="en-US"/>
              <a:t>GTU # Subject Code</a:t>
            </a:r>
            <a:endParaRPr/>
          </a:p>
        </p:txBody>
      </p:sp>
      <p:pic>
        <p:nvPicPr>
          <p:cNvPr id="2127586729" name="Picture 20" descr="User icon Royalty Free Vector Image - VectorStock"/>
          <p:cNvPicPr>
            <a:picLocks noChangeAspect="1" noChangeArrowheads="1"/>
          </p:cNvPicPr>
          <p:nvPr userDrawn="1"/>
        </p:nvPicPr>
        <p:blipFill rotWithShape="1">
          <a:blip r:embed="rId9">
            <a:lum bright="70000" contrast="-70000"/>
          </a:blip>
          <a:srcRect l="26030" t="21389" r="26030" b="34222"/>
          <a:stretch/>
        </p:blipFill>
        <p:spPr bwMode="auto">
          <a:xfrm>
            <a:off x="353568" y="5211250"/>
            <a:ext cx="1353600" cy="1353600"/>
          </a:xfrm>
          <a:custGeom>
            <a:avLst/>
            <a:gdLst>
              <a:gd name="connsiteX0" fmla="*/ 1522095 w 3044190"/>
              <a:gd name="connsiteY0" fmla="*/ 0 h 3044190"/>
              <a:gd name="connsiteX1" fmla="*/ 3044190 w 3044190"/>
              <a:gd name="connsiteY1" fmla="*/ 1522095 h 3044190"/>
              <a:gd name="connsiteX2" fmla="*/ 1522095 w 3044190"/>
              <a:gd name="connsiteY2" fmla="*/ 3044190 h 3044190"/>
              <a:gd name="connsiteX3" fmla="*/ 0 w 3044190"/>
              <a:gd name="connsiteY3" fmla="*/ 1522095 h 3044190"/>
              <a:gd name="connsiteX4" fmla="*/ 1522095 w 3044190"/>
              <a:gd name="connsiteY4" fmla="*/ 0 h 3044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44190" h="3044190" fill="norm" stroke="1" extrusionOk="0">
                <a:moveTo>
                  <a:pt x="1522095" y="0"/>
                </a:moveTo>
                <a:cubicBezTo>
                  <a:pt x="2362725" y="0"/>
                  <a:pt x="3044190" y="681465"/>
                  <a:pt x="3044190" y="1522095"/>
                </a:cubicBezTo>
                <a:cubicBezTo>
                  <a:pt x="3044190" y="2362725"/>
                  <a:pt x="2362725" y="3044190"/>
                  <a:pt x="1522095" y="3044190"/>
                </a:cubicBezTo>
                <a:cubicBezTo>
                  <a:pt x="681465" y="3044190"/>
                  <a:pt x="0" y="2362725"/>
                  <a:pt x="0" y="1522095"/>
                </a:cubicBezTo>
                <a:cubicBezTo>
                  <a:pt x="0" y="681465"/>
                  <a:pt x="681465" y="0"/>
                  <a:pt x="1522095" y="0"/>
                </a:cubicBezTo>
                <a:close/>
              </a:path>
            </a:pathLst>
          </a:custGeom>
          <a:noFill/>
          <a:ln w="12700">
            <a:solidFill>
              <a:schemeClr val="bg1">
                <a:lumMod val="75000"/>
              </a:schemeClr>
            </a:solidFill>
          </a:ln>
        </p:spPr>
      </p:pic>
      <p:sp>
        <p:nvSpPr>
          <p:cNvPr id="1282473805" name="Picture Placeholder 29"/>
          <p:cNvSpPr>
            <a:spLocks noGrp="1"/>
          </p:cNvSpPr>
          <p:nvPr>
            <p:ph type="pic" sz="quarter" idx="10"/>
          </p:nvPr>
        </p:nvSpPr>
        <p:spPr bwMode="auto">
          <a:xfrm>
            <a:off x="353569" y="5211251"/>
            <a:ext cx="1353599" cy="1353599"/>
          </a:xfrm>
          <a:custGeom>
            <a:avLst/>
            <a:gdLst>
              <a:gd name="connsiteX0" fmla="*/ 1945481 w 3890962"/>
              <a:gd name="connsiteY0" fmla="*/ 0 h 3890962"/>
              <a:gd name="connsiteX1" fmla="*/ 3890962 w 3890962"/>
              <a:gd name="connsiteY1" fmla="*/ 1945481 h 3890962"/>
              <a:gd name="connsiteX2" fmla="*/ 1945481 w 3890962"/>
              <a:gd name="connsiteY2" fmla="*/ 3890962 h 3890962"/>
              <a:gd name="connsiteX3" fmla="*/ 0 w 3890962"/>
              <a:gd name="connsiteY3" fmla="*/ 1945481 h 3890962"/>
              <a:gd name="connsiteX4" fmla="*/ 1945481 w 3890962"/>
              <a:gd name="connsiteY4" fmla="*/ 0 h 38909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90962" h="3890962" fill="norm" stroke="1" extrusionOk="0">
                <a:moveTo>
                  <a:pt x="1945481" y="0"/>
                </a:moveTo>
                <a:cubicBezTo>
                  <a:pt x="3019940" y="0"/>
                  <a:pt x="3890962" y="871022"/>
                  <a:pt x="3890962" y="1945481"/>
                </a:cubicBezTo>
                <a:cubicBezTo>
                  <a:pt x="3890962" y="3019940"/>
                  <a:pt x="3019940" y="3890962"/>
                  <a:pt x="1945481" y="3890962"/>
                </a:cubicBezTo>
                <a:cubicBezTo>
                  <a:pt x="871022" y="3890962"/>
                  <a:pt x="0" y="3019940"/>
                  <a:pt x="0" y="1945481"/>
                </a:cubicBezTo>
                <a:cubicBezTo>
                  <a:pt x="0" y="871022"/>
                  <a:pt x="871022" y="0"/>
                  <a:pt x="1945481" y="0"/>
                </a:cubicBezTo>
                <a:close/>
              </a:path>
            </a:pathLst>
          </a:custGeom>
          <a:ln>
            <a:solidFill>
              <a:schemeClr val="bg1">
                <a:lumMod val="65000"/>
              </a:schemeClr>
            </a:solidFill>
          </a:ln>
        </p:spPr>
        <p:txBody>
          <a:bodyPr wrap="square">
            <a:noAutofit/>
          </a:bodyPr>
          <a:lstStyle>
            <a:lvl1pPr>
              <a:defRPr sz="1800"/>
            </a:lvl1pPr>
          </a:lstStyle>
          <a:p>
            <a:pPr>
              <a:defRPr/>
            </a:pPr>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obj" userDrawn="1">
  <p:cSld name="Title and Content">
    <p:spTree>
      <p:nvGrpSpPr>
        <p:cNvPr id="1" name=""/>
        <p:cNvGrpSpPr/>
        <p:nvPr/>
      </p:nvGrpSpPr>
      <p:grpSpPr bwMode="auto">
        <a:xfrm>
          <a:off x="0" y="0"/>
          <a:ext cx="0" cy="0"/>
          <a:chOff x="0" y="0"/>
          <a:chExt cx="0" cy="0"/>
        </a:xfrm>
      </p:grpSpPr>
      <p:sp>
        <p:nvSpPr>
          <p:cNvPr id="85746446" name="Title 1"/>
          <p:cNvSpPr>
            <a:spLocks noGrp="1"/>
          </p:cNvSpPr>
          <p:nvPr>
            <p:ph type="title"/>
          </p:nvPr>
        </p:nvSpPr>
        <p:spPr bwMode="auto">
          <a:xfrm>
            <a:off x="254000" y="106364"/>
            <a:ext cx="11684000" cy="808037"/>
          </a:xfrm>
        </p:spPr>
        <p:txBody>
          <a:bodyPr>
            <a:normAutofit/>
          </a:bodyPr>
          <a:lstStyle>
            <a:lvl1pPr algn="l">
              <a:defRPr lang="en-US" sz="4400" b="0">
                <a:solidFill>
                  <a:schemeClr val="tx1"/>
                </a:solidFill>
                <a:latin typeface="+mj-lt"/>
                <a:ea typeface="Open Sans Semibold"/>
                <a:cs typeface="Open Sans Semibold"/>
              </a:defRPr>
            </a:lvl1pPr>
          </a:lstStyle>
          <a:p>
            <a:pPr>
              <a:defRPr/>
            </a:pPr>
            <a:r>
              <a:rPr lang="en-US"/>
              <a:t>Click to edit Master title style</a:t>
            </a:r>
            <a:endParaRPr lang="en-US"/>
          </a:p>
        </p:txBody>
      </p:sp>
      <p:sp>
        <p:nvSpPr>
          <p:cNvPr id="1173146799" name="Content Placeholder 2"/>
          <p:cNvSpPr>
            <a:spLocks noGrp="1"/>
          </p:cNvSpPr>
          <p:nvPr>
            <p:ph idx="1"/>
          </p:nvPr>
        </p:nvSpPr>
        <p:spPr bwMode="auto">
          <a:xfrm>
            <a:off x="254000" y="990600"/>
            <a:ext cx="11684000" cy="5334000"/>
          </a:xfrm>
        </p:spPr>
        <p:txBody>
          <a:bodyPr>
            <a:normAutofit/>
          </a:bodyPr>
          <a:lstStyle>
            <a:lvl1pPr marL="342900" indent="-342900" algn="just" defTabSz="914400" rtl="0">
              <a:lnSpc>
                <a:spcPct val="90000"/>
              </a:lnSpc>
              <a:spcBef>
                <a:spcPts val="600"/>
              </a:spcBef>
              <a:buClrTx/>
              <a:buFont typeface="Wingdings"/>
              <a:buChar char="§"/>
              <a:defRPr lang="en-US" sz="2400">
                <a:solidFill>
                  <a:schemeClr val="tx1"/>
                </a:solidFill>
                <a:latin typeface="+mj-lt"/>
                <a:ea typeface="Times New Roman"/>
                <a:cs typeface="Times New Roman"/>
              </a:defRPr>
            </a:lvl1pPr>
            <a:lvl2pPr marL="704850" indent="-342900" algn="just" defTabSz="914400" rtl="0">
              <a:lnSpc>
                <a:spcPct val="90000"/>
              </a:lnSpc>
              <a:spcBef>
                <a:spcPts val="600"/>
              </a:spcBef>
              <a:buClrTx/>
              <a:buFont typeface="Arial"/>
              <a:buChar char="•"/>
              <a:defRPr lang="en-US" sz="2300">
                <a:solidFill>
                  <a:schemeClr val="tx1"/>
                </a:solidFill>
                <a:latin typeface="+mj-lt"/>
                <a:ea typeface="Times New Roman"/>
                <a:cs typeface="Times New Roman"/>
              </a:defRPr>
            </a:lvl2pPr>
            <a:lvl3pPr marL="968375" indent="-342900" algn="just" defTabSz="914400" rtl="0">
              <a:lnSpc>
                <a:spcPct val="90000"/>
              </a:lnSpc>
              <a:spcBef>
                <a:spcPts val="600"/>
              </a:spcBef>
              <a:buClrTx/>
              <a:defRPr lang="en-US" sz="2200">
                <a:solidFill>
                  <a:schemeClr val="tx1"/>
                </a:solidFill>
                <a:latin typeface="+mj-lt"/>
                <a:ea typeface="Times New Roman"/>
                <a:cs typeface="Times New Roman"/>
              </a:defRPr>
            </a:lvl3pPr>
            <a:lvl4pPr marL="1239837" indent="-342900" algn="just" defTabSz="914400" rtl="0">
              <a:lnSpc>
                <a:spcPct val="90000"/>
              </a:lnSpc>
              <a:spcBef>
                <a:spcPts val="600"/>
              </a:spcBef>
              <a:buClrTx/>
              <a:defRPr lang="en-US" sz="2000">
                <a:solidFill>
                  <a:schemeClr val="tx1"/>
                </a:solidFill>
                <a:latin typeface="+mj-lt"/>
                <a:ea typeface="Times New Roman"/>
                <a:cs typeface="Times New Roman"/>
              </a:defRPr>
            </a:lvl4pPr>
            <a:lvl5pPr marL="1454150" indent="-285750" algn="just" defTabSz="914400" rtl="0">
              <a:lnSpc>
                <a:spcPct val="90000"/>
              </a:lnSpc>
              <a:spcBef>
                <a:spcPts val="600"/>
              </a:spcBef>
              <a:buClrTx/>
              <a:defRPr lang="en-US" sz="1600">
                <a:solidFill>
                  <a:schemeClr val="tx1"/>
                </a:solidFill>
                <a:latin typeface="+mj-lt"/>
                <a:ea typeface="Times New Roman"/>
                <a:cs typeface="Times New Roman"/>
              </a:defRPr>
            </a:lvl5pPr>
          </a:lstStyle>
          <a:p>
            <a:pPr marL="342900" lvl="0" indent="-342900" algn="l" defTabSz="914400" rtl="0">
              <a:lnSpc>
                <a:spcPct val="90000"/>
              </a:lnSpc>
              <a:spcBef>
                <a:spcPts val="600"/>
              </a:spcBef>
              <a:buClrTx/>
              <a:buFont typeface="Wingdings"/>
              <a:buChar char="§"/>
              <a:defRPr/>
            </a:pPr>
            <a:r>
              <a:rPr lang="en-US"/>
              <a:t>Click to edit Master text styles</a:t>
            </a:r>
            <a:endParaRPr/>
          </a:p>
          <a:p>
            <a:pPr marL="625475" lvl="1" indent="-263525" algn="just" defTabSz="914400" rtl="0">
              <a:lnSpc>
                <a:spcPct val="90000"/>
              </a:lnSpc>
              <a:spcBef>
                <a:spcPts val="600"/>
              </a:spcBef>
              <a:buClrTx/>
              <a:buFont typeface="Arial"/>
              <a:buChar char="•"/>
              <a:defRPr/>
            </a:pPr>
            <a:r>
              <a:rPr lang="en-US"/>
              <a:t>Second level</a:t>
            </a:r>
            <a:endParaRPr/>
          </a:p>
          <a:p>
            <a:pPr marL="896938" lvl="2" indent="-271463" algn="just" defTabSz="914400" rtl="0">
              <a:lnSpc>
                <a:spcPct val="90000"/>
              </a:lnSpc>
              <a:spcBef>
                <a:spcPts val="600"/>
              </a:spcBef>
              <a:buClrTx/>
              <a:buFont typeface="Arial"/>
              <a:buChar char="•"/>
              <a:defRPr/>
            </a:pPr>
            <a:r>
              <a:rPr lang="en-US"/>
              <a:t>Third level</a:t>
            </a:r>
            <a:endParaRPr/>
          </a:p>
          <a:p>
            <a:pPr marL="1168400" lvl="3" indent="-271463" algn="just" defTabSz="914400" rtl="0">
              <a:lnSpc>
                <a:spcPct val="90000"/>
              </a:lnSpc>
              <a:spcBef>
                <a:spcPts val="600"/>
              </a:spcBef>
              <a:buClrTx/>
              <a:buFont typeface="Arial"/>
              <a:buChar char="–"/>
              <a:defRPr/>
            </a:pPr>
            <a:r>
              <a:rPr lang="en-US"/>
              <a:t>Fourth level</a:t>
            </a:r>
            <a:endParaRPr/>
          </a:p>
          <a:p>
            <a:pPr marL="1439863" lvl="4" indent="-271463" algn="just" defTabSz="914400" rtl="0">
              <a:lnSpc>
                <a:spcPct val="90000"/>
              </a:lnSpc>
              <a:spcBef>
                <a:spcPts val="600"/>
              </a:spcBef>
              <a:buClrTx/>
              <a:buFont typeface="Arial"/>
              <a:buChar char="»"/>
              <a:defRPr/>
            </a:pPr>
            <a:r>
              <a:rPr lang="en-US"/>
              <a:t>Fifth level</a:t>
            </a:r>
            <a:endParaRPr lang="en-US"/>
          </a:p>
        </p:txBody>
      </p:sp>
      <p:sp>
        <p:nvSpPr>
          <p:cNvPr id="1488862805" name="Rektangel 11"/>
          <p:cNvSpPr/>
          <p:nvPr userDrawn="1"/>
        </p:nvSpPr>
        <p:spPr bwMode="auto">
          <a:xfrm>
            <a:off x="0" y="6477000"/>
            <a:ext cx="5384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da-DK" sz="1800">
                <a:solidFill>
                  <a:srgbClr val="FFFFFF"/>
                </a:solidFill>
                <a:latin typeface="+mj-lt"/>
                <a:ea typeface="Open Sans"/>
                <a:cs typeface="Open Sans"/>
              </a:rPr>
              <a:t>Unit</a:t>
            </a:r>
            <a:r>
              <a:rPr lang="da-DK" sz="1800">
                <a:solidFill>
                  <a:srgbClr val="FFFFFF"/>
                </a:solidFill>
                <a:latin typeface="+mj-lt"/>
                <a:ea typeface="Open Sans"/>
                <a:cs typeface="Open Sans"/>
              </a:rPr>
              <a:t> – 2: </a:t>
            </a:r>
            <a:r>
              <a:rPr lang="en-US" sz="1800"/>
              <a:t>Linear Data Structure</a:t>
            </a:r>
            <a:endParaRPr lang="da-DK" sz="1800">
              <a:solidFill>
                <a:srgbClr val="FFFFFF"/>
              </a:solidFill>
              <a:latin typeface="+mj-lt"/>
              <a:ea typeface="Open Sans"/>
              <a:cs typeface="Open Sans"/>
            </a:endParaRPr>
          </a:p>
        </p:txBody>
      </p:sp>
      <p:cxnSp>
        <p:nvCxnSpPr>
          <p:cNvPr id="1832276629" name="Straight Connector 5"/>
          <p:cNvCxnSpPr/>
          <p:nvPr userDrawn="1"/>
        </p:nvCxnSpPr>
        <p:spPr bwMode="auto">
          <a:xfrm>
            <a:off x="254000" y="914400"/>
            <a:ext cx="11684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964319842" name="Rektangel 11"/>
          <p:cNvSpPr/>
          <p:nvPr userDrawn="1"/>
        </p:nvSpPr>
        <p:spPr bwMode="auto">
          <a:xfrm>
            <a:off x="6197600" y="6480727"/>
            <a:ext cx="59944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defRPr/>
            </a:pPr>
            <a:r>
              <a:rPr lang="en-US" sz="1800">
                <a:solidFill>
                  <a:srgbClr val="FFFFFF"/>
                </a:solidFill>
                <a:latin typeface="+mj-lt"/>
                <a:ea typeface="Open Sans"/>
                <a:cs typeface="Open Sans"/>
              </a:rPr>
              <a:t>Darshan</a:t>
            </a:r>
            <a:r>
              <a:rPr lang="en-US" sz="1800">
                <a:solidFill>
                  <a:srgbClr val="FFFFFF"/>
                </a:solidFill>
                <a:latin typeface="+mj-lt"/>
                <a:ea typeface="Open Sans"/>
                <a:cs typeface="Open Sans"/>
              </a:rPr>
              <a:t> Institute of Engineering &amp; Technology</a:t>
            </a:r>
            <a:endParaRPr lang="da-DK" sz="1800">
              <a:solidFill>
                <a:srgbClr val="FFFFFF"/>
              </a:solidFill>
              <a:latin typeface="+mj-lt"/>
              <a:ea typeface="Open Sans"/>
              <a:cs typeface="Open Sans"/>
            </a:endParaRPr>
          </a:p>
        </p:txBody>
      </p:sp>
      <p:sp>
        <p:nvSpPr>
          <p:cNvPr id="1779176756" name="Rektangel 11"/>
          <p:cNvSpPr/>
          <p:nvPr userDrawn="1"/>
        </p:nvSpPr>
        <p:spPr bwMode="auto">
          <a:xfrm>
            <a:off x="5384800" y="6477000"/>
            <a:ext cx="8128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fld id="{4CCBBDC9-ADEB-48F3-A42C-1AD0249F062A}" type="slidenum">
              <a:rPr lang="da-DK" sz="1800">
                <a:solidFill>
                  <a:srgbClr val="FFFFFF"/>
                </a:solidFill>
                <a:latin typeface="+mj-lt"/>
                <a:ea typeface="Open Sans"/>
                <a:cs typeface="Open Sans"/>
              </a:rPr>
              <a:t>‹#›</a:t>
            </a:fld>
            <a:endParaRPr lang="da-DK" sz="1800">
              <a:solidFill>
                <a:srgbClr val="FFFFFF"/>
              </a:solidFill>
              <a:latin typeface="+mj-lt"/>
              <a:ea typeface="Open Sans"/>
              <a:cs typeface="Open San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0" showMasterPhAnim="0" showMasterSp="1" type="blank" userDrawn="1">
  <p:cSld name="Blank">
    <p:spTree>
      <p:nvGrpSpPr>
        <p:cNvPr id="1" name=""/>
        <p:cNvGrpSpPr/>
        <p:nvPr/>
      </p:nvGrpSpPr>
      <p:grpSpPr bwMode="auto">
        <a:xfrm>
          <a:off x="0" y="0"/>
          <a:ext cx="0" cy="0"/>
          <a:chOff x="0" y="0"/>
          <a:chExt cx="0" cy="0"/>
        </a:xfrm>
      </p:grpSpPr>
      <p:sp>
        <p:nvSpPr>
          <p:cNvPr id="780817523" name="Date Placeholder 1"/>
          <p:cNvSpPr>
            <a:spLocks noGrp="1"/>
          </p:cNvSpPr>
          <p:nvPr>
            <p:ph type="dt" sz="half" idx="10"/>
          </p:nvPr>
        </p:nvSpPr>
        <p:spPr bwMode="auto"/>
        <p:txBody>
          <a:bodyPr/>
          <a:lstStyle/>
          <a:p>
            <a:pPr>
              <a:defRPr/>
            </a:pPr>
            <a:endParaRPr lang="en-US"/>
          </a:p>
        </p:txBody>
      </p:sp>
      <p:sp>
        <p:nvSpPr>
          <p:cNvPr id="1695232825" name="Footer Placeholder 2"/>
          <p:cNvSpPr>
            <a:spLocks noGrp="1"/>
          </p:cNvSpPr>
          <p:nvPr>
            <p:ph type="ftr" sz="quarter" idx="11"/>
          </p:nvPr>
        </p:nvSpPr>
        <p:spPr bwMode="auto"/>
        <p:txBody>
          <a:bodyPr/>
          <a:lstStyle/>
          <a:p>
            <a:pPr>
              <a:defRPr/>
            </a:pPr>
            <a:endParaRPr lang="en-US"/>
          </a:p>
        </p:txBody>
      </p:sp>
      <p:sp>
        <p:nvSpPr>
          <p:cNvPr id="56814767" name="Slide Number Placeholder 3"/>
          <p:cNvSpPr>
            <a:spLocks noGrp="1"/>
          </p:cNvSpPr>
          <p:nvPr>
            <p:ph type="sldNum" sz="quarter" idx="12"/>
          </p:nvPr>
        </p:nvSpPr>
        <p:spPr bwMode="auto"/>
        <p:txBody>
          <a:bodyPr/>
          <a:lstStyle/>
          <a:p>
            <a:pPr>
              <a:defRPr/>
            </a:pPr>
            <a:fld id="{5EA8BEFB-AE5B-48F9-BBAD-B489CDE48C80}" type="slidenum">
              <a:rPr lang="en-US"/>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0">
  <p:cSld name="">
    <p:bg>
      <p:bgRef idx="1001">
        <a:schemeClr val="bg1"/>
      </p:bgRef>
    </p:bg>
    <p:spTree>
      <p:nvGrpSpPr>
        <p:cNvPr id="1" name=""/>
        <p:cNvGrpSpPr/>
        <p:nvPr/>
      </p:nvGrpSpPr>
      <p:grpSpPr bwMode="auto">
        <a:xfrm>
          <a:off x="0" y="0"/>
          <a:ext cx="0" cy="0"/>
          <a:chOff x="0" y="0"/>
          <a:chExt cx="0" cy="0"/>
        </a:xfrm>
      </p:grpSpPr>
      <p:sp>
        <p:nvSpPr>
          <p:cNvPr id="1336531370" name="Title Placeholder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en-US"/>
              <a:t>Click to edit Master title style</a:t>
            </a:r>
            <a:endParaRPr/>
          </a:p>
        </p:txBody>
      </p:sp>
      <p:sp>
        <p:nvSpPr>
          <p:cNvPr id="2076789238" name="Text Placeholder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1641354244" name="Date Placeholder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9CD21B45-1703-4330-B544-825BD8F37AF2}" type="datetimeFigureOut">
              <a:rPr lang="en-US"/>
              <a:t>7/18/2025</a:t>
            </a:fld>
            <a:endParaRPr lang="en-US"/>
          </a:p>
        </p:txBody>
      </p:sp>
      <p:sp>
        <p:nvSpPr>
          <p:cNvPr id="279566657" name="Footer Placeholder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1757188044" name="Slide Number Placeholder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641F3C7-36DD-4595-AA08-2525D86280BD}" type="slidenum">
              <a:rPr 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jpg"/></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8.xml"/></Relationships>
</file>

<file path=ppt/slides/_rels/slide29.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15.jp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2274634" name="Title 1"/>
          <p:cNvSpPr>
            <a:spLocks noGrp="1"/>
          </p:cNvSpPr>
          <p:nvPr>
            <p:ph type="ctrTitle"/>
          </p:nvPr>
        </p:nvSpPr>
        <p:spPr bwMode="auto">
          <a:xfrm>
            <a:off x="559489" y="1122364"/>
            <a:ext cx="7280145" cy="2563094"/>
          </a:xfrm>
        </p:spPr>
        <p:txBody>
          <a:bodyPr/>
          <a:lstStyle/>
          <a:p>
            <a:pPr>
              <a:defRPr/>
            </a:pPr>
            <a:r>
              <a:rPr lang="en-US" sz="4000" b="0">
                <a:latin typeface="Roboto Condensed Light"/>
                <a:ea typeface="Roboto Condensed Light"/>
              </a:rPr>
              <a:t>Unit-3 (Part – 2)</a:t>
            </a:r>
            <a:r>
              <a:rPr lang="en-US" sz="5400"/>
              <a:t> </a:t>
            </a:r>
            <a:br>
              <a:rPr lang="en-US" sz="5400"/>
            </a:br>
            <a:r>
              <a:rPr lang="en-US" sz="5400"/>
              <a:t>Tree</a:t>
            </a:r>
            <a:br>
              <a:rPr lang="en-US" sz="5400"/>
            </a:br>
            <a:r>
              <a:rPr lang="en-US" sz="4800" b="0"/>
              <a:t>Non-Linear </a:t>
            </a:r>
            <a:r>
              <a:rPr lang="en-US" sz="4800" b="0"/>
              <a:t>Data Structure </a:t>
            </a:r>
            <a:br>
              <a:rPr lang="en-US" sz="4800" b="0"/>
            </a:br>
            <a:endParaRPr lang="en-US" sz="6000" b="0"/>
          </a:p>
        </p:txBody>
      </p:sp>
      <p:sp>
        <p:nvSpPr>
          <p:cNvPr id="1688677820" name="Text Placeholder 2"/>
          <p:cNvSpPr>
            <a:spLocks noGrp="1"/>
          </p:cNvSpPr>
          <p:nvPr>
            <p:ph type="body" sz="quarter" idx="11"/>
          </p:nvPr>
        </p:nvSpPr>
        <p:spPr bwMode="auto"/>
        <p:txBody>
          <a:bodyPr/>
          <a:lstStyle/>
          <a:p>
            <a:pPr>
              <a:defRPr/>
            </a:pPr>
            <a:r>
              <a:rPr lang="en-US"/>
              <a:t>pradyuman.jadeja@darshan.ac.in</a:t>
            </a:r>
            <a:endParaRPr/>
          </a:p>
        </p:txBody>
      </p:sp>
      <p:sp>
        <p:nvSpPr>
          <p:cNvPr id="43084147" name="Text Placeholder 3"/>
          <p:cNvSpPr>
            <a:spLocks noGrp="1"/>
          </p:cNvSpPr>
          <p:nvPr>
            <p:ph type="body" sz="quarter" idx="12"/>
          </p:nvPr>
        </p:nvSpPr>
        <p:spPr bwMode="auto"/>
        <p:txBody>
          <a:bodyPr/>
          <a:lstStyle/>
          <a:p>
            <a:pPr>
              <a:defRPr/>
            </a:pPr>
            <a:r>
              <a:rPr lang="en-US"/>
              <a:t>+91 9879461848</a:t>
            </a:r>
            <a:endParaRPr/>
          </a:p>
        </p:txBody>
      </p:sp>
      <p:sp>
        <p:nvSpPr>
          <p:cNvPr id="1062427619" name="Text Placeholder 4"/>
          <p:cNvSpPr>
            <a:spLocks noGrp="1"/>
          </p:cNvSpPr>
          <p:nvPr>
            <p:ph type="body" sz="quarter" idx="13"/>
          </p:nvPr>
        </p:nvSpPr>
        <p:spPr bwMode="auto"/>
        <p:txBody>
          <a:bodyPr/>
          <a:lstStyle/>
          <a:p>
            <a:pPr>
              <a:defRPr/>
            </a:pPr>
            <a:r>
              <a:rPr lang="en-US"/>
              <a:t>Computer Engineering Department</a:t>
            </a:r>
            <a:endParaRPr/>
          </a:p>
        </p:txBody>
      </p:sp>
      <p:sp>
        <p:nvSpPr>
          <p:cNvPr id="121174579" name="Text Placeholder 5"/>
          <p:cNvSpPr>
            <a:spLocks noGrp="1"/>
          </p:cNvSpPr>
          <p:nvPr>
            <p:ph type="body" sz="quarter" idx="14"/>
          </p:nvPr>
        </p:nvSpPr>
        <p:spPr bwMode="auto"/>
        <p:txBody>
          <a:bodyPr/>
          <a:lstStyle/>
          <a:p>
            <a:pPr>
              <a:defRPr/>
            </a:pPr>
            <a:r>
              <a:rPr lang="en-US"/>
              <a:t>Dr. </a:t>
            </a:r>
            <a:r>
              <a:rPr lang="en-US"/>
              <a:t>Pradyumansinh</a:t>
            </a:r>
            <a:r>
              <a:rPr lang="en-US"/>
              <a:t> </a:t>
            </a:r>
            <a:r>
              <a:rPr lang="en-US"/>
              <a:t>Jadeja</a:t>
            </a:r>
            <a:endParaRPr lang="en-US"/>
          </a:p>
        </p:txBody>
      </p:sp>
      <p:sp>
        <p:nvSpPr>
          <p:cNvPr id="851076502" name="Text Placeholder 1026"/>
          <p:cNvSpPr>
            <a:spLocks noGrp="1"/>
          </p:cNvSpPr>
          <p:nvPr>
            <p:ph type="body" sz="quarter" idx="16"/>
          </p:nvPr>
        </p:nvSpPr>
        <p:spPr bwMode="auto"/>
        <p:txBody>
          <a:bodyPr/>
          <a:lstStyle/>
          <a:p>
            <a:pPr>
              <a:defRPr/>
            </a:pPr>
            <a:r>
              <a:rPr lang="en-US" b="1"/>
              <a:t>Data Structures </a:t>
            </a:r>
            <a:r>
              <a:rPr lang="en-US">
                <a:latin typeface="Roboto Condensed Light"/>
                <a:ea typeface="Roboto Condensed Light"/>
              </a:rPr>
              <a:t>(DS)</a:t>
            </a:r>
            <a:endParaRPr/>
          </a:p>
          <a:p>
            <a:pPr>
              <a:defRPr/>
            </a:pPr>
            <a:r>
              <a:rPr lang="en-US">
                <a:latin typeface="Roboto Condensed Light"/>
                <a:ea typeface="Roboto Condensed Light"/>
              </a:rPr>
              <a:t>DU #2301CS301</a:t>
            </a:r>
            <a:endParaRPr/>
          </a:p>
        </p:txBody>
      </p:sp>
      <p:sp>
        <p:nvSpPr>
          <p:cNvPr id="10895738" name="AutoShape 3"/>
          <p:cNvSpPr>
            <a:spLocks noChangeArrowheads="1" noChangeAspect="1" noTextEdit="1"/>
          </p:cNvSpPr>
          <p:nvPr/>
        </p:nvSpPr>
        <p:spPr bwMode="auto">
          <a:xfrm>
            <a:off x="5573676" y="-3055324"/>
            <a:ext cx="7721600" cy="1457326"/>
          </a:xfrm>
          <a:prstGeom prst="rect">
            <a:avLst/>
          </a:prstGeom>
          <a:noFill/>
          <a:ln>
            <a:noFill/>
          </a:ln>
        </p:spPr>
        <p:txBody>
          <a:bodyPr vert="horz" wrap="square" lIns="91440" tIns="45720" rIns="91440" bIns="45720" numCol="1" anchor="t" anchorCtr="0" compatLnSpc="1">
            <a:prstTxWarp prst="textNoShape"/>
          </a:bodyPr>
          <a:lstStyle/>
          <a:p>
            <a:pPr>
              <a:defRPr/>
            </a:pPr>
            <a:endParaRPr lang="en-US"/>
          </a:p>
        </p:txBody>
      </p:sp>
      <p:pic>
        <p:nvPicPr>
          <p:cNvPr id="759997264" name="Picture Placeholder 7"/>
          <p:cNvPicPr>
            <a:picLocks noChangeAspect="1" noGrp="1"/>
          </p:cNvPicPr>
          <p:nvPr>
            <p:ph type="pic" sz="quarter" idx="10"/>
          </p:nvPr>
        </p:nvPicPr>
        <p:blipFill rotWithShape="1">
          <a:blip r:embed="rId3"/>
          <a:stretch/>
        </p:blipFill>
        <p:spPr bwMode="auto"/>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07240598" name="Title 1"/>
          <p:cNvSpPr>
            <a:spLocks noGrp="1"/>
          </p:cNvSpPr>
          <p:nvPr>
            <p:ph type="title"/>
          </p:nvPr>
        </p:nvSpPr>
        <p:spPr bwMode="auto"/>
        <p:txBody>
          <a:bodyPr/>
          <a:lstStyle/>
          <a:p>
            <a:pPr>
              <a:defRPr/>
            </a:pPr>
            <a:r>
              <a:rPr lang="en-IN"/>
              <a:t>Tree Traversal</a:t>
            </a:r>
            <a:endParaRPr lang="en-US"/>
          </a:p>
        </p:txBody>
      </p:sp>
      <p:sp>
        <p:nvSpPr>
          <p:cNvPr id="184940572" name="Content Placeholder 2"/>
          <p:cNvSpPr>
            <a:spLocks noGrp="1"/>
          </p:cNvSpPr>
          <p:nvPr>
            <p:ph idx="1"/>
          </p:nvPr>
        </p:nvSpPr>
        <p:spPr bwMode="auto"/>
        <p:txBody>
          <a:bodyPr/>
          <a:lstStyle/>
          <a:p>
            <a:pPr>
              <a:defRPr/>
            </a:pPr>
            <a:r>
              <a:rPr lang="en-IN"/>
              <a:t>The most common operations performed on tree structure is that of traversal</a:t>
            </a:r>
            <a:r>
              <a:rPr lang="en-IN"/>
              <a:t>.</a:t>
            </a:r>
            <a:endParaRPr/>
          </a:p>
          <a:p>
            <a:pPr>
              <a:defRPr/>
            </a:pPr>
            <a:r>
              <a:rPr lang="en-IN"/>
              <a:t>This is a </a:t>
            </a:r>
            <a:r>
              <a:rPr lang="en-IN" b="1">
                <a:solidFill>
                  <a:srgbClr val="C00000"/>
                </a:solidFill>
              </a:rPr>
              <a:t>procedure by which each node in the tree is processed exactly once</a:t>
            </a:r>
            <a:r>
              <a:rPr lang="en-IN">
                <a:solidFill>
                  <a:srgbClr val="C00000"/>
                </a:solidFill>
              </a:rPr>
              <a:t> </a:t>
            </a:r>
            <a:r>
              <a:rPr lang="en-IN"/>
              <a:t>in </a:t>
            </a:r>
            <a:r>
              <a:rPr lang="en-IN"/>
              <a:t>a </a:t>
            </a:r>
            <a:r>
              <a:rPr lang="en-IN"/>
              <a:t>systematic manner</a:t>
            </a:r>
            <a:r>
              <a:rPr lang="en-IN"/>
              <a:t>.</a:t>
            </a:r>
            <a:endParaRPr/>
          </a:p>
          <a:p>
            <a:pPr>
              <a:defRPr/>
            </a:pPr>
            <a:r>
              <a:rPr lang="en-IN"/>
              <a:t>There are three ways of traversing a binary tree</a:t>
            </a:r>
            <a:r>
              <a:rPr lang="en-IN"/>
              <a:t>.</a:t>
            </a:r>
            <a:endParaRPr/>
          </a:p>
          <a:p>
            <a:pPr marL="819150" lvl="1" indent="-457200">
              <a:buFont typeface="+mj-lt"/>
              <a:buAutoNum type="arabicPeriod"/>
              <a:defRPr/>
            </a:pPr>
            <a:r>
              <a:rPr lang="en-US"/>
              <a:t>Preorder Traversal</a:t>
            </a:r>
            <a:endParaRPr/>
          </a:p>
          <a:p>
            <a:pPr marL="819150" lvl="1" indent="-457200">
              <a:buFont typeface="+mj-lt"/>
              <a:buAutoNum type="arabicPeriod"/>
              <a:defRPr/>
            </a:pPr>
            <a:r>
              <a:rPr lang="en-US"/>
              <a:t>Inorder</a:t>
            </a:r>
            <a:r>
              <a:rPr lang="en-US"/>
              <a:t> </a:t>
            </a:r>
            <a:r>
              <a:rPr lang="en-US"/>
              <a:t>Traversal</a:t>
            </a:r>
            <a:endParaRPr/>
          </a:p>
          <a:p>
            <a:pPr marL="819150" lvl="1" indent="-457200">
              <a:buFont typeface="+mj-lt"/>
              <a:buAutoNum type="arabicPeriod"/>
              <a:defRPr/>
            </a:pPr>
            <a:r>
              <a:rPr lang="en-US"/>
              <a:t>Postorder</a:t>
            </a:r>
            <a:r>
              <a:rPr lang="en-US"/>
              <a:t> </a:t>
            </a:r>
            <a:r>
              <a:rPr lang="en-US"/>
              <a:t>Traversal</a:t>
            </a:r>
            <a:endParaRPr/>
          </a:p>
        </p:txBody>
      </p:sp>
      <p:sp>
        <p:nvSpPr>
          <p:cNvPr id="2069115220" name="Oval 3"/>
          <p:cNvSpPr/>
          <p:nvPr/>
        </p:nvSpPr>
        <p:spPr bwMode="auto">
          <a:xfrm>
            <a:off x="8229600" y="233978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1754511548" name="Oval 4"/>
          <p:cNvSpPr/>
          <p:nvPr/>
        </p:nvSpPr>
        <p:spPr bwMode="auto">
          <a:xfrm>
            <a:off x="7700683" y="337072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1120475419" name="Oval 5"/>
          <p:cNvSpPr/>
          <p:nvPr/>
        </p:nvSpPr>
        <p:spPr bwMode="auto">
          <a:xfrm>
            <a:off x="7144872" y="43747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1772307710" name="Oval 6"/>
          <p:cNvSpPr/>
          <p:nvPr/>
        </p:nvSpPr>
        <p:spPr bwMode="auto">
          <a:xfrm>
            <a:off x="8341659" y="43747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852150638" name="Oval 7"/>
          <p:cNvSpPr/>
          <p:nvPr/>
        </p:nvSpPr>
        <p:spPr bwMode="auto">
          <a:xfrm>
            <a:off x="8794376" y="337072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1142126529" name="Oval 8"/>
          <p:cNvSpPr/>
          <p:nvPr/>
        </p:nvSpPr>
        <p:spPr bwMode="auto">
          <a:xfrm>
            <a:off x="9363634" y="43747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285725107" name="Oval 9"/>
          <p:cNvSpPr/>
          <p:nvPr/>
        </p:nvSpPr>
        <p:spPr bwMode="auto">
          <a:xfrm>
            <a:off x="8763000" y="533847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cxnSp>
        <p:nvCxnSpPr>
          <p:cNvPr id="2046394197" name="Straight Arrow Connector 11"/>
          <p:cNvCxnSpPr>
            <a:stCxn id="2069115220" idx="3"/>
            <a:endCxn id="1754511548" idx="0"/>
          </p:cNvCxnSpPr>
          <p:nvPr/>
        </p:nvCxnSpPr>
        <p:spPr bwMode="auto">
          <a:xfrm flipH="1">
            <a:off x="7981483" y="2819143"/>
            <a:ext cx="330361" cy="55158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41205833" name="Straight Arrow Connector 13"/>
          <p:cNvCxnSpPr>
            <a:stCxn id="1754511548" idx="3"/>
            <a:endCxn id="1120475419" idx="0"/>
          </p:cNvCxnSpPr>
          <p:nvPr/>
        </p:nvCxnSpPr>
        <p:spPr bwMode="auto">
          <a:xfrm flipH="1">
            <a:off x="7425672" y="3850083"/>
            <a:ext cx="357255" cy="52469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46888843" name="Straight Arrow Connector 17"/>
          <p:cNvCxnSpPr>
            <a:stCxn id="2069115220" idx="5"/>
            <a:endCxn id="852150638" idx="0"/>
          </p:cNvCxnSpPr>
          <p:nvPr/>
        </p:nvCxnSpPr>
        <p:spPr bwMode="auto">
          <a:xfrm>
            <a:off x="8708956" y="2819143"/>
            <a:ext cx="366220" cy="55158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10576293" name="Straight Arrow Connector 20"/>
          <p:cNvCxnSpPr>
            <a:stCxn id="852150638" idx="3"/>
            <a:endCxn id="1772307710" idx="0"/>
          </p:cNvCxnSpPr>
          <p:nvPr/>
        </p:nvCxnSpPr>
        <p:spPr bwMode="auto">
          <a:xfrm flipH="1">
            <a:off x="8622459" y="3850083"/>
            <a:ext cx="254161" cy="52469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0712161" name="Straight Arrow Connector 22"/>
          <p:cNvCxnSpPr>
            <a:stCxn id="852150638" idx="5"/>
            <a:endCxn id="1142126529" idx="0"/>
          </p:cNvCxnSpPr>
          <p:nvPr/>
        </p:nvCxnSpPr>
        <p:spPr bwMode="auto">
          <a:xfrm>
            <a:off x="9273731" y="3850083"/>
            <a:ext cx="370702" cy="52469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68596265" name="Straight Arrow Connector 25"/>
          <p:cNvCxnSpPr>
            <a:stCxn id="1772307710" idx="5"/>
            <a:endCxn id="285725107" idx="0"/>
          </p:cNvCxnSpPr>
          <p:nvPr/>
        </p:nvCxnSpPr>
        <p:spPr bwMode="auto">
          <a:xfrm>
            <a:off x="8821015" y="4854129"/>
            <a:ext cx="222785" cy="48434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94057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94057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94057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494057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494057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8494057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069115220"/>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5451154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12047541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7723077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5215063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4212652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85725107"/>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2046394197"/>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541205833"/>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746888843"/>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610576293"/>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90712161"/>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685962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69115220" grpId="0" animBg="1"/>
      <p:bldP spid="1754511548" grpId="0" animBg="1"/>
      <p:bldP spid="1120475419" grpId="0" animBg="1"/>
      <p:bldP spid="1772307710" grpId="0" animBg="1"/>
      <p:bldP spid="852150638" grpId="0" animBg="1"/>
      <p:bldP spid="1142126529" grpId="0" animBg="1"/>
      <p:bldP spid="285725107" grpId="0" animBg="1"/>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24828764" name="Title 1"/>
          <p:cNvSpPr>
            <a:spLocks noGrp="1"/>
          </p:cNvSpPr>
          <p:nvPr>
            <p:ph type="title"/>
          </p:nvPr>
        </p:nvSpPr>
        <p:spPr bwMode="auto"/>
        <p:txBody>
          <a:bodyPr/>
          <a:lstStyle/>
          <a:p>
            <a:pPr>
              <a:defRPr/>
            </a:pPr>
            <a:r>
              <a:rPr lang="en-IN"/>
              <a:t>Preorder</a:t>
            </a:r>
            <a:r>
              <a:rPr lang="en-IN"/>
              <a:t> Traversal</a:t>
            </a:r>
            <a:endParaRPr lang="en-US"/>
          </a:p>
        </p:txBody>
      </p:sp>
      <p:sp>
        <p:nvSpPr>
          <p:cNvPr id="1525713321" name="Content Placeholder 2"/>
          <p:cNvSpPr>
            <a:spLocks noGrp="1"/>
          </p:cNvSpPr>
          <p:nvPr>
            <p:ph idx="1"/>
          </p:nvPr>
        </p:nvSpPr>
        <p:spPr bwMode="auto">
          <a:xfrm>
            <a:off x="131181" y="863444"/>
            <a:ext cx="7214848" cy="5590565"/>
          </a:xfrm>
        </p:spPr>
        <p:txBody>
          <a:bodyPr>
            <a:normAutofit/>
          </a:bodyPr>
          <a:lstStyle/>
          <a:p>
            <a:pPr>
              <a:defRPr/>
            </a:pPr>
            <a:r>
              <a:rPr lang="en-IN"/>
              <a:t>Preorder</a:t>
            </a:r>
            <a:r>
              <a:rPr lang="en-IN"/>
              <a:t> traversal of a binary tree is defined as </a:t>
            </a:r>
            <a:r>
              <a:rPr lang="en-IN"/>
              <a:t>follow</a:t>
            </a:r>
            <a:endParaRPr/>
          </a:p>
          <a:p>
            <a:pPr marL="819150" lvl="1" indent="-457200">
              <a:buClr>
                <a:schemeClr val="tx1"/>
              </a:buClr>
              <a:buFont typeface="+mj-lt"/>
              <a:buAutoNum type="arabicPeriod"/>
              <a:defRPr/>
            </a:pPr>
            <a:r>
              <a:rPr lang="en-IN" b="1">
                <a:solidFill>
                  <a:srgbClr val="C00000"/>
                </a:solidFill>
              </a:rPr>
              <a:t>Process</a:t>
            </a:r>
            <a:r>
              <a:rPr lang="en-IN">
                <a:solidFill>
                  <a:srgbClr val="C00000"/>
                </a:solidFill>
              </a:rPr>
              <a:t> </a:t>
            </a:r>
            <a:r>
              <a:rPr lang="en-IN"/>
              <a:t>the </a:t>
            </a:r>
            <a:r>
              <a:rPr lang="en-IN" b="1">
                <a:solidFill>
                  <a:srgbClr val="C00000"/>
                </a:solidFill>
              </a:rPr>
              <a:t>root node</a:t>
            </a:r>
            <a:endParaRPr/>
          </a:p>
          <a:p>
            <a:pPr marL="819150" lvl="1" indent="-457200">
              <a:buClr>
                <a:schemeClr val="tx1"/>
              </a:buClr>
              <a:buFont typeface="+mj-lt"/>
              <a:buAutoNum type="arabicPeriod"/>
              <a:defRPr/>
            </a:pPr>
            <a:r>
              <a:rPr lang="en-IN" b="1">
                <a:solidFill>
                  <a:srgbClr val="C00000"/>
                </a:solidFill>
              </a:rPr>
              <a:t>Traverse</a:t>
            </a:r>
            <a:r>
              <a:rPr lang="en-IN">
                <a:solidFill>
                  <a:srgbClr val="C00000"/>
                </a:solidFill>
              </a:rPr>
              <a:t> </a:t>
            </a:r>
            <a:r>
              <a:rPr lang="en-IN"/>
              <a:t>the </a:t>
            </a:r>
            <a:r>
              <a:rPr lang="en-IN" b="1">
                <a:solidFill>
                  <a:srgbClr val="C00000"/>
                </a:solidFill>
              </a:rPr>
              <a:t>left</a:t>
            </a:r>
            <a:r>
              <a:rPr lang="en-IN" b="1">
                <a:solidFill>
                  <a:srgbClr val="FF0000"/>
                </a:solidFill>
              </a:rPr>
              <a:t> </a:t>
            </a:r>
            <a:r>
              <a:rPr lang="en-IN" b="1">
                <a:solidFill>
                  <a:srgbClr val="C00000"/>
                </a:solidFill>
              </a:rPr>
              <a:t>subtree</a:t>
            </a:r>
            <a:r>
              <a:rPr lang="en-IN" b="1">
                <a:solidFill>
                  <a:srgbClr val="C00000"/>
                </a:solidFill>
              </a:rPr>
              <a:t> </a:t>
            </a:r>
            <a:r>
              <a:rPr lang="en-IN"/>
              <a:t>in </a:t>
            </a:r>
            <a:r>
              <a:rPr lang="en-IN"/>
              <a:t>preorder</a:t>
            </a:r>
            <a:endParaRPr lang="en-IN"/>
          </a:p>
          <a:p>
            <a:pPr marL="819150" lvl="1" indent="-457200">
              <a:buClr>
                <a:schemeClr val="tx1"/>
              </a:buClr>
              <a:buFont typeface="+mj-lt"/>
              <a:buAutoNum type="arabicPeriod"/>
              <a:defRPr/>
            </a:pPr>
            <a:r>
              <a:rPr lang="en-IN" b="1">
                <a:solidFill>
                  <a:srgbClr val="C00000"/>
                </a:solidFill>
              </a:rPr>
              <a:t>Traverse</a:t>
            </a:r>
            <a:r>
              <a:rPr lang="en-IN">
                <a:solidFill>
                  <a:srgbClr val="C00000"/>
                </a:solidFill>
              </a:rPr>
              <a:t> </a:t>
            </a:r>
            <a:r>
              <a:rPr lang="en-IN"/>
              <a:t>the </a:t>
            </a:r>
            <a:r>
              <a:rPr lang="en-IN" b="1">
                <a:solidFill>
                  <a:srgbClr val="C00000"/>
                </a:solidFill>
              </a:rPr>
              <a:t>right</a:t>
            </a:r>
            <a:r>
              <a:rPr lang="en-IN" b="1">
                <a:solidFill>
                  <a:srgbClr val="FF0000"/>
                </a:solidFill>
              </a:rPr>
              <a:t> </a:t>
            </a:r>
            <a:r>
              <a:rPr lang="en-IN" b="1">
                <a:solidFill>
                  <a:srgbClr val="C00000"/>
                </a:solidFill>
              </a:rPr>
              <a:t>subtree</a:t>
            </a:r>
            <a:r>
              <a:rPr lang="en-IN" b="1">
                <a:solidFill>
                  <a:srgbClr val="C00000"/>
                </a:solidFill>
              </a:rPr>
              <a:t> </a:t>
            </a:r>
            <a:r>
              <a:rPr lang="en-IN"/>
              <a:t>in </a:t>
            </a:r>
            <a:r>
              <a:rPr lang="en-IN"/>
              <a:t>preorder</a:t>
            </a:r>
            <a:endParaRPr lang="en-IN"/>
          </a:p>
          <a:p>
            <a:pPr>
              <a:defRPr/>
            </a:pPr>
            <a:r>
              <a:rPr lang="en-IN"/>
              <a:t>If </a:t>
            </a:r>
            <a:r>
              <a:rPr lang="en-IN"/>
              <a:t>particular </a:t>
            </a:r>
            <a:r>
              <a:rPr lang="en-IN" b="1"/>
              <a:t>subtree</a:t>
            </a:r>
            <a:r>
              <a:rPr lang="en-IN" b="1"/>
              <a:t> is empty </a:t>
            </a:r>
            <a:r>
              <a:rPr lang="en-IN"/>
              <a:t>(i.e., node has no left or right descendant) the traversal is performed by </a:t>
            </a:r>
            <a:r>
              <a:rPr lang="en-IN" b="1"/>
              <a:t>doing </a:t>
            </a:r>
            <a:r>
              <a:rPr lang="en-IN" b="1"/>
              <a:t>nothing.</a:t>
            </a:r>
            <a:endParaRPr/>
          </a:p>
          <a:p>
            <a:pPr>
              <a:defRPr/>
            </a:pPr>
            <a:r>
              <a:rPr lang="en-IN"/>
              <a:t>In </a:t>
            </a:r>
            <a:r>
              <a:rPr lang="en-IN"/>
              <a:t>other words, a </a:t>
            </a:r>
            <a:r>
              <a:rPr lang="en-IN" b="1"/>
              <a:t>null </a:t>
            </a:r>
            <a:r>
              <a:rPr lang="en-IN" b="1"/>
              <a:t>subtree</a:t>
            </a:r>
            <a:r>
              <a:rPr lang="en-IN" b="1"/>
              <a:t> </a:t>
            </a:r>
            <a:r>
              <a:rPr lang="en-IN"/>
              <a:t>is </a:t>
            </a:r>
            <a:r>
              <a:rPr lang="en-IN" b="1"/>
              <a:t>considered to be fully traversed </a:t>
            </a:r>
            <a:r>
              <a:rPr lang="en-IN"/>
              <a:t>when it is </a:t>
            </a:r>
            <a:r>
              <a:rPr lang="en-IN"/>
              <a:t>encountered.</a:t>
            </a:r>
            <a:endParaRPr lang="en-US"/>
          </a:p>
        </p:txBody>
      </p:sp>
      <p:sp>
        <p:nvSpPr>
          <p:cNvPr id="822107655" name="Oval 3"/>
          <p:cNvSpPr/>
          <p:nvPr/>
        </p:nvSpPr>
        <p:spPr bwMode="auto">
          <a:xfrm>
            <a:off x="9390527" y="12954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1648974168" name="Oval 4"/>
          <p:cNvSpPr/>
          <p:nvPr/>
        </p:nvSpPr>
        <p:spPr bwMode="auto">
          <a:xfrm>
            <a:off x="8942292" y="219187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223727079" name="Oval 5"/>
          <p:cNvSpPr/>
          <p:nvPr/>
        </p:nvSpPr>
        <p:spPr bwMode="auto">
          <a:xfrm>
            <a:off x="8480610" y="308834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975490422" name="Oval 6"/>
          <p:cNvSpPr/>
          <p:nvPr/>
        </p:nvSpPr>
        <p:spPr bwMode="auto">
          <a:xfrm>
            <a:off x="9475692" y="308834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1992391628" name="Oval 7"/>
          <p:cNvSpPr/>
          <p:nvPr/>
        </p:nvSpPr>
        <p:spPr bwMode="auto">
          <a:xfrm>
            <a:off x="9914962" y="219187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1905376400" name="Oval 8"/>
          <p:cNvSpPr/>
          <p:nvPr/>
        </p:nvSpPr>
        <p:spPr bwMode="auto">
          <a:xfrm>
            <a:off x="10403538" y="308834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1631508880" name="Oval 9"/>
          <p:cNvSpPr/>
          <p:nvPr/>
        </p:nvSpPr>
        <p:spPr bwMode="auto">
          <a:xfrm>
            <a:off x="9923927" y="391757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cxnSp>
        <p:nvCxnSpPr>
          <p:cNvPr id="643275301" name="Straight Arrow Connector 10"/>
          <p:cNvCxnSpPr>
            <a:stCxn id="822107655" idx="3"/>
            <a:endCxn id="1648974168" idx="0"/>
          </p:cNvCxnSpPr>
          <p:nvPr/>
        </p:nvCxnSpPr>
        <p:spPr bwMode="auto">
          <a:xfrm flipH="1">
            <a:off x="9223092" y="1774756"/>
            <a:ext cx="249679" cy="41711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20064372" name="Straight Arrow Connector 11"/>
          <p:cNvCxnSpPr>
            <a:stCxn id="1648974168" idx="3"/>
            <a:endCxn id="223727079" idx="0"/>
          </p:cNvCxnSpPr>
          <p:nvPr/>
        </p:nvCxnSpPr>
        <p:spPr bwMode="auto">
          <a:xfrm flipH="1">
            <a:off x="8761410" y="2671226"/>
            <a:ext cx="263126" cy="41711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58624844" name="Straight Arrow Connector 12"/>
          <p:cNvCxnSpPr>
            <a:stCxn id="822107655" idx="5"/>
            <a:endCxn id="1992391628" idx="0"/>
          </p:cNvCxnSpPr>
          <p:nvPr/>
        </p:nvCxnSpPr>
        <p:spPr bwMode="auto">
          <a:xfrm>
            <a:off x="9869883" y="1774756"/>
            <a:ext cx="325879" cy="41711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85409761" name="Straight Arrow Connector 13"/>
          <p:cNvCxnSpPr>
            <a:stCxn id="1992391628" idx="3"/>
            <a:endCxn id="975490422" idx="0"/>
          </p:cNvCxnSpPr>
          <p:nvPr/>
        </p:nvCxnSpPr>
        <p:spPr bwMode="auto">
          <a:xfrm flipH="1">
            <a:off x="9756492" y="2671226"/>
            <a:ext cx="240714" cy="41711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05082304" name="Straight Arrow Connector 14"/>
          <p:cNvCxnSpPr>
            <a:stCxn id="1992391628" idx="5"/>
            <a:endCxn id="1905376400" idx="0"/>
          </p:cNvCxnSpPr>
          <p:nvPr/>
        </p:nvCxnSpPr>
        <p:spPr bwMode="auto">
          <a:xfrm>
            <a:off x="10394318" y="2671226"/>
            <a:ext cx="290020" cy="41711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55131193" name="Straight Arrow Connector 15"/>
          <p:cNvCxnSpPr>
            <a:stCxn id="975490422" idx="5"/>
            <a:endCxn id="1631508880" idx="0"/>
          </p:cNvCxnSpPr>
          <p:nvPr/>
        </p:nvCxnSpPr>
        <p:spPr bwMode="auto">
          <a:xfrm>
            <a:off x="9955048" y="3567696"/>
            <a:ext cx="249679" cy="34987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605403346" name="TextBox 16"/>
          <p:cNvSpPr txBox="1"/>
          <p:nvPr/>
        </p:nvSpPr>
        <p:spPr bwMode="auto">
          <a:xfrm>
            <a:off x="8507474" y="5362844"/>
            <a:ext cx="369012" cy="461665"/>
          </a:xfrm>
          <a:prstGeom prst="rect">
            <a:avLst/>
          </a:prstGeom>
          <a:noFill/>
        </p:spPr>
        <p:txBody>
          <a:bodyPr wrap="none" rtlCol="0">
            <a:spAutoFit/>
          </a:bodyPr>
          <a:lstStyle/>
          <a:p>
            <a:pPr algn="ctr">
              <a:defRPr/>
            </a:pPr>
            <a:r>
              <a:rPr lang="en-IN" sz="2400" b="1">
                <a:solidFill>
                  <a:srgbClr val="C00000"/>
                </a:solidFill>
              </a:rPr>
              <a:t>A</a:t>
            </a:r>
            <a:endParaRPr lang="en-US" sz="2400" b="1">
              <a:solidFill>
                <a:srgbClr val="C00000"/>
              </a:solidFill>
            </a:endParaRPr>
          </a:p>
        </p:txBody>
      </p:sp>
      <p:sp>
        <p:nvSpPr>
          <p:cNvPr id="675593765" name="TextBox 17"/>
          <p:cNvSpPr txBox="1"/>
          <p:nvPr/>
        </p:nvSpPr>
        <p:spPr bwMode="auto">
          <a:xfrm>
            <a:off x="8918520" y="5362844"/>
            <a:ext cx="357790" cy="461665"/>
          </a:xfrm>
          <a:prstGeom prst="rect">
            <a:avLst/>
          </a:prstGeom>
          <a:noFill/>
        </p:spPr>
        <p:txBody>
          <a:bodyPr wrap="none" rtlCol="0">
            <a:spAutoFit/>
          </a:bodyPr>
          <a:lstStyle/>
          <a:p>
            <a:pPr algn="ctr">
              <a:defRPr/>
            </a:pPr>
            <a:r>
              <a:rPr lang="en-IN" sz="2400" b="1">
                <a:solidFill>
                  <a:srgbClr val="C00000"/>
                </a:solidFill>
              </a:rPr>
              <a:t>B</a:t>
            </a:r>
            <a:endParaRPr lang="en-US" sz="2400" b="1">
              <a:solidFill>
                <a:srgbClr val="C00000"/>
              </a:solidFill>
            </a:endParaRPr>
          </a:p>
        </p:txBody>
      </p:sp>
      <p:sp>
        <p:nvSpPr>
          <p:cNvPr id="1506061947" name="TextBox 18"/>
          <p:cNvSpPr txBox="1"/>
          <p:nvPr/>
        </p:nvSpPr>
        <p:spPr bwMode="auto">
          <a:xfrm>
            <a:off x="9318344" y="5362844"/>
            <a:ext cx="360996" cy="461665"/>
          </a:xfrm>
          <a:prstGeom prst="rect">
            <a:avLst/>
          </a:prstGeom>
          <a:noFill/>
        </p:spPr>
        <p:txBody>
          <a:bodyPr wrap="none" rtlCol="0">
            <a:spAutoFit/>
          </a:bodyPr>
          <a:lstStyle/>
          <a:p>
            <a:pPr algn="ctr">
              <a:defRPr/>
            </a:pPr>
            <a:r>
              <a:rPr lang="en-IN" sz="2400" b="1">
                <a:solidFill>
                  <a:srgbClr val="C00000"/>
                </a:solidFill>
              </a:rPr>
              <a:t>C</a:t>
            </a:r>
            <a:endParaRPr lang="en-US" sz="2400" b="1">
              <a:solidFill>
                <a:srgbClr val="C00000"/>
              </a:solidFill>
            </a:endParaRPr>
          </a:p>
        </p:txBody>
      </p:sp>
      <p:sp>
        <p:nvSpPr>
          <p:cNvPr id="1365223722" name="Rectangle 19"/>
          <p:cNvSpPr/>
          <p:nvPr/>
        </p:nvSpPr>
        <p:spPr bwMode="auto">
          <a:xfrm>
            <a:off x="9721374" y="5362844"/>
            <a:ext cx="357790" cy="461665"/>
          </a:xfrm>
          <a:prstGeom prst="rect">
            <a:avLst/>
          </a:prstGeom>
        </p:spPr>
        <p:txBody>
          <a:bodyPr wrap="none">
            <a:spAutoFit/>
          </a:bodyPr>
          <a:lstStyle/>
          <a:p>
            <a:pPr>
              <a:defRPr/>
            </a:pPr>
            <a:r>
              <a:rPr lang="en-IN" sz="2400" b="1">
                <a:solidFill>
                  <a:srgbClr val="C00000"/>
                </a:solidFill>
              </a:rPr>
              <a:t>D</a:t>
            </a:r>
            <a:endParaRPr lang="en-US" sz="2400" b="1"/>
          </a:p>
        </p:txBody>
      </p:sp>
      <p:sp>
        <p:nvSpPr>
          <p:cNvPr id="1191977458" name="Rectangle 20"/>
          <p:cNvSpPr/>
          <p:nvPr/>
        </p:nvSpPr>
        <p:spPr bwMode="auto">
          <a:xfrm>
            <a:off x="10121198" y="5362844"/>
            <a:ext cx="335347" cy="461665"/>
          </a:xfrm>
          <a:prstGeom prst="rect">
            <a:avLst/>
          </a:prstGeom>
        </p:spPr>
        <p:txBody>
          <a:bodyPr wrap="none">
            <a:spAutoFit/>
          </a:bodyPr>
          <a:lstStyle/>
          <a:p>
            <a:pPr>
              <a:defRPr/>
            </a:pPr>
            <a:r>
              <a:rPr lang="en-IN" sz="2400" b="1">
                <a:solidFill>
                  <a:srgbClr val="C00000"/>
                </a:solidFill>
              </a:rPr>
              <a:t>E</a:t>
            </a:r>
            <a:endParaRPr lang="en-US" sz="2400" b="1"/>
          </a:p>
        </p:txBody>
      </p:sp>
      <p:sp>
        <p:nvSpPr>
          <p:cNvPr id="883546041" name="Rectangle 21"/>
          <p:cNvSpPr/>
          <p:nvPr/>
        </p:nvSpPr>
        <p:spPr bwMode="auto">
          <a:xfrm>
            <a:off x="10498580" y="5362844"/>
            <a:ext cx="330540" cy="461665"/>
          </a:xfrm>
          <a:prstGeom prst="rect">
            <a:avLst/>
          </a:prstGeom>
        </p:spPr>
        <p:txBody>
          <a:bodyPr wrap="none">
            <a:spAutoFit/>
          </a:bodyPr>
          <a:lstStyle/>
          <a:p>
            <a:pPr>
              <a:defRPr/>
            </a:pPr>
            <a:r>
              <a:rPr lang="en-IN" sz="2400" b="1">
                <a:solidFill>
                  <a:srgbClr val="C00000"/>
                </a:solidFill>
              </a:rPr>
              <a:t>F</a:t>
            </a:r>
            <a:endParaRPr lang="en-US" sz="2400" b="1"/>
          </a:p>
        </p:txBody>
      </p:sp>
      <p:sp>
        <p:nvSpPr>
          <p:cNvPr id="4880304" name="Rectangle 22"/>
          <p:cNvSpPr/>
          <p:nvPr/>
        </p:nvSpPr>
        <p:spPr bwMode="auto">
          <a:xfrm>
            <a:off x="10871153" y="5362844"/>
            <a:ext cx="364202" cy="461665"/>
          </a:xfrm>
          <a:prstGeom prst="rect">
            <a:avLst/>
          </a:prstGeom>
        </p:spPr>
        <p:txBody>
          <a:bodyPr wrap="none">
            <a:spAutoFit/>
          </a:bodyPr>
          <a:lstStyle/>
          <a:p>
            <a:pPr>
              <a:defRPr/>
            </a:pPr>
            <a:r>
              <a:rPr lang="en-IN" sz="2400" b="1">
                <a:solidFill>
                  <a:srgbClr val="C00000"/>
                </a:solidFill>
              </a:rPr>
              <a:t>G</a:t>
            </a:r>
            <a:endParaRPr lang="en-US" sz="2400" b="1"/>
          </a:p>
        </p:txBody>
      </p:sp>
      <p:sp>
        <p:nvSpPr>
          <p:cNvPr id="367906903" name="TextBox 23"/>
          <p:cNvSpPr txBox="1"/>
          <p:nvPr/>
        </p:nvSpPr>
        <p:spPr bwMode="auto">
          <a:xfrm>
            <a:off x="8000999" y="4827493"/>
            <a:ext cx="3953435" cy="400110"/>
          </a:xfrm>
          <a:prstGeom prst="rect">
            <a:avLst/>
          </a:prstGeom>
          <a:noFill/>
        </p:spPr>
        <p:txBody>
          <a:bodyPr wrap="square" rtlCol="0">
            <a:spAutoFit/>
          </a:bodyPr>
          <a:lstStyle/>
          <a:p>
            <a:pPr>
              <a:defRPr/>
            </a:pPr>
            <a:r>
              <a:rPr lang="en-IN" sz="2000" b="1"/>
              <a:t>Preorder</a:t>
            </a:r>
            <a:r>
              <a:rPr lang="en-IN" sz="2000" b="1"/>
              <a:t> traversal of a </a:t>
            </a:r>
            <a:r>
              <a:rPr lang="en-IN" sz="2000" b="1"/>
              <a:t>given </a:t>
            </a:r>
            <a:r>
              <a:rPr lang="en-IN" sz="2000" b="1"/>
              <a:t>tree as</a:t>
            </a:r>
            <a:endParaRPr lang="en-US" sz="2000" b="1"/>
          </a:p>
        </p:txBody>
      </p:sp>
      <p:sp>
        <p:nvSpPr>
          <p:cNvPr id="221668991" name="TextBox 24"/>
          <p:cNvSpPr txBox="1"/>
          <p:nvPr/>
        </p:nvSpPr>
        <p:spPr bwMode="auto">
          <a:xfrm>
            <a:off x="9936203" y="1376145"/>
            <a:ext cx="377026" cy="400110"/>
          </a:xfrm>
          <a:prstGeom prst="rect">
            <a:avLst/>
          </a:prstGeom>
          <a:noFill/>
        </p:spPr>
        <p:txBody>
          <a:bodyPr wrap="none" rtlCol="0">
            <a:spAutoFit/>
          </a:bodyPr>
          <a:lstStyle/>
          <a:p>
            <a:pPr>
              <a:defRPr/>
            </a:pPr>
            <a:r>
              <a:rPr lang="en-US" sz="2000">
                <a:solidFill>
                  <a:srgbClr val="C00000"/>
                </a:solidFill>
              </a:rPr>
              <a:t>✓</a:t>
            </a:r>
            <a:endParaRPr/>
          </a:p>
        </p:txBody>
      </p:sp>
      <p:sp>
        <p:nvSpPr>
          <p:cNvPr id="542922163" name="TextBox 25"/>
          <p:cNvSpPr txBox="1"/>
          <p:nvPr/>
        </p:nvSpPr>
        <p:spPr bwMode="auto">
          <a:xfrm>
            <a:off x="9457353" y="2272615"/>
            <a:ext cx="377026" cy="400110"/>
          </a:xfrm>
          <a:prstGeom prst="rect">
            <a:avLst/>
          </a:prstGeom>
          <a:noFill/>
        </p:spPr>
        <p:txBody>
          <a:bodyPr wrap="none" rtlCol="0">
            <a:spAutoFit/>
          </a:bodyPr>
          <a:lstStyle/>
          <a:p>
            <a:pPr>
              <a:defRPr/>
            </a:pPr>
            <a:r>
              <a:rPr lang="en-US" sz="2000">
                <a:solidFill>
                  <a:srgbClr val="C00000"/>
                </a:solidFill>
              </a:rPr>
              <a:t>✓</a:t>
            </a:r>
            <a:endParaRPr/>
          </a:p>
        </p:txBody>
      </p:sp>
      <p:sp>
        <p:nvSpPr>
          <p:cNvPr id="1441042493" name="TextBox 26"/>
          <p:cNvSpPr txBox="1"/>
          <p:nvPr/>
        </p:nvSpPr>
        <p:spPr bwMode="auto">
          <a:xfrm>
            <a:off x="9001909" y="3169085"/>
            <a:ext cx="377026" cy="400110"/>
          </a:xfrm>
          <a:prstGeom prst="rect">
            <a:avLst/>
          </a:prstGeom>
          <a:noFill/>
        </p:spPr>
        <p:txBody>
          <a:bodyPr wrap="none" rtlCol="0">
            <a:spAutoFit/>
          </a:bodyPr>
          <a:lstStyle/>
          <a:p>
            <a:pPr>
              <a:defRPr/>
            </a:pPr>
            <a:r>
              <a:rPr lang="en-US" sz="2000">
                <a:solidFill>
                  <a:srgbClr val="C00000"/>
                </a:solidFill>
              </a:rPr>
              <a:t>✓</a:t>
            </a:r>
            <a:endParaRPr/>
          </a:p>
        </p:txBody>
      </p:sp>
      <p:sp>
        <p:nvSpPr>
          <p:cNvPr id="801761027" name="TextBox 27"/>
          <p:cNvSpPr txBox="1"/>
          <p:nvPr/>
        </p:nvSpPr>
        <p:spPr bwMode="auto">
          <a:xfrm>
            <a:off x="10451655" y="2272615"/>
            <a:ext cx="377026" cy="400110"/>
          </a:xfrm>
          <a:prstGeom prst="rect">
            <a:avLst/>
          </a:prstGeom>
          <a:noFill/>
        </p:spPr>
        <p:txBody>
          <a:bodyPr wrap="none" rtlCol="0">
            <a:spAutoFit/>
          </a:bodyPr>
          <a:lstStyle/>
          <a:p>
            <a:pPr>
              <a:defRPr/>
            </a:pPr>
            <a:r>
              <a:rPr lang="en-US" sz="2000">
                <a:solidFill>
                  <a:srgbClr val="C00000"/>
                </a:solidFill>
              </a:rPr>
              <a:t>✓</a:t>
            </a:r>
            <a:endParaRPr/>
          </a:p>
        </p:txBody>
      </p:sp>
      <p:sp>
        <p:nvSpPr>
          <p:cNvPr id="928782607" name="TextBox 28"/>
          <p:cNvSpPr txBox="1"/>
          <p:nvPr/>
        </p:nvSpPr>
        <p:spPr bwMode="auto">
          <a:xfrm>
            <a:off x="9981419" y="3169085"/>
            <a:ext cx="377026" cy="400110"/>
          </a:xfrm>
          <a:prstGeom prst="rect">
            <a:avLst/>
          </a:prstGeom>
          <a:noFill/>
        </p:spPr>
        <p:txBody>
          <a:bodyPr wrap="none" rtlCol="0">
            <a:spAutoFit/>
          </a:bodyPr>
          <a:lstStyle/>
          <a:p>
            <a:pPr>
              <a:defRPr/>
            </a:pPr>
            <a:r>
              <a:rPr lang="en-US" sz="2000">
                <a:solidFill>
                  <a:srgbClr val="C00000"/>
                </a:solidFill>
              </a:rPr>
              <a:t>✓</a:t>
            </a:r>
            <a:endParaRPr/>
          </a:p>
        </p:txBody>
      </p:sp>
      <p:sp>
        <p:nvSpPr>
          <p:cNvPr id="500650651" name="TextBox 29"/>
          <p:cNvSpPr txBox="1"/>
          <p:nvPr/>
        </p:nvSpPr>
        <p:spPr bwMode="auto">
          <a:xfrm>
            <a:off x="10475253" y="3998320"/>
            <a:ext cx="377026" cy="400110"/>
          </a:xfrm>
          <a:prstGeom prst="rect">
            <a:avLst/>
          </a:prstGeom>
          <a:noFill/>
        </p:spPr>
        <p:txBody>
          <a:bodyPr wrap="none" rtlCol="0">
            <a:spAutoFit/>
          </a:bodyPr>
          <a:lstStyle/>
          <a:p>
            <a:pPr>
              <a:defRPr/>
            </a:pPr>
            <a:r>
              <a:rPr lang="en-US" sz="2000">
                <a:solidFill>
                  <a:srgbClr val="C00000"/>
                </a:solidFill>
              </a:rPr>
              <a:t>✓</a:t>
            </a:r>
            <a:endParaRPr/>
          </a:p>
        </p:txBody>
      </p:sp>
      <p:sp>
        <p:nvSpPr>
          <p:cNvPr id="245113034" name="TextBox 30"/>
          <p:cNvSpPr txBox="1"/>
          <p:nvPr/>
        </p:nvSpPr>
        <p:spPr bwMode="auto">
          <a:xfrm>
            <a:off x="10919008" y="3169085"/>
            <a:ext cx="377026" cy="400110"/>
          </a:xfrm>
          <a:prstGeom prst="rect">
            <a:avLst/>
          </a:prstGeom>
          <a:noFill/>
        </p:spPr>
        <p:txBody>
          <a:bodyPr wrap="none" rtlCol="0">
            <a:spAutoFit/>
          </a:bodyPr>
          <a:lstStyle/>
          <a:p>
            <a:pPr>
              <a:defRPr/>
            </a:pPr>
            <a:r>
              <a:rPr lang="en-US" sz="2000">
                <a:solidFill>
                  <a:srgbClr val="C00000"/>
                </a:solidFill>
              </a:rPr>
              <a:t>✓</a:t>
            </a:r>
            <a:endParaRPr/>
          </a:p>
        </p:txBody>
      </p:sp>
      <p:cxnSp>
        <p:nvCxnSpPr>
          <p:cNvPr id="489729122" name="Straight Connector 32"/>
          <p:cNvCxnSpPr/>
          <p:nvPr/>
        </p:nvCxnSpPr>
        <p:spPr bwMode="auto">
          <a:xfrm>
            <a:off x="7620000" y="1066800"/>
            <a:ext cx="0" cy="518160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210765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4897416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372707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754904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923916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0537640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3150888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43275301"/>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2006437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5862484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8540976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0508230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5513119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8972912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525713321">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25713321">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25713321">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25713321">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25713321">
                                            <p:txEl>
                                              <p:pRg st="4" end="4"/>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25713321">
                                            <p:txEl>
                                              <p:pRg st="5" end="5"/>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67906903"/>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mph" presetSubtype="2" fill="hold" nodeType="clickEffect">
                                  <p:stCondLst>
                                    <p:cond delay="0"/>
                                  </p:stCondLst>
                                  <p:childTnLst>
                                    <p:animClr clrSpc="rgb" dir="cw">
                                      <p:cBhvr>
                                        <p:cTn id="66" dur="2000" fill="hold"/>
                                        <p:tgtEl>
                                          <p:spTgt spid="822107655"/>
                                        </p:tgtEl>
                                        <p:attrNameLst>
                                          <p:attrName>fillcolor</p:attrName>
                                        </p:attrNameLst>
                                      </p:cBhvr>
                                      <p:to>
                                        <a:srgbClr val="00BBD3"/>
                                      </p:to>
                                    </p:animClr>
                                    <p:set>
                                      <p:cBhvr>
                                        <p:cTn id="67" dur="2000" fill="hold"/>
                                        <p:tgtEl>
                                          <p:spTgt spid="822107655"/>
                                        </p:tgtEl>
                                        <p:attrNameLst>
                                          <p:attrName>fill.type</p:attrName>
                                        </p:attrNameLst>
                                      </p:cBhvr>
                                      <p:to>
                                        <p:strVal val="solid"/>
                                      </p:to>
                                    </p:set>
                                    <p:set>
                                      <p:cBhvr>
                                        <p:cTn id="68" dur="2000" fill="hold"/>
                                        <p:tgtEl>
                                          <p:spTgt spid="822107655"/>
                                        </p:tgtEl>
                                        <p:attrNameLst>
                                          <p:attrName>fill.on</p:attrName>
                                        </p:attrNameLst>
                                      </p:cBhvr>
                                      <p:to>
                                        <p:strVal val="tru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21668991"/>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grpId="0" nodeType="clickEffect">
                                  <p:stCondLst>
                                    <p:cond delay="0"/>
                                  </p:stCondLst>
                                  <p:childTnLst>
                                    <p:set>
                                      <p:cBhvr>
                                        <p:cTn id="76" dur="1" fill="hold">
                                          <p:stCondLst>
                                            <p:cond delay="0"/>
                                          </p:stCondLst>
                                        </p:cTn>
                                        <p:tgtEl>
                                          <p:spTgt spid="1605403346"/>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1" presetClass="emph" presetSubtype="2" fill="hold" nodeType="clickEffect">
                                  <p:stCondLst>
                                    <p:cond delay="0"/>
                                  </p:stCondLst>
                                  <p:childTnLst>
                                    <p:animClr clrSpc="rgb" dir="cw">
                                      <p:cBhvr>
                                        <p:cTn id="80" dur="2000" fill="hold"/>
                                        <p:tgtEl>
                                          <p:spTgt spid="1648974168"/>
                                        </p:tgtEl>
                                        <p:attrNameLst>
                                          <p:attrName>fillcolor</p:attrName>
                                        </p:attrNameLst>
                                      </p:cBhvr>
                                      <p:to>
                                        <a:schemeClr val="accent2"/>
                                      </p:to>
                                    </p:animClr>
                                    <p:set>
                                      <p:cBhvr>
                                        <p:cTn id="81" dur="2000" fill="hold"/>
                                        <p:tgtEl>
                                          <p:spTgt spid="1648974168"/>
                                        </p:tgtEl>
                                        <p:attrNameLst>
                                          <p:attrName>fill.type</p:attrName>
                                        </p:attrNameLst>
                                      </p:cBhvr>
                                      <p:to>
                                        <p:strVal val="solid"/>
                                      </p:to>
                                    </p:set>
                                    <p:set>
                                      <p:cBhvr>
                                        <p:cTn id="82" dur="2000" fill="hold"/>
                                        <p:tgtEl>
                                          <p:spTgt spid="1648974168"/>
                                        </p:tgtEl>
                                        <p:attrNameLst>
                                          <p:attrName>fill.on</p:attrName>
                                        </p:attrNameLst>
                                      </p:cBhvr>
                                      <p:to>
                                        <p:strVal val="tru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542922163"/>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675593765"/>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mph" presetSubtype="2" fill="hold" nodeType="clickEffect">
                                  <p:stCondLst>
                                    <p:cond delay="0"/>
                                  </p:stCondLst>
                                  <p:childTnLst>
                                    <p:animClr clrSpc="rgb" dir="cw">
                                      <p:cBhvr>
                                        <p:cTn id="94" dur="2000" fill="hold"/>
                                        <p:tgtEl>
                                          <p:spTgt spid="223727079"/>
                                        </p:tgtEl>
                                        <p:attrNameLst>
                                          <p:attrName>fillcolor</p:attrName>
                                        </p:attrNameLst>
                                      </p:cBhvr>
                                      <p:to>
                                        <a:schemeClr val="accent2"/>
                                      </p:to>
                                    </p:animClr>
                                    <p:set>
                                      <p:cBhvr>
                                        <p:cTn id="95" dur="2000" fill="hold"/>
                                        <p:tgtEl>
                                          <p:spTgt spid="223727079"/>
                                        </p:tgtEl>
                                        <p:attrNameLst>
                                          <p:attrName>fill.type</p:attrName>
                                        </p:attrNameLst>
                                      </p:cBhvr>
                                      <p:to>
                                        <p:strVal val="solid"/>
                                      </p:to>
                                    </p:set>
                                    <p:set>
                                      <p:cBhvr>
                                        <p:cTn id="96" dur="2000" fill="hold"/>
                                        <p:tgtEl>
                                          <p:spTgt spid="223727079"/>
                                        </p:tgtEl>
                                        <p:attrNameLst>
                                          <p:attrName>fill.on</p:attrName>
                                        </p:attrNameLst>
                                      </p:cBhvr>
                                      <p:to>
                                        <p:strVal val="tru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144104249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1506061947"/>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mph" presetSubtype="2" fill="hold" nodeType="clickEffect">
                                  <p:stCondLst>
                                    <p:cond delay="0"/>
                                  </p:stCondLst>
                                  <p:childTnLst>
                                    <p:animClr clrSpc="rgb" dir="cw">
                                      <p:cBhvr>
                                        <p:cTn id="108" dur="2000" fill="hold"/>
                                        <p:tgtEl>
                                          <p:spTgt spid="1992391628"/>
                                        </p:tgtEl>
                                        <p:attrNameLst>
                                          <p:attrName>fillcolor</p:attrName>
                                        </p:attrNameLst>
                                      </p:cBhvr>
                                      <p:to>
                                        <a:schemeClr val="accent2"/>
                                      </p:to>
                                    </p:animClr>
                                    <p:set>
                                      <p:cBhvr>
                                        <p:cTn id="109" dur="2000" fill="hold"/>
                                        <p:tgtEl>
                                          <p:spTgt spid="1992391628"/>
                                        </p:tgtEl>
                                        <p:attrNameLst>
                                          <p:attrName>fill.type</p:attrName>
                                        </p:attrNameLst>
                                      </p:cBhvr>
                                      <p:to>
                                        <p:strVal val="solid"/>
                                      </p:to>
                                    </p:set>
                                    <p:set>
                                      <p:cBhvr>
                                        <p:cTn id="110" dur="2000" fill="hold"/>
                                        <p:tgtEl>
                                          <p:spTgt spid="1992391628"/>
                                        </p:tgtEl>
                                        <p:attrNameLst>
                                          <p:attrName>fill.on</p:attrName>
                                        </p:attrNameLst>
                                      </p:cBhvr>
                                      <p:to>
                                        <p:strVal val="tru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801761027"/>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1365223722"/>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mph" presetSubtype="2" fill="hold" nodeType="clickEffect">
                                  <p:stCondLst>
                                    <p:cond delay="0"/>
                                  </p:stCondLst>
                                  <p:childTnLst>
                                    <p:animClr clrSpc="rgb" dir="cw">
                                      <p:cBhvr>
                                        <p:cTn id="122" dur="2000" fill="hold"/>
                                        <p:tgtEl>
                                          <p:spTgt spid="975490422"/>
                                        </p:tgtEl>
                                        <p:attrNameLst>
                                          <p:attrName>fillcolor</p:attrName>
                                        </p:attrNameLst>
                                      </p:cBhvr>
                                      <p:to>
                                        <a:schemeClr val="accent2"/>
                                      </p:to>
                                    </p:animClr>
                                    <p:set>
                                      <p:cBhvr>
                                        <p:cTn id="123" dur="2000" fill="hold"/>
                                        <p:tgtEl>
                                          <p:spTgt spid="975490422"/>
                                        </p:tgtEl>
                                        <p:attrNameLst>
                                          <p:attrName>fill.type</p:attrName>
                                        </p:attrNameLst>
                                      </p:cBhvr>
                                      <p:to>
                                        <p:strVal val="solid"/>
                                      </p:to>
                                    </p:set>
                                    <p:set>
                                      <p:cBhvr>
                                        <p:cTn id="124" dur="2000" fill="hold"/>
                                        <p:tgtEl>
                                          <p:spTgt spid="975490422"/>
                                        </p:tgtEl>
                                        <p:attrNameLst>
                                          <p:attrName>fill.on</p:attrName>
                                        </p:attrNameLst>
                                      </p:cBhvr>
                                      <p:to>
                                        <p:strVal val="true"/>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grpId="0" nodeType="clickEffect">
                                  <p:stCondLst>
                                    <p:cond delay="0"/>
                                  </p:stCondLst>
                                  <p:childTnLst>
                                    <p:set>
                                      <p:cBhvr>
                                        <p:cTn id="128" dur="1" fill="hold">
                                          <p:stCondLst>
                                            <p:cond delay="0"/>
                                          </p:stCondLst>
                                        </p:cTn>
                                        <p:tgtEl>
                                          <p:spTgt spid="928782607"/>
                                        </p:tgtEl>
                                        <p:attrNameLst>
                                          <p:attrName>style.visibility</p:attrName>
                                        </p:attrNameLst>
                                      </p:cBhvr>
                                      <p:to>
                                        <p:strVal val="visible"/>
                                      </p:to>
                                    </p:se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1191977458"/>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1" presetClass="emph" presetSubtype="2" fill="hold" nodeType="clickEffect">
                                  <p:stCondLst>
                                    <p:cond delay="0"/>
                                  </p:stCondLst>
                                  <p:childTnLst>
                                    <p:animClr clrSpc="rgb" dir="cw">
                                      <p:cBhvr>
                                        <p:cTn id="136" dur="2000" fill="hold"/>
                                        <p:tgtEl>
                                          <p:spTgt spid="1631508880"/>
                                        </p:tgtEl>
                                        <p:attrNameLst>
                                          <p:attrName>fillcolor</p:attrName>
                                        </p:attrNameLst>
                                      </p:cBhvr>
                                      <p:to>
                                        <a:schemeClr val="accent2"/>
                                      </p:to>
                                    </p:animClr>
                                    <p:set>
                                      <p:cBhvr>
                                        <p:cTn id="137" dur="2000" fill="hold"/>
                                        <p:tgtEl>
                                          <p:spTgt spid="1631508880"/>
                                        </p:tgtEl>
                                        <p:attrNameLst>
                                          <p:attrName>fill.type</p:attrName>
                                        </p:attrNameLst>
                                      </p:cBhvr>
                                      <p:to>
                                        <p:strVal val="solid"/>
                                      </p:to>
                                    </p:set>
                                    <p:set>
                                      <p:cBhvr>
                                        <p:cTn id="138" dur="2000" fill="hold"/>
                                        <p:tgtEl>
                                          <p:spTgt spid="1631508880"/>
                                        </p:tgtEl>
                                        <p:attrNameLst>
                                          <p:attrName>fill.on</p:attrName>
                                        </p:attrNameLst>
                                      </p:cBhvr>
                                      <p:to>
                                        <p:strVal val="true"/>
                                      </p:to>
                                    </p:se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grpId="0" nodeType="clickEffect">
                                  <p:stCondLst>
                                    <p:cond delay="0"/>
                                  </p:stCondLst>
                                  <p:childTnLst>
                                    <p:set>
                                      <p:cBhvr>
                                        <p:cTn id="142" dur="1" fill="hold">
                                          <p:stCondLst>
                                            <p:cond delay="0"/>
                                          </p:stCondLst>
                                        </p:cTn>
                                        <p:tgtEl>
                                          <p:spTgt spid="500650651"/>
                                        </p:tgtEl>
                                        <p:attrNameLst>
                                          <p:attrName>style.visibility</p:attrName>
                                        </p:attrNameLst>
                                      </p:cBhvr>
                                      <p:to>
                                        <p:strVal val="visible"/>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883546041"/>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mph" presetSubtype="2" fill="hold" nodeType="clickEffect">
                                  <p:stCondLst>
                                    <p:cond delay="0"/>
                                  </p:stCondLst>
                                  <p:childTnLst>
                                    <p:animClr clrSpc="rgb" dir="cw">
                                      <p:cBhvr>
                                        <p:cTn id="150" dur="2000" fill="hold"/>
                                        <p:tgtEl>
                                          <p:spTgt spid="1905376400"/>
                                        </p:tgtEl>
                                        <p:attrNameLst>
                                          <p:attrName>fillcolor</p:attrName>
                                        </p:attrNameLst>
                                      </p:cBhvr>
                                      <p:to>
                                        <a:schemeClr val="accent2"/>
                                      </p:to>
                                    </p:animClr>
                                    <p:set>
                                      <p:cBhvr>
                                        <p:cTn id="151" dur="2000" fill="hold"/>
                                        <p:tgtEl>
                                          <p:spTgt spid="1905376400"/>
                                        </p:tgtEl>
                                        <p:attrNameLst>
                                          <p:attrName>fill.type</p:attrName>
                                        </p:attrNameLst>
                                      </p:cBhvr>
                                      <p:to>
                                        <p:strVal val="solid"/>
                                      </p:to>
                                    </p:set>
                                    <p:set>
                                      <p:cBhvr>
                                        <p:cTn id="152" dur="2000" fill="hold"/>
                                        <p:tgtEl>
                                          <p:spTgt spid="1905376400"/>
                                        </p:tgtEl>
                                        <p:attrNameLst>
                                          <p:attrName>fill.on</p:attrName>
                                        </p:attrNameLst>
                                      </p:cBhvr>
                                      <p:to>
                                        <p:strVal val="true"/>
                                      </p:to>
                                    </p:se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grpId="0" nodeType="clickEffect">
                                  <p:stCondLst>
                                    <p:cond delay="0"/>
                                  </p:stCondLst>
                                  <p:childTnLst>
                                    <p:set>
                                      <p:cBhvr>
                                        <p:cTn id="156" dur="1" fill="hold">
                                          <p:stCondLst>
                                            <p:cond delay="0"/>
                                          </p:stCondLst>
                                        </p:cTn>
                                        <p:tgtEl>
                                          <p:spTgt spid="245113034"/>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grpId="0" nodeType="clickEffect">
                                  <p:stCondLst>
                                    <p:cond delay="0"/>
                                  </p:stCondLst>
                                  <p:childTnLst>
                                    <p:set>
                                      <p:cBhvr>
                                        <p:cTn id="160" dur="1" fill="hold">
                                          <p:stCondLst>
                                            <p:cond delay="0"/>
                                          </p:stCondLst>
                                        </p:cTn>
                                        <p:tgtEl>
                                          <p:spTgt spid="48803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2107655" grpId="0" animBg="1"/>
      <p:bldP spid="1648974168" grpId="0" animBg="1"/>
      <p:bldP spid="223727079" grpId="0" animBg="1"/>
      <p:bldP spid="975490422" grpId="0" animBg="1"/>
      <p:bldP spid="1992391628" grpId="0" animBg="1"/>
      <p:bldP spid="1905376400" grpId="0" animBg="1"/>
      <p:bldP spid="1631508880" grpId="0" animBg="1"/>
      <p:bldP spid="1605403346" grpId="0"/>
      <p:bldP spid="675593765" grpId="0"/>
      <p:bldP spid="1506061947" grpId="0"/>
      <p:bldP spid="1365223722" grpId="0"/>
      <p:bldP spid="1191977458" grpId="0"/>
      <p:bldP spid="883546041" grpId="0"/>
      <p:bldP spid="4880304" grpId="0"/>
      <p:bldP spid="367906903" grpId="0"/>
      <p:bldP spid="221668991" grpId="0"/>
      <p:bldP spid="542922163" grpId="0"/>
      <p:bldP spid="1441042493" grpId="0"/>
      <p:bldP spid="801761027" grpId="0"/>
      <p:bldP spid="928782607" grpId="0"/>
      <p:bldP spid="500650651" grpId="0"/>
      <p:bldP spid="245113034" grpId="0"/>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0430439" name="Title 1"/>
          <p:cNvSpPr>
            <a:spLocks noGrp="1"/>
          </p:cNvSpPr>
          <p:nvPr>
            <p:ph type="title"/>
          </p:nvPr>
        </p:nvSpPr>
        <p:spPr bwMode="auto"/>
        <p:txBody>
          <a:bodyPr/>
          <a:lstStyle/>
          <a:p>
            <a:pPr>
              <a:defRPr/>
            </a:pPr>
            <a:r>
              <a:rPr lang="en-IN"/>
              <a:t>Inorder</a:t>
            </a:r>
            <a:r>
              <a:rPr lang="en-IN"/>
              <a:t> </a:t>
            </a:r>
            <a:r>
              <a:rPr lang="en-IN"/>
              <a:t>Traversal</a:t>
            </a:r>
            <a:endParaRPr lang="en-US"/>
          </a:p>
        </p:txBody>
      </p:sp>
      <p:sp>
        <p:nvSpPr>
          <p:cNvPr id="432985766" name="Content Placeholder 2"/>
          <p:cNvSpPr>
            <a:spLocks noGrp="1"/>
          </p:cNvSpPr>
          <p:nvPr>
            <p:ph idx="1"/>
          </p:nvPr>
        </p:nvSpPr>
        <p:spPr bwMode="auto"/>
        <p:txBody>
          <a:bodyPr/>
          <a:lstStyle/>
          <a:p>
            <a:pPr>
              <a:defRPr/>
            </a:pPr>
            <a:r>
              <a:rPr lang="en-IN"/>
              <a:t>Inorder</a:t>
            </a:r>
            <a:r>
              <a:rPr lang="en-IN"/>
              <a:t> </a:t>
            </a:r>
            <a:r>
              <a:rPr lang="en-IN"/>
              <a:t>traversal of a binary tree is defined as </a:t>
            </a:r>
            <a:r>
              <a:rPr lang="en-IN"/>
              <a:t>follow</a:t>
            </a:r>
            <a:endParaRPr/>
          </a:p>
          <a:p>
            <a:pPr marL="819150" lvl="1" indent="-457200">
              <a:buClr>
                <a:schemeClr val="tx1"/>
              </a:buClr>
              <a:buFont typeface="+mj-lt"/>
              <a:buAutoNum type="arabicPeriod"/>
              <a:defRPr/>
            </a:pPr>
            <a:r>
              <a:rPr lang="en-IN" b="1">
                <a:solidFill>
                  <a:srgbClr val="C00000"/>
                </a:solidFill>
              </a:rPr>
              <a:t>Traverse</a:t>
            </a:r>
            <a:r>
              <a:rPr lang="en-IN">
                <a:solidFill>
                  <a:srgbClr val="C00000"/>
                </a:solidFill>
              </a:rPr>
              <a:t> </a:t>
            </a:r>
            <a:r>
              <a:rPr lang="en-IN"/>
              <a:t>the </a:t>
            </a:r>
            <a:r>
              <a:rPr lang="en-IN" b="1">
                <a:solidFill>
                  <a:srgbClr val="C00000"/>
                </a:solidFill>
              </a:rPr>
              <a:t>left</a:t>
            </a:r>
            <a:r>
              <a:rPr lang="en-IN" b="1">
                <a:solidFill>
                  <a:srgbClr val="FF0000"/>
                </a:solidFill>
              </a:rPr>
              <a:t> </a:t>
            </a:r>
            <a:r>
              <a:rPr lang="en-IN" b="1">
                <a:solidFill>
                  <a:srgbClr val="C00000"/>
                </a:solidFill>
              </a:rPr>
              <a:t>subtree</a:t>
            </a:r>
            <a:r>
              <a:rPr lang="en-IN" b="1">
                <a:solidFill>
                  <a:srgbClr val="C00000"/>
                </a:solidFill>
              </a:rPr>
              <a:t> </a:t>
            </a:r>
            <a:r>
              <a:rPr lang="en-IN"/>
              <a:t>in </a:t>
            </a:r>
            <a:r>
              <a:rPr lang="en-IN"/>
              <a:t>Inorder</a:t>
            </a:r>
            <a:endParaRPr lang="en-IN"/>
          </a:p>
          <a:p>
            <a:pPr marL="819150" lvl="1" indent="-457200">
              <a:buClr>
                <a:schemeClr val="tx1"/>
              </a:buClr>
              <a:buFont typeface="+mj-lt"/>
              <a:buAutoNum type="arabicPeriod"/>
              <a:defRPr/>
            </a:pPr>
            <a:r>
              <a:rPr lang="en-IN" b="1">
                <a:solidFill>
                  <a:srgbClr val="C00000"/>
                </a:solidFill>
              </a:rPr>
              <a:t>Process</a:t>
            </a:r>
            <a:r>
              <a:rPr lang="en-IN">
                <a:solidFill>
                  <a:srgbClr val="C00000"/>
                </a:solidFill>
              </a:rPr>
              <a:t> </a:t>
            </a:r>
            <a:r>
              <a:rPr lang="en-IN"/>
              <a:t>the </a:t>
            </a:r>
            <a:r>
              <a:rPr lang="en-IN" b="1">
                <a:solidFill>
                  <a:srgbClr val="C00000"/>
                </a:solidFill>
              </a:rPr>
              <a:t>root</a:t>
            </a:r>
            <a:r>
              <a:rPr lang="en-IN" b="1">
                <a:solidFill>
                  <a:srgbClr val="FF0000"/>
                </a:solidFill>
              </a:rPr>
              <a:t> </a:t>
            </a:r>
            <a:r>
              <a:rPr lang="en-IN" b="1">
                <a:solidFill>
                  <a:srgbClr val="C00000"/>
                </a:solidFill>
              </a:rPr>
              <a:t>node</a:t>
            </a:r>
            <a:endParaRPr/>
          </a:p>
          <a:p>
            <a:pPr marL="819150" lvl="1" indent="-457200">
              <a:buClr>
                <a:schemeClr val="tx1"/>
              </a:buClr>
              <a:buFont typeface="+mj-lt"/>
              <a:buAutoNum type="arabicPeriod"/>
              <a:defRPr/>
            </a:pPr>
            <a:r>
              <a:rPr lang="en-IN" b="1">
                <a:solidFill>
                  <a:srgbClr val="C00000"/>
                </a:solidFill>
              </a:rPr>
              <a:t>Traverse</a:t>
            </a:r>
            <a:r>
              <a:rPr lang="en-IN">
                <a:solidFill>
                  <a:srgbClr val="C00000"/>
                </a:solidFill>
              </a:rPr>
              <a:t> </a:t>
            </a:r>
            <a:r>
              <a:rPr lang="en-IN"/>
              <a:t>the </a:t>
            </a:r>
            <a:r>
              <a:rPr lang="en-IN" b="1">
                <a:solidFill>
                  <a:srgbClr val="C00000"/>
                </a:solidFill>
              </a:rPr>
              <a:t>right</a:t>
            </a:r>
            <a:r>
              <a:rPr lang="en-IN" b="1">
                <a:solidFill>
                  <a:srgbClr val="FF0000"/>
                </a:solidFill>
              </a:rPr>
              <a:t> </a:t>
            </a:r>
            <a:r>
              <a:rPr lang="en-IN" b="1">
                <a:solidFill>
                  <a:srgbClr val="C00000"/>
                </a:solidFill>
              </a:rPr>
              <a:t>subtree</a:t>
            </a:r>
            <a:r>
              <a:rPr lang="en-IN" b="1">
                <a:solidFill>
                  <a:srgbClr val="C00000"/>
                </a:solidFill>
              </a:rPr>
              <a:t> </a:t>
            </a:r>
            <a:r>
              <a:rPr lang="en-IN"/>
              <a:t>in </a:t>
            </a:r>
            <a:r>
              <a:rPr lang="en-IN"/>
              <a:t>Inorder</a:t>
            </a:r>
            <a:endParaRPr lang="en-IN"/>
          </a:p>
        </p:txBody>
      </p:sp>
      <p:sp>
        <p:nvSpPr>
          <p:cNvPr id="880099375" name="Oval 4"/>
          <p:cNvSpPr/>
          <p:nvPr/>
        </p:nvSpPr>
        <p:spPr bwMode="auto">
          <a:xfrm>
            <a:off x="9524997" y="116093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1451831991" name="Oval 5"/>
          <p:cNvSpPr/>
          <p:nvPr/>
        </p:nvSpPr>
        <p:spPr bwMode="auto">
          <a:xfrm>
            <a:off x="8969186" y="208429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2086260473" name="Oval 6"/>
          <p:cNvSpPr/>
          <p:nvPr/>
        </p:nvSpPr>
        <p:spPr bwMode="auto">
          <a:xfrm>
            <a:off x="8507504" y="299421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871511173" name="Oval 7"/>
          <p:cNvSpPr/>
          <p:nvPr/>
        </p:nvSpPr>
        <p:spPr bwMode="auto">
          <a:xfrm>
            <a:off x="9677397" y="299421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1928845015" name="Oval 8"/>
          <p:cNvSpPr/>
          <p:nvPr/>
        </p:nvSpPr>
        <p:spPr bwMode="auto">
          <a:xfrm>
            <a:off x="10183902" y="208429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1328413621" name="Oval 9"/>
          <p:cNvSpPr/>
          <p:nvPr/>
        </p:nvSpPr>
        <p:spPr bwMode="auto">
          <a:xfrm>
            <a:off x="10753160" y="299421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1639415548" name="Oval 10"/>
          <p:cNvSpPr/>
          <p:nvPr/>
        </p:nvSpPr>
        <p:spPr bwMode="auto">
          <a:xfrm>
            <a:off x="10165973" y="387723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cxnSp>
        <p:nvCxnSpPr>
          <p:cNvPr id="1747622575" name="Straight Arrow Connector 11"/>
          <p:cNvCxnSpPr>
            <a:stCxn id="880099375" idx="3"/>
            <a:endCxn id="1451831991" idx="0"/>
          </p:cNvCxnSpPr>
          <p:nvPr/>
        </p:nvCxnSpPr>
        <p:spPr bwMode="auto">
          <a:xfrm flipH="1">
            <a:off x="9249986" y="1640286"/>
            <a:ext cx="357255" cy="44400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1331518" name="Straight Arrow Connector 12"/>
          <p:cNvCxnSpPr>
            <a:stCxn id="1451831991" idx="3"/>
            <a:endCxn id="2086260473" idx="0"/>
          </p:cNvCxnSpPr>
          <p:nvPr/>
        </p:nvCxnSpPr>
        <p:spPr bwMode="auto">
          <a:xfrm flipH="1">
            <a:off x="8788304" y="2563650"/>
            <a:ext cx="263126" cy="43056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85477484" name="Straight Arrow Connector 13"/>
          <p:cNvCxnSpPr>
            <a:stCxn id="880099375" idx="5"/>
            <a:endCxn id="1928845015" idx="0"/>
          </p:cNvCxnSpPr>
          <p:nvPr/>
        </p:nvCxnSpPr>
        <p:spPr bwMode="auto">
          <a:xfrm>
            <a:off x="10004353" y="1640286"/>
            <a:ext cx="460349" cy="44400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58538841" name="Straight Arrow Connector 14"/>
          <p:cNvCxnSpPr>
            <a:stCxn id="1928845015" idx="3"/>
            <a:endCxn id="871511173" idx="0"/>
          </p:cNvCxnSpPr>
          <p:nvPr/>
        </p:nvCxnSpPr>
        <p:spPr bwMode="auto">
          <a:xfrm flipH="1">
            <a:off x="9958197" y="2563650"/>
            <a:ext cx="307949" cy="43056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94127251" name="Straight Arrow Connector 15"/>
          <p:cNvCxnSpPr>
            <a:stCxn id="1928845015" idx="5"/>
            <a:endCxn id="1328413621" idx="0"/>
          </p:cNvCxnSpPr>
          <p:nvPr/>
        </p:nvCxnSpPr>
        <p:spPr bwMode="auto">
          <a:xfrm>
            <a:off x="10663258" y="2563650"/>
            <a:ext cx="370702" cy="43056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07652789" name="Straight Arrow Connector 16"/>
          <p:cNvCxnSpPr>
            <a:stCxn id="871511173" idx="5"/>
            <a:endCxn id="1639415548" idx="0"/>
          </p:cNvCxnSpPr>
          <p:nvPr/>
        </p:nvCxnSpPr>
        <p:spPr bwMode="auto">
          <a:xfrm>
            <a:off x="10156752" y="3473567"/>
            <a:ext cx="290020" cy="403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23678988" name="TextBox 17"/>
          <p:cNvSpPr txBox="1"/>
          <p:nvPr/>
        </p:nvSpPr>
        <p:spPr bwMode="auto">
          <a:xfrm>
            <a:off x="9304213" y="5074136"/>
            <a:ext cx="369012" cy="461665"/>
          </a:xfrm>
          <a:prstGeom prst="rect">
            <a:avLst/>
          </a:prstGeom>
          <a:noFill/>
        </p:spPr>
        <p:txBody>
          <a:bodyPr wrap="none" rtlCol="0">
            <a:spAutoFit/>
          </a:bodyPr>
          <a:lstStyle/>
          <a:p>
            <a:pPr algn="ctr">
              <a:defRPr/>
            </a:pPr>
            <a:r>
              <a:rPr lang="en-IN" sz="2400" b="1">
                <a:solidFill>
                  <a:srgbClr val="C00000"/>
                </a:solidFill>
              </a:rPr>
              <a:t>A</a:t>
            </a:r>
            <a:endParaRPr lang="en-US" sz="2400" b="1">
              <a:solidFill>
                <a:srgbClr val="C00000"/>
              </a:solidFill>
            </a:endParaRPr>
          </a:p>
        </p:txBody>
      </p:sp>
      <p:sp>
        <p:nvSpPr>
          <p:cNvPr id="543207389" name="TextBox 18"/>
          <p:cNvSpPr txBox="1"/>
          <p:nvPr/>
        </p:nvSpPr>
        <p:spPr bwMode="auto">
          <a:xfrm>
            <a:off x="8917791" y="5074136"/>
            <a:ext cx="357790" cy="461665"/>
          </a:xfrm>
          <a:prstGeom prst="rect">
            <a:avLst/>
          </a:prstGeom>
          <a:noFill/>
        </p:spPr>
        <p:txBody>
          <a:bodyPr wrap="none" rtlCol="0">
            <a:spAutoFit/>
          </a:bodyPr>
          <a:lstStyle/>
          <a:p>
            <a:pPr algn="ctr">
              <a:defRPr/>
            </a:pPr>
            <a:r>
              <a:rPr lang="en-IN" sz="2400" b="1">
                <a:solidFill>
                  <a:srgbClr val="C00000"/>
                </a:solidFill>
              </a:rPr>
              <a:t>B</a:t>
            </a:r>
            <a:endParaRPr lang="en-US" sz="2400" b="1">
              <a:solidFill>
                <a:srgbClr val="C00000"/>
              </a:solidFill>
            </a:endParaRPr>
          </a:p>
        </p:txBody>
      </p:sp>
      <p:sp>
        <p:nvSpPr>
          <p:cNvPr id="654998108" name="TextBox 19"/>
          <p:cNvSpPr txBox="1"/>
          <p:nvPr/>
        </p:nvSpPr>
        <p:spPr bwMode="auto">
          <a:xfrm>
            <a:off x="8528163" y="5074136"/>
            <a:ext cx="360996" cy="461665"/>
          </a:xfrm>
          <a:prstGeom prst="rect">
            <a:avLst/>
          </a:prstGeom>
          <a:noFill/>
        </p:spPr>
        <p:txBody>
          <a:bodyPr wrap="none" rtlCol="0">
            <a:spAutoFit/>
          </a:bodyPr>
          <a:lstStyle/>
          <a:p>
            <a:pPr algn="ctr">
              <a:defRPr/>
            </a:pPr>
            <a:r>
              <a:rPr lang="en-IN" sz="2400" b="1">
                <a:solidFill>
                  <a:srgbClr val="C00000"/>
                </a:solidFill>
              </a:rPr>
              <a:t>C</a:t>
            </a:r>
            <a:endParaRPr lang="en-US" sz="2400" b="1">
              <a:solidFill>
                <a:srgbClr val="C00000"/>
              </a:solidFill>
            </a:endParaRPr>
          </a:p>
        </p:txBody>
      </p:sp>
      <p:sp>
        <p:nvSpPr>
          <p:cNvPr id="1558218470" name="Rectangle 20"/>
          <p:cNvSpPr/>
          <p:nvPr/>
        </p:nvSpPr>
        <p:spPr bwMode="auto">
          <a:xfrm>
            <a:off x="10425009" y="5074136"/>
            <a:ext cx="357790" cy="461665"/>
          </a:xfrm>
          <a:prstGeom prst="rect">
            <a:avLst/>
          </a:prstGeom>
        </p:spPr>
        <p:txBody>
          <a:bodyPr wrap="none">
            <a:spAutoFit/>
          </a:bodyPr>
          <a:lstStyle/>
          <a:p>
            <a:pPr>
              <a:defRPr/>
            </a:pPr>
            <a:r>
              <a:rPr lang="en-IN" sz="2400" b="1">
                <a:solidFill>
                  <a:srgbClr val="C00000"/>
                </a:solidFill>
              </a:rPr>
              <a:t>D</a:t>
            </a:r>
            <a:endParaRPr lang="en-US" sz="2400" b="1"/>
          </a:p>
        </p:txBody>
      </p:sp>
      <p:sp>
        <p:nvSpPr>
          <p:cNvPr id="922949218" name="Rectangle 21"/>
          <p:cNvSpPr/>
          <p:nvPr/>
        </p:nvSpPr>
        <p:spPr bwMode="auto">
          <a:xfrm>
            <a:off x="9701857" y="5074136"/>
            <a:ext cx="335347" cy="461665"/>
          </a:xfrm>
          <a:prstGeom prst="rect">
            <a:avLst/>
          </a:prstGeom>
        </p:spPr>
        <p:txBody>
          <a:bodyPr wrap="none">
            <a:spAutoFit/>
          </a:bodyPr>
          <a:lstStyle/>
          <a:p>
            <a:pPr>
              <a:defRPr/>
            </a:pPr>
            <a:r>
              <a:rPr lang="en-IN" sz="2400" b="1">
                <a:solidFill>
                  <a:srgbClr val="C00000"/>
                </a:solidFill>
              </a:rPr>
              <a:t>E</a:t>
            </a:r>
            <a:endParaRPr lang="en-US" sz="2400" b="1"/>
          </a:p>
        </p:txBody>
      </p:sp>
      <p:sp>
        <p:nvSpPr>
          <p:cNvPr id="1951331000" name="Rectangle 22"/>
          <p:cNvSpPr/>
          <p:nvPr/>
        </p:nvSpPr>
        <p:spPr bwMode="auto">
          <a:xfrm>
            <a:off x="10065837" y="5074136"/>
            <a:ext cx="330540" cy="461665"/>
          </a:xfrm>
          <a:prstGeom prst="rect">
            <a:avLst/>
          </a:prstGeom>
        </p:spPr>
        <p:txBody>
          <a:bodyPr wrap="none">
            <a:spAutoFit/>
          </a:bodyPr>
          <a:lstStyle/>
          <a:p>
            <a:pPr>
              <a:defRPr/>
            </a:pPr>
            <a:r>
              <a:rPr lang="en-IN" sz="2400" b="1">
                <a:solidFill>
                  <a:srgbClr val="C00000"/>
                </a:solidFill>
              </a:rPr>
              <a:t>F</a:t>
            </a:r>
            <a:endParaRPr lang="en-US" sz="2400" b="1"/>
          </a:p>
        </p:txBody>
      </p:sp>
      <p:sp>
        <p:nvSpPr>
          <p:cNvPr id="1471045140" name="Rectangle 23"/>
          <p:cNvSpPr/>
          <p:nvPr/>
        </p:nvSpPr>
        <p:spPr bwMode="auto">
          <a:xfrm>
            <a:off x="10811429" y="5074136"/>
            <a:ext cx="364202" cy="461665"/>
          </a:xfrm>
          <a:prstGeom prst="rect">
            <a:avLst/>
          </a:prstGeom>
        </p:spPr>
        <p:txBody>
          <a:bodyPr wrap="none">
            <a:spAutoFit/>
          </a:bodyPr>
          <a:lstStyle/>
          <a:p>
            <a:pPr>
              <a:defRPr/>
            </a:pPr>
            <a:r>
              <a:rPr lang="en-IN" sz="2400" b="1">
                <a:solidFill>
                  <a:srgbClr val="C00000"/>
                </a:solidFill>
              </a:rPr>
              <a:t>G</a:t>
            </a:r>
            <a:endParaRPr lang="en-US" sz="2400" b="1"/>
          </a:p>
        </p:txBody>
      </p:sp>
      <p:sp>
        <p:nvSpPr>
          <p:cNvPr id="1459598958" name="TextBox 24"/>
          <p:cNvSpPr txBox="1"/>
          <p:nvPr/>
        </p:nvSpPr>
        <p:spPr bwMode="auto">
          <a:xfrm>
            <a:off x="7937652" y="4572483"/>
            <a:ext cx="3805517" cy="400110"/>
          </a:xfrm>
          <a:prstGeom prst="rect">
            <a:avLst/>
          </a:prstGeom>
          <a:noFill/>
        </p:spPr>
        <p:txBody>
          <a:bodyPr wrap="square" rtlCol="0">
            <a:spAutoFit/>
          </a:bodyPr>
          <a:lstStyle/>
          <a:p>
            <a:pPr>
              <a:defRPr/>
            </a:pPr>
            <a:r>
              <a:rPr lang="en-IN" sz="2000" b="1"/>
              <a:t>Inorder</a:t>
            </a:r>
            <a:r>
              <a:rPr lang="en-IN" sz="2000" b="1"/>
              <a:t> traversal of a </a:t>
            </a:r>
            <a:r>
              <a:rPr lang="en-IN" sz="2000" b="1"/>
              <a:t>given </a:t>
            </a:r>
            <a:r>
              <a:rPr lang="en-IN" sz="2000" b="1"/>
              <a:t>tree as</a:t>
            </a:r>
            <a:endParaRPr lang="en-US" sz="2000" b="1"/>
          </a:p>
        </p:txBody>
      </p:sp>
      <p:sp>
        <p:nvSpPr>
          <p:cNvPr id="866478759" name="TextBox 25"/>
          <p:cNvSpPr txBox="1"/>
          <p:nvPr/>
        </p:nvSpPr>
        <p:spPr bwMode="auto">
          <a:xfrm>
            <a:off x="10098738" y="1257064"/>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247672215" name="TextBox 26"/>
          <p:cNvSpPr txBox="1"/>
          <p:nvPr/>
        </p:nvSpPr>
        <p:spPr bwMode="auto">
          <a:xfrm>
            <a:off x="9519438" y="2192796"/>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312412126" name="TextBox 27"/>
          <p:cNvSpPr txBox="1"/>
          <p:nvPr/>
        </p:nvSpPr>
        <p:spPr bwMode="auto">
          <a:xfrm>
            <a:off x="9066482" y="3090345"/>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1575469849" name="TextBox 28"/>
          <p:cNvSpPr txBox="1"/>
          <p:nvPr/>
        </p:nvSpPr>
        <p:spPr bwMode="auto">
          <a:xfrm>
            <a:off x="10734724" y="2177249"/>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1756812256" name="TextBox 29"/>
          <p:cNvSpPr txBox="1"/>
          <p:nvPr/>
        </p:nvSpPr>
        <p:spPr bwMode="auto">
          <a:xfrm>
            <a:off x="10209217" y="3090345"/>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182333816" name="TextBox 30"/>
          <p:cNvSpPr txBox="1"/>
          <p:nvPr/>
        </p:nvSpPr>
        <p:spPr bwMode="auto">
          <a:xfrm>
            <a:off x="10754462" y="3973368"/>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1963554840" name="TextBox 31"/>
          <p:cNvSpPr txBox="1"/>
          <p:nvPr/>
        </p:nvSpPr>
        <p:spPr bwMode="auto">
          <a:xfrm>
            <a:off x="11330000" y="3090345"/>
            <a:ext cx="357790" cy="369332"/>
          </a:xfrm>
          <a:prstGeom prst="rect">
            <a:avLst/>
          </a:prstGeom>
          <a:noFill/>
        </p:spPr>
        <p:txBody>
          <a:bodyPr wrap="none" rtlCol="0">
            <a:spAutoFit/>
          </a:bodyPr>
          <a:lstStyle/>
          <a:p>
            <a:pPr>
              <a:defRPr/>
            </a:pPr>
            <a:r>
              <a:rPr lang="en-US">
                <a:solidFill>
                  <a:srgbClr val="C00000"/>
                </a:solidFill>
              </a:rPr>
              <a:t>✓</a:t>
            </a:r>
            <a:endParaRPr/>
          </a:p>
        </p:txBody>
      </p:sp>
      <p:cxnSp>
        <p:nvCxnSpPr>
          <p:cNvPr id="1428505455" name="Straight Connector 32"/>
          <p:cNvCxnSpPr/>
          <p:nvPr/>
        </p:nvCxnSpPr>
        <p:spPr bwMode="auto">
          <a:xfrm>
            <a:off x="7620000" y="1066800"/>
            <a:ext cx="0" cy="518160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8009937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5183199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8626047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7151117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288450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2841362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3941554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47622575"/>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13315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547748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58538841"/>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99412725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765278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42850545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32985766">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32985766">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32985766">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32985766">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45959895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mph" presetSubtype="2" fill="hold" grpId="1" nodeType="clickEffect">
                                  <p:stCondLst>
                                    <p:cond delay="0"/>
                                  </p:stCondLst>
                                  <p:childTnLst>
                                    <p:animClr clrSpc="rgb" dir="cw">
                                      <p:cBhvr>
                                        <p:cTn id="58" dur="2000" fill="hold"/>
                                        <p:tgtEl>
                                          <p:spTgt spid="2086260473"/>
                                        </p:tgtEl>
                                        <p:attrNameLst>
                                          <p:attrName>fillcolor</p:attrName>
                                        </p:attrNameLst>
                                      </p:cBhvr>
                                      <p:to>
                                        <a:schemeClr val="accent2"/>
                                      </p:to>
                                    </p:animClr>
                                    <p:set>
                                      <p:cBhvr>
                                        <p:cTn id="59" dur="2000" fill="hold"/>
                                        <p:tgtEl>
                                          <p:spTgt spid="2086260473"/>
                                        </p:tgtEl>
                                        <p:attrNameLst>
                                          <p:attrName>fill.type</p:attrName>
                                        </p:attrNameLst>
                                      </p:cBhvr>
                                      <p:to>
                                        <p:strVal val="solid"/>
                                      </p:to>
                                    </p:set>
                                    <p:set>
                                      <p:cBhvr>
                                        <p:cTn id="60" dur="2000" fill="hold"/>
                                        <p:tgtEl>
                                          <p:spTgt spid="2086260473"/>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312412126"/>
                                        </p:tgtEl>
                                        <p:attrNameLst>
                                          <p:attrName>style.visibility</p:attrName>
                                        </p:attrNameLst>
                                      </p:cBhvr>
                                      <p:to>
                                        <p:strVal val="visible"/>
                                      </p:to>
                                    </p:set>
                                    <p:animEffect transition="in" filter="wipe(down)">
                                      <p:cBhvr>
                                        <p:cTn id="65" dur="500"/>
                                        <p:tgtEl>
                                          <p:spTgt spid="312412126"/>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65499810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mph" presetSubtype="2" fill="hold" grpId="1" nodeType="clickEffect">
                                  <p:stCondLst>
                                    <p:cond delay="0"/>
                                  </p:stCondLst>
                                  <p:childTnLst>
                                    <p:animClr clrSpc="rgb" dir="cw">
                                      <p:cBhvr>
                                        <p:cTn id="73" dur="2000" fill="hold"/>
                                        <p:tgtEl>
                                          <p:spTgt spid="1451831991"/>
                                        </p:tgtEl>
                                        <p:attrNameLst>
                                          <p:attrName>fillcolor</p:attrName>
                                        </p:attrNameLst>
                                      </p:cBhvr>
                                      <p:to>
                                        <a:schemeClr val="accent2"/>
                                      </p:to>
                                    </p:animClr>
                                    <p:set>
                                      <p:cBhvr>
                                        <p:cTn id="74" dur="2000" fill="hold"/>
                                        <p:tgtEl>
                                          <p:spTgt spid="1451831991"/>
                                        </p:tgtEl>
                                        <p:attrNameLst>
                                          <p:attrName>fill.type</p:attrName>
                                        </p:attrNameLst>
                                      </p:cBhvr>
                                      <p:to>
                                        <p:strVal val="solid"/>
                                      </p:to>
                                    </p:set>
                                    <p:set>
                                      <p:cBhvr>
                                        <p:cTn id="75" dur="2000" fill="hold"/>
                                        <p:tgtEl>
                                          <p:spTgt spid="1451831991"/>
                                        </p:tgtEl>
                                        <p:attrNameLst>
                                          <p:attrName>fill.on</p:attrName>
                                        </p:attrNameLst>
                                      </p:cBhvr>
                                      <p:to>
                                        <p:strVal val="tru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247672215"/>
                                        </p:tgtEl>
                                        <p:attrNameLst>
                                          <p:attrName>style.visibility</p:attrName>
                                        </p:attrNameLst>
                                      </p:cBhvr>
                                      <p:to>
                                        <p:strVal val="visible"/>
                                      </p:to>
                                    </p:set>
                                    <p:animEffect transition="in" filter="wipe(down)">
                                      <p:cBhvr>
                                        <p:cTn id="80" dur="500"/>
                                        <p:tgtEl>
                                          <p:spTgt spid="247672215"/>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543207389"/>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mph" presetSubtype="2" fill="hold" grpId="1" nodeType="clickEffect">
                                  <p:stCondLst>
                                    <p:cond delay="0"/>
                                  </p:stCondLst>
                                  <p:childTnLst>
                                    <p:animClr clrSpc="rgb" dir="cw">
                                      <p:cBhvr>
                                        <p:cTn id="88" dur="2000" fill="hold"/>
                                        <p:tgtEl>
                                          <p:spTgt spid="880099375"/>
                                        </p:tgtEl>
                                        <p:attrNameLst>
                                          <p:attrName>fillcolor</p:attrName>
                                        </p:attrNameLst>
                                      </p:cBhvr>
                                      <p:to>
                                        <a:schemeClr val="accent2"/>
                                      </p:to>
                                    </p:animClr>
                                    <p:set>
                                      <p:cBhvr>
                                        <p:cTn id="89" dur="2000" fill="hold"/>
                                        <p:tgtEl>
                                          <p:spTgt spid="880099375"/>
                                        </p:tgtEl>
                                        <p:attrNameLst>
                                          <p:attrName>fill.type</p:attrName>
                                        </p:attrNameLst>
                                      </p:cBhvr>
                                      <p:to>
                                        <p:strVal val="solid"/>
                                      </p:to>
                                    </p:set>
                                    <p:set>
                                      <p:cBhvr>
                                        <p:cTn id="90" dur="2000" fill="hold"/>
                                        <p:tgtEl>
                                          <p:spTgt spid="880099375"/>
                                        </p:tgtEl>
                                        <p:attrNameLst>
                                          <p:attrName>fill.on</p:attrName>
                                        </p:attrNameLst>
                                      </p:cBhvr>
                                      <p:to>
                                        <p:strVal val="tru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866478759"/>
                                        </p:tgtEl>
                                        <p:attrNameLst>
                                          <p:attrName>style.visibility</p:attrName>
                                        </p:attrNameLst>
                                      </p:cBhvr>
                                      <p:to>
                                        <p:strVal val="visible"/>
                                      </p:to>
                                    </p:set>
                                    <p:animEffect transition="in" filter="wipe(down)">
                                      <p:cBhvr>
                                        <p:cTn id="95" dur="500"/>
                                        <p:tgtEl>
                                          <p:spTgt spid="866478759"/>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32367898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mph" presetSubtype="2" fill="hold" grpId="1" nodeType="clickEffect">
                                  <p:stCondLst>
                                    <p:cond delay="0"/>
                                  </p:stCondLst>
                                  <p:childTnLst>
                                    <p:animClr clrSpc="rgb" dir="cw">
                                      <p:cBhvr>
                                        <p:cTn id="103" dur="2000" fill="hold"/>
                                        <p:tgtEl>
                                          <p:spTgt spid="871511173"/>
                                        </p:tgtEl>
                                        <p:attrNameLst>
                                          <p:attrName>fillcolor</p:attrName>
                                        </p:attrNameLst>
                                      </p:cBhvr>
                                      <p:to>
                                        <a:schemeClr val="accent2"/>
                                      </p:to>
                                    </p:animClr>
                                    <p:set>
                                      <p:cBhvr>
                                        <p:cTn id="104" dur="2000" fill="hold"/>
                                        <p:tgtEl>
                                          <p:spTgt spid="871511173"/>
                                        </p:tgtEl>
                                        <p:attrNameLst>
                                          <p:attrName>fill.type</p:attrName>
                                        </p:attrNameLst>
                                      </p:cBhvr>
                                      <p:to>
                                        <p:strVal val="solid"/>
                                      </p:to>
                                    </p:set>
                                    <p:set>
                                      <p:cBhvr>
                                        <p:cTn id="105" dur="2000" fill="hold"/>
                                        <p:tgtEl>
                                          <p:spTgt spid="871511173"/>
                                        </p:tgtEl>
                                        <p:attrNameLst>
                                          <p:attrName>fill.on</p:attrName>
                                        </p:attrNameLst>
                                      </p:cBhvr>
                                      <p:to>
                                        <p:strVal val="true"/>
                                      </p:to>
                                    </p:se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1756812256"/>
                                        </p:tgtEl>
                                        <p:attrNameLst>
                                          <p:attrName>style.visibility</p:attrName>
                                        </p:attrNameLst>
                                      </p:cBhvr>
                                      <p:to>
                                        <p:strVal val="visible"/>
                                      </p:to>
                                    </p:set>
                                    <p:animEffect transition="in" filter="wipe(down)">
                                      <p:cBhvr>
                                        <p:cTn id="110" dur="500"/>
                                        <p:tgtEl>
                                          <p:spTgt spid="1756812256"/>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922949218"/>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mph" presetSubtype="2" fill="hold" grpId="1" nodeType="clickEffect">
                                  <p:stCondLst>
                                    <p:cond delay="0"/>
                                  </p:stCondLst>
                                  <p:childTnLst>
                                    <p:animClr clrSpc="rgb" dir="cw">
                                      <p:cBhvr>
                                        <p:cTn id="118" dur="2000" fill="hold"/>
                                        <p:tgtEl>
                                          <p:spTgt spid="1639415548"/>
                                        </p:tgtEl>
                                        <p:attrNameLst>
                                          <p:attrName>fillcolor</p:attrName>
                                        </p:attrNameLst>
                                      </p:cBhvr>
                                      <p:to>
                                        <a:schemeClr val="accent2"/>
                                      </p:to>
                                    </p:animClr>
                                    <p:set>
                                      <p:cBhvr>
                                        <p:cTn id="119" dur="2000" fill="hold"/>
                                        <p:tgtEl>
                                          <p:spTgt spid="1639415548"/>
                                        </p:tgtEl>
                                        <p:attrNameLst>
                                          <p:attrName>fill.type</p:attrName>
                                        </p:attrNameLst>
                                      </p:cBhvr>
                                      <p:to>
                                        <p:strVal val="solid"/>
                                      </p:to>
                                    </p:set>
                                    <p:set>
                                      <p:cBhvr>
                                        <p:cTn id="120" dur="2000" fill="hold"/>
                                        <p:tgtEl>
                                          <p:spTgt spid="1639415548"/>
                                        </p:tgtEl>
                                        <p:attrNameLst>
                                          <p:attrName>fill.on</p:attrName>
                                        </p:attrNameLst>
                                      </p:cBhvr>
                                      <p:to>
                                        <p:strVal val="tru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grpId="0" nodeType="clickEffect">
                                  <p:stCondLst>
                                    <p:cond delay="0"/>
                                  </p:stCondLst>
                                  <p:childTnLst>
                                    <p:set>
                                      <p:cBhvr>
                                        <p:cTn id="124" dur="1" fill="hold">
                                          <p:stCondLst>
                                            <p:cond delay="0"/>
                                          </p:stCondLst>
                                        </p:cTn>
                                        <p:tgtEl>
                                          <p:spTgt spid="182333816"/>
                                        </p:tgtEl>
                                        <p:attrNameLst>
                                          <p:attrName>style.visibility</p:attrName>
                                        </p:attrNameLst>
                                      </p:cBhvr>
                                      <p:to>
                                        <p:strVal val="visible"/>
                                      </p:to>
                                    </p:set>
                                    <p:animEffect transition="in" filter="wipe(down)">
                                      <p:cBhvr>
                                        <p:cTn id="125" dur="500"/>
                                        <p:tgtEl>
                                          <p:spTgt spid="182333816"/>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1951331000"/>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mph" presetSubtype="2" fill="hold" grpId="1" nodeType="clickEffect">
                                  <p:stCondLst>
                                    <p:cond delay="0"/>
                                  </p:stCondLst>
                                  <p:childTnLst>
                                    <p:animClr clrSpc="rgb" dir="cw">
                                      <p:cBhvr>
                                        <p:cTn id="133" dur="2000" fill="hold"/>
                                        <p:tgtEl>
                                          <p:spTgt spid="1928845015"/>
                                        </p:tgtEl>
                                        <p:attrNameLst>
                                          <p:attrName>fillcolor</p:attrName>
                                        </p:attrNameLst>
                                      </p:cBhvr>
                                      <p:to>
                                        <a:schemeClr val="accent2"/>
                                      </p:to>
                                    </p:animClr>
                                    <p:set>
                                      <p:cBhvr>
                                        <p:cTn id="134" dur="2000" fill="hold"/>
                                        <p:tgtEl>
                                          <p:spTgt spid="1928845015"/>
                                        </p:tgtEl>
                                        <p:attrNameLst>
                                          <p:attrName>fill.type</p:attrName>
                                        </p:attrNameLst>
                                      </p:cBhvr>
                                      <p:to>
                                        <p:strVal val="solid"/>
                                      </p:to>
                                    </p:set>
                                    <p:set>
                                      <p:cBhvr>
                                        <p:cTn id="135" dur="2000" fill="hold"/>
                                        <p:tgtEl>
                                          <p:spTgt spid="1928845015"/>
                                        </p:tgtEl>
                                        <p:attrNameLst>
                                          <p:attrName>fill.on</p:attrName>
                                        </p:attrNameLst>
                                      </p:cBhvr>
                                      <p:to>
                                        <p:strVal val="true"/>
                                      </p:to>
                                    </p:se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1575469849"/>
                                        </p:tgtEl>
                                        <p:attrNameLst>
                                          <p:attrName>style.visibility</p:attrName>
                                        </p:attrNameLst>
                                      </p:cBhvr>
                                      <p:to>
                                        <p:strVal val="visible"/>
                                      </p:to>
                                    </p:set>
                                    <p:animEffect transition="in" filter="wipe(down)">
                                      <p:cBhvr>
                                        <p:cTn id="140" dur="500"/>
                                        <p:tgtEl>
                                          <p:spTgt spid="1575469849"/>
                                        </p:tgtEl>
                                      </p:cBhvr>
                                    </p:animEffec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1558218470"/>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mph" presetSubtype="2" fill="hold" grpId="1" nodeType="clickEffect">
                                  <p:stCondLst>
                                    <p:cond delay="0"/>
                                  </p:stCondLst>
                                  <p:childTnLst>
                                    <p:animClr clrSpc="rgb" dir="cw">
                                      <p:cBhvr>
                                        <p:cTn id="148" dur="2000" fill="hold"/>
                                        <p:tgtEl>
                                          <p:spTgt spid="1328413621"/>
                                        </p:tgtEl>
                                        <p:attrNameLst>
                                          <p:attrName>fillcolor</p:attrName>
                                        </p:attrNameLst>
                                      </p:cBhvr>
                                      <p:to>
                                        <a:schemeClr val="accent2"/>
                                      </p:to>
                                    </p:animClr>
                                    <p:set>
                                      <p:cBhvr>
                                        <p:cTn id="149" dur="2000" fill="hold"/>
                                        <p:tgtEl>
                                          <p:spTgt spid="1328413621"/>
                                        </p:tgtEl>
                                        <p:attrNameLst>
                                          <p:attrName>fill.type</p:attrName>
                                        </p:attrNameLst>
                                      </p:cBhvr>
                                      <p:to>
                                        <p:strVal val="solid"/>
                                      </p:to>
                                    </p:set>
                                    <p:set>
                                      <p:cBhvr>
                                        <p:cTn id="150" dur="2000" fill="hold"/>
                                        <p:tgtEl>
                                          <p:spTgt spid="1328413621"/>
                                        </p:tgtEl>
                                        <p:attrNameLst>
                                          <p:attrName>fill.on</p:attrName>
                                        </p:attrNameLst>
                                      </p:cBhvr>
                                      <p:to>
                                        <p:strVal val="true"/>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grpId="0" nodeType="clickEffect">
                                  <p:stCondLst>
                                    <p:cond delay="0"/>
                                  </p:stCondLst>
                                  <p:childTnLst>
                                    <p:set>
                                      <p:cBhvr>
                                        <p:cTn id="154" dur="1" fill="hold">
                                          <p:stCondLst>
                                            <p:cond delay="0"/>
                                          </p:stCondLst>
                                        </p:cTn>
                                        <p:tgtEl>
                                          <p:spTgt spid="1963554840"/>
                                        </p:tgtEl>
                                        <p:attrNameLst>
                                          <p:attrName>style.visibility</p:attrName>
                                        </p:attrNameLst>
                                      </p:cBhvr>
                                      <p:to>
                                        <p:strVal val="visible"/>
                                      </p:to>
                                    </p:set>
                                    <p:animEffect transition="in" filter="wipe(down)">
                                      <p:cBhvr>
                                        <p:cTn id="155" dur="500"/>
                                        <p:tgtEl>
                                          <p:spTgt spid="1963554840"/>
                                        </p:tgtEl>
                                      </p:cBhvr>
                                    </p:animEffec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1471045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099375" grpId="0" animBg="1"/>
      <p:bldP spid="880099375" grpId="1" animBg="1"/>
      <p:bldP spid="1451831991" grpId="0" animBg="1"/>
      <p:bldP spid="1451831991" grpId="1" animBg="1"/>
      <p:bldP spid="2086260473" grpId="0" animBg="1"/>
      <p:bldP spid="2086260473" grpId="1" animBg="1"/>
      <p:bldP spid="871511173" grpId="0" animBg="1"/>
      <p:bldP spid="871511173" grpId="1" animBg="1"/>
      <p:bldP spid="1928845015" grpId="0" animBg="1"/>
      <p:bldP spid="1928845015" grpId="1" animBg="1"/>
      <p:bldP spid="1328413621" grpId="0" animBg="1"/>
      <p:bldP spid="1328413621" grpId="1" animBg="1"/>
      <p:bldP spid="1639415548" grpId="0" animBg="1"/>
      <p:bldP spid="1639415548" grpId="1" animBg="1"/>
      <p:bldP spid="323678988" grpId="0"/>
      <p:bldP spid="543207389" grpId="0"/>
      <p:bldP spid="654998108" grpId="0"/>
      <p:bldP spid="1558218470" grpId="0"/>
      <p:bldP spid="922949218" grpId="0"/>
      <p:bldP spid="1951331000" grpId="0"/>
      <p:bldP spid="1471045140" grpId="0"/>
      <p:bldP spid="1459598958" grpId="0"/>
      <p:bldP spid="866478759" grpId="0"/>
      <p:bldP spid="247672215" grpId="0"/>
      <p:bldP spid="312412126" grpId="0"/>
      <p:bldP spid="1575469849" grpId="0"/>
      <p:bldP spid="1756812256" grpId="0"/>
      <p:bldP spid="182333816" grpId="0"/>
      <p:bldP spid="1963554840" grpId="0"/>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6777948" name="Title 1"/>
          <p:cNvSpPr>
            <a:spLocks noGrp="1"/>
          </p:cNvSpPr>
          <p:nvPr>
            <p:ph type="title"/>
          </p:nvPr>
        </p:nvSpPr>
        <p:spPr bwMode="auto"/>
        <p:txBody>
          <a:bodyPr/>
          <a:lstStyle/>
          <a:p>
            <a:pPr>
              <a:defRPr/>
            </a:pPr>
            <a:r>
              <a:rPr lang="en-IN"/>
              <a:t>Postorder</a:t>
            </a:r>
            <a:r>
              <a:rPr lang="en-IN"/>
              <a:t> </a:t>
            </a:r>
            <a:r>
              <a:rPr lang="en-IN"/>
              <a:t>Traversal</a:t>
            </a:r>
            <a:endParaRPr lang="en-US"/>
          </a:p>
        </p:txBody>
      </p:sp>
      <p:sp>
        <p:nvSpPr>
          <p:cNvPr id="635745543" name="Content Placeholder 2"/>
          <p:cNvSpPr>
            <a:spLocks noGrp="1"/>
          </p:cNvSpPr>
          <p:nvPr>
            <p:ph idx="1"/>
          </p:nvPr>
        </p:nvSpPr>
        <p:spPr bwMode="auto"/>
        <p:txBody>
          <a:bodyPr/>
          <a:lstStyle/>
          <a:p>
            <a:pPr>
              <a:defRPr/>
            </a:pPr>
            <a:r>
              <a:rPr lang="en-IN"/>
              <a:t>Postorder</a:t>
            </a:r>
            <a:r>
              <a:rPr lang="en-IN"/>
              <a:t> </a:t>
            </a:r>
            <a:r>
              <a:rPr lang="en-IN"/>
              <a:t>traversal of a binary tree is defined as </a:t>
            </a:r>
            <a:r>
              <a:rPr lang="en-IN"/>
              <a:t>follow</a:t>
            </a:r>
            <a:endParaRPr/>
          </a:p>
          <a:p>
            <a:pPr marL="819150" lvl="1" indent="-457200">
              <a:buClr>
                <a:schemeClr val="tx1"/>
              </a:buClr>
              <a:buFont typeface="+mj-lt"/>
              <a:buAutoNum type="arabicPeriod"/>
              <a:defRPr/>
            </a:pPr>
            <a:r>
              <a:rPr lang="en-IN" b="1">
                <a:solidFill>
                  <a:srgbClr val="C00000"/>
                </a:solidFill>
              </a:rPr>
              <a:t>Traverse</a:t>
            </a:r>
            <a:r>
              <a:rPr lang="en-IN">
                <a:solidFill>
                  <a:srgbClr val="C00000"/>
                </a:solidFill>
              </a:rPr>
              <a:t> </a:t>
            </a:r>
            <a:r>
              <a:rPr lang="en-IN"/>
              <a:t>the </a:t>
            </a:r>
            <a:r>
              <a:rPr lang="en-IN" b="1">
                <a:solidFill>
                  <a:srgbClr val="C00000"/>
                </a:solidFill>
              </a:rPr>
              <a:t>left</a:t>
            </a:r>
            <a:r>
              <a:rPr lang="en-IN" b="1">
                <a:solidFill>
                  <a:srgbClr val="FF0000"/>
                </a:solidFill>
              </a:rPr>
              <a:t> </a:t>
            </a:r>
            <a:r>
              <a:rPr lang="en-IN" b="1">
                <a:solidFill>
                  <a:srgbClr val="C00000"/>
                </a:solidFill>
              </a:rPr>
              <a:t>subtree</a:t>
            </a:r>
            <a:r>
              <a:rPr lang="en-IN" b="1">
                <a:solidFill>
                  <a:srgbClr val="C00000"/>
                </a:solidFill>
              </a:rPr>
              <a:t> </a:t>
            </a:r>
            <a:r>
              <a:rPr lang="en-IN"/>
              <a:t>in </a:t>
            </a:r>
            <a:r>
              <a:rPr lang="en-IN"/>
              <a:t>Postorder</a:t>
            </a:r>
            <a:endParaRPr lang="en-IN"/>
          </a:p>
          <a:p>
            <a:pPr marL="819150" lvl="1" indent="-457200">
              <a:buClr>
                <a:schemeClr val="tx1"/>
              </a:buClr>
              <a:buFont typeface="+mj-lt"/>
              <a:buAutoNum type="arabicPeriod"/>
              <a:defRPr/>
            </a:pPr>
            <a:r>
              <a:rPr lang="en-IN" b="1">
                <a:solidFill>
                  <a:srgbClr val="C00000"/>
                </a:solidFill>
              </a:rPr>
              <a:t>Traverse</a:t>
            </a:r>
            <a:r>
              <a:rPr lang="en-IN">
                <a:solidFill>
                  <a:srgbClr val="C00000"/>
                </a:solidFill>
              </a:rPr>
              <a:t> </a:t>
            </a:r>
            <a:r>
              <a:rPr lang="en-IN"/>
              <a:t>the </a:t>
            </a:r>
            <a:r>
              <a:rPr lang="en-IN" b="1">
                <a:solidFill>
                  <a:srgbClr val="C00000"/>
                </a:solidFill>
              </a:rPr>
              <a:t>right</a:t>
            </a:r>
            <a:r>
              <a:rPr lang="en-IN" b="1">
                <a:solidFill>
                  <a:srgbClr val="FF0000"/>
                </a:solidFill>
              </a:rPr>
              <a:t> </a:t>
            </a:r>
            <a:r>
              <a:rPr lang="en-IN" b="1">
                <a:solidFill>
                  <a:srgbClr val="C00000"/>
                </a:solidFill>
              </a:rPr>
              <a:t>subtree</a:t>
            </a:r>
            <a:r>
              <a:rPr lang="en-IN" b="1">
                <a:solidFill>
                  <a:srgbClr val="C00000"/>
                </a:solidFill>
              </a:rPr>
              <a:t> </a:t>
            </a:r>
            <a:r>
              <a:rPr lang="en-IN"/>
              <a:t>in </a:t>
            </a:r>
            <a:r>
              <a:rPr lang="en-IN"/>
              <a:t>Postorder</a:t>
            </a:r>
            <a:endParaRPr lang="en-IN"/>
          </a:p>
          <a:p>
            <a:pPr marL="819150" lvl="1" indent="-457200">
              <a:buClr>
                <a:schemeClr val="tx1"/>
              </a:buClr>
              <a:buFont typeface="+mj-lt"/>
              <a:buAutoNum type="arabicPeriod"/>
              <a:defRPr/>
            </a:pPr>
            <a:r>
              <a:rPr lang="en-IN" b="1">
                <a:solidFill>
                  <a:srgbClr val="C00000"/>
                </a:solidFill>
              </a:rPr>
              <a:t>Process</a:t>
            </a:r>
            <a:r>
              <a:rPr lang="en-IN">
                <a:solidFill>
                  <a:srgbClr val="C00000"/>
                </a:solidFill>
              </a:rPr>
              <a:t> </a:t>
            </a:r>
            <a:r>
              <a:rPr lang="en-IN"/>
              <a:t>the </a:t>
            </a:r>
            <a:r>
              <a:rPr lang="en-IN" b="1">
                <a:solidFill>
                  <a:srgbClr val="C00000"/>
                </a:solidFill>
              </a:rPr>
              <a:t>root</a:t>
            </a:r>
            <a:r>
              <a:rPr lang="en-IN" b="1">
                <a:solidFill>
                  <a:srgbClr val="FF0000"/>
                </a:solidFill>
              </a:rPr>
              <a:t> </a:t>
            </a:r>
            <a:r>
              <a:rPr lang="en-IN" b="1">
                <a:solidFill>
                  <a:srgbClr val="C00000"/>
                </a:solidFill>
              </a:rPr>
              <a:t>node</a:t>
            </a:r>
            <a:endParaRPr lang="en-IN" b="1">
              <a:solidFill>
                <a:srgbClr val="C00000"/>
              </a:solidFill>
            </a:endParaRPr>
          </a:p>
        </p:txBody>
      </p:sp>
      <p:sp>
        <p:nvSpPr>
          <p:cNvPr id="826756670" name="Oval 37"/>
          <p:cNvSpPr/>
          <p:nvPr/>
        </p:nvSpPr>
        <p:spPr bwMode="auto">
          <a:xfrm>
            <a:off x="9619126" y="102646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298679833" name="Oval 38"/>
          <p:cNvSpPr/>
          <p:nvPr/>
        </p:nvSpPr>
        <p:spPr bwMode="auto">
          <a:xfrm>
            <a:off x="8969186" y="215755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1401757396" name="Oval 39"/>
          <p:cNvSpPr/>
          <p:nvPr/>
        </p:nvSpPr>
        <p:spPr bwMode="auto">
          <a:xfrm>
            <a:off x="8440269" y="316902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1164719949" name="Oval 40"/>
          <p:cNvSpPr/>
          <p:nvPr/>
        </p:nvSpPr>
        <p:spPr bwMode="auto">
          <a:xfrm>
            <a:off x="9771526" y="319591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362410317" name="Oval 41"/>
          <p:cNvSpPr/>
          <p:nvPr/>
        </p:nvSpPr>
        <p:spPr bwMode="auto">
          <a:xfrm>
            <a:off x="10318372" y="215755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585951334" name="Oval 42"/>
          <p:cNvSpPr/>
          <p:nvPr/>
        </p:nvSpPr>
        <p:spPr bwMode="auto">
          <a:xfrm>
            <a:off x="11008653" y="315557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591222692" name="Oval 43"/>
          <p:cNvSpPr/>
          <p:nvPr/>
        </p:nvSpPr>
        <p:spPr bwMode="auto">
          <a:xfrm>
            <a:off x="10313890" y="415962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cxnSp>
        <p:nvCxnSpPr>
          <p:cNvPr id="1988227357" name="Straight Arrow Connector 44"/>
          <p:cNvCxnSpPr>
            <a:stCxn id="826756670" idx="3"/>
            <a:endCxn id="298679833" idx="0"/>
          </p:cNvCxnSpPr>
          <p:nvPr/>
        </p:nvCxnSpPr>
        <p:spPr bwMode="auto">
          <a:xfrm flipH="1">
            <a:off x="9249986" y="1505816"/>
            <a:ext cx="451384" cy="6517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75463687" name="Straight Arrow Connector 45"/>
          <p:cNvCxnSpPr>
            <a:stCxn id="298679833" idx="3"/>
            <a:endCxn id="1401757396" idx="0"/>
          </p:cNvCxnSpPr>
          <p:nvPr/>
        </p:nvCxnSpPr>
        <p:spPr bwMode="auto">
          <a:xfrm flipH="1">
            <a:off x="8721069" y="2636913"/>
            <a:ext cx="330361" cy="53210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01847928" name="Straight Arrow Connector 46"/>
          <p:cNvCxnSpPr>
            <a:stCxn id="826756670" idx="5"/>
            <a:endCxn id="362410317" idx="0"/>
          </p:cNvCxnSpPr>
          <p:nvPr/>
        </p:nvCxnSpPr>
        <p:spPr bwMode="auto">
          <a:xfrm>
            <a:off x="10098482" y="1505816"/>
            <a:ext cx="500690" cy="6517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155776024" name="Straight Arrow Connector 47"/>
          <p:cNvCxnSpPr>
            <a:stCxn id="362410317" idx="3"/>
            <a:endCxn id="1164719949" idx="0"/>
          </p:cNvCxnSpPr>
          <p:nvPr/>
        </p:nvCxnSpPr>
        <p:spPr bwMode="auto">
          <a:xfrm flipH="1">
            <a:off x="10052326" y="2636913"/>
            <a:ext cx="348290" cy="55900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1117573" name="Straight Arrow Connector 48"/>
          <p:cNvCxnSpPr>
            <a:stCxn id="362410317" idx="5"/>
            <a:endCxn id="585951334" idx="0"/>
          </p:cNvCxnSpPr>
          <p:nvPr/>
        </p:nvCxnSpPr>
        <p:spPr bwMode="auto">
          <a:xfrm>
            <a:off x="10797728" y="2636913"/>
            <a:ext cx="491725" cy="51866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13564788" name="Straight Arrow Connector 49"/>
          <p:cNvCxnSpPr>
            <a:stCxn id="1164719949" idx="5"/>
            <a:endCxn id="591222692" idx="0"/>
          </p:cNvCxnSpPr>
          <p:nvPr/>
        </p:nvCxnSpPr>
        <p:spPr bwMode="auto">
          <a:xfrm>
            <a:off x="10250882" y="3675272"/>
            <a:ext cx="343808" cy="48434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14956525" name="TextBox 50"/>
          <p:cNvSpPr txBox="1"/>
          <p:nvPr/>
        </p:nvSpPr>
        <p:spPr bwMode="auto">
          <a:xfrm>
            <a:off x="10873010" y="5304607"/>
            <a:ext cx="340158" cy="400110"/>
          </a:xfrm>
          <a:prstGeom prst="rect">
            <a:avLst/>
          </a:prstGeom>
          <a:noFill/>
        </p:spPr>
        <p:txBody>
          <a:bodyPr wrap="none" rtlCol="0">
            <a:spAutoFit/>
          </a:bodyPr>
          <a:lstStyle/>
          <a:p>
            <a:pPr algn="ctr">
              <a:defRPr/>
            </a:pPr>
            <a:r>
              <a:rPr lang="en-IN" sz="2000" b="1">
                <a:solidFill>
                  <a:srgbClr val="C00000"/>
                </a:solidFill>
              </a:rPr>
              <a:t>A</a:t>
            </a:r>
            <a:endParaRPr lang="en-US" sz="2000" b="1">
              <a:solidFill>
                <a:srgbClr val="C00000"/>
              </a:solidFill>
            </a:endParaRPr>
          </a:p>
        </p:txBody>
      </p:sp>
      <p:sp>
        <p:nvSpPr>
          <p:cNvPr id="713348417" name="TextBox 51"/>
          <p:cNvSpPr txBox="1"/>
          <p:nvPr/>
        </p:nvSpPr>
        <p:spPr bwMode="auto">
          <a:xfrm>
            <a:off x="8845713" y="5304607"/>
            <a:ext cx="328936" cy="400110"/>
          </a:xfrm>
          <a:prstGeom prst="rect">
            <a:avLst/>
          </a:prstGeom>
          <a:noFill/>
        </p:spPr>
        <p:txBody>
          <a:bodyPr wrap="none" rtlCol="0">
            <a:spAutoFit/>
          </a:bodyPr>
          <a:lstStyle/>
          <a:p>
            <a:pPr algn="ctr">
              <a:defRPr/>
            </a:pPr>
            <a:r>
              <a:rPr lang="en-IN" sz="2000" b="1">
                <a:solidFill>
                  <a:srgbClr val="C00000"/>
                </a:solidFill>
              </a:rPr>
              <a:t>B</a:t>
            </a:r>
            <a:endParaRPr lang="en-US" sz="2000" b="1">
              <a:solidFill>
                <a:srgbClr val="C00000"/>
              </a:solidFill>
            </a:endParaRPr>
          </a:p>
        </p:txBody>
      </p:sp>
      <p:sp>
        <p:nvSpPr>
          <p:cNvPr id="1743517228" name="TextBox 52"/>
          <p:cNvSpPr txBox="1"/>
          <p:nvPr/>
        </p:nvSpPr>
        <p:spPr bwMode="auto">
          <a:xfrm>
            <a:off x="8434161" y="5322917"/>
            <a:ext cx="330540" cy="400110"/>
          </a:xfrm>
          <a:prstGeom prst="rect">
            <a:avLst/>
          </a:prstGeom>
          <a:noFill/>
        </p:spPr>
        <p:txBody>
          <a:bodyPr wrap="none" rtlCol="0">
            <a:spAutoFit/>
          </a:bodyPr>
          <a:lstStyle/>
          <a:p>
            <a:pPr algn="ctr">
              <a:defRPr/>
            </a:pPr>
            <a:r>
              <a:rPr lang="en-IN" sz="2000" b="1">
                <a:solidFill>
                  <a:srgbClr val="C00000"/>
                </a:solidFill>
              </a:rPr>
              <a:t>C</a:t>
            </a:r>
            <a:endParaRPr lang="en-US" sz="2000" b="1">
              <a:solidFill>
                <a:srgbClr val="C00000"/>
              </a:solidFill>
            </a:endParaRPr>
          </a:p>
        </p:txBody>
      </p:sp>
      <p:sp>
        <p:nvSpPr>
          <p:cNvPr id="244802000" name="Rectangle 53"/>
          <p:cNvSpPr/>
          <p:nvPr/>
        </p:nvSpPr>
        <p:spPr bwMode="auto">
          <a:xfrm>
            <a:off x="10463064" y="5304607"/>
            <a:ext cx="328936" cy="400110"/>
          </a:xfrm>
          <a:prstGeom prst="rect">
            <a:avLst/>
          </a:prstGeom>
        </p:spPr>
        <p:txBody>
          <a:bodyPr wrap="none">
            <a:spAutoFit/>
          </a:bodyPr>
          <a:lstStyle/>
          <a:p>
            <a:pPr>
              <a:defRPr/>
            </a:pPr>
            <a:r>
              <a:rPr lang="en-IN" sz="2000" b="1">
                <a:solidFill>
                  <a:srgbClr val="C00000"/>
                </a:solidFill>
              </a:rPr>
              <a:t>D</a:t>
            </a:r>
            <a:endParaRPr lang="en-US" sz="2000" b="1"/>
          </a:p>
        </p:txBody>
      </p:sp>
      <p:sp>
        <p:nvSpPr>
          <p:cNvPr id="320041480" name="Rectangle 54"/>
          <p:cNvSpPr/>
          <p:nvPr/>
        </p:nvSpPr>
        <p:spPr bwMode="auto">
          <a:xfrm>
            <a:off x="9643168" y="5304607"/>
            <a:ext cx="309700" cy="400110"/>
          </a:xfrm>
          <a:prstGeom prst="rect">
            <a:avLst/>
          </a:prstGeom>
        </p:spPr>
        <p:txBody>
          <a:bodyPr wrap="none">
            <a:spAutoFit/>
          </a:bodyPr>
          <a:lstStyle/>
          <a:p>
            <a:pPr>
              <a:defRPr/>
            </a:pPr>
            <a:r>
              <a:rPr lang="en-IN" sz="2000" b="1">
                <a:solidFill>
                  <a:srgbClr val="C00000"/>
                </a:solidFill>
              </a:rPr>
              <a:t>E</a:t>
            </a:r>
            <a:endParaRPr lang="en-US" sz="2000" b="1"/>
          </a:p>
        </p:txBody>
      </p:sp>
      <p:sp>
        <p:nvSpPr>
          <p:cNvPr id="599154928" name="Rectangle 55"/>
          <p:cNvSpPr/>
          <p:nvPr/>
        </p:nvSpPr>
        <p:spPr bwMode="auto">
          <a:xfrm>
            <a:off x="9255662" y="5304607"/>
            <a:ext cx="306494" cy="400110"/>
          </a:xfrm>
          <a:prstGeom prst="rect">
            <a:avLst/>
          </a:prstGeom>
        </p:spPr>
        <p:txBody>
          <a:bodyPr wrap="none">
            <a:spAutoFit/>
          </a:bodyPr>
          <a:lstStyle/>
          <a:p>
            <a:pPr>
              <a:defRPr/>
            </a:pPr>
            <a:r>
              <a:rPr lang="en-IN" sz="2000" b="1">
                <a:solidFill>
                  <a:srgbClr val="C00000"/>
                </a:solidFill>
              </a:rPr>
              <a:t>F</a:t>
            </a:r>
            <a:endParaRPr lang="en-US" sz="2000" b="1"/>
          </a:p>
        </p:txBody>
      </p:sp>
      <p:sp>
        <p:nvSpPr>
          <p:cNvPr id="1485519487" name="Rectangle 56"/>
          <p:cNvSpPr/>
          <p:nvPr/>
        </p:nvSpPr>
        <p:spPr bwMode="auto">
          <a:xfrm>
            <a:off x="10033880" y="5304607"/>
            <a:ext cx="348172" cy="400110"/>
          </a:xfrm>
          <a:prstGeom prst="rect">
            <a:avLst/>
          </a:prstGeom>
        </p:spPr>
        <p:txBody>
          <a:bodyPr wrap="none">
            <a:spAutoFit/>
          </a:bodyPr>
          <a:lstStyle/>
          <a:p>
            <a:pPr>
              <a:defRPr/>
            </a:pPr>
            <a:r>
              <a:rPr lang="en-IN" sz="2000" b="1">
                <a:solidFill>
                  <a:srgbClr val="C00000"/>
                </a:solidFill>
              </a:rPr>
              <a:t>G</a:t>
            </a:r>
            <a:endParaRPr lang="en-US" sz="2000" b="1"/>
          </a:p>
        </p:txBody>
      </p:sp>
      <p:sp>
        <p:nvSpPr>
          <p:cNvPr id="63349052" name="TextBox 57"/>
          <p:cNvSpPr txBox="1"/>
          <p:nvPr/>
        </p:nvSpPr>
        <p:spPr bwMode="auto">
          <a:xfrm>
            <a:off x="7876089" y="4822014"/>
            <a:ext cx="4059822" cy="400110"/>
          </a:xfrm>
          <a:prstGeom prst="rect">
            <a:avLst/>
          </a:prstGeom>
          <a:noFill/>
        </p:spPr>
        <p:txBody>
          <a:bodyPr wrap="square" rtlCol="0">
            <a:spAutoFit/>
          </a:bodyPr>
          <a:lstStyle/>
          <a:p>
            <a:pPr>
              <a:defRPr/>
            </a:pPr>
            <a:r>
              <a:rPr lang="en-IN" sz="2000" b="1"/>
              <a:t>Postorder</a:t>
            </a:r>
            <a:r>
              <a:rPr lang="en-IN" sz="2000" b="1"/>
              <a:t> traversal of a </a:t>
            </a:r>
            <a:r>
              <a:rPr lang="en-IN" sz="2000" b="1"/>
              <a:t>given </a:t>
            </a:r>
            <a:r>
              <a:rPr lang="en-IN" sz="2000" b="1"/>
              <a:t>tree as</a:t>
            </a:r>
            <a:endParaRPr lang="en-US" sz="2000" b="1"/>
          </a:p>
        </p:txBody>
      </p:sp>
      <p:sp>
        <p:nvSpPr>
          <p:cNvPr id="1209969759" name="TextBox 58"/>
          <p:cNvSpPr txBox="1"/>
          <p:nvPr/>
        </p:nvSpPr>
        <p:spPr bwMode="auto">
          <a:xfrm>
            <a:off x="10178249" y="1122594"/>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347881867" name="TextBox 59"/>
          <p:cNvSpPr txBox="1"/>
          <p:nvPr/>
        </p:nvSpPr>
        <p:spPr bwMode="auto">
          <a:xfrm>
            <a:off x="9538833" y="2253691"/>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838780176" name="TextBox 60"/>
          <p:cNvSpPr txBox="1"/>
          <p:nvPr/>
        </p:nvSpPr>
        <p:spPr bwMode="auto">
          <a:xfrm>
            <a:off x="9002148" y="3265156"/>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1288008823" name="TextBox 61"/>
          <p:cNvSpPr txBox="1"/>
          <p:nvPr/>
        </p:nvSpPr>
        <p:spPr bwMode="auto">
          <a:xfrm>
            <a:off x="10873010" y="2253691"/>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1940867177" name="TextBox 62"/>
          <p:cNvSpPr txBox="1"/>
          <p:nvPr/>
        </p:nvSpPr>
        <p:spPr bwMode="auto">
          <a:xfrm>
            <a:off x="10317178" y="3292050"/>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1454740289" name="TextBox 63"/>
          <p:cNvSpPr txBox="1"/>
          <p:nvPr/>
        </p:nvSpPr>
        <p:spPr bwMode="auto">
          <a:xfrm>
            <a:off x="10883546" y="4255755"/>
            <a:ext cx="357790" cy="369332"/>
          </a:xfrm>
          <a:prstGeom prst="rect">
            <a:avLst/>
          </a:prstGeom>
          <a:noFill/>
        </p:spPr>
        <p:txBody>
          <a:bodyPr wrap="none" rtlCol="0">
            <a:spAutoFit/>
          </a:bodyPr>
          <a:lstStyle/>
          <a:p>
            <a:pPr>
              <a:defRPr/>
            </a:pPr>
            <a:r>
              <a:rPr lang="en-US">
                <a:solidFill>
                  <a:srgbClr val="C00000"/>
                </a:solidFill>
              </a:rPr>
              <a:t>✓</a:t>
            </a:r>
            <a:endParaRPr/>
          </a:p>
        </p:txBody>
      </p:sp>
      <p:sp>
        <p:nvSpPr>
          <p:cNvPr id="1690412486" name="TextBox 64"/>
          <p:cNvSpPr txBox="1"/>
          <p:nvPr/>
        </p:nvSpPr>
        <p:spPr bwMode="auto">
          <a:xfrm>
            <a:off x="11546148" y="3251709"/>
            <a:ext cx="357790" cy="369332"/>
          </a:xfrm>
          <a:prstGeom prst="rect">
            <a:avLst/>
          </a:prstGeom>
          <a:noFill/>
        </p:spPr>
        <p:txBody>
          <a:bodyPr wrap="none" rtlCol="0">
            <a:spAutoFit/>
          </a:bodyPr>
          <a:lstStyle/>
          <a:p>
            <a:pPr>
              <a:defRPr/>
            </a:pPr>
            <a:r>
              <a:rPr lang="en-US">
                <a:solidFill>
                  <a:srgbClr val="C00000"/>
                </a:solidFill>
              </a:rPr>
              <a:t>✓</a:t>
            </a:r>
            <a:endParaRPr/>
          </a:p>
        </p:txBody>
      </p:sp>
      <p:cxnSp>
        <p:nvCxnSpPr>
          <p:cNvPr id="1587686928" name="Straight Connector 65"/>
          <p:cNvCxnSpPr/>
          <p:nvPr/>
        </p:nvCxnSpPr>
        <p:spPr bwMode="auto">
          <a:xfrm>
            <a:off x="7620000" y="1066800"/>
            <a:ext cx="0" cy="518160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67566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9867983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175739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6471994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241031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859513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9122269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8822735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7546368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0184792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557760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8111757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31356478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8768692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35745543">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35745543">
                                            <p:txEl>
                                              <p:pRg st="1" end="1"/>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35745543">
                                            <p:txEl>
                                              <p:pRg st="2" end="2"/>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35745543">
                                            <p:txEl>
                                              <p:pRg st="3" end="3"/>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3349052"/>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mph" presetSubtype="2" fill="hold" grpId="1" nodeType="clickEffect">
                                  <p:stCondLst>
                                    <p:cond delay="0"/>
                                  </p:stCondLst>
                                  <p:childTnLst>
                                    <p:animClr clrSpc="rgb" dir="cw">
                                      <p:cBhvr>
                                        <p:cTn id="58" dur="2000" fill="hold"/>
                                        <p:tgtEl>
                                          <p:spTgt spid="1401757396"/>
                                        </p:tgtEl>
                                        <p:attrNameLst>
                                          <p:attrName>fillcolor</p:attrName>
                                        </p:attrNameLst>
                                      </p:cBhvr>
                                      <p:to>
                                        <a:schemeClr val="accent2"/>
                                      </p:to>
                                    </p:animClr>
                                    <p:set>
                                      <p:cBhvr>
                                        <p:cTn id="59" dur="2000" fill="hold"/>
                                        <p:tgtEl>
                                          <p:spTgt spid="1401757396"/>
                                        </p:tgtEl>
                                        <p:attrNameLst>
                                          <p:attrName>fill.type</p:attrName>
                                        </p:attrNameLst>
                                      </p:cBhvr>
                                      <p:to>
                                        <p:strVal val="solid"/>
                                      </p:to>
                                    </p:set>
                                    <p:set>
                                      <p:cBhvr>
                                        <p:cTn id="60" dur="2000" fill="hold"/>
                                        <p:tgtEl>
                                          <p:spTgt spid="1401757396"/>
                                        </p:tgtEl>
                                        <p:attrNameLst>
                                          <p:attrName>fill.on</p:attrName>
                                        </p:attrNameLst>
                                      </p:cBhvr>
                                      <p:to>
                                        <p:strVal val="true"/>
                                      </p:to>
                                    </p:set>
                                  </p:childTnLst>
                                </p:cTn>
                              </p:par>
                            </p:childTnLst>
                          </p:cTn>
                        </p:par>
                      </p:childTnLst>
                    </p:cTn>
                  </p:par>
                  <p:par>
                    <p:cTn id="61" fill="hold">
                      <p:stCondLst>
                        <p:cond delay="indefinite"/>
                      </p:stCondLst>
                      <p:childTnLst>
                        <p:par>
                          <p:cTn id="62" fill="hold">
                            <p:stCondLst>
                              <p:cond delay="0"/>
                            </p:stCondLst>
                            <p:childTnLst>
                              <p:par>
                                <p:cTn id="63" presetID="22" presetClass="entr" presetSubtype="4" fill="hold" grpId="0" nodeType="clickEffect">
                                  <p:stCondLst>
                                    <p:cond delay="0"/>
                                  </p:stCondLst>
                                  <p:childTnLst>
                                    <p:set>
                                      <p:cBhvr>
                                        <p:cTn id="64" dur="1" fill="hold">
                                          <p:stCondLst>
                                            <p:cond delay="0"/>
                                          </p:stCondLst>
                                        </p:cTn>
                                        <p:tgtEl>
                                          <p:spTgt spid="838780176"/>
                                        </p:tgtEl>
                                        <p:attrNameLst>
                                          <p:attrName>style.visibility</p:attrName>
                                        </p:attrNameLst>
                                      </p:cBhvr>
                                      <p:to>
                                        <p:strVal val="visible"/>
                                      </p:to>
                                    </p:set>
                                    <p:animEffect transition="in" filter="wipe(down)">
                                      <p:cBhvr>
                                        <p:cTn id="65" dur="500"/>
                                        <p:tgtEl>
                                          <p:spTgt spid="838780176"/>
                                        </p:tgtEl>
                                      </p:cBhvr>
                                    </p:animEffect>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1743517228"/>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mph" presetSubtype="2" fill="hold" grpId="1" nodeType="clickEffect">
                                  <p:stCondLst>
                                    <p:cond delay="0"/>
                                  </p:stCondLst>
                                  <p:childTnLst>
                                    <p:animClr clrSpc="rgb" dir="cw">
                                      <p:cBhvr>
                                        <p:cTn id="73" dur="2000" fill="hold"/>
                                        <p:tgtEl>
                                          <p:spTgt spid="298679833"/>
                                        </p:tgtEl>
                                        <p:attrNameLst>
                                          <p:attrName>fillcolor</p:attrName>
                                        </p:attrNameLst>
                                      </p:cBhvr>
                                      <p:to>
                                        <a:schemeClr val="accent2"/>
                                      </p:to>
                                    </p:animClr>
                                    <p:set>
                                      <p:cBhvr>
                                        <p:cTn id="74" dur="2000" fill="hold"/>
                                        <p:tgtEl>
                                          <p:spTgt spid="298679833"/>
                                        </p:tgtEl>
                                        <p:attrNameLst>
                                          <p:attrName>fill.type</p:attrName>
                                        </p:attrNameLst>
                                      </p:cBhvr>
                                      <p:to>
                                        <p:strVal val="solid"/>
                                      </p:to>
                                    </p:set>
                                    <p:set>
                                      <p:cBhvr>
                                        <p:cTn id="75" dur="2000" fill="hold"/>
                                        <p:tgtEl>
                                          <p:spTgt spid="298679833"/>
                                        </p:tgtEl>
                                        <p:attrNameLst>
                                          <p:attrName>fill.on</p:attrName>
                                        </p:attrNameLst>
                                      </p:cBhvr>
                                      <p:to>
                                        <p:strVal val="true"/>
                                      </p:to>
                                    </p:set>
                                  </p:childTnLst>
                                </p:cTn>
                              </p:par>
                            </p:childTnLst>
                          </p:cTn>
                        </p:par>
                      </p:childTnLst>
                    </p:cTn>
                  </p:par>
                  <p:par>
                    <p:cTn id="76" fill="hold">
                      <p:stCondLst>
                        <p:cond delay="indefinite"/>
                      </p:stCondLst>
                      <p:childTnLst>
                        <p:par>
                          <p:cTn id="77" fill="hold">
                            <p:stCondLst>
                              <p:cond delay="0"/>
                            </p:stCondLst>
                            <p:childTnLst>
                              <p:par>
                                <p:cTn id="78" presetID="22" presetClass="entr" presetSubtype="4" fill="hold" grpId="0" nodeType="clickEffect">
                                  <p:stCondLst>
                                    <p:cond delay="0"/>
                                  </p:stCondLst>
                                  <p:childTnLst>
                                    <p:set>
                                      <p:cBhvr>
                                        <p:cTn id="79" dur="1" fill="hold">
                                          <p:stCondLst>
                                            <p:cond delay="0"/>
                                          </p:stCondLst>
                                        </p:cTn>
                                        <p:tgtEl>
                                          <p:spTgt spid="347881867"/>
                                        </p:tgtEl>
                                        <p:attrNameLst>
                                          <p:attrName>style.visibility</p:attrName>
                                        </p:attrNameLst>
                                      </p:cBhvr>
                                      <p:to>
                                        <p:strVal val="visible"/>
                                      </p:to>
                                    </p:set>
                                    <p:animEffect transition="in" filter="wipe(down)">
                                      <p:cBhvr>
                                        <p:cTn id="80" dur="500"/>
                                        <p:tgtEl>
                                          <p:spTgt spid="347881867"/>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713348417"/>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mph" presetSubtype="2" fill="hold" grpId="1" nodeType="clickEffect">
                                  <p:stCondLst>
                                    <p:cond delay="0"/>
                                  </p:stCondLst>
                                  <p:childTnLst>
                                    <p:animClr clrSpc="rgb" dir="cw">
                                      <p:cBhvr>
                                        <p:cTn id="88" dur="2000" fill="hold"/>
                                        <p:tgtEl>
                                          <p:spTgt spid="591222692"/>
                                        </p:tgtEl>
                                        <p:attrNameLst>
                                          <p:attrName>fillcolor</p:attrName>
                                        </p:attrNameLst>
                                      </p:cBhvr>
                                      <p:to>
                                        <a:schemeClr val="accent2"/>
                                      </p:to>
                                    </p:animClr>
                                    <p:set>
                                      <p:cBhvr>
                                        <p:cTn id="89" dur="2000" fill="hold"/>
                                        <p:tgtEl>
                                          <p:spTgt spid="591222692"/>
                                        </p:tgtEl>
                                        <p:attrNameLst>
                                          <p:attrName>fill.type</p:attrName>
                                        </p:attrNameLst>
                                      </p:cBhvr>
                                      <p:to>
                                        <p:strVal val="solid"/>
                                      </p:to>
                                    </p:set>
                                    <p:set>
                                      <p:cBhvr>
                                        <p:cTn id="90" dur="2000" fill="hold"/>
                                        <p:tgtEl>
                                          <p:spTgt spid="591222692"/>
                                        </p:tgtEl>
                                        <p:attrNameLst>
                                          <p:attrName>fill.on</p:attrName>
                                        </p:attrNameLst>
                                      </p:cBhvr>
                                      <p:to>
                                        <p:strVal val="true"/>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4" fill="hold" grpId="0" nodeType="clickEffect">
                                  <p:stCondLst>
                                    <p:cond delay="0"/>
                                  </p:stCondLst>
                                  <p:childTnLst>
                                    <p:set>
                                      <p:cBhvr>
                                        <p:cTn id="94" dur="1" fill="hold">
                                          <p:stCondLst>
                                            <p:cond delay="0"/>
                                          </p:stCondLst>
                                        </p:cTn>
                                        <p:tgtEl>
                                          <p:spTgt spid="1454740289"/>
                                        </p:tgtEl>
                                        <p:attrNameLst>
                                          <p:attrName>style.visibility</p:attrName>
                                        </p:attrNameLst>
                                      </p:cBhvr>
                                      <p:to>
                                        <p:strVal val="visible"/>
                                      </p:to>
                                    </p:set>
                                    <p:animEffect transition="in" filter="wipe(down)">
                                      <p:cBhvr>
                                        <p:cTn id="95" dur="500"/>
                                        <p:tgtEl>
                                          <p:spTgt spid="1454740289"/>
                                        </p:tgtEl>
                                      </p:cBhvr>
                                    </p:animEffect>
                                  </p:childTnLst>
                                </p:cTn>
                              </p:par>
                            </p:childTnLst>
                          </p:cTn>
                        </p:par>
                      </p:childTnLst>
                    </p:cTn>
                  </p:par>
                  <p:par>
                    <p:cTn id="96" fill="hold">
                      <p:stCondLst>
                        <p:cond delay="indefinite"/>
                      </p:stCondLst>
                      <p:childTnLst>
                        <p:par>
                          <p:cTn id="97" fill="hold">
                            <p:stCondLst>
                              <p:cond delay="0"/>
                            </p:stCondLst>
                            <p:childTnLst>
                              <p:par>
                                <p:cTn id="98" presetID="1" presetClass="entr" presetSubtype="0" fill="hold" grpId="0" nodeType="clickEffect">
                                  <p:stCondLst>
                                    <p:cond delay="0"/>
                                  </p:stCondLst>
                                  <p:childTnLst>
                                    <p:set>
                                      <p:cBhvr>
                                        <p:cTn id="99" dur="1" fill="hold">
                                          <p:stCondLst>
                                            <p:cond delay="0"/>
                                          </p:stCondLst>
                                        </p:cTn>
                                        <p:tgtEl>
                                          <p:spTgt spid="599154928"/>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mph" presetSubtype="2" fill="hold" grpId="1" nodeType="clickEffect">
                                  <p:stCondLst>
                                    <p:cond delay="0"/>
                                  </p:stCondLst>
                                  <p:childTnLst>
                                    <p:animClr clrSpc="rgb" dir="cw">
                                      <p:cBhvr>
                                        <p:cTn id="103" dur="2000" fill="hold"/>
                                        <p:tgtEl>
                                          <p:spTgt spid="1164719949"/>
                                        </p:tgtEl>
                                        <p:attrNameLst>
                                          <p:attrName>fillcolor</p:attrName>
                                        </p:attrNameLst>
                                      </p:cBhvr>
                                      <p:to>
                                        <a:schemeClr val="accent2"/>
                                      </p:to>
                                    </p:animClr>
                                    <p:set>
                                      <p:cBhvr>
                                        <p:cTn id="104" dur="2000" fill="hold"/>
                                        <p:tgtEl>
                                          <p:spTgt spid="1164719949"/>
                                        </p:tgtEl>
                                        <p:attrNameLst>
                                          <p:attrName>fill.type</p:attrName>
                                        </p:attrNameLst>
                                      </p:cBhvr>
                                      <p:to>
                                        <p:strVal val="solid"/>
                                      </p:to>
                                    </p:set>
                                    <p:set>
                                      <p:cBhvr>
                                        <p:cTn id="105" dur="2000" fill="hold"/>
                                        <p:tgtEl>
                                          <p:spTgt spid="1164719949"/>
                                        </p:tgtEl>
                                        <p:attrNameLst>
                                          <p:attrName>fill.on</p:attrName>
                                        </p:attrNameLst>
                                      </p:cBhvr>
                                      <p:to>
                                        <p:strVal val="true"/>
                                      </p:to>
                                    </p:set>
                                  </p:childTnLst>
                                </p:cTn>
                              </p:par>
                            </p:childTnLst>
                          </p:cTn>
                        </p:par>
                      </p:childTnLst>
                    </p:cTn>
                  </p:par>
                  <p:par>
                    <p:cTn id="106" fill="hold">
                      <p:stCondLst>
                        <p:cond delay="indefinite"/>
                      </p:stCondLst>
                      <p:childTnLst>
                        <p:par>
                          <p:cTn id="107" fill="hold">
                            <p:stCondLst>
                              <p:cond delay="0"/>
                            </p:stCondLst>
                            <p:childTnLst>
                              <p:par>
                                <p:cTn id="108" presetID="22" presetClass="entr" presetSubtype="4" fill="hold" grpId="0" nodeType="clickEffect">
                                  <p:stCondLst>
                                    <p:cond delay="0"/>
                                  </p:stCondLst>
                                  <p:childTnLst>
                                    <p:set>
                                      <p:cBhvr>
                                        <p:cTn id="109" dur="1" fill="hold">
                                          <p:stCondLst>
                                            <p:cond delay="0"/>
                                          </p:stCondLst>
                                        </p:cTn>
                                        <p:tgtEl>
                                          <p:spTgt spid="1940867177"/>
                                        </p:tgtEl>
                                        <p:attrNameLst>
                                          <p:attrName>style.visibility</p:attrName>
                                        </p:attrNameLst>
                                      </p:cBhvr>
                                      <p:to>
                                        <p:strVal val="visible"/>
                                      </p:to>
                                    </p:set>
                                    <p:animEffect transition="in" filter="wipe(down)">
                                      <p:cBhvr>
                                        <p:cTn id="110" dur="500"/>
                                        <p:tgtEl>
                                          <p:spTgt spid="1940867177"/>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320041480"/>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mph" presetSubtype="2" fill="hold" grpId="1" nodeType="clickEffect">
                                  <p:stCondLst>
                                    <p:cond delay="0"/>
                                  </p:stCondLst>
                                  <p:childTnLst>
                                    <p:animClr clrSpc="rgb" dir="cw">
                                      <p:cBhvr>
                                        <p:cTn id="118" dur="2000" fill="hold"/>
                                        <p:tgtEl>
                                          <p:spTgt spid="585951334"/>
                                        </p:tgtEl>
                                        <p:attrNameLst>
                                          <p:attrName>fillcolor</p:attrName>
                                        </p:attrNameLst>
                                      </p:cBhvr>
                                      <p:to>
                                        <a:schemeClr val="accent2"/>
                                      </p:to>
                                    </p:animClr>
                                    <p:set>
                                      <p:cBhvr>
                                        <p:cTn id="119" dur="2000" fill="hold"/>
                                        <p:tgtEl>
                                          <p:spTgt spid="585951334"/>
                                        </p:tgtEl>
                                        <p:attrNameLst>
                                          <p:attrName>fill.type</p:attrName>
                                        </p:attrNameLst>
                                      </p:cBhvr>
                                      <p:to>
                                        <p:strVal val="solid"/>
                                      </p:to>
                                    </p:set>
                                    <p:set>
                                      <p:cBhvr>
                                        <p:cTn id="120" dur="2000" fill="hold"/>
                                        <p:tgtEl>
                                          <p:spTgt spid="585951334"/>
                                        </p:tgtEl>
                                        <p:attrNameLst>
                                          <p:attrName>fill.on</p:attrName>
                                        </p:attrNameLst>
                                      </p:cBhvr>
                                      <p:to>
                                        <p:strVal val="true"/>
                                      </p:to>
                                    </p:set>
                                  </p:childTnLst>
                                </p:cTn>
                              </p:par>
                            </p:childTnLst>
                          </p:cTn>
                        </p:par>
                      </p:childTnLst>
                    </p:cTn>
                  </p:par>
                  <p:par>
                    <p:cTn id="121" fill="hold">
                      <p:stCondLst>
                        <p:cond delay="indefinite"/>
                      </p:stCondLst>
                      <p:childTnLst>
                        <p:par>
                          <p:cTn id="122" fill="hold">
                            <p:stCondLst>
                              <p:cond delay="0"/>
                            </p:stCondLst>
                            <p:childTnLst>
                              <p:par>
                                <p:cTn id="123" presetID="22" presetClass="entr" presetSubtype="4" fill="hold" grpId="0" nodeType="clickEffect">
                                  <p:stCondLst>
                                    <p:cond delay="0"/>
                                  </p:stCondLst>
                                  <p:childTnLst>
                                    <p:set>
                                      <p:cBhvr>
                                        <p:cTn id="124" dur="1" fill="hold">
                                          <p:stCondLst>
                                            <p:cond delay="0"/>
                                          </p:stCondLst>
                                        </p:cTn>
                                        <p:tgtEl>
                                          <p:spTgt spid="1690412486"/>
                                        </p:tgtEl>
                                        <p:attrNameLst>
                                          <p:attrName>style.visibility</p:attrName>
                                        </p:attrNameLst>
                                      </p:cBhvr>
                                      <p:to>
                                        <p:strVal val="visible"/>
                                      </p:to>
                                    </p:set>
                                    <p:animEffect transition="in" filter="wipe(down)">
                                      <p:cBhvr>
                                        <p:cTn id="125" dur="500"/>
                                        <p:tgtEl>
                                          <p:spTgt spid="1690412486"/>
                                        </p:tgtEl>
                                      </p:cBhvr>
                                    </p:animEffect>
                                  </p:childTnLst>
                                </p:cTn>
                              </p:par>
                            </p:childTnLst>
                          </p:cTn>
                        </p:par>
                      </p:childTnLst>
                    </p:cTn>
                  </p:par>
                  <p:par>
                    <p:cTn id="126" fill="hold">
                      <p:stCondLst>
                        <p:cond delay="indefinite"/>
                      </p:stCondLst>
                      <p:childTnLst>
                        <p:par>
                          <p:cTn id="127" fill="hold">
                            <p:stCondLst>
                              <p:cond delay="0"/>
                            </p:stCondLst>
                            <p:childTnLst>
                              <p:par>
                                <p:cTn id="128" presetID="1" presetClass="entr" presetSubtype="0" fill="hold" grpId="0" nodeType="clickEffect">
                                  <p:stCondLst>
                                    <p:cond delay="0"/>
                                  </p:stCondLst>
                                  <p:childTnLst>
                                    <p:set>
                                      <p:cBhvr>
                                        <p:cTn id="129" dur="1" fill="hold">
                                          <p:stCondLst>
                                            <p:cond delay="0"/>
                                          </p:stCondLst>
                                        </p:cTn>
                                        <p:tgtEl>
                                          <p:spTgt spid="1485519487"/>
                                        </p:tgtEl>
                                        <p:attrNameLst>
                                          <p:attrName>style.visibility</p:attrName>
                                        </p:attrNameLst>
                                      </p:cBhvr>
                                      <p:to>
                                        <p:strVal val="visible"/>
                                      </p:to>
                                    </p:set>
                                  </p:childTnLst>
                                </p:cTn>
                              </p:par>
                            </p:childTnLst>
                          </p:cTn>
                        </p:par>
                      </p:childTnLst>
                    </p:cTn>
                  </p:par>
                  <p:par>
                    <p:cTn id="130" fill="hold">
                      <p:stCondLst>
                        <p:cond delay="indefinite"/>
                      </p:stCondLst>
                      <p:childTnLst>
                        <p:par>
                          <p:cTn id="131" fill="hold">
                            <p:stCondLst>
                              <p:cond delay="0"/>
                            </p:stCondLst>
                            <p:childTnLst>
                              <p:par>
                                <p:cTn id="132" presetID="1" presetClass="emph" presetSubtype="2" fill="hold" grpId="1" nodeType="clickEffect">
                                  <p:stCondLst>
                                    <p:cond delay="0"/>
                                  </p:stCondLst>
                                  <p:childTnLst>
                                    <p:animClr clrSpc="rgb" dir="cw">
                                      <p:cBhvr>
                                        <p:cTn id="133" dur="2000" fill="hold"/>
                                        <p:tgtEl>
                                          <p:spTgt spid="362410317"/>
                                        </p:tgtEl>
                                        <p:attrNameLst>
                                          <p:attrName>fillcolor</p:attrName>
                                        </p:attrNameLst>
                                      </p:cBhvr>
                                      <p:to>
                                        <a:schemeClr val="accent2"/>
                                      </p:to>
                                    </p:animClr>
                                    <p:set>
                                      <p:cBhvr>
                                        <p:cTn id="134" dur="2000" fill="hold"/>
                                        <p:tgtEl>
                                          <p:spTgt spid="362410317"/>
                                        </p:tgtEl>
                                        <p:attrNameLst>
                                          <p:attrName>fill.type</p:attrName>
                                        </p:attrNameLst>
                                      </p:cBhvr>
                                      <p:to>
                                        <p:strVal val="solid"/>
                                      </p:to>
                                    </p:set>
                                    <p:set>
                                      <p:cBhvr>
                                        <p:cTn id="135" dur="2000" fill="hold"/>
                                        <p:tgtEl>
                                          <p:spTgt spid="362410317"/>
                                        </p:tgtEl>
                                        <p:attrNameLst>
                                          <p:attrName>fill.on</p:attrName>
                                        </p:attrNameLst>
                                      </p:cBhvr>
                                      <p:to>
                                        <p:strVal val="true"/>
                                      </p:to>
                                    </p:set>
                                  </p:childTnLst>
                                </p:cTn>
                              </p:par>
                            </p:childTnLst>
                          </p:cTn>
                        </p:par>
                      </p:childTnLst>
                    </p:cTn>
                  </p:par>
                  <p:par>
                    <p:cTn id="136" fill="hold">
                      <p:stCondLst>
                        <p:cond delay="indefinite"/>
                      </p:stCondLst>
                      <p:childTnLst>
                        <p:par>
                          <p:cTn id="137" fill="hold">
                            <p:stCondLst>
                              <p:cond delay="0"/>
                            </p:stCondLst>
                            <p:childTnLst>
                              <p:par>
                                <p:cTn id="138" presetID="22" presetClass="entr" presetSubtype="4" fill="hold" grpId="0" nodeType="clickEffect">
                                  <p:stCondLst>
                                    <p:cond delay="0"/>
                                  </p:stCondLst>
                                  <p:childTnLst>
                                    <p:set>
                                      <p:cBhvr>
                                        <p:cTn id="139" dur="1" fill="hold">
                                          <p:stCondLst>
                                            <p:cond delay="0"/>
                                          </p:stCondLst>
                                        </p:cTn>
                                        <p:tgtEl>
                                          <p:spTgt spid="1288008823"/>
                                        </p:tgtEl>
                                        <p:attrNameLst>
                                          <p:attrName>style.visibility</p:attrName>
                                        </p:attrNameLst>
                                      </p:cBhvr>
                                      <p:to>
                                        <p:strVal val="visible"/>
                                      </p:to>
                                    </p:set>
                                    <p:animEffect transition="in" filter="wipe(down)">
                                      <p:cBhvr>
                                        <p:cTn id="140" dur="500"/>
                                        <p:tgtEl>
                                          <p:spTgt spid="1288008823"/>
                                        </p:tgtEl>
                                      </p:cBhvr>
                                    </p:animEffec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grpId="0" nodeType="clickEffect">
                                  <p:stCondLst>
                                    <p:cond delay="0"/>
                                  </p:stCondLst>
                                  <p:childTnLst>
                                    <p:set>
                                      <p:cBhvr>
                                        <p:cTn id="144" dur="1" fill="hold">
                                          <p:stCondLst>
                                            <p:cond delay="0"/>
                                          </p:stCondLst>
                                        </p:cTn>
                                        <p:tgtEl>
                                          <p:spTgt spid="244802000"/>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mph" presetSubtype="2" fill="hold" grpId="1" nodeType="clickEffect">
                                  <p:stCondLst>
                                    <p:cond delay="0"/>
                                  </p:stCondLst>
                                  <p:childTnLst>
                                    <p:animClr clrSpc="rgb" dir="cw">
                                      <p:cBhvr>
                                        <p:cTn id="148" dur="2000" fill="hold"/>
                                        <p:tgtEl>
                                          <p:spTgt spid="826756670"/>
                                        </p:tgtEl>
                                        <p:attrNameLst>
                                          <p:attrName>fillcolor</p:attrName>
                                        </p:attrNameLst>
                                      </p:cBhvr>
                                      <p:to>
                                        <a:schemeClr val="accent2"/>
                                      </p:to>
                                    </p:animClr>
                                    <p:set>
                                      <p:cBhvr>
                                        <p:cTn id="149" dur="2000" fill="hold"/>
                                        <p:tgtEl>
                                          <p:spTgt spid="826756670"/>
                                        </p:tgtEl>
                                        <p:attrNameLst>
                                          <p:attrName>fill.type</p:attrName>
                                        </p:attrNameLst>
                                      </p:cBhvr>
                                      <p:to>
                                        <p:strVal val="solid"/>
                                      </p:to>
                                    </p:set>
                                    <p:set>
                                      <p:cBhvr>
                                        <p:cTn id="150" dur="2000" fill="hold"/>
                                        <p:tgtEl>
                                          <p:spTgt spid="826756670"/>
                                        </p:tgtEl>
                                        <p:attrNameLst>
                                          <p:attrName>fill.on</p:attrName>
                                        </p:attrNameLst>
                                      </p:cBhvr>
                                      <p:to>
                                        <p:strVal val="true"/>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4" fill="hold" grpId="0" nodeType="clickEffect">
                                  <p:stCondLst>
                                    <p:cond delay="0"/>
                                  </p:stCondLst>
                                  <p:childTnLst>
                                    <p:set>
                                      <p:cBhvr>
                                        <p:cTn id="154" dur="1" fill="hold">
                                          <p:stCondLst>
                                            <p:cond delay="0"/>
                                          </p:stCondLst>
                                        </p:cTn>
                                        <p:tgtEl>
                                          <p:spTgt spid="1209969759"/>
                                        </p:tgtEl>
                                        <p:attrNameLst>
                                          <p:attrName>style.visibility</p:attrName>
                                        </p:attrNameLst>
                                      </p:cBhvr>
                                      <p:to>
                                        <p:strVal val="visible"/>
                                      </p:to>
                                    </p:set>
                                    <p:animEffect transition="in" filter="wipe(down)">
                                      <p:cBhvr>
                                        <p:cTn id="155" dur="500"/>
                                        <p:tgtEl>
                                          <p:spTgt spid="1209969759"/>
                                        </p:tgtEl>
                                      </p:cBhvr>
                                    </p:animEffec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4149565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6756670" grpId="0" animBg="1"/>
      <p:bldP spid="826756670" grpId="1" animBg="1"/>
      <p:bldP spid="298679833" grpId="0" animBg="1"/>
      <p:bldP spid="298679833" grpId="1" animBg="1"/>
      <p:bldP spid="1401757396" grpId="0" animBg="1"/>
      <p:bldP spid="1401757396" grpId="1" animBg="1"/>
      <p:bldP spid="1164719949" grpId="0" animBg="1"/>
      <p:bldP spid="1164719949" grpId="1" animBg="1"/>
      <p:bldP spid="362410317" grpId="0" animBg="1"/>
      <p:bldP spid="362410317" grpId="1" animBg="1"/>
      <p:bldP spid="585951334" grpId="0" animBg="1"/>
      <p:bldP spid="585951334" grpId="1" animBg="1"/>
      <p:bldP spid="591222692" grpId="0" animBg="1"/>
      <p:bldP spid="591222692" grpId="1" animBg="1"/>
      <p:bldP spid="414956525" grpId="0"/>
      <p:bldP spid="713348417" grpId="0"/>
      <p:bldP spid="1743517228" grpId="0"/>
      <p:bldP spid="244802000" grpId="0"/>
      <p:bldP spid="320041480" grpId="0"/>
      <p:bldP spid="599154928" grpId="0"/>
      <p:bldP spid="1485519487" grpId="0"/>
      <p:bldP spid="63349052" grpId="0"/>
      <p:bldP spid="1209969759" grpId="0"/>
      <p:bldP spid="347881867" grpId="0"/>
      <p:bldP spid="838780176" grpId="0"/>
      <p:bldP spid="1288008823" grpId="0"/>
      <p:bldP spid="1940867177" grpId="0"/>
      <p:bldP spid="1454740289" grpId="0"/>
      <p:bldP spid="1690412486" grpId="0"/>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11820376" name="Title 1"/>
          <p:cNvSpPr>
            <a:spLocks noGrp="1"/>
          </p:cNvSpPr>
          <p:nvPr>
            <p:ph type="title"/>
          </p:nvPr>
        </p:nvSpPr>
        <p:spPr bwMode="auto"/>
        <p:txBody>
          <a:bodyPr/>
          <a:lstStyle/>
          <a:p>
            <a:pPr>
              <a:defRPr/>
            </a:pPr>
            <a:r>
              <a:rPr lang="en-US"/>
              <a:t>Converse Traversal</a:t>
            </a:r>
            <a:endParaRPr/>
          </a:p>
        </p:txBody>
      </p:sp>
      <p:sp>
        <p:nvSpPr>
          <p:cNvPr id="498680787" name="Content Placeholder 2"/>
          <p:cNvSpPr>
            <a:spLocks noGrp="1"/>
          </p:cNvSpPr>
          <p:nvPr>
            <p:ph idx="1"/>
          </p:nvPr>
        </p:nvSpPr>
        <p:spPr bwMode="auto"/>
        <p:txBody>
          <a:bodyPr/>
          <a:lstStyle/>
          <a:p>
            <a:pPr>
              <a:defRPr/>
            </a:pPr>
            <a:r>
              <a:rPr lang="en-IN"/>
              <a:t>If </a:t>
            </a:r>
            <a:r>
              <a:rPr lang="en-IN"/>
              <a:t>we </a:t>
            </a:r>
            <a:r>
              <a:rPr lang="en-IN" b="1" i="1">
                <a:solidFill>
                  <a:srgbClr val="C00000"/>
                </a:solidFill>
              </a:rPr>
              <a:t>interchange left and right words </a:t>
            </a:r>
            <a:r>
              <a:rPr lang="en-IN" b="1" i="1"/>
              <a:t>in the preceding definitions</a:t>
            </a:r>
            <a:r>
              <a:rPr lang="en-IN"/>
              <a:t>, we obtain three new traversal orders which are called</a:t>
            </a:r>
            <a:endParaRPr/>
          </a:p>
          <a:p>
            <a:pPr lvl="1">
              <a:buClr>
                <a:schemeClr val="tx1"/>
              </a:buClr>
              <a:defRPr/>
            </a:pPr>
            <a:r>
              <a:rPr lang="en-IN" b="1">
                <a:solidFill>
                  <a:srgbClr val="C00000"/>
                </a:solidFill>
              </a:rPr>
              <a:t>Converse </a:t>
            </a:r>
            <a:r>
              <a:rPr lang="en-IN" b="1">
                <a:solidFill>
                  <a:srgbClr val="C00000"/>
                </a:solidFill>
              </a:rPr>
              <a:t>Preorder</a:t>
            </a:r>
            <a:r>
              <a:rPr lang="en-IN" b="1">
                <a:solidFill>
                  <a:srgbClr val="C00000"/>
                </a:solidFill>
              </a:rPr>
              <a:t> </a:t>
            </a:r>
            <a:r>
              <a:rPr lang="en-IN"/>
              <a:t>Traversal:  A  </a:t>
            </a:r>
            <a:r>
              <a:rPr lang="en-IN"/>
              <a:t>D  G  E  F  B  </a:t>
            </a:r>
            <a:r>
              <a:rPr lang="en-IN"/>
              <a:t>C</a:t>
            </a:r>
            <a:endParaRPr lang="en-IN"/>
          </a:p>
          <a:p>
            <a:pPr lvl="1">
              <a:buClr>
                <a:schemeClr val="tx1"/>
              </a:buClr>
              <a:defRPr/>
            </a:pPr>
            <a:r>
              <a:rPr lang="en-IN" b="1">
                <a:solidFill>
                  <a:srgbClr val="C00000"/>
                </a:solidFill>
              </a:rPr>
              <a:t>Converse </a:t>
            </a:r>
            <a:r>
              <a:rPr lang="en-IN" b="1">
                <a:solidFill>
                  <a:srgbClr val="C00000"/>
                </a:solidFill>
              </a:rPr>
              <a:t>Inorder</a:t>
            </a:r>
            <a:r>
              <a:rPr lang="en-IN" b="1">
                <a:solidFill>
                  <a:srgbClr val="C00000"/>
                </a:solidFill>
              </a:rPr>
              <a:t> </a:t>
            </a:r>
            <a:r>
              <a:rPr lang="en-IN"/>
              <a:t>Traversal: G  </a:t>
            </a:r>
            <a:r>
              <a:rPr lang="en-IN"/>
              <a:t>D  F  E  A  B  </a:t>
            </a:r>
            <a:r>
              <a:rPr lang="en-IN"/>
              <a:t>C</a:t>
            </a:r>
            <a:endParaRPr lang="en-IN"/>
          </a:p>
          <a:p>
            <a:pPr lvl="1">
              <a:buClr>
                <a:schemeClr val="tx1"/>
              </a:buClr>
              <a:defRPr/>
            </a:pPr>
            <a:r>
              <a:rPr lang="en-IN" b="1">
                <a:solidFill>
                  <a:srgbClr val="C00000"/>
                </a:solidFill>
              </a:rPr>
              <a:t>Converse </a:t>
            </a:r>
            <a:r>
              <a:rPr lang="en-IN" b="1">
                <a:solidFill>
                  <a:srgbClr val="C00000"/>
                </a:solidFill>
              </a:rPr>
              <a:t>Postorder</a:t>
            </a:r>
            <a:r>
              <a:rPr lang="en-IN" b="1">
                <a:solidFill>
                  <a:srgbClr val="FF0000"/>
                </a:solidFill>
              </a:rPr>
              <a:t> </a:t>
            </a:r>
            <a:r>
              <a:rPr lang="en-IN"/>
              <a:t>Traversal: G  </a:t>
            </a:r>
            <a:r>
              <a:rPr lang="en-IN"/>
              <a:t>F  E  D  C  B  </a:t>
            </a:r>
            <a:r>
              <a:rPr lang="en-IN"/>
              <a:t>A</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9868078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9868078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868078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9868078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68626847" name="Title 1"/>
          <p:cNvSpPr>
            <a:spLocks noGrp="1"/>
          </p:cNvSpPr>
          <p:nvPr>
            <p:ph type="title"/>
          </p:nvPr>
        </p:nvSpPr>
        <p:spPr bwMode="auto"/>
        <p:txBody>
          <a:bodyPr/>
          <a:lstStyle/>
          <a:p>
            <a:pPr>
              <a:defRPr/>
            </a:pPr>
            <a:r>
              <a:rPr lang="en-IN"/>
              <a:t>Write Pre/In/Post Order Traversal</a:t>
            </a:r>
            <a:endParaRPr lang="en-US"/>
          </a:p>
        </p:txBody>
      </p:sp>
      <p:sp>
        <p:nvSpPr>
          <p:cNvPr id="1423638008" name="Rectangle 12"/>
          <p:cNvSpPr>
            <a:spLocks noChangeArrowheads="1"/>
          </p:cNvSpPr>
          <p:nvPr/>
        </p:nvSpPr>
        <p:spPr bwMode="auto">
          <a:xfrm>
            <a:off x="1676401" y="-32266"/>
            <a:ext cx="184731" cy="369332"/>
          </a:xfrm>
          <a:prstGeom prst="rect">
            <a:avLst/>
          </a:prstGeom>
          <a:noFill/>
          <a:ln>
            <a:noFill/>
          </a:ln>
          <a:effectLst/>
        </p:spPr>
        <p:txBody>
          <a:bodyPr vert="horz" wrap="none" lIns="91440" tIns="45720" rIns="91440" bIns="45720" numCol="1" anchor="ctr" anchorCtr="0" compatLnSpc="1">
            <a:prstTxWarp prst="textNoShape"/>
            <a:spAutoFit/>
          </a:bodyPr>
          <a:lstStyle/>
          <a:p>
            <a:pPr>
              <a:defRPr/>
            </a:pPr>
            <a:endParaRPr lang="en-US"/>
          </a:p>
        </p:txBody>
      </p:sp>
      <p:sp>
        <p:nvSpPr>
          <p:cNvPr id="611520179" name="Rectangle 41"/>
          <p:cNvSpPr>
            <a:spLocks noChangeArrowheads="1"/>
          </p:cNvSpPr>
          <p:nvPr/>
        </p:nvSpPr>
        <p:spPr bwMode="auto">
          <a:xfrm>
            <a:off x="1676401" y="-32266"/>
            <a:ext cx="184731" cy="369332"/>
          </a:xfrm>
          <a:prstGeom prst="rect">
            <a:avLst/>
          </a:prstGeom>
          <a:noFill/>
          <a:ln>
            <a:noFill/>
          </a:ln>
          <a:effectLst/>
        </p:spPr>
        <p:txBody>
          <a:bodyPr vert="horz" wrap="none" lIns="91440" tIns="45720" rIns="91440" bIns="45720" numCol="1" anchor="ctr" anchorCtr="0" compatLnSpc="1">
            <a:prstTxWarp prst="textNoShape"/>
            <a:spAutoFit/>
          </a:bodyPr>
          <a:lstStyle/>
          <a:p>
            <a:pPr>
              <a:defRPr/>
            </a:pPr>
            <a:endParaRPr lang="en-US"/>
          </a:p>
        </p:txBody>
      </p:sp>
      <p:sp>
        <p:nvSpPr>
          <p:cNvPr id="739593353" name="Rectangle 74"/>
          <p:cNvSpPr>
            <a:spLocks noChangeArrowheads="1"/>
          </p:cNvSpPr>
          <p:nvPr/>
        </p:nvSpPr>
        <p:spPr bwMode="auto">
          <a:xfrm>
            <a:off x="1676401" y="-32266"/>
            <a:ext cx="184731" cy="369332"/>
          </a:xfrm>
          <a:prstGeom prst="rect">
            <a:avLst/>
          </a:prstGeom>
          <a:noFill/>
          <a:ln>
            <a:noFill/>
          </a:ln>
          <a:effectLst/>
        </p:spPr>
        <p:txBody>
          <a:bodyPr vert="horz" wrap="none" lIns="91440" tIns="45720" rIns="91440" bIns="45720" numCol="1" anchor="ctr" anchorCtr="0" compatLnSpc="1">
            <a:prstTxWarp prst="textNoShape"/>
            <a:spAutoFit/>
          </a:bodyPr>
          <a:lstStyle/>
          <a:p>
            <a:pPr>
              <a:defRPr/>
            </a:pPr>
            <a:endParaRPr lang="en-US"/>
          </a:p>
        </p:txBody>
      </p:sp>
      <p:grpSp>
        <p:nvGrpSpPr>
          <p:cNvPr id="236979668" name="Group 2"/>
          <p:cNvGrpSpPr/>
          <p:nvPr/>
        </p:nvGrpSpPr>
        <p:grpSpPr bwMode="auto">
          <a:xfrm>
            <a:off x="550788" y="897966"/>
            <a:ext cx="1712726" cy="3156901"/>
            <a:chOff x="547384" y="1153022"/>
            <a:chExt cx="1712726" cy="3156901"/>
          </a:xfrm>
        </p:grpSpPr>
        <p:sp>
          <p:nvSpPr>
            <p:cNvPr id="29" name="Oval 28"/>
            <p:cNvSpPr/>
            <p:nvPr/>
          </p:nvSpPr>
          <p:spPr bwMode="auto">
            <a:xfrm>
              <a:off x="1072117" y="115302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1</a:t>
              </a:r>
              <a:endParaRPr lang="en-IN" b="1"/>
            </a:p>
          </p:txBody>
        </p:sp>
        <p:sp>
          <p:nvSpPr>
            <p:cNvPr id="76" name="Oval 75"/>
            <p:cNvSpPr/>
            <p:nvPr/>
          </p:nvSpPr>
          <p:spPr bwMode="auto">
            <a:xfrm>
              <a:off x="547384" y="199345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2</a:t>
              </a:r>
              <a:endParaRPr lang="en-IN" b="1"/>
            </a:p>
          </p:txBody>
        </p:sp>
        <p:sp>
          <p:nvSpPr>
            <p:cNvPr id="78" name="Oval 77"/>
            <p:cNvSpPr/>
            <p:nvPr/>
          </p:nvSpPr>
          <p:spPr bwMode="auto">
            <a:xfrm>
              <a:off x="1698510" y="199345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3</a:t>
              </a:r>
              <a:endParaRPr lang="en-IN" b="1"/>
            </a:p>
          </p:txBody>
        </p:sp>
        <p:sp>
          <p:nvSpPr>
            <p:cNvPr id="80" name="Oval 79"/>
            <p:cNvSpPr/>
            <p:nvPr/>
          </p:nvSpPr>
          <p:spPr bwMode="auto">
            <a:xfrm>
              <a:off x="1072117" y="293980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4</a:t>
              </a:r>
              <a:endParaRPr lang="en-IN" b="1"/>
            </a:p>
          </p:txBody>
        </p:sp>
        <p:sp>
          <p:nvSpPr>
            <p:cNvPr id="81" name="Oval 80"/>
            <p:cNvSpPr/>
            <p:nvPr/>
          </p:nvSpPr>
          <p:spPr bwMode="auto">
            <a:xfrm>
              <a:off x="1698510" y="374832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5</a:t>
              </a:r>
              <a:endParaRPr lang="en-IN" b="1"/>
            </a:p>
          </p:txBody>
        </p:sp>
        <p:cxnSp>
          <p:nvCxnSpPr>
            <p:cNvPr id="37" name="Straight Arrow Connector 36"/>
            <p:cNvCxnSpPr>
              <a:stCxn id="29" idx="3"/>
              <a:endCxn id="76" idx="0"/>
            </p:cNvCxnSpPr>
            <p:nvPr/>
          </p:nvCxnSpPr>
          <p:spPr bwMode="auto">
            <a:xfrm flipH="1">
              <a:off x="828184" y="1632378"/>
              <a:ext cx="326177" cy="361079"/>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Arrow Connector 81"/>
            <p:cNvCxnSpPr>
              <a:stCxn id="29" idx="5"/>
              <a:endCxn id="78" idx="0"/>
            </p:cNvCxnSpPr>
            <p:nvPr/>
          </p:nvCxnSpPr>
          <p:spPr bwMode="auto">
            <a:xfrm>
              <a:off x="1551473" y="1632378"/>
              <a:ext cx="427837" cy="361079"/>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3" name="Straight Arrow Connector 82"/>
            <p:cNvCxnSpPr>
              <a:stCxn id="78" idx="3"/>
              <a:endCxn id="80" idx="0"/>
            </p:cNvCxnSpPr>
            <p:nvPr/>
          </p:nvCxnSpPr>
          <p:spPr bwMode="auto">
            <a:xfrm flipH="1">
              <a:off x="1352917" y="2472813"/>
              <a:ext cx="427837" cy="466992"/>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4" name="Straight Arrow Connector 83"/>
            <p:cNvCxnSpPr>
              <a:stCxn id="80" idx="5"/>
              <a:endCxn id="81" idx="1"/>
            </p:cNvCxnSpPr>
            <p:nvPr/>
          </p:nvCxnSpPr>
          <p:spPr bwMode="auto">
            <a:xfrm>
              <a:off x="1551473" y="3419161"/>
              <a:ext cx="229281" cy="411406"/>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1797183832" name="Group 14"/>
          <p:cNvGrpSpPr/>
          <p:nvPr/>
        </p:nvGrpSpPr>
        <p:grpSpPr bwMode="auto">
          <a:xfrm>
            <a:off x="2785167" y="897966"/>
            <a:ext cx="4669043" cy="3282355"/>
            <a:chOff x="3163550" y="1648492"/>
            <a:chExt cx="4669043" cy="3282355"/>
          </a:xfrm>
        </p:grpSpPr>
        <p:sp>
          <p:nvSpPr>
            <p:cNvPr id="74" name="Oval 73"/>
            <p:cNvSpPr/>
            <p:nvPr/>
          </p:nvSpPr>
          <p:spPr bwMode="auto">
            <a:xfrm>
              <a:off x="5203792" y="164849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50</a:t>
              </a:r>
              <a:endParaRPr lang="en-IN" sz="1600" b="1"/>
            </a:p>
          </p:txBody>
        </p:sp>
        <p:sp>
          <p:nvSpPr>
            <p:cNvPr id="75" name="Oval 74"/>
            <p:cNvSpPr/>
            <p:nvPr/>
          </p:nvSpPr>
          <p:spPr bwMode="auto">
            <a:xfrm>
              <a:off x="4315990" y="248892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25</a:t>
              </a:r>
              <a:endParaRPr lang="en-IN" sz="1600" b="1"/>
            </a:p>
          </p:txBody>
        </p:sp>
        <p:sp>
          <p:nvSpPr>
            <p:cNvPr id="77" name="Oval 76"/>
            <p:cNvSpPr/>
            <p:nvPr/>
          </p:nvSpPr>
          <p:spPr bwMode="auto">
            <a:xfrm>
              <a:off x="6139466" y="258305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75</a:t>
              </a:r>
              <a:endParaRPr lang="en-IN" sz="1600" b="1"/>
            </a:p>
          </p:txBody>
        </p:sp>
        <p:cxnSp>
          <p:nvCxnSpPr>
            <p:cNvPr id="79" name="Straight Arrow Connector 78"/>
            <p:cNvCxnSpPr>
              <a:stCxn id="74" idx="3"/>
              <a:endCxn id="75" idx="0"/>
            </p:cNvCxnSpPr>
            <p:nvPr/>
          </p:nvCxnSpPr>
          <p:spPr bwMode="auto">
            <a:xfrm flipH="1">
              <a:off x="4596790" y="2127848"/>
              <a:ext cx="689246" cy="361079"/>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Arrow Connector 84"/>
            <p:cNvCxnSpPr>
              <a:stCxn id="74" idx="5"/>
              <a:endCxn id="77" idx="0"/>
            </p:cNvCxnSpPr>
            <p:nvPr/>
          </p:nvCxnSpPr>
          <p:spPr bwMode="auto">
            <a:xfrm>
              <a:off x="5683148" y="2127848"/>
              <a:ext cx="737118" cy="455207"/>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86" name="Oval 85"/>
            <p:cNvSpPr/>
            <p:nvPr/>
          </p:nvSpPr>
          <p:spPr bwMode="auto">
            <a:xfrm>
              <a:off x="3767564" y="34483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22</a:t>
              </a:r>
              <a:endParaRPr lang="en-IN" sz="1600" b="1"/>
            </a:p>
          </p:txBody>
        </p:sp>
        <p:sp>
          <p:nvSpPr>
            <p:cNvPr id="87" name="Oval 86"/>
            <p:cNvSpPr/>
            <p:nvPr/>
          </p:nvSpPr>
          <p:spPr bwMode="auto">
            <a:xfrm>
              <a:off x="4743879" y="34483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40</a:t>
              </a:r>
              <a:endParaRPr lang="en-IN" sz="1600" b="1"/>
            </a:p>
          </p:txBody>
        </p:sp>
        <p:cxnSp>
          <p:nvCxnSpPr>
            <p:cNvPr id="88" name="Straight Arrow Connector 87"/>
            <p:cNvCxnSpPr>
              <a:stCxn id="75" idx="3"/>
              <a:endCxn id="86" idx="0"/>
            </p:cNvCxnSpPr>
            <p:nvPr/>
          </p:nvCxnSpPr>
          <p:spPr bwMode="auto">
            <a:xfrm flipH="1">
              <a:off x="4048364" y="2968283"/>
              <a:ext cx="349870" cy="480017"/>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9" name="Straight Arrow Connector 88"/>
            <p:cNvCxnSpPr>
              <a:stCxn id="75" idx="5"/>
              <a:endCxn id="87" idx="0"/>
            </p:cNvCxnSpPr>
            <p:nvPr/>
          </p:nvCxnSpPr>
          <p:spPr bwMode="auto">
            <a:xfrm>
              <a:off x="4795346" y="2968283"/>
              <a:ext cx="229333" cy="480017"/>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0" name="Oval 89"/>
            <p:cNvSpPr/>
            <p:nvPr/>
          </p:nvSpPr>
          <p:spPr bwMode="auto">
            <a:xfrm>
              <a:off x="3163550" y="43692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15</a:t>
              </a:r>
              <a:endParaRPr lang="en-IN" sz="1600" b="1"/>
            </a:p>
          </p:txBody>
        </p:sp>
        <p:cxnSp>
          <p:nvCxnSpPr>
            <p:cNvPr id="91" name="Straight Arrow Connector 90"/>
            <p:cNvCxnSpPr>
              <a:stCxn id="86" idx="3"/>
              <a:endCxn id="90" idx="0"/>
            </p:cNvCxnSpPr>
            <p:nvPr/>
          </p:nvCxnSpPr>
          <p:spPr bwMode="auto">
            <a:xfrm flipH="1">
              <a:off x="3444350" y="3927656"/>
              <a:ext cx="405458" cy="441591"/>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92" name="Oval 91"/>
            <p:cNvSpPr/>
            <p:nvPr/>
          </p:nvSpPr>
          <p:spPr bwMode="auto">
            <a:xfrm>
              <a:off x="4260258" y="43692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30</a:t>
              </a:r>
              <a:endParaRPr lang="en-IN" sz="1600" b="1"/>
            </a:p>
          </p:txBody>
        </p:sp>
        <p:cxnSp>
          <p:nvCxnSpPr>
            <p:cNvPr id="93" name="Straight Arrow Connector 92"/>
            <p:cNvCxnSpPr>
              <a:stCxn id="87" idx="3"/>
              <a:endCxn id="92" idx="0"/>
            </p:cNvCxnSpPr>
            <p:nvPr/>
          </p:nvCxnSpPr>
          <p:spPr bwMode="auto">
            <a:xfrm flipH="1">
              <a:off x="4541058" y="3927656"/>
              <a:ext cx="285065" cy="441591"/>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0" name="Oval 109"/>
            <p:cNvSpPr/>
            <p:nvPr/>
          </p:nvSpPr>
          <p:spPr bwMode="auto">
            <a:xfrm>
              <a:off x="5627628" y="34483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60</a:t>
              </a:r>
              <a:endParaRPr lang="en-IN" sz="1600" b="1"/>
            </a:p>
          </p:txBody>
        </p:sp>
        <p:sp>
          <p:nvSpPr>
            <p:cNvPr id="111" name="Oval 110"/>
            <p:cNvSpPr/>
            <p:nvPr/>
          </p:nvSpPr>
          <p:spPr bwMode="auto">
            <a:xfrm>
              <a:off x="6698072" y="344830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80</a:t>
              </a:r>
              <a:endParaRPr lang="en-IN" sz="1600" b="1"/>
            </a:p>
          </p:txBody>
        </p:sp>
        <p:cxnSp>
          <p:nvCxnSpPr>
            <p:cNvPr id="112" name="Straight Arrow Connector 111"/>
            <p:cNvCxnSpPr>
              <a:stCxn id="77" idx="3"/>
              <a:endCxn id="110" idx="0"/>
            </p:cNvCxnSpPr>
            <p:nvPr/>
          </p:nvCxnSpPr>
          <p:spPr bwMode="auto">
            <a:xfrm flipH="1">
              <a:off x="5908428" y="3062411"/>
              <a:ext cx="313281" cy="385888"/>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13" name="Straight Arrow Connector 112"/>
            <p:cNvCxnSpPr>
              <a:stCxn id="77" idx="5"/>
              <a:endCxn id="111" idx="0"/>
            </p:cNvCxnSpPr>
            <p:nvPr/>
          </p:nvCxnSpPr>
          <p:spPr bwMode="auto">
            <a:xfrm>
              <a:off x="6618822" y="3062411"/>
              <a:ext cx="360050" cy="385888"/>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14" name="Oval 113"/>
            <p:cNvSpPr/>
            <p:nvPr/>
          </p:nvSpPr>
          <p:spPr bwMode="auto">
            <a:xfrm>
              <a:off x="7270994" y="43692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90</a:t>
              </a:r>
              <a:endParaRPr lang="en-IN" sz="1600" b="1"/>
            </a:p>
          </p:txBody>
        </p:sp>
        <p:cxnSp>
          <p:nvCxnSpPr>
            <p:cNvPr id="115" name="Straight Arrow Connector 114"/>
            <p:cNvCxnSpPr>
              <a:stCxn id="111" idx="5"/>
              <a:endCxn id="114" idx="0"/>
            </p:cNvCxnSpPr>
            <p:nvPr/>
          </p:nvCxnSpPr>
          <p:spPr bwMode="auto">
            <a:xfrm>
              <a:off x="7177428" y="3927656"/>
              <a:ext cx="374366" cy="441591"/>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grpSp>
        <p:nvGrpSpPr>
          <p:cNvPr id="1736858507" name="Group 47"/>
          <p:cNvGrpSpPr/>
          <p:nvPr/>
        </p:nvGrpSpPr>
        <p:grpSpPr bwMode="auto">
          <a:xfrm>
            <a:off x="7827415" y="897966"/>
            <a:ext cx="4197541" cy="4621543"/>
            <a:chOff x="7765860" y="793505"/>
            <a:chExt cx="4197541" cy="4621543"/>
          </a:xfrm>
        </p:grpSpPr>
        <p:sp>
          <p:nvSpPr>
            <p:cNvPr id="126" name="Oval 125"/>
            <p:cNvSpPr/>
            <p:nvPr/>
          </p:nvSpPr>
          <p:spPr bwMode="auto">
            <a:xfrm>
              <a:off x="8467039" y="79350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15</a:t>
              </a:r>
              <a:endParaRPr lang="en-IN" sz="1600" b="1"/>
            </a:p>
          </p:txBody>
        </p:sp>
        <p:sp>
          <p:nvSpPr>
            <p:cNvPr id="127" name="Oval 126"/>
            <p:cNvSpPr/>
            <p:nvPr/>
          </p:nvSpPr>
          <p:spPr bwMode="auto">
            <a:xfrm>
              <a:off x="7768853" y="162049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3</a:t>
              </a:r>
              <a:endParaRPr lang="en-IN" sz="1600" b="1"/>
            </a:p>
          </p:txBody>
        </p:sp>
        <p:sp>
          <p:nvSpPr>
            <p:cNvPr id="128" name="Oval 127"/>
            <p:cNvSpPr/>
            <p:nvPr/>
          </p:nvSpPr>
          <p:spPr bwMode="auto">
            <a:xfrm>
              <a:off x="9242707" y="162049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1</a:t>
              </a:r>
              <a:endParaRPr lang="en-IN" sz="1600" b="1"/>
            </a:p>
          </p:txBody>
        </p:sp>
        <p:cxnSp>
          <p:nvCxnSpPr>
            <p:cNvPr id="129" name="Straight Arrow Connector 128"/>
            <p:cNvCxnSpPr>
              <a:stCxn id="126" idx="3"/>
              <a:endCxn id="127" idx="0"/>
            </p:cNvCxnSpPr>
            <p:nvPr/>
          </p:nvCxnSpPr>
          <p:spPr bwMode="auto">
            <a:xfrm flipH="1">
              <a:off x="8049653" y="1272861"/>
              <a:ext cx="499630" cy="347632"/>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0" name="Straight Arrow Connector 129"/>
            <p:cNvCxnSpPr>
              <a:stCxn id="126" idx="5"/>
              <a:endCxn id="128" idx="0"/>
            </p:cNvCxnSpPr>
            <p:nvPr/>
          </p:nvCxnSpPr>
          <p:spPr bwMode="auto">
            <a:xfrm>
              <a:off x="8946395" y="1272861"/>
              <a:ext cx="577112" cy="347632"/>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1" name="Oval 130"/>
            <p:cNvSpPr/>
            <p:nvPr/>
          </p:nvSpPr>
          <p:spPr bwMode="auto">
            <a:xfrm>
              <a:off x="8292228" y="241177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6</a:t>
              </a:r>
              <a:endParaRPr lang="en-IN" sz="1600" b="1"/>
            </a:p>
          </p:txBody>
        </p:sp>
        <p:cxnSp>
          <p:nvCxnSpPr>
            <p:cNvPr id="132" name="Straight Arrow Connector 131"/>
            <p:cNvCxnSpPr>
              <a:stCxn id="127" idx="5"/>
              <a:endCxn id="131" idx="0"/>
            </p:cNvCxnSpPr>
            <p:nvPr/>
          </p:nvCxnSpPr>
          <p:spPr bwMode="auto">
            <a:xfrm>
              <a:off x="8248209" y="2099849"/>
              <a:ext cx="324819" cy="311929"/>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3" name="Oval 132"/>
            <p:cNvSpPr/>
            <p:nvPr/>
          </p:nvSpPr>
          <p:spPr bwMode="auto">
            <a:xfrm>
              <a:off x="9841654" y="241177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22</a:t>
              </a:r>
              <a:endParaRPr lang="en-IN" sz="1600" b="1"/>
            </a:p>
          </p:txBody>
        </p:sp>
        <p:cxnSp>
          <p:nvCxnSpPr>
            <p:cNvPr id="134" name="Straight Arrow Connector 133"/>
            <p:cNvCxnSpPr>
              <a:stCxn id="128" idx="5"/>
              <a:endCxn id="133" idx="0"/>
            </p:cNvCxnSpPr>
            <p:nvPr/>
          </p:nvCxnSpPr>
          <p:spPr bwMode="auto">
            <a:xfrm>
              <a:off x="9722063" y="2099849"/>
              <a:ext cx="400391" cy="311929"/>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5" name="Oval 134"/>
            <p:cNvSpPr/>
            <p:nvPr/>
          </p:nvSpPr>
          <p:spPr bwMode="auto">
            <a:xfrm>
              <a:off x="10374235" y="320109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45</a:t>
              </a:r>
              <a:endParaRPr lang="en-IN" sz="1600" b="1"/>
            </a:p>
          </p:txBody>
        </p:sp>
        <p:cxnSp>
          <p:nvCxnSpPr>
            <p:cNvPr id="136" name="Straight Arrow Connector 135"/>
            <p:cNvCxnSpPr>
              <a:stCxn id="133" idx="5"/>
              <a:endCxn id="135" idx="0"/>
            </p:cNvCxnSpPr>
            <p:nvPr/>
          </p:nvCxnSpPr>
          <p:spPr bwMode="auto">
            <a:xfrm>
              <a:off x="10321010" y="2891134"/>
              <a:ext cx="334025" cy="309965"/>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7" name="Oval 136"/>
            <p:cNvSpPr/>
            <p:nvPr/>
          </p:nvSpPr>
          <p:spPr bwMode="auto">
            <a:xfrm>
              <a:off x="7765860" y="320109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5</a:t>
              </a:r>
              <a:endParaRPr lang="en-IN" sz="1600" b="1"/>
            </a:p>
          </p:txBody>
        </p:sp>
        <p:cxnSp>
          <p:nvCxnSpPr>
            <p:cNvPr id="138" name="Straight Arrow Connector 137"/>
            <p:cNvCxnSpPr>
              <a:stCxn id="131" idx="3"/>
              <a:endCxn id="137" idx="0"/>
            </p:cNvCxnSpPr>
            <p:nvPr/>
          </p:nvCxnSpPr>
          <p:spPr bwMode="auto">
            <a:xfrm flipH="1">
              <a:off x="8046660" y="2891134"/>
              <a:ext cx="327811" cy="309965"/>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39" name="Oval 138"/>
            <p:cNvSpPr/>
            <p:nvPr/>
          </p:nvSpPr>
          <p:spPr bwMode="auto">
            <a:xfrm>
              <a:off x="9844232" y="401408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23</a:t>
              </a:r>
              <a:endParaRPr lang="en-IN" sz="1600" b="1"/>
            </a:p>
          </p:txBody>
        </p:sp>
        <p:cxnSp>
          <p:nvCxnSpPr>
            <p:cNvPr id="140" name="Straight Arrow Connector 139"/>
            <p:cNvCxnSpPr>
              <a:stCxn id="135" idx="3"/>
              <a:endCxn id="139" idx="0"/>
            </p:cNvCxnSpPr>
            <p:nvPr/>
          </p:nvCxnSpPr>
          <p:spPr bwMode="auto">
            <a:xfrm flipH="1">
              <a:off x="10125032" y="3680455"/>
              <a:ext cx="331447" cy="333634"/>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1" name="Oval 140"/>
            <p:cNvSpPr/>
            <p:nvPr/>
          </p:nvSpPr>
          <p:spPr bwMode="auto">
            <a:xfrm>
              <a:off x="10904238" y="401408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65</a:t>
              </a:r>
              <a:endParaRPr/>
            </a:p>
          </p:txBody>
        </p:sp>
        <p:cxnSp>
          <p:nvCxnSpPr>
            <p:cNvPr id="142" name="Straight Arrow Connector 141"/>
            <p:cNvCxnSpPr>
              <a:stCxn id="135" idx="5"/>
              <a:endCxn id="141" idx="0"/>
            </p:cNvCxnSpPr>
            <p:nvPr/>
          </p:nvCxnSpPr>
          <p:spPr bwMode="auto">
            <a:xfrm>
              <a:off x="10853591" y="3680455"/>
              <a:ext cx="331447" cy="333634"/>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3" name="Oval 142"/>
            <p:cNvSpPr/>
            <p:nvPr/>
          </p:nvSpPr>
          <p:spPr bwMode="auto">
            <a:xfrm>
              <a:off x="11401801" y="485344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78</a:t>
              </a:r>
              <a:endParaRPr/>
            </a:p>
          </p:txBody>
        </p:sp>
        <p:cxnSp>
          <p:nvCxnSpPr>
            <p:cNvPr id="144" name="Straight Arrow Connector 143"/>
            <p:cNvCxnSpPr>
              <a:stCxn id="141" idx="5"/>
              <a:endCxn id="143" idx="0"/>
            </p:cNvCxnSpPr>
            <p:nvPr/>
          </p:nvCxnSpPr>
          <p:spPr bwMode="auto">
            <a:xfrm>
              <a:off x="11383594" y="4493445"/>
              <a:ext cx="299007" cy="360003"/>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45" name="Oval 144"/>
            <p:cNvSpPr/>
            <p:nvPr/>
          </p:nvSpPr>
          <p:spPr bwMode="auto">
            <a:xfrm>
              <a:off x="10412635" y="485344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600" b="1"/>
                <a:t>34</a:t>
              </a:r>
              <a:endParaRPr lang="en-IN" sz="1600" b="1"/>
            </a:p>
          </p:txBody>
        </p:sp>
        <p:cxnSp>
          <p:nvCxnSpPr>
            <p:cNvPr id="146" name="Straight Arrow Connector 145"/>
            <p:cNvCxnSpPr>
              <a:stCxn id="139" idx="5"/>
              <a:endCxn id="145" idx="0"/>
            </p:cNvCxnSpPr>
            <p:nvPr/>
          </p:nvCxnSpPr>
          <p:spPr bwMode="auto">
            <a:xfrm>
              <a:off x="10323587" y="4493445"/>
              <a:ext cx="369847" cy="360003"/>
            </a:xfrm>
            <a:prstGeom prst="straightConnector1">
              <a:avLst/>
            </a:prstGeom>
            <a:ln w="28575">
              <a:solidFill>
                <a:srgbClr val="B84742"/>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grpSp>
      <p:cxnSp>
        <p:nvCxnSpPr>
          <p:cNvPr id="1282877298" name="Straight Connector 49"/>
          <p:cNvCxnSpPr/>
          <p:nvPr/>
        </p:nvCxnSpPr>
        <p:spPr bwMode="auto">
          <a:xfrm>
            <a:off x="2595282" y="887003"/>
            <a:ext cx="0" cy="5449046"/>
          </a:xfrm>
          <a:prstGeom prst="line">
            <a:avLst/>
          </a:prstGeom>
        </p:spPr>
        <p:style>
          <a:lnRef idx="3">
            <a:schemeClr val="dk1"/>
          </a:lnRef>
          <a:fillRef idx="0">
            <a:schemeClr val="dk1"/>
          </a:fillRef>
          <a:effectRef idx="2">
            <a:schemeClr val="dk1"/>
          </a:effectRef>
          <a:fontRef idx="minor">
            <a:schemeClr val="tx1"/>
          </a:fontRef>
        </p:style>
      </p:cxnSp>
      <p:cxnSp>
        <p:nvCxnSpPr>
          <p:cNvPr id="533473606" name="Straight Connector 146"/>
          <p:cNvCxnSpPr/>
          <p:nvPr/>
        </p:nvCxnSpPr>
        <p:spPr bwMode="auto">
          <a:xfrm>
            <a:off x="7628964" y="887003"/>
            <a:ext cx="0" cy="5449046"/>
          </a:xfrm>
          <a:prstGeom prst="line">
            <a:avLst/>
          </a:prstGeom>
        </p:spPr>
        <p:style>
          <a:lnRef idx="3">
            <a:schemeClr val="dk1"/>
          </a:lnRef>
          <a:fillRef idx="0">
            <a:schemeClr val="dk1"/>
          </a:fillRef>
          <a:effectRef idx="2">
            <a:schemeClr val="dk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201147507" name="Title 1"/>
          <p:cNvSpPr>
            <a:spLocks noGrp="1"/>
          </p:cNvSpPr>
          <p:nvPr>
            <p:ph type="title"/>
          </p:nvPr>
        </p:nvSpPr>
        <p:spPr bwMode="auto"/>
        <p:txBody>
          <a:bodyPr/>
          <a:lstStyle/>
          <a:p>
            <a:pPr>
              <a:defRPr/>
            </a:pPr>
            <a:r>
              <a:rPr lang="en-IN"/>
              <a:t>Write Pre/In/Post Order </a:t>
            </a:r>
            <a:r>
              <a:rPr lang="en-IN"/>
              <a:t>Traversal Cont</a:t>
            </a:r>
            <a:r>
              <a:rPr lang="en-IN"/>
              <a:t>.</a:t>
            </a:r>
            <a:endParaRPr lang="en-US"/>
          </a:p>
        </p:txBody>
      </p:sp>
      <p:grpSp>
        <p:nvGrpSpPr>
          <p:cNvPr id="403280357" name="Group 85"/>
          <p:cNvGrpSpPr/>
          <p:nvPr/>
        </p:nvGrpSpPr>
        <p:grpSpPr bwMode="auto">
          <a:xfrm>
            <a:off x="203916" y="801175"/>
            <a:ext cx="4170602" cy="2857340"/>
            <a:chOff x="203916" y="891328"/>
            <a:chExt cx="4170602" cy="2857340"/>
          </a:xfrm>
        </p:grpSpPr>
        <p:sp>
          <p:nvSpPr>
            <p:cNvPr id="21" name="Oval 20"/>
            <p:cNvSpPr/>
            <p:nvPr/>
          </p:nvSpPr>
          <p:spPr bwMode="auto">
            <a:xfrm>
              <a:off x="2191555" y="891328"/>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73</a:t>
              </a:r>
              <a:endParaRPr lang="en-US" sz="2400" b="1"/>
            </a:p>
          </p:txBody>
        </p:sp>
        <p:sp>
          <p:nvSpPr>
            <p:cNvPr id="22" name="Oval 21"/>
            <p:cNvSpPr/>
            <p:nvPr/>
          </p:nvSpPr>
          <p:spPr bwMode="auto">
            <a:xfrm>
              <a:off x="1244958" y="1539203"/>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13</a:t>
              </a:r>
              <a:endParaRPr lang="en-US" sz="2400" b="1"/>
            </a:p>
          </p:txBody>
        </p:sp>
        <p:sp>
          <p:nvSpPr>
            <p:cNvPr id="23" name="Oval 22"/>
            <p:cNvSpPr/>
            <p:nvPr/>
          </p:nvSpPr>
          <p:spPr bwMode="auto">
            <a:xfrm>
              <a:off x="710483" y="228332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10</a:t>
              </a:r>
              <a:endParaRPr lang="en-US" sz="2400" b="1"/>
            </a:p>
          </p:txBody>
        </p:sp>
        <p:sp>
          <p:nvSpPr>
            <p:cNvPr id="24" name="Oval 23"/>
            <p:cNvSpPr/>
            <p:nvPr/>
          </p:nvSpPr>
          <p:spPr bwMode="auto">
            <a:xfrm>
              <a:off x="1772990" y="2292263"/>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28</a:t>
              </a:r>
              <a:endParaRPr lang="en-US" sz="2400" b="1"/>
            </a:p>
          </p:txBody>
        </p:sp>
        <p:sp>
          <p:nvSpPr>
            <p:cNvPr id="25" name="Oval 24"/>
            <p:cNvSpPr/>
            <p:nvPr/>
          </p:nvSpPr>
          <p:spPr bwMode="auto">
            <a:xfrm>
              <a:off x="203916" y="3040330"/>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5</a:t>
              </a:r>
              <a:endParaRPr lang="en-US" sz="2400" b="1"/>
            </a:p>
          </p:txBody>
        </p:sp>
        <p:sp>
          <p:nvSpPr>
            <p:cNvPr id="26" name="Oval 25"/>
            <p:cNvSpPr/>
            <p:nvPr/>
          </p:nvSpPr>
          <p:spPr bwMode="auto">
            <a:xfrm>
              <a:off x="3151025" y="1539203"/>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75</a:t>
              </a:r>
              <a:endParaRPr lang="en-US" sz="2400" b="1"/>
            </a:p>
          </p:txBody>
        </p:sp>
        <p:sp>
          <p:nvSpPr>
            <p:cNvPr id="27" name="Oval 26"/>
            <p:cNvSpPr/>
            <p:nvPr/>
          </p:nvSpPr>
          <p:spPr bwMode="auto">
            <a:xfrm>
              <a:off x="2597233" y="227329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74</a:t>
              </a:r>
              <a:endParaRPr lang="en-US" sz="2400" b="1"/>
            </a:p>
          </p:txBody>
        </p:sp>
        <p:sp>
          <p:nvSpPr>
            <p:cNvPr id="28" name="Oval 27"/>
            <p:cNvSpPr/>
            <p:nvPr/>
          </p:nvSpPr>
          <p:spPr bwMode="auto">
            <a:xfrm>
              <a:off x="3666180" y="227329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89</a:t>
              </a:r>
              <a:endParaRPr lang="en-US" sz="2400" b="1"/>
            </a:p>
          </p:txBody>
        </p:sp>
        <p:cxnSp>
          <p:nvCxnSpPr>
            <p:cNvPr id="30" name="Straight Arrow Connector 29"/>
            <p:cNvCxnSpPr>
              <a:endCxn id="22" idx="7"/>
            </p:cNvCxnSpPr>
            <p:nvPr/>
          </p:nvCxnSpPr>
          <p:spPr bwMode="auto">
            <a:xfrm flipH="1">
              <a:off x="1849562" y="1444416"/>
              <a:ext cx="445726" cy="198521"/>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32" name="Straight Arrow Connector 31"/>
            <p:cNvCxnSpPr>
              <a:endCxn id="26" idx="1"/>
            </p:cNvCxnSpPr>
            <p:nvPr/>
          </p:nvCxnSpPr>
          <p:spPr bwMode="auto">
            <a:xfrm>
              <a:off x="2796159" y="1444416"/>
              <a:ext cx="458600" cy="198521"/>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p:cNvCxnSpPr>
              <a:stCxn id="22" idx="3"/>
              <a:endCxn id="23" idx="0"/>
            </p:cNvCxnSpPr>
            <p:nvPr/>
          </p:nvCxnSpPr>
          <p:spPr bwMode="auto">
            <a:xfrm flipH="1">
              <a:off x="1064652" y="2143807"/>
              <a:ext cx="284040" cy="13952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p:cNvCxnSpPr>
              <a:stCxn id="22" idx="5"/>
              <a:endCxn id="24" idx="0"/>
            </p:cNvCxnSpPr>
            <p:nvPr/>
          </p:nvCxnSpPr>
          <p:spPr bwMode="auto">
            <a:xfrm>
              <a:off x="1849562" y="2143807"/>
              <a:ext cx="277597" cy="148456"/>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39" name="Straight Arrow Connector 38"/>
            <p:cNvCxnSpPr>
              <a:stCxn id="23" idx="3"/>
              <a:endCxn id="25" idx="0"/>
            </p:cNvCxnSpPr>
            <p:nvPr/>
          </p:nvCxnSpPr>
          <p:spPr bwMode="auto">
            <a:xfrm flipH="1">
              <a:off x="558085" y="2887931"/>
              <a:ext cx="256132" cy="152399"/>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41" name="Straight Arrow Connector 40"/>
            <p:cNvCxnSpPr>
              <a:stCxn id="26" idx="3"/>
              <a:endCxn id="27" idx="0"/>
            </p:cNvCxnSpPr>
            <p:nvPr/>
          </p:nvCxnSpPr>
          <p:spPr bwMode="auto">
            <a:xfrm flipH="1">
              <a:off x="2951401" y="2143807"/>
              <a:ext cx="303357" cy="12949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43" name="Straight Arrow Connector 42"/>
            <p:cNvCxnSpPr>
              <a:stCxn id="26" idx="5"/>
              <a:endCxn id="28" idx="0"/>
            </p:cNvCxnSpPr>
            <p:nvPr/>
          </p:nvCxnSpPr>
          <p:spPr bwMode="auto">
            <a:xfrm>
              <a:off x="3755629" y="2143807"/>
              <a:ext cx="264720" cy="129490"/>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grpSp>
      <p:grpSp>
        <p:nvGrpSpPr>
          <p:cNvPr id="252265677" name="Group 90"/>
          <p:cNvGrpSpPr/>
          <p:nvPr/>
        </p:nvGrpSpPr>
        <p:grpSpPr bwMode="auto">
          <a:xfrm>
            <a:off x="678827" y="3497531"/>
            <a:ext cx="3836812" cy="2964521"/>
            <a:chOff x="678827" y="3433136"/>
            <a:chExt cx="3836812" cy="2964521"/>
          </a:xfrm>
        </p:grpSpPr>
        <p:sp>
          <p:nvSpPr>
            <p:cNvPr id="49" name="Oval 48"/>
            <p:cNvSpPr/>
            <p:nvPr/>
          </p:nvSpPr>
          <p:spPr bwMode="auto">
            <a:xfrm>
              <a:off x="2205664" y="3433136"/>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a:t>
              </a:r>
              <a:endParaRPr lang="en-US" sz="2400" b="1"/>
            </a:p>
          </p:txBody>
        </p:sp>
        <p:sp>
          <p:nvSpPr>
            <p:cNvPr id="50" name="Oval 49"/>
            <p:cNvSpPr/>
            <p:nvPr/>
          </p:nvSpPr>
          <p:spPr bwMode="auto">
            <a:xfrm>
              <a:off x="1279826" y="4155794"/>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a:t>
              </a:r>
              <a:endParaRPr lang="en-US" sz="2400" b="1"/>
            </a:p>
          </p:txBody>
        </p:sp>
        <p:sp>
          <p:nvSpPr>
            <p:cNvPr id="51" name="Oval 50"/>
            <p:cNvSpPr/>
            <p:nvPr/>
          </p:nvSpPr>
          <p:spPr bwMode="auto">
            <a:xfrm>
              <a:off x="3156553" y="4158285"/>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a:t>
              </a:r>
              <a:endParaRPr lang="en-US" sz="2400" b="1"/>
            </a:p>
          </p:txBody>
        </p:sp>
        <p:sp>
          <p:nvSpPr>
            <p:cNvPr id="52" name="Oval 51"/>
            <p:cNvSpPr/>
            <p:nvPr/>
          </p:nvSpPr>
          <p:spPr bwMode="auto">
            <a:xfrm>
              <a:off x="678827" y="4926390"/>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A</a:t>
              </a:r>
              <a:endParaRPr lang="en-US" sz="2400" b="1"/>
            </a:p>
          </p:txBody>
        </p:sp>
        <p:sp>
          <p:nvSpPr>
            <p:cNvPr id="53" name="Oval 52"/>
            <p:cNvSpPr/>
            <p:nvPr/>
          </p:nvSpPr>
          <p:spPr bwMode="auto">
            <a:xfrm>
              <a:off x="1791762" y="488919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B</a:t>
              </a:r>
              <a:endParaRPr lang="en-US" sz="2400" b="1"/>
            </a:p>
          </p:txBody>
        </p:sp>
        <p:sp>
          <p:nvSpPr>
            <p:cNvPr id="54" name="Oval 53"/>
            <p:cNvSpPr/>
            <p:nvPr/>
          </p:nvSpPr>
          <p:spPr bwMode="auto">
            <a:xfrm>
              <a:off x="2580388" y="4926390"/>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a:t>
              </a:r>
              <a:endParaRPr lang="en-US" sz="2400" b="1"/>
            </a:p>
          </p:txBody>
        </p:sp>
        <p:sp>
          <p:nvSpPr>
            <p:cNvPr id="55" name="Oval 54"/>
            <p:cNvSpPr/>
            <p:nvPr/>
          </p:nvSpPr>
          <p:spPr bwMode="auto">
            <a:xfrm>
              <a:off x="2072328" y="5689319"/>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C</a:t>
              </a:r>
              <a:endParaRPr lang="en-US" sz="2400" b="1"/>
            </a:p>
          </p:txBody>
        </p:sp>
        <p:sp>
          <p:nvSpPr>
            <p:cNvPr id="56" name="Oval 55"/>
            <p:cNvSpPr/>
            <p:nvPr/>
          </p:nvSpPr>
          <p:spPr bwMode="auto">
            <a:xfrm>
              <a:off x="3151554" y="5689319"/>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D</a:t>
              </a:r>
              <a:endParaRPr lang="en-US" sz="2400" b="1"/>
            </a:p>
          </p:txBody>
        </p:sp>
        <p:sp>
          <p:nvSpPr>
            <p:cNvPr id="57" name="Oval 56"/>
            <p:cNvSpPr/>
            <p:nvPr/>
          </p:nvSpPr>
          <p:spPr bwMode="auto">
            <a:xfrm>
              <a:off x="3807301" y="488919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E</a:t>
              </a:r>
              <a:endParaRPr lang="en-US" sz="2400" b="1"/>
            </a:p>
          </p:txBody>
        </p:sp>
        <p:cxnSp>
          <p:nvCxnSpPr>
            <p:cNvPr id="59" name="Straight Arrow Connector 58"/>
            <p:cNvCxnSpPr>
              <a:stCxn id="49" idx="3"/>
              <a:endCxn id="50" idx="7"/>
            </p:cNvCxnSpPr>
            <p:nvPr/>
          </p:nvCxnSpPr>
          <p:spPr bwMode="auto">
            <a:xfrm flipH="1">
              <a:off x="1884430" y="4037740"/>
              <a:ext cx="424968" cy="221788"/>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61" name="Straight Arrow Connector 60"/>
            <p:cNvCxnSpPr>
              <a:stCxn id="50" idx="3"/>
              <a:endCxn id="52" idx="0"/>
            </p:cNvCxnSpPr>
            <p:nvPr/>
          </p:nvCxnSpPr>
          <p:spPr bwMode="auto">
            <a:xfrm flipH="1">
              <a:off x="1032996" y="4760398"/>
              <a:ext cx="350564" cy="165992"/>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63" name="Straight Arrow Connector 62"/>
            <p:cNvCxnSpPr>
              <a:stCxn id="50" idx="5"/>
              <a:endCxn id="53" idx="0"/>
            </p:cNvCxnSpPr>
            <p:nvPr/>
          </p:nvCxnSpPr>
          <p:spPr bwMode="auto">
            <a:xfrm>
              <a:off x="1884430" y="4760398"/>
              <a:ext cx="261501" cy="128799"/>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65" name="Straight Arrow Connector 64"/>
            <p:cNvCxnSpPr>
              <a:stCxn id="49" idx="5"/>
              <a:endCxn id="51" idx="1"/>
            </p:cNvCxnSpPr>
            <p:nvPr/>
          </p:nvCxnSpPr>
          <p:spPr bwMode="auto">
            <a:xfrm>
              <a:off x="2810268" y="4037740"/>
              <a:ext cx="450019" cy="224279"/>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67" name="Straight Arrow Connector 66"/>
            <p:cNvCxnSpPr>
              <a:stCxn id="51" idx="3"/>
              <a:endCxn id="54" idx="0"/>
            </p:cNvCxnSpPr>
            <p:nvPr/>
          </p:nvCxnSpPr>
          <p:spPr bwMode="auto">
            <a:xfrm flipH="1">
              <a:off x="2934557" y="4762889"/>
              <a:ext cx="325730" cy="163501"/>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69" name="Straight Arrow Connector 68"/>
            <p:cNvCxnSpPr>
              <a:stCxn id="51" idx="5"/>
              <a:endCxn id="57" idx="0"/>
            </p:cNvCxnSpPr>
            <p:nvPr/>
          </p:nvCxnSpPr>
          <p:spPr bwMode="auto">
            <a:xfrm>
              <a:off x="3761157" y="4762889"/>
              <a:ext cx="400313" cy="126308"/>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71" name="Straight Arrow Connector 70"/>
            <p:cNvCxnSpPr>
              <a:stCxn id="54" idx="3"/>
              <a:endCxn id="55" idx="0"/>
            </p:cNvCxnSpPr>
            <p:nvPr/>
          </p:nvCxnSpPr>
          <p:spPr bwMode="auto">
            <a:xfrm flipH="1">
              <a:off x="2426497" y="5530994"/>
              <a:ext cx="257625" cy="158324"/>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73" name="Straight Arrow Connector 72"/>
            <p:cNvCxnSpPr>
              <a:stCxn id="54" idx="5"/>
              <a:endCxn id="56" idx="0"/>
            </p:cNvCxnSpPr>
            <p:nvPr/>
          </p:nvCxnSpPr>
          <p:spPr bwMode="auto">
            <a:xfrm>
              <a:off x="3184992" y="5530994"/>
              <a:ext cx="320731" cy="158324"/>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grpSp>
      <p:grpSp>
        <p:nvGrpSpPr>
          <p:cNvPr id="1801167330" name="Group 139"/>
          <p:cNvGrpSpPr/>
          <p:nvPr/>
        </p:nvGrpSpPr>
        <p:grpSpPr bwMode="auto">
          <a:xfrm>
            <a:off x="6796066" y="799103"/>
            <a:ext cx="4591945" cy="5093479"/>
            <a:chOff x="6796066" y="799103"/>
            <a:chExt cx="4591945" cy="5093479"/>
          </a:xfrm>
        </p:grpSpPr>
        <p:sp>
          <p:nvSpPr>
            <p:cNvPr id="90" name="Oval 89"/>
            <p:cNvSpPr/>
            <p:nvPr/>
          </p:nvSpPr>
          <p:spPr bwMode="auto">
            <a:xfrm>
              <a:off x="8153381" y="799103"/>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15</a:t>
              </a:r>
              <a:endParaRPr lang="en-US" sz="2400" b="1"/>
            </a:p>
          </p:txBody>
        </p:sp>
        <p:sp>
          <p:nvSpPr>
            <p:cNvPr id="92" name="Oval 91"/>
            <p:cNvSpPr/>
            <p:nvPr/>
          </p:nvSpPr>
          <p:spPr bwMode="auto">
            <a:xfrm>
              <a:off x="7329309" y="1684292"/>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5</a:t>
              </a:r>
              <a:endParaRPr lang="en-US" sz="2400" b="1"/>
            </a:p>
          </p:txBody>
        </p:sp>
        <p:sp>
          <p:nvSpPr>
            <p:cNvPr id="93" name="Oval 92"/>
            <p:cNvSpPr/>
            <p:nvPr/>
          </p:nvSpPr>
          <p:spPr bwMode="auto">
            <a:xfrm>
              <a:off x="6796066" y="2486959"/>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3</a:t>
              </a:r>
              <a:endParaRPr lang="en-US" sz="2400" b="1"/>
            </a:p>
          </p:txBody>
        </p:sp>
        <p:sp>
          <p:nvSpPr>
            <p:cNvPr id="94" name="Oval 93"/>
            <p:cNvSpPr/>
            <p:nvPr/>
          </p:nvSpPr>
          <p:spPr bwMode="auto">
            <a:xfrm>
              <a:off x="7902946" y="2496929"/>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12</a:t>
              </a:r>
              <a:endParaRPr lang="en-US" sz="2400" b="1"/>
            </a:p>
          </p:txBody>
        </p:sp>
        <p:sp>
          <p:nvSpPr>
            <p:cNvPr id="95" name="Oval 94"/>
            <p:cNvSpPr/>
            <p:nvPr/>
          </p:nvSpPr>
          <p:spPr bwMode="auto">
            <a:xfrm>
              <a:off x="8997117" y="1684292"/>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16</a:t>
              </a:r>
              <a:endParaRPr lang="en-US" sz="2400" b="1"/>
            </a:p>
          </p:txBody>
        </p:sp>
        <p:sp>
          <p:nvSpPr>
            <p:cNvPr id="96" name="Oval 95"/>
            <p:cNvSpPr/>
            <p:nvPr/>
          </p:nvSpPr>
          <p:spPr bwMode="auto">
            <a:xfrm>
              <a:off x="7329309" y="3526710"/>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10</a:t>
              </a:r>
              <a:endParaRPr lang="en-US" sz="2400" b="1"/>
            </a:p>
          </p:txBody>
        </p:sp>
        <p:sp>
          <p:nvSpPr>
            <p:cNvPr id="97" name="Oval 96"/>
            <p:cNvSpPr/>
            <p:nvPr/>
          </p:nvSpPr>
          <p:spPr bwMode="auto">
            <a:xfrm>
              <a:off x="8418804" y="3486456"/>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13</a:t>
              </a:r>
              <a:endParaRPr lang="en-US" sz="2400" b="1"/>
            </a:p>
          </p:txBody>
        </p:sp>
        <p:sp>
          <p:nvSpPr>
            <p:cNvPr id="98" name="Oval 97"/>
            <p:cNvSpPr/>
            <p:nvPr/>
          </p:nvSpPr>
          <p:spPr bwMode="auto">
            <a:xfrm>
              <a:off x="6796066" y="4470628"/>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6</a:t>
              </a:r>
              <a:endParaRPr lang="en-US" sz="2400" b="1"/>
            </a:p>
          </p:txBody>
        </p:sp>
        <p:sp>
          <p:nvSpPr>
            <p:cNvPr id="99" name="Oval 98"/>
            <p:cNvSpPr/>
            <p:nvPr/>
          </p:nvSpPr>
          <p:spPr bwMode="auto">
            <a:xfrm>
              <a:off x="7506864" y="5184244"/>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7</a:t>
              </a:r>
              <a:endParaRPr lang="en-US" sz="2400" b="1"/>
            </a:p>
          </p:txBody>
        </p:sp>
        <p:sp>
          <p:nvSpPr>
            <p:cNvPr id="100" name="Oval 99"/>
            <p:cNvSpPr/>
            <p:nvPr/>
          </p:nvSpPr>
          <p:spPr bwMode="auto">
            <a:xfrm>
              <a:off x="9971335" y="2519807"/>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20</a:t>
              </a:r>
              <a:endParaRPr lang="en-US" sz="2400" b="1"/>
            </a:p>
          </p:txBody>
        </p:sp>
        <p:sp>
          <p:nvSpPr>
            <p:cNvPr id="101" name="Oval 100"/>
            <p:cNvSpPr/>
            <p:nvPr/>
          </p:nvSpPr>
          <p:spPr bwMode="auto">
            <a:xfrm>
              <a:off x="9397204" y="3486456"/>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18</a:t>
              </a:r>
              <a:endParaRPr lang="en-US" sz="2400" b="1"/>
            </a:p>
          </p:txBody>
        </p:sp>
        <p:sp>
          <p:nvSpPr>
            <p:cNvPr id="102" name="Oval 101"/>
            <p:cNvSpPr/>
            <p:nvPr/>
          </p:nvSpPr>
          <p:spPr bwMode="auto">
            <a:xfrm>
              <a:off x="10679673" y="3544573"/>
              <a:ext cx="708338" cy="70833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400" b="1"/>
                <a:t>23</a:t>
              </a:r>
              <a:endParaRPr lang="en-US" sz="2400" b="1"/>
            </a:p>
          </p:txBody>
        </p:sp>
        <p:cxnSp>
          <p:nvCxnSpPr>
            <p:cNvPr id="104" name="Straight Arrow Connector 103"/>
            <p:cNvCxnSpPr>
              <a:stCxn id="90" idx="3"/>
              <a:endCxn id="92" idx="0"/>
            </p:cNvCxnSpPr>
            <p:nvPr/>
          </p:nvCxnSpPr>
          <p:spPr bwMode="auto">
            <a:xfrm flipH="1">
              <a:off x="7683477" y="1403707"/>
              <a:ext cx="573637" cy="280585"/>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06" name="Straight Arrow Connector 105"/>
            <p:cNvCxnSpPr>
              <a:stCxn id="90" idx="5"/>
              <a:endCxn id="95" idx="0"/>
            </p:cNvCxnSpPr>
            <p:nvPr/>
          </p:nvCxnSpPr>
          <p:spPr bwMode="auto">
            <a:xfrm>
              <a:off x="8757985" y="1403707"/>
              <a:ext cx="593301" cy="280585"/>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08" name="Straight Arrow Connector 107"/>
            <p:cNvCxnSpPr>
              <a:stCxn id="92" idx="3"/>
              <a:endCxn id="93" idx="0"/>
            </p:cNvCxnSpPr>
            <p:nvPr/>
          </p:nvCxnSpPr>
          <p:spPr bwMode="auto">
            <a:xfrm flipH="1">
              <a:off x="7150235" y="2288896"/>
              <a:ext cx="282808" cy="198063"/>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10" name="Straight Arrow Connector 109"/>
            <p:cNvCxnSpPr>
              <a:stCxn id="92" idx="5"/>
              <a:endCxn id="94" idx="0"/>
            </p:cNvCxnSpPr>
            <p:nvPr/>
          </p:nvCxnSpPr>
          <p:spPr bwMode="auto">
            <a:xfrm>
              <a:off x="7933913" y="2288896"/>
              <a:ext cx="323202" cy="208033"/>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12" name="Straight Arrow Connector 111"/>
            <p:cNvCxnSpPr>
              <a:stCxn id="95" idx="6"/>
              <a:endCxn id="100" idx="0"/>
            </p:cNvCxnSpPr>
            <p:nvPr/>
          </p:nvCxnSpPr>
          <p:spPr bwMode="auto">
            <a:xfrm>
              <a:off x="9705455" y="2038461"/>
              <a:ext cx="620049" cy="481347"/>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14" name="Straight Arrow Connector 113"/>
            <p:cNvCxnSpPr>
              <a:stCxn id="100" idx="3"/>
              <a:endCxn id="101" idx="0"/>
            </p:cNvCxnSpPr>
            <p:nvPr/>
          </p:nvCxnSpPr>
          <p:spPr bwMode="auto">
            <a:xfrm flipH="1">
              <a:off x="9751373" y="3124412"/>
              <a:ext cx="323696" cy="362044"/>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16" name="Straight Arrow Connector 115"/>
            <p:cNvCxnSpPr>
              <a:stCxn id="100" idx="5"/>
              <a:endCxn id="102" idx="0"/>
            </p:cNvCxnSpPr>
            <p:nvPr/>
          </p:nvCxnSpPr>
          <p:spPr bwMode="auto">
            <a:xfrm>
              <a:off x="10575939" y="3124412"/>
              <a:ext cx="457903" cy="420161"/>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18" name="Straight Arrow Connector 117"/>
            <p:cNvCxnSpPr>
              <a:stCxn id="94" idx="3"/>
              <a:endCxn id="96" idx="0"/>
            </p:cNvCxnSpPr>
            <p:nvPr/>
          </p:nvCxnSpPr>
          <p:spPr bwMode="auto">
            <a:xfrm flipH="1">
              <a:off x="7683477" y="3101533"/>
              <a:ext cx="323202" cy="425177"/>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20" name="Straight Arrow Connector 119"/>
            <p:cNvCxnSpPr>
              <a:stCxn id="94" idx="5"/>
              <a:endCxn id="97" idx="0"/>
            </p:cNvCxnSpPr>
            <p:nvPr/>
          </p:nvCxnSpPr>
          <p:spPr bwMode="auto">
            <a:xfrm>
              <a:off x="8507550" y="3101533"/>
              <a:ext cx="265423" cy="384923"/>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22" name="Straight Arrow Connector 121"/>
            <p:cNvCxnSpPr>
              <a:stCxn id="96" idx="3"/>
              <a:endCxn id="98" idx="0"/>
            </p:cNvCxnSpPr>
            <p:nvPr/>
          </p:nvCxnSpPr>
          <p:spPr bwMode="auto">
            <a:xfrm flipH="1">
              <a:off x="7150235" y="4131314"/>
              <a:ext cx="282808" cy="339314"/>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cxnSp>
          <p:nvCxnSpPr>
            <p:cNvPr id="124" name="Straight Arrow Connector 123"/>
            <p:cNvCxnSpPr>
              <a:stCxn id="98" idx="5"/>
              <a:endCxn id="99" idx="1"/>
            </p:cNvCxnSpPr>
            <p:nvPr/>
          </p:nvCxnSpPr>
          <p:spPr bwMode="auto">
            <a:xfrm>
              <a:off x="7400670" y="5075232"/>
              <a:ext cx="209928" cy="212746"/>
            </a:xfrm>
            <a:prstGeom prst="straightConnector1">
              <a:avLst/>
            </a:prstGeom>
            <a:ln w="28575">
              <a:tailEnd type="triangle"/>
            </a:ln>
          </p:spPr>
          <p:style>
            <a:lnRef idx="3">
              <a:schemeClr val="dk1"/>
            </a:lnRef>
            <a:fillRef idx="0">
              <a:schemeClr val="dk1"/>
            </a:fillRef>
            <a:effectRef idx="2">
              <a:schemeClr val="dk1"/>
            </a:effectRef>
            <a:fontRef idx="minor">
              <a:schemeClr val="tx1"/>
            </a:fontRef>
          </p:style>
        </p:cxn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9105435" name="Title 1"/>
          <p:cNvSpPr>
            <a:spLocks noGrp="1"/>
          </p:cNvSpPr>
          <p:nvPr>
            <p:ph type="title"/>
          </p:nvPr>
        </p:nvSpPr>
        <p:spPr bwMode="auto"/>
        <p:txBody>
          <a:bodyPr/>
          <a:lstStyle/>
          <a:p>
            <a:pPr>
              <a:defRPr/>
            </a:pPr>
            <a:r>
              <a:rPr lang="en-IN"/>
              <a:t>Linked Representation of Binary Tree</a:t>
            </a:r>
            <a:endParaRPr lang="en-US"/>
          </a:p>
        </p:txBody>
      </p:sp>
      <p:sp>
        <p:nvSpPr>
          <p:cNvPr id="1180721645" name="Oval 3"/>
          <p:cNvSpPr/>
          <p:nvPr/>
        </p:nvSpPr>
        <p:spPr bwMode="auto">
          <a:xfrm>
            <a:off x="1904394" y="268212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2034946091" name="Oval 4"/>
          <p:cNvSpPr/>
          <p:nvPr/>
        </p:nvSpPr>
        <p:spPr bwMode="auto">
          <a:xfrm>
            <a:off x="1287862" y="362424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191816975" name="Oval 5"/>
          <p:cNvSpPr/>
          <p:nvPr/>
        </p:nvSpPr>
        <p:spPr bwMode="auto">
          <a:xfrm>
            <a:off x="724446"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1406865682" name="Oval 6"/>
          <p:cNvSpPr/>
          <p:nvPr/>
        </p:nvSpPr>
        <p:spPr bwMode="auto">
          <a:xfrm>
            <a:off x="1987519"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1886439031" name="Oval 7"/>
          <p:cNvSpPr/>
          <p:nvPr/>
        </p:nvSpPr>
        <p:spPr bwMode="auto">
          <a:xfrm>
            <a:off x="2482823" y="362424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1982965231" name="Oval 8"/>
          <p:cNvSpPr/>
          <p:nvPr/>
        </p:nvSpPr>
        <p:spPr bwMode="auto">
          <a:xfrm>
            <a:off x="3075102"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1159859131" name="Oval 9"/>
          <p:cNvSpPr/>
          <p:nvPr/>
        </p:nvSpPr>
        <p:spPr bwMode="auto">
          <a:xfrm>
            <a:off x="2482823" y="556388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cxnSp>
        <p:nvCxnSpPr>
          <p:cNvPr id="1385401659" name="Straight Arrow Connector 10"/>
          <p:cNvCxnSpPr>
            <a:stCxn id="1180721645" idx="3"/>
            <a:endCxn id="2034946091" idx="0"/>
          </p:cNvCxnSpPr>
          <p:nvPr/>
        </p:nvCxnSpPr>
        <p:spPr bwMode="auto">
          <a:xfrm flipH="1">
            <a:off x="1568662" y="3161484"/>
            <a:ext cx="417976" cy="46275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18152335" name="Straight Arrow Connector 11"/>
          <p:cNvCxnSpPr>
            <a:stCxn id="2034946091" idx="3"/>
            <a:endCxn id="191816975" idx="0"/>
          </p:cNvCxnSpPr>
          <p:nvPr/>
        </p:nvCxnSpPr>
        <p:spPr bwMode="auto">
          <a:xfrm flipH="1">
            <a:off x="1005246" y="4103599"/>
            <a:ext cx="364860"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96920509" name="Straight Arrow Connector 12"/>
          <p:cNvCxnSpPr>
            <a:stCxn id="1180721645" idx="5"/>
            <a:endCxn id="1886439031" idx="0"/>
          </p:cNvCxnSpPr>
          <p:nvPr/>
        </p:nvCxnSpPr>
        <p:spPr bwMode="auto">
          <a:xfrm>
            <a:off x="2383750" y="3161484"/>
            <a:ext cx="379873" cy="46275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86930294" name="Straight Arrow Connector 13"/>
          <p:cNvCxnSpPr>
            <a:stCxn id="1886439031" idx="3"/>
            <a:endCxn id="1406865682" idx="0"/>
          </p:cNvCxnSpPr>
          <p:nvPr/>
        </p:nvCxnSpPr>
        <p:spPr bwMode="auto">
          <a:xfrm flipH="1">
            <a:off x="2268319" y="4103599"/>
            <a:ext cx="296748"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24391103" name="Straight Arrow Connector 14"/>
          <p:cNvCxnSpPr>
            <a:stCxn id="1886439031" idx="5"/>
            <a:endCxn id="1982965231" idx="0"/>
          </p:cNvCxnSpPr>
          <p:nvPr/>
        </p:nvCxnSpPr>
        <p:spPr bwMode="auto">
          <a:xfrm>
            <a:off x="2962178" y="4103599"/>
            <a:ext cx="393723"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62063442" name="Straight Arrow Connector 15"/>
          <p:cNvCxnSpPr>
            <a:stCxn id="1406865682" idx="5"/>
            <a:endCxn id="1159859131" idx="0"/>
          </p:cNvCxnSpPr>
          <p:nvPr/>
        </p:nvCxnSpPr>
        <p:spPr bwMode="auto">
          <a:xfrm>
            <a:off x="2466875" y="5109906"/>
            <a:ext cx="296748" cy="45397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840286769" name="Group 23"/>
          <p:cNvGrpSpPr/>
          <p:nvPr/>
        </p:nvGrpSpPr>
        <p:grpSpPr bwMode="auto">
          <a:xfrm>
            <a:off x="1445621" y="1219199"/>
            <a:ext cx="3385677" cy="558801"/>
            <a:chOff x="-76200" y="4191000"/>
            <a:chExt cx="1997075" cy="381000"/>
          </a:xfrm>
        </p:grpSpPr>
        <p:sp>
          <p:nvSpPr>
            <p:cNvPr id="25" name="Rectangle 24"/>
            <p:cNvSpPr/>
            <p:nvPr/>
          </p:nvSpPr>
          <p:spPr bwMode="auto">
            <a:xfrm>
              <a:off x="609599" y="4191000"/>
              <a:ext cx="62865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DATA</a:t>
              </a:r>
              <a:endParaRPr lang="en-US" sz="2000" b="1"/>
            </a:p>
          </p:txBody>
        </p:sp>
        <p:sp>
          <p:nvSpPr>
            <p:cNvPr id="26" name="Rectangle 25"/>
            <p:cNvSpPr/>
            <p:nvPr/>
          </p:nvSpPr>
          <p:spPr bwMode="auto">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LPTR</a:t>
              </a:r>
              <a:endParaRPr lang="en-US" sz="2000" b="1"/>
            </a:p>
          </p:txBody>
        </p:sp>
        <p:sp>
          <p:nvSpPr>
            <p:cNvPr id="27" name="Rectangle 26"/>
            <p:cNvSpPr/>
            <p:nvPr/>
          </p:nvSpPr>
          <p:spPr bwMode="auto">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RPTR</a:t>
              </a:r>
              <a:endParaRPr lang="en-US" sz="2000" b="1"/>
            </a:p>
          </p:txBody>
        </p:sp>
      </p:grpSp>
      <p:sp>
        <p:nvSpPr>
          <p:cNvPr id="1952415141" name="TextBox 27"/>
          <p:cNvSpPr txBox="1"/>
          <p:nvPr/>
        </p:nvSpPr>
        <p:spPr bwMode="auto">
          <a:xfrm>
            <a:off x="1607904" y="1849397"/>
            <a:ext cx="3066489" cy="400110"/>
          </a:xfrm>
          <a:prstGeom prst="rect">
            <a:avLst/>
          </a:prstGeom>
          <a:noFill/>
        </p:spPr>
        <p:txBody>
          <a:bodyPr wrap="square" rtlCol="0">
            <a:spAutoFit/>
          </a:bodyPr>
          <a:lstStyle/>
          <a:p>
            <a:pPr algn="ctr">
              <a:defRPr/>
            </a:pPr>
            <a:r>
              <a:rPr lang="en-IN" sz="2000" b="1"/>
              <a:t>Typical node </a:t>
            </a:r>
            <a:r>
              <a:rPr lang="en-IN" sz="2000" b="1"/>
              <a:t>of Binary </a:t>
            </a:r>
            <a:r>
              <a:rPr lang="en-IN" sz="2000" b="1"/>
              <a:t>Tree</a:t>
            </a:r>
            <a:endParaRPr lang="en-US" sz="2000" b="1"/>
          </a:p>
        </p:txBody>
      </p:sp>
      <p:grpSp>
        <p:nvGrpSpPr>
          <p:cNvPr id="254858218" name="Group 28"/>
          <p:cNvGrpSpPr/>
          <p:nvPr/>
        </p:nvGrpSpPr>
        <p:grpSpPr bwMode="auto">
          <a:xfrm>
            <a:off x="6596545" y="1796877"/>
            <a:ext cx="1440000" cy="540000"/>
            <a:chOff x="304800" y="4191000"/>
            <a:chExt cx="1066800" cy="381000"/>
          </a:xfrm>
        </p:grpSpPr>
        <p:sp>
          <p:nvSpPr>
            <p:cNvPr id="30" name="Rectangle 29"/>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31" name="Rectangle 30"/>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32" name="Rectangle 31"/>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11887950" name="Group 32"/>
          <p:cNvGrpSpPr/>
          <p:nvPr/>
        </p:nvGrpSpPr>
        <p:grpSpPr bwMode="auto">
          <a:xfrm>
            <a:off x="5377345" y="3092277"/>
            <a:ext cx="1440000" cy="540000"/>
            <a:chOff x="304800" y="4191000"/>
            <a:chExt cx="1066800" cy="381000"/>
          </a:xfrm>
        </p:grpSpPr>
        <p:sp>
          <p:nvSpPr>
            <p:cNvPr id="34" name="Rectangle 33"/>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35" name="Rectangle 34"/>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36" name="Rectangle 35"/>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554122475" name="Group 36"/>
          <p:cNvGrpSpPr/>
          <p:nvPr/>
        </p:nvGrpSpPr>
        <p:grpSpPr bwMode="auto">
          <a:xfrm>
            <a:off x="7739545" y="3092277"/>
            <a:ext cx="1440000" cy="540000"/>
            <a:chOff x="304800" y="4191000"/>
            <a:chExt cx="1066800" cy="381000"/>
          </a:xfrm>
        </p:grpSpPr>
        <p:sp>
          <p:nvSpPr>
            <p:cNvPr id="38" name="Rectangle 37"/>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39" name="Rectangle 38"/>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0" name="Rectangle 39"/>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552440391" name="Group 40"/>
          <p:cNvGrpSpPr/>
          <p:nvPr/>
        </p:nvGrpSpPr>
        <p:grpSpPr bwMode="auto">
          <a:xfrm>
            <a:off x="4386745" y="4463877"/>
            <a:ext cx="1440000" cy="540000"/>
            <a:chOff x="304800" y="4191000"/>
            <a:chExt cx="1066800" cy="381000"/>
          </a:xfrm>
        </p:grpSpPr>
        <p:sp>
          <p:nvSpPr>
            <p:cNvPr id="42" name="Rectangle 41"/>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43" name="Rectangle 42"/>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4" name="Rectangle 43"/>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404110129" name="Group 44"/>
          <p:cNvGrpSpPr/>
          <p:nvPr/>
        </p:nvGrpSpPr>
        <p:grpSpPr bwMode="auto">
          <a:xfrm>
            <a:off x="6825145" y="4463877"/>
            <a:ext cx="1440000" cy="540000"/>
            <a:chOff x="304800" y="4191000"/>
            <a:chExt cx="1066800" cy="381000"/>
          </a:xfrm>
        </p:grpSpPr>
        <p:sp>
          <p:nvSpPr>
            <p:cNvPr id="46" name="Rectangle 45"/>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47" name="Rectangle 46"/>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8" name="Rectangle 47"/>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328913049" name="Group 48"/>
          <p:cNvGrpSpPr/>
          <p:nvPr/>
        </p:nvGrpSpPr>
        <p:grpSpPr bwMode="auto">
          <a:xfrm>
            <a:off x="8806345" y="4463877"/>
            <a:ext cx="1440000" cy="540000"/>
            <a:chOff x="304800" y="4191000"/>
            <a:chExt cx="1066800" cy="381000"/>
          </a:xfrm>
        </p:grpSpPr>
        <p:sp>
          <p:nvSpPr>
            <p:cNvPr id="50" name="Rectangle 49"/>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51" name="Rectangle 50"/>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52" name="Rectangle 51"/>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248360029" name="Group 52"/>
          <p:cNvGrpSpPr/>
          <p:nvPr/>
        </p:nvGrpSpPr>
        <p:grpSpPr bwMode="auto">
          <a:xfrm>
            <a:off x="7815745" y="5759277"/>
            <a:ext cx="1440000" cy="540000"/>
            <a:chOff x="304800" y="4191000"/>
            <a:chExt cx="1066800" cy="381000"/>
          </a:xfrm>
        </p:grpSpPr>
        <p:sp>
          <p:nvSpPr>
            <p:cNvPr id="54" name="Rectangle 53"/>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sp>
          <p:nvSpPr>
            <p:cNvPr id="55" name="Rectangle 54"/>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56" name="Rectangle 55"/>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sp>
        <p:nvSpPr>
          <p:cNvPr id="1770767449" name="Freeform 56"/>
          <p:cNvSpPr/>
          <p:nvPr/>
        </p:nvSpPr>
        <p:spPr bwMode="auto">
          <a:xfrm>
            <a:off x="6105115" y="2042885"/>
            <a:ext cx="691077" cy="1033889"/>
          </a:xfrm>
          <a:custGeom>
            <a:avLst/>
            <a:gdLst>
              <a:gd name="connsiteX0" fmla="*/ 829994 w 829994"/>
              <a:gd name="connsiteY0" fmla="*/ 0 h 1125416"/>
              <a:gd name="connsiteX1" fmla="*/ 0 w 829994"/>
              <a:gd name="connsiteY1" fmla="*/ 0 h 1125416"/>
              <a:gd name="connsiteX2" fmla="*/ 0 w 829994"/>
              <a:gd name="connsiteY2" fmla="*/ 1125416 h 1125416"/>
            </a:gdLst>
            <a:ahLst/>
            <a:cxnLst>
              <a:cxn ang="0">
                <a:pos x="connsiteX0" y="connsiteY0"/>
              </a:cxn>
              <a:cxn ang="0">
                <a:pos x="connsiteX1" y="connsiteY1"/>
              </a:cxn>
              <a:cxn ang="0">
                <a:pos x="connsiteX2" y="connsiteY2"/>
              </a:cxn>
            </a:cxnLst>
            <a:rect l="l" t="t" r="r" b="b"/>
            <a:pathLst>
              <a:path w="829994" h="1125416" fill="norm" stroke="1" extrusionOk="0">
                <a:moveTo>
                  <a:pt x="829994" y="0"/>
                </a:moveTo>
                <a:lnTo>
                  <a:pt x="0" y="0"/>
                </a:lnTo>
                <a:lnTo>
                  <a:pt x="0" y="112541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2005424014" name="Freeform 57"/>
          <p:cNvSpPr/>
          <p:nvPr/>
        </p:nvSpPr>
        <p:spPr bwMode="auto">
          <a:xfrm>
            <a:off x="5097169" y="3369260"/>
            <a:ext cx="454135" cy="1080000"/>
          </a:xfrm>
          <a:custGeom>
            <a:avLst/>
            <a:gdLst>
              <a:gd name="connsiteX0" fmla="*/ 661181 w 661181"/>
              <a:gd name="connsiteY0" fmla="*/ 0 h 1181686"/>
              <a:gd name="connsiteX1" fmla="*/ 0 w 661181"/>
              <a:gd name="connsiteY1" fmla="*/ 0 h 1181686"/>
              <a:gd name="connsiteX2" fmla="*/ 0 w 661181"/>
              <a:gd name="connsiteY2" fmla="*/ 1181686 h 1181686"/>
            </a:gdLst>
            <a:ahLst/>
            <a:cxnLst>
              <a:cxn ang="0">
                <a:pos x="connsiteX0" y="connsiteY0"/>
              </a:cxn>
              <a:cxn ang="0">
                <a:pos x="connsiteX1" y="connsiteY1"/>
              </a:cxn>
              <a:cxn ang="0">
                <a:pos x="connsiteX2" y="connsiteY2"/>
              </a:cxn>
            </a:cxnLst>
            <a:rect l="l" t="t" r="r" b="b"/>
            <a:pathLst>
              <a:path w="661181" h="1181686" fill="norm" stroke="1" extrusionOk="0">
                <a:moveTo>
                  <a:pt x="661181" y="0"/>
                </a:moveTo>
                <a:lnTo>
                  <a:pt x="0" y="0"/>
                </a:lnTo>
                <a:lnTo>
                  <a:pt x="0" y="118168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1726112167" name="Freeform 58"/>
          <p:cNvSpPr/>
          <p:nvPr/>
        </p:nvSpPr>
        <p:spPr bwMode="auto">
          <a:xfrm>
            <a:off x="7853714" y="2043229"/>
            <a:ext cx="691200" cy="1033200"/>
          </a:xfrm>
          <a:custGeom>
            <a:avLst/>
            <a:gdLst>
              <a:gd name="connsiteX0" fmla="*/ 0 w 731520"/>
              <a:gd name="connsiteY0" fmla="*/ 0 h 1111347"/>
              <a:gd name="connsiteX1" fmla="*/ 731520 w 731520"/>
              <a:gd name="connsiteY1" fmla="*/ 0 h 1111347"/>
              <a:gd name="connsiteX2" fmla="*/ 731520 w 731520"/>
              <a:gd name="connsiteY2" fmla="*/ 1111347 h 1111347"/>
            </a:gdLst>
            <a:ahLst/>
            <a:cxnLst>
              <a:cxn ang="0">
                <a:pos x="connsiteX0" y="connsiteY0"/>
              </a:cxn>
              <a:cxn ang="0">
                <a:pos x="connsiteX1" y="connsiteY1"/>
              </a:cxn>
              <a:cxn ang="0">
                <a:pos x="connsiteX2" y="connsiteY2"/>
              </a:cxn>
            </a:cxnLst>
            <a:rect l="l" t="t" r="r" b="b"/>
            <a:pathLst>
              <a:path w="731520" h="1111347" fill="norm" stroke="1" extrusionOk="0">
                <a:moveTo>
                  <a:pt x="0" y="0"/>
                </a:moveTo>
                <a:lnTo>
                  <a:pt x="731520" y="0"/>
                </a:lnTo>
                <a:lnTo>
                  <a:pt x="731520" y="111134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2121439724" name="Freeform 59"/>
          <p:cNvSpPr/>
          <p:nvPr/>
        </p:nvSpPr>
        <p:spPr bwMode="auto">
          <a:xfrm>
            <a:off x="7529409" y="3369260"/>
            <a:ext cx="413622" cy="1080000"/>
          </a:xfrm>
          <a:custGeom>
            <a:avLst/>
            <a:gdLst>
              <a:gd name="connsiteX0" fmla="*/ 534572 w 534572"/>
              <a:gd name="connsiteY0" fmla="*/ 0 h 1139483"/>
              <a:gd name="connsiteX1" fmla="*/ 0 w 534572"/>
              <a:gd name="connsiteY1" fmla="*/ 0 h 1139483"/>
              <a:gd name="connsiteX2" fmla="*/ 0 w 534572"/>
              <a:gd name="connsiteY2" fmla="*/ 1139483 h 1139483"/>
            </a:gdLst>
            <a:ahLst/>
            <a:cxnLst>
              <a:cxn ang="0">
                <a:pos x="connsiteX0" y="connsiteY0"/>
              </a:cxn>
              <a:cxn ang="0">
                <a:pos x="connsiteX1" y="connsiteY1"/>
              </a:cxn>
              <a:cxn ang="0">
                <a:pos x="connsiteX2" y="connsiteY2"/>
              </a:cxn>
            </a:cxnLst>
            <a:rect l="l" t="t" r="r" b="b"/>
            <a:pathLst>
              <a:path w="534572" h="1139483" fill="norm" stroke="1" extrusionOk="0">
                <a:moveTo>
                  <a:pt x="534572" y="0"/>
                </a:moveTo>
                <a:lnTo>
                  <a:pt x="0" y="0"/>
                </a:lnTo>
                <a:lnTo>
                  <a:pt x="0"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892446306" name="Freeform 60"/>
          <p:cNvSpPr/>
          <p:nvPr/>
        </p:nvSpPr>
        <p:spPr bwMode="auto">
          <a:xfrm>
            <a:off x="8976059" y="3369260"/>
            <a:ext cx="550961" cy="1080000"/>
          </a:xfrm>
          <a:custGeom>
            <a:avLst/>
            <a:gdLst>
              <a:gd name="connsiteX0" fmla="*/ 0 w 647114"/>
              <a:gd name="connsiteY0" fmla="*/ 0 h 1223889"/>
              <a:gd name="connsiteX1" fmla="*/ 647114 w 647114"/>
              <a:gd name="connsiteY1" fmla="*/ 0 h 1223889"/>
              <a:gd name="connsiteX2" fmla="*/ 647114 w 647114"/>
              <a:gd name="connsiteY2" fmla="*/ 1223889 h 1223889"/>
            </a:gdLst>
            <a:ahLst/>
            <a:cxnLst>
              <a:cxn ang="0">
                <a:pos x="connsiteX0" y="connsiteY0"/>
              </a:cxn>
              <a:cxn ang="0">
                <a:pos x="connsiteX1" y="connsiteY1"/>
              </a:cxn>
              <a:cxn ang="0">
                <a:pos x="connsiteX2" y="connsiteY2"/>
              </a:cxn>
            </a:cxnLst>
            <a:rect l="l" t="t" r="r" b="b"/>
            <a:pathLst>
              <a:path w="647114" h="1223889" fill="norm" stroke="1" extrusionOk="0">
                <a:moveTo>
                  <a:pt x="0" y="0"/>
                </a:moveTo>
                <a:lnTo>
                  <a:pt x="647114" y="0"/>
                </a:lnTo>
                <a:lnTo>
                  <a:pt x="647114" y="122388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35605517" name="Freeform 61"/>
          <p:cNvSpPr/>
          <p:nvPr/>
        </p:nvSpPr>
        <p:spPr bwMode="auto">
          <a:xfrm>
            <a:off x="8084170" y="4736645"/>
            <a:ext cx="425436" cy="1014614"/>
          </a:xfrm>
          <a:custGeom>
            <a:avLst/>
            <a:gdLst>
              <a:gd name="connsiteX0" fmla="*/ 0 w 534573"/>
              <a:gd name="connsiteY0" fmla="*/ 0 h 1139483"/>
              <a:gd name="connsiteX1" fmla="*/ 534573 w 534573"/>
              <a:gd name="connsiteY1" fmla="*/ 0 h 1139483"/>
              <a:gd name="connsiteX2" fmla="*/ 534573 w 534573"/>
              <a:gd name="connsiteY2" fmla="*/ 1139483 h 1139483"/>
            </a:gdLst>
            <a:ahLst/>
            <a:cxnLst>
              <a:cxn ang="0">
                <a:pos x="connsiteX0" y="connsiteY0"/>
              </a:cxn>
              <a:cxn ang="0">
                <a:pos x="connsiteX1" y="connsiteY1"/>
              </a:cxn>
              <a:cxn ang="0">
                <a:pos x="connsiteX2" y="connsiteY2"/>
              </a:cxn>
            </a:cxnLst>
            <a:rect l="l" t="t" r="r" b="b"/>
            <a:pathLst>
              <a:path w="534573" h="1139483" fill="norm" stroke="1" extrusionOk="0">
                <a:moveTo>
                  <a:pt x="0" y="0"/>
                </a:moveTo>
                <a:lnTo>
                  <a:pt x="534573" y="0"/>
                </a:lnTo>
                <a:lnTo>
                  <a:pt x="534573"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cxnSp>
        <p:nvCxnSpPr>
          <p:cNvPr id="369377548" name="Straight Connector 63"/>
          <p:cNvCxnSpPr/>
          <p:nvPr/>
        </p:nvCxnSpPr>
        <p:spPr bwMode="auto">
          <a:xfrm flipH="1">
            <a:off x="6405915" y="3092277"/>
            <a:ext cx="394562"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823203965" name="Straight Connector 64"/>
          <p:cNvCxnSpPr/>
          <p:nvPr/>
        </p:nvCxnSpPr>
        <p:spPr bwMode="auto">
          <a:xfrm flipH="1">
            <a:off x="4382860" y="4463877"/>
            <a:ext cx="423085"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2094267174" name="Straight Connector 65"/>
          <p:cNvCxnSpPr/>
          <p:nvPr/>
        </p:nvCxnSpPr>
        <p:spPr bwMode="auto">
          <a:xfrm flipH="1">
            <a:off x="5414602" y="4463877"/>
            <a:ext cx="403351"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848469024" name="Straight Connector 66"/>
          <p:cNvCxnSpPr/>
          <p:nvPr/>
        </p:nvCxnSpPr>
        <p:spPr bwMode="auto">
          <a:xfrm flipH="1">
            <a:off x="6841797" y="4481690"/>
            <a:ext cx="371433" cy="522187"/>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712948324" name="Straight Connector 67"/>
          <p:cNvCxnSpPr/>
          <p:nvPr/>
        </p:nvCxnSpPr>
        <p:spPr bwMode="auto">
          <a:xfrm flipH="1">
            <a:off x="8806345" y="4481690"/>
            <a:ext cx="388800" cy="522187"/>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013931258" name="Straight Connector 68"/>
          <p:cNvCxnSpPr/>
          <p:nvPr/>
        </p:nvCxnSpPr>
        <p:spPr bwMode="auto">
          <a:xfrm flipH="1">
            <a:off x="9834918" y="4488995"/>
            <a:ext cx="403638" cy="514882"/>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799540012" name="Straight Connector 69"/>
          <p:cNvCxnSpPr/>
          <p:nvPr/>
        </p:nvCxnSpPr>
        <p:spPr bwMode="auto">
          <a:xfrm flipH="1">
            <a:off x="8861634" y="5759277"/>
            <a:ext cx="389905"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269808251" name="Straight Connector 70"/>
          <p:cNvCxnSpPr/>
          <p:nvPr/>
        </p:nvCxnSpPr>
        <p:spPr bwMode="auto">
          <a:xfrm flipH="1">
            <a:off x="7815745" y="5759277"/>
            <a:ext cx="411427"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1855010790" name="TextBox 71"/>
          <p:cNvSpPr txBox="1"/>
          <p:nvPr/>
        </p:nvSpPr>
        <p:spPr bwMode="auto">
          <a:xfrm>
            <a:off x="7131935" y="808546"/>
            <a:ext cx="351378" cy="461665"/>
          </a:xfrm>
          <a:prstGeom prst="rect">
            <a:avLst/>
          </a:prstGeom>
          <a:noFill/>
        </p:spPr>
        <p:txBody>
          <a:bodyPr wrap="none" rtlCol="0">
            <a:spAutoFit/>
          </a:bodyPr>
          <a:lstStyle/>
          <a:p>
            <a:pPr algn="ctr">
              <a:defRPr/>
            </a:pPr>
            <a:r>
              <a:rPr lang="en-IN" sz="2400" b="1">
                <a:solidFill>
                  <a:srgbClr val="C00000"/>
                </a:solidFill>
              </a:rPr>
              <a:t>T</a:t>
            </a:r>
            <a:endParaRPr lang="en-US" sz="2400" b="1">
              <a:solidFill>
                <a:srgbClr val="C00000"/>
              </a:solidFill>
            </a:endParaRPr>
          </a:p>
        </p:txBody>
      </p:sp>
      <p:cxnSp>
        <p:nvCxnSpPr>
          <p:cNvPr id="2040129331" name="Straight Arrow Connector 73"/>
          <p:cNvCxnSpPr>
            <a:stCxn id="1855010790" idx="2"/>
            <a:endCxn id="30" idx="0"/>
          </p:cNvCxnSpPr>
          <p:nvPr/>
        </p:nvCxnSpPr>
        <p:spPr bwMode="auto">
          <a:xfrm>
            <a:off x="7307624" y="1270211"/>
            <a:ext cx="8922" cy="52666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028676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52415141"/>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8072164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03494609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181697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0686568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8643903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98296523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5985913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385401659"/>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21815233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796920509"/>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68693029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42439110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6206344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548582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22" presetClass="entr" presetSubtype="2" fill="hold" grpId="0" nodeType="clickEffect">
                                  <p:stCondLst>
                                    <p:cond delay="0"/>
                                  </p:stCondLst>
                                  <p:childTnLst>
                                    <p:set>
                                      <p:cBhvr>
                                        <p:cTn id="44" dur="1" fill="hold">
                                          <p:stCondLst>
                                            <p:cond delay="0"/>
                                          </p:stCondLst>
                                        </p:cTn>
                                        <p:tgtEl>
                                          <p:spTgt spid="1770767449"/>
                                        </p:tgtEl>
                                        <p:attrNameLst>
                                          <p:attrName>style.visibility</p:attrName>
                                        </p:attrNameLst>
                                      </p:cBhvr>
                                      <p:to>
                                        <p:strVal val="visible"/>
                                      </p:to>
                                    </p:set>
                                    <p:animEffect transition="in" filter="wipe(right)">
                                      <p:cBhvr>
                                        <p:cTn id="45" dur="500"/>
                                        <p:tgtEl>
                                          <p:spTgt spid="1770767449"/>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1188795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2" fill="hold" grpId="0" nodeType="clickEffect">
                                  <p:stCondLst>
                                    <p:cond delay="0"/>
                                  </p:stCondLst>
                                  <p:childTnLst>
                                    <p:set>
                                      <p:cBhvr>
                                        <p:cTn id="53" dur="1" fill="hold">
                                          <p:stCondLst>
                                            <p:cond delay="0"/>
                                          </p:stCondLst>
                                        </p:cTn>
                                        <p:tgtEl>
                                          <p:spTgt spid="2005424014"/>
                                        </p:tgtEl>
                                        <p:attrNameLst>
                                          <p:attrName>style.visibility</p:attrName>
                                        </p:attrNameLst>
                                      </p:cBhvr>
                                      <p:to>
                                        <p:strVal val="visible"/>
                                      </p:to>
                                    </p:set>
                                    <p:animEffect transition="in" filter="wipe(right)">
                                      <p:cBhvr>
                                        <p:cTn id="54" dur="500"/>
                                        <p:tgtEl>
                                          <p:spTgt spid="2005424014"/>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52440391"/>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369377548"/>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2320396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094267174"/>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1726112167"/>
                                        </p:tgtEl>
                                        <p:attrNameLst>
                                          <p:attrName>style.visibility</p:attrName>
                                        </p:attrNameLst>
                                      </p:cBhvr>
                                      <p:to>
                                        <p:strVal val="visible"/>
                                      </p:to>
                                    </p:set>
                                    <p:animEffect transition="in" filter="wipe(left)">
                                      <p:cBhvr>
                                        <p:cTn id="75" dur="500"/>
                                        <p:tgtEl>
                                          <p:spTgt spid="1726112167"/>
                                        </p:tgtEl>
                                      </p:cBhvr>
                                    </p:animEffec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554122475"/>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2" fill="hold" grpId="0" nodeType="clickEffect">
                                  <p:stCondLst>
                                    <p:cond delay="0"/>
                                  </p:stCondLst>
                                  <p:childTnLst>
                                    <p:set>
                                      <p:cBhvr>
                                        <p:cTn id="83" dur="1" fill="hold">
                                          <p:stCondLst>
                                            <p:cond delay="0"/>
                                          </p:stCondLst>
                                        </p:cTn>
                                        <p:tgtEl>
                                          <p:spTgt spid="2121439724"/>
                                        </p:tgtEl>
                                        <p:attrNameLst>
                                          <p:attrName>style.visibility</p:attrName>
                                        </p:attrNameLst>
                                      </p:cBhvr>
                                      <p:to>
                                        <p:strVal val="visible"/>
                                      </p:to>
                                    </p:set>
                                    <p:animEffect transition="in" filter="wipe(right)">
                                      <p:cBhvr>
                                        <p:cTn id="84" dur="500"/>
                                        <p:tgtEl>
                                          <p:spTgt spid="2121439724"/>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0"/>
                                          </p:stCondLst>
                                        </p:cTn>
                                        <p:tgtEl>
                                          <p:spTgt spid="404110129"/>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8" fill="hold" grpId="0" nodeType="clickEffect">
                                  <p:stCondLst>
                                    <p:cond delay="0"/>
                                  </p:stCondLst>
                                  <p:childTnLst>
                                    <p:set>
                                      <p:cBhvr>
                                        <p:cTn id="92" dur="1" fill="hold">
                                          <p:stCondLst>
                                            <p:cond delay="0"/>
                                          </p:stCondLst>
                                        </p:cTn>
                                        <p:tgtEl>
                                          <p:spTgt spid="892446306"/>
                                        </p:tgtEl>
                                        <p:attrNameLst>
                                          <p:attrName>style.visibility</p:attrName>
                                        </p:attrNameLst>
                                      </p:cBhvr>
                                      <p:to>
                                        <p:strVal val="visible"/>
                                      </p:to>
                                    </p:set>
                                    <p:animEffect transition="in" filter="wipe(left)">
                                      <p:cBhvr>
                                        <p:cTn id="93" dur="500"/>
                                        <p:tgtEl>
                                          <p:spTgt spid="892446306"/>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nodeType="clickEffect">
                                  <p:stCondLst>
                                    <p:cond delay="0"/>
                                  </p:stCondLst>
                                  <p:childTnLst>
                                    <p:set>
                                      <p:cBhvr>
                                        <p:cTn id="97" dur="1" fill="hold">
                                          <p:stCondLst>
                                            <p:cond delay="0"/>
                                          </p:stCondLst>
                                        </p:cTn>
                                        <p:tgtEl>
                                          <p:spTgt spid="328913049"/>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1" presetClass="entr" presetSubtype="0" fill="hold" nodeType="clickEffect">
                                  <p:stCondLst>
                                    <p:cond delay="0"/>
                                  </p:stCondLst>
                                  <p:childTnLst>
                                    <p:set>
                                      <p:cBhvr>
                                        <p:cTn id="101" dur="1" fill="hold">
                                          <p:stCondLst>
                                            <p:cond delay="0"/>
                                          </p:stCondLst>
                                        </p:cTn>
                                        <p:tgtEl>
                                          <p:spTgt spid="848469024"/>
                                        </p:tgtEl>
                                        <p:attrNameLst>
                                          <p:attrName>style.visibility</p:attrName>
                                        </p:attrNameLst>
                                      </p:cBhvr>
                                      <p:to>
                                        <p:strVal val="visible"/>
                                      </p:to>
                                    </p:set>
                                  </p:childTnLst>
                                </p:cTn>
                              </p:par>
                            </p:childTnLst>
                          </p:cTn>
                        </p:par>
                      </p:childTnLst>
                    </p:cTn>
                  </p:par>
                  <p:par>
                    <p:cTn id="102" fill="hold">
                      <p:stCondLst>
                        <p:cond delay="indefinite"/>
                      </p:stCondLst>
                      <p:childTnLst>
                        <p:par>
                          <p:cTn id="103" fill="hold">
                            <p:stCondLst>
                              <p:cond delay="0"/>
                            </p:stCondLst>
                            <p:childTnLst>
                              <p:par>
                                <p:cTn id="104" presetID="22" presetClass="entr" presetSubtype="8" fill="hold" grpId="0" nodeType="clickEffect">
                                  <p:stCondLst>
                                    <p:cond delay="0"/>
                                  </p:stCondLst>
                                  <p:childTnLst>
                                    <p:set>
                                      <p:cBhvr>
                                        <p:cTn id="105" dur="1" fill="hold">
                                          <p:stCondLst>
                                            <p:cond delay="0"/>
                                          </p:stCondLst>
                                        </p:cTn>
                                        <p:tgtEl>
                                          <p:spTgt spid="35605517"/>
                                        </p:tgtEl>
                                        <p:attrNameLst>
                                          <p:attrName>style.visibility</p:attrName>
                                        </p:attrNameLst>
                                      </p:cBhvr>
                                      <p:to>
                                        <p:strVal val="visible"/>
                                      </p:to>
                                    </p:set>
                                    <p:animEffect transition="in" filter="wipe(left)">
                                      <p:cBhvr>
                                        <p:cTn id="106" dur="500"/>
                                        <p:tgtEl>
                                          <p:spTgt spid="35605517"/>
                                        </p:tgtEl>
                                      </p:cBhvr>
                                    </p:animEffec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248360029"/>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712948324"/>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1013931258"/>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269808251"/>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1799540012"/>
                                        </p:tgtEl>
                                        <p:attrNameLst>
                                          <p:attrName>style.visibility</p:attrName>
                                        </p:attrNameLst>
                                      </p:cBhvr>
                                      <p:to>
                                        <p:strVal val="visible"/>
                                      </p:to>
                                    </p:set>
                                  </p:childTnLst>
                                </p:cTn>
                              </p:par>
                            </p:childTnLst>
                          </p:cTn>
                        </p:par>
                      </p:childTnLst>
                    </p:cTn>
                  </p:par>
                  <p:par>
                    <p:cTn id="127" fill="hold">
                      <p:stCondLst>
                        <p:cond delay="indefinite"/>
                      </p:stCondLst>
                      <p:childTnLst>
                        <p:par>
                          <p:cTn id="128" fill="hold">
                            <p:stCondLst>
                              <p:cond delay="0"/>
                            </p:stCondLst>
                            <p:childTnLst>
                              <p:par>
                                <p:cTn id="129" presetID="1" presetClass="entr" presetSubtype="0" fill="hold" grpId="0" nodeType="clickEffect">
                                  <p:stCondLst>
                                    <p:cond delay="0"/>
                                  </p:stCondLst>
                                  <p:childTnLst>
                                    <p:set>
                                      <p:cBhvr>
                                        <p:cTn id="130" dur="1" fill="hold">
                                          <p:stCondLst>
                                            <p:cond delay="0"/>
                                          </p:stCondLst>
                                        </p:cTn>
                                        <p:tgtEl>
                                          <p:spTgt spid="1855010790"/>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20401293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80721645" grpId="0" animBg="1"/>
      <p:bldP spid="2034946091" grpId="0" animBg="1"/>
      <p:bldP spid="191816975" grpId="0" animBg="1"/>
      <p:bldP spid="1406865682" grpId="0" animBg="1"/>
      <p:bldP spid="1886439031" grpId="0" animBg="1"/>
      <p:bldP spid="1982965231" grpId="0" animBg="1"/>
      <p:bldP spid="1159859131" grpId="0" animBg="1"/>
      <p:bldP spid="1952415141" grpId="0"/>
      <p:bldP spid="1770767449" grpId="0" animBg="1"/>
      <p:bldP spid="2005424014" grpId="0" animBg="1"/>
      <p:bldP spid="1726112167" grpId="0" animBg="1"/>
      <p:bldP spid="2121439724" grpId="0" animBg="1"/>
      <p:bldP spid="892446306" grpId="0" animBg="1"/>
      <p:bldP spid="35605517" grpId="0" animBg="1"/>
      <p:bldP spid="1855010790" grpId="0"/>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48537142" name="Title 1"/>
          <p:cNvSpPr>
            <a:spLocks noGrp="1"/>
          </p:cNvSpPr>
          <p:nvPr>
            <p:ph type="title"/>
          </p:nvPr>
        </p:nvSpPr>
        <p:spPr bwMode="auto"/>
        <p:txBody>
          <a:bodyPr/>
          <a:lstStyle/>
          <a:p>
            <a:pPr>
              <a:defRPr/>
            </a:pPr>
            <a:r>
              <a:rPr lang="en-US"/>
              <a:t>Algorithm </a:t>
            </a:r>
            <a:r>
              <a:rPr lang="en-US"/>
              <a:t>of </a:t>
            </a:r>
            <a:r>
              <a:rPr lang="en-US"/>
              <a:t>Binary Tree Traversal</a:t>
            </a:r>
            <a:endParaRPr lang="en-US"/>
          </a:p>
        </p:txBody>
      </p:sp>
      <p:sp>
        <p:nvSpPr>
          <p:cNvPr id="737452337" name="Content Placeholder 2"/>
          <p:cNvSpPr>
            <a:spLocks noGrp="1"/>
          </p:cNvSpPr>
          <p:nvPr>
            <p:ph idx="1"/>
          </p:nvPr>
        </p:nvSpPr>
        <p:spPr bwMode="auto"/>
        <p:txBody>
          <a:bodyPr/>
          <a:lstStyle/>
          <a:p>
            <a:pPr>
              <a:defRPr/>
            </a:pPr>
            <a:r>
              <a:rPr lang="en-US"/>
              <a:t>Preorder Traversal - Procedure: RPREORDER(T)</a:t>
            </a:r>
            <a:endParaRPr/>
          </a:p>
          <a:p>
            <a:pPr>
              <a:defRPr/>
            </a:pPr>
            <a:r>
              <a:rPr lang="en-US"/>
              <a:t>Inorder</a:t>
            </a:r>
            <a:r>
              <a:rPr lang="en-US"/>
              <a:t> Traversal - Procedure: RINORDER(T)</a:t>
            </a:r>
            <a:endParaRPr/>
          </a:p>
          <a:p>
            <a:pPr>
              <a:defRPr/>
            </a:pPr>
            <a:r>
              <a:rPr lang="en-US"/>
              <a:t>Postorder</a:t>
            </a:r>
            <a:r>
              <a:rPr lang="en-US"/>
              <a:t> Traversal - Procedure: RPOSTORDER(T)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304915450" name="Title 1"/>
          <p:cNvSpPr>
            <a:spLocks noGrp="1"/>
          </p:cNvSpPr>
          <p:nvPr>
            <p:ph type="title"/>
          </p:nvPr>
        </p:nvSpPr>
        <p:spPr bwMode="auto"/>
        <p:txBody>
          <a:bodyPr/>
          <a:lstStyle/>
          <a:p>
            <a:pPr>
              <a:defRPr/>
            </a:pPr>
            <a:r>
              <a:rPr lang="en-US"/>
              <a:t>Procedure: RPREORDER(T)</a:t>
            </a:r>
            <a:endParaRPr/>
          </a:p>
        </p:txBody>
      </p:sp>
      <p:sp>
        <p:nvSpPr>
          <p:cNvPr id="950620805" name="Content Placeholder 2"/>
          <p:cNvSpPr>
            <a:spLocks noGrp="1"/>
          </p:cNvSpPr>
          <p:nvPr>
            <p:ph idx="1"/>
          </p:nvPr>
        </p:nvSpPr>
        <p:spPr bwMode="auto"/>
        <p:txBody>
          <a:bodyPr/>
          <a:lstStyle/>
          <a:p>
            <a:pPr>
              <a:defRPr/>
            </a:pPr>
            <a:r>
              <a:rPr lang="en-IN"/>
              <a:t>This procedure </a:t>
            </a:r>
            <a:r>
              <a:rPr lang="en-IN" b="1">
                <a:solidFill>
                  <a:srgbClr val="C00000"/>
                </a:solidFill>
              </a:rPr>
              <a:t>traverses</a:t>
            </a:r>
            <a:r>
              <a:rPr lang="en-IN" b="1">
                <a:solidFill>
                  <a:srgbClr val="FF0000"/>
                </a:solidFill>
              </a:rPr>
              <a:t> </a:t>
            </a:r>
            <a:r>
              <a:rPr lang="en-IN" b="1">
                <a:solidFill>
                  <a:srgbClr val="C00000"/>
                </a:solidFill>
              </a:rPr>
              <a:t>the</a:t>
            </a:r>
            <a:r>
              <a:rPr lang="en-IN" b="1">
                <a:solidFill>
                  <a:srgbClr val="FF0000"/>
                </a:solidFill>
              </a:rPr>
              <a:t> </a:t>
            </a:r>
            <a:r>
              <a:rPr lang="en-IN" b="1">
                <a:solidFill>
                  <a:srgbClr val="C00000"/>
                </a:solidFill>
              </a:rPr>
              <a:t>tree</a:t>
            </a:r>
            <a:r>
              <a:rPr lang="en-IN">
                <a:solidFill>
                  <a:srgbClr val="C00000"/>
                </a:solidFill>
              </a:rPr>
              <a:t> </a:t>
            </a:r>
            <a:r>
              <a:rPr lang="en-IN"/>
              <a:t>in </a:t>
            </a:r>
            <a:r>
              <a:rPr lang="en-IN" b="1">
                <a:solidFill>
                  <a:srgbClr val="C00000"/>
                </a:solidFill>
              </a:rPr>
              <a:t>preorder</a:t>
            </a:r>
            <a:r>
              <a:rPr lang="en-IN"/>
              <a:t>, in a recursive </a:t>
            </a:r>
            <a:r>
              <a:rPr lang="en-IN"/>
              <a:t>manner.</a:t>
            </a:r>
            <a:endParaRPr/>
          </a:p>
          <a:p>
            <a:pPr>
              <a:defRPr/>
            </a:pPr>
            <a:r>
              <a:rPr lang="en-IN" b="1">
                <a:solidFill>
                  <a:srgbClr val="C00000"/>
                </a:solidFill>
              </a:rPr>
              <a:t>T</a:t>
            </a:r>
            <a:r>
              <a:rPr lang="en-IN">
                <a:solidFill>
                  <a:srgbClr val="C00000"/>
                </a:solidFill>
              </a:rPr>
              <a:t> </a:t>
            </a:r>
            <a:r>
              <a:rPr lang="en-IN" b="1">
                <a:solidFill>
                  <a:srgbClr val="C00000"/>
                </a:solidFill>
              </a:rPr>
              <a:t>is root node address</a:t>
            </a:r>
            <a:r>
              <a:rPr lang="en-IN" b="1">
                <a:solidFill>
                  <a:srgbClr val="FF0000"/>
                </a:solidFill>
              </a:rPr>
              <a:t> </a:t>
            </a:r>
            <a:r>
              <a:rPr lang="en-IN"/>
              <a:t>of given binary tree</a:t>
            </a:r>
            <a:endParaRPr/>
          </a:p>
          <a:p>
            <a:pPr>
              <a:defRPr/>
            </a:pPr>
            <a:r>
              <a:rPr lang="en-IN"/>
              <a:t>Node structure of binary tree is described as below</a:t>
            </a:r>
            <a:endParaRPr lang="en-US"/>
          </a:p>
        </p:txBody>
      </p:sp>
      <p:grpSp>
        <p:nvGrpSpPr>
          <p:cNvPr id="941806962" name="Group 8"/>
          <p:cNvGrpSpPr/>
          <p:nvPr/>
        </p:nvGrpSpPr>
        <p:grpSpPr bwMode="auto">
          <a:xfrm>
            <a:off x="8396513" y="1401670"/>
            <a:ext cx="3385677" cy="558801"/>
            <a:chOff x="-76200" y="4191000"/>
            <a:chExt cx="1997075" cy="381000"/>
          </a:xfrm>
        </p:grpSpPr>
        <p:sp>
          <p:nvSpPr>
            <p:cNvPr id="10" name="Rectangle 9"/>
            <p:cNvSpPr/>
            <p:nvPr/>
          </p:nvSpPr>
          <p:spPr bwMode="auto">
            <a:xfrm>
              <a:off x="609599" y="4191000"/>
              <a:ext cx="62865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DATA</a:t>
              </a:r>
              <a:endParaRPr lang="en-US" sz="2000" b="1"/>
            </a:p>
          </p:txBody>
        </p:sp>
        <p:sp>
          <p:nvSpPr>
            <p:cNvPr id="11" name="Rectangle 10"/>
            <p:cNvSpPr/>
            <p:nvPr/>
          </p:nvSpPr>
          <p:spPr bwMode="auto">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LPTR</a:t>
              </a:r>
              <a:endParaRPr lang="en-US" sz="2000" b="1"/>
            </a:p>
          </p:txBody>
        </p:sp>
        <p:sp>
          <p:nvSpPr>
            <p:cNvPr id="12" name="Rectangle 11"/>
            <p:cNvSpPr/>
            <p:nvPr/>
          </p:nvSpPr>
          <p:spPr bwMode="auto">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RPTR</a:t>
              </a:r>
              <a:endParaRPr lang="en-US" sz="2000" b="1"/>
            </a:p>
          </p:txBody>
        </p:sp>
      </p:grpSp>
      <p:sp>
        <p:nvSpPr>
          <p:cNvPr id="706108195" name="TextBox 12"/>
          <p:cNvSpPr txBox="1"/>
          <p:nvPr/>
        </p:nvSpPr>
        <p:spPr bwMode="auto">
          <a:xfrm>
            <a:off x="8558796" y="2031868"/>
            <a:ext cx="3066489" cy="400110"/>
          </a:xfrm>
          <a:prstGeom prst="rect">
            <a:avLst/>
          </a:prstGeom>
          <a:noFill/>
        </p:spPr>
        <p:txBody>
          <a:bodyPr wrap="square" rtlCol="0">
            <a:spAutoFit/>
          </a:bodyPr>
          <a:lstStyle/>
          <a:p>
            <a:pPr algn="ctr">
              <a:defRPr/>
            </a:pPr>
            <a:r>
              <a:rPr lang="en-IN" sz="2000" b="1"/>
              <a:t>Typical node </a:t>
            </a:r>
            <a:r>
              <a:rPr lang="en-IN" sz="2000" b="1"/>
              <a:t>of Binary </a:t>
            </a:r>
            <a:r>
              <a:rPr lang="en-IN" sz="2000" b="1"/>
              <a:t>Tree</a:t>
            </a:r>
            <a:endParaRPr lang="en-US" sz="2000" b="1"/>
          </a:p>
        </p:txBody>
      </p:sp>
      <p:sp>
        <p:nvSpPr>
          <p:cNvPr id="357335331" name="TextBox 13"/>
          <p:cNvSpPr txBox="1"/>
          <p:nvPr/>
        </p:nvSpPr>
        <p:spPr bwMode="auto">
          <a:xfrm>
            <a:off x="482103" y="2701896"/>
            <a:ext cx="5760000" cy="2800767"/>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200" b="1">
                <a:solidFill>
                  <a:schemeClr val="tx2"/>
                </a:solidFill>
                <a:latin typeface="Consolas"/>
                <a:cs typeface="Consolas"/>
              </a:rPr>
              <a:t>1. [Check for Empty Tree]</a:t>
            </a:r>
            <a:endParaRPr/>
          </a:p>
          <a:p>
            <a:pPr>
              <a:defRPr/>
            </a:pPr>
            <a:r>
              <a:rPr lang="en-IN" sz="2200">
                <a:latin typeface="Consolas"/>
                <a:cs typeface="Consolas"/>
              </a:rPr>
              <a:t>   </a:t>
            </a:r>
            <a:r>
              <a:rPr lang="en-IN" sz="2200" b="1">
                <a:solidFill>
                  <a:schemeClr val="tx2">
                    <a:lumMod val="75000"/>
                  </a:schemeClr>
                </a:solidFill>
                <a:latin typeface="Consolas"/>
                <a:cs typeface="Consolas"/>
              </a:rPr>
              <a:t>IF    </a:t>
            </a:r>
            <a:r>
              <a:rPr lang="en-IN" sz="2200">
                <a:latin typeface="Consolas"/>
                <a:cs typeface="Consolas"/>
              </a:rPr>
              <a:t>T = NULL</a:t>
            </a:r>
            <a:endParaRPr/>
          </a:p>
          <a:p>
            <a:pPr>
              <a:defRPr/>
            </a:pPr>
            <a:r>
              <a:rPr lang="en-IN" sz="2200">
                <a:latin typeface="Consolas"/>
                <a:cs typeface="Consolas"/>
              </a:rPr>
              <a:t>   </a:t>
            </a:r>
            <a:r>
              <a:rPr lang="en-IN" sz="2200" b="1">
                <a:solidFill>
                  <a:schemeClr val="tx2">
                    <a:lumMod val="75000"/>
                  </a:schemeClr>
                </a:solidFill>
                <a:latin typeface="Consolas"/>
                <a:cs typeface="Consolas"/>
              </a:rPr>
              <a:t>THEN</a:t>
            </a:r>
            <a:r>
              <a:rPr lang="en-IN" sz="2200" b="1">
                <a:latin typeface="Consolas"/>
                <a:cs typeface="Consolas"/>
              </a:rPr>
              <a:t>  </a:t>
            </a:r>
            <a:r>
              <a:rPr lang="en-IN" sz="2200">
                <a:latin typeface="Consolas"/>
                <a:cs typeface="Consolas"/>
              </a:rPr>
              <a:t>write (‘Empty Tree’)</a:t>
            </a:r>
            <a:endParaRPr/>
          </a:p>
          <a:p>
            <a:pPr>
              <a:defRPr/>
            </a:pPr>
            <a:r>
              <a:rPr lang="en-IN" sz="2200">
                <a:latin typeface="Consolas"/>
                <a:cs typeface="Consolas"/>
              </a:rPr>
              <a:t> 	   return</a:t>
            </a:r>
            <a:endParaRPr/>
          </a:p>
          <a:p>
            <a:pPr>
              <a:defRPr/>
            </a:pPr>
            <a:r>
              <a:rPr lang="en-IN" sz="2200">
                <a:latin typeface="Consolas"/>
                <a:cs typeface="Consolas"/>
              </a:rPr>
              <a:t>   </a:t>
            </a:r>
            <a:r>
              <a:rPr lang="en-IN" sz="2200" b="1">
                <a:solidFill>
                  <a:schemeClr val="tx2">
                    <a:lumMod val="75000"/>
                  </a:schemeClr>
                </a:solidFill>
                <a:latin typeface="Consolas"/>
                <a:cs typeface="Consolas"/>
              </a:rPr>
              <a:t>ELSE</a:t>
            </a:r>
            <a:r>
              <a:rPr lang="en-IN" sz="2200" b="1">
                <a:latin typeface="Consolas"/>
                <a:cs typeface="Consolas"/>
              </a:rPr>
              <a:t>  </a:t>
            </a:r>
            <a:r>
              <a:rPr lang="en-IN" sz="2200">
                <a:latin typeface="Consolas"/>
                <a:cs typeface="Consolas"/>
              </a:rPr>
              <a:t>write (DATA(T))</a:t>
            </a:r>
            <a:endParaRPr/>
          </a:p>
          <a:p>
            <a:pPr>
              <a:defRPr/>
            </a:pPr>
            <a:r>
              <a:rPr lang="en-IN" sz="2200" b="1">
                <a:solidFill>
                  <a:schemeClr val="tx2"/>
                </a:solidFill>
                <a:latin typeface="Consolas"/>
                <a:cs typeface="Consolas"/>
              </a:rPr>
              <a:t>2. [Process the Left Sub Tree]</a:t>
            </a:r>
            <a:endParaRPr/>
          </a:p>
          <a:p>
            <a:pPr>
              <a:defRPr/>
            </a:pPr>
            <a:r>
              <a:rPr lang="en-IN" sz="2200" b="1">
                <a:latin typeface="Consolas"/>
                <a:cs typeface="Consolas"/>
              </a:rPr>
              <a:t>   </a:t>
            </a:r>
            <a:r>
              <a:rPr lang="en-IN" sz="2200" b="1">
                <a:solidFill>
                  <a:schemeClr val="tx2">
                    <a:lumMod val="75000"/>
                  </a:schemeClr>
                </a:solidFill>
                <a:latin typeface="Consolas"/>
                <a:cs typeface="Consolas"/>
              </a:rPr>
              <a:t>IF </a:t>
            </a:r>
            <a:r>
              <a:rPr lang="en-IN" sz="2200" b="1">
                <a:latin typeface="Consolas"/>
                <a:cs typeface="Consolas"/>
              </a:rPr>
              <a:t>   </a:t>
            </a:r>
            <a:r>
              <a:rPr lang="en-IN" sz="2200">
                <a:latin typeface="Consolas"/>
                <a:cs typeface="Consolas"/>
              </a:rPr>
              <a:t>LPTR (T) ≠ NULL</a:t>
            </a:r>
            <a:endParaRPr/>
          </a:p>
          <a:p>
            <a:pPr>
              <a:defRPr/>
            </a:pPr>
            <a:r>
              <a:rPr lang="en-IN" sz="2200" b="1">
                <a:latin typeface="Consolas"/>
                <a:cs typeface="Consolas"/>
              </a:rPr>
              <a:t>   </a:t>
            </a:r>
            <a:r>
              <a:rPr lang="en-IN" sz="2200" b="1">
                <a:solidFill>
                  <a:schemeClr val="tx2">
                    <a:lumMod val="75000"/>
                  </a:schemeClr>
                </a:solidFill>
                <a:latin typeface="Consolas"/>
                <a:cs typeface="Consolas"/>
              </a:rPr>
              <a:t>THEN</a:t>
            </a:r>
            <a:r>
              <a:rPr lang="en-IN" sz="2200" b="1">
                <a:latin typeface="Consolas"/>
                <a:cs typeface="Consolas"/>
              </a:rPr>
              <a:t>  </a:t>
            </a:r>
            <a:r>
              <a:rPr lang="en-IN" sz="2200">
                <a:latin typeface="Consolas"/>
                <a:cs typeface="Consolas"/>
              </a:rPr>
              <a:t>RPREORDER (LPTR (T</a:t>
            </a:r>
            <a:r>
              <a:rPr lang="en-IN" sz="2200">
                <a:latin typeface="Consolas"/>
                <a:cs typeface="Consolas"/>
              </a:rPr>
              <a:t>))</a:t>
            </a:r>
            <a:endParaRPr/>
          </a:p>
        </p:txBody>
      </p:sp>
      <p:sp>
        <p:nvSpPr>
          <p:cNvPr id="164220699" name="TextBox 14"/>
          <p:cNvSpPr txBox="1"/>
          <p:nvPr/>
        </p:nvSpPr>
        <p:spPr bwMode="auto">
          <a:xfrm>
            <a:off x="6271462" y="2701896"/>
            <a:ext cx="5760000" cy="1785104"/>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200" b="1">
                <a:solidFill>
                  <a:schemeClr val="tx2"/>
                </a:solidFill>
                <a:latin typeface="Consolas"/>
                <a:cs typeface="Consolas"/>
              </a:rPr>
              <a:t>3. [Process the Right Sub Tree]</a:t>
            </a:r>
            <a:endParaRPr/>
          </a:p>
          <a:p>
            <a:pPr>
              <a:defRPr/>
            </a:pPr>
            <a:r>
              <a:rPr lang="en-IN" sz="2200" b="1">
                <a:latin typeface="Consolas"/>
                <a:cs typeface="Consolas"/>
              </a:rPr>
              <a:t>   </a:t>
            </a:r>
            <a:r>
              <a:rPr lang="en-IN" sz="2200" b="1">
                <a:solidFill>
                  <a:schemeClr val="tx2">
                    <a:lumMod val="75000"/>
                  </a:schemeClr>
                </a:solidFill>
                <a:latin typeface="Consolas"/>
                <a:cs typeface="Consolas"/>
              </a:rPr>
              <a:t>IF</a:t>
            </a:r>
            <a:r>
              <a:rPr lang="en-IN" sz="2200" b="1">
                <a:latin typeface="Consolas"/>
                <a:cs typeface="Consolas"/>
              </a:rPr>
              <a:t>    </a:t>
            </a:r>
            <a:r>
              <a:rPr lang="en-IN" sz="2200">
                <a:latin typeface="Consolas"/>
                <a:cs typeface="Consolas"/>
              </a:rPr>
              <a:t>RPTR (T) ≠ NULL</a:t>
            </a:r>
            <a:endParaRPr/>
          </a:p>
          <a:p>
            <a:pPr>
              <a:defRPr/>
            </a:pPr>
            <a:r>
              <a:rPr lang="en-IN" sz="2200" b="1">
                <a:latin typeface="Consolas"/>
                <a:cs typeface="Consolas"/>
              </a:rPr>
              <a:t>   </a:t>
            </a:r>
            <a:r>
              <a:rPr lang="en-IN" sz="2200" b="1">
                <a:solidFill>
                  <a:schemeClr val="tx2">
                    <a:lumMod val="75000"/>
                  </a:schemeClr>
                </a:solidFill>
                <a:latin typeface="Consolas"/>
                <a:cs typeface="Consolas"/>
              </a:rPr>
              <a:t>THEN</a:t>
            </a:r>
            <a:r>
              <a:rPr lang="en-IN" sz="2200" b="1">
                <a:latin typeface="Consolas"/>
                <a:cs typeface="Consolas"/>
              </a:rPr>
              <a:t>  </a:t>
            </a:r>
            <a:r>
              <a:rPr lang="en-IN" sz="2200">
                <a:latin typeface="Consolas"/>
                <a:cs typeface="Consolas"/>
              </a:rPr>
              <a:t>RPREORDER (RPTR (T))</a:t>
            </a:r>
            <a:endParaRPr/>
          </a:p>
          <a:p>
            <a:pPr>
              <a:defRPr/>
            </a:pPr>
            <a:r>
              <a:rPr lang="en-IN" sz="2200" b="1">
                <a:solidFill>
                  <a:schemeClr val="tx2"/>
                </a:solidFill>
                <a:latin typeface="Consolas"/>
                <a:cs typeface="Consolas"/>
              </a:rPr>
              <a:t>4. [Finished]</a:t>
            </a:r>
            <a:endParaRPr/>
          </a:p>
          <a:p>
            <a:pPr>
              <a:defRPr/>
            </a:pPr>
            <a:r>
              <a:rPr lang="en-IN" sz="2200">
                <a:latin typeface="Consolas"/>
                <a:cs typeface="Consolas"/>
              </a:rPr>
              <a:t>   Return</a:t>
            </a:r>
            <a:endParaRPr lang="en-IN" sz="2200">
              <a:latin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5062080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5062080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5062080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418069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70610819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57335331">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57335331">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57335331">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7335331">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57335331">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357335331">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57335331">
                                            <p:txEl>
                                              <p:pRg st="5" end="5"/>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357335331">
                                            <p:txEl>
                                              <p:pRg st="6" end="6"/>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357335331">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4220699">
                                            <p:bg/>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64220699">
                                            <p:txEl>
                                              <p:pRg st="0" end="0"/>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164220699">
                                            <p:txEl>
                                              <p:pRg st="1" end="1"/>
                                            </p:txEl>
                                          </p:spTgt>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64220699">
                                            <p:txEl>
                                              <p:pRg st="2" end="2"/>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64220699">
                                            <p:txEl>
                                              <p:pRg st="3" end="3"/>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6422069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50620805" grpId="0" build="p"/>
      <p:bldP spid="706108195" grpId="0"/>
      <p:bldP spid="357335331" grpId="0" uiExpand="1" build="allAtOnce" animBg="1"/>
      <p:bldP spid="164220699" grpId="0" uiExpand="1" build="allAtOnce" animBg="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94233533" name="Title 1"/>
          <p:cNvSpPr>
            <a:spLocks noGrp="1"/>
          </p:cNvSpPr>
          <p:nvPr>
            <p:ph type="title"/>
          </p:nvPr>
        </p:nvSpPr>
        <p:spPr bwMode="auto"/>
        <p:txBody>
          <a:bodyPr/>
          <a:lstStyle/>
          <a:p>
            <a:pPr>
              <a:defRPr/>
            </a:pPr>
            <a:r>
              <a:rPr lang="en-US"/>
              <a:t>Procedure: RINORDER(T)</a:t>
            </a:r>
            <a:endParaRPr lang="en-US"/>
          </a:p>
        </p:txBody>
      </p:sp>
      <p:sp>
        <p:nvSpPr>
          <p:cNvPr id="2019696780" name="Content Placeholder 2"/>
          <p:cNvSpPr>
            <a:spLocks noGrp="1"/>
          </p:cNvSpPr>
          <p:nvPr>
            <p:ph idx="1"/>
          </p:nvPr>
        </p:nvSpPr>
        <p:spPr bwMode="auto"/>
        <p:txBody>
          <a:bodyPr/>
          <a:lstStyle/>
          <a:p>
            <a:pPr>
              <a:defRPr/>
            </a:pPr>
            <a:r>
              <a:rPr lang="en-IN"/>
              <a:t>This procedure </a:t>
            </a:r>
            <a:r>
              <a:rPr lang="en-IN" b="1">
                <a:solidFill>
                  <a:srgbClr val="C00000"/>
                </a:solidFill>
              </a:rPr>
              <a:t>traverses the tree</a:t>
            </a:r>
            <a:r>
              <a:rPr lang="en-IN">
                <a:solidFill>
                  <a:srgbClr val="C00000"/>
                </a:solidFill>
              </a:rPr>
              <a:t> </a:t>
            </a:r>
            <a:r>
              <a:rPr lang="en-IN"/>
              <a:t>in </a:t>
            </a:r>
            <a:r>
              <a:rPr lang="en-IN" b="1">
                <a:solidFill>
                  <a:srgbClr val="C00000"/>
                </a:solidFill>
              </a:rPr>
              <a:t>InOrder</a:t>
            </a:r>
            <a:r>
              <a:rPr lang="en-IN"/>
              <a:t>, in a recursive manner.</a:t>
            </a:r>
            <a:endParaRPr/>
          </a:p>
          <a:p>
            <a:pPr>
              <a:defRPr/>
            </a:pPr>
            <a:r>
              <a:rPr lang="en-IN" b="1">
                <a:solidFill>
                  <a:srgbClr val="C00000"/>
                </a:solidFill>
              </a:rPr>
              <a:t>T</a:t>
            </a:r>
            <a:r>
              <a:rPr lang="en-IN">
                <a:solidFill>
                  <a:srgbClr val="C00000"/>
                </a:solidFill>
              </a:rPr>
              <a:t> </a:t>
            </a:r>
            <a:r>
              <a:rPr lang="en-IN" b="1">
                <a:solidFill>
                  <a:srgbClr val="C00000"/>
                </a:solidFill>
              </a:rPr>
              <a:t>is root node address </a:t>
            </a:r>
            <a:r>
              <a:rPr lang="en-IN"/>
              <a:t>of given binary tree.</a:t>
            </a:r>
            <a:endParaRPr/>
          </a:p>
          <a:p>
            <a:pPr>
              <a:defRPr/>
            </a:pPr>
            <a:r>
              <a:rPr lang="en-IN"/>
              <a:t>Node structure of binary tree is described as below</a:t>
            </a:r>
            <a:r>
              <a:rPr lang="en-US"/>
              <a:t>.</a:t>
            </a:r>
            <a:endParaRPr lang="en-US"/>
          </a:p>
        </p:txBody>
      </p:sp>
      <p:grpSp>
        <p:nvGrpSpPr>
          <p:cNvPr id="239123279" name="Group 10"/>
          <p:cNvGrpSpPr/>
          <p:nvPr/>
        </p:nvGrpSpPr>
        <p:grpSpPr bwMode="auto">
          <a:xfrm>
            <a:off x="8396513" y="1401670"/>
            <a:ext cx="3385677" cy="558801"/>
            <a:chOff x="-76200" y="4191000"/>
            <a:chExt cx="1997075" cy="381000"/>
          </a:xfrm>
        </p:grpSpPr>
        <p:sp>
          <p:nvSpPr>
            <p:cNvPr id="12" name="Rectangle 11"/>
            <p:cNvSpPr/>
            <p:nvPr/>
          </p:nvSpPr>
          <p:spPr bwMode="auto">
            <a:xfrm>
              <a:off x="609599" y="4191000"/>
              <a:ext cx="62865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DATA</a:t>
              </a:r>
              <a:endParaRPr lang="en-US" sz="2000" b="1"/>
            </a:p>
          </p:txBody>
        </p:sp>
        <p:sp>
          <p:nvSpPr>
            <p:cNvPr id="13" name="Rectangle 12"/>
            <p:cNvSpPr/>
            <p:nvPr/>
          </p:nvSpPr>
          <p:spPr bwMode="auto">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LPTR</a:t>
              </a:r>
              <a:endParaRPr lang="en-US" sz="2000" b="1"/>
            </a:p>
          </p:txBody>
        </p:sp>
        <p:sp>
          <p:nvSpPr>
            <p:cNvPr id="14" name="Rectangle 13"/>
            <p:cNvSpPr/>
            <p:nvPr/>
          </p:nvSpPr>
          <p:spPr bwMode="auto">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RPTR</a:t>
              </a:r>
              <a:endParaRPr lang="en-US" sz="2000" b="1"/>
            </a:p>
          </p:txBody>
        </p:sp>
      </p:grpSp>
      <p:sp>
        <p:nvSpPr>
          <p:cNvPr id="806658475" name="TextBox 14"/>
          <p:cNvSpPr txBox="1"/>
          <p:nvPr/>
        </p:nvSpPr>
        <p:spPr bwMode="auto">
          <a:xfrm>
            <a:off x="8558796" y="2031868"/>
            <a:ext cx="3066489" cy="400110"/>
          </a:xfrm>
          <a:prstGeom prst="rect">
            <a:avLst/>
          </a:prstGeom>
          <a:noFill/>
        </p:spPr>
        <p:txBody>
          <a:bodyPr wrap="square" rtlCol="0">
            <a:spAutoFit/>
          </a:bodyPr>
          <a:lstStyle/>
          <a:p>
            <a:pPr algn="ctr">
              <a:defRPr/>
            </a:pPr>
            <a:r>
              <a:rPr lang="en-IN" sz="2000" b="1"/>
              <a:t>Typical node </a:t>
            </a:r>
            <a:r>
              <a:rPr lang="en-IN" sz="2000" b="1"/>
              <a:t>of Binary </a:t>
            </a:r>
            <a:r>
              <a:rPr lang="en-IN" sz="2000" b="1"/>
              <a:t>Tree</a:t>
            </a:r>
            <a:endParaRPr lang="en-US" sz="2000" b="1"/>
          </a:p>
        </p:txBody>
      </p:sp>
      <p:sp>
        <p:nvSpPr>
          <p:cNvPr id="258169192" name="TextBox 15"/>
          <p:cNvSpPr txBox="1"/>
          <p:nvPr/>
        </p:nvSpPr>
        <p:spPr bwMode="auto">
          <a:xfrm>
            <a:off x="460829" y="2614809"/>
            <a:ext cx="5760000" cy="3139321"/>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200" b="1">
                <a:solidFill>
                  <a:schemeClr val="tx2"/>
                </a:solidFill>
                <a:latin typeface="Consolas"/>
                <a:cs typeface="Consolas"/>
              </a:rPr>
              <a:t>1. [Check for Empty Tree]</a:t>
            </a:r>
            <a:endParaRPr/>
          </a:p>
          <a:p>
            <a:pPr>
              <a:defRPr/>
            </a:pPr>
            <a:r>
              <a:rPr lang="en-IN" sz="2200">
                <a:latin typeface="Consolas"/>
                <a:cs typeface="Consolas"/>
              </a:rPr>
              <a:t>   </a:t>
            </a:r>
            <a:r>
              <a:rPr lang="en-IN" sz="2200" b="1">
                <a:solidFill>
                  <a:schemeClr val="tx2">
                    <a:lumMod val="75000"/>
                  </a:schemeClr>
                </a:solidFill>
                <a:latin typeface="Consolas"/>
                <a:cs typeface="Consolas"/>
              </a:rPr>
              <a:t>IF</a:t>
            </a:r>
            <a:r>
              <a:rPr lang="en-IN" sz="2200" b="1">
                <a:latin typeface="Consolas"/>
                <a:cs typeface="Consolas"/>
              </a:rPr>
              <a:t>    </a:t>
            </a:r>
            <a:r>
              <a:rPr lang="en-IN" sz="2200">
                <a:latin typeface="Consolas"/>
                <a:cs typeface="Consolas"/>
              </a:rPr>
              <a:t>T = NULL</a:t>
            </a:r>
            <a:endParaRPr/>
          </a:p>
          <a:p>
            <a:pPr>
              <a:defRPr/>
            </a:pPr>
            <a:r>
              <a:rPr lang="en-IN" sz="2200">
                <a:latin typeface="Consolas"/>
                <a:cs typeface="Consolas"/>
              </a:rPr>
              <a:t>   </a:t>
            </a:r>
            <a:r>
              <a:rPr lang="en-IN" sz="2200" b="1">
                <a:solidFill>
                  <a:schemeClr val="tx2">
                    <a:lumMod val="75000"/>
                  </a:schemeClr>
                </a:solidFill>
                <a:latin typeface="Consolas"/>
                <a:cs typeface="Consolas"/>
              </a:rPr>
              <a:t>THEN</a:t>
            </a:r>
            <a:r>
              <a:rPr lang="en-IN" sz="2200" b="1">
                <a:latin typeface="Consolas"/>
                <a:cs typeface="Consolas"/>
              </a:rPr>
              <a:t>  </a:t>
            </a:r>
            <a:r>
              <a:rPr lang="en-IN" sz="2200">
                <a:latin typeface="Consolas"/>
                <a:cs typeface="Consolas"/>
              </a:rPr>
              <a:t>write (‘Empty Tree’)</a:t>
            </a:r>
            <a:endParaRPr/>
          </a:p>
          <a:p>
            <a:pPr>
              <a:defRPr/>
            </a:pPr>
            <a:r>
              <a:rPr lang="en-IN" sz="2200">
                <a:latin typeface="Consolas"/>
                <a:cs typeface="Consolas"/>
              </a:rPr>
              <a:t> 	   return</a:t>
            </a:r>
            <a:endParaRPr/>
          </a:p>
          <a:p>
            <a:pPr>
              <a:defRPr/>
            </a:pPr>
            <a:r>
              <a:rPr lang="en-IN" sz="2200" b="1">
                <a:solidFill>
                  <a:schemeClr val="tx2"/>
                </a:solidFill>
                <a:latin typeface="Consolas"/>
                <a:cs typeface="Consolas"/>
              </a:rPr>
              <a:t>2. [Process the Left Sub Tree]</a:t>
            </a:r>
            <a:endParaRPr/>
          </a:p>
          <a:p>
            <a:pPr>
              <a:defRPr/>
            </a:pPr>
            <a:r>
              <a:rPr lang="en-IN" sz="2200" b="1">
                <a:latin typeface="Consolas"/>
                <a:cs typeface="Consolas"/>
              </a:rPr>
              <a:t>   </a:t>
            </a:r>
            <a:r>
              <a:rPr lang="en-IN" sz="2200" b="1">
                <a:solidFill>
                  <a:schemeClr val="tx2">
                    <a:lumMod val="75000"/>
                  </a:schemeClr>
                </a:solidFill>
                <a:latin typeface="Consolas"/>
                <a:cs typeface="Consolas"/>
              </a:rPr>
              <a:t>IF</a:t>
            </a:r>
            <a:r>
              <a:rPr lang="en-IN" sz="2200" b="1">
                <a:latin typeface="Consolas"/>
                <a:cs typeface="Consolas"/>
              </a:rPr>
              <a:t>    </a:t>
            </a:r>
            <a:r>
              <a:rPr lang="en-IN" sz="2200">
                <a:latin typeface="Consolas"/>
                <a:cs typeface="Consolas"/>
              </a:rPr>
              <a:t>LPTR (T) ≠ NULL</a:t>
            </a:r>
            <a:endParaRPr/>
          </a:p>
          <a:p>
            <a:pPr>
              <a:defRPr/>
            </a:pPr>
            <a:r>
              <a:rPr lang="en-IN" sz="2200" b="1">
                <a:latin typeface="Consolas"/>
                <a:cs typeface="Consolas"/>
              </a:rPr>
              <a:t>   </a:t>
            </a:r>
            <a:r>
              <a:rPr lang="en-IN" sz="2200" b="1">
                <a:solidFill>
                  <a:schemeClr val="tx2">
                    <a:lumMod val="75000"/>
                  </a:schemeClr>
                </a:solidFill>
                <a:latin typeface="Consolas"/>
                <a:cs typeface="Consolas"/>
              </a:rPr>
              <a:t>THEN</a:t>
            </a:r>
            <a:r>
              <a:rPr lang="en-IN" sz="2200" b="1">
                <a:latin typeface="Consolas"/>
                <a:cs typeface="Consolas"/>
              </a:rPr>
              <a:t>  </a:t>
            </a:r>
            <a:r>
              <a:rPr lang="en-IN" sz="2200">
                <a:latin typeface="Consolas"/>
                <a:cs typeface="Consolas"/>
              </a:rPr>
              <a:t>RINORDER (LPTR (T))</a:t>
            </a:r>
            <a:endParaRPr/>
          </a:p>
          <a:p>
            <a:pPr>
              <a:defRPr/>
            </a:pPr>
            <a:r>
              <a:rPr lang="en-IN" sz="2200" b="1">
                <a:solidFill>
                  <a:schemeClr val="tx2"/>
                </a:solidFill>
                <a:latin typeface="Consolas"/>
                <a:cs typeface="Consolas"/>
              </a:rPr>
              <a:t>3. [Process the Root Node]</a:t>
            </a:r>
            <a:endParaRPr/>
          </a:p>
          <a:p>
            <a:pPr>
              <a:defRPr/>
            </a:pPr>
            <a:r>
              <a:rPr lang="en-IN" sz="2200">
                <a:latin typeface="Consolas"/>
                <a:cs typeface="Consolas"/>
              </a:rPr>
              <a:t>   write (DATA(T</a:t>
            </a:r>
            <a:r>
              <a:rPr lang="en-IN" sz="2200">
                <a:latin typeface="Consolas"/>
                <a:cs typeface="Consolas"/>
              </a:rPr>
              <a:t>))</a:t>
            </a:r>
            <a:endParaRPr/>
          </a:p>
        </p:txBody>
      </p:sp>
      <p:sp>
        <p:nvSpPr>
          <p:cNvPr id="957509559" name="TextBox 16"/>
          <p:cNvSpPr txBox="1"/>
          <p:nvPr/>
        </p:nvSpPr>
        <p:spPr bwMode="auto">
          <a:xfrm>
            <a:off x="6271793" y="2614809"/>
            <a:ext cx="5760000" cy="1785104"/>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200" b="1">
                <a:solidFill>
                  <a:schemeClr val="tx2"/>
                </a:solidFill>
                <a:latin typeface="Consolas"/>
                <a:cs typeface="Consolas"/>
              </a:rPr>
              <a:t>4. [Process the Right Sub Tree]</a:t>
            </a:r>
            <a:endParaRPr/>
          </a:p>
          <a:p>
            <a:pPr>
              <a:defRPr/>
            </a:pPr>
            <a:r>
              <a:rPr lang="en-IN" sz="2200" b="1">
                <a:latin typeface="Consolas"/>
                <a:cs typeface="Consolas"/>
              </a:rPr>
              <a:t>   </a:t>
            </a:r>
            <a:r>
              <a:rPr lang="en-IN" sz="2200" b="1">
                <a:solidFill>
                  <a:schemeClr val="tx2">
                    <a:lumMod val="75000"/>
                  </a:schemeClr>
                </a:solidFill>
                <a:latin typeface="Consolas"/>
                <a:cs typeface="Consolas"/>
              </a:rPr>
              <a:t>IF</a:t>
            </a:r>
            <a:r>
              <a:rPr lang="en-IN" sz="2200" b="1">
                <a:latin typeface="Consolas"/>
                <a:cs typeface="Consolas"/>
              </a:rPr>
              <a:t>    </a:t>
            </a:r>
            <a:r>
              <a:rPr lang="en-IN" sz="2200">
                <a:latin typeface="Consolas"/>
                <a:cs typeface="Consolas"/>
              </a:rPr>
              <a:t>RPTR (T) ≠ NULL</a:t>
            </a:r>
            <a:endParaRPr/>
          </a:p>
          <a:p>
            <a:pPr>
              <a:defRPr/>
            </a:pPr>
            <a:r>
              <a:rPr lang="en-IN" sz="2200" b="1">
                <a:latin typeface="Consolas"/>
                <a:cs typeface="Consolas"/>
              </a:rPr>
              <a:t>   </a:t>
            </a:r>
            <a:r>
              <a:rPr lang="en-IN" sz="2200" b="1">
                <a:solidFill>
                  <a:schemeClr val="tx2">
                    <a:lumMod val="75000"/>
                  </a:schemeClr>
                </a:solidFill>
                <a:latin typeface="Consolas"/>
                <a:cs typeface="Consolas"/>
              </a:rPr>
              <a:t>THEN</a:t>
            </a:r>
            <a:r>
              <a:rPr lang="en-IN" sz="2200" b="1">
                <a:latin typeface="Consolas"/>
                <a:cs typeface="Consolas"/>
              </a:rPr>
              <a:t>  </a:t>
            </a:r>
            <a:r>
              <a:rPr lang="en-IN" sz="2200">
                <a:latin typeface="Consolas"/>
                <a:cs typeface="Consolas"/>
              </a:rPr>
              <a:t>RINORDER (RPTR (T))</a:t>
            </a:r>
            <a:endParaRPr/>
          </a:p>
          <a:p>
            <a:pPr>
              <a:defRPr/>
            </a:pPr>
            <a:r>
              <a:rPr lang="en-IN" sz="2200" b="1">
                <a:solidFill>
                  <a:schemeClr val="tx2"/>
                </a:solidFill>
                <a:latin typeface="Consolas"/>
                <a:cs typeface="Consolas"/>
              </a:rPr>
              <a:t>5. [Finished]</a:t>
            </a:r>
            <a:endParaRPr/>
          </a:p>
          <a:p>
            <a:pPr>
              <a:defRPr/>
            </a:pPr>
            <a:r>
              <a:rPr lang="en-IN" sz="2200">
                <a:latin typeface="Consolas"/>
                <a:cs typeface="Consolas"/>
              </a:rPr>
              <a:t>   Return</a:t>
            </a:r>
            <a:endParaRPr lang="en-IN" sz="2200">
              <a:latin typeface="Consolas"/>
              <a:cs typeface="Consolas"/>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1969678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1969678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01969678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912327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80665847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58169192">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8169192">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58169192">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58169192">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58169192">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58169192">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258169192">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58169192">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58169192">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58169192">
                                            <p:txEl>
                                              <p:pRg st="8" end="8"/>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957509559">
                                            <p:bg/>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957509559">
                                            <p:txEl>
                                              <p:pRg st="0" end="0"/>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957509559">
                                            <p:txEl>
                                              <p:pRg st="1" end="1"/>
                                            </p:txEl>
                                          </p:spTgt>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957509559">
                                            <p:txEl>
                                              <p:pRg st="2" end="2"/>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957509559">
                                            <p:txEl>
                                              <p:pRg st="3" end="3"/>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95750955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6658475" grpId="0"/>
      <p:bldP spid="258169192" grpId="0" uiExpand="1" build="allAtOnce" animBg="1"/>
      <p:bldP spid="957509559" grpId="0" uiExpand="1" build="allAtOnce" animBg="1"/>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05353233" name="Title 1"/>
          <p:cNvSpPr>
            <a:spLocks noGrp="1"/>
          </p:cNvSpPr>
          <p:nvPr>
            <p:ph type="title"/>
          </p:nvPr>
        </p:nvSpPr>
        <p:spPr bwMode="auto"/>
        <p:txBody>
          <a:bodyPr/>
          <a:lstStyle/>
          <a:p>
            <a:pPr>
              <a:defRPr/>
            </a:pPr>
            <a:r>
              <a:rPr lang="en-US"/>
              <a:t>Procedure: RPOSTORDER(T)</a:t>
            </a:r>
            <a:endParaRPr/>
          </a:p>
        </p:txBody>
      </p:sp>
      <p:sp>
        <p:nvSpPr>
          <p:cNvPr id="155970283" name="Content Placeholder 2"/>
          <p:cNvSpPr>
            <a:spLocks noGrp="1"/>
          </p:cNvSpPr>
          <p:nvPr>
            <p:ph idx="1"/>
          </p:nvPr>
        </p:nvSpPr>
        <p:spPr bwMode="auto"/>
        <p:txBody>
          <a:bodyPr/>
          <a:lstStyle/>
          <a:p>
            <a:pPr>
              <a:defRPr/>
            </a:pPr>
            <a:r>
              <a:rPr lang="en-IN"/>
              <a:t>This procedure </a:t>
            </a:r>
            <a:r>
              <a:rPr lang="en-IN" b="1">
                <a:solidFill>
                  <a:srgbClr val="C00000"/>
                </a:solidFill>
              </a:rPr>
              <a:t>traverses the tree</a:t>
            </a:r>
            <a:r>
              <a:rPr lang="en-IN">
                <a:solidFill>
                  <a:srgbClr val="C00000"/>
                </a:solidFill>
              </a:rPr>
              <a:t> </a:t>
            </a:r>
            <a:r>
              <a:rPr lang="en-IN"/>
              <a:t>in </a:t>
            </a:r>
            <a:r>
              <a:rPr lang="en-IN" b="1">
                <a:solidFill>
                  <a:srgbClr val="C00000"/>
                </a:solidFill>
              </a:rPr>
              <a:t>PostOrder</a:t>
            </a:r>
            <a:r>
              <a:rPr lang="en-IN"/>
              <a:t>, in a recursive </a:t>
            </a:r>
            <a:r>
              <a:rPr lang="en-IN"/>
              <a:t>manner.</a:t>
            </a:r>
            <a:endParaRPr/>
          </a:p>
          <a:p>
            <a:pPr>
              <a:defRPr/>
            </a:pPr>
            <a:r>
              <a:rPr lang="en-IN" b="1">
                <a:solidFill>
                  <a:srgbClr val="C00000"/>
                </a:solidFill>
              </a:rPr>
              <a:t>T</a:t>
            </a:r>
            <a:r>
              <a:rPr lang="en-IN">
                <a:solidFill>
                  <a:srgbClr val="C00000"/>
                </a:solidFill>
              </a:rPr>
              <a:t> </a:t>
            </a:r>
            <a:r>
              <a:rPr lang="en-IN" b="1">
                <a:solidFill>
                  <a:srgbClr val="C00000"/>
                </a:solidFill>
              </a:rPr>
              <a:t>is root node address</a:t>
            </a:r>
            <a:r>
              <a:rPr lang="en-IN" b="1">
                <a:solidFill>
                  <a:srgbClr val="FF0000"/>
                </a:solidFill>
              </a:rPr>
              <a:t> </a:t>
            </a:r>
            <a:r>
              <a:rPr lang="en-IN"/>
              <a:t>of given binary </a:t>
            </a:r>
            <a:r>
              <a:rPr lang="en-IN"/>
              <a:t>tree.</a:t>
            </a:r>
            <a:endParaRPr lang="en-IN"/>
          </a:p>
          <a:p>
            <a:pPr>
              <a:defRPr/>
            </a:pPr>
            <a:r>
              <a:rPr lang="en-IN"/>
              <a:t>Node structure of binary tree is described as </a:t>
            </a:r>
            <a:r>
              <a:rPr lang="en-IN"/>
              <a:t>below.</a:t>
            </a:r>
            <a:endParaRPr lang="en-US"/>
          </a:p>
        </p:txBody>
      </p:sp>
      <p:grpSp>
        <p:nvGrpSpPr>
          <p:cNvPr id="935408079" name="Group 8"/>
          <p:cNvGrpSpPr/>
          <p:nvPr/>
        </p:nvGrpSpPr>
        <p:grpSpPr bwMode="auto">
          <a:xfrm>
            <a:off x="8396513" y="1401670"/>
            <a:ext cx="3385677" cy="558801"/>
            <a:chOff x="-76200" y="4191000"/>
            <a:chExt cx="1997075" cy="381000"/>
          </a:xfrm>
        </p:grpSpPr>
        <p:sp>
          <p:nvSpPr>
            <p:cNvPr id="10" name="Rectangle 9"/>
            <p:cNvSpPr/>
            <p:nvPr/>
          </p:nvSpPr>
          <p:spPr bwMode="auto">
            <a:xfrm>
              <a:off x="609599" y="4191000"/>
              <a:ext cx="62865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DATA</a:t>
              </a:r>
              <a:endParaRPr lang="en-US" sz="2000" b="1"/>
            </a:p>
          </p:txBody>
        </p:sp>
        <p:sp>
          <p:nvSpPr>
            <p:cNvPr id="11" name="Rectangle 10"/>
            <p:cNvSpPr/>
            <p:nvPr/>
          </p:nvSpPr>
          <p:spPr bwMode="auto">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LPTR</a:t>
              </a:r>
              <a:endParaRPr lang="en-US" sz="2000" b="1"/>
            </a:p>
          </p:txBody>
        </p:sp>
        <p:sp>
          <p:nvSpPr>
            <p:cNvPr id="12" name="Rectangle 11"/>
            <p:cNvSpPr/>
            <p:nvPr/>
          </p:nvSpPr>
          <p:spPr bwMode="auto">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RPTR</a:t>
              </a:r>
              <a:endParaRPr lang="en-US" sz="2000" b="1"/>
            </a:p>
          </p:txBody>
        </p:sp>
      </p:grpSp>
      <p:sp>
        <p:nvSpPr>
          <p:cNvPr id="211591173" name="TextBox 12"/>
          <p:cNvSpPr txBox="1"/>
          <p:nvPr/>
        </p:nvSpPr>
        <p:spPr bwMode="auto">
          <a:xfrm>
            <a:off x="8558796" y="2031868"/>
            <a:ext cx="3066489" cy="400110"/>
          </a:xfrm>
          <a:prstGeom prst="rect">
            <a:avLst/>
          </a:prstGeom>
          <a:noFill/>
        </p:spPr>
        <p:txBody>
          <a:bodyPr wrap="square" rtlCol="0">
            <a:spAutoFit/>
          </a:bodyPr>
          <a:lstStyle/>
          <a:p>
            <a:pPr algn="ctr">
              <a:defRPr/>
            </a:pPr>
            <a:r>
              <a:rPr lang="en-IN" sz="2000" b="1"/>
              <a:t>Typical node </a:t>
            </a:r>
            <a:r>
              <a:rPr lang="en-IN" sz="2000" b="1"/>
              <a:t>of Binary </a:t>
            </a:r>
            <a:r>
              <a:rPr lang="en-IN" sz="2000" b="1"/>
              <a:t>Tree</a:t>
            </a:r>
            <a:endParaRPr lang="en-US" sz="2000" b="1"/>
          </a:p>
        </p:txBody>
      </p:sp>
      <p:sp>
        <p:nvSpPr>
          <p:cNvPr id="987573638" name="TextBox 13"/>
          <p:cNvSpPr txBox="1"/>
          <p:nvPr/>
        </p:nvSpPr>
        <p:spPr bwMode="auto">
          <a:xfrm>
            <a:off x="460829" y="2585781"/>
            <a:ext cx="5760000" cy="3477875"/>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200" b="1">
                <a:solidFill>
                  <a:schemeClr val="tx2"/>
                </a:solidFill>
                <a:latin typeface="Consolas"/>
                <a:cs typeface="Consolas"/>
              </a:rPr>
              <a:t>1. [Check for Empty Tree]</a:t>
            </a:r>
            <a:endParaRPr/>
          </a:p>
          <a:p>
            <a:pPr>
              <a:defRPr/>
            </a:pPr>
            <a:r>
              <a:rPr lang="en-IN" sz="2200">
                <a:latin typeface="Consolas"/>
                <a:cs typeface="Consolas"/>
              </a:rPr>
              <a:t>   </a:t>
            </a:r>
            <a:r>
              <a:rPr lang="en-IN" sz="2200" b="1">
                <a:solidFill>
                  <a:schemeClr val="tx2">
                    <a:lumMod val="75000"/>
                  </a:schemeClr>
                </a:solidFill>
                <a:latin typeface="Consolas"/>
                <a:cs typeface="Consolas"/>
              </a:rPr>
              <a:t>IF</a:t>
            </a:r>
            <a:r>
              <a:rPr lang="en-IN" sz="2200" b="1">
                <a:latin typeface="Consolas"/>
                <a:cs typeface="Consolas"/>
              </a:rPr>
              <a:t>    </a:t>
            </a:r>
            <a:r>
              <a:rPr lang="en-IN" sz="2200">
                <a:latin typeface="Consolas"/>
                <a:cs typeface="Consolas"/>
              </a:rPr>
              <a:t>T = NULL</a:t>
            </a:r>
            <a:endParaRPr/>
          </a:p>
          <a:p>
            <a:pPr>
              <a:defRPr/>
            </a:pPr>
            <a:r>
              <a:rPr lang="en-IN" sz="2200">
                <a:latin typeface="Consolas"/>
                <a:cs typeface="Consolas"/>
              </a:rPr>
              <a:t>   </a:t>
            </a:r>
            <a:r>
              <a:rPr lang="en-IN" sz="2200" b="1">
                <a:solidFill>
                  <a:schemeClr val="tx2"/>
                </a:solidFill>
                <a:latin typeface="Consolas"/>
                <a:cs typeface="Consolas"/>
              </a:rPr>
              <a:t>THEN</a:t>
            </a:r>
            <a:r>
              <a:rPr lang="en-IN" sz="2200" b="1">
                <a:latin typeface="Consolas"/>
                <a:cs typeface="Consolas"/>
              </a:rPr>
              <a:t>  </a:t>
            </a:r>
            <a:r>
              <a:rPr lang="en-IN" sz="2200">
                <a:latin typeface="Consolas"/>
                <a:cs typeface="Consolas"/>
              </a:rPr>
              <a:t>write (‘Empty Tree’)</a:t>
            </a:r>
            <a:endParaRPr/>
          </a:p>
          <a:p>
            <a:pPr>
              <a:defRPr/>
            </a:pPr>
            <a:r>
              <a:rPr lang="en-IN" sz="2200">
                <a:latin typeface="Consolas"/>
                <a:cs typeface="Consolas"/>
              </a:rPr>
              <a:t> 	   return</a:t>
            </a:r>
            <a:endParaRPr/>
          </a:p>
          <a:p>
            <a:pPr>
              <a:defRPr/>
            </a:pPr>
            <a:r>
              <a:rPr lang="en-IN" sz="2200" b="1">
                <a:solidFill>
                  <a:schemeClr val="tx2"/>
                </a:solidFill>
                <a:latin typeface="Consolas"/>
                <a:cs typeface="Consolas"/>
              </a:rPr>
              <a:t>2. [Process the Left Sub Tree]</a:t>
            </a:r>
            <a:endParaRPr/>
          </a:p>
          <a:p>
            <a:pPr>
              <a:defRPr/>
            </a:pPr>
            <a:r>
              <a:rPr lang="en-IN" sz="2200" b="1">
                <a:latin typeface="Consolas"/>
                <a:cs typeface="Consolas"/>
              </a:rPr>
              <a:t>   </a:t>
            </a:r>
            <a:r>
              <a:rPr lang="en-IN" sz="2200" b="1">
                <a:solidFill>
                  <a:schemeClr val="tx2"/>
                </a:solidFill>
                <a:latin typeface="Consolas"/>
                <a:cs typeface="Consolas"/>
              </a:rPr>
              <a:t>IF</a:t>
            </a:r>
            <a:r>
              <a:rPr lang="en-IN" sz="2200" b="1">
                <a:latin typeface="Consolas"/>
                <a:cs typeface="Consolas"/>
              </a:rPr>
              <a:t>    </a:t>
            </a:r>
            <a:r>
              <a:rPr lang="en-IN" sz="2200">
                <a:latin typeface="Consolas"/>
                <a:cs typeface="Consolas"/>
              </a:rPr>
              <a:t>LPTR (T) ≠ NULL</a:t>
            </a:r>
            <a:endParaRPr/>
          </a:p>
          <a:p>
            <a:pPr>
              <a:defRPr/>
            </a:pPr>
            <a:r>
              <a:rPr lang="en-IN" sz="2200" b="1">
                <a:latin typeface="Consolas"/>
                <a:cs typeface="Consolas"/>
              </a:rPr>
              <a:t>   </a:t>
            </a:r>
            <a:r>
              <a:rPr lang="en-IN" sz="2200" b="1">
                <a:solidFill>
                  <a:schemeClr val="tx2"/>
                </a:solidFill>
                <a:latin typeface="Consolas"/>
                <a:cs typeface="Consolas"/>
              </a:rPr>
              <a:t>THEN</a:t>
            </a:r>
            <a:r>
              <a:rPr lang="en-IN" sz="2200" b="1">
                <a:latin typeface="Consolas"/>
                <a:cs typeface="Consolas"/>
              </a:rPr>
              <a:t>  </a:t>
            </a:r>
            <a:r>
              <a:rPr lang="en-IN" sz="2200">
                <a:latin typeface="Consolas"/>
                <a:cs typeface="Consolas"/>
              </a:rPr>
              <a:t>RPOSTORDER (LPTR (T))</a:t>
            </a:r>
            <a:endParaRPr/>
          </a:p>
          <a:p>
            <a:pPr>
              <a:defRPr/>
            </a:pPr>
            <a:r>
              <a:rPr lang="en-IN" sz="2200" b="1">
                <a:solidFill>
                  <a:schemeClr val="tx2"/>
                </a:solidFill>
                <a:latin typeface="Consolas"/>
                <a:cs typeface="Consolas"/>
              </a:rPr>
              <a:t>3. [Process the Right Sub Tree]</a:t>
            </a:r>
            <a:endParaRPr/>
          </a:p>
          <a:p>
            <a:pPr>
              <a:defRPr/>
            </a:pPr>
            <a:r>
              <a:rPr lang="en-IN" sz="2200" b="1">
                <a:latin typeface="Consolas"/>
                <a:cs typeface="Consolas"/>
              </a:rPr>
              <a:t>   </a:t>
            </a:r>
            <a:r>
              <a:rPr lang="en-IN" sz="2200" b="1">
                <a:solidFill>
                  <a:schemeClr val="tx2"/>
                </a:solidFill>
                <a:latin typeface="Consolas"/>
                <a:cs typeface="Consolas"/>
              </a:rPr>
              <a:t>IF</a:t>
            </a:r>
            <a:r>
              <a:rPr lang="en-IN" sz="2200" b="1">
                <a:latin typeface="Consolas"/>
                <a:cs typeface="Consolas"/>
              </a:rPr>
              <a:t>    </a:t>
            </a:r>
            <a:r>
              <a:rPr lang="en-IN" sz="2200">
                <a:latin typeface="Consolas"/>
                <a:cs typeface="Consolas"/>
              </a:rPr>
              <a:t>RPTR (T) ≠ NULL</a:t>
            </a:r>
            <a:endParaRPr/>
          </a:p>
          <a:p>
            <a:pPr>
              <a:defRPr/>
            </a:pPr>
            <a:r>
              <a:rPr lang="en-IN" sz="2200" b="1">
                <a:latin typeface="Consolas"/>
                <a:cs typeface="Consolas"/>
              </a:rPr>
              <a:t>   </a:t>
            </a:r>
            <a:r>
              <a:rPr lang="en-IN" sz="2200" b="1">
                <a:solidFill>
                  <a:schemeClr val="tx2"/>
                </a:solidFill>
                <a:latin typeface="Consolas"/>
                <a:cs typeface="Consolas"/>
              </a:rPr>
              <a:t>THEN</a:t>
            </a:r>
            <a:r>
              <a:rPr lang="en-IN" sz="2200" b="1">
                <a:latin typeface="Consolas"/>
                <a:cs typeface="Consolas"/>
              </a:rPr>
              <a:t> </a:t>
            </a:r>
            <a:r>
              <a:rPr lang="en-IN" sz="2200" b="1">
                <a:solidFill>
                  <a:schemeClr val="tx2"/>
                </a:solidFill>
                <a:latin typeface="Consolas"/>
                <a:cs typeface="Consolas"/>
              </a:rPr>
              <a:t> </a:t>
            </a:r>
            <a:r>
              <a:rPr lang="en-IN" sz="2200">
                <a:latin typeface="Consolas"/>
                <a:cs typeface="Consolas"/>
              </a:rPr>
              <a:t>RPOSTORDER </a:t>
            </a:r>
            <a:r>
              <a:rPr lang="en-IN" sz="2200">
                <a:latin typeface="Consolas"/>
                <a:cs typeface="Consolas"/>
              </a:rPr>
              <a:t>(RPTR (T</a:t>
            </a:r>
            <a:r>
              <a:rPr lang="en-IN" sz="2200">
                <a:latin typeface="Consolas"/>
                <a:cs typeface="Consolas"/>
              </a:rPr>
              <a:t>))</a:t>
            </a:r>
            <a:endParaRPr lang="en-IN" sz="2200">
              <a:latin typeface="Consolas"/>
              <a:cs typeface="Consolas"/>
            </a:endParaRPr>
          </a:p>
        </p:txBody>
      </p:sp>
      <p:sp>
        <p:nvSpPr>
          <p:cNvPr id="1146223181" name="TextBox 14"/>
          <p:cNvSpPr txBox="1"/>
          <p:nvPr/>
        </p:nvSpPr>
        <p:spPr bwMode="auto">
          <a:xfrm>
            <a:off x="6268081" y="2585781"/>
            <a:ext cx="5760000" cy="1446550"/>
          </a:xfrm>
          <a:prstGeom prst="rect">
            <a:avLst/>
          </a:prstGeom>
          <a:solidFill>
            <a:schemeClr val="bg1">
              <a:lumMod val="95000"/>
            </a:schemeClr>
          </a:solidFill>
        </p:spPr>
        <p:style>
          <a:lnRef idx="0">
            <a:srgbClr val="000000"/>
          </a:lnRef>
          <a:fillRef idx="1001">
            <a:schemeClr val="lt2"/>
          </a:fillRef>
          <a:effectRef idx="0">
            <a:srgbClr val="000000"/>
          </a:effectRef>
          <a:fontRef idx="major"/>
        </p:style>
        <p:txBody>
          <a:bodyPr wrap="square" rtlCol="0">
            <a:spAutoFit/>
          </a:bodyPr>
          <a:lstStyle/>
          <a:p>
            <a:pPr>
              <a:defRPr/>
            </a:pPr>
            <a:r>
              <a:rPr lang="en-IN" sz="2200" b="1">
                <a:solidFill>
                  <a:schemeClr val="tx2"/>
                </a:solidFill>
                <a:latin typeface="Consolas"/>
                <a:cs typeface="Consolas"/>
              </a:rPr>
              <a:t>4</a:t>
            </a:r>
            <a:r>
              <a:rPr lang="en-IN" sz="2200" b="1">
                <a:solidFill>
                  <a:schemeClr val="tx2"/>
                </a:solidFill>
                <a:latin typeface="Consolas"/>
                <a:cs typeface="Consolas"/>
              </a:rPr>
              <a:t>. [Process the Root Node]</a:t>
            </a:r>
            <a:endParaRPr/>
          </a:p>
          <a:p>
            <a:pPr>
              <a:defRPr/>
            </a:pPr>
            <a:r>
              <a:rPr lang="en-IN" sz="2200">
                <a:latin typeface="Consolas"/>
                <a:cs typeface="Consolas"/>
              </a:rPr>
              <a:t>   write (DATA(T))</a:t>
            </a:r>
            <a:endParaRPr/>
          </a:p>
          <a:p>
            <a:pPr>
              <a:defRPr/>
            </a:pPr>
            <a:r>
              <a:rPr lang="en-IN" sz="2200" b="1">
                <a:solidFill>
                  <a:schemeClr val="tx2"/>
                </a:solidFill>
                <a:latin typeface="Consolas"/>
                <a:cs typeface="Consolas"/>
              </a:rPr>
              <a:t>5. [Finished]</a:t>
            </a:r>
            <a:endParaRPr/>
          </a:p>
          <a:p>
            <a:pPr>
              <a:defRPr/>
            </a:pPr>
            <a:r>
              <a:rPr lang="en-IN" sz="2200">
                <a:latin typeface="Consolas"/>
                <a:cs typeface="Consolas"/>
              </a:rPr>
              <a:t>   Return</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597028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597028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597028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3540807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159117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87573638">
                                            <p:bg/>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87573638">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87573638">
                                            <p:txEl>
                                              <p:pRg st="1" end="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987573638">
                                            <p:txEl>
                                              <p:pRg st="2" end="2"/>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987573638">
                                            <p:txEl>
                                              <p:pRg st="3" end="3"/>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987573638">
                                            <p:txEl>
                                              <p:pRg st="4" end="4"/>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87573638">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987573638">
                                            <p:txEl>
                                              <p:pRg st="6" end="6"/>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987573638">
                                            <p:txEl>
                                              <p:pRg st="7" end="7"/>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87573638">
                                            <p:txEl>
                                              <p:pRg st="8" end="8"/>
                                            </p:txEl>
                                          </p:spTgt>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87573638">
                                            <p:txEl>
                                              <p:pRg st="9" end="9"/>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146223181">
                                            <p:bg/>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nodeType="clickEffect">
                                  <p:stCondLst>
                                    <p:cond delay="0"/>
                                  </p:stCondLst>
                                  <p:childTnLst>
                                    <p:set>
                                      <p:cBhvr>
                                        <p:cTn id="64" dur="1" fill="hold">
                                          <p:stCondLst>
                                            <p:cond delay="0"/>
                                          </p:stCondLst>
                                        </p:cTn>
                                        <p:tgtEl>
                                          <p:spTgt spid="1146223181">
                                            <p:txEl>
                                              <p:pRg st="0" end="0"/>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1146223181">
                                            <p:txEl>
                                              <p:pRg st="1" end="1"/>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146223181">
                                            <p:txEl>
                                              <p:pRg st="2" end="2"/>
                                            </p:txEl>
                                          </p:spTgt>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114622318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1591173" grpId="0"/>
      <p:bldP spid="987573638" grpId="0" uiExpand="1" build="allAtOnce" animBg="1"/>
      <p:bldP spid="1146223181" grpId="0" uiExpand="1" build="allAtOnce" animBg="1"/>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95895539" name="Title 1"/>
          <p:cNvSpPr>
            <a:spLocks noGrp="1"/>
          </p:cNvSpPr>
          <p:nvPr>
            <p:ph type="title"/>
          </p:nvPr>
        </p:nvSpPr>
        <p:spPr bwMode="auto"/>
        <p:txBody>
          <a:bodyPr/>
          <a:lstStyle/>
          <a:p>
            <a:pPr>
              <a:defRPr/>
            </a:pPr>
            <a:r>
              <a:rPr lang="en-IN"/>
              <a:t>Construct Binary Tree from Traversal</a:t>
            </a:r>
            <a:endParaRPr lang="en-US"/>
          </a:p>
        </p:txBody>
      </p:sp>
      <p:sp>
        <p:nvSpPr>
          <p:cNvPr id="1379419457" name="TextBox 3"/>
          <p:cNvSpPr txBox="1"/>
          <p:nvPr/>
        </p:nvSpPr>
        <p:spPr bwMode="auto">
          <a:xfrm>
            <a:off x="1819835" y="762002"/>
            <a:ext cx="8686800" cy="430887"/>
          </a:xfrm>
          <a:prstGeom prst="rect">
            <a:avLst/>
          </a:prstGeom>
          <a:noFill/>
        </p:spPr>
        <p:txBody>
          <a:bodyPr wrap="square" rtlCol="0">
            <a:spAutoFit/>
          </a:bodyPr>
          <a:lstStyle/>
          <a:p>
            <a:pPr algn="ctr">
              <a:defRPr/>
            </a:pPr>
            <a:r>
              <a:rPr lang="en-IN" sz="2200" b="1"/>
              <a:t>Construct a Binary tree </a:t>
            </a:r>
            <a:r>
              <a:rPr lang="en-IN" sz="2200"/>
              <a:t>from the given </a:t>
            </a:r>
            <a:r>
              <a:rPr lang="en-IN" sz="2200" b="1">
                <a:solidFill>
                  <a:srgbClr val="C00000"/>
                </a:solidFill>
              </a:rPr>
              <a:t>Inorder</a:t>
            </a:r>
            <a:r>
              <a:rPr lang="en-IN" sz="2200">
                <a:solidFill>
                  <a:srgbClr val="C00000"/>
                </a:solidFill>
              </a:rPr>
              <a:t> </a:t>
            </a:r>
            <a:r>
              <a:rPr lang="en-IN" sz="2200"/>
              <a:t>and </a:t>
            </a:r>
            <a:r>
              <a:rPr lang="en-IN" sz="2200" b="1">
                <a:solidFill>
                  <a:srgbClr val="C00000"/>
                </a:solidFill>
              </a:rPr>
              <a:t>Postorder</a:t>
            </a:r>
            <a:r>
              <a:rPr lang="en-IN" sz="2200">
                <a:solidFill>
                  <a:srgbClr val="C00000"/>
                </a:solidFill>
              </a:rPr>
              <a:t> </a:t>
            </a:r>
            <a:r>
              <a:rPr lang="en-IN" sz="2200"/>
              <a:t>traversals</a:t>
            </a:r>
            <a:endParaRPr lang="en-US" sz="2200"/>
          </a:p>
        </p:txBody>
      </p:sp>
      <p:sp>
        <p:nvSpPr>
          <p:cNvPr id="2091533277" name="TextBox 4"/>
          <p:cNvSpPr txBox="1"/>
          <p:nvPr/>
        </p:nvSpPr>
        <p:spPr bwMode="auto">
          <a:xfrm>
            <a:off x="1822847" y="1593720"/>
            <a:ext cx="3273588" cy="738664"/>
          </a:xfrm>
          <a:prstGeom prst="rect">
            <a:avLst/>
          </a:prstGeom>
          <a:noFill/>
        </p:spPr>
        <p:txBody>
          <a:bodyPr wrap="none" rtlCol="0">
            <a:spAutoFit/>
          </a:bodyPr>
          <a:lstStyle/>
          <a:p>
            <a:pPr>
              <a:defRPr/>
            </a:pPr>
            <a:r>
              <a:rPr lang="pt-BR" sz="2100" b="1"/>
              <a:t>Inorder     :</a:t>
            </a:r>
            <a:r>
              <a:rPr lang="pt-BR" sz="2100"/>
              <a:t> D G B </a:t>
            </a:r>
            <a:r>
              <a:rPr lang="pt-BR" sz="2100" b="1"/>
              <a:t>A</a:t>
            </a:r>
            <a:r>
              <a:rPr lang="pt-BR" sz="2100"/>
              <a:t> H E I C F </a:t>
            </a:r>
            <a:endParaRPr/>
          </a:p>
          <a:p>
            <a:pPr>
              <a:defRPr/>
            </a:pPr>
            <a:r>
              <a:rPr lang="pt-BR" sz="2100" b="1"/>
              <a:t>Postorder :</a:t>
            </a:r>
            <a:r>
              <a:rPr lang="pt-BR" sz="2100"/>
              <a:t> G D B H I E F C </a:t>
            </a:r>
            <a:r>
              <a:rPr lang="pt-BR" sz="2100" b="1"/>
              <a:t>A</a:t>
            </a:r>
            <a:endParaRPr lang="en-US" sz="2100" b="1"/>
          </a:p>
        </p:txBody>
      </p:sp>
      <p:sp>
        <p:nvSpPr>
          <p:cNvPr id="910453335" name="TextBox 5"/>
          <p:cNvSpPr txBox="1"/>
          <p:nvPr/>
        </p:nvSpPr>
        <p:spPr bwMode="auto">
          <a:xfrm>
            <a:off x="5248835" y="1189673"/>
            <a:ext cx="5145832" cy="1477328"/>
          </a:xfrm>
          <a:prstGeom prst="rect">
            <a:avLst/>
          </a:prstGeom>
          <a:noFill/>
        </p:spPr>
        <p:txBody>
          <a:bodyPr wrap="none" rtlCol="0">
            <a:spAutoFit/>
          </a:bodyPr>
          <a:lstStyle/>
          <a:p>
            <a:pPr marL="285750" indent="-285750">
              <a:buFont typeface="Arial"/>
              <a:buChar char="•"/>
              <a:defRPr/>
            </a:pPr>
            <a:r>
              <a:rPr lang="en-IN"/>
              <a:t>Step 1: Find the root node </a:t>
            </a:r>
            <a:endParaRPr/>
          </a:p>
          <a:p>
            <a:pPr marL="742950" lvl="1" indent="-285750">
              <a:buFont typeface="Arial"/>
              <a:buChar char="•"/>
              <a:defRPr/>
            </a:pPr>
            <a:r>
              <a:rPr lang="en-IN"/>
              <a:t>Preoder</a:t>
            </a:r>
            <a:r>
              <a:rPr lang="en-IN"/>
              <a:t> Traversal – first node is root node </a:t>
            </a:r>
            <a:endParaRPr/>
          </a:p>
          <a:p>
            <a:pPr marL="742950" lvl="1" indent="-285750">
              <a:buFont typeface="Arial"/>
              <a:buChar char="•"/>
              <a:defRPr/>
            </a:pPr>
            <a:r>
              <a:rPr lang="en-IN"/>
              <a:t>Postoder</a:t>
            </a:r>
            <a:r>
              <a:rPr lang="en-IN"/>
              <a:t> Traversal last node is root node</a:t>
            </a:r>
            <a:endParaRPr/>
          </a:p>
          <a:p>
            <a:pPr marL="285750" indent="-285750">
              <a:buFont typeface="Arial"/>
              <a:buChar char="•"/>
              <a:defRPr/>
            </a:pPr>
            <a:r>
              <a:rPr lang="en-IN"/>
              <a:t>Step 2: Find Left &amp; Right Sub Tree</a:t>
            </a:r>
            <a:endParaRPr/>
          </a:p>
          <a:p>
            <a:pPr marL="742950" lvl="1" indent="-285750">
              <a:buFont typeface="Arial"/>
              <a:buChar char="•"/>
              <a:defRPr/>
            </a:pPr>
            <a:r>
              <a:rPr lang="en-IN"/>
              <a:t>Inorder</a:t>
            </a:r>
            <a:r>
              <a:rPr lang="en-IN"/>
              <a:t> traversal gives Left and right sub tree</a:t>
            </a:r>
            <a:endParaRPr lang="en-US"/>
          </a:p>
        </p:txBody>
      </p:sp>
      <p:cxnSp>
        <p:nvCxnSpPr>
          <p:cNvPr id="1684199675" name="Straight Connector 7"/>
          <p:cNvCxnSpPr/>
          <p:nvPr/>
        </p:nvCxnSpPr>
        <p:spPr bwMode="auto">
          <a:xfrm>
            <a:off x="5096435" y="1226405"/>
            <a:ext cx="0" cy="1440597"/>
          </a:xfrm>
          <a:prstGeom prst="line">
            <a:avLst/>
          </a:prstGeom>
        </p:spPr>
        <p:style>
          <a:lnRef idx="2">
            <a:schemeClr val="dk1"/>
          </a:lnRef>
          <a:fillRef idx="0">
            <a:schemeClr val="dk1"/>
          </a:fillRef>
          <a:effectRef idx="1">
            <a:schemeClr val="dk1"/>
          </a:effectRef>
          <a:fontRef idx="minor">
            <a:schemeClr val="tx1"/>
          </a:fontRef>
        </p:style>
      </p:cxnSp>
      <p:cxnSp>
        <p:nvCxnSpPr>
          <p:cNvPr id="620225549" name="Straight Connector 9"/>
          <p:cNvCxnSpPr/>
          <p:nvPr/>
        </p:nvCxnSpPr>
        <p:spPr bwMode="auto">
          <a:xfrm>
            <a:off x="1793330" y="1226404"/>
            <a:ext cx="8763000" cy="0"/>
          </a:xfrm>
          <a:prstGeom prst="line">
            <a:avLst/>
          </a:prstGeom>
        </p:spPr>
        <p:style>
          <a:lnRef idx="2">
            <a:schemeClr val="dk1"/>
          </a:lnRef>
          <a:fillRef idx="0">
            <a:schemeClr val="dk1"/>
          </a:fillRef>
          <a:effectRef idx="1">
            <a:schemeClr val="dk1"/>
          </a:effectRef>
          <a:fontRef idx="minor">
            <a:schemeClr val="tx1"/>
          </a:fontRef>
        </p:style>
      </p:cxnSp>
      <p:cxnSp>
        <p:nvCxnSpPr>
          <p:cNvPr id="2098224700" name="Straight Connector 10"/>
          <p:cNvCxnSpPr/>
          <p:nvPr/>
        </p:nvCxnSpPr>
        <p:spPr bwMode="auto">
          <a:xfrm>
            <a:off x="1819835" y="2667001"/>
            <a:ext cx="8763000" cy="0"/>
          </a:xfrm>
          <a:prstGeom prst="line">
            <a:avLst/>
          </a:prstGeom>
        </p:spPr>
        <p:style>
          <a:lnRef idx="2">
            <a:schemeClr val="dk1"/>
          </a:lnRef>
          <a:fillRef idx="0">
            <a:schemeClr val="dk1"/>
          </a:fillRef>
          <a:effectRef idx="1">
            <a:schemeClr val="dk1"/>
          </a:effectRef>
          <a:fontRef idx="minor">
            <a:schemeClr val="tx1"/>
          </a:fontRef>
        </p:style>
      </p:cxnSp>
      <p:sp>
        <p:nvSpPr>
          <p:cNvPr id="1678201167" name="Oval 2"/>
          <p:cNvSpPr/>
          <p:nvPr/>
        </p:nvSpPr>
        <p:spPr bwMode="auto">
          <a:xfrm>
            <a:off x="1625220" y="391757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A</a:t>
            </a:r>
            <a:endParaRPr lang="en-US" sz="2400" b="1"/>
          </a:p>
        </p:txBody>
      </p:sp>
      <p:sp>
        <p:nvSpPr>
          <p:cNvPr id="26532044" name="Rounded Rectangle 6"/>
          <p:cNvSpPr/>
          <p:nvPr/>
        </p:nvSpPr>
        <p:spPr bwMode="auto">
          <a:xfrm>
            <a:off x="1777620" y="4831979"/>
            <a:ext cx="1447800" cy="533400"/>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H,E,I,C,F</a:t>
            </a:r>
            <a:endParaRPr lang="en-US" sz="2400" b="1"/>
          </a:p>
        </p:txBody>
      </p:sp>
      <p:sp>
        <p:nvSpPr>
          <p:cNvPr id="1227506181" name="Rounded Rectangle 13"/>
          <p:cNvSpPr/>
          <p:nvPr/>
        </p:nvSpPr>
        <p:spPr bwMode="auto">
          <a:xfrm>
            <a:off x="654424" y="4821093"/>
            <a:ext cx="970797" cy="533400"/>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D,G,B</a:t>
            </a:r>
            <a:endParaRPr lang="en-US" sz="2400" b="1"/>
          </a:p>
        </p:txBody>
      </p:sp>
      <p:cxnSp>
        <p:nvCxnSpPr>
          <p:cNvPr id="1673970582" name="Straight Arrow Connector 16"/>
          <p:cNvCxnSpPr>
            <a:stCxn id="1678201167" idx="3"/>
            <a:endCxn id="1227506181" idx="0"/>
          </p:cNvCxnSpPr>
          <p:nvPr/>
        </p:nvCxnSpPr>
        <p:spPr bwMode="auto">
          <a:xfrm flipH="1">
            <a:off x="1139823" y="4396935"/>
            <a:ext cx="567641" cy="42415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024822080" name="Straight Arrow Connector 18"/>
          <p:cNvCxnSpPr>
            <a:stCxn id="1678201167" idx="5"/>
            <a:endCxn id="26532044" idx="0"/>
          </p:cNvCxnSpPr>
          <p:nvPr/>
        </p:nvCxnSpPr>
        <p:spPr bwMode="auto">
          <a:xfrm>
            <a:off x="2104576" y="4396935"/>
            <a:ext cx="396944" cy="4350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749685650" name="TextBox 21"/>
          <p:cNvSpPr txBox="1"/>
          <p:nvPr/>
        </p:nvSpPr>
        <p:spPr bwMode="auto">
          <a:xfrm>
            <a:off x="234362" y="3285647"/>
            <a:ext cx="3281604" cy="415498"/>
          </a:xfrm>
          <a:prstGeom prst="rect">
            <a:avLst/>
          </a:prstGeom>
          <a:noFill/>
        </p:spPr>
        <p:txBody>
          <a:bodyPr wrap="none" rtlCol="0">
            <a:spAutoFit/>
          </a:bodyPr>
          <a:lstStyle/>
          <a:p>
            <a:pPr>
              <a:defRPr/>
            </a:pPr>
            <a:r>
              <a:rPr lang="pt-BR" sz="2100" b="1"/>
              <a:t>Inorder     : </a:t>
            </a:r>
            <a:r>
              <a:rPr lang="pt-BR" sz="2100"/>
              <a:t>D G B A H E I C F </a:t>
            </a:r>
            <a:endParaRPr/>
          </a:p>
        </p:txBody>
      </p:sp>
      <p:sp>
        <p:nvSpPr>
          <p:cNvPr id="264673047" name="TextBox 22"/>
          <p:cNvSpPr txBox="1"/>
          <p:nvPr/>
        </p:nvSpPr>
        <p:spPr bwMode="auto">
          <a:xfrm>
            <a:off x="199736" y="2764975"/>
            <a:ext cx="3237937" cy="415498"/>
          </a:xfrm>
          <a:prstGeom prst="rect">
            <a:avLst/>
          </a:prstGeom>
          <a:noFill/>
        </p:spPr>
        <p:txBody>
          <a:bodyPr wrap="none" rtlCol="0">
            <a:spAutoFit/>
          </a:bodyPr>
          <a:lstStyle/>
          <a:p>
            <a:pPr>
              <a:defRPr/>
            </a:pPr>
            <a:r>
              <a:rPr lang="pt-BR" sz="2100" b="1"/>
              <a:t>Postorder :</a:t>
            </a:r>
            <a:r>
              <a:rPr lang="pt-BR" sz="2100"/>
              <a:t> G D B H I E F C A</a:t>
            </a:r>
            <a:endParaRPr lang="en-US" sz="2100"/>
          </a:p>
        </p:txBody>
      </p:sp>
      <p:sp>
        <p:nvSpPr>
          <p:cNvPr id="113827642" name="TextBox 23"/>
          <p:cNvSpPr txBox="1"/>
          <p:nvPr/>
        </p:nvSpPr>
        <p:spPr bwMode="auto">
          <a:xfrm>
            <a:off x="3039533" y="2764973"/>
            <a:ext cx="348172" cy="415498"/>
          </a:xfrm>
          <a:prstGeom prst="rect">
            <a:avLst/>
          </a:prstGeom>
          <a:noFill/>
        </p:spPr>
        <p:txBody>
          <a:bodyPr wrap="none" rtlCol="0">
            <a:spAutoFit/>
          </a:bodyPr>
          <a:lstStyle/>
          <a:p>
            <a:pPr>
              <a:defRPr/>
            </a:pPr>
            <a:r>
              <a:rPr lang="pt-BR" sz="2100" b="1">
                <a:solidFill>
                  <a:srgbClr val="C00000"/>
                </a:solidFill>
              </a:rPr>
              <a:t>A</a:t>
            </a:r>
            <a:endParaRPr lang="en-US" sz="2100" b="1">
              <a:solidFill>
                <a:srgbClr val="C00000"/>
              </a:solidFill>
            </a:endParaRPr>
          </a:p>
        </p:txBody>
      </p:sp>
      <p:sp>
        <p:nvSpPr>
          <p:cNvPr id="163666489" name="TextBox 24"/>
          <p:cNvSpPr txBox="1"/>
          <p:nvPr/>
        </p:nvSpPr>
        <p:spPr bwMode="auto">
          <a:xfrm>
            <a:off x="2089364" y="3285645"/>
            <a:ext cx="348172" cy="415498"/>
          </a:xfrm>
          <a:prstGeom prst="rect">
            <a:avLst/>
          </a:prstGeom>
          <a:noFill/>
        </p:spPr>
        <p:txBody>
          <a:bodyPr wrap="none" rtlCol="0">
            <a:spAutoFit/>
          </a:bodyPr>
          <a:lstStyle/>
          <a:p>
            <a:pPr>
              <a:defRPr/>
            </a:pPr>
            <a:r>
              <a:rPr lang="pt-BR" sz="2100" b="1">
                <a:solidFill>
                  <a:srgbClr val="C00000"/>
                </a:solidFill>
              </a:rPr>
              <a:t>A</a:t>
            </a:r>
            <a:endParaRPr lang="en-US" sz="2100" b="1">
              <a:solidFill>
                <a:srgbClr val="C00000"/>
              </a:solidFill>
            </a:endParaRPr>
          </a:p>
        </p:txBody>
      </p:sp>
      <p:cxnSp>
        <p:nvCxnSpPr>
          <p:cNvPr id="2005893353" name="Straight Connector 26"/>
          <p:cNvCxnSpPr/>
          <p:nvPr/>
        </p:nvCxnSpPr>
        <p:spPr bwMode="auto">
          <a:xfrm flipH="1">
            <a:off x="1527842" y="3657601"/>
            <a:ext cx="556647"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280501836" name="Straight Connector 27"/>
          <p:cNvCxnSpPr/>
          <p:nvPr/>
        </p:nvCxnSpPr>
        <p:spPr bwMode="auto">
          <a:xfrm flipH="1">
            <a:off x="2420470" y="3657601"/>
            <a:ext cx="818396"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171416623" name="Oval 20"/>
          <p:cNvSpPr/>
          <p:nvPr/>
        </p:nvSpPr>
        <p:spPr bwMode="auto">
          <a:xfrm>
            <a:off x="5823265" y="303431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A</a:t>
            </a:r>
            <a:endParaRPr lang="en-US" sz="2400" b="1"/>
          </a:p>
        </p:txBody>
      </p:sp>
      <p:cxnSp>
        <p:nvCxnSpPr>
          <p:cNvPr id="298546" name="Straight Arrow Connector 25"/>
          <p:cNvCxnSpPr>
            <a:stCxn id="171416623" idx="3"/>
            <a:endCxn id="158634821" idx="0"/>
          </p:cNvCxnSpPr>
          <p:nvPr/>
        </p:nvCxnSpPr>
        <p:spPr bwMode="auto">
          <a:xfrm flipH="1">
            <a:off x="5285668" y="3513672"/>
            <a:ext cx="619840" cy="29353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05693758" name="Straight Arrow Connector 28"/>
          <p:cNvCxnSpPr>
            <a:stCxn id="171416623" idx="5"/>
            <a:endCxn id="2014083982" idx="0"/>
          </p:cNvCxnSpPr>
          <p:nvPr/>
        </p:nvCxnSpPr>
        <p:spPr bwMode="auto">
          <a:xfrm>
            <a:off x="6302621" y="3513672"/>
            <a:ext cx="543641" cy="29353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58634821" name="Oval 29"/>
          <p:cNvSpPr/>
          <p:nvPr/>
        </p:nvSpPr>
        <p:spPr bwMode="auto">
          <a:xfrm>
            <a:off x="5004868" y="380720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B</a:t>
            </a:r>
            <a:endParaRPr lang="en-US" sz="2400" b="1"/>
          </a:p>
        </p:txBody>
      </p:sp>
      <p:sp>
        <p:nvSpPr>
          <p:cNvPr id="937609469" name="Rounded Rectangle 30"/>
          <p:cNvSpPr/>
          <p:nvPr/>
        </p:nvSpPr>
        <p:spPr bwMode="auto">
          <a:xfrm>
            <a:off x="4371008" y="4569207"/>
            <a:ext cx="710061" cy="533400"/>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D,G</a:t>
            </a:r>
            <a:endParaRPr lang="en-US" sz="2400" b="1"/>
          </a:p>
        </p:txBody>
      </p:sp>
      <p:cxnSp>
        <p:nvCxnSpPr>
          <p:cNvPr id="72683258" name="Straight Arrow Connector 31"/>
          <p:cNvCxnSpPr>
            <a:stCxn id="158634821" idx="3"/>
            <a:endCxn id="937609469" idx="0"/>
          </p:cNvCxnSpPr>
          <p:nvPr/>
        </p:nvCxnSpPr>
        <p:spPr bwMode="auto">
          <a:xfrm flipH="1">
            <a:off x="4726038" y="4286563"/>
            <a:ext cx="361073" cy="2826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014083982" name="Oval 32"/>
          <p:cNvSpPr/>
          <p:nvPr/>
        </p:nvSpPr>
        <p:spPr bwMode="auto">
          <a:xfrm>
            <a:off x="6565462" y="380720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C</a:t>
            </a:r>
            <a:endParaRPr lang="en-US" sz="2400" b="1"/>
          </a:p>
        </p:txBody>
      </p:sp>
      <p:sp>
        <p:nvSpPr>
          <p:cNvPr id="1519398983" name="Rounded Rectangle 33"/>
          <p:cNvSpPr/>
          <p:nvPr/>
        </p:nvSpPr>
        <p:spPr bwMode="auto">
          <a:xfrm>
            <a:off x="5442737" y="4580087"/>
            <a:ext cx="1009930" cy="533400"/>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H,E,I</a:t>
            </a:r>
            <a:endParaRPr lang="en-US" sz="2400" b="1"/>
          </a:p>
        </p:txBody>
      </p:sp>
      <p:sp>
        <p:nvSpPr>
          <p:cNvPr id="1364375427" name="Oval 34"/>
          <p:cNvSpPr/>
          <p:nvPr/>
        </p:nvSpPr>
        <p:spPr bwMode="auto">
          <a:xfrm>
            <a:off x="7062268" y="461668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F</a:t>
            </a:r>
            <a:endParaRPr lang="en-US" sz="2400" b="1"/>
          </a:p>
        </p:txBody>
      </p:sp>
      <p:cxnSp>
        <p:nvCxnSpPr>
          <p:cNvPr id="1430429756" name="Straight Arrow Connector 35"/>
          <p:cNvCxnSpPr>
            <a:stCxn id="2014083982" idx="3"/>
            <a:endCxn id="1519398983" idx="0"/>
          </p:cNvCxnSpPr>
          <p:nvPr/>
        </p:nvCxnSpPr>
        <p:spPr bwMode="auto">
          <a:xfrm flipH="1">
            <a:off x="5947703" y="4286563"/>
            <a:ext cx="700003" cy="29352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58365631" name="Straight Arrow Connector 36"/>
          <p:cNvCxnSpPr>
            <a:stCxn id="2014083982" idx="5"/>
            <a:endCxn id="1364375427" idx="0"/>
          </p:cNvCxnSpPr>
          <p:nvPr/>
        </p:nvCxnSpPr>
        <p:spPr bwMode="auto">
          <a:xfrm>
            <a:off x="7044818" y="4286563"/>
            <a:ext cx="298250" cy="33011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926632994" name="Oval 37"/>
          <p:cNvSpPr/>
          <p:nvPr/>
        </p:nvSpPr>
        <p:spPr bwMode="auto">
          <a:xfrm>
            <a:off x="9828117" y="294446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A</a:t>
            </a:r>
            <a:endParaRPr lang="en-US" sz="2400" b="1"/>
          </a:p>
        </p:txBody>
      </p:sp>
      <p:cxnSp>
        <p:nvCxnSpPr>
          <p:cNvPr id="1544201790" name="Straight Arrow Connector 38"/>
          <p:cNvCxnSpPr>
            <a:stCxn id="926632994" idx="3"/>
            <a:endCxn id="2050603111" idx="0"/>
          </p:cNvCxnSpPr>
          <p:nvPr/>
        </p:nvCxnSpPr>
        <p:spPr bwMode="auto">
          <a:xfrm flipH="1">
            <a:off x="9290520" y="3423823"/>
            <a:ext cx="619840" cy="29353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41220034" name="Straight Arrow Connector 39"/>
          <p:cNvCxnSpPr>
            <a:stCxn id="926632994" idx="5"/>
            <a:endCxn id="518784787" idx="0"/>
          </p:cNvCxnSpPr>
          <p:nvPr/>
        </p:nvCxnSpPr>
        <p:spPr bwMode="auto">
          <a:xfrm>
            <a:off x="10307472" y="3423823"/>
            <a:ext cx="543641" cy="29353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050603111" name="Oval 40"/>
          <p:cNvSpPr/>
          <p:nvPr/>
        </p:nvSpPr>
        <p:spPr bwMode="auto">
          <a:xfrm>
            <a:off x="9009720" y="371735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B</a:t>
            </a:r>
            <a:endParaRPr lang="en-US" sz="2400" b="1"/>
          </a:p>
        </p:txBody>
      </p:sp>
      <p:cxnSp>
        <p:nvCxnSpPr>
          <p:cNvPr id="360149980" name="Straight Arrow Connector 41"/>
          <p:cNvCxnSpPr>
            <a:stCxn id="2050603111" idx="3"/>
            <a:endCxn id="1932704667" idx="0"/>
          </p:cNvCxnSpPr>
          <p:nvPr/>
        </p:nvCxnSpPr>
        <p:spPr bwMode="auto">
          <a:xfrm flipH="1">
            <a:off x="8661117" y="4196714"/>
            <a:ext cx="430847" cy="41548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18784787" name="Oval 42"/>
          <p:cNvSpPr/>
          <p:nvPr/>
        </p:nvSpPr>
        <p:spPr bwMode="auto">
          <a:xfrm>
            <a:off x="10570314" y="371735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C</a:t>
            </a:r>
            <a:endParaRPr lang="en-US" sz="2400" b="1"/>
          </a:p>
        </p:txBody>
      </p:sp>
      <p:sp>
        <p:nvSpPr>
          <p:cNvPr id="133351074" name="Oval 43"/>
          <p:cNvSpPr/>
          <p:nvPr/>
        </p:nvSpPr>
        <p:spPr bwMode="auto">
          <a:xfrm>
            <a:off x="11067120" y="452683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F</a:t>
            </a:r>
            <a:endParaRPr lang="en-US" sz="2400" b="1"/>
          </a:p>
        </p:txBody>
      </p:sp>
      <p:cxnSp>
        <p:nvCxnSpPr>
          <p:cNvPr id="700258572" name="Straight Arrow Connector 44"/>
          <p:cNvCxnSpPr>
            <a:stCxn id="518784787" idx="3"/>
            <a:endCxn id="2106738675" idx="0"/>
          </p:cNvCxnSpPr>
          <p:nvPr/>
        </p:nvCxnSpPr>
        <p:spPr bwMode="auto">
          <a:xfrm flipH="1">
            <a:off x="10221711" y="4196714"/>
            <a:ext cx="430847" cy="32445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163062762" name="Straight Arrow Connector 45"/>
          <p:cNvCxnSpPr>
            <a:stCxn id="518784787" idx="5"/>
            <a:endCxn id="133351074" idx="0"/>
          </p:cNvCxnSpPr>
          <p:nvPr/>
        </p:nvCxnSpPr>
        <p:spPr bwMode="auto">
          <a:xfrm>
            <a:off x="11049670" y="4196714"/>
            <a:ext cx="298250" cy="33011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932704667" name="Oval 46"/>
          <p:cNvSpPr/>
          <p:nvPr/>
        </p:nvSpPr>
        <p:spPr bwMode="auto">
          <a:xfrm>
            <a:off x="8380317" y="461219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D</a:t>
            </a:r>
            <a:endParaRPr lang="en-US" sz="2400" b="1"/>
          </a:p>
        </p:txBody>
      </p:sp>
      <p:sp>
        <p:nvSpPr>
          <p:cNvPr id="372442650" name="Oval 47"/>
          <p:cNvSpPr/>
          <p:nvPr/>
        </p:nvSpPr>
        <p:spPr bwMode="auto">
          <a:xfrm>
            <a:off x="8834073" y="545039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G</a:t>
            </a:r>
            <a:endParaRPr lang="en-US" sz="2400" b="1"/>
          </a:p>
        </p:txBody>
      </p:sp>
      <p:cxnSp>
        <p:nvCxnSpPr>
          <p:cNvPr id="1753841268" name="Straight Arrow Connector 48"/>
          <p:cNvCxnSpPr>
            <a:stCxn id="1932704667" idx="5"/>
            <a:endCxn id="372442650" idx="0"/>
          </p:cNvCxnSpPr>
          <p:nvPr/>
        </p:nvCxnSpPr>
        <p:spPr bwMode="auto">
          <a:xfrm>
            <a:off x="8859673" y="5091550"/>
            <a:ext cx="255200" cy="3588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106738675" name="Oval 49"/>
          <p:cNvSpPr/>
          <p:nvPr/>
        </p:nvSpPr>
        <p:spPr bwMode="auto">
          <a:xfrm>
            <a:off x="9940911" y="452117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E</a:t>
            </a:r>
            <a:endParaRPr lang="en-US" sz="2400" b="1"/>
          </a:p>
        </p:txBody>
      </p:sp>
      <p:sp>
        <p:nvSpPr>
          <p:cNvPr id="1150598535" name="Oval 50"/>
          <p:cNvSpPr/>
          <p:nvPr/>
        </p:nvSpPr>
        <p:spPr bwMode="auto">
          <a:xfrm>
            <a:off x="9447117" y="540095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H</a:t>
            </a:r>
            <a:endParaRPr lang="en-US" sz="2400" b="1"/>
          </a:p>
        </p:txBody>
      </p:sp>
      <p:sp>
        <p:nvSpPr>
          <p:cNvPr id="2047209381" name="Oval 51"/>
          <p:cNvSpPr/>
          <p:nvPr/>
        </p:nvSpPr>
        <p:spPr bwMode="auto">
          <a:xfrm>
            <a:off x="10394667" y="543902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I</a:t>
            </a:r>
            <a:endParaRPr lang="en-US" sz="2400" b="1"/>
          </a:p>
        </p:txBody>
      </p:sp>
      <p:cxnSp>
        <p:nvCxnSpPr>
          <p:cNvPr id="273596240" name="Straight Arrow Connector 52"/>
          <p:cNvCxnSpPr>
            <a:stCxn id="2106738675" idx="3"/>
            <a:endCxn id="1150598535" idx="0"/>
          </p:cNvCxnSpPr>
          <p:nvPr/>
        </p:nvCxnSpPr>
        <p:spPr bwMode="auto">
          <a:xfrm flipH="1">
            <a:off x="9727917" y="5000528"/>
            <a:ext cx="295238" cy="40042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49560128" name="Straight Arrow Connector 53"/>
          <p:cNvCxnSpPr>
            <a:stCxn id="2106738675" idx="5"/>
            <a:endCxn id="2047209381" idx="0"/>
          </p:cNvCxnSpPr>
          <p:nvPr/>
        </p:nvCxnSpPr>
        <p:spPr bwMode="auto">
          <a:xfrm>
            <a:off x="10420267" y="5000528"/>
            <a:ext cx="255200" cy="43849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7941945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0225549"/>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98224700"/>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8419967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09153327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10453335">
                                            <p:txEl>
                                              <p:pRg st="0" end="0"/>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10453335">
                                            <p:txEl>
                                              <p:pRg st="1" end="1"/>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10453335">
                                            <p:txEl>
                                              <p:pRg st="2" end="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10453335">
                                            <p:txEl>
                                              <p:pRg st="3" end="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10453335">
                                            <p:txEl>
                                              <p:pRg st="4" end="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26467304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749685650"/>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13827642"/>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63666489"/>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22" presetClass="entr" presetSubtype="2" fill="hold" nodeType="clickEffect">
                                  <p:stCondLst>
                                    <p:cond delay="0"/>
                                  </p:stCondLst>
                                  <p:childTnLst>
                                    <p:set>
                                      <p:cBhvr>
                                        <p:cTn id="56" dur="1" fill="hold">
                                          <p:stCondLst>
                                            <p:cond delay="0"/>
                                          </p:stCondLst>
                                        </p:cTn>
                                        <p:tgtEl>
                                          <p:spTgt spid="2005893353"/>
                                        </p:tgtEl>
                                        <p:attrNameLst>
                                          <p:attrName>style.visibility</p:attrName>
                                        </p:attrNameLst>
                                      </p:cBhvr>
                                      <p:to>
                                        <p:strVal val="visible"/>
                                      </p:to>
                                    </p:set>
                                    <p:animEffect transition="in" filter="wipe(right)">
                                      <p:cBhvr>
                                        <p:cTn id="57" dur="500"/>
                                        <p:tgtEl>
                                          <p:spTgt spid="2005893353"/>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280501836"/>
                                        </p:tgtEl>
                                        <p:attrNameLst>
                                          <p:attrName>style.visibility</p:attrName>
                                        </p:attrNameLst>
                                      </p:cBhvr>
                                      <p:to>
                                        <p:strVal val="visible"/>
                                      </p:to>
                                    </p:set>
                                    <p:animEffect transition="in" filter="wipe(left)">
                                      <p:cBhvr>
                                        <p:cTn id="62" dur="500"/>
                                        <p:tgtEl>
                                          <p:spTgt spid="1280501836"/>
                                        </p:tgtEl>
                                      </p:cBhvr>
                                    </p:animEffec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67820116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167397058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227506181"/>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102482208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26532044"/>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grpId="0" nodeType="clickEffect">
                                  <p:stCondLst>
                                    <p:cond delay="0"/>
                                  </p:stCondLst>
                                  <p:childTnLst>
                                    <p:set>
                                      <p:cBhvr>
                                        <p:cTn id="86" dur="1" fill="hold">
                                          <p:stCondLst>
                                            <p:cond delay="0"/>
                                          </p:stCondLst>
                                        </p:cTn>
                                        <p:tgtEl>
                                          <p:spTgt spid="17141662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298546"/>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605693758"/>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58634821"/>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2683258"/>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937609469"/>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grpId="0" nodeType="clickEffect">
                                  <p:stCondLst>
                                    <p:cond delay="0"/>
                                  </p:stCondLst>
                                  <p:childTnLst>
                                    <p:set>
                                      <p:cBhvr>
                                        <p:cTn id="104" dur="1" fill="hold">
                                          <p:stCondLst>
                                            <p:cond delay="0"/>
                                          </p:stCondLst>
                                        </p:cTn>
                                        <p:tgtEl>
                                          <p:spTgt spid="2014083982"/>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1430429756"/>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519398983"/>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1358365631"/>
                                        </p:tgtEl>
                                        <p:attrNameLst>
                                          <p:attrName>style.visibility</p:attrName>
                                        </p:attrNameLst>
                                      </p:cBhvr>
                                      <p:to>
                                        <p:strVal val="visible"/>
                                      </p:to>
                                    </p:set>
                                  </p:childTnLst>
                                </p:cTn>
                              </p:par>
                              <p:par>
                                <p:cTn id="115" presetID="1" presetClass="entr" presetSubtype="0" fill="hold" grpId="0" nodeType="withEffect">
                                  <p:stCondLst>
                                    <p:cond delay="0"/>
                                  </p:stCondLst>
                                  <p:childTnLst>
                                    <p:set>
                                      <p:cBhvr>
                                        <p:cTn id="116" dur="1" fill="hold">
                                          <p:stCondLst>
                                            <p:cond delay="0"/>
                                          </p:stCondLst>
                                        </p:cTn>
                                        <p:tgtEl>
                                          <p:spTgt spid="1364375427"/>
                                        </p:tgtEl>
                                        <p:attrNameLst>
                                          <p:attrName>style.visibility</p:attrName>
                                        </p:attrNameLst>
                                      </p:cBhvr>
                                      <p:to>
                                        <p:strVal val="visible"/>
                                      </p:to>
                                    </p:set>
                                  </p:childTnLst>
                                </p:cTn>
                              </p:par>
                            </p:childTnLst>
                          </p:cTn>
                        </p:par>
                      </p:childTnLst>
                    </p:cTn>
                  </p:par>
                  <p:par>
                    <p:cTn id="117" fill="hold">
                      <p:stCondLst>
                        <p:cond delay="indefinite"/>
                      </p:stCondLst>
                      <p:childTnLst>
                        <p:par>
                          <p:cTn id="118" fill="hold">
                            <p:stCondLst>
                              <p:cond delay="0"/>
                            </p:stCondLst>
                            <p:childTnLst>
                              <p:par>
                                <p:cTn id="119" presetID="1" presetClass="entr" presetSubtype="0" fill="hold" grpId="0" nodeType="clickEffect">
                                  <p:stCondLst>
                                    <p:cond delay="0"/>
                                  </p:stCondLst>
                                  <p:childTnLst>
                                    <p:set>
                                      <p:cBhvr>
                                        <p:cTn id="120" dur="1" fill="hold">
                                          <p:stCondLst>
                                            <p:cond delay="0"/>
                                          </p:stCondLst>
                                        </p:cTn>
                                        <p:tgtEl>
                                          <p:spTgt spid="926632994"/>
                                        </p:tgtEl>
                                        <p:attrNameLst>
                                          <p:attrName>style.visibility</p:attrName>
                                        </p:attrNameLst>
                                      </p:cBhvr>
                                      <p:to>
                                        <p:strVal val="visible"/>
                                      </p:to>
                                    </p:set>
                                  </p:childTnLst>
                                </p:cTn>
                              </p:par>
                              <p:par>
                                <p:cTn id="121" presetID="1" presetClass="entr" presetSubtype="0" fill="hold" nodeType="withEffect">
                                  <p:stCondLst>
                                    <p:cond delay="0"/>
                                  </p:stCondLst>
                                  <p:childTnLst>
                                    <p:set>
                                      <p:cBhvr>
                                        <p:cTn id="122" dur="1" fill="hold">
                                          <p:stCondLst>
                                            <p:cond delay="0"/>
                                          </p:stCondLst>
                                        </p:cTn>
                                        <p:tgtEl>
                                          <p:spTgt spid="1544201790"/>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2050603111"/>
                                        </p:tgtEl>
                                        <p:attrNameLst>
                                          <p:attrName>style.visibility</p:attrName>
                                        </p:attrNameLst>
                                      </p:cBhvr>
                                      <p:to>
                                        <p:strVal val="visible"/>
                                      </p:to>
                                    </p:set>
                                  </p:childTnLst>
                                </p:cTn>
                              </p:par>
                              <p:par>
                                <p:cTn id="125" presetID="1" presetClass="entr" presetSubtype="0" fill="hold" nodeType="withEffect">
                                  <p:stCondLst>
                                    <p:cond delay="0"/>
                                  </p:stCondLst>
                                  <p:childTnLst>
                                    <p:set>
                                      <p:cBhvr>
                                        <p:cTn id="126" dur="1" fill="hold">
                                          <p:stCondLst>
                                            <p:cond delay="0"/>
                                          </p:stCondLst>
                                        </p:cTn>
                                        <p:tgtEl>
                                          <p:spTgt spid="360149980"/>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841220034"/>
                                        </p:tgtEl>
                                        <p:attrNameLst>
                                          <p:attrName>style.visibility</p:attrName>
                                        </p:attrNameLst>
                                      </p:cBhvr>
                                      <p:to>
                                        <p:strVal val="visible"/>
                                      </p:to>
                                    </p:set>
                                  </p:childTnLst>
                                </p:cTn>
                              </p:par>
                              <p:par>
                                <p:cTn id="129" presetID="1" presetClass="entr" presetSubtype="0" fill="hold" grpId="0" nodeType="withEffect">
                                  <p:stCondLst>
                                    <p:cond delay="0"/>
                                  </p:stCondLst>
                                  <p:childTnLst>
                                    <p:set>
                                      <p:cBhvr>
                                        <p:cTn id="130" dur="1" fill="hold">
                                          <p:stCondLst>
                                            <p:cond delay="0"/>
                                          </p:stCondLst>
                                        </p:cTn>
                                        <p:tgtEl>
                                          <p:spTgt spid="518784787"/>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1163062762"/>
                                        </p:tgtEl>
                                        <p:attrNameLst>
                                          <p:attrName>style.visibility</p:attrName>
                                        </p:attrNameLst>
                                      </p:cBhvr>
                                      <p:to>
                                        <p:strVal val="visible"/>
                                      </p:to>
                                    </p:set>
                                  </p:childTnLst>
                                </p:cTn>
                              </p:par>
                              <p:par>
                                <p:cTn id="133" presetID="1" presetClass="entr" presetSubtype="0" fill="hold" grpId="0" nodeType="withEffect">
                                  <p:stCondLst>
                                    <p:cond delay="0"/>
                                  </p:stCondLst>
                                  <p:childTnLst>
                                    <p:set>
                                      <p:cBhvr>
                                        <p:cTn id="134" dur="1" fill="hold">
                                          <p:stCondLst>
                                            <p:cond delay="0"/>
                                          </p:stCondLst>
                                        </p:cTn>
                                        <p:tgtEl>
                                          <p:spTgt spid="133351074"/>
                                        </p:tgtEl>
                                        <p:attrNameLst>
                                          <p:attrName>style.visibility</p:attrName>
                                        </p:attrNameLst>
                                      </p:cBhvr>
                                      <p:to>
                                        <p:strVal val="visible"/>
                                      </p:to>
                                    </p:set>
                                  </p:childTnLst>
                                </p:cTn>
                              </p:par>
                              <p:par>
                                <p:cTn id="135" presetID="1" presetClass="entr" presetSubtype="0" fill="hold" nodeType="withEffect">
                                  <p:stCondLst>
                                    <p:cond delay="0"/>
                                  </p:stCondLst>
                                  <p:childTnLst>
                                    <p:set>
                                      <p:cBhvr>
                                        <p:cTn id="136" dur="1" fill="hold">
                                          <p:stCondLst>
                                            <p:cond delay="0"/>
                                          </p:stCondLst>
                                        </p:cTn>
                                        <p:tgtEl>
                                          <p:spTgt spid="700258572"/>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grpId="0" nodeType="clickEffect">
                                  <p:stCondLst>
                                    <p:cond delay="0"/>
                                  </p:stCondLst>
                                  <p:childTnLst>
                                    <p:set>
                                      <p:cBhvr>
                                        <p:cTn id="140" dur="1" fill="hold">
                                          <p:stCondLst>
                                            <p:cond delay="0"/>
                                          </p:stCondLst>
                                        </p:cTn>
                                        <p:tgtEl>
                                          <p:spTgt spid="1932704667"/>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presetID="1" presetClass="entr" presetSubtype="0" fill="hold" nodeType="clickEffect">
                                  <p:stCondLst>
                                    <p:cond delay="0"/>
                                  </p:stCondLst>
                                  <p:childTnLst>
                                    <p:set>
                                      <p:cBhvr>
                                        <p:cTn id="144" dur="1" fill="hold">
                                          <p:stCondLst>
                                            <p:cond delay="0"/>
                                          </p:stCondLst>
                                        </p:cTn>
                                        <p:tgtEl>
                                          <p:spTgt spid="1753841268"/>
                                        </p:tgtEl>
                                        <p:attrNameLst>
                                          <p:attrName>style.visibility</p:attrName>
                                        </p:attrNameLst>
                                      </p:cBhvr>
                                      <p:to>
                                        <p:strVal val="visible"/>
                                      </p:to>
                                    </p:set>
                                  </p:childTnLst>
                                </p:cTn>
                              </p:par>
                              <p:par>
                                <p:cTn id="145" presetID="1" presetClass="entr" presetSubtype="0" fill="hold" grpId="0" nodeType="withEffect">
                                  <p:stCondLst>
                                    <p:cond delay="0"/>
                                  </p:stCondLst>
                                  <p:childTnLst>
                                    <p:set>
                                      <p:cBhvr>
                                        <p:cTn id="146" dur="1" fill="hold">
                                          <p:stCondLst>
                                            <p:cond delay="0"/>
                                          </p:stCondLst>
                                        </p:cTn>
                                        <p:tgtEl>
                                          <p:spTgt spid="372442650"/>
                                        </p:tgtEl>
                                        <p:attrNameLst>
                                          <p:attrName>style.visibility</p:attrName>
                                        </p:attrNameLst>
                                      </p:cBhvr>
                                      <p:to>
                                        <p:strVal val="visible"/>
                                      </p:to>
                                    </p:se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2106738675"/>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1" presetClass="entr" presetSubtype="0" fill="hold" nodeType="clickEffect">
                                  <p:stCondLst>
                                    <p:cond delay="0"/>
                                  </p:stCondLst>
                                  <p:childTnLst>
                                    <p:set>
                                      <p:cBhvr>
                                        <p:cTn id="154" dur="1" fill="hold">
                                          <p:stCondLst>
                                            <p:cond delay="0"/>
                                          </p:stCondLst>
                                        </p:cTn>
                                        <p:tgtEl>
                                          <p:spTgt spid="273596240"/>
                                        </p:tgtEl>
                                        <p:attrNameLst>
                                          <p:attrName>style.visibility</p:attrName>
                                        </p:attrNameLst>
                                      </p:cBhvr>
                                      <p:to>
                                        <p:strVal val="visible"/>
                                      </p:to>
                                    </p:set>
                                  </p:childTnLst>
                                </p:cTn>
                              </p:par>
                              <p:par>
                                <p:cTn id="155" presetID="1" presetClass="entr" presetSubtype="0" fill="hold" grpId="0" nodeType="withEffect">
                                  <p:stCondLst>
                                    <p:cond delay="0"/>
                                  </p:stCondLst>
                                  <p:childTnLst>
                                    <p:set>
                                      <p:cBhvr>
                                        <p:cTn id="156" dur="1" fill="hold">
                                          <p:stCondLst>
                                            <p:cond delay="0"/>
                                          </p:stCondLst>
                                        </p:cTn>
                                        <p:tgtEl>
                                          <p:spTgt spid="1150598535"/>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1" presetClass="entr" presetSubtype="0" fill="hold" nodeType="clickEffect">
                                  <p:stCondLst>
                                    <p:cond delay="0"/>
                                  </p:stCondLst>
                                  <p:childTnLst>
                                    <p:set>
                                      <p:cBhvr>
                                        <p:cTn id="160" dur="1" fill="hold">
                                          <p:stCondLst>
                                            <p:cond delay="0"/>
                                          </p:stCondLst>
                                        </p:cTn>
                                        <p:tgtEl>
                                          <p:spTgt spid="949560128"/>
                                        </p:tgtEl>
                                        <p:attrNameLst>
                                          <p:attrName>style.visibility</p:attrName>
                                        </p:attrNameLst>
                                      </p:cBhvr>
                                      <p:to>
                                        <p:strVal val="visible"/>
                                      </p:to>
                                    </p:set>
                                  </p:childTnLst>
                                </p:cTn>
                              </p:par>
                              <p:par>
                                <p:cTn id="161" presetID="1" presetClass="entr" presetSubtype="0" fill="hold" grpId="0" nodeType="withEffect">
                                  <p:stCondLst>
                                    <p:cond delay="0"/>
                                  </p:stCondLst>
                                  <p:childTnLst>
                                    <p:set>
                                      <p:cBhvr>
                                        <p:cTn id="162" dur="1" fill="hold">
                                          <p:stCondLst>
                                            <p:cond delay="0"/>
                                          </p:stCondLst>
                                        </p:cTn>
                                        <p:tgtEl>
                                          <p:spTgt spid="20472093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79419457" grpId="0"/>
      <p:bldP spid="2091533277" grpId="0"/>
      <p:bldP spid="1678201167" grpId="0" animBg="1"/>
      <p:bldP spid="26532044" grpId="0" animBg="1"/>
      <p:bldP spid="1227506181" grpId="0" animBg="1"/>
      <p:bldP spid="1749685650" grpId="0"/>
      <p:bldP spid="264673047" grpId="0"/>
      <p:bldP spid="113827642" grpId="0"/>
      <p:bldP spid="163666489" grpId="0"/>
      <p:bldP spid="171416623" grpId="0" animBg="1"/>
      <p:bldP spid="158634821" grpId="0" animBg="1"/>
      <p:bldP spid="937609469" grpId="0" animBg="1"/>
      <p:bldP spid="2014083982" grpId="0" animBg="1"/>
      <p:bldP spid="1519398983" grpId="0" animBg="1"/>
      <p:bldP spid="1364375427" grpId="0" animBg="1"/>
      <p:bldP spid="926632994" grpId="0" animBg="1"/>
      <p:bldP spid="2050603111" grpId="0" animBg="1"/>
      <p:bldP spid="518784787" grpId="0" animBg="1"/>
      <p:bldP spid="133351074" grpId="0" animBg="1"/>
      <p:bldP spid="1932704667" grpId="0" animBg="1"/>
      <p:bldP spid="372442650" grpId="0" animBg="1"/>
      <p:bldP spid="2106738675" grpId="0" animBg="1"/>
      <p:bldP spid="1150598535" grpId="0" animBg="1"/>
      <p:bldP spid="2047209381" grpId="0" animBg="1"/>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86320572" name="Title 1"/>
          <p:cNvSpPr>
            <a:spLocks noGrp="1"/>
          </p:cNvSpPr>
          <p:nvPr>
            <p:ph type="title"/>
          </p:nvPr>
        </p:nvSpPr>
        <p:spPr bwMode="auto"/>
        <p:txBody>
          <a:bodyPr/>
          <a:lstStyle/>
          <a:p>
            <a:pPr>
              <a:defRPr/>
            </a:pPr>
            <a:r>
              <a:rPr lang="en-IN"/>
              <a:t>Construct Binary Tree from Traversal</a:t>
            </a:r>
            <a:endParaRPr lang="en-US"/>
          </a:p>
        </p:txBody>
      </p:sp>
      <p:sp>
        <p:nvSpPr>
          <p:cNvPr id="1981168986" name="TextBox 3"/>
          <p:cNvSpPr txBox="1"/>
          <p:nvPr/>
        </p:nvSpPr>
        <p:spPr bwMode="auto">
          <a:xfrm>
            <a:off x="6221414" y="826117"/>
            <a:ext cx="3913187" cy="415498"/>
          </a:xfrm>
          <a:prstGeom prst="rect">
            <a:avLst/>
          </a:prstGeom>
          <a:noFill/>
        </p:spPr>
        <p:txBody>
          <a:bodyPr wrap="none" rtlCol="0">
            <a:spAutoFit/>
          </a:bodyPr>
          <a:lstStyle/>
          <a:p>
            <a:pPr>
              <a:defRPr/>
            </a:pPr>
            <a:r>
              <a:rPr lang="pt-BR" sz="2100" b="1"/>
              <a:t>Inorder   : </a:t>
            </a:r>
            <a:r>
              <a:rPr lang="pt-BR" sz="2100"/>
              <a:t>Q B K C F A G P E D  H R</a:t>
            </a:r>
            <a:endParaRPr/>
          </a:p>
        </p:txBody>
      </p:sp>
      <p:sp>
        <p:nvSpPr>
          <p:cNvPr id="1098421825" name="TextBox 4"/>
          <p:cNvSpPr txBox="1"/>
          <p:nvPr/>
        </p:nvSpPr>
        <p:spPr bwMode="auto">
          <a:xfrm>
            <a:off x="1920358" y="826117"/>
            <a:ext cx="3947043" cy="415498"/>
          </a:xfrm>
          <a:prstGeom prst="rect">
            <a:avLst/>
          </a:prstGeom>
          <a:noFill/>
        </p:spPr>
        <p:txBody>
          <a:bodyPr wrap="none" rtlCol="0">
            <a:spAutoFit/>
          </a:bodyPr>
          <a:lstStyle/>
          <a:p>
            <a:pPr>
              <a:defRPr/>
            </a:pPr>
            <a:r>
              <a:rPr lang="pt-BR" sz="2100" b="1"/>
              <a:t>Preorder : </a:t>
            </a:r>
            <a:r>
              <a:rPr lang="pt-BR" sz="2100"/>
              <a:t>G B Q A C K F P D  E R H</a:t>
            </a:r>
            <a:endParaRPr lang="en-US" sz="2100"/>
          </a:p>
        </p:txBody>
      </p:sp>
      <p:cxnSp>
        <p:nvCxnSpPr>
          <p:cNvPr id="167286636" name="Straight Connector 5"/>
          <p:cNvCxnSpPr/>
          <p:nvPr/>
        </p:nvCxnSpPr>
        <p:spPr bwMode="auto">
          <a:xfrm>
            <a:off x="1752599" y="1317813"/>
            <a:ext cx="8686800" cy="0"/>
          </a:xfrm>
          <a:prstGeom prst="line">
            <a:avLst/>
          </a:prstGeom>
        </p:spPr>
        <p:style>
          <a:lnRef idx="2">
            <a:schemeClr val="dk1"/>
          </a:lnRef>
          <a:fillRef idx="0">
            <a:schemeClr val="dk1"/>
          </a:fillRef>
          <a:effectRef idx="1">
            <a:schemeClr val="dk1"/>
          </a:effectRef>
          <a:fontRef idx="minor">
            <a:schemeClr val="tx1"/>
          </a:fontRef>
        </p:style>
      </p:cxnSp>
      <p:cxnSp>
        <p:nvCxnSpPr>
          <p:cNvPr id="1892295177" name="Straight Connector 6"/>
          <p:cNvCxnSpPr/>
          <p:nvPr/>
        </p:nvCxnSpPr>
        <p:spPr bwMode="auto">
          <a:xfrm>
            <a:off x="6019800" y="749915"/>
            <a:ext cx="0" cy="567898"/>
          </a:xfrm>
          <a:prstGeom prst="line">
            <a:avLst/>
          </a:prstGeom>
        </p:spPr>
        <p:style>
          <a:lnRef idx="2">
            <a:schemeClr val="dk1"/>
          </a:lnRef>
          <a:fillRef idx="0">
            <a:schemeClr val="dk1"/>
          </a:fillRef>
          <a:effectRef idx="1">
            <a:schemeClr val="dk1"/>
          </a:effectRef>
          <a:fontRef idx="minor">
            <a:schemeClr val="tx1"/>
          </a:fontRef>
        </p:style>
      </p:cxnSp>
      <p:sp>
        <p:nvSpPr>
          <p:cNvPr id="766887370" name="TextBox 7"/>
          <p:cNvSpPr txBox="1"/>
          <p:nvPr/>
        </p:nvSpPr>
        <p:spPr bwMode="auto">
          <a:xfrm>
            <a:off x="3058417" y="826115"/>
            <a:ext cx="341760" cy="415498"/>
          </a:xfrm>
          <a:prstGeom prst="rect">
            <a:avLst/>
          </a:prstGeom>
          <a:noFill/>
        </p:spPr>
        <p:txBody>
          <a:bodyPr wrap="none" rtlCol="0">
            <a:spAutoFit/>
          </a:bodyPr>
          <a:lstStyle/>
          <a:p>
            <a:pPr algn="ctr">
              <a:defRPr/>
            </a:pPr>
            <a:r>
              <a:rPr lang="pt-BR" sz="2100" b="1">
                <a:solidFill>
                  <a:srgbClr val="C00000"/>
                </a:solidFill>
              </a:rPr>
              <a:t>G</a:t>
            </a:r>
            <a:endParaRPr lang="en-US" sz="2100" b="1">
              <a:solidFill>
                <a:srgbClr val="C00000"/>
              </a:solidFill>
            </a:endParaRPr>
          </a:p>
        </p:txBody>
      </p:sp>
      <p:sp>
        <p:nvSpPr>
          <p:cNvPr id="1912865282" name="TextBox 8"/>
          <p:cNvSpPr txBox="1"/>
          <p:nvPr/>
        </p:nvSpPr>
        <p:spPr bwMode="auto">
          <a:xfrm>
            <a:off x="8557752" y="827872"/>
            <a:ext cx="341760" cy="415498"/>
          </a:xfrm>
          <a:prstGeom prst="rect">
            <a:avLst/>
          </a:prstGeom>
          <a:noFill/>
        </p:spPr>
        <p:txBody>
          <a:bodyPr wrap="none" rtlCol="0">
            <a:spAutoFit/>
          </a:bodyPr>
          <a:lstStyle/>
          <a:p>
            <a:pPr algn="ctr">
              <a:defRPr/>
            </a:pPr>
            <a:r>
              <a:rPr lang="pt-BR" sz="2100" b="1">
                <a:solidFill>
                  <a:srgbClr val="C00000"/>
                </a:solidFill>
              </a:rPr>
              <a:t>G</a:t>
            </a:r>
            <a:endParaRPr lang="en-US" sz="2100" b="1">
              <a:solidFill>
                <a:srgbClr val="C00000"/>
              </a:solidFill>
            </a:endParaRPr>
          </a:p>
        </p:txBody>
      </p:sp>
      <p:cxnSp>
        <p:nvCxnSpPr>
          <p:cNvPr id="1633375437" name="Straight Connector 10"/>
          <p:cNvCxnSpPr/>
          <p:nvPr/>
        </p:nvCxnSpPr>
        <p:spPr bwMode="auto">
          <a:xfrm flipH="1">
            <a:off x="7454153" y="1241613"/>
            <a:ext cx="1135154"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cxnSp>
        <p:nvCxnSpPr>
          <p:cNvPr id="1919224946" name="Straight Connector 11"/>
          <p:cNvCxnSpPr/>
          <p:nvPr/>
        </p:nvCxnSpPr>
        <p:spPr bwMode="auto">
          <a:xfrm flipH="1">
            <a:off x="8910439" y="1241613"/>
            <a:ext cx="1004526" cy="0"/>
          </a:xfrm>
          <a:prstGeom prst="line">
            <a:avLst/>
          </a:prstGeom>
          <a:ln w="28575">
            <a:solidFill>
              <a:srgbClr val="B84742"/>
            </a:solidFill>
          </a:ln>
        </p:spPr>
        <p:style>
          <a:lnRef idx="2">
            <a:schemeClr val="accent2"/>
          </a:lnRef>
          <a:fillRef idx="0">
            <a:schemeClr val="accent2"/>
          </a:fillRef>
          <a:effectRef idx="1">
            <a:schemeClr val="accent2"/>
          </a:effectRef>
          <a:fontRef idx="minor">
            <a:schemeClr val="tx1"/>
          </a:fontRef>
        </p:style>
      </p:cxnSp>
      <p:sp>
        <p:nvSpPr>
          <p:cNvPr id="43156467" name="Oval 14"/>
          <p:cNvSpPr/>
          <p:nvPr/>
        </p:nvSpPr>
        <p:spPr bwMode="auto">
          <a:xfrm>
            <a:off x="1588869" y="157330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G</a:t>
            </a:r>
            <a:endParaRPr lang="en-US" sz="2400" b="1"/>
          </a:p>
        </p:txBody>
      </p:sp>
      <p:sp>
        <p:nvSpPr>
          <p:cNvPr id="1977444390" name="Rounded Rectangle 15"/>
          <p:cNvSpPr/>
          <p:nvPr/>
        </p:nvSpPr>
        <p:spPr bwMode="auto">
          <a:xfrm>
            <a:off x="284861" y="2489633"/>
            <a:ext cx="1440000" cy="381000"/>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b="1"/>
              <a:t>Q B K C F A</a:t>
            </a:r>
            <a:endParaRPr/>
          </a:p>
        </p:txBody>
      </p:sp>
      <p:sp>
        <p:nvSpPr>
          <p:cNvPr id="2128112270" name="Rounded Rectangle 16"/>
          <p:cNvSpPr/>
          <p:nvPr/>
        </p:nvSpPr>
        <p:spPr bwMode="auto">
          <a:xfrm>
            <a:off x="1985687" y="2489633"/>
            <a:ext cx="1440000" cy="381000"/>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pt-BR" sz="2000" b="1"/>
              <a:t>P E D  H R</a:t>
            </a:r>
            <a:endParaRPr lang="en-US" sz="2000" b="1"/>
          </a:p>
        </p:txBody>
      </p:sp>
      <p:cxnSp>
        <p:nvCxnSpPr>
          <p:cNvPr id="4604451" name="Straight Arrow Connector 18"/>
          <p:cNvCxnSpPr>
            <a:stCxn id="43156467" idx="3"/>
            <a:endCxn id="1977444390" idx="0"/>
          </p:cNvCxnSpPr>
          <p:nvPr/>
        </p:nvCxnSpPr>
        <p:spPr bwMode="auto">
          <a:xfrm flipH="1">
            <a:off x="1004861" y="2052663"/>
            <a:ext cx="666252" cy="43697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39109817" name="Straight Arrow Connector 20"/>
          <p:cNvCxnSpPr>
            <a:stCxn id="43156467" idx="5"/>
            <a:endCxn id="2128112270" idx="0"/>
          </p:cNvCxnSpPr>
          <p:nvPr/>
        </p:nvCxnSpPr>
        <p:spPr bwMode="auto">
          <a:xfrm>
            <a:off x="2068225" y="2052663"/>
            <a:ext cx="637462" cy="43697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27929291" name="Oval 21"/>
          <p:cNvSpPr/>
          <p:nvPr/>
        </p:nvSpPr>
        <p:spPr bwMode="auto">
          <a:xfrm>
            <a:off x="1548480" y="357243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G</a:t>
            </a:r>
            <a:endParaRPr lang="en-US" sz="2400" b="1"/>
          </a:p>
        </p:txBody>
      </p:sp>
      <p:sp>
        <p:nvSpPr>
          <p:cNvPr id="1778355351" name="Rounded Rectangle 26"/>
          <p:cNvSpPr/>
          <p:nvPr/>
        </p:nvSpPr>
        <p:spPr bwMode="auto">
          <a:xfrm>
            <a:off x="1101718" y="5353857"/>
            <a:ext cx="1080000" cy="381000"/>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b="1"/>
              <a:t>K C F A</a:t>
            </a:r>
            <a:endParaRPr/>
          </a:p>
        </p:txBody>
      </p:sp>
      <p:sp>
        <p:nvSpPr>
          <p:cNvPr id="1190705272" name="Oval 27"/>
          <p:cNvSpPr/>
          <p:nvPr/>
        </p:nvSpPr>
        <p:spPr bwMode="auto">
          <a:xfrm>
            <a:off x="802346" y="434618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B</a:t>
            </a:r>
            <a:endParaRPr lang="en-US" sz="2400" b="1"/>
          </a:p>
        </p:txBody>
      </p:sp>
      <p:sp>
        <p:nvSpPr>
          <p:cNvPr id="553119958" name="Oval 29"/>
          <p:cNvSpPr/>
          <p:nvPr/>
        </p:nvSpPr>
        <p:spPr bwMode="auto">
          <a:xfrm>
            <a:off x="309288" y="516633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Q</a:t>
            </a:r>
            <a:endParaRPr lang="en-US" sz="2400" b="1"/>
          </a:p>
        </p:txBody>
      </p:sp>
      <p:cxnSp>
        <p:nvCxnSpPr>
          <p:cNvPr id="1046984392" name="Straight Arrow Connector 31"/>
          <p:cNvCxnSpPr>
            <a:stCxn id="1190705272" idx="3"/>
            <a:endCxn id="553119958" idx="0"/>
          </p:cNvCxnSpPr>
          <p:nvPr/>
        </p:nvCxnSpPr>
        <p:spPr bwMode="auto">
          <a:xfrm flipH="1">
            <a:off x="590088" y="4825545"/>
            <a:ext cx="294502" cy="34078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13362990" name="Straight Arrow Connector 33"/>
          <p:cNvCxnSpPr>
            <a:stCxn id="1190705272" idx="5"/>
            <a:endCxn id="1778355351" idx="0"/>
          </p:cNvCxnSpPr>
          <p:nvPr/>
        </p:nvCxnSpPr>
        <p:spPr bwMode="auto">
          <a:xfrm>
            <a:off x="1281702" y="4825545"/>
            <a:ext cx="360016" cy="52831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82181384" name="Rounded Rectangle 34"/>
          <p:cNvSpPr/>
          <p:nvPr/>
        </p:nvSpPr>
        <p:spPr bwMode="auto">
          <a:xfrm>
            <a:off x="2465298" y="5353857"/>
            <a:ext cx="1080000" cy="381000"/>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pt-BR" sz="2000" b="1"/>
              <a:t>E D  H R</a:t>
            </a:r>
            <a:endParaRPr lang="en-US" sz="2000" b="1"/>
          </a:p>
        </p:txBody>
      </p:sp>
      <p:sp>
        <p:nvSpPr>
          <p:cNvPr id="1616344569" name="Oval 35"/>
          <p:cNvSpPr/>
          <p:nvPr/>
        </p:nvSpPr>
        <p:spPr bwMode="auto">
          <a:xfrm>
            <a:off x="2281522" y="437340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P</a:t>
            </a:r>
            <a:endParaRPr lang="en-US" sz="2400" b="1"/>
          </a:p>
        </p:txBody>
      </p:sp>
      <p:cxnSp>
        <p:nvCxnSpPr>
          <p:cNvPr id="1159730408" name="Straight Arrow Connector 38"/>
          <p:cNvCxnSpPr>
            <a:stCxn id="1616344569" idx="5"/>
            <a:endCxn id="582181384" idx="0"/>
          </p:cNvCxnSpPr>
          <p:nvPr/>
        </p:nvCxnSpPr>
        <p:spPr bwMode="auto">
          <a:xfrm>
            <a:off x="2760878" y="4852759"/>
            <a:ext cx="244420" cy="50109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919882163" name="Oval 39"/>
          <p:cNvSpPr/>
          <p:nvPr/>
        </p:nvSpPr>
        <p:spPr bwMode="auto">
          <a:xfrm>
            <a:off x="5453198" y="164950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G</a:t>
            </a:r>
            <a:endParaRPr lang="en-US" sz="2400" b="1"/>
          </a:p>
        </p:txBody>
      </p:sp>
      <p:cxnSp>
        <p:nvCxnSpPr>
          <p:cNvPr id="1289296963" name="Straight Arrow Connector 40"/>
          <p:cNvCxnSpPr>
            <a:stCxn id="919882163" idx="3"/>
            <a:endCxn id="118710667" idx="0"/>
          </p:cNvCxnSpPr>
          <p:nvPr/>
        </p:nvCxnSpPr>
        <p:spPr bwMode="auto">
          <a:xfrm flipH="1">
            <a:off x="5076918" y="2128863"/>
            <a:ext cx="458524" cy="23333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03221341" name="Straight Arrow Connector 41"/>
          <p:cNvCxnSpPr>
            <a:stCxn id="919882163" idx="5"/>
            <a:endCxn id="1391611129" idx="0"/>
          </p:cNvCxnSpPr>
          <p:nvPr/>
        </p:nvCxnSpPr>
        <p:spPr bwMode="auto">
          <a:xfrm>
            <a:off x="5932554" y="2128863"/>
            <a:ext cx="426910" cy="23333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18710667" name="Oval 43"/>
          <p:cNvSpPr/>
          <p:nvPr/>
        </p:nvSpPr>
        <p:spPr bwMode="auto">
          <a:xfrm>
            <a:off x="4796118" y="236219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B</a:t>
            </a:r>
            <a:endParaRPr lang="en-US" sz="2400" b="1"/>
          </a:p>
        </p:txBody>
      </p:sp>
      <p:sp>
        <p:nvSpPr>
          <p:cNvPr id="1989819983" name="Oval 44"/>
          <p:cNvSpPr/>
          <p:nvPr/>
        </p:nvSpPr>
        <p:spPr bwMode="auto">
          <a:xfrm>
            <a:off x="4356848" y="333026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Q</a:t>
            </a:r>
            <a:endParaRPr lang="en-US" sz="2400" b="1"/>
          </a:p>
        </p:txBody>
      </p:sp>
      <p:cxnSp>
        <p:nvCxnSpPr>
          <p:cNvPr id="146028450" name="Straight Arrow Connector 45"/>
          <p:cNvCxnSpPr>
            <a:stCxn id="118710667" idx="3"/>
            <a:endCxn id="1989819983" idx="0"/>
          </p:cNvCxnSpPr>
          <p:nvPr/>
        </p:nvCxnSpPr>
        <p:spPr bwMode="auto">
          <a:xfrm flipH="1">
            <a:off x="4637648" y="2841556"/>
            <a:ext cx="240714" cy="48870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002054870" name="Straight Arrow Connector 46"/>
          <p:cNvCxnSpPr>
            <a:stCxn id="118710667" idx="5"/>
            <a:endCxn id="1770123072" idx="0"/>
          </p:cNvCxnSpPr>
          <p:nvPr/>
        </p:nvCxnSpPr>
        <p:spPr bwMode="auto">
          <a:xfrm>
            <a:off x="5275474" y="2841556"/>
            <a:ext cx="246525" cy="48870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391611129" name="Oval 48"/>
          <p:cNvSpPr/>
          <p:nvPr/>
        </p:nvSpPr>
        <p:spPr bwMode="auto">
          <a:xfrm>
            <a:off x="6078664" y="236219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P</a:t>
            </a:r>
            <a:endParaRPr lang="en-US" sz="2400" b="1"/>
          </a:p>
        </p:txBody>
      </p:sp>
      <p:cxnSp>
        <p:nvCxnSpPr>
          <p:cNvPr id="853001378" name="Straight Arrow Connector 49"/>
          <p:cNvCxnSpPr>
            <a:stCxn id="1391611129" idx="5"/>
            <a:endCxn id="1780586687" idx="0"/>
          </p:cNvCxnSpPr>
          <p:nvPr/>
        </p:nvCxnSpPr>
        <p:spPr bwMode="auto">
          <a:xfrm>
            <a:off x="6558020" y="2841556"/>
            <a:ext cx="263126" cy="39918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86893998" name="Rounded Rectangle 51"/>
          <p:cNvSpPr/>
          <p:nvPr/>
        </p:nvSpPr>
        <p:spPr bwMode="auto">
          <a:xfrm>
            <a:off x="4667278" y="4316503"/>
            <a:ext cx="801786" cy="381000"/>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b="1"/>
              <a:t>K C F</a:t>
            </a:r>
            <a:endParaRPr/>
          </a:p>
        </p:txBody>
      </p:sp>
      <p:sp>
        <p:nvSpPr>
          <p:cNvPr id="1770123072" name="Oval 52"/>
          <p:cNvSpPr/>
          <p:nvPr/>
        </p:nvSpPr>
        <p:spPr bwMode="auto">
          <a:xfrm>
            <a:off x="5241199" y="333026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A</a:t>
            </a:r>
            <a:endParaRPr lang="en-US" sz="2400" b="1"/>
          </a:p>
        </p:txBody>
      </p:sp>
      <p:sp>
        <p:nvSpPr>
          <p:cNvPr id="260774566" name="Rounded Rectangle 54"/>
          <p:cNvSpPr/>
          <p:nvPr/>
        </p:nvSpPr>
        <p:spPr bwMode="auto">
          <a:xfrm>
            <a:off x="6983505" y="4316503"/>
            <a:ext cx="679343" cy="381000"/>
          </a:xfrm>
          <a:prstGeom prst="roundRect">
            <a:avLst>
              <a:gd name="adj"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pt-BR" sz="2000" b="1"/>
              <a:t>H R</a:t>
            </a:r>
            <a:endParaRPr lang="en-US" sz="2000" b="1"/>
          </a:p>
        </p:txBody>
      </p:sp>
      <p:sp>
        <p:nvSpPr>
          <p:cNvPr id="1780586687" name="Oval 55"/>
          <p:cNvSpPr/>
          <p:nvPr/>
        </p:nvSpPr>
        <p:spPr bwMode="auto">
          <a:xfrm>
            <a:off x="6540346" y="324074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D</a:t>
            </a:r>
            <a:endParaRPr lang="en-US" sz="2400" b="1"/>
          </a:p>
        </p:txBody>
      </p:sp>
      <p:cxnSp>
        <p:nvCxnSpPr>
          <p:cNvPr id="781907528" name="Straight Arrow Connector 58"/>
          <p:cNvCxnSpPr>
            <a:stCxn id="1770123072" idx="3"/>
            <a:endCxn id="586893998" idx="0"/>
          </p:cNvCxnSpPr>
          <p:nvPr/>
        </p:nvCxnSpPr>
        <p:spPr bwMode="auto">
          <a:xfrm flipH="1">
            <a:off x="5068171" y="3809618"/>
            <a:ext cx="255272" cy="50688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39257879" name="Straight Arrow Connector 63"/>
          <p:cNvCxnSpPr>
            <a:stCxn id="1780586687" idx="5"/>
            <a:endCxn id="260774566" idx="0"/>
          </p:cNvCxnSpPr>
          <p:nvPr/>
        </p:nvCxnSpPr>
        <p:spPr bwMode="auto">
          <a:xfrm>
            <a:off x="7019702" y="3720096"/>
            <a:ext cx="303475" cy="59640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231557639" name="Oval 64"/>
          <p:cNvSpPr/>
          <p:nvPr/>
        </p:nvSpPr>
        <p:spPr bwMode="auto">
          <a:xfrm>
            <a:off x="9678132" y="152848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G</a:t>
            </a:r>
            <a:endParaRPr lang="en-US" sz="2400" b="1"/>
          </a:p>
        </p:txBody>
      </p:sp>
      <p:cxnSp>
        <p:nvCxnSpPr>
          <p:cNvPr id="1602827590" name="Straight Arrow Connector 65"/>
          <p:cNvCxnSpPr>
            <a:stCxn id="1231557639" idx="3"/>
            <a:endCxn id="1661754877" idx="7"/>
          </p:cNvCxnSpPr>
          <p:nvPr/>
        </p:nvCxnSpPr>
        <p:spPr bwMode="auto">
          <a:xfrm flipH="1">
            <a:off x="9364112" y="2007842"/>
            <a:ext cx="396264" cy="30661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8126690" name="Straight Arrow Connector 66"/>
          <p:cNvCxnSpPr>
            <a:stCxn id="1231557639" idx="5"/>
            <a:endCxn id="1400578843" idx="1"/>
          </p:cNvCxnSpPr>
          <p:nvPr/>
        </p:nvCxnSpPr>
        <p:spPr bwMode="auto">
          <a:xfrm>
            <a:off x="10157488" y="2007842"/>
            <a:ext cx="288688" cy="30661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661754877" name="Oval 67"/>
          <p:cNvSpPr/>
          <p:nvPr/>
        </p:nvSpPr>
        <p:spPr bwMode="auto">
          <a:xfrm>
            <a:off x="8884756" y="223221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B</a:t>
            </a:r>
            <a:endParaRPr lang="en-US" sz="2400" b="1"/>
          </a:p>
        </p:txBody>
      </p:sp>
      <p:sp>
        <p:nvSpPr>
          <p:cNvPr id="928345238" name="Oval 68"/>
          <p:cNvSpPr/>
          <p:nvPr/>
        </p:nvSpPr>
        <p:spPr bwMode="auto">
          <a:xfrm>
            <a:off x="8400662" y="314842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Q</a:t>
            </a:r>
            <a:endParaRPr lang="en-US" sz="2400" b="1"/>
          </a:p>
        </p:txBody>
      </p:sp>
      <p:cxnSp>
        <p:nvCxnSpPr>
          <p:cNvPr id="1800998053" name="Straight Arrow Connector 69"/>
          <p:cNvCxnSpPr>
            <a:stCxn id="1661754877" idx="3"/>
            <a:endCxn id="928345238" idx="0"/>
          </p:cNvCxnSpPr>
          <p:nvPr/>
        </p:nvCxnSpPr>
        <p:spPr bwMode="auto">
          <a:xfrm flipH="1">
            <a:off x="8681462" y="2711571"/>
            <a:ext cx="285538" cy="43685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46375374" name="Straight Arrow Connector 70"/>
          <p:cNvCxnSpPr>
            <a:stCxn id="1661754877" idx="5"/>
            <a:endCxn id="1158185097" idx="0"/>
          </p:cNvCxnSpPr>
          <p:nvPr/>
        </p:nvCxnSpPr>
        <p:spPr bwMode="auto">
          <a:xfrm>
            <a:off x="9364112" y="2711571"/>
            <a:ext cx="213820" cy="43685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400578843" name="Oval 71"/>
          <p:cNvSpPr/>
          <p:nvPr/>
        </p:nvSpPr>
        <p:spPr bwMode="auto">
          <a:xfrm>
            <a:off x="10363932" y="223221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P</a:t>
            </a:r>
            <a:endParaRPr lang="en-US" sz="2400" b="1"/>
          </a:p>
        </p:txBody>
      </p:sp>
      <p:cxnSp>
        <p:nvCxnSpPr>
          <p:cNvPr id="1682922030" name="Straight Arrow Connector 72"/>
          <p:cNvCxnSpPr>
            <a:stCxn id="1400578843" idx="5"/>
            <a:endCxn id="138460367" idx="0"/>
          </p:cNvCxnSpPr>
          <p:nvPr/>
        </p:nvCxnSpPr>
        <p:spPr bwMode="auto">
          <a:xfrm>
            <a:off x="10843288" y="2711571"/>
            <a:ext cx="191408" cy="43685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158185097" name="Oval 74"/>
          <p:cNvSpPr/>
          <p:nvPr/>
        </p:nvSpPr>
        <p:spPr bwMode="auto">
          <a:xfrm>
            <a:off x="9297132" y="314842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A</a:t>
            </a:r>
            <a:endParaRPr lang="en-US" sz="2400" b="1"/>
          </a:p>
        </p:txBody>
      </p:sp>
      <p:sp>
        <p:nvSpPr>
          <p:cNvPr id="138460367" name="Oval 76"/>
          <p:cNvSpPr/>
          <p:nvPr/>
        </p:nvSpPr>
        <p:spPr bwMode="auto">
          <a:xfrm>
            <a:off x="10753896" y="314842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D</a:t>
            </a:r>
            <a:endParaRPr lang="en-US" sz="2400" b="1"/>
          </a:p>
        </p:txBody>
      </p:sp>
      <p:cxnSp>
        <p:nvCxnSpPr>
          <p:cNvPr id="1216779538" name="Straight Arrow Connector 77"/>
          <p:cNvCxnSpPr>
            <a:stCxn id="1158185097" idx="3"/>
            <a:endCxn id="1407198802" idx="0"/>
          </p:cNvCxnSpPr>
          <p:nvPr/>
        </p:nvCxnSpPr>
        <p:spPr bwMode="auto">
          <a:xfrm flipH="1">
            <a:off x="8990744" y="3627781"/>
            <a:ext cx="388632" cy="39077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6403798" name="Straight Arrow Connector 78"/>
          <p:cNvCxnSpPr>
            <a:stCxn id="138460367" idx="5"/>
            <a:endCxn id="195777084" idx="0"/>
          </p:cNvCxnSpPr>
          <p:nvPr/>
        </p:nvCxnSpPr>
        <p:spPr bwMode="auto">
          <a:xfrm>
            <a:off x="11233252" y="3627781"/>
            <a:ext cx="460349" cy="39077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57752892" name="Straight Arrow Connector 85"/>
          <p:cNvCxnSpPr>
            <a:stCxn id="327929291" idx="3"/>
            <a:endCxn id="1190705272" idx="7"/>
          </p:cNvCxnSpPr>
          <p:nvPr/>
        </p:nvCxnSpPr>
        <p:spPr bwMode="auto">
          <a:xfrm flipH="1">
            <a:off x="1281702" y="4051794"/>
            <a:ext cx="349022" cy="37663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0738516" name="Straight Arrow Connector 87"/>
          <p:cNvCxnSpPr>
            <a:stCxn id="327929291" idx="5"/>
            <a:endCxn id="1616344569" idx="1"/>
          </p:cNvCxnSpPr>
          <p:nvPr/>
        </p:nvCxnSpPr>
        <p:spPr bwMode="auto">
          <a:xfrm>
            <a:off x="2027836" y="4051794"/>
            <a:ext cx="335930" cy="40385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407198802" name="Oval 88"/>
          <p:cNvSpPr/>
          <p:nvPr/>
        </p:nvSpPr>
        <p:spPr bwMode="auto">
          <a:xfrm>
            <a:off x="8709944" y="40185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C</a:t>
            </a:r>
            <a:endParaRPr lang="en-US" sz="2400" b="1"/>
          </a:p>
        </p:txBody>
      </p:sp>
      <p:sp>
        <p:nvSpPr>
          <p:cNvPr id="666105022" name="Oval 90"/>
          <p:cNvSpPr/>
          <p:nvPr/>
        </p:nvSpPr>
        <p:spPr bwMode="auto">
          <a:xfrm>
            <a:off x="8176544" y="49761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K</a:t>
            </a:r>
            <a:endParaRPr lang="en-US" sz="2400" b="1"/>
          </a:p>
        </p:txBody>
      </p:sp>
      <p:sp>
        <p:nvSpPr>
          <p:cNvPr id="1754275077" name="Oval 91"/>
          <p:cNvSpPr/>
          <p:nvPr/>
        </p:nvSpPr>
        <p:spPr bwMode="auto">
          <a:xfrm>
            <a:off x="9243344" y="49761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F</a:t>
            </a:r>
            <a:endParaRPr lang="en-US" sz="2400" b="1"/>
          </a:p>
        </p:txBody>
      </p:sp>
      <p:cxnSp>
        <p:nvCxnSpPr>
          <p:cNvPr id="1050311853" name="Straight Arrow Connector 93"/>
          <p:cNvCxnSpPr>
            <a:stCxn id="1407198802" idx="3"/>
            <a:endCxn id="666105022" idx="0"/>
          </p:cNvCxnSpPr>
          <p:nvPr/>
        </p:nvCxnSpPr>
        <p:spPr bwMode="auto">
          <a:xfrm flipH="1">
            <a:off x="8457344" y="4497911"/>
            <a:ext cx="334844" cy="4782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27413283" name="Straight Arrow Connector 95"/>
          <p:cNvCxnSpPr>
            <a:stCxn id="1407198802" idx="5"/>
            <a:endCxn id="1754275077" idx="0"/>
          </p:cNvCxnSpPr>
          <p:nvPr/>
        </p:nvCxnSpPr>
        <p:spPr bwMode="auto">
          <a:xfrm>
            <a:off x="9189300" y="4497911"/>
            <a:ext cx="334844" cy="4782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693651429" name="Oval 97"/>
          <p:cNvSpPr/>
          <p:nvPr/>
        </p:nvSpPr>
        <p:spPr bwMode="auto">
          <a:xfrm>
            <a:off x="5939118" y="4218122"/>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E</a:t>
            </a:r>
            <a:endParaRPr lang="en-US" sz="2400" b="1"/>
          </a:p>
        </p:txBody>
      </p:sp>
      <p:cxnSp>
        <p:nvCxnSpPr>
          <p:cNvPr id="1518658669" name="Straight Arrow Connector 99"/>
          <p:cNvCxnSpPr>
            <a:stCxn id="1780586687" idx="3"/>
            <a:endCxn id="1693651429" idx="0"/>
          </p:cNvCxnSpPr>
          <p:nvPr/>
        </p:nvCxnSpPr>
        <p:spPr bwMode="auto">
          <a:xfrm flipH="1">
            <a:off x="6219918" y="3720096"/>
            <a:ext cx="402671" cy="49802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962010949" name="Oval 100"/>
          <p:cNvSpPr/>
          <p:nvPr/>
        </p:nvSpPr>
        <p:spPr bwMode="auto">
          <a:xfrm>
            <a:off x="10115291" y="40185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E</a:t>
            </a:r>
            <a:endParaRPr lang="en-US" sz="2400" b="1"/>
          </a:p>
        </p:txBody>
      </p:sp>
      <p:cxnSp>
        <p:nvCxnSpPr>
          <p:cNvPr id="2004885391" name="Straight Arrow Connector 102"/>
          <p:cNvCxnSpPr>
            <a:stCxn id="138460367" idx="3"/>
            <a:endCxn id="1962010949" idx="0"/>
          </p:cNvCxnSpPr>
          <p:nvPr/>
        </p:nvCxnSpPr>
        <p:spPr bwMode="auto">
          <a:xfrm flipH="1">
            <a:off x="10396092" y="3627781"/>
            <a:ext cx="440048" cy="39077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95777084" name="Oval 103"/>
          <p:cNvSpPr/>
          <p:nvPr/>
        </p:nvSpPr>
        <p:spPr bwMode="auto">
          <a:xfrm>
            <a:off x="11412801" y="40185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R</a:t>
            </a:r>
            <a:endParaRPr lang="en-US" sz="2400" b="1"/>
          </a:p>
        </p:txBody>
      </p:sp>
      <p:sp>
        <p:nvSpPr>
          <p:cNvPr id="595457494" name="Oval 105"/>
          <p:cNvSpPr/>
          <p:nvPr/>
        </p:nvSpPr>
        <p:spPr bwMode="auto">
          <a:xfrm>
            <a:off x="10887631" y="497614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H</a:t>
            </a:r>
            <a:endParaRPr lang="en-US" sz="2400" b="1"/>
          </a:p>
        </p:txBody>
      </p:sp>
      <p:cxnSp>
        <p:nvCxnSpPr>
          <p:cNvPr id="1109651087" name="Straight Arrow Connector 107"/>
          <p:cNvCxnSpPr>
            <a:stCxn id="195777084" idx="3"/>
            <a:endCxn id="595457494" idx="0"/>
          </p:cNvCxnSpPr>
          <p:nvPr/>
        </p:nvCxnSpPr>
        <p:spPr bwMode="auto">
          <a:xfrm flipH="1">
            <a:off x="11168431" y="4497911"/>
            <a:ext cx="326614" cy="4782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72006542" name="Straight Connector 109"/>
          <p:cNvCxnSpPr/>
          <p:nvPr/>
        </p:nvCxnSpPr>
        <p:spPr bwMode="auto">
          <a:xfrm>
            <a:off x="174812" y="3160061"/>
            <a:ext cx="3845861" cy="0"/>
          </a:xfrm>
          <a:prstGeom prst="line">
            <a:avLst/>
          </a:prstGeom>
        </p:spPr>
        <p:style>
          <a:lnRef idx="2">
            <a:schemeClr val="dk1"/>
          </a:lnRef>
          <a:fillRef idx="0">
            <a:schemeClr val="dk1"/>
          </a:fillRef>
          <a:effectRef idx="1">
            <a:schemeClr val="dk1"/>
          </a:effectRef>
          <a:fontRef idx="minor">
            <a:schemeClr val="tx1"/>
          </a:fontRef>
        </p:style>
      </p:cxnSp>
      <p:cxnSp>
        <p:nvCxnSpPr>
          <p:cNvPr id="901239725" name="Straight Connector 111"/>
          <p:cNvCxnSpPr/>
          <p:nvPr/>
        </p:nvCxnSpPr>
        <p:spPr bwMode="auto">
          <a:xfrm>
            <a:off x="4020672" y="1519518"/>
            <a:ext cx="0" cy="4680000"/>
          </a:xfrm>
          <a:prstGeom prst="line">
            <a:avLst/>
          </a:prstGeom>
        </p:spPr>
        <p:style>
          <a:lnRef idx="2">
            <a:schemeClr val="dk1"/>
          </a:lnRef>
          <a:fillRef idx="0">
            <a:schemeClr val="dk1"/>
          </a:fillRef>
          <a:effectRef idx="1">
            <a:schemeClr val="dk1"/>
          </a:effectRef>
          <a:fontRef idx="minor">
            <a:schemeClr val="tx1"/>
          </a:fontRef>
        </p:style>
      </p:cxnSp>
      <p:cxnSp>
        <p:nvCxnSpPr>
          <p:cNvPr id="338094470" name="Straight Connector 123"/>
          <p:cNvCxnSpPr/>
          <p:nvPr/>
        </p:nvCxnSpPr>
        <p:spPr bwMode="auto">
          <a:xfrm flipV="1">
            <a:off x="7808804" y="1519518"/>
            <a:ext cx="0" cy="468000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984218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811689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9229517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72866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76688737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91286528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22" presetClass="entr" presetSubtype="2" fill="hold" nodeType="clickEffect">
                                  <p:stCondLst>
                                    <p:cond delay="0"/>
                                  </p:stCondLst>
                                  <p:childTnLst>
                                    <p:set>
                                      <p:cBhvr>
                                        <p:cTn id="28" dur="1" fill="hold">
                                          <p:stCondLst>
                                            <p:cond delay="0"/>
                                          </p:stCondLst>
                                        </p:cTn>
                                        <p:tgtEl>
                                          <p:spTgt spid="1633375437"/>
                                        </p:tgtEl>
                                        <p:attrNameLst>
                                          <p:attrName>style.visibility</p:attrName>
                                        </p:attrNameLst>
                                      </p:cBhvr>
                                      <p:to>
                                        <p:strVal val="visible"/>
                                      </p:to>
                                    </p:set>
                                    <p:animEffect transition="in" filter="wipe(right)">
                                      <p:cBhvr>
                                        <p:cTn id="29" dur="500"/>
                                        <p:tgtEl>
                                          <p:spTgt spid="1633375437"/>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1919224946"/>
                                        </p:tgtEl>
                                        <p:attrNameLst>
                                          <p:attrName>style.visibility</p:attrName>
                                        </p:attrNameLst>
                                      </p:cBhvr>
                                      <p:to>
                                        <p:strVal val="visible"/>
                                      </p:to>
                                    </p:set>
                                    <p:animEffect transition="in" filter="wipe(left)">
                                      <p:cBhvr>
                                        <p:cTn id="34" dur="500"/>
                                        <p:tgtEl>
                                          <p:spTgt spid="1919224946"/>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31564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22" presetClass="entr" presetSubtype="2" fill="hold" nodeType="clickEffect">
                                  <p:stCondLst>
                                    <p:cond delay="0"/>
                                  </p:stCondLst>
                                  <p:childTnLst>
                                    <p:set>
                                      <p:cBhvr>
                                        <p:cTn id="42" dur="1" fill="hold">
                                          <p:stCondLst>
                                            <p:cond delay="0"/>
                                          </p:stCondLst>
                                        </p:cTn>
                                        <p:tgtEl>
                                          <p:spTgt spid="4604451"/>
                                        </p:tgtEl>
                                        <p:attrNameLst>
                                          <p:attrName>style.visibility</p:attrName>
                                        </p:attrNameLst>
                                      </p:cBhvr>
                                      <p:to>
                                        <p:strVal val="visible"/>
                                      </p:to>
                                    </p:set>
                                    <p:animEffect transition="in" filter="wipe(right)">
                                      <p:cBhvr>
                                        <p:cTn id="43" dur="500"/>
                                        <p:tgtEl>
                                          <p:spTgt spid="4604451"/>
                                        </p:tgtEl>
                                      </p:cBhvr>
                                    </p:animEffec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1977444390"/>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239109817"/>
                                        </p:tgtEl>
                                        <p:attrNameLst>
                                          <p:attrName>style.visibility</p:attrName>
                                        </p:attrNameLst>
                                      </p:cBhvr>
                                      <p:to>
                                        <p:strVal val="visible"/>
                                      </p:to>
                                    </p:set>
                                    <p:animEffect transition="in" filter="wipe(left)">
                                      <p:cBhvr>
                                        <p:cTn id="52" dur="500"/>
                                        <p:tgtEl>
                                          <p:spTgt spid="239109817"/>
                                        </p:tgtEl>
                                      </p:cBhvr>
                                    </p:animEffec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28112270"/>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nodeType="clickEffect">
                                  <p:stCondLst>
                                    <p:cond delay="0"/>
                                  </p:stCondLst>
                                  <p:childTnLst>
                                    <p:set>
                                      <p:cBhvr>
                                        <p:cTn id="60" dur="1" fill="hold">
                                          <p:stCondLst>
                                            <p:cond delay="0"/>
                                          </p:stCondLst>
                                        </p:cTn>
                                        <p:tgtEl>
                                          <p:spTgt spid="972006542"/>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327929291"/>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45775289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073851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1190705272"/>
                                        </p:tgtEl>
                                        <p:attrNameLst>
                                          <p:attrName>style.visibility</p:attrName>
                                        </p:attrNameLst>
                                      </p:cBhvr>
                                      <p:to>
                                        <p:strVal val="visible"/>
                                      </p:to>
                                    </p:set>
                                  </p:childTnLst>
                                </p:cTn>
                              </p:par>
                            </p:childTnLst>
                          </p:cTn>
                        </p:par>
                      </p:childTnLst>
                    </p:cTn>
                  </p:par>
                  <p:par>
                    <p:cTn id="73" fill="hold">
                      <p:stCondLst>
                        <p:cond delay="indefinite"/>
                      </p:stCondLst>
                      <p:childTnLst>
                        <p:par>
                          <p:cTn id="74" fill="hold">
                            <p:stCondLst>
                              <p:cond delay="0"/>
                            </p:stCondLst>
                            <p:childTnLst>
                              <p:par>
                                <p:cTn id="75" presetID="22" presetClass="entr" presetSubtype="2" fill="hold" nodeType="clickEffect">
                                  <p:stCondLst>
                                    <p:cond delay="0"/>
                                  </p:stCondLst>
                                  <p:childTnLst>
                                    <p:set>
                                      <p:cBhvr>
                                        <p:cTn id="76" dur="1" fill="hold">
                                          <p:stCondLst>
                                            <p:cond delay="0"/>
                                          </p:stCondLst>
                                        </p:cTn>
                                        <p:tgtEl>
                                          <p:spTgt spid="1046984392"/>
                                        </p:tgtEl>
                                        <p:attrNameLst>
                                          <p:attrName>style.visibility</p:attrName>
                                        </p:attrNameLst>
                                      </p:cBhvr>
                                      <p:to>
                                        <p:strVal val="visible"/>
                                      </p:to>
                                    </p:set>
                                    <p:animEffect transition="in" filter="wipe(right)">
                                      <p:cBhvr>
                                        <p:cTn id="77" dur="500"/>
                                        <p:tgtEl>
                                          <p:spTgt spid="1046984392"/>
                                        </p:tgtEl>
                                      </p:cBhvr>
                                    </p:animEffec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grpId="0" nodeType="clickEffect">
                                  <p:stCondLst>
                                    <p:cond delay="0"/>
                                  </p:stCondLst>
                                  <p:childTnLst>
                                    <p:set>
                                      <p:cBhvr>
                                        <p:cTn id="81" dur="1" fill="hold">
                                          <p:stCondLst>
                                            <p:cond delay="0"/>
                                          </p:stCondLst>
                                        </p:cTn>
                                        <p:tgtEl>
                                          <p:spTgt spid="553119958"/>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nodeType="clickEffect">
                                  <p:stCondLst>
                                    <p:cond delay="0"/>
                                  </p:stCondLst>
                                  <p:childTnLst>
                                    <p:set>
                                      <p:cBhvr>
                                        <p:cTn id="85" dur="1" fill="hold">
                                          <p:stCondLst>
                                            <p:cond delay="0"/>
                                          </p:stCondLst>
                                        </p:cTn>
                                        <p:tgtEl>
                                          <p:spTgt spid="1913362990"/>
                                        </p:tgtEl>
                                        <p:attrNameLst>
                                          <p:attrName>style.visibility</p:attrName>
                                        </p:attrNameLst>
                                      </p:cBhvr>
                                      <p:to>
                                        <p:strVal val="visible"/>
                                      </p:to>
                                    </p:set>
                                    <p:animEffect transition="in" filter="wipe(left)">
                                      <p:cBhvr>
                                        <p:cTn id="86" dur="500"/>
                                        <p:tgtEl>
                                          <p:spTgt spid="1913362990"/>
                                        </p:tgtEl>
                                      </p:cBhvr>
                                    </p:animEffec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grpId="0" nodeType="clickEffect">
                                  <p:stCondLst>
                                    <p:cond delay="0"/>
                                  </p:stCondLst>
                                  <p:childTnLst>
                                    <p:set>
                                      <p:cBhvr>
                                        <p:cTn id="90" dur="1" fill="hold">
                                          <p:stCondLst>
                                            <p:cond delay="0"/>
                                          </p:stCondLst>
                                        </p:cTn>
                                        <p:tgtEl>
                                          <p:spTgt spid="1778355351"/>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grpId="0" nodeType="clickEffect">
                                  <p:stCondLst>
                                    <p:cond delay="0"/>
                                  </p:stCondLst>
                                  <p:childTnLst>
                                    <p:set>
                                      <p:cBhvr>
                                        <p:cTn id="94" dur="1" fill="hold">
                                          <p:stCondLst>
                                            <p:cond delay="0"/>
                                          </p:stCondLst>
                                        </p:cTn>
                                        <p:tgtEl>
                                          <p:spTgt spid="161634456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nodeType="clickEffect">
                                  <p:stCondLst>
                                    <p:cond delay="0"/>
                                  </p:stCondLst>
                                  <p:childTnLst>
                                    <p:set>
                                      <p:cBhvr>
                                        <p:cTn id="98" dur="1" fill="hold">
                                          <p:stCondLst>
                                            <p:cond delay="0"/>
                                          </p:stCondLst>
                                        </p:cTn>
                                        <p:tgtEl>
                                          <p:spTgt spid="1159730408"/>
                                        </p:tgtEl>
                                        <p:attrNameLst>
                                          <p:attrName>style.visibility</p:attrName>
                                        </p:attrNameLst>
                                      </p:cBhvr>
                                      <p:to>
                                        <p:strVal val="visible"/>
                                      </p:to>
                                    </p:set>
                                    <p:animEffect transition="in" filter="wipe(left)">
                                      <p:cBhvr>
                                        <p:cTn id="99" dur="500"/>
                                        <p:tgtEl>
                                          <p:spTgt spid="1159730408"/>
                                        </p:tgtEl>
                                      </p:cBhvr>
                                    </p:animEffect>
                                  </p:childTnLst>
                                </p:cTn>
                              </p:par>
                            </p:childTnLst>
                          </p:cTn>
                        </p:par>
                      </p:childTnLst>
                    </p:cTn>
                  </p:par>
                  <p:par>
                    <p:cTn id="100" fill="hold">
                      <p:stCondLst>
                        <p:cond delay="indefinite"/>
                      </p:stCondLst>
                      <p:childTnLst>
                        <p:par>
                          <p:cTn id="101" fill="hold">
                            <p:stCondLst>
                              <p:cond delay="0"/>
                            </p:stCondLst>
                            <p:childTnLst>
                              <p:par>
                                <p:cTn id="102" presetID="1" presetClass="entr" presetSubtype="0" fill="hold" grpId="0" nodeType="clickEffect">
                                  <p:stCondLst>
                                    <p:cond delay="0"/>
                                  </p:stCondLst>
                                  <p:childTnLst>
                                    <p:set>
                                      <p:cBhvr>
                                        <p:cTn id="103" dur="1" fill="hold">
                                          <p:stCondLst>
                                            <p:cond delay="0"/>
                                          </p:stCondLst>
                                        </p:cTn>
                                        <p:tgtEl>
                                          <p:spTgt spid="582181384"/>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fill="hold" nodeType="clickEffect">
                                  <p:stCondLst>
                                    <p:cond delay="0"/>
                                  </p:stCondLst>
                                  <p:childTnLst>
                                    <p:set>
                                      <p:cBhvr>
                                        <p:cTn id="107" dur="1" fill="hold">
                                          <p:stCondLst>
                                            <p:cond delay="0"/>
                                          </p:stCondLst>
                                        </p:cTn>
                                        <p:tgtEl>
                                          <p:spTgt spid="901239725"/>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919882163"/>
                                        </p:tgtEl>
                                        <p:attrNameLst>
                                          <p:attrName>style.visibility</p:attrName>
                                        </p:attrNameLst>
                                      </p:cBhvr>
                                      <p:to>
                                        <p:strVal val="visible"/>
                                      </p:to>
                                    </p:set>
                                  </p:childTnLst>
                                </p:cTn>
                              </p:par>
                              <p:par>
                                <p:cTn id="112" presetID="1" presetClass="entr" presetSubtype="0" fill="hold" nodeType="withEffect">
                                  <p:stCondLst>
                                    <p:cond delay="0"/>
                                  </p:stCondLst>
                                  <p:childTnLst>
                                    <p:set>
                                      <p:cBhvr>
                                        <p:cTn id="113" dur="1" fill="hold">
                                          <p:stCondLst>
                                            <p:cond delay="0"/>
                                          </p:stCondLst>
                                        </p:cTn>
                                        <p:tgtEl>
                                          <p:spTgt spid="1289296963"/>
                                        </p:tgtEl>
                                        <p:attrNameLst>
                                          <p:attrName>style.visibility</p:attrName>
                                        </p:attrNameLst>
                                      </p:cBhvr>
                                      <p:to>
                                        <p:strVal val="visible"/>
                                      </p:to>
                                    </p:set>
                                  </p:childTnLst>
                                </p:cTn>
                              </p:par>
                              <p:par>
                                <p:cTn id="114" presetID="1" presetClass="entr" presetSubtype="0" fill="hold" nodeType="withEffect">
                                  <p:stCondLst>
                                    <p:cond delay="0"/>
                                  </p:stCondLst>
                                  <p:childTnLst>
                                    <p:set>
                                      <p:cBhvr>
                                        <p:cTn id="115" dur="1" fill="hold">
                                          <p:stCondLst>
                                            <p:cond delay="0"/>
                                          </p:stCondLst>
                                        </p:cTn>
                                        <p:tgtEl>
                                          <p:spTgt spid="803221341"/>
                                        </p:tgtEl>
                                        <p:attrNameLst>
                                          <p:attrName>style.visibility</p:attrName>
                                        </p:attrNameLst>
                                      </p:cBhvr>
                                      <p:to>
                                        <p:strVal val="visible"/>
                                      </p:to>
                                    </p:set>
                                  </p:childTnLst>
                                </p:cTn>
                              </p:par>
                              <p:par>
                                <p:cTn id="116" presetID="1" presetClass="entr" presetSubtype="0" fill="hold" grpId="0" nodeType="withEffect">
                                  <p:stCondLst>
                                    <p:cond delay="0"/>
                                  </p:stCondLst>
                                  <p:childTnLst>
                                    <p:set>
                                      <p:cBhvr>
                                        <p:cTn id="117" dur="1" fill="hold">
                                          <p:stCondLst>
                                            <p:cond delay="0"/>
                                          </p:stCondLst>
                                        </p:cTn>
                                        <p:tgtEl>
                                          <p:spTgt spid="118710667"/>
                                        </p:tgtEl>
                                        <p:attrNameLst>
                                          <p:attrName>style.visibility</p:attrName>
                                        </p:attrNameLst>
                                      </p:cBhvr>
                                      <p:to>
                                        <p:strVal val="visible"/>
                                      </p:to>
                                    </p:set>
                                  </p:childTnLst>
                                </p:cTn>
                              </p:par>
                              <p:par>
                                <p:cTn id="118" presetID="1" presetClass="entr" presetSubtype="0" fill="hold" grpId="0" nodeType="withEffect">
                                  <p:stCondLst>
                                    <p:cond delay="0"/>
                                  </p:stCondLst>
                                  <p:childTnLst>
                                    <p:set>
                                      <p:cBhvr>
                                        <p:cTn id="119" dur="1" fill="hold">
                                          <p:stCondLst>
                                            <p:cond delay="0"/>
                                          </p:stCondLst>
                                        </p:cTn>
                                        <p:tgtEl>
                                          <p:spTgt spid="1391611129"/>
                                        </p:tgtEl>
                                        <p:attrNameLst>
                                          <p:attrName>style.visibility</p:attrName>
                                        </p:attrNameLst>
                                      </p:cBhvr>
                                      <p:to>
                                        <p:strVal val="visible"/>
                                      </p:to>
                                    </p:set>
                                  </p:childTnLst>
                                </p:cTn>
                              </p:par>
                              <p:par>
                                <p:cTn id="120" presetID="1" presetClass="entr" presetSubtype="0" fill="hold" nodeType="withEffect">
                                  <p:stCondLst>
                                    <p:cond delay="0"/>
                                  </p:stCondLst>
                                  <p:childTnLst>
                                    <p:set>
                                      <p:cBhvr>
                                        <p:cTn id="121" dur="1" fill="hold">
                                          <p:stCondLst>
                                            <p:cond delay="0"/>
                                          </p:stCondLst>
                                        </p:cTn>
                                        <p:tgtEl>
                                          <p:spTgt spid="146028450"/>
                                        </p:tgtEl>
                                        <p:attrNameLst>
                                          <p:attrName>style.visibility</p:attrName>
                                        </p:attrNameLst>
                                      </p:cBhvr>
                                      <p:to>
                                        <p:strVal val="visible"/>
                                      </p:to>
                                    </p:set>
                                  </p:childTnLst>
                                </p:cTn>
                              </p:par>
                              <p:par>
                                <p:cTn id="122" presetID="1" presetClass="entr" presetSubtype="0" fill="hold" grpId="0" nodeType="withEffect">
                                  <p:stCondLst>
                                    <p:cond delay="0"/>
                                  </p:stCondLst>
                                  <p:childTnLst>
                                    <p:set>
                                      <p:cBhvr>
                                        <p:cTn id="123" dur="1" fill="hold">
                                          <p:stCondLst>
                                            <p:cond delay="0"/>
                                          </p:stCondLst>
                                        </p:cTn>
                                        <p:tgtEl>
                                          <p:spTgt spid="1989819983"/>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22" presetClass="entr" presetSubtype="8" fill="hold" nodeType="clickEffect">
                                  <p:stCondLst>
                                    <p:cond delay="0"/>
                                  </p:stCondLst>
                                  <p:childTnLst>
                                    <p:set>
                                      <p:cBhvr>
                                        <p:cTn id="127" dur="1" fill="hold">
                                          <p:stCondLst>
                                            <p:cond delay="0"/>
                                          </p:stCondLst>
                                        </p:cTn>
                                        <p:tgtEl>
                                          <p:spTgt spid="1002054870"/>
                                        </p:tgtEl>
                                        <p:attrNameLst>
                                          <p:attrName>style.visibility</p:attrName>
                                        </p:attrNameLst>
                                      </p:cBhvr>
                                      <p:to>
                                        <p:strVal val="visible"/>
                                      </p:to>
                                    </p:set>
                                    <p:animEffect transition="in" filter="wipe(left)">
                                      <p:cBhvr>
                                        <p:cTn id="128" dur="500"/>
                                        <p:tgtEl>
                                          <p:spTgt spid="1002054870"/>
                                        </p:tgtEl>
                                      </p:cBhvr>
                                    </p:animEffect>
                                  </p:childTnLst>
                                </p:cTn>
                              </p:par>
                            </p:childTnLst>
                          </p:cTn>
                        </p:par>
                      </p:childTnLst>
                    </p:cTn>
                  </p:par>
                  <p:par>
                    <p:cTn id="129" fill="hold">
                      <p:stCondLst>
                        <p:cond delay="indefinite"/>
                      </p:stCondLst>
                      <p:childTnLst>
                        <p:par>
                          <p:cTn id="130" fill="hold">
                            <p:stCondLst>
                              <p:cond delay="0"/>
                            </p:stCondLst>
                            <p:childTnLst>
                              <p:par>
                                <p:cTn id="131" presetID="1" presetClass="entr" presetSubtype="0" fill="hold" grpId="0" nodeType="clickEffect">
                                  <p:stCondLst>
                                    <p:cond delay="0"/>
                                  </p:stCondLst>
                                  <p:childTnLst>
                                    <p:set>
                                      <p:cBhvr>
                                        <p:cTn id="132" dur="1" fill="hold">
                                          <p:stCondLst>
                                            <p:cond delay="0"/>
                                          </p:stCondLst>
                                        </p:cTn>
                                        <p:tgtEl>
                                          <p:spTgt spid="1770123072"/>
                                        </p:tgtEl>
                                        <p:attrNameLst>
                                          <p:attrName>style.visibility</p:attrName>
                                        </p:attrNameLst>
                                      </p:cBhvr>
                                      <p:to>
                                        <p:strVal val="visible"/>
                                      </p:to>
                                    </p:set>
                                  </p:childTnLst>
                                </p:cTn>
                              </p:par>
                            </p:childTnLst>
                          </p:cTn>
                        </p:par>
                      </p:childTnLst>
                    </p:cTn>
                  </p:par>
                  <p:par>
                    <p:cTn id="133" fill="hold">
                      <p:stCondLst>
                        <p:cond delay="indefinite"/>
                      </p:stCondLst>
                      <p:childTnLst>
                        <p:par>
                          <p:cTn id="134" fill="hold">
                            <p:stCondLst>
                              <p:cond delay="0"/>
                            </p:stCondLst>
                            <p:childTnLst>
                              <p:par>
                                <p:cTn id="135" presetID="22" presetClass="entr" presetSubtype="2" fill="hold" nodeType="clickEffect">
                                  <p:stCondLst>
                                    <p:cond delay="0"/>
                                  </p:stCondLst>
                                  <p:childTnLst>
                                    <p:set>
                                      <p:cBhvr>
                                        <p:cTn id="136" dur="1" fill="hold">
                                          <p:stCondLst>
                                            <p:cond delay="0"/>
                                          </p:stCondLst>
                                        </p:cTn>
                                        <p:tgtEl>
                                          <p:spTgt spid="781907528"/>
                                        </p:tgtEl>
                                        <p:attrNameLst>
                                          <p:attrName>style.visibility</p:attrName>
                                        </p:attrNameLst>
                                      </p:cBhvr>
                                      <p:to>
                                        <p:strVal val="visible"/>
                                      </p:to>
                                    </p:set>
                                    <p:animEffect transition="in" filter="wipe(right)">
                                      <p:cBhvr>
                                        <p:cTn id="137" dur="500"/>
                                        <p:tgtEl>
                                          <p:spTgt spid="781907528"/>
                                        </p:tgtEl>
                                      </p:cBhvr>
                                    </p:animEffect>
                                  </p:childTnLst>
                                </p:cTn>
                              </p:par>
                            </p:childTnLst>
                          </p:cTn>
                        </p:par>
                      </p:childTnLst>
                    </p:cTn>
                  </p:par>
                  <p:par>
                    <p:cTn id="138" fill="hold">
                      <p:stCondLst>
                        <p:cond delay="indefinite"/>
                      </p:stCondLst>
                      <p:childTnLst>
                        <p:par>
                          <p:cTn id="139" fill="hold">
                            <p:stCondLst>
                              <p:cond delay="0"/>
                            </p:stCondLst>
                            <p:childTnLst>
                              <p:par>
                                <p:cTn id="140" presetID="1" presetClass="entr" presetSubtype="0" fill="hold" grpId="0" nodeType="clickEffect">
                                  <p:stCondLst>
                                    <p:cond delay="0"/>
                                  </p:stCondLst>
                                  <p:childTnLst>
                                    <p:set>
                                      <p:cBhvr>
                                        <p:cTn id="141" dur="1" fill="hold">
                                          <p:stCondLst>
                                            <p:cond delay="0"/>
                                          </p:stCondLst>
                                        </p:cTn>
                                        <p:tgtEl>
                                          <p:spTgt spid="586893998"/>
                                        </p:tgtEl>
                                        <p:attrNameLst>
                                          <p:attrName>style.visibility</p:attrName>
                                        </p:attrNameLst>
                                      </p:cBhvr>
                                      <p:to>
                                        <p:strVal val="visible"/>
                                      </p:to>
                                    </p:set>
                                  </p:childTnLst>
                                </p:cTn>
                              </p:par>
                            </p:childTnLst>
                          </p:cTn>
                        </p:par>
                      </p:childTnLst>
                    </p:cTn>
                  </p:par>
                  <p:par>
                    <p:cTn id="142" fill="hold">
                      <p:stCondLst>
                        <p:cond delay="indefinite"/>
                      </p:stCondLst>
                      <p:childTnLst>
                        <p:par>
                          <p:cTn id="143" fill="hold">
                            <p:stCondLst>
                              <p:cond delay="0"/>
                            </p:stCondLst>
                            <p:childTnLst>
                              <p:par>
                                <p:cTn id="144" presetID="22" presetClass="entr" presetSubtype="8" fill="hold" nodeType="clickEffect">
                                  <p:stCondLst>
                                    <p:cond delay="0"/>
                                  </p:stCondLst>
                                  <p:childTnLst>
                                    <p:set>
                                      <p:cBhvr>
                                        <p:cTn id="145" dur="1" fill="hold">
                                          <p:stCondLst>
                                            <p:cond delay="0"/>
                                          </p:stCondLst>
                                        </p:cTn>
                                        <p:tgtEl>
                                          <p:spTgt spid="853001378"/>
                                        </p:tgtEl>
                                        <p:attrNameLst>
                                          <p:attrName>style.visibility</p:attrName>
                                        </p:attrNameLst>
                                      </p:cBhvr>
                                      <p:to>
                                        <p:strVal val="visible"/>
                                      </p:to>
                                    </p:set>
                                    <p:animEffect transition="in" filter="wipe(left)">
                                      <p:cBhvr>
                                        <p:cTn id="146" dur="500"/>
                                        <p:tgtEl>
                                          <p:spTgt spid="853001378"/>
                                        </p:tgtEl>
                                      </p:cBhvr>
                                    </p:animEffect>
                                  </p:childTnLst>
                                </p:cTn>
                              </p:par>
                            </p:childTnLst>
                          </p:cTn>
                        </p:par>
                      </p:childTnLst>
                    </p:cTn>
                  </p:par>
                  <p:par>
                    <p:cTn id="147" fill="hold">
                      <p:stCondLst>
                        <p:cond delay="indefinite"/>
                      </p:stCondLst>
                      <p:childTnLst>
                        <p:par>
                          <p:cTn id="148" fill="hold">
                            <p:stCondLst>
                              <p:cond delay="0"/>
                            </p:stCondLst>
                            <p:childTnLst>
                              <p:par>
                                <p:cTn id="149" presetID="1" presetClass="entr" presetSubtype="0" fill="hold" grpId="0" nodeType="clickEffect">
                                  <p:stCondLst>
                                    <p:cond delay="0"/>
                                  </p:stCondLst>
                                  <p:childTnLst>
                                    <p:set>
                                      <p:cBhvr>
                                        <p:cTn id="150" dur="1" fill="hold">
                                          <p:stCondLst>
                                            <p:cond delay="0"/>
                                          </p:stCondLst>
                                        </p:cTn>
                                        <p:tgtEl>
                                          <p:spTgt spid="1780586687"/>
                                        </p:tgtEl>
                                        <p:attrNameLst>
                                          <p:attrName>style.visibility</p:attrName>
                                        </p:attrNameLst>
                                      </p:cBhvr>
                                      <p:to>
                                        <p:strVal val="visible"/>
                                      </p:to>
                                    </p:set>
                                  </p:childTnLst>
                                </p:cTn>
                              </p:par>
                            </p:childTnLst>
                          </p:cTn>
                        </p:par>
                      </p:childTnLst>
                    </p:cTn>
                  </p:par>
                  <p:par>
                    <p:cTn id="151" fill="hold">
                      <p:stCondLst>
                        <p:cond delay="indefinite"/>
                      </p:stCondLst>
                      <p:childTnLst>
                        <p:par>
                          <p:cTn id="152" fill="hold">
                            <p:stCondLst>
                              <p:cond delay="0"/>
                            </p:stCondLst>
                            <p:childTnLst>
                              <p:par>
                                <p:cTn id="153" presetID="22" presetClass="entr" presetSubtype="2" fill="hold" nodeType="clickEffect">
                                  <p:stCondLst>
                                    <p:cond delay="0"/>
                                  </p:stCondLst>
                                  <p:childTnLst>
                                    <p:set>
                                      <p:cBhvr>
                                        <p:cTn id="154" dur="1" fill="hold">
                                          <p:stCondLst>
                                            <p:cond delay="0"/>
                                          </p:stCondLst>
                                        </p:cTn>
                                        <p:tgtEl>
                                          <p:spTgt spid="1518658669"/>
                                        </p:tgtEl>
                                        <p:attrNameLst>
                                          <p:attrName>style.visibility</p:attrName>
                                        </p:attrNameLst>
                                      </p:cBhvr>
                                      <p:to>
                                        <p:strVal val="visible"/>
                                      </p:to>
                                    </p:set>
                                    <p:animEffect transition="in" filter="wipe(right)">
                                      <p:cBhvr>
                                        <p:cTn id="155" dur="500"/>
                                        <p:tgtEl>
                                          <p:spTgt spid="1518658669"/>
                                        </p:tgtEl>
                                      </p:cBhvr>
                                    </p:animEffect>
                                  </p:childTnLst>
                                </p:cTn>
                              </p:par>
                            </p:childTnLst>
                          </p:cTn>
                        </p:par>
                      </p:childTnLst>
                    </p:cTn>
                  </p:par>
                  <p:par>
                    <p:cTn id="156" fill="hold">
                      <p:stCondLst>
                        <p:cond delay="indefinite"/>
                      </p:stCondLst>
                      <p:childTnLst>
                        <p:par>
                          <p:cTn id="157" fill="hold">
                            <p:stCondLst>
                              <p:cond delay="0"/>
                            </p:stCondLst>
                            <p:childTnLst>
                              <p:par>
                                <p:cTn id="158" presetID="1" presetClass="entr" presetSubtype="0" fill="hold" grpId="0" nodeType="clickEffect">
                                  <p:stCondLst>
                                    <p:cond delay="0"/>
                                  </p:stCondLst>
                                  <p:childTnLst>
                                    <p:set>
                                      <p:cBhvr>
                                        <p:cTn id="159" dur="1" fill="hold">
                                          <p:stCondLst>
                                            <p:cond delay="0"/>
                                          </p:stCondLst>
                                        </p:cTn>
                                        <p:tgtEl>
                                          <p:spTgt spid="1693651429"/>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22" presetClass="entr" presetSubtype="8" fill="hold" nodeType="clickEffect">
                                  <p:stCondLst>
                                    <p:cond delay="0"/>
                                  </p:stCondLst>
                                  <p:childTnLst>
                                    <p:set>
                                      <p:cBhvr>
                                        <p:cTn id="163" dur="1" fill="hold">
                                          <p:stCondLst>
                                            <p:cond delay="0"/>
                                          </p:stCondLst>
                                        </p:cTn>
                                        <p:tgtEl>
                                          <p:spTgt spid="1439257879"/>
                                        </p:tgtEl>
                                        <p:attrNameLst>
                                          <p:attrName>style.visibility</p:attrName>
                                        </p:attrNameLst>
                                      </p:cBhvr>
                                      <p:to>
                                        <p:strVal val="visible"/>
                                      </p:to>
                                    </p:set>
                                    <p:animEffect transition="in" filter="wipe(left)">
                                      <p:cBhvr>
                                        <p:cTn id="164" dur="500"/>
                                        <p:tgtEl>
                                          <p:spTgt spid="1439257879"/>
                                        </p:tgtEl>
                                      </p:cBhvr>
                                    </p:animEffect>
                                  </p:childTnLst>
                                </p:cTn>
                              </p:par>
                            </p:childTnLst>
                          </p:cTn>
                        </p:par>
                      </p:childTnLst>
                    </p:cTn>
                  </p:par>
                  <p:par>
                    <p:cTn id="165" fill="hold">
                      <p:stCondLst>
                        <p:cond delay="indefinite"/>
                      </p:stCondLst>
                      <p:childTnLst>
                        <p:par>
                          <p:cTn id="166" fill="hold">
                            <p:stCondLst>
                              <p:cond delay="0"/>
                            </p:stCondLst>
                            <p:childTnLst>
                              <p:par>
                                <p:cTn id="167" presetID="1" presetClass="entr" presetSubtype="0" fill="hold" grpId="0" nodeType="clickEffect">
                                  <p:stCondLst>
                                    <p:cond delay="0"/>
                                  </p:stCondLst>
                                  <p:childTnLst>
                                    <p:set>
                                      <p:cBhvr>
                                        <p:cTn id="168" dur="1" fill="hold">
                                          <p:stCondLst>
                                            <p:cond delay="0"/>
                                          </p:stCondLst>
                                        </p:cTn>
                                        <p:tgtEl>
                                          <p:spTgt spid="260774566"/>
                                        </p:tgtEl>
                                        <p:attrNameLst>
                                          <p:attrName>style.visibility</p:attrName>
                                        </p:attrNameLst>
                                      </p:cBhvr>
                                      <p:to>
                                        <p:strVal val="visible"/>
                                      </p:to>
                                    </p:set>
                                  </p:childTnLst>
                                </p:cTn>
                              </p:par>
                            </p:childTnLst>
                          </p:cTn>
                        </p:par>
                        <p:par>
                          <p:cTn id="169" fill="hold">
                            <p:stCondLst>
                              <p:cond delay="0"/>
                            </p:stCondLst>
                            <p:childTnLst>
                              <p:par>
                                <p:cTn id="170" presetID="22" presetClass="entr" presetSubtype="4" fill="hold" nodeType="afterEffect">
                                  <p:stCondLst>
                                    <p:cond delay="0"/>
                                  </p:stCondLst>
                                  <p:childTnLst>
                                    <p:set>
                                      <p:cBhvr>
                                        <p:cTn id="171" dur="1" fill="hold">
                                          <p:stCondLst>
                                            <p:cond delay="0"/>
                                          </p:stCondLst>
                                        </p:cTn>
                                        <p:tgtEl>
                                          <p:spTgt spid="338094470"/>
                                        </p:tgtEl>
                                        <p:attrNameLst>
                                          <p:attrName>style.visibility</p:attrName>
                                        </p:attrNameLst>
                                      </p:cBhvr>
                                      <p:to>
                                        <p:strVal val="visible"/>
                                      </p:to>
                                    </p:set>
                                    <p:animEffect transition="in" filter="wipe(down)">
                                      <p:cBhvr>
                                        <p:cTn id="172" dur="500"/>
                                        <p:tgtEl>
                                          <p:spTgt spid="338094470"/>
                                        </p:tgtEl>
                                      </p:cBhvr>
                                    </p:animEffect>
                                  </p:childTnLst>
                                </p:cTn>
                              </p:par>
                            </p:childTnLst>
                          </p:cTn>
                        </p:par>
                      </p:childTnLst>
                    </p:cTn>
                  </p:par>
                  <p:par>
                    <p:cTn id="173" fill="hold">
                      <p:stCondLst>
                        <p:cond delay="indefinite"/>
                      </p:stCondLst>
                      <p:childTnLst>
                        <p:par>
                          <p:cTn id="174" fill="hold">
                            <p:stCondLst>
                              <p:cond delay="0"/>
                            </p:stCondLst>
                            <p:childTnLst>
                              <p:par>
                                <p:cTn id="175" presetID="1" presetClass="entr" presetSubtype="0" fill="hold" grpId="0" nodeType="clickEffect">
                                  <p:stCondLst>
                                    <p:cond delay="0"/>
                                  </p:stCondLst>
                                  <p:childTnLst>
                                    <p:set>
                                      <p:cBhvr>
                                        <p:cTn id="176" dur="1" fill="hold">
                                          <p:stCondLst>
                                            <p:cond delay="0"/>
                                          </p:stCondLst>
                                        </p:cTn>
                                        <p:tgtEl>
                                          <p:spTgt spid="1231557639"/>
                                        </p:tgtEl>
                                        <p:attrNameLst>
                                          <p:attrName>style.visibility</p:attrName>
                                        </p:attrNameLst>
                                      </p:cBhvr>
                                      <p:to>
                                        <p:strVal val="visible"/>
                                      </p:to>
                                    </p:set>
                                  </p:childTnLst>
                                </p:cTn>
                              </p:par>
                              <p:par>
                                <p:cTn id="177" presetID="1" presetClass="entr" presetSubtype="0" fill="hold" nodeType="withEffect">
                                  <p:stCondLst>
                                    <p:cond delay="0"/>
                                  </p:stCondLst>
                                  <p:childTnLst>
                                    <p:set>
                                      <p:cBhvr>
                                        <p:cTn id="178" dur="1" fill="hold">
                                          <p:stCondLst>
                                            <p:cond delay="0"/>
                                          </p:stCondLst>
                                        </p:cTn>
                                        <p:tgtEl>
                                          <p:spTgt spid="1602827590"/>
                                        </p:tgtEl>
                                        <p:attrNameLst>
                                          <p:attrName>style.visibility</p:attrName>
                                        </p:attrNameLst>
                                      </p:cBhvr>
                                      <p:to>
                                        <p:strVal val="visible"/>
                                      </p:to>
                                    </p:set>
                                  </p:childTnLst>
                                </p:cTn>
                              </p:par>
                              <p:par>
                                <p:cTn id="179" presetID="1" presetClass="entr" presetSubtype="0" fill="hold" nodeType="withEffect">
                                  <p:stCondLst>
                                    <p:cond delay="0"/>
                                  </p:stCondLst>
                                  <p:childTnLst>
                                    <p:set>
                                      <p:cBhvr>
                                        <p:cTn id="180" dur="1" fill="hold">
                                          <p:stCondLst>
                                            <p:cond delay="0"/>
                                          </p:stCondLst>
                                        </p:cTn>
                                        <p:tgtEl>
                                          <p:spTgt spid="38126690"/>
                                        </p:tgtEl>
                                        <p:attrNameLst>
                                          <p:attrName>style.visibility</p:attrName>
                                        </p:attrNameLst>
                                      </p:cBhvr>
                                      <p:to>
                                        <p:strVal val="visible"/>
                                      </p:to>
                                    </p:set>
                                  </p:childTnLst>
                                </p:cTn>
                              </p:par>
                              <p:par>
                                <p:cTn id="181" presetID="1" presetClass="entr" presetSubtype="0" fill="hold" grpId="0" nodeType="withEffect">
                                  <p:stCondLst>
                                    <p:cond delay="0"/>
                                  </p:stCondLst>
                                  <p:childTnLst>
                                    <p:set>
                                      <p:cBhvr>
                                        <p:cTn id="182" dur="1" fill="hold">
                                          <p:stCondLst>
                                            <p:cond delay="0"/>
                                          </p:stCondLst>
                                        </p:cTn>
                                        <p:tgtEl>
                                          <p:spTgt spid="1661754877"/>
                                        </p:tgtEl>
                                        <p:attrNameLst>
                                          <p:attrName>style.visibility</p:attrName>
                                        </p:attrNameLst>
                                      </p:cBhvr>
                                      <p:to>
                                        <p:strVal val="visible"/>
                                      </p:to>
                                    </p:set>
                                  </p:childTnLst>
                                </p:cTn>
                              </p:par>
                              <p:par>
                                <p:cTn id="183" presetID="1" presetClass="entr" presetSubtype="0" fill="hold" nodeType="withEffect">
                                  <p:stCondLst>
                                    <p:cond delay="0"/>
                                  </p:stCondLst>
                                  <p:childTnLst>
                                    <p:set>
                                      <p:cBhvr>
                                        <p:cTn id="184" dur="1" fill="hold">
                                          <p:stCondLst>
                                            <p:cond delay="0"/>
                                          </p:stCondLst>
                                        </p:cTn>
                                        <p:tgtEl>
                                          <p:spTgt spid="546375374"/>
                                        </p:tgtEl>
                                        <p:attrNameLst>
                                          <p:attrName>style.visibility</p:attrName>
                                        </p:attrNameLst>
                                      </p:cBhvr>
                                      <p:to>
                                        <p:strVal val="visible"/>
                                      </p:to>
                                    </p:set>
                                  </p:childTnLst>
                                </p:cTn>
                              </p:par>
                              <p:par>
                                <p:cTn id="185" presetID="1" presetClass="entr" presetSubtype="0" fill="hold" grpId="0" nodeType="withEffect">
                                  <p:stCondLst>
                                    <p:cond delay="0"/>
                                  </p:stCondLst>
                                  <p:childTnLst>
                                    <p:set>
                                      <p:cBhvr>
                                        <p:cTn id="186" dur="1" fill="hold">
                                          <p:stCondLst>
                                            <p:cond delay="0"/>
                                          </p:stCondLst>
                                        </p:cTn>
                                        <p:tgtEl>
                                          <p:spTgt spid="1400578843"/>
                                        </p:tgtEl>
                                        <p:attrNameLst>
                                          <p:attrName>style.visibility</p:attrName>
                                        </p:attrNameLst>
                                      </p:cBhvr>
                                      <p:to>
                                        <p:strVal val="visible"/>
                                      </p:to>
                                    </p:set>
                                  </p:childTnLst>
                                </p:cTn>
                              </p:par>
                              <p:par>
                                <p:cTn id="187" presetID="1" presetClass="entr" presetSubtype="0" fill="hold" nodeType="withEffect">
                                  <p:stCondLst>
                                    <p:cond delay="0"/>
                                  </p:stCondLst>
                                  <p:childTnLst>
                                    <p:set>
                                      <p:cBhvr>
                                        <p:cTn id="188" dur="1" fill="hold">
                                          <p:stCondLst>
                                            <p:cond delay="0"/>
                                          </p:stCondLst>
                                        </p:cTn>
                                        <p:tgtEl>
                                          <p:spTgt spid="1682922030"/>
                                        </p:tgtEl>
                                        <p:attrNameLst>
                                          <p:attrName>style.visibility</p:attrName>
                                        </p:attrNameLst>
                                      </p:cBhvr>
                                      <p:to>
                                        <p:strVal val="visible"/>
                                      </p:to>
                                    </p:set>
                                  </p:childTnLst>
                                </p:cTn>
                              </p:par>
                              <p:par>
                                <p:cTn id="189" presetID="1" presetClass="entr" presetSubtype="0" fill="hold" grpId="0" nodeType="withEffect">
                                  <p:stCondLst>
                                    <p:cond delay="0"/>
                                  </p:stCondLst>
                                  <p:childTnLst>
                                    <p:set>
                                      <p:cBhvr>
                                        <p:cTn id="190" dur="1" fill="hold">
                                          <p:stCondLst>
                                            <p:cond delay="0"/>
                                          </p:stCondLst>
                                        </p:cTn>
                                        <p:tgtEl>
                                          <p:spTgt spid="138460367"/>
                                        </p:tgtEl>
                                        <p:attrNameLst>
                                          <p:attrName>style.visibility</p:attrName>
                                        </p:attrNameLst>
                                      </p:cBhvr>
                                      <p:to>
                                        <p:strVal val="visible"/>
                                      </p:to>
                                    </p:set>
                                  </p:childTnLst>
                                </p:cTn>
                              </p:par>
                              <p:par>
                                <p:cTn id="191" presetID="1" presetClass="entr" presetSubtype="0" fill="hold" nodeType="withEffect">
                                  <p:stCondLst>
                                    <p:cond delay="0"/>
                                  </p:stCondLst>
                                  <p:childTnLst>
                                    <p:set>
                                      <p:cBhvr>
                                        <p:cTn id="192" dur="1" fill="hold">
                                          <p:stCondLst>
                                            <p:cond delay="0"/>
                                          </p:stCondLst>
                                        </p:cTn>
                                        <p:tgtEl>
                                          <p:spTgt spid="1800998053"/>
                                        </p:tgtEl>
                                        <p:attrNameLst>
                                          <p:attrName>style.visibility</p:attrName>
                                        </p:attrNameLst>
                                      </p:cBhvr>
                                      <p:to>
                                        <p:strVal val="visible"/>
                                      </p:to>
                                    </p:set>
                                  </p:childTnLst>
                                </p:cTn>
                              </p:par>
                              <p:par>
                                <p:cTn id="193" presetID="1" presetClass="entr" presetSubtype="0" fill="hold" grpId="0" nodeType="withEffect">
                                  <p:stCondLst>
                                    <p:cond delay="0"/>
                                  </p:stCondLst>
                                  <p:childTnLst>
                                    <p:set>
                                      <p:cBhvr>
                                        <p:cTn id="194" dur="1" fill="hold">
                                          <p:stCondLst>
                                            <p:cond delay="0"/>
                                          </p:stCondLst>
                                        </p:cTn>
                                        <p:tgtEl>
                                          <p:spTgt spid="928345238"/>
                                        </p:tgtEl>
                                        <p:attrNameLst>
                                          <p:attrName>style.visibility</p:attrName>
                                        </p:attrNameLst>
                                      </p:cBhvr>
                                      <p:to>
                                        <p:strVal val="visible"/>
                                      </p:to>
                                    </p:set>
                                  </p:childTnLst>
                                </p:cTn>
                              </p:par>
                              <p:par>
                                <p:cTn id="195" presetID="1" presetClass="entr" presetSubtype="0" fill="hold" grpId="0" nodeType="withEffect">
                                  <p:stCondLst>
                                    <p:cond delay="0"/>
                                  </p:stCondLst>
                                  <p:childTnLst>
                                    <p:set>
                                      <p:cBhvr>
                                        <p:cTn id="196" dur="1" fill="hold">
                                          <p:stCondLst>
                                            <p:cond delay="0"/>
                                          </p:stCondLst>
                                        </p:cTn>
                                        <p:tgtEl>
                                          <p:spTgt spid="1158185097"/>
                                        </p:tgtEl>
                                        <p:attrNameLst>
                                          <p:attrName>style.visibility</p:attrName>
                                        </p:attrNameLst>
                                      </p:cBhvr>
                                      <p:to>
                                        <p:strVal val="visible"/>
                                      </p:to>
                                    </p:set>
                                  </p:childTnLst>
                                </p:cTn>
                              </p:par>
                              <p:par>
                                <p:cTn id="197" presetID="1" presetClass="entr" presetSubtype="0" fill="hold" nodeType="withEffect">
                                  <p:stCondLst>
                                    <p:cond delay="0"/>
                                  </p:stCondLst>
                                  <p:childTnLst>
                                    <p:set>
                                      <p:cBhvr>
                                        <p:cTn id="198" dur="1" fill="hold">
                                          <p:stCondLst>
                                            <p:cond delay="0"/>
                                          </p:stCondLst>
                                        </p:cTn>
                                        <p:tgtEl>
                                          <p:spTgt spid="2004885391"/>
                                        </p:tgtEl>
                                        <p:attrNameLst>
                                          <p:attrName>style.visibility</p:attrName>
                                        </p:attrNameLst>
                                      </p:cBhvr>
                                      <p:to>
                                        <p:strVal val="visible"/>
                                      </p:to>
                                    </p:set>
                                  </p:childTnLst>
                                </p:cTn>
                              </p:par>
                              <p:par>
                                <p:cTn id="199" presetID="1" presetClass="entr" presetSubtype="0" fill="hold" grpId="0" nodeType="withEffect">
                                  <p:stCondLst>
                                    <p:cond delay="0"/>
                                  </p:stCondLst>
                                  <p:childTnLst>
                                    <p:set>
                                      <p:cBhvr>
                                        <p:cTn id="200" dur="1" fill="hold">
                                          <p:stCondLst>
                                            <p:cond delay="0"/>
                                          </p:stCondLst>
                                        </p:cTn>
                                        <p:tgtEl>
                                          <p:spTgt spid="1962010949"/>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presetID="22" presetClass="entr" presetSubtype="2" fill="hold" nodeType="clickEffect">
                                  <p:stCondLst>
                                    <p:cond delay="0"/>
                                  </p:stCondLst>
                                  <p:childTnLst>
                                    <p:set>
                                      <p:cBhvr>
                                        <p:cTn id="204" dur="1" fill="hold">
                                          <p:stCondLst>
                                            <p:cond delay="0"/>
                                          </p:stCondLst>
                                        </p:cTn>
                                        <p:tgtEl>
                                          <p:spTgt spid="1216779538"/>
                                        </p:tgtEl>
                                        <p:attrNameLst>
                                          <p:attrName>style.visibility</p:attrName>
                                        </p:attrNameLst>
                                      </p:cBhvr>
                                      <p:to>
                                        <p:strVal val="visible"/>
                                      </p:to>
                                    </p:set>
                                    <p:animEffect transition="in" filter="wipe(right)">
                                      <p:cBhvr>
                                        <p:cTn id="205" dur="500"/>
                                        <p:tgtEl>
                                          <p:spTgt spid="1216779538"/>
                                        </p:tgtEl>
                                      </p:cBhvr>
                                    </p:animEffect>
                                  </p:childTnLst>
                                </p:cTn>
                              </p:par>
                            </p:childTnLst>
                          </p:cTn>
                        </p:par>
                      </p:childTnLst>
                    </p:cTn>
                  </p:par>
                  <p:par>
                    <p:cTn id="206" fill="hold">
                      <p:stCondLst>
                        <p:cond delay="indefinite"/>
                      </p:stCondLst>
                      <p:childTnLst>
                        <p:par>
                          <p:cTn id="207" fill="hold">
                            <p:stCondLst>
                              <p:cond delay="0"/>
                            </p:stCondLst>
                            <p:childTnLst>
                              <p:par>
                                <p:cTn id="208" presetID="1" presetClass="entr" presetSubtype="0" fill="hold" grpId="0" nodeType="clickEffect">
                                  <p:stCondLst>
                                    <p:cond delay="0"/>
                                  </p:stCondLst>
                                  <p:childTnLst>
                                    <p:set>
                                      <p:cBhvr>
                                        <p:cTn id="209" dur="1" fill="hold">
                                          <p:stCondLst>
                                            <p:cond delay="0"/>
                                          </p:stCondLst>
                                        </p:cTn>
                                        <p:tgtEl>
                                          <p:spTgt spid="1407198802"/>
                                        </p:tgtEl>
                                        <p:attrNameLst>
                                          <p:attrName>style.visibility</p:attrName>
                                        </p:attrNameLst>
                                      </p:cBhvr>
                                      <p:to>
                                        <p:strVal val="visible"/>
                                      </p:to>
                                    </p:set>
                                  </p:childTnLst>
                                </p:cTn>
                              </p:par>
                            </p:childTnLst>
                          </p:cTn>
                        </p:par>
                      </p:childTnLst>
                    </p:cTn>
                  </p:par>
                  <p:par>
                    <p:cTn id="210" fill="hold">
                      <p:stCondLst>
                        <p:cond delay="indefinite"/>
                      </p:stCondLst>
                      <p:childTnLst>
                        <p:par>
                          <p:cTn id="211" fill="hold">
                            <p:stCondLst>
                              <p:cond delay="0"/>
                            </p:stCondLst>
                            <p:childTnLst>
                              <p:par>
                                <p:cTn id="212" presetID="22" presetClass="entr" presetSubtype="2" fill="hold" nodeType="clickEffect">
                                  <p:stCondLst>
                                    <p:cond delay="0"/>
                                  </p:stCondLst>
                                  <p:childTnLst>
                                    <p:set>
                                      <p:cBhvr>
                                        <p:cTn id="213" dur="1" fill="hold">
                                          <p:stCondLst>
                                            <p:cond delay="0"/>
                                          </p:stCondLst>
                                        </p:cTn>
                                        <p:tgtEl>
                                          <p:spTgt spid="1050311853"/>
                                        </p:tgtEl>
                                        <p:attrNameLst>
                                          <p:attrName>style.visibility</p:attrName>
                                        </p:attrNameLst>
                                      </p:cBhvr>
                                      <p:to>
                                        <p:strVal val="visible"/>
                                      </p:to>
                                    </p:set>
                                    <p:animEffect transition="in" filter="wipe(right)">
                                      <p:cBhvr>
                                        <p:cTn id="214" dur="500"/>
                                        <p:tgtEl>
                                          <p:spTgt spid="1050311853"/>
                                        </p:tgtEl>
                                      </p:cBhvr>
                                    </p:animEffect>
                                  </p:childTnLst>
                                </p:cTn>
                              </p:par>
                            </p:childTnLst>
                          </p:cTn>
                        </p:par>
                      </p:childTnLst>
                    </p:cTn>
                  </p:par>
                  <p:par>
                    <p:cTn id="215" fill="hold">
                      <p:stCondLst>
                        <p:cond delay="indefinite"/>
                      </p:stCondLst>
                      <p:childTnLst>
                        <p:par>
                          <p:cTn id="216" fill="hold">
                            <p:stCondLst>
                              <p:cond delay="0"/>
                            </p:stCondLst>
                            <p:childTnLst>
                              <p:par>
                                <p:cTn id="217" presetID="1" presetClass="entr" presetSubtype="0" fill="hold" grpId="0" nodeType="clickEffect">
                                  <p:stCondLst>
                                    <p:cond delay="0"/>
                                  </p:stCondLst>
                                  <p:childTnLst>
                                    <p:set>
                                      <p:cBhvr>
                                        <p:cTn id="218" dur="1" fill="hold">
                                          <p:stCondLst>
                                            <p:cond delay="0"/>
                                          </p:stCondLst>
                                        </p:cTn>
                                        <p:tgtEl>
                                          <p:spTgt spid="666105022"/>
                                        </p:tgtEl>
                                        <p:attrNameLst>
                                          <p:attrName>style.visibility</p:attrName>
                                        </p:attrNameLst>
                                      </p:cBhvr>
                                      <p:to>
                                        <p:strVal val="visible"/>
                                      </p:to>
                                    </p:set>
                                  </p:childTnLst>
                                </p:cTn>
                              </p:par>
                            </p:childTnLst>
                          </p:cTn>
                        </p:par>
                      </p:childTnLst>
                    </p:cTn>
                  </p:par>
                  <p:par>
                    <p:cTn id="219" fill="hold">
                      <p:stCondLst>
                        <p:cond delay="indefinite"/>
                      </p:stCondLst>
                      <p:childTnLst>
                        <p:par>
                          <p:cTn id="220" fill="hold">
                            <p:stCondLst>
                              <p:cond delay="0"/>
                            </p:stCondLst>
                            <p:childTnLst>
                              <p:par>
                                <p:cTn id="221" presetID="22" presetClass="entr" presetSubtype="8" fill="hold" nodeType="clickEffect">
                                  <p:stCondLst>
                                    <p:cond delay="0"/>
                                  </p:stCondLst>
                                  <p:childTnLst>
                                    <p:set>
                                      <p:cBhvr>
                                        <p:cTn id="222" dur="1" fill="hold">
                                          <p:stCondLst>
                                            <p:cond delay="0"/>
                                          </p:stCondLst>
                                        </p:cTn>
                                        <p:tgtEl>
                                          <p:spTgt spid="727413283"/>
                                        </p:tgtEl>
                                        <p:attrNameLst>
                                          <p:attrName>style.visibility</p:attrName>
                                        </p:attrNameLst>
                                      </p:cBhvr>
                                      <p:to>
                                        <p:strVal val="visible"/>
                                      </p:to>
                                    </p:set>
                                    <p:animEffect transition="in" filter="wipe(left)">
                                      <p:cBhvr>
                                        <p:cTn id="223" dur="500"/>
                                        <p:tgtEl>
                                          <p:spTgt spid="727413283"/>
                                        </p:tgtEl>
                                      </p:cBhvr>
                                    </p:animEffect>
                                  </p:childTnLst>
                                </p:cTn>
                              </p:par>
                            </p:childTnLst>
                          </p:cTn>
                        </p:par>
                      </p:childTnLst>
                    </p:cTn>
                  </p:par>
                  <p:par>
                    <p:cTn id="224" fill="hold">
                      <p:stCondLst>
                        <p:cond delay="indefinite"/>
                      </p:stCondLst>
                      <p:childTnLst>
                        <p:par>
                          <p:cTn id="225" fill="hold">
                            <p:stCondLst>
                              <p:cond delay="0"/>
                            </p:stCondLst>
                            <p:childTnLst>
                              <p:par>
                                <p:cTn id="226" presetID="1" presetClass="entr" presetSubtype="0" fill="hold" grpId="0" nodeType="clickEffect">
                                  <p:stCondLst>
                                    <p:cond delay="0"/>
                                  </p:stCondLst>
                                  <p:childTnLst>
                                    <p:set>
                                      <p:cBhvr>
                                        <p:cTn id="227" dur="1" fill="hold">
                                          <p:stCondLst>
                                            <p:cond delay="0"/>
                                          </p:stCondLst>
                                        </p:cTn>
                                        <p:tgtEl>
                                          <p:spTgt spid="1754275077"/>
                                        </p:tgtEl>
                                        <p:attrNameLst>
                                          <p:attrName>style.visibility</p:attrName>
                                        </p:attrNameLst>
                                      </p:cBhvr>
                                      <p:to>
                                        <p:strVal val="visible"/>
                                      </p:to>
                                    </p:set>
                                  </p:childTnLst>
                                </p:cTn>
                              </p:par>
                            </p:childTnLst>
                          </p:cTn>
                        </p:par>
                      </p:childTnLst>
                    </p:cTn>
                  </p:par>
                  <p:par>
                    <p:cTn id="228" fill="hold">
                      <p:stCondLst>
                        <p:cond delay="indefinite"/>
                      </p:stCondLst>
                      <p:childTnLst>
                        <p:par>
                          <p:cTn id="229" fill="hold">
                            <p:stCondLst>
                              <p:cond delay="0"/>
                            </p:stCondLst>
                            <p:childTnLst>
                              <p:par>
                                <p:cTn id="230" presetID="22" presetClass="entr" presetSubtype="8" fill="hold" nodeType="clickEffect">
                                  <p:stCondLst>
                                    <p:cond delay="0"/>
                                  </p:stCondLst>
                                  <p:childTnLst>
                                    <p:set>
                                      <p:cBhvr>
                                        <p:cTn id="231" dur="1" fill="hold">
                                          <p:stCondLst>
                                            <p:cond delay="0"/>
                                          </p:stCondLst>
                                        </p:cTn>
                                        <p:tgtEl>
                                          <p:spTgt spid="96403798"/>
                                        </p:tgtEl>
                                        <p:attrNameLst>
                                          <p:attrName>style.visibility</p:attrName>
                                        </p:attrNameLst>
                                      </p:cBhvr>
                                      <p:to>
                                        <p:strVal val="visible"/>
                                      </p:to>
                                    </p:set>
                                    <p:animEffect transition="in" filter="wipe(left)">
                                      <p:cBhvr>
                                        <p:cTn id="232" dur="500"/>
                                        <p:tgtEl>
                                          <p:spTgt spid="96403798"/>
                                        </p:tgtEl>
                                      </p:cBhvr>
                                    </p:animEffec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grpId="0" nodeType="clickEffect">
                                  <p:stCondLst>
                                    <p:cond delay="0"/>
                                  </p:stCondLst>
                                  <p:childTnLst>
                                    <p:set>
                                      <p:cBhvr>
                                        <p:cTn id="236" dur="1" fill="hold">
                                          <p:stCondLst>
                                            <p:cond delay="0"/>
                                          </p:stCondLst>
                                        </p:cTn>
                                        <p:tgtEl>
                                          <p:spTgt spid="195777084"/>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22" presetClass="entr" presetSubtype="2" fill="hold" nodeType="clickEffect">
                                  <p:stCondLst>
                                    <p:cond delay="0"/>
                                  </p:stCondLst>
                                  <p:childTnLst>
                                    <p:set>
                                      <p:cBhvr>
                                        <p:cTn id="240" dur="1" fill="hold">
                                          <p:stCondLst>
                                            <p:cond delay="0"/>
                                          </p:stCondLst>
                                        </p:cTn>
                                        <p:tgtEl>
                                          <p:spTgt spid="1109651087"/>
                                        </p:tgtEl>
                                        <p:attrNameLst>
                                          <p:attrName>style.visibility</p:attrName>
                                        </p:attrNameLst>
                                      </p:cBhvr>
                                      <p:to>
                                        <p:strVal val="visible"/>
                                      </p:to>
                                    </p:set>
                                    <p:animEffect transition="in" filter="wipe(right)">
                                      <p:cBhvr>
                                        <p:cTn id="241" dur="500"/>
                                        <p:tgtEl>
                                          <p:spTgt spid="1109651087"/>
                                        </p:tgtEl>
                                      </p:cBhvr>
                                    </p:animEffect>
                                  </p:childTnLst>
                                </p:cTn>
                              </p:par>
                            </p:childTnLst>
                          </p:cTn>
                        </p:par>
                      </p:childTnLst>
                    </p:cTn>
                  </p:par>
                  <p:par>
                    <p:cTn id="242" fill="hold">
                      <p:stCondLst>
                        <p:cond delay="indefinite"/>
                      </p:stCondLst>
                      <p:childTnLst>
                        <p:par>
                          <p:cTn id="243" fill="hold">
                            <p:stCondLst>
                              <p:cond delay="0"/>
                            </p:stCondLst>
                            <p:childTnLst>
                              <p:par>
                                <p:cTn id="244" presetID="1" presetClass="entr" presetSubtype="0" fill="hold" grpId="0" nodeType="clickEffect">
                                  <p:stCondLst>
                                    <p:cond delay="0"/>
                                  </p:stCondLst>
                                  <p:childTnLst>
                                    <p:set>
                                      <p:cBhvr>
                                        <p:cTn id="245" dur="1" fill="hold">
                                          <p:stCondLst>
                                            <p:cond delay="0"/>
                                          </p:stCondLst>
                                        </p:cTn>
                                        <p:tgtEl>
                                          <p:spTgt spid="595457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1168986" grpId="0"/>
      <p:bldP spid="1098421825" grpId="0"/>
      <p:bldP spid="766887370" grpId="0"/>
      <p:bldP spid="1912865282" grpId="0"/>
      <p:bldP spid="43156467" grpId="0" animBg="1"/>
      <p:bldP spid="1977444390" grpId="0" animBg="1"/>
      <p:bldP spid="2128112270" grpId="0" animBg="1"/>
      <p:bldP spid="327929291" grpId="0" animBg="1"/>
      <p:bldP spid="1778355351" grpId="0" animBg="1"/>
      <p:bldP spid="1190705272" grpId="0" animBg="1"/>
      <p:bldP spid="553119958" grpId="0" animBg="1"/>
      <p:bldP spid="582181384" grpId="0" animBg="1"/>
      <p:bldP spid="1616344569" grpId="0" animBg="1"/>
      <p:bldP spid="919882163" grpId="0" animBg="1"/>
      <p:bldP spid="118710667" grpId="0" animBg="1"/>
      <p:bldP spid="1989819983" grpId="0" animBg="1"/>
      <p:bldP spid="1391611129" grpId="0" animBg="1"/>
      <p:bldP spid="586893998" grpId="0" animBg="1"/>
      <p:bldP spid="1770123072" grpId="0" animBg="1"/>
      <p:bldP spid="260774566" grpId="0" animBg="1"/>
      <p:bldP spid="1780586687" grpId="0" animBg="1"/>
      <p:bldP spid="1231557639" grpId="0" animBg="1"/>
      <p:bldP spid="1661754877" grpId="0" animBg="1"/>
      <p:bldP spid="928345238" grpId="0" animBg="1"/>
      <p:bldP spid="1400578843" grpId="0" animBg="1"/>
      <p:bldP spid="1158185097" grpId="0" animBg="1"/>
      <p:bldP spid="138460367" grpId="0" animBg="1"/>
      <p:bldP spid="1407198802" grpId="0" animBg="1"/>
      <p:bldP spid="666105022" grpId="0" animBg="1"/>
      <p:bldP spid="1754275077" grpId="0" animBg="1"/>
      <p:bldP spid="1693651429" grpId="0" animBg="1"/>
      <p:bldP spid="1962010949" grpId="0" animBg="1"/>
      <p:bldP spid="195777084" grpId="0" animBg="1"/>
      <p:bldP spid="595457494" grpId="0" animBg="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43977171" name="Title 1"/>
          <p:cNvSpPr>
            <a:spLocks noGrp="1"/>
          </p:cNvSpPr>
          <p:nvPr>
            <p:ph type="title"/>
          </p:nvPr>
        </p:nvSpPr>
        <p:spPr bwMode="auto"/>
        <p:txBody>
          <a:bodyPr/>
          <a:lstStyle/>
          <a:p>
            <a:pPr>
              <a:defRPr/>
            </a:pPr>
            <a:r>
              <a:rPr lang="en-US"/>
              <a:t>Construct a Binary Tree from given Traversals</a:t>
            </a:r>
            <a:endParaRPr lang="en-US"/>
          </a:p>
        </p:txBody>
      </p:sp>
      <p:sp>
        <p:nvSpPr>
          <p:cNvPr id="130739993" name="Content Placeholder 2"/>
          <p:cNvSpPr>
            <a:spLocks noGrp="1"/>
          </p:cNvSpPr>
          <p:nvPr>
            <p:ph idx="1"/>
          </p:nvPr>
        </p:nvSpPr>
        <p:spPr bwMode="auto"/>
        <p:txBody>
          <a:bodyPr/>
          <a:lstStyle/>
          <a:p>
            <a:pPr>
              <a:defRPr/>
            </a:pPr>
            <a:r>
              <a:rPr lang="en-US"/>
              <a:t>Construct a tree for the given In-order and Pre-order OR In-order Post-order </a:t>
            </a:r>
            <a:r>
              <a:rPr lang="en-US"/>
              <a:t>traversals</a:t>
            </a:r>
            <a:endParaRPr/>
          </a:p>
          <a:p>
            <a:pPr lvl="1">
              <a:defRPr/>
            </a:pPr>
            <a:r>
              <a:rPr lang="en-US"/>
              <a:t>Inorder</a:t>
            </a:r>
            <a:r>
              <a:rPr lang="en-US"/>
              <a:t>: </a:t>
            </a:r>
            <a:r>
              <a:rPr lang="en-US"/>
              <a:t>DGBAHEICF | </a:t>
            </a:r>
            <a:r>
              <a:rPr lang="en-US"/>
              <a:t>Postorder</a:t>
            </a:r>
            <a:r>
              <a:rPr lang="en-US"/>
              <a:t>: </a:t>
            </a:r>
            <a:r>
              <a:rPr lang="en-US"/>
              <a:t>GDBHIEFCA</a:t>
            </a:r>
            <a:endParaRPr/>
          </a:p>
          <a:p>
            <a:pPr lvl="1">
              <a:defRPr/>
            </a:pPr>
            <a:r>
              <a:rPr lang="en-US"/>
              <a:t>Inorder</a:t>
            </a:r>
            <a:r>
              <a:rPr lang="en-US"/>
              <a:t>: </a:t>
            </a:r>
            <a:r>
              <a:rPr lang="en-US"/>
              <a:t>EACKFHDBG | Preorder</a:t>
            </a:r>
            <a:r>
              <a:rPr lang="en-US"/>
              <a:t>: </a:t>
            </a:r>
            <a:r>
              <a:rPr lang="en-US"/>
              <a:t>FAEKCDHGB</a:t>
            </a:r>
            <a:endParaRPr/>
          </a:p>
          <a:p>
            <a:pPr lvl="1">
              <a:defRPr/>
            </a:pPr>
            <a:r>
              <a:rPr lang="en-US"/>
              <a:t>Inorder</a:t>
            </a:r>
            <a:r>
              <a:rPr lang="en-US"/>
              <a:t>: </a:t>
            </a:r>
            <a:r>
              <a:rPr lang="en-US"/>
              <a:t>QBKCFAGPEDHR | Preorder</a:t>
            </a:r>
            <a:r>
              <a:rPr lang="en-US"/>
              <a:t>: </a:t>
            </a:r>
            <a:r>
              <a:rPr lang="en-US"/>
              <a:t>GBQACKFPDERH</a:t>
            </a:r>
            <a:endParaRPr/>
          </a:p>
          <a:p>
            <a:pPr lvl="1">
              <a:defRPr/>
            </a:pPr>
            <a:r>
              <a:rPr lang="en-US"/>
              <a:t>Inorder</a:t>
            </a:r>
            <a:r>
              <a:rPr lang="en-US"/>
              <a:t>: </a:t>
            </a:r>
            <a:r>
              <a:rPr lang="en-US"/>
              <a:t>BIDACGEHF | </a:t>
            </a:r>
            <a:r>
              <a:rPr lang="en-US"/>
              <a:t>Postorder</a:t>
            </a:r>
            <a:r>
              <a:rPr lang="en-US"/>
              <a:t>: </a:t>
            </a:r>
            <a:r>
              <a:rPr lang="en-US"/>
              <a:t>IDBGCHFEA</a:t>
            </a:r>
            <a:endParaRPr/>
          </a:p>
          <a:p>
            <a:pPr lvl="1">
              <a:defRPr/>
            </a:pPr>
            <a:r>
              <a:rPr lang="en-US"/>
              <a:t>Inorder</a:t>
            </a:r>
            <a:r>
              <a:rPr lang="en-US"/>
              <a:t>: </a:t>
            </a:r>
            <a:r>
              <a:rPr lang="en-US"/>
              <a:t>BCAEDGHFI | </a:t>
            </a:r>
            <a:r>
              <a:rPr lang="en-US"/>
              <a:t>Postorder</a:t>
            </a:r>
            <a:r>
              <a:rPr lang="en-US"/>
              <a:t>: </a:t>
            </a:r>
            <a:r>
              <a:rPr lang="en-US"/>
              <a:t>CBEHGIFDA</a:t>
            </a:r>
            <a:endParaRPr/>
          </a:p>
          <a:p>
            <a:pPr lvl="1">
              <a:defRPr/>
            </a:pPr>
            <a:r>
              <a:rPr lang="en-US"/>
              <a:t>Inorder</a:t>
            </a:r>
            <a:r>
              <a:rPr lang="en-US"/>
              <a:t>: </a:t>
            </a:r>
            <a:r>
              <a:rPr lang="en-US"/>
              <a:t>d,b.e,a,f,c,g</a:t>
            </a:r>
            <a:r>
              <a:rPr lang="en-US"/>
              <a:t> | Preorder</a:t>
            </a:r>
            <a:r>
              <a:rPr lang="en-US"/>
              <a:t>: </a:t>
            </a:r>
            <a:r>
              <a:rPr lang="en-US"/>
              <a:t>a,b,d,e,c,f,g</a:t>
            </a:r>
            <a:endParaRPr lang="en-US"/>
          </a:p>
          <a:p>
            <a:pPr lvl="1">
              <a:defRPr/>
            </a:pPr>
            <a:r>
              <a:rPr lang="en-US"/>
              <a:t>Inorder</a:t>
            </a:r>
            <a:r>
              <a:rPr lang="en-US"/>
              <a:t>: </a:t>
            </a:r>
            <a:r>
              <a:rPr lang="en-US"/>
              <a:t>4,10,3,1,7,11,8,2 | Preorder</a:t>
            </a:r>
            <a:r>
              <a:rPr lang="en-US"/>
              <a:t>: </a:t>
            </a:r>
            <a:r>
              <a:rPr lang="en-US"/>
              <a:t>7,10,4,3,1,2,8,11</a:t>
            </a:r>
            <a:endParaRPr/>
          </a:p>
          <a:p>
            <a:pPr lvl="1">
              <a:defRPr/>
            </a:pPr>
            <a:r>
              <a:rPr lang="sv-SE"/>
              <a:t>Inorder:  1, 10, 11, 12, 13, 14, 15, 17, 18, 21 </a:t>
            </a:r>
            <a:r>
              <a:rPr lang="sv-SE"/>
              <a:t>|  Postorder</a:t>
            </a:r>
            <a:r>
              <a:rPr lang="sv-SE"/>
              <a:t>:  1, 11, 12, 10, 14, 18, 21, 17, 15, 13 </a:t>
            </a:r>
            <a:endParaRPr lang="sv-SE"/>
          </a:p>
          <a:p>
            <a:pPr lvl="1">
              <a:defRPr/>
            </a:pPr>
            <a:r>
              <a:rPr lang="sv-SE"/>
              <a:t>Inorder:  1 3 4 6 7 8 10 13 </a:t>
            </a:r>
            <a:r>
              <a:rPr lang="sv-SE"/>
              <a:t>14 | Preorder</a:t>
            </a:r>
            <a:r>
              <a:rPr lang="sv-SE"/>
              <a:t>:  8 3 1 6 4 7 10 14 13 </a:t>
            </a:r>
            <a:endParaRPr lang="sv-SE"/>
          </a:p>
          <a:p>
            <a:pPr lvl="1">
              <a:defRPr/>
            </a:pPr>
            <a:r>
              <a:rPr lang="sv-SE"/>
              <a:t>Inorder traversal = {4, 2, 5, 1, 3, 6</a:t>
            </a:r>
            <a:r>
              <a:rPr lang="sv-SE"/>
              <a:t>} | Preorder </a:t>
            </a:r>
            <a:r>
              <a:rPr lang="sv-SE"/>
              <a:t>traversal = {1, 2, 4, 5, 3, 6}</a:t>
            </a:r>
            <a:endParaRPr/>
          </a:p>
          <a:p>
            <a:pPr lvl="1">
              <a:defRPr/>
            </a:pPr>
            <a:endParaRPr lang="sv-SE"/>
          </a:p>
          <a:p>
            <a:pPr lvl="1">
              <a:defRPr/>
            </a:pPr>
            <a:endParaRPr lang="sv-SE"/>
          </a:p>
          <a:p>
            <a:pPr lvl="1">
              <a:defRPr/>
            </a:pPr>
            <a:endParaRPr lang="en-US"/>
          </a:p>
          <a:p>
            <a:pPr lvl="1">
              <a:defRPr/>
            </a:pPr>
            <a:endParaRPr lang="en-US"/>
          </a:p>
          <a:p>
            <a:pPr lvl="1">
              <a:defRPr/>
            </a:pPr>
            <a:endParaRPr lang="en-US"/>
          </a:p>
          <a:p>
            <a:pPr lvl="1">
              <a:defRPr/>
            </a:pPr>
            <a:endParaRPr lang="en-US"/>
          </a:p>
          <a:p>
            <a:pPr lvl="1">
              <a:defRPr/>
            </a:pPr>
            <a:endParaRPr lang="en-US"/>
          </a:p>
          <a:p>
            <a:pPr lvl="1">
              <a:defRPr/>
            </a:pPr>
            <a:endParaRPr lang="en-US"/>
          </a:p>
          <a:p>
            <a:pPr lvl="1">
              <a:defRPr/>
            </a:pPr>
            <a:endParaRPr lang="en-US"/>
          </a:p>
          <a:p>
            <a:pPr>
              <a:defRPr/>
            </a:pP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30523554" name="Title 1"/>
          <p:cNvSpPr>
            <a:spLocks noGrp="1"/>
          </p:cNvSpPr>
          <p:nvPr>
            <p:ph type="title"/>
          </p:nvPr>
        </p:nvSpPr>
        <p:spPr bwMode="auto"/>
        <p:txBody>
          <a:bodyPr/>
          <a:lstStyle/>
          <a:p>
            <a:pPr>
              <a:defRPr/>
            </a:pPr>
            <a:r>
              <a:rPr lang="en-IN"/>
              <a:t>Linked Representation of Binary Tree</a:t>
            </a:r>
            <a:endParaRPr lang="en-US"/>
          </a:p>
        </p:txBody>
      </p:sp>
      <p:sp>
        <p:nvSpPr>
          <p:cNvPr id="1938087498" name="Oval 3"/>
          <p:cNvSpPr/>
          <p:nvPr/>
        </p:nvSpPr>
        <p:spPr bwMode="auto">
          <a:xfrm>
            <a:off x="1956645" y="268212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1610991343" name="Oval 4"/>
          <p:cNvSpPr/>
          <p:nvPr/>
        </p:nvSpPr>
        <p:spPr bwMode="auto">
          <a:xfrm>
            <a:off x="1340113" y="362424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577859243" name="Oval 5"/>
          <p:cNvSpPr/>
          <p:nvPr/>
        </p:nvSpPr>
        <p:spPr bwMode="auto">
          <a:xfrm>
            <a:off x="776697"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718469920" name="Oval 6"/>
          <p:cNvSpPr/>
          <p:nvPr/>
        </p:nvSpPr>
        <p:spPr bwMode="auto">
          <a:xfrm>
            <a:off x="2039770"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1315257761" name="Oval 7"/>
          <p:cNvSpPr/>
          <p:nvPr/>
        </p:nvSpPr>
        <p:spPr bwMode="auto">
          <a:xfrm>
            <a:off x="2535074" y="362424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738974680" name="Oval 8"/>
          <p:cNvSpPr/>
          <p:nvPr/>
        </p:nvSpPr>
        <p:spPr bwMode="auto">
          <a:xfrm>
            <a:off x="3127353" y="4630550"/>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2107473006" name="Oval 9"/>
          <p:cNvSpPr/>
          <p:nvPr/>
        </p:nvSpPr>
        <p:spPr bwMode="auto">
          <a:xfrm>
            <a:off x="2535074" y="556388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cxnSp>
        <p:nvCxnSpPr>
          <p:cNvPr id="1819549888" name="Straight Arrow Connector 10"/>
          <p:cNvCxnSpPr>
            <a:stCxn id="1938087498" idx="3"/>
            <a:endCxn id="1610991343" idx="0"/>
          </p:cNvCxnSpPr>
          <p:nvPr/>
        </p:nvCxnSpPr>
        <p:spPr bwMode="auto">
          <a:xfrm flipH="1">
            <a:off x="1620913" y="3161484"/>
            <a:ext cx="417976" cy="46275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1947620" name="Straight Arrow Connector 11"/>
          <p:cNvCxnSpPr>
            <a:stCxn id="1610991343" idx="3"/>
            <a:endCxn id="577859243" idx="0"/>
          </p:cNvCxnSpPr>
          <p:nvPr/>
        </p:nvCxnSpPr>
        <p:spPr bwMode="auto">
          <a:xfrm flipH="1">
            <a:off x="1057497" y="4103599"/>
            <a:ext cx="364860"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666193" name="Straight Arrow Connector 12"/>
          <p:cNvCxnSpPr>
            <a:stCxn id="1938087498" idx="5"/>
            <a:endCxn id="1315257761" idx="0"/>
          </p:cNvCxnSpPr>
          <p:nvPr/>
        </p:nvCxnSpPr>
        <p:spPr bwMode="auto">
          <a:xfrm>
            <a:off x="2436001" y="3161484"/>
            <a:ext cx="379873" cy="46275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56460846" name="Straight Arrow Connector 13"/>
          <p:cNvCxnSpPr>
            <a:stCxn id="1315257761" idx="3"/>
            <a:endCxn id="718469920" idx="0"/>
          </p:cNvCxnSpPr>
          <p:nvPr/>
        </p:nvCxnSpPr>
        <p:spPr bwMode="auto">
          <a:xfrm flipH="1">
            <a:off x="2320570" y="4103599"/>
            <a:ext cx="296748"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82702528" name="Straight Arrow Connector 14"/>
          <p:cNvCxnSpPr>
            <a:stCxn id="1315257761" idx="5"/>
            <a:endCxn id="738974680" idx="0"/>
          </p:cNvCxnSpPr>
          <p:nvPr/>
        </p:nvCxnSpPr>
        <p:spPr bwMode="auto">
          <a:xfrm>
            <a:off x="3014430" y="4103599"/>
            <a:ext cx="393723" cy="52695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92802004" name="Straight Arrow Connector 15"/>
          <p:cNvCxnSpPr>
            <a:stCxn id="718469920" idx="5"/>
            <a:endCxn id="2107473006" idx="0"/>
          </p:cNvCxnSpPr>
          <p:nvPr/>
        </p:nvCxnSpPr>
        <p:spPr bwMode="auto">
          <a:xfrm>
            <a:off x="2519126" y="5109906"/>
            <a:ext cx="296748" cy="45397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1319907216" name="Group 23"/>
          <p:cNvGrpSpPr/>
          <p:nvPr/>
        </p:nvGrpSpPr>
        <p:grpSpPr bwMode="auto">
          <a:xfrm>
            <a:off x="1497872" y="1219199"/>
            <a:ext cx="3385677" cy="558801"/>
            <a:chOff x="-76200" y="4191000"/>
            <a:chExt cx="1997075" cy="381000"/>
          </a:xfrm>
        </p:grpSpPr>
        <p:sp>
          <p:nvSpPr>
            <p:cNvPr id="25" name="Rectangle 24"/>
            <p:cNvSpPr/>
            <p:nvPr/>
          </p:nvSpPr>
          <p:spPr bwMode="auto">
            <a:xfrm>
              <a:off x="609599" y="4191000"/>
              <a:ext cx="62865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DATA</a:t>
              </a:r>
              <a:endParaRPr lang="en-US" sz="2000" b="1"/>
            </a:p>
          </p:txBody>
        </p:sp>
        <p:sp>
          <p:nvSpPr>
            <p:cNvPr id="26" name="Rectangle 25"/>
            <p:cNvSpPr/>
            <p:nvPr/>
          </p:nvSpPr>
          <p:spPr bwMode="auto">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LPTR</a:t>
              </a:r>
              <a:endParaRPr lang="en-US" sz="2000" b="1"/>
            </a:p>
          </p:txBody>
        </p:sp>
        <p:sp>
          <p:nvSpPr>
            <p:cNvPr id="27" name="Rectangle 26"/>
            <p:cNvSpPr/>
            <p:nvPr/>
          </p:nvSpPr>
          <p:spPr bwMode="auto">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defRPr/>
              </a:pPr>
              <a:r>
                <a:rPr lang="en-IN" sz="2000" b="1"/>
                <a:t>RPTR</a:t>
              </a:r>
              <a:endParaRPr lang="en-US" sz="2000" b="1"/>
            </a:p>
          </p:txBody>
        </p:sp>
      </p:grpSp>
      <p:sp>
        <p:nvSpPr>
          <p:cNvPr id="2128531965" name="TextBox 27"/>
          <p:cNvSpPr txBox="1"/>
          <p:nvPr/>
        </p:nvSpPr>
        <p:spPr bwMode="auto">
          <a:xfrm>
            <a:off x="1660155" y="1849397"/>
            <a:ext cx="3066489" cy="400110"/>
          </a:xfrm>
          <a:prstGeom prst="rect">
            <a:avLst/>
          </a:prstGeom>
          <a:noFill/>
        </p:spPr>
        <p:txBody>
          <a:bodyPr wrap="square" rtlCol="0">
            <a:spAutoFit/>
          </a:bodyPr>
          <a:lstStyle/>
          <a:p>
            <a:pPr algn="ctr">
              <a:defRPr/>
            </a:pPr>
            <a:r>
              <a:rPr lang="en-IN" sz="2000" b="1"/>
              <a:t>Typical node </a:t>
            </a:r>
            <a:r>
              <a:rPr lang="en-IN" sz="2000" b="1"/>
              <a:t>of Binary </a:t>
            </a:r>
            <a:r>
              <a:rPr lang="en-IN" sz="2000" b="1"/>
              <a:t>Tree</a:t>
            </a:r>
            <a:endParaRPr lang="en-US" sz="2000" b="1"/>
          </a:p>
        </p:txBody>
      </p:sp>
      <p:grpSp>
        <p:nvGrpSpPr>
          <p:cNvPr id="784990338" name="Group 28"/>
          <p:cNvGrpSpPr/>
          <p:nvPr/>
        </p:nvGrpSpPr>
        <p:grpSpPr bwMode="auto">
          <a:xfrm>
            <a:off x="6648796" y="1796877"/>
            <a:ext cx="1440000" cy="540000"/>
            <a:chOff x="304800" y="4191000"/>
            <a:chExt cx="1066800" cy="381000"/>
          </a:xfrm>
        </p:grpSpPr>
        <p:sp>
          <p:nvSpPr>
            <p:cNvPr id="30" name="Rectangle 29"/>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31" name="Rectangle 30"/>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32" name="Rectangle 31"/>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105388404" name="Group 32"/>
          <p:cNvGrpSpPr/>
          <p:nvPr/>
        </p:nvGrpSpPr>
        <p:grpSpPr bwMode="auto">
          <a:xfrm>
            <a:off x="5429596" y="3092277"/>
            <a:ext cx="1440000" cy="540000"/>
            <a:chOff x="304800" y="4191000"/>
            <a:chExt cx="1066800" cy="381000"/>
          </a:xfrm>
        </p:grpSpPr>
        <p:sp>
          <p:nvSpPr>
            <p:cNvPr id="34" name="Rectangle 33"/>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35" name="Rectangle 34"/>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36" name="Rectangle 35"/>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905451286" name="Group 36"/>
          <p:cNvGrpSpPr/>
          <p:nvPr/>
        </p:nvGrpSpPr>
        <p:grpSpPr bwMode="auto">
          <a:xfrm>
            <a:off x="7791796" y="3092277"/>
            <a:ext cx="1440000" cy="540000"/>
            <a:chOff x="304800" y="4191000"/>
            <a:chExt cx="1066800" cy="381000"/>
          </a:xfrm>
        </p:grpSpPr>
        <p:sp>
          <p:nvSpPr>
            <p:cNvPr id="38" name="Rectangle 37"/>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39" name="Rectangle 38"/>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0" name="Rectangle 39"/>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821987772" name="Group 40"/>
          <p:cNvGrpSpPr/>
          <p:nvPr/>
        </p:nvGrpSpPr>
        <p:grpSpPr bwMode="auto">
          <a:xfrm>
            <a:off x="4438996" y="4463877"/>
            <a:ext cx="1440000" cy="540000"/>
            <a:chOff x="304800" y="4191000"/>
            <a:chExt cx="1066800" cy="381000"/>
          </a:xfrm>
        </p:grpSpPr>
        <p:sp>
          <p:nvSpPr>
            <p:cNvPr id="42" name="Rectangle 41"/>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43" name="Rectangle 42"/>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4" name="Rectangle 43"/>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503471359" name="Group 44"/>
          <p:cNvGrpSpPr/>
          <p:nvPr/>
        </p:nvGrpSpPr>
        <p:grpSpPr bwMode="auto">
          <a:xfrm>
            <a:off x="6877396" y="4463877"/>
            <a:ext cx="1440000" cy="540000"/>
            <a:chOff x="304800" y="4191000"/>
            <a:chExt cx="1066800" cy="381000"/>
          </a:xfrm>
        </p:grpSpPr>
        <p:sp>
          <p:nvSpPr>
            <p:cNvPr id="46" name="Rectangle 45"/>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47" name="Rectangle 46"/>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8" name="Rectangle 47"/>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155443752" name="Group 48"/>
          <p:cNvGrpSpPr/>
          <p:nvPr/>
        </p:nvGrpSpPr>
        <p:grpSpPr bwMode="auto">
          <a:xfrm>
            <a:off x="8858596" y="4463877"/>
            <a:ext cx="1440000" cy="540000"/>
            <a:chOff x="304800" y="4191000"/>
            <a:chExt cx="1066800" cy="381000"/>
          </a:xfrm>
        </p:grpSpPr>
        <p:sp>
          <p:nvSpPr>
            <p:cNvPr id="50" name="Rectangle 49"/>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51" name="Rectangle 50"/>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52" name="Rectangle 51"/>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575815607" name="Group 52"/>
          <p:cNvGrpSpPr/>
          <p:nvPr/>
        </p:nvGrpSpPr>
        <p:grpSpPr bwMode="auto">
          <a:xfrm>
            <a:off x="7867996" y="5759277"/>
            <a:ext cx="1440000" cy="540000"/>
            <a:chOff x="304800" y="4191000"/>
            <a:chExt cx="1066800" cy="381000"/>
          </a:xfrm>
        </p:grpSpPr>
        <p:sp>
          <p:nvSpPr>
            <p:cNvPr id="54" name="Rectangle 53"/>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sp>
          <p:nvSpPr>
            <p:cNvPr id="55" name="Rectangle 54"/>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56" name="Rectangle 55"/>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sp>
        <p:nvSpPr>
          <p:cNvPr id="1971277512" name="Freeform 56"/>
          <p:cNvSpPr/>
          <p:nvPr/>
        </p:nvSpPr>
        <p:spPr bwMode="auto">
          <a:xfrm>
            <a:off x="6157366" y="2042885"/>
            <a:ext cx="691077" cy="1033889"/>
          </a:xfrm>
          <a:custGeom>
            <a:avLst/>
            <a:gdLst>
              <a:gd name="connsiteX0" fmla="*/ 829994 w 829994"/>
              <a:gd name="connsiteY0" fmla="*/ 0 h 1125416"/>
              <a:gd name="connsiteX1" fmla="*/ 0 w 829994"/>
              <a:gd name="connsiteY1" fmla="*/ 0 h 1125416"/>
              <a:gd name="connsiteX2" fmla="*/ 0 w 829994"/>
              <a:gd name="connsiteY2" fmla="*/ 1125416 h 1125416"/>
            </a:gdLst>
            <a:ahLst/>
            <a:cxnLst>
              <a:cxn ang="0">
                <a:pos x="connsiteX0" y="connsiteY0"/>
              </a:cxn>
              <a:cxn ang="0">
                <a:pos x="connsiteX1" y="connsiteY1"/>
              </a:cxn>
              <a:cxn ang="0">
                <a:pos x="connsiteX2" y="connsiteY2"/>
              </a:cxn>
            </a:cxnLst>
            <a:rect l="l" t="t" r="r" b="b"/>
            <a:pathLst>
              <a:path w="829994" h="1125416" fill="norm" stroke="1" extrusionOk="0">
                <a:moveTo>
                  <a:pt x="829994" y="0"/>
                </a:moveTo>
                <a:lnTo>
                  <a:pt x="0" y="0"/>
                </a:lnTo>
                <a:lnTo>
                  <a:pt x="0" y="112541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771039359" name="Freeform 57"/>
          <p:cNvSpPr/>
          <p:nvPr/>
        </p:nvSpPr>
        <p:spPr bwMode="auto">
          <a:xfrm>
            <a:off x="5149421" y="3369260"/>
            <a:ext cx="454135" cy="1080000"/>
          </a:xfrm>
          <a:custGeom>
            <a:avLst/>
            <a:gdLst>
              <a:gd name="connsiteX0" fmla="*/ 661181 w 661181"/>
              <a:gd name="connsiteY0" fmla="*/ 0 h 1181686"/>
              <a:gd name="connsiteX1" fmla="*/ 0 w 661181"/>
              <a:gd name="connsiteY1" fmla="*/ 0 h 1181686"/>
              <a:gd name="connsiteX2" fmla="*/ 0 w 661181"/>
              <a:gd name="connsiteY2" fmla="*/ 1181686 h 1181686"/>
            </a:gdLst>
            <a:ahLst/>
            <a:cxnLst>
              <a:cxn ang="0">
                <a:pos x="connsiteX0" y="connsiteY0"/>
              </a:cxn>
              <a:cxn ang="0">
                <a:pos x="connsiteX1" y="connsiteY1"/>
              </a:cxn>
              <a:cxn ang="0">
                <a:pos x="connsiteX2" y="connsiteY2"/>
              </a:cxn>
            </a:cxnLst>
            <a:rect l="l" t="t" r="r" b="b"/>
            <a:pathLst>
              <a:path w="661181" h="1181686" fill="norm" stroke="1" extrusionOk="0">
                <a:moveTo>
                  <a:pt x="661181" y="0"/>
                </a:moveTo>
                <a:lnTo>
                  <a:pt x="0" y="0"/>
                </a:lnTo>
                <a:lnTo>
                  <a:pt x="0" y="118168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159458088" name="Freeform 58"/>
          <p:cNvSpPr/>
          <p:nvPr/>
        </p:nvSpPr>
        <p:spPr bwMode="auto">
          <a:xfrm>
            <a:off x="7905965" y="2043229"/>
            <a:ext cx="691200" cy="1033200"/>
          </a:xfrm>
          <a:custGeom>
            <a:avLst/>
            <a:gdLst>
              <a:gd name="connsiteX0" fmla="*/ 0 w 731520"/>
              <a:gd name="connsiteY0" fmla="*/ 0 h 1111347"/>
              <a:gd name="connsiteX1" fmla="*/ 731520 w 731520"/>
              <a:gd name="connsiteY1" fmla="*/ 0 h 1111347"/>
              <a:gd name="connsiteX2" fmla="*/ 731520 w 731520"/>
              <a:gd name="connsiteY2" fmla="*/ 1111347 h 1111347"/>
            </a:gdLst>
            <a:ahLst/>
            <a:cxnLst>
              <a:cxn ang="0">
                <a:pos x="connsiteX0" y="connsiteY0"/>
              </a:cxn>
              <a:cxn ang="0">
                <a:pos x="connsiteX1" y="connsiteY1"/>
              </a:cxn>
              <a:cxn ang="0">
                <a:pos x="connsiteX2" y="connsiteY2"/>
              </a:cxn>
            </a:cxnLst>
            <a:rect l="l" t="t" r="r" b="b"/>
            <a:pathLst>
              <a:path w="731520" h="1111347" fill="norm" stroke="1" extrusionOk="0">
                <a:moveTo>
                  <a:pt x="0" y="0"/>
                </a:moveTo>
                <a:lnTo>
                  <a:pt x="731520" y="0"/>
                </a:lnTo>
                <a:lnTo>
                  <a:pt x="731520" y="111134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1424669362" name="Freeform 59"/>
          <p:cNvSpPr/>
          <p:nvPr/>
        </p:nvSpPr>
        <p:spPr bwMode="auto">
          <a:xfrm>
            <a:off x="7581660" y="3369260"/>
            <a:ext cx="413622" cy="1080000"/>
          </a:xfrm>
          <a:custGeom>
            <a:avLst/>
            <a:gdLst>
              <a:gd name="connsiteX0" fmla="*/ 534572 w 534572"/>
              <a:gd name="connsiteY0" fmla="*/ 0 h 1139483"/>
              <a:gd name="connsiteX1" fmla="*/ 0 w 534572"/>
              <a:gd name="connsiteY1" fmla="*/ 0 h 1139483"/>
              <a:gd name="connsiteX2" fmla="*/ 0 w 534572"/>
              <a:gd name="connsiteY2" fmla="*/ 1139483 h 1139483"/>
            </a:gdLst>
            <a:ahLst/>
            <a:cxnLst>
              <a:cxn ang="0">
                <a:pos x="connsiteX0" y="connsiteY0"/>
              </a:cxn>
              <a:cxn ang="0">
                <a:pos x="connsiteX1" y="connsiteY1"/>
              </a:cxn>
              <a:cxn ang="0">
                <a:pos x="connsiteX2" y="connsiteY2"/>
              </a:cxn>
            </a:cxnLst>
            <a:rect l="l" t="t" r="r" b="b"/>
            <a:pathLst>
              <a:path w="534572" h="1139483" fill="norm" stroke="1" extrusionOk="0">
                <a:moveTo>
                  <a:pt x="534572" y="0"/>
                </a:moveTo>
                <a:lnTo>
                  <a:pt x="0" y="0"/>
                </a:lnTo>
                <a:lnTo>
                  <a:pt x="0"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400491059" name="Freeform 60"/>
          <p:cNvSpPr/>
          <p:nvPr/>
        </p:nvSpPr>
        <p:spPr bwMode="auto">
          <a:xfrm>
            <a:off x="9028310" y="3369260"/>
            <a:ext cx="550961" cy="1080000"/>
          </a:xfrm>
          <a:custGeom>
            <a:avLst/>
            <a:gdLst>
              <a:gd name="connsiteX0" fmla="*/ 0 w 647114"/>
              <a:gd name="connsiteY0" fmla="*/ 0 h 1223889"/>
              <a:gd name="connsiteX1" fmla="*/ 647114 w 647114"/>
              <a:gd name="connsiteY1" fmla="*/ 0 h 1223889"/>
              <a:gd name="connsiteX2" fmla="*/ 647114 w 647114"/>
              <a:gd name="connsiteY2" fmla="*/ 1223889 h 1223889"/>
            </a:gdLst>
            <a:ahLst/>
            <a:cxnLst>
              <a:cxn ang="0">
                <a:pos x="connsiteX0" y="connsiteY0"/>
              </a:cxn>
              <a:cxn ang="0">
                <a:pos x="connsiteX1" y="connsiteY1"/>
              </a:cxn>
              <a:cxn ang="0">
                <a:pos x="connsiteX2" y="connsiteY2"/>
              </a:cxn>
            </a:cxnLst>
            <a:rect l="l" t="t" r="r" b="b"/>
            <a:pathLst>
              <a:path w="647114" h="1223889" fill="norm" stroke="1" extrusionOk="0">
                <a:moveTo>
                  <a:pt x="0" y="0"/>
                </a:moveTo>
                <a:lnTo>
                  <a:pt x="647114" y="0"/>
                </a:lnTo>
                <a:lnTo>
                  <a:pt x="647114" y="122388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1196909968" name="Freeform 61"/>
          <p:cNvSpPr/>
          <p:nvPr/>
        </p:nvSpPr>
        <p:spPr bwMode="auto">
          <a:xfrm>
            <a:off x="8136421" y="4736645"/>
            <a:ext cx="425436" cy="1014614"/>
          </a:xfrm>
          <a:custGeom>
            <a:avLst/>
            <a:gdLst>
              <a:gd name="connsiteX0" fmla="*/ 0 w 534573"/>
              <a:gd name="connsiteY0" fmla="*/ 0 h 1139483"/>
              <a:gd name="connsiteX1" fmla="*/ 534573 w 534573"/>
              <a:gd name="connsiteY1" fmla="*/ 0 h 1139483"/>
              <a:gd name="connsiteX2" fmla="*/ 534573 w 534573"/>
              <a:gd name="connsiteY2" fmla="*/ 1139483 h 1139483"/>
            </a:gdLst>
            <a:ahLst/>
            <a:cxnLst>
              <a:cxn ang="0">
                <a:pos x="connsiteX0" y="connsiteY0"/>
              </a:cxn>
              <a:cxn ang="0">
                <a:pos x="connsiteX1" y="connsiteY1"/>
              </a:cxn>
              <a:cxn ang="0">
                <a:pos x="connsiteX2" y="connsiteY2"/>
              </a:cxn>
            </a:cxnLst>
            <a:rect l="l" t="t" r="r" b="b"/>
            <a:pathLst>
              <a:path w="534573" h="1139483" fill="norm" stroke="1" extrusionOk="0">
                <a:moveTo>
                  <a:pt x="0" y="0"/>
                </a:moveTo>
                <a:lnTo>
                  <a:pt x="534573" y="0"/>
                </a:lnTo>
                <a:lnTo>
                  <a:pt x="534573"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cxnSp>
        <p:nvCxnSpPr>
          <p:cNvPr id="987239708" name="Straight Connector 63"/>
          <p:cNvCxnSpPr/>
          <p:nvPr/>
        </p:nvCxnSpPr>
        <p:spPr bwMode="auto">
          <a:xfrm flipH="1">
            <a:off x="6458166" y="3092277"/>
            <a:ext cx="394562"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338388165" name="Straight Connector 64"/>
          <p:cNvCxnSpPr/>
          <p:nvPr/>
        </p:nvCxnSpPr>
        <p:spPr bwMode="auto">
          <a:xfrm flipH="1">
            <a:off x="4435111" y="4463877"/>
            <a:ext cx="423085"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484460725" name="Straight Connector 65"/>
          <p:cNvCxnSpPr/>
          <p:nvPr/>
        </p:nvCxnSpPr>
        <p:spPr bwMode="auto">
          <a:xfrm flipH="1">
            <a:off x="5466853" y="4463877"/>
            <a:ext cx="403351"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573220359" name="Straight Connector 66"/>
          <p:cNvCxnSpPr/>
          <p:nvPr/>
        </p:nvCxnSpPr>
        <p:spPr bwMode="auto">
          <a:xfrm flipH="1">
            <a:off x="6894048" y="4481690"/>
            <a:ext cx="371433" cy="522187"/>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855149839" name="Straight Connector 67"/>
          <p:cNvCxnSpPr/>
          <p:nvPr/>
        </p:nvCxnSpPr>
        <p:spPr bwMode="auto">
          <a:xfrm flipH="1">
            <a:off x="8858596" y="4481690"/>
            <a:ext cx="388800" cy="522187"/>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588259058" name="Straight Connector 68"/>
          <p:cNvCxnSpPr/>
          <p:nvPr/>
        </p:nvCxnSpPr>
        <p:spPr bwMode="auto">
          <a:xfrm flipH="1">
            <a:off x="9887169" y="4488995"/>
            <a:ext cx="403638" cy="514882"/>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28048655" name="Straight Connector 69"/>
          <p:cNvCxnSpPr/>
          <p:nvPr/>
        </p:nvCxnSpPr>
        <p:spPr bwMode="auto">
          <a:xfrm flipH="1">
            <a:off x="8913885" y="5759277"/>
            <a:ext cx="389905"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07703800" name="Straight Connector 70"/>
          <p:cNvCxnSpPr/>
          <p:nvPr/>
        </p:nvCxnSpPr>
        <p:spPr bwMode="auto">
          <a:xfrm flipH="1">
            <a:off x="7867996" y="5759277"/>
            <a:ext cx="411427" cy="540000"/>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1852697196" name="TextBox 71"/>
          <p:cNvSpPr txBox="1"/>
          <p:nvPr/>
        </p:nvSpPr>
        <p:spPr bwMode="auto">
          <a:xfrm>
            <a:off x="7184186" y="808546"/>
            <a:ext cx="351378" cy="461665"/>
          </a:xfrm>
          <a:prstGeom prst="rect">
            <a:avLst/>
          </a:prstGeom>
          <a:noFill/>
        </p:spPr>
        <p:txBody>
          <a:bodyPr wrap="none" rtlCol="0">
            <a:spAutoFit/>
          </a:bodyPr>
          <a:lstStyle/>
          <a:p>
            <a:pPr algn="ctr">
              <a:defRPr/>
            </a:pPr>
            <a:r>
              <a:rPr lang="en-IN" sz="2400" b="1">
                <a:solidFill>
                  <a:srgbClr val="C00000"/>
                </a:solidFill>
              </a:rPr>
              <a:t>T</a:t>
            </a:r>
            <a:endParaRPr lang="en-US" sz="2400" b="1">
              <a:solidFill>
                <a:srgbClr val="C00000"/>
              </a:solidFill>
            </a:endParaRPr>
          </a:p>
        </p:txBody>
      </p:sp>
      <p:cxnSp>
        <p:nvCxnSpPr>
          <p:cNvPr id="1069939832" name="Straight Arrow Connector 73"/>
          <p:cNvCxnSpPr>
            <a:stCxn id="1852697196" idx="2"/>
            <a:endCxn id="30" idx="0"/>
          </p:cNvCxnSpPr>
          <p:nvPr/>
        </p:nvCxnSpPr>
        <p:spPr bwMode="auto">
          <a:xfrm>
            <a:off x="7359875" y="1270211"/>
            <a:ext cx="8922" cy="52666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33150171" name="Title 1"/>
          <p:cNvSpPr>
            <a:spLocks noGrp="1"/>
          </p:cNvSpPr>
          <p:nvPr>
            <p:ph type="title"/>
          </p:nvPr>
        </p:nvSpPr>
        <p:spPr bwMode="auto"/>
        <p:txBody>
          <a:bodyPr/>
          <a:lstStyle/>
          <a:p>
            <a:pPr>
              <a:defRPr/>
            </a:pPr>
            <a:r>
              <a:rPr lang="en-US"/>
              <a:t>Threaded Binary Tree</a:t>
            </a:r>
            <a:endParaRPr/>
          </a:p>
        </p:txBody>
      </p:sp>
      <p:sp>
        <p:nvSpPr>
          <p:cNvPr id="1688169516" name="Content Placeholder 2"/>
          <p:cNvSpPr>
            <a:spLocks noGrp="1"/>
          </p:cNvSpPr>
          <p:nvPr>
            <p:ph idx="1"/>
          </p:nvPr>
        </p:nvSpPr>
        <p:spPr bwMode="auto"/>
        <p:txBody>
          <a:bodyPr/>
          <a:lstStyle/>
          <a:p>
            <a:pPr>
              <a:defRPr/>
            </a:pPr>
            <a:r>
              <a:rPr lang="en-IN"/>
              <a:t>The </a:t>
            </a:r>
            <a:r>
              <a:rPr lang="en-IN" b="1">
                <a:solidFill>
                  <a:srgbClr val="C00000"/>
                </a:solidFill>
              </a:rPr>
              <a:t>wasted NULL </a:t>
            </a:r>
            <a:r>
              <a:rPr lang="en-IN"/>
              <a:t>links in the binary tree storage representation can be </a:t>
            </a:r>
            <a:r>
              <a:rPr lang="en-IN" b="1">
                <a:solidFill>
                  <a:srgbClr val="C00000"/>
                </a:solidFill>
              </a:rPr>
              <a:t>replaced by </a:t>
            </a:r>
            <a:r>
              <a:rPr lang="en-IN" b="1">
                <a:solidFill>
                  <a:srgbClr val="C00000"/>
                </a:solidFill>
              </a:rPr>
              <a:t>threads</a:t>
            </a:r>
            <a:endParaRPr/>
          </a:p>
          <a:p>
            <a:pPr>
              <a:defRPr/>
            </a:pPr>
            <a:r>
              <a:rPr lang="en-IN"/>
              <a:t>A binary </a:t>
            </a:r>
            <a:r>
              <a:rPr lang="en-IN" b="1">
                <a:solidFill>
                  <a:srgbClr val="C00000"/>
                </a:solidFill>
              </a:rPr>
              <a:t>tree</a:t>
            </a:r>
            <a:r>
              <a:rPr lang="en-IN">
                <a:solidFill>
                  <a:srgbClr val="C00000"/>
                </a:solidFill>
              </a:rPr>
              <a:t> </a:t>
            </a:r>
            <a:r>
              <a:rPr lang="en-IN"/>
              <a:t>is </a:t>
            </a:r>
            <a:r>
              <a:rPr lang="en-IN" b="1">
                <a:solidFill>
                  <a:srgbClr val="C00000"/>
                </a:solidFill>
              </a:rPr>
              <a:t>threaded</a:t>
            </a:r>
            <a:r>
              <a:rPr lang="en-IN">
                <a:solidFill>
                  <a:srgbClr val="C00000"/>
                </a:solidFill>
              </a:rPr>
              <a:t> </a:t>
            </a:r>
            <a:r>
              <a:rPr lang="en-IN" b="1">
                <a:solidFill>
                  <a:srgbClr val="C00000"/>
                </a:solidFill>
              </a:rPr>
              <a:t>according</a:t>
            </a:r>
            <a:r>
              <a:rPr lang="en-IN">
                <a:solidFill>
                  <a:srgbClr val="C00000"/>
                </a:solidFill>
              </a:rPr>
              <a:t> </a:t>
            </a:r>
            <a:r>
              <a:rPr lang="en-IN"/>
              <a:t>to particular </a:t>
            </a:r>
            <a:r>
              <a:rPr lang="en-IN" b="1">
                <a:solidFill>
                  <a:srgbClr val="C00000"/>
                </a:solidFill>
              </a:rPr>
              <a:t>traversal order</a:t>
            </a:r>
            <a:r>
              <a:rPr lang="en-IN"/>
              <a:t>. e.g.: Threads for the </a:t>
            </a:r>
            <a:r>
              <a:rPr lang="en-IN"/>
              <a:t>inorder</a:t>
            </a:r>
            <a:r>
              <a:rPr lang="en-IN"/>
              <a:t> traversals of tree are pointers to its higher nodes, for this traversal </a:t>
            </a:r>
            <a:r>
              <a:rPr lang="en-IN"/>
              <a:t>order</a:t>
            </a:r>
            <a:endParaRPr/>
          </a:p>
          <a:p>
            <a:pPr>
              <a:defRPr/>
            </a:pPr>
            <a:r>
              <a:rPr lang="en-IN" b="1">
                <a:solidFill>
                  <a:srgbClr val="C00000"/>
                </a:solidFill>
              </a:rPr>
              <a:t>In-Threaded Binary Tree</a:t>
            </a:r>
            <a:endParaRPr/>
          </a:p>
          <a:p>
            <a:pPr lvl="1">
              <a:defRPr/>
            </a:pPr>
            <a:r>
              <a:rPr lang="en-IN" b="1"/>
              <a:t>If left link</a:t>
            </a:r>
            <a:r>
              <a:rPr lang="en-IN"/>
              <a:t> </a:t>
            </a:r>
            <a:r>
              <a:rPr lang="en-IN" b="1"/>
              <a:t>of </a:t>
            </a:r>
            <a:r>
              <a:rPr lang="en-IN" b="1">
                <a:solidFill>
                  <a:srgbClr val="C00000"/>
                </a:solidFill>
              </a:rPr>
              <a:t>node</a:t>
            </a:r>
            <a:r>
              <a:rPr lang="en-IN" b="1">
                <a:solidFill>
                  <a:srgbClr val="FF0000"/>
                </a:solidFill>
              </a:rPr>
              <a:t> </a:t>
            </a:r>
            <a:r>
              <a:rPr lang="en-IN" b="1"/>
              <a:t>P </a:t>
            </a:r>
            <a:r>
              <a:rPr lang="en-IN" b="1">
                <a:solidFill>
                  <a:srgbClr val="C00000"/>
                </a:solidFill>
              </a:rPr>
              <a:t>is null</a:t>
            </a:r>
            <a:r>
              <a:rPr lang="en-IN"/>
              <a:t>, then this link is </a:t>
            </a:r>
            <a:r>
              <a:rPr lang="en-IN" b="1">
                <a:solidFill>
                  <a:srgbClr val="C00000"/>
                </a:solidFill>
              </a:rPr>
              <a:t>replaced</a:t>
            </a:r>
            <a:r>
              <a:rPr lang="en-IN" b="1">
                <a:solidFill>
                  <a:srgbClr val="FF0000"/>
                </a:solidFill>
              </a:rPr>
              <a:t> </a:t>
            </a:r>
            <a:r>
              <a:rPr lang="en-IN" b="1">
                <a:solidFill>
                  <a:srgbClr val="C00000"/>
                </a:solidFill>
              </a:rPr>
              <a:t>by</a:t>
            </a:r>
            <a:r>
              <a:rPr lang="en-IN">
                <a:solidFill>
                  <a:srgbClr val="C00000"/>
                </a:solidFill>
              </a:rPr>
              <a:t> </a:t>
            </a:r>
            <a:r>
              <a:rPr lang="en-IN"/>
              <a:t>the </a:t>
            </a:r>
            <a:r>
              <a:rPr lang="en-IN" b="1">
                <a:solidFill>
                  <a:srgbClr val="C00000"/>
                </a:solidFill>
              </a:rPr>
              <a:t>address</a:t>
            </a:r>
            <a:r>
              <a:rPr lang="en-IN" b="1">
                <a:solidFill>
                  <a:srgbClr val="FF0000"/>
                </a:solidFill>
              </a:rPr>
              <a:t> </a:t>
            </a:r>
            <a:r>
              <a:rPr lang="en-IN" b="1">
                <a:solidFill>
                  <a:srgbClr val="C00000"/>
                </a:solidFill>
              </a:rPr>
              <a:t>of</a:t>
            </a:r>
            <a:r>
              <a:rPr lang="en-IN" b="1">
                <a:solidFill>
                  <a:srgbClr val="FF0000"/>
                </a:solidFill>
              </a:rPr>
              <a:t> </a:t>
            </a:r>
            <a:r>
              <a:rPr lang="en-IN" b="1">
                <a:solidFill>
                  <a:srgbClr val="C00000"/>
                </a:solidFill>
              </a:rPr>
              <a:t>its</a:t>
            </a:r>
            <a:r>
              <a:rPr lang="en-IN" b="1">
                <a:solidFill>
                  <a:srgbClr val="FF0000"/>
                </a:solidFill>
              </a:rPr>
              <a:t> </a:t>
            </a:r>
            <a:r>
              <a:rPr lang="en-IN" b="1">
                <a:solidFill>
                  <a:srgbClr val="C00000"/>
                </a:solidFill>
              </a:rPr>
              <a:t>predecessor</a:t>
            </a:r>
            <a:endParaRPr/>
          </a:p>
          <a:p>
            <a:pPr lvl="1">
              <a:defRPr/>
            </a:pPr>
            <a:r>
              <a:rPr lang="en-IN" b="1"/>
              <a:t>If right link of </a:t>
            </a:r>
            <a:r>
              <a:rPr lang="en-IN" b="1">
                <a:solidFill>
                  <a:srgbClr val="C00000"/>
                </a:solidFill>
              </a:rPr>
              <a:t>node </a:t>
            </a:r>
            <a:r>
              <a:rPr lang="en-IN" b="1"/>
              <a:t>P</a:t>
            </a:r>
            <a:r>
              <a:rPr lang="en-IN" b="1">
                <a:solidFill>
                  <a:srgbClr val="FF0000"/>
                </a:solidFill>
              </a:rPr>
              <a:t> </a:t>
            </a:r>
            <a:r>
              <a:rPr lang="en-IN" b="1">
                <a:solidFill>
                  <a:srgbClr val="C00000"/>
                </a:solidFill>
              </a:rPr>
              <a:t>is null</a:t>
            </a:r>
            <a:r>
              <a:rPr lang="en-IN"/>
              <a:t>, then </a:t>
            </a:r>
            <a:r>
              <a:rPr lang="en-IN"/>
              <a:t>this link is </a:t>
            </a:r>
            <a:r>
              <a:rPr lang="en-IN" b="1">
                <a:solidFill>
                  <a:srgbClr val="C00000"/>
                </a:solidFill>
              </a:rPr>
              <a:t>replaced </a:t>
            </a:r>
            <a:r>
              <a:rPr lang="en-IN" b="1">
                <a:solidFill>
                  <a:srgbClr val="C00000"/>
                </a:solidFill>
              </a:rPr>
              <a:t>by</a:t>
            </a:r>
            <a:r>
              <a:rPr lang="en-IN">
                <a:solidFill>
                  <a:srgbClr val="C00000"/>
                </a:solidFill>
              </a:rPr>
              <a:t> </a:t>
            </a:r>
            <a:r>
              <a:rPr lang="en-IN"/>
              <a:t>the </a:t>
            </a:r>
            <a:r>
              <a:rPr lang="en-IN" b="1">
                <a:solidFill>
                  <a:srgbClr val="C00000"/>
                </a:solidFill>
              </a:rPr>
              <a:t>address of its </a:t>
            </a:r>
            <a:r>
              <a:rPr lang="en-IN" b="1">
                <a:solidFill>
                  <a:srgbClr val="C00000"/>
                </a:solidFill>
              </a:rPr>
              <a:t>successor</a:t>
            </a:r>
            <a:endParaRPr/>
          </a:p>
          <a:p>
            <a:pPr>
              <a:defRPr/>
            </a:pPr>
            <a:r>
              <a:rPr lang="en-IN"/>
              <a:t>Because the left or right </a:t>
            </a:r>
            <a:r>
              <a:rPr lang="en-IN" b="1"/>
              <a:t>link</a:t>
            </a:r>
            <a:r>
              <a:rPr lang="en-IN"/>
              <a:t> of </a:t>
            </a:r>
            <a:r>
              <a:rPr lang="en-IN" b="1"/>
              <a:t>a node </a:t>
            </a:r>
            <a:r>
              <a:rPr lang="en-IN"/>
              <a:t>can denote </a:t>
            </a:r>
            <a:r>
              <a:rPr lang="en-IN" b="1">
                <a:solidFill>
                  <a:srgbClr val="C00000"/>
                </a:solidFill>
              </a:rPr>
              <a:t>either structural link </a:t>
            </a:r>
            <a:r>
              <a:rPr lang="en-IN"/>
              <a:t>or </a:t>
            </a:r>
            <a:r>
              <a:rPr lang="en-IN" b="1">
                <a:solidFill>
                  <a:srgbClr val="C00000"/>
                </a:solidFill>
              </a:rPr>
              <a:t>a thread</a:t>
            </a:r>
            <a:r>
              <a:rPr lang="en-IN"/>
              <a:t>, we must somehow be able to distinguish them</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881695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881695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8816951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8816951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8816951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8816951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920084650" name="Title 1"/>
          <p:cNvSpPr>
            <a:spLocks noGrp="1"/>
          </p:cNvSpPr>
          <p:nvPr>
            <p:ph type="title"/>
          </p:nvPr>
        </p:nvSpPr>
        <p:spPr bwMode="auto"/>
        <p:txBody>
          <a:bodyPr/>
          <a:lstStyle/>
          <a:p>
            <a:pPr>
              <a:defRPr/>
            </a:pPr>
            <a:r>
              <a:rPr lang="en-US"/>
              <a:t>Threaded Binary Tree</a:t>
            </a:r>
            <a:endParaRPr/>
          </a:p>
        </p:txBody>
      </p:sp>
      <p:sp>
        <p:nvSpPr>
          <p:cNvPr id="394141511" name="Content Placeholder 2"/>
          <p:cNvSpPr>
            <a:spLocks noGrp="1"/>
          </p:cNvSpPr>
          <p:nvPr>
            <p:ph idx="1"/>
          </p:nvPr>
        </p:nvSpPr>
        <p:spPr bwMode="auto"/>
        <p:txBody>
          <a:bodyPr/>
          <a:lstStyle/>
          <a:p>
            <a:pPr>
              <a:defRPr/>
            </a:pPr>
            <a:r>
              <a:rPr lang="en-IN" b="1"/>
              <a:t>Method 1:- </a:t>
            </a:r>
            <a:r>
              <a:rPr lang="en-IN"/>
              <a:t>Represent </a:t>
            </a:r>
            <a:r>
              <a:rPr lang="en-IN" b="1">
                <a:solidFill>
                  <a:srgbClr val="C00000"/>
                </a:solidFill>
              </a:rPr>
              <a:t>thread a </a:t>
            </a:r>
            <a:r>
              <a:rPr lang="en-IN" b="1">
                <a:solidFill>
                  <a:srgbClr val="C00000"/>
                </a:solidFill>
              </a:rPr>
              <a:t>Negative address</a:t>
            </a:r>
            <a:endParaRPr lang="en-IN">
              <a:solidFill>
                <a:srgbClr val="C00000"/>
              </a:solidFill>
            </a:endParaRPr>
          </a:p>
          <a:p>
            <a:pPr>
              <a:defRPr/>
            </a:pPr>
            <a:r>
              <a:rPr lang="en-IN" b="1"/>
              <a:t>Method </a:t>
            </a:r>
            <a:r>
              <a:rPr lang="en-IN" b="1"/>
              <a:t>2:- </a:t>
            </a:r>
            <a:r>
              <a:rPr lang="en-IN"/>
              <a:t>To have a </a:t>
            </a:r>
            <a:r>
              <a:rPr lang="en-IN" b="1">
                <a:solidFill>
                  <a:srgbClr val="C00000"/>
                </a:solidFill>
              </a:rPr>
              <a:t>separate Boolean flag </a:t>
            </a:r>
            <a:r>
              <a:rPr lang="en-IN"/>
              <a:t>for each of left and right pointers, node structure for this is given </a:t>
            </a:r>
            <a:r>
              <a:rPr lang="en-IN"/>
              <a:t>below</a:t>
            </a:r>
            <a:endParaRPr lang="en-US"/>
          </a:p>
        </p:txBody>
      </p:sp>
      <p:sp>
        <p:nvSpPr>
          <p:cNvPr id="1614113479" name="Rectangle 4"/>
          <p:cNvSpPr/>
          <p:nvPr/>
        </p:nvSpPr>
        <p:spPr bwMode="auto">
          <a:xfrm>
            <a:off x="5377654" y="2469630"/>
            <a:ext cx="1440000"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DATA</a:t>
            </a:r>
            <a:endParaRPr lang="en-US" sz="2000" b="1"/>
          </a:p>
        </p:txBody>
      </p:sp>
      <p:sp>
        <p:nvSpPr>
          <p:cNvPr id="1890161314" name="Rectangle 5"/>
          <p:cNvSpPr/>
          <p:nvPr/>
        </p:nvSpPr>
        <p:spPr bwMode="auto">
          <a:xfrm>
            <a:off x="3942914" y="2469630"/>
            <a:ext cx="1440000"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LTHREAD</a:t>
            </a:r>
            <a:endParaRPr lang="en-US" sz="2000" b="1"/>
          </a:p>
        </p:txBody>
      </p:sp>
      <p:sp>
        <p:nvSpPr>
          <p:cNvPr id="1555774453" name="Rectangle 6"/>
          <p:cNvSpPr/>
          <p:nvPr/>
        </p:nvSpPr>
        <p:spPr bwMode="auto">
          <a:xfrm>
            <a:off x="8256010" y="2469630"/>
            <a:ext cx="1440000"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RPTR</a:t>
            </a:r>
            <a:endParaRPr lang="en-US" sz="2000" b="1"/>
          </a:p>
        </p:txBody>
      </p:sp>
      <p:sp>
        <p:nvSpPr>
          <p:cNvPr id="98749742" name="TextBox 7"/>
          <p:cNvSpPr txBox="1"/>
          <p:nvPr/>
        </p:nvSpPr>
        <p:spPr bwMode="auto">
          <a:xfrm>
            <a:off x="3644153" y="2998635"/>
            <a:ext cx="4477000" cy="400110"/>
          </a:xfrm>
          <a:prstGeom prst="rect">
            <a:avLst/>
          </a:prstGeom>
          <a:noFill/>
        </p:spPr>
        <p:txBody>
          <a:bodyPr wrap="square" rtlCol="0">
            <a:spAutoFit/>
          </a:bodyPr>
          <a:lstStyle/>
          <a:p>
            <a:pPr algn="ctr">
              <a:defRPr/>
            </a:pPr>
            <a:r>
              <a:rPr lang="en-IN" sz="2000" b="1"/>
              <a:t>Typical node of Threaded Binary Tree</a:t>
            </a:r>
            <a:endParaRPr lang="en-US" sz="2000" b="1"/>
          </a:p>
        </p:txBody>
      </p:sp>
      <p:sp>
        <p:nvSpPr>
          <p:cNvPr id="1854511605" name="Rectangle 8"/>
          <p:cNvSpPr/>
          <p:nvPr/>
        </p:nvSpPr>
        <p:spPr bwMode="auto">
          <a:xfrm>
            <a:off x="2501159" y="2469630"/>
            <a:ext cx="1440000"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LPTR</a:t>
            </a:r>
            <a:endParaRPr lang="en-US" sz="2000" b="1"/>
          </a:p>
        </p:txBody>
      </p:sp>
      <p:sp>
        <p:nvSpPr>
          <p:cNvPr id="1033445141" name="Rectangle 9"/>
          <p:cNvSpPr/>
          <p:nvPr/>
        </p:nvSpPr>
        <p:spPr bwMode="auto">
          <a:xfrm>
            <a:off x="6819072" y="2469630"/>
            <a:ext cx="1440000" cy="468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RTHREAD</a:t>
            </a:r>
            <a:endParaRPr lang="en-US" sz="2000" b="1"/>
          </a:p>
        </p:txBody>
      </p:sp>
      <p:sp>
        <p:nvSpPr>
          <p:cNvPr id="585449813" name="TextBox 10"/>
          <p:cNvSpPr txBox="1"/>
          <p:nvPr/>
        </p:nvSpPr>
        <p:spPr bwMode="auto">
          <a:xfrm>
            <a:off x="3453510" y="3600272"/>
            <a:ext cx="4852290" cy="1200329"/>
          </a:xfrm>
          <a:prstGeom prst="rect">
            <a:avLst/>
          </a:prstGeom>
          <a:noFill/>
        </p:spPr>
        <p:txBody>
          <a:bodyPr wrap="none" rtlCol="0">
            <a:spAutoFit/>
          </a:bodyPr>
          <a:lstStyle/>
          <a:p>
            <a:pPr marL="285750" indent="-285750">
              <a:buFont typeface="Arial"/>
              <a:buChar char="•"/>
              <a:defRPr/>
            </a:pPr>
            <a:r>
              <a:rPr lang="en-US" b="1"/>
              <a:t>LTHREAD = true = </a:t>
            </a:r>
            <a:r>
              <a:rPr lang="en-US"/>
              <a:t>Denotes leaf thread link</a:t>
            </a:r>
            <a:endParaRPr/>
          </a:p>
          <a:p>
            <a:pPr marL="285750" indent="-285750">
              <a:buFont typeface="Arial"/>
              <a:buChar char="•"/>
              <a:defRPr/>
            </a:pPr>
            <a:r>
              <a:rPr lang="en-US" b="1"/>
              <a:t>LTHREAD = false =</a:t>
            </a:r>
            <a:r>
              <a:rPr lang="en-US"/>
              <a:t> Denotes leaf structural link</a:t>
            </a:r>
            <a:endParaRPr/>
          </a:p>
          <a:p>
            <a:pPr marL="285750" indent="-285750">
              <a:buFont typeface="Arial"/>
              <a:buChar char="•"/>
              <a:defRPr/>
            </a:pPr>
            <a:r>
              <a:rPr lang="en-US" b="1"/>
              <a:t>RTHREAD = true =</a:t>
            </a:r>
            <a:r>
              <a:rPr lang="en-US"/>
              <a:t> Denotes right threaded link</a:t>
            </a:r>
            <a:endParaRPr/>
          </a:p>
          <a:p>
            <a:pPr marL="285750" indent="-285750">
              <a:buFont typeface="Arial"/>
              <a:buChar char="•"/>
              <a:defRPr/>
            </a:pPr>
            <a:r>
              <a:rPr lang="en-US" b="1"/>
              <a:t>RTHREAD = false =</a:t>
            </a:r>
            <a:r>
              <a:rPr lang="en-US"/>
              <a:t> Denotes right structural link</a:t>
            </a:r>
            <a:endParaRPr/>
          </a:p>
        </p:txBody>
      </p:sp>
      <p:sp>
        <p:nvSpPr>
          <p:cNvPr id="993657146" name="TextBox 11"/>
          <p:cNvSpPr txBox="1"/>
          <p:nvPr/>
        </p:nvSpPr>
        <p:spPr bwMode="auto">
          <a:xfrm>
            <a:off x="860399" y="5261836"/>
            <a:ext cx="7260754" cy="1015663"/>
          </a:xfrm>
          <a:prstGeom prst="rect">
            <a:avLst/>
          </a:prstGeom>
          <a:noFill/>
        </p:spPr>
        <p:txBody>
          <a:bodyPr wrap="square" rtlCol="0">
            <a:spAutoFit/>
          </a:bodyPr>
          <a:lstStyle/>
          <a:p>
            <a:pPr lvl="0" algn="ctr">
              <a:defRPr/>
            </a:pPr>
            <a:r>
              <a:rPr lang="en-US" sz="2000" b="1"/>
              <a:t>Head node is simply another node which serves as the </a:t>
            </a:r>
            <a:r>
              <a:rPr lang="en-US" sz="2000" b="1"/>
              <a:t>predecessor and </a:t>
            </a:r>
            <a:r>
              <a:rPr lang="en-US" sz="2000" b="1"/>
              <a:t>successor of first and last tree </a:t>
            </a:r>
            <a:r>
              <a:rPr lang="en-US" sz="2000" b="1"/>
              <a:t>nodes. </a:t>
            </a:r>
            <a:endParaRPr/>
          </a:p>
          <a:p>
            <a:pPr lvl="0" algn="ctr">
              <a:defRPr/>
            </a:pPr>
            <a:r>
              <a:rPr lang="en-US" sz="2000" b="1"/>
              <a:t>Tree </a:t>
            </a:r>
            <a:r>
              <a:rPr lang="en-US" sz="2000" b="1"/>
              <a:t>is attached to the left branch of the head </a:t>
            </a:r>
            <a:r>
              <a:rPr lang="en-US" sz="2000" b="1"/>
              <a:t>node.</a:t>
            </a:r>
            <a:endParaRPr lang="en-US" sz="2000" b="1"/>
          </a:p>
        </p:txBody>
      </p:sp>
      <p:grpSp>
        <p:nvGrpSpPr>
          <p:cNvPr id="1295997886" name="Group 12"/>
          <p:cNvGrpSpPr/>
          <p:nvPr/>
        </p:nvGrpSpPr>
        <p:grpSpPr bwMode="auto">
          <a:xfrm>
            <a:off x="9544226" y="4164837"/>
            <a:ext cx="2083904" cy="381000"/>
            <a:chOff x="-76200" y="4191000"/>
            <a:chExt cx="1997075" cy="381000"/>
          </a:xfrm>
        </p:grpSpPr>
        <p:sp>
          <p:nvSpPr>
            <p:cNvPr id="14" name="Rectangle 13"/>
            <p:cNvSpPr/>
            <p:nvPr/>
          </p:nvSpPr>
          <p:spPr bwMode="auto">
            <a:xfrm>
              <a:off x="609599" y="4191000"/>
              <a:ext cx="628650" cy="381000"/>
            </a:xfrm>
            <a:prstGeom prst="rect">
              <a:avLst/>
            </a:prstGeom>
            <a:pattFill prst="wdUpDiag">
              <a:fgClr>
                <a:schemeClr val="tx1">
                  <a:lumMod val="95000"/>
                  <a:lumOff val="5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700" b="1"/>
            </a:p>
          </p:txBody>
        </p:sp>
        <p:sp>
          <p:nvSpPr>
            <p:cNvPr id="15" name="Rectangle 14"/>
            <p:cNvSpPr/>
            <p:nvPr/>
          </p:nvSpPr>
          <p:spPr bwMode="auto">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16" name="Rectangle 15"/>
            <p:cNvSpPr/>
            <p:nvPr/>
          </p:nvSpPr>
          <p:spPr bwMode="auto">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grpSp>
      <p:cxnSp>
        <p:nvCxnSpPr>
          <p:cNvPr id="564922798" name="Curved Connector 18"/>
          <p:cNvCxnSpPr>
            <a:stCxn id="16" idx="3"/>
            <a:endCxn id="14" idx="2"/>
          </p:cNvCxnSpPr>
          <p:nvPr/>
        </p:nvCxnSpPr>
        <p:spPr bwMode="auto">
          <a:xfrm flipH="1">
            <a:off x="10587834" y="4355337"/>
            <a:ext cx="1040296" cy="190500"/>
          </a:xfrm>
          <a:prstGeom prst="curvedConnector4">
            <a:avLst>
              <a:gd name="adj1" fmla="val -10559"/>
              <a:gd name="adj2" fmla="val 388312"/>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cxnSp>
        <p:nvCxnSpPr>
          <p:cNvPr id="104242558" name="Curved Connector 24"/>
          <p:cNvCxnSpPr>
            <a:stCxn id="15" idx="1"/>
            <a:endCxn id="14" idx="2"/>
          </p:cNvCxnSpPr>
          <p:nvPr/>
        </p:nvCxnSpPr>
        <p:spPr bwMode="auto">
          <a:xfrm rot="10800000" flipH="1" flipV="1">
            <a:off x="9544226" y="4355337"/>
            <a:ext cx="1043608" cy="190500"/>
          </a:xfrm>
          <a:prstGeom prst="curvedConnector4">
            <a:avLst>
              <a:gd name="adj1" fmla="val -19629"/>
              <a:gd name="adj2" fmla="val 357143"/>
            </a:avLst>
          </a:pr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cxnSp>
      <p:sp>
        <p:nvSpPr>
          <p:cNvPr id="1436955567" name="TextBox 31"/>
          <p:cNvSpPr txBox="1"/>
          <p:nvPr/>
        </p:nvSpPr>
        <p:spPr bwMode="auto">
          <a:xfrm>
            <a:off x="10208252" y="3719305"/>
            <a:ext cx="725263" cy="369332"/>
          </a:xfrm>
          <a:prstGeom prst="rect">
            <a:avLst/>
          </a:prstGeom>
          <a:noFill/>
        </p:spPr>
        <p:txBody>
          <a:bodyPr wrap="none" rtlCol="0">
            <a:spAutoFit/>
          </a:bodyPr>
          <a:lstStyle/>
          <a:p>
            <a:pPr algn="ctr">
              <a:defRPr/>
            </a:pPr>
            <a:r>
              <a:rPr lang="en-IN" b="1"/>
              <a:t>HEAD</a:t>
            </a:r>
            <a:endParaRPr lang="en-US"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41415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414151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1411347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901613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5577445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854511605"/>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3344514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9874974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585449813">
                                            <p:txEl>
                                              <p:pRg st="0" end="0"/>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585449813">
                                            <p:txEl>
                                              <p:pRg st="1" end="1"/>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585449813">
                                            <p:txEl>
                                              <p:pRg st="2" end="2"/>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585449813">
                                            <p:txEl>
                                              <p:pRg st="3" end="3"/>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993657146">
                                            <p:txEl>
                                              <p:pRg st="0" end="0"/>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0"/>
                                          </p:stCondLst>
                                        </p:cTn>
                                        <p:tgtEl>
                                          <p:spTgt spid="993657146">
                                            <p:txEl>
                                              <p:pRg st="1" end="1"/>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nodeType="clickEffect">
                                  <p:stCondLst>
                                    <p:cond delay="0"/>
                                  </p:stCondLst>
                                  <p:childTnLst>
                                    <p:set>
                                      <p:cBhvr>
                                        <p:cTn id="52" dur="1" fill="hold">
                                          <p:stCondLst>
                                            <p:cond delay="0"/>
                                          </p:stCondLst>
                                        </p:cTn>
                                        <p:tgtEl>
                                          <p:spTgt spid="1295997886"/>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56492279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4242558"/>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4369555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4113479" grpId="0" animBg="1"/>
      <p:bldP spid="1890161314" grpId="0" animBg="1"/>
      <p:bldP spid="1555774453" grpId="0" animBg="1"/>
      <p:bldP spid="98749742" grpId="0"/>
      <p:bldP spid="1854511605" grpId="0" animBg="1"/>
      <p:bldP spid="1033445141" grpId="0" animBg="1"/>
      <p:bldP spid="1436955567" grpId="0"/>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795302160" name="Title 1"/>
          <p:cNvSpPr>
            <a:spLocks noGrp="1"/>
          </p:cNvSpPr>
          <p:nvPr>
            <p:ph type="title"/>
          </p:nvPr>
        </p:nvSpPr>
        <p:spPr bwMode="auto"/>
        <p:txBody>
          <a:bodyPr/>
          <a:lstStyle/>
          <a:p>
            <a:pPr>
              <a:defRPr/>
            </a:pPr>
            <a:r>
              <a:rPr lang="en-US"/>
              <a:t>Threaded Binary Tree</a:t>
            </a:r>
            <a:endParaRPr/>
          </a:p>
        </p:txBody>
      </p:sp>
      <p:sp>
        <p:nvSpPr>
          <p:cNvPr id="1202509888" name="Oval 3"/>
          <p:cNvSpPr/>
          <p:nvPr/>
        </p:nvSpPr>
        <p:spPr bwMode="auto">
          <a:xfrm>
            <a:off x="1806391" y="115466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1839770994" name="Oval 4"/>
          <p:cNvSpPr/>
          <p:nvPr/>
        </p:nvSpPr>
        <p:spPr bwMode="auto">
          <a:xfrm>
            <a:off x="1317815" y="21183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1295424736" name="Oval 5"/>
          <p:cNvSpPr/>
          <p:nvPr/>
        </p:nvSpPr>
        <p:spPr bwMode="auto">
          <a:xfrm>
            <a:off x="842686" y="300139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1223401234" name="Oval 6"/>
          <p:cNvSpPr/>
          <p:nvPr/>
        </p:nvSpPr>
        <p:spPr bwMode="auto">
          <a:xfrm>
            <a:off x="1958791" y="300139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1445052847" name="Oval 7"/>
          <p:cNvSpPr/>
          <p:nvPr/>
        </p:nvSpPr>
        <p:spPr bwMode="auto">
          <a:xfrm>
            <a:off x="2382373" y="21183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2107728951" name="Oval 8"/>
          <p:cNvSpPr/>
          <p:nvPr/>
        </p:nvSpPr>
        <p:spPr bwMode="auto">
          <a:xfrm>
            <a:off x="2819402" y="300139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983983384" name="Oval 9"/>
          <p:cNvSpPr/>
          <p:nvPr/>
        </p:nvSpPr>
        <p:spPr bwMode="auto">
          <a:xfrm>
            <a:off x="2382373" y="3844078"/>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cxnSp>
        <p:nvCxnSpPr>
          <p:cNvPr id="582953852" name="Straight Arrow Connector 10"/>
          <p:cNvCxnSpPr>
            <a:stCxn id="1202509888" idx="3"/>
            <a:endCxn id="1839770994" idx="0"/>
          </p:cNvCxnSpPr>
          <p:nvPr/>
        </p:nvCxnSpPr>
        <p:spPr bwMode="auto">
          <a:xfrm flipH="1">
            <a:off x="1598615" y="1634024"/>
            <a:ext cx="290020" cy="48434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14909069" name="Straight Arrow Connector 11"/>
          <p:cNvCxnSpPr>
            <a:stCxn id="1839770994" idx="3"/>
            <a:endCxn id="1295424736" idx="0"/>
          </p:cNvCxnSpPr>
          <p:nvPr/>
        </p:nvCxnSpPr>
        <p:spPr bwMode="auto">
          <a:xfrm flipH="1">
            <a:off x="1123486" y="2597729"/>
            <a:ext cx="276573" cy="403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27422336" name="Straight Arrow Connector 12"/>
          <p:cNvCxnSpPr>
            <a:stCxn id="1202509888" idx="5"/>
            <a:endCxn id="1445052847" idx="0"/>
          </p:cNvCxnSpPr>
          <p:nvPr/>
        </p:nvCxnSpPr>
        <p:spPr bwMode="auto">
          <a:xfrm>
            <a:off x="2285747" y="1634024"/>
            <a:ext cx="377426" cy="48434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23064034" name="Straight Arrow Connector 13"/>
          <p:cNvCxnSpPr>
            <a:stCxn id="1445052847" idx="3"/>
            <a:endCxn id="1223401234" idx="0"/>
          </p:cNvCxnSpPr>
          <p:nvPr/>
        </p:nvCxnSpPr>
        <p:spPr bwMode="auto">
          <a:xfrm flipH="1">
            <a:off x="2239591" y="2597729"/>
            <a:ext cx="225026" cy="403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1725994" name="Straight Arrow Connector 14"/>
          <p:cNvCxnSpPr>
            <a:stCxn id="1445052847" idx="5"/>
            <a:endCxn id="2107728951" idx="0"/>
          </p:cNvCxnSpPr>
          <p:nvPr/>
        </p:nvCxnSpPr>
        <p:spPr bwMode="auto">
          <a:xfrm>
            <a:off x="2861729" y="2597729"/>
            <a:ext cx="238473" cy="40366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03219719" name="Straight Arrow Connector 15"/>
          <p:cNvCxnSpPr>
            <a:stCxn id="1223401234" idx="5"/>
            <a:endCxn id="983983384" idx="0"/>
          </p:cNvCxnSpPr>
          <p:nvPr/>
        </p:nvCxnSpPr>
        <p:spPr bwMode="auto">
          <a:xfrm>
            <a:off x="2438147" y="3480752"/>
            <a:ext cx="225026" cy="36332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2040338875" name="Group 21"/>
          <p:cNvGrpSpPr/>
          <p:nvPr/>
        </p:nvGrpSpPr>
        <p:grpSpPr bwMode="auto">
          <a:xfrm>
            <a:off x="7162798" y="2335306"/>
            <a:ext cx="1066800" cy="381000"/>
            <a:chOff x="304800" y="4191000"/>
            <a:chExt cx="1066800" cy="381000"/>
          </a:xfrm>
        </p:grpSpPr>
        <p:sp>
          <p:nvSpPr>
            <p:cNvPr id="23" name="Rectangle 22"/>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24" name="Rectangle 23"/>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25" name="Rectangle 24"/>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389814953" name="Group 25"/>
          <p:cNvGrpSpPr/>
          <p:nvPr/>
        </p:nvGrpSpPr>
        <p:grpSpPr bwMode="auto">
          <a:xfrm>
            <a:off x="5943598" y="3325906"/>
            <a:ext cx="1066800" cy="381000"/>
            <a:chOff x="304800" y="4191000"/>
            <a:chExt cx="1066800" cy="381000"/>
          </a:xfrm>
        </p:grpSpPr>
        <p:sp>
          <p:nvSpPr>
            <p:cNvPr id="27" name="Rectangle 26"/>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28" name="Rectangle 27"/>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29" name="Rectangle 28"/>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471329801" name="Group 29"/>
          <p:cNvGrpSpPr/>
          <p:nvPr/>
        </p:nvGrpSpPr>
        <p:grpSpPr bwMode="auto">
          <a:xfrm>
            <a:off x="8305798" y="3325906"/>
            <a:ext cx="1066800" cy="381000"/>
            <a:chOff x="304800" y="4191000"/>
            <a:chExt cx="1066800" cy="381000"/>
          </a:xfrm>
        </p:grpSpPr>
        <p:sp>
          <p:nvSpPr>
            <p:cNvPr id="31" name="Rectangle 30"/>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32" name="Rectangle 31"/>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33" name="Rectangle 32"/>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896680061" name="Group 33"/>
          <p:cNvGrpSpPr/>
          <p:nvPr/>
        </p:nvGrpSpPr>
        <p:grpSpPr bwMode="auto">
          <a:xfrm>
            <a:off x="4952998" y="4468906"/>
            <a:ext cx="1066800" cy="381000"/>
            <a:chOff x="304800" y="4191000"/>
            <a:chExt cx="1066800" cy="381000"/>
          </a:xfrm>
        </p:grpSpPr>
        <p:sp>
          <p:nvSpPr>
            <p:cNvPr id="35" name="Rectangle 34"/>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36" name="Rectangle 35"/>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37" name="Rectangle 36"/>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335908565" name="Group 37"/>
          <p:cNvGrpSpPr/>
          <p:nvPr/>
        </p:nvGrpSpPr>
        <p:grpSpPr bwMode="auto">
          <a:xfrm>
            <a:off x="7391398" y="4468906"/>
            <a:ext cx="1066800" cy="381000"/>
            <a:chOff x="304800" y="4191000"/>
            <a:chExt cx="1066800" cy="381000"/>
          </a:xfrm>
        </p:grpSpPr>
        <p:sp>
          <p:nvSpPr>
            <p:cNvPr id="39" name="Rectangle 38"/>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40" name="Rectangle 39"/>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1" name="Rectangle 40"/>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90408458" name="Group 41"/>
          <p:cNvGrpSpPr/>
          <p:nvPr/>
        </p:nvGrpSpPr>
        <p:grpSpPr bwMode="auto">
          <a:xfrm>
            <a:off x="9372597" y="4468906"/>
            <a:ext cx="1066800" cy="381000"/>
            <a:chOff x="304800" y="4191000"/>
            <a:chExt cx="1066800" cy="381000"/>
          </a:xfrm>
        </p:grpSpPr>
        <p:sp>
          <p:nvSpPr>
            <p:cNvPr id="43" name="Rectangle 42"/>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44" name="Rectangle 43"/>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5" name="Rectangle 44"/>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729387618" name="Group 45"/>
          <p:cNvGrpSpPr/>
          <p:nvPr/>
        </p:nvGrpSpPr>
        <p:grpSpPr bwMode="auto">
          <a:xfrm>
            <a:off x="8381998" y="5535706"/>
            <a:ext cx="1066800" cy="381000"/>
            <a:chOff x="304800" y="4191000"/>
            <a:chExt cx="1066800" cy="381000"/>
          </a:xfrm>
        </p:grpSpPr>
        <p:sp>
          <p:nvSpPr>
            <p:cNvPr id="47" name="Rectangle 46"/>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sp>
          <p:nvSpPr>
            <p:cNvPr id="48" name="Rectangle 47"/>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9" name="Rectangle 48"/>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sp>
        <p:nvSpPr>
          <p:cNvPr id="2122880895" name="Freeform 49"/>
          <p:cNvSpPr/>
          <p:nvPr/>
        </p:nvSpPr>
        <p:spPr bwMode="auto">
          <a:xfrm>
            <a:off x="6464654" y="2511611"/>
            <a:ext cx="829994" cy="825964"/>
          </a:xfrm>
          <a:custGeom>
            <a:avLst/>
            <a:gdLst>
              <a:gd name="connsiteX0" fmla="*/ 829994 w 829994"/>
              <a:gd name="connsiteY0" fmla="*/ 0 h 1125416"/>
              <a:gd name="connsiteX1" fmla="*/ 0 w 829994"/>
              <a:gd name="connsiteY1" fmla="*/ 0 h 1125416"/>
              <a:gd name="connsiteX2" fmla="*/ 0 w 829994"/>
              <a:gd name="connsiteY2" fmla="*/ 1125416 h 1125416"/>
            </a:gdLst>
            <a:ahLst/>
            <a:cxnLst>
              <a:cxn ang="0">
                <a:pos x="connsiteX0" y="connsiteY0"/>
              </a:cxn>
              <a:cxn ang="0">
                <a:pos x="connsiteX1" y="connsiteY1"/>
              </a:cxn>
              <a:cxn ang="0">
                <a:pos x="connsiteX2" y="connsiteY2"/>
              </a:cxn>
            </a:cxnLst>
            <a:rect l="l" t="t" r="r" b="b"/>
            <a:pathLst>
              <a:path w="829994" h="1125416" fill="norm" stroke="1" extrusionOk="0">
                <a:moveTo>
                  <a:pt x="829994" y="0"/>
                </a:moveTo>
                <a:lnTo>
                  <a:pt x="0" y="0"/>
                </a:lnTo>
                <a:lnTo>
                  <a:pt x="0" y="112541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487566113" name="Freeform 50"/>
          <p:cNvSpPr/>
          <p:nvPr/>
        </p:nvSpPr>
        <p:spPr bwMode="auto">
          <a:xfrm>
            <a:off x="5511018" y="3497063"/>
            <a:ext cx="508780" cy="974188"/>
          </a:xfrm>
          <a:custGeom>
            <a:avLst/>
            <a:gdLst>
              <a:gd name="connsiteX0" fmla="*/ 661181 w 661181"/>
              <a:gd name="connsiteY0" fmla="*/ 0 h 1181686"/>
              <a:gd name="connsiteX1" fmla="*/ 0 w 661181"/>
              <a:gd name="connsiteY1" fmla="*/ 0 h 1181686"/>
              <a:gd name="connsiteX2" fmla="*/ 0 w 661181"/>
              <a:gd name="connsiteY2" fmla="*/ 1181686 h 1181686"/>
            </a:gdLst>
            <a:ahLst/>
            <a:cxnLst>
              <a:cxn ang="0">
                <a:pos x="connsiteX0" y="connsiteY0"/>
              </a:cxn>
              <a:cxn ang="0">
                <a:pos x="connsiteX1" y="connsiteY1"/>
              </a:cxn>
              <a:cxn ang="0">
                <a:pos x="connsiteX2" y="connsiteY2"/>
              </a:cxn>
            </a:cxnLst>
            <a:rect l="l" t="t" r="r" b="b"/>
            <a:pathLst>
              <a:path w="661181" h="1181686" fill="norm" stroke="1" extrusionOk="0">
                <a:moveTo>
                  <a:pt x="661181" y="0"/>
                </a:moveTo>
                <a:lnTo>
                  <a:pt x="0" y="0"/>
                </a:lnTo>
                <a:lnTo>
                  <a:pt x="0" y="118168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1498874306" name="Freeform 51"/>
          <p:cNvSpPr/>
          <p:nvPr/>
        </p:nvSpPr>
        <p:spPr bwMode="auto">
          <a:xfrm>
            <a:off x="8083060" y="2511611"/>
            <a:ext cx="731520" cy="825964"/>
          </a:xfrm>
          <a:custGeom>
            <a:avLst/>
            <a:gdLst>
              <a:gd name="connsiteX0" fmla="*/ 0 w 731520"/>
              <a:gd name="connsiteY0" fmla="*/ 0 h 1111347"/>
              <a:gd name="connsiteX1" fmla="*/ 731520 w 731520"/>
              <a:gd name="connsiteY1" fmla="*/ 0 h 1111347"/>
              <a:gd name="connsiteX2" fmla="*/ 731520 w 731520"/>
              <a:gd name="connsiteY2" fmla="*/ 1111347 h 1111347"/>
            </a:gdLst>
            <a:ahLst/>
            <a:cxnLst>
              <a:cxn ang="0">
                <a:pos x="connsiteX0" y="connsiteY0"/>
              </a:cxn>
              <a:cxn ang="0">
                <a:pos x="connsiteX1" y="connsiteY1"/>
              </a:cxn>
              <a:cxn ang="0">
                <a:pos x="connsiteX2" y="connsiteY2"/>
              </a:cxn>
            </a:cxnLst>
            <a:rect l="l" t="t" r="r" b="b"/>
            <a:pathLst>
              <a:path w="731520" h="1111347" fill="norm" stroke="1" extrusionOk="0">
                <a:moveTo>
                  <a:pt x="0" y="0"/>
                </a:moveTo>
                <a:lnTo>
                  <a:pt x="731520" y="0"/>
                </a:lnTo>
                <a:lnTo>
                  <a:pt x="731520" y="111134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906858851" name="Freeform 52"/>
          <p:cNvSpPr/>
          <p:nvPr/>
        </p:nvSpPr>
        <p:spPr bwMode="auto">
          <a:xfrm>
            <a:off x="7886111" y="3525199"/>
            <a:ext cx="534572" cy="946053"/>
          </a:xfrm>
          <a:custGeom>
            <a:avLst/>
            <a:gdLst>
              <a:gd name="connsiteX0" fmla="*/ 534572 w 534572"/>
              <a:gd name="connsiteY0" fmla="*/ 0 h 1139483"/>
              <a:gd name="connsiteX1" fmla="*/ 0 w 534572"/>
              <a:gd name="connsiteY1" fmla="*/ 0 h 1139483"/>
              <a:gd name="connsiteX2" fmla="*/ 0 w 534572"/>
              <a:gd name="connsiteY2" fmla="*/ 1139483 h 1139483"/>
            </a:gdLst>
            <a:ahLst/>
            <a:cxnLst>
              <a:cxn ang="0">
                <a:pos x="connsiteX0" y="connsiteY0"/>
              </a:cxn>
              <a:cxn ang="0">
                <a:pos x="connsiteX1" y="connsiteY1"/>
              </a:cxn>
              <a:cxn ang="0">
                <a:pos x="connsiteX2" y="connsiteY2"/>
              </a:cxn>
            </a:cxnLst>
            <a:rect l="l" t="t" r="r" b="b"/>
            <a:pathLst>
              <a:path w="534572" h="1139483" fill="norm" stroke="1" extrusionOk="0">
                <a:moveTo>
                  <a:pt x="534572" y="0"/>
                </a:moveTo>
                <a:lnTo>
                  <a:pt x="0" y="0"/>
                </a:lnTo>
                <a:lnTo>
                  <a:pt x="0"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317582107" name="Freeform 53"/>
          <p:cNvSpPr/>
          <p:nvPr/>
        </p:nvSpPr>
        <p:spPr bwMode="auto">
          <a:xfrm>
            <a:off x="9236610" y="3482996"/>
            <a:ext cx="647114" cy="988256"/>
          </a:xfrm>
          <a:custGeom>
            <a:avLst/>
            <a:gdLst>
              <a:gd name="connsiteX0" fmla="*/ 0 w 647114"/>
              <a:gd name="connsiteY0" fmla="*/ 0 h 1223889"/>
              <a:gd name="connsiteX1" fmla="*/ 647114 w 647114"/>
              <a:gd name="connsiteY1" fmla="*/ 0 h 1223889"/>
              <a:gd name="connsiteX2" fmla="*/ 647114 w 647114"/>
              <a:gd name="connsiteY2" fmla="*/ 1223889 h 1223889"/>
            </a:gdLst>
            <a:ahLst/>
            <a:cxnLst>
              <a:cxn ang="0">
                <a:pos x="connsiteX0" y="connsiteY0"/>
              </a:cxn>
              <a:cxn ang="0">
                <a:pos x="connsiteX1" y="connsiteY1"/>
              </a:cxn>
              <a:cxn ang="0">
                <a:pos x="connsiteX2" y="connsiteY2"/>
              </a:cxn>
            </a:cxnLst>
            <a:rect l="l" t="t" r="r" b="b"/>
            <a:pathLst>
              <a:path w="647114" h="1223889" fill="norm" stroke="1" extrusionOk="0">
                <a:moveTo>
                  <a:pt x="0" y="0"/>
                </a:moveTo>
                <a:lnTo>
                  <a:pt x="647114" y="0"/>
                </a:lnTo>
                <a:lnTo>
                  <a:pt x="647114" y="122388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1783623630" name="Freeform 54"/>
          <p:cNvSpPr/>
          <p:nvPr/>
        </p:nvSpPr>
        <p:spPr bwMode="auto">
          <a:xfrm>
            <a:off x="8322211" y="4618962"/>
            <a:ext cx="534573" cy="916745"/>
          </a:xfrm>
          <a:custGeom>
            <a:avLst/>
            <a:gdLst>
              <a:gd name="connsiteX0" fmla="*/ 0 w 534573"/>
              <a:gd name="connsiteY0" fmla="*/ 0 h 1139483"/>
              <a:gd name="connsiteX1" fmla="*/ 534573 w 534573"/>
              <a:gd name="connsiteY1" fmla="*/ 0 h 1139483"/>
              <a:gd name="connsiteX2" fmla="*/ 534573 w 534573"/>
              <a:gd name="connsiteY2" fmla="*/ 1139483 h 1139483"/>
            </a:gdLst>
            <a:ahLst/>
            <a:cxnLst>
              <a:cxn ang="0">
                <a:pos x="connsiteX0" y="connsiteY0"/>
              </a:cxn>
              <a:cxn ang="0">
                <a:pos x="connsiteX1" y="connsiteY1"/>
              </a:cxn>
              <a:cxn ang="0">
                <a:pos x="connsiteX2" y="connsiteY2"/>
              </a:cxn>
            </a:cxnLst>
            <a:rect l="l" t="t" r="r" b="b"/>
            <a:pathLst>
              <a:path w="534573" h="1139483" fill="norm" stroke="1" extrusionOk="0">
                <a:moveTo>
                  <a:pt x="0" y="0"/>
                </a:moveTo>
                <a:lnTo>
                  <a:pt x="534573" y="0"/>
                </a:lnTo>
                <a:lnTo>
                  <a:pt x="534573"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cxnSp>
        <p:nvCxnSpPr>
          <p:cNvPr id="2116673892" name="Straight Connector 55"/>
          <p:cNvCxnSpPr/>
          <p:nvPr/>
        </p:nvCxnSpPr>
        <p:spPr bwMode="auto">
          <a:xfrm flipH="1">
            <a:off x="6705598" y="3328252"/>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393425331" name="Straight Connector 56"/>
          <p:cNvCxnSpPr/>
          <p:nvPr/>
        </p:nvCxnSpPr>
        <p:spPr bwMode="auto">
          <a:xfrm flipH="1">
            <a:off x="4952998" y="4471252"/>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152779244" name="Straight Connector 57"/>
          <p:cNvCxnSpPr/>
          <p:nvPr/>
        </p:nvCxnSpPr>
        <p:spPr bwMode="auto">
          <a:xfrm flipH="1">
            <a:off x="5714998" y="4468907"/>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747475076" name="Straight Connector 58"/>
          <p:cNvCxnSpPr/>
          <p:nvPr/>
        </p:nvCxnSpPr>
        <p:spPr bwMode="auto">
          <a:xfrm flipH="1">
            <a:off x="7391398" y="4468907"/>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02600331" name="Straight Connector 59"/>
          <p:cNvCxnSpPr/>
          <p:nvPr/>
        </p:nvCxnSpPr>
        <p:spPr bwMode="auto">
          <a:xfrm flipH="1">
            <a:off x="9372597" y="4468907"/>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181556521" name="Straight Connector 60"/>
          <p:cNvCxnSpPr/>
          <p:nvPr/>
        </p:nvCxnSpPr>
        <p:spPr bwMode="auto">
          <a:xfrm flipH="1">
            <a:off x="10134598" y="4468907"/>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108002904" name="Straight Connector 61"/>
          <p:cNvCxnSpPr/>
          <p:nvPr/>
        </p:nvCxnSpPr>
        <p:spPr bwMode="auto">
          <a:xfrm flipH="1">
            <a:off x="9143998" y="5538052"/>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528991560" name="Straight Connector 62"/>
          <p:cNvCxnSpPr/>
          <p:nvPr/>
        </p:nvCxnSpPr>
        <p:spPr bwMode="auto">
          <a:xfrm flipH="1">
            <a:off x="8381998" y="5535707"/>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688117730" name="TextBox 65"/>
          <p:cNvSpPr txBox="1"/>
          <p:nvPr/>
        </p:nvSpPr>
        <p:spPr bwMode="auto">
          <a:xfrm>
            <a:off x="917589" y="5207456"/>
            <a:ext cx="2215671" cy="461665"/>
          </a:xfrm>
          <a:prstGeom prst="rect">
            <a:avLst/>
          </a:prstGeom>
          <a:noFill/>
        </p:spPr>
        <p:txBody>
          <a:bodyPr wrap="none" rtlCol="0">
            <a:spAutoFit/>
          </a:bodyPr>
          <a:lstStyle/>
          <a:p>
            <a:pPr>
              <a:defRPr/>
            </a:pPr>
            <a:r>
              <a:rPr lang="en-US" sz="2400" b="1"/>
              <a:t>C  B  A  E  F  D  G</a:t>
            </a:r>
            <a:endParaRPr/>
          </a:p>
        </p:txBody>
      </p:sp>
      <p:sp>
        <p:nvSpPr>
          <p:cNvPr id="2072562533" name="TextBox 66"/>
          <p:cNvSpPr txBox="1"/>
          <p:nvPr/>
        </p:nvSpPr>
        <p:spPr bwMode="auto">
          <a:xfrm>
            <a:off x="1046630" y="4726538"/>
            <a:ext cx="1957588" cy="400110"/>
          </a:xfrm>
          <a:prstGeom prst="rect">
            <a:avLst/>
          </a:prstGeom>
          <a:noFill/>
        </p:spPr>
        <p:txBody>
          <a:bodyPr wrap="none" rtlCol="0">
            <a:spAutoFit/>
          </a:bodyPr>
          <a:lstStyle/>
          <a:p>
            <a:pPr algn="ctr">
              <a:defRPr/>
            </a:pPr>
            <a:r>
              <a:rPr lang="en-IN" sz="2000" b="1"/>
              <a:t>Inorder</a:t>
            </a:r>
            <a:r>
              <a:rPr lang="en-IN" sz="2000" b="1"/>
              <a:t> Traversal</a:t>
            </a:r>
            <a:endParaRPr lang="en-US" sz="2000" b="1"/>
          </a:p>
        </p:txBody>
      </p:sp>
      <p:cxnSp>
        <p:nvCxnSpPr>
          <p:cNvPr id="4100484" name="Straight Connector 68"/>
          <p:cNvCxnSpPr/>
          <p:nvPr/>
        </p:nvCxnSpPr>
        <p:spPr bwMode="auto">
          <a:xfrm>
            <a:off x="4137211" y="1066801"/>
            <a:ext cx="0" cy="5179255"/>
          </a:xfrm>
          <a:prstGeom prst="line">
            <a:avLst/>
          </a:prstGeom>
        </p:spPr>
        <p:style>
          <a:lnRef idx="2">
            <a:schemeClr val="dk1"/>
          </a:lnRef>
          <a:fillRef idx="0">
            <a:schemeClr val="dk1"/>
          </a:fillRef>
          <a:effectRef idx="1">
            <a:schemeClr val="dk1"/>
          </a:effectRef>
          <a:fontRef idx="minor">
            <a:schemeClr val="tx1"/>
          </a:fontRef>
        </p:style>
      </p:cxnSp>
      <p:grpSp>
        <p:nvGrpSpPr>
          <p:cNvPr id="23791436" name="Group 69"/>
          <p:cNvGrpSpPr/>
          <p:nvPr/>
        </p:nvGrpSpPr>
        <p:grpSpPr bwMode="auto">
          <a:xfrm>
            <a:off x="6602894" y="1420906"/>
            <a:ext cx="2083904" cy="381000"/>
            <a:chOff x="-76200" y="4191000"/>
            <a:chExt cx="1997075" cy="381000"/>
          </a:xfrm>
        </p:grpSpPr>
        <p:sp>
          <p:nvSpPr>
            <p:cNvPr id="71" name="Rectangle 70"/>
            <p:cNvSpPr/>
            <p:nvPr/>
          </p:nvSpPr>
          <p:spPr bwMode="auto">
            <a:xfrm>
              <a:off x="609599" y="4191000"/>
              <a:ext cx="628650" cy="381000"/>
            </a:xfrm>
            <a:prstGeom prst="rect">
              <a:avLst/>
            </a:prstGeom>
            <a:pattFill prst="wdUpDiag">
              <a:fgClr>
                <a:schemeClr val="tx1">
                  <a:lumMod val="95000"/>
                  <a:lumOff val="5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700" b="1"/>
            </a:p>
          </p:txBody>
        </p:sp>
        <p:sp>
          <p:nvSpPr>
            <p:cNvPr id="72" name="Rectangle 71"/>
            <p:cNvSpPr/>
            <p:nvPr/>
          </p:nvSpPr>
          <p:spPr bwMode="auto">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73" name="Rectangle 72"/>
            <p:cNvSpPr/>
            <p:nvPr/>
          </p:nvSpPr>
          <p:spPr bwMode="auto">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grpSp>
      <p:sp>
        <p:nvSpPr>
          <p:cNvPr id="977204193" name="TextBox 73"/>
          <p:cNvSpPr txBox="1"/>
          <p:nvPr/>
        </p:nvSpPr>
        <p:spPr bwMode="auto">
          <a:xfrm>
            <a:off x="7275736" y="975374"/>
            <a:ext cx="725263" cy="369332"/>
          </a:xfrm>
          <a:prstGeom prst="rect">
            <a:avLst/>
          </a:prstGeom>
          <a:noFill/>
        </p:spPr>
        <p:txBody>
          <a:bodyPr wrap="none" rtlCol="0">
            <a:spAutoFit/>
          </a:bodyPr>
          <a:lstStyle/>
          <a:p>
            <a:pPr algn="ctr">
              <a:defRPr/>
            </a:pPr>
            <a:r>
              <a:rPr lang="en-IN" b="1"/>
              <a:t>HEAD</a:t>
            </a:r>
            <a:endParaRPr lang="en-US" b="1"/>
          </a:p>
        </p:txBody>
      </p:sp>
      <p:cxnSp>
        <p:nvCxnSpPr>
          <p:cNvPr id="805906897" name="Straight Arrow Connector 75"/>
          <p:cNvCxnSpPr>
            <a:stCxn id="29" idx="3"/>
            <a:endCxn id="23" idx="2"/>
          </p:cNvCxnSpPr>
          <p:nvPr/>
        </p:nvCxnSpPr>
        <p:spPr bwMode="auto">
          <a:xfrm flipV="1">
            <a:off x="7010398" y="2716306"/>
            <a:ext cx="685800" cy="8001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1828105564" name="Straight Arrow Connector 77"/>
          <p:cNvCxnSpPr>
            <a:stCxn id="37" idx="3"/>
            <a:endCxn id="27" idx="2"/>
          </p:cNvCxnSpPr>
          <p:nvPr/>
        </p:nvCxnSpPr>
        <p:spPr bwMode="auto">
          <a:xfrm flipV="1">
            <a:off x="6019798" y="3706906"/>
            <a:ext cx="457200" cy="9525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1370889053" name="Straight Arrow Connector 79"/>
          <p:cNvCxnSpPr>
            <a:stCxn id="40" idx="0"/>
            <a:endCxn id="23" idx="2"/>
          </p:cNvCxnSpPr>
          <p:nvPr/>
        </p:nvCxnSpPr>
        <p:spPr bwMode="auto">
          <a:xfrm flipV="1">
            <a:off x="7543798" y="2716306"/>
            <a:ext cx="152400" cy="1752599"/>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952640941" name="Straight Arrow Connector 81"/>
          <p:cNvCxnSpPr>
            <a:stCxn id="48" idx="0"/>
            <a:endCxn id="39" idx="2"/>
          </p:cNvCxnSpPr>
          <p:nvPr/>
        </p:nvCxnSpPr>
        <p:spPr bwMode="auto">
          <a:xfrm flipH="1" flipV="1">
            <a:off x="7924798" y="4849906"/>
            <a:ext cx="609600" cy="6858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87729158" name="Straight Arrow Connector 83"/>
          <p:cNvCxnSpPr>
            <a:stCxn id="49" idx="0"/>
            <a:endCxn id="31" idx="2"/>
          </p:cNvCxnSpPr>
          <p:nvPr/>
        </p:nvCxnSpPr>
        <p:spPr bwMode="auto">
          <a:xfrm flipH="1" flipV="1">
            <a:off x="8839198" y="3706906"/>
            <a:ext cx="457200" cy="18288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986366039" name="Straight Arrow Connector 85"/>
          <p:cNvCxnSpPr>
            <a:stCxn id="44" idx="0"/>
            <a:endCxn id="31" idx="2"/>
          </p:cNvCxnSpPr>
          <p:nvPr/>
        </p:nvCxnSpPr>
        <p:spPr bwMode="auto">
          <a:xfrm flipH="1" flipV="1">
            <a:off x="8839198" y="3706906"/>
            <a:ext cx="685800" cy="7620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sp>
        <p:nvSpPr>
          <p:cNvPr id="971911725" name="Freeform 88"/>
          <p:cNvSpPr/>
          <p:nvPr/>
        </p:nvSpPr>
        <p:spPr bwMode="auto">
          <a:xfrm>
            <a:off x="5068782" y="1588151"/>
            <a:ext cx="1520042" cy="2873829"/>
          </a:xfrm>
          <a:custGeom>
            <a:avLst/>
            <a:gdLst>
              <a:gd name="connsiteX0" fmla="*/ 0 w 1520042"/>
              <a:gd name="connsiteY0" fmla="*/ 2873829 h 2873829"/>
              <a:gd name="connsiteX1" fmla="*/ 0 w 1520042"/>
              <a:gd name="connsiteY1" fmla="*/ 0 h 2873829"/>
              <a:gd name="connsiteX2" fmla="*/ 1520042 w 1520042"/>
              <a:gd name="connsiteY2" fmla="*/ 0 h 2873829"/>
            </a:gdLst>
            <a:ahLst/>
            <a:cxnLst>
              <a:cxn ang="0">
                <a:pos x="connsiteX0" y="connsiteY0"/>
              </a:cxn>
              <a:cxn ang="0">
                <a:pos x="connsiteX1" y="connsiteY1"/>
              </a:cxn>
              <a:cxn ang="0">
                <a:pos x="connsiteX2" y="connsiteY2"/>
              </a:cxn>
            </a:cxnLst>
            <a:rect l="l" t="t" r="r" b="b"/>
            <a:pathLst>
              <a:path w="1520042" h="2873829" fill="norm" stroke="1" extrusionOk="0">
                <a:moveTo>
                  <a:pt x="0" y="2873829"/>
                </a:moveTo>
                <a:lnTo>
                  <a:pt x="0" y="0"/>
                </a:lnTo>
                <a:lnTo>
                  <a:pt x="1520042" y="0"/>
                </a:lnTo>
              </a:path>
            </a:pathLst>
          </a:custGeom>
          <a:ln w="28575">
            <a:prstDash val="sys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defRPr/>
            </a:pPr>
            <a:endParaRPr lang="en-US"/>
          </a:p>
        </p:txBody>
      </p:sp>
      <p:sp>
        <p:nvSpPr>
          <p:cNvPr id="1895615111" name="Freeform 90"/>
          <p:cNvSpPr/>
          <p:nvPr/>
        </p:nvSpPr>
        <p:spPr bwMode="auto">
          <a:xfrm>
            <a:off x="8702633" y="1588151"/>
            <a:ext cx="1603169" cy="2873829"/>
          </a:xfrm>
          <a:custGeom>
            <a:avLst/>
            <a:gdLst>
              <a:gd name="connsiteX0" fmla="*/ 1603169 w 1603169"/>
              <a:gd name="connsiteY0" fmla="*/ 2873829 h 2873829"/>
              <a:gd name="connsiteX1" fmla="*/ 1603169 w 1603169"/>
              <a:gd name="connsiteY1" fmla="*/ 0 h 2873829"/>
              <a:gd name="connsiteX2" fmla="*/ 0 w 1603169"/>
              <a:gd name="connsiteY2" fmla="*/ 0 h 2873829"/>
            </a:gdLst>
            <a:ahLst/>
            <a:cxnLst>
              <a:cxn ang="0">
                <a:pos x="connsiteX0" y="connsiteY0"/>
              </a:cxn>
              <a:cxn ang="0">
                <a:pos x="connsiteX1" y="connsiteY1"/>
              </a:cxn>
              <a:cxn ang="0">
                <a:pos x="connsiteX2" y="connsiteY2"/>
              </a:cxn>
            </a:cxnLst>
            <a:rect l="l" t="t" r="r" b="b"/>
            <a:pathLst>
              <a:path w="1603169" h="2873829" fill="norm" stroke="1" extrusionOk="0">
                <a:moveTo>
                  <a:pt x="1603169" y="2873829"/>
                </a:moveTo>
                <a:lnTo>
                  <a:pt x="1603169" y="0"/>
                </a:lnTo>
                <a:lnTo>
                  <a:pt x="0" y="0"/>
                </a:lnTo>
              </a:path>
            </a:pathLst>
          </a:custGeom>
          <a:ln w="28575">
            <a:prstDash val="sys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defRPr/>
            </a:pPr>
            <a:endParaRPr lang="en-US"/>
          </a:p>
        </p:txBody>
      </p:sp>
      <p:cxnSp>
        <p:nvCxnSpPr>
          <p:cNvPr id="720118177" name="Straight Arrow Connector 92"/>
          <p:cNvCxnSpPr>
            <a:stCxn id="72" idx="2"/>
            <a:endCxn id="23" idx="0"/>
          </p:cNvCxnSpPr>
          <p:nvPr/>
        </p:nvCxnSpPr>
        <p:spPr bwMode="auto">
          <a:xfrm>
            <a:off x="6960704" y="1801906"/>
            <a:ext cx="735495" cy="5334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97441458" name="TextBox 93"/>
          <p:cNvSpPr txBox="1"/>
          <p:nvPr/>
        </p:nvSpPr>
        <p:spPr bwMode="auto">
          <a:xfrm>
            <a:off x="5663794" y="6096000"/>
            <a:ext cx="3238387" cy="400110"/>
          </a:xfrm>
          <a:prstGeom prst="rect">
            <a:avLst/>
          </a:prstGeom>
          <a:noFill/>
        </p:spPr>
        <p:txBody>
          <a:bodyPr wrap="none" rtlCol="0">
            <a:spAutoFit/>
          </a:bodyPr>
          <a:lstStyle/>
          <a:p>
            <a:pPr algn="ctr">
              <a:defRPr/>
            </a:pPr>
            <a:r>
              <a:rPr lang="en-IN" sz="2000" b="1"/>
              <a:t>Fully In-Threaded Binary Tree</a:t>
            </a:r>
            <a:endParaRPr lang="en-US" sz="20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0250988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397709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9542473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340123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4505284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10772895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8398338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295385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14909069"/>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527422336"/>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2306403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172599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80321971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10048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040338875"/>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89814953"/>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47132980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896680061"/>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335908565"/>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90408458"/>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17293876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2122880895"/>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487566113"/>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1498874306"/>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0685885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3175821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783623630"/>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211667389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39342533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152779244"/>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747475076"/>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0260033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181556521"/>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108002904"/>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528991560"/>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688117730"/>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2072562533"/>
                                        </p:tgtEl>
                                        <p:attrNameLst>
                                          <p:attrName>style.visibility</p:attrName>
                                        </p:attrNameLst>
                                      </p:cBhvr>
                                      <p:to>
                                        <p:strVal val="visible"/>
                                      </p:to>
                                    </p:set>
                                  </p:childTnLst>
                                </p:cTn>
                              </p:par>
                            </p:childTnLst>
                          </p:cTn>
                        </p:par>
                      </p:childTnLst>
                    </p:cTn>
                  </p:par>
                  <p:par>
                    <p:cTn id="85" fill="hold">
                      <p:stCondLst>
                        <p:cond delay="indefinite"/>
                      </p:stCondLst>
                      <p:childTnLst>
                        <p:par>
                          <p:cTn id="86" fill="hold">
                            <p:stCondLst>
                              <p:cond delay="0"/>
                            </p:stCondLst>
                            <p:childTnLst>
                              <p:par>
                                <p:cTn id="87" presetID="1" presetClass="exit" presetSubtype="0" fill="hold" nodeType="clickEffect">
                                  <p:stCondLst>
                                    <p:cond delay="0"/>
                                  </p:stCondLst>
                                  <p:childTnLst>
                                    <p:set>
                                      <p:cBhvr>
                                        <p:cTn id="88" dur="1" fill="hold">
                                          <p:stCondLst>
                                            <p:cond delay="0"/>
                                          </p:stCondLst>
                                        </p:cTn>
                                        <p:tgtEl>
                                          <p:spTgt spid="2116673892"/>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22" presetClass="entr" presetSubtype="4" fill="hold" nodeType="clickEffect">
                                  <p:stCondLst>
                                    <p:cond delay="0"/>
                                  </p:stCondLst>
                                  <p:childTnLst>
                                    <p:set>
                                      <p:cBhvr>
                                        <p:cTn id="92" dur="1" fill="hold">
                                          <p:stCondLst>
                                            <p:cond delay="0"/>
                                          </p:stCondLst>
                                        </p:cTn>
                                        <p:tgtEl>
                                          <p:spTgt spid="805906897"/>
                                        </p:tgtEl>
                                        <p:attrNameLst>
                                          <p:attrName>style.visibility</p:attrName>
                                        </p:attrNameLst>
                                      </p:cBhvr>
                                      <p:to>
                                        <p:strVal val="visible"/>
                                      </p:to>
                                    </p:set>
                                    <p:animEffect transition="in" filter="wipe(down)">
                                      <p:cBhvr>
                                        <p:cTn id="93" dur="500"/>
                                        <p:tgtEl>
                                          <p:spTgt spid="805906897"/>
                                        </p:tgtEl>
                                      </p:cBhvr>
                                    </p:animEffect>
                                  </p:childTnLst>
                                </p:cTn>
                              </p:par>
                            </p:childTnLst>
                          </p:cTn>
                        </p:par>
                      </p:childTnLst>
                    </p:cTn>
                  </p:par>
                  <p:par>
                    <p:cTn id="94" fill="hold">
                      <p:stCondLst>
                        <p:cond delay="indefinite"/>
                      </p:stCondLst>
                      <p:childTnLst>
                        <p:par>
                          <p:cTn id="95" fill="hold">
                            <p:stCondLst>
                              <p:cond delay="0"/>
                            </p:stCondLst>
                            <p:childTnLst>
                              <p:par>
                                <p:cTn id="96" presetID="1" presetClass="exit" presetSubtype="0" fill="hold" nodeType="clickEffect">
                                  <p:stCondLst>
                                    <p:cond delay="0"/>
                                  </p:stCondLst>
                                  <p:childTnLst>
                                    <p:set>
                                      <p:cBhvr>
                                        <p:cTn id="97" dur="1" fill="hold">
                                          <p:stCondLst>
                                            <p:cond delay="0"/>
                                          </p:stCondLst>
                                        </p:cTn>
                                        <p:tgtEl>
                                          <p:spTgt spid="1152779244"/>
                                        </p:tgtEl>
                                        <p:attrNameLst>
                                          <p:attrName>style.visibility</p:attrName>
                                        </p:attrNameLst>
                                      </p:cBhvr>
                                      <p:to>
                                        <p:strVal val="hidden"/>
                                      </p:to>
                                    </p:se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nodeType="clickEffect">
                                  <p:stCondLst>
                                    <p:cond delay="0"/>
                                  </p:stCondLst>
                                  <p:childTnLst>
                                    <p:set>
                                      <p:cBhvr>
                                        <p:cTn id="101" dur="1" fill="hold">
                                          <p:stCondLst>
                                            <p:cond delay="0"/>
                                          </p:stCondLst>
                                        </p:cTn>
                                        <p:tgtEl>
                                          <p:spTgt spid="1828105564"/>
                                        </p:tgtEl>
                                        <p:attrNameLst>
                                          <p:attrName>style.visibility</p:attrName>
                                        </p:attrNameLst>
                                      </p:cBhvr>
                                      <p:to>
                                        <p:strVal val="visible"/>
                                      </p:to>
                                    </p:set>
                                    <p:animEffect transition="in" filter="wipe(down)">
                                      <p:cBhvr>
                                        <p:cTn id="102" dur="500"/>
                                        <p:tgtEl>
                                          <p:spTgt spid="1828105564"/>
                                        </p:tgtEl>
                                      </p:cBhvr>
                                    </p:animEffect>
                                  </p:childTnLst>
                                </p:cTn>
                              </p:par>
                            </p:childTnLst>
                          </p:cTn>
                        </p:par>
                      </p:childTnLst>
                    </p:cTn>
                  </p:par>
                  <p:par>
                    <p:cTn id="103" fill="hold">
                      <p:stCondLst>
                        <p:cond delay="indefinite"/>
                      </p:stCondLst>
                      <p:childTnLst>
                        <p:par>
                          <p:cTn id="104" fill="hold">
                            <p:stCondLst>
                              <p:cond delay="0"/>
                            </p:stCondLst>
                            <p:childTnLst>
                              <p:par>
                                <p:cTn id="105" presetID="1" presetClass="exit" presetSubtype="0" fill="hold" nodeType="clickEffect">
                                  <p:stCondLst>
                                    <p:cond delay="0"/>
                                  </p:stCondLst>
                                  <p:childTnLst>
                                    <p:set>
                                      <p:cBhvr>
                                        <p:cTn id="106" dur="1" fill="hold">
                                          <p:stCondLst>
                                            <p:cond delay="0"/>
                                          </p:stCondLst>
                                        </p:cTn>
                                        <p:tgtEl>
                                          <p:spTgt spid="747475076"/>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4" fill="hold" nodeType="clickEffect">
                                  <p:stCondLst>
                                    <p:cond delay="0"/>
                                  </p:stCondLst>
                                  <p:childTnLst>
                                    <p:set>
                                      <p:cBhvr>
                                        <p:cTn id="110" dur="1" fill="hold">
                                          <p:stCondLst>
                                            <p:cond delay="0"/>
                                          </p:stCondLst>
                                        </p:cTn>
                                        <p:tgtEl>
                                          <p:spTgt spid="1370889053"/>
                                        </p:tgtEl>
                                        <p:attrNameLst>
                                          <p:attrName>style.visibility</p:attrName>
                                        </p:attrNameLst>
                                      </p:cBhvr>
                                      <p:to>
                                        <p:strVal val="visible"/>
                                      </p:to>
                                    </p:set>
                                    <p:animEffect transition="in" filter="wipe(down)">
                                      <p:cBhvr>
                                        <p:cTn id="111" dur="500"/>
                                        <p:tgtEl>
                                          <p:spTgt spid="1370889053"/>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xit" presetSubtype="0" fill="hold" nodeType="clickEffect">
                                  <p:stCondLst>
                                    <p:cond delay="0"/>
                                  </p:stCondLst>
                                  <p:childTnLst>
                                    <p:set>
                                      <p:cBhvr>
                                        <p:cTn id="115" dur="1" fill="hold">
                                          <p:stCondLst>
                                            <p:cond delay="0"/>
                                          </p:stCondLst>
                                        </p:cTn>
                                        <p:tgtEl>
                                          <p:spTgt spid="1528991560"/>
                                        </p:tgtEl>
                                        <p:attrNameLst>
                                          <p:attrName>style.visibility</p:attrName>
                                        </p:attrNameLst>
                                      </p:cBhvr>
                                      <p:to>
                                        <p:strVal val="hidden"/>
                                      </p:to>
                                    </p:set>
                                  </p:childTnLst>
                                </p:cTn>
                              </p:par>
                            </p:childTnLst>
                          </p:cTn>
                        </p:par>
                      </p:childTnLst>
                    </p:cTn>
                  </p:par>
                  <p:par>
                    <p:cTn id="116" fill="hold">
                      <p:stCondLst>
                        <p:cond delay="indefinite"/>
                      </p:stCondLst>
                      <p:childTnLst>
                        <p:par>
                          <p:cTn id="117" fill="hold">
                            <p:stCondLst>
                              <p:cond delay="0"/>
                            </p:stCondLst>
                            <p:childTnLst>
                              <p:par>
                                <p:cTn id="118" presetID="22" presetClass="entr" presetSubtype="4" fill="hold" nodeType="clickEffect">
                                  <p:stCondLst>
                                    <p:cond delay="0"/>
                                  </p:stCondLst>
                                  <p:childTnLst>
                                    <p:set>
                                      <p:cBhvr>
                                        <p:cTn id="119" dur="1" fill="hold">
                                          <p:stCondLst>
                                            <p:cond delay="0"/>
                                          </p:stCondLst>
                                        </p:cTn>
                                        <p:tgtEl>
                                          <p:spTgt spid="952640941"/>
                                        </p:tgtEl>
                                        <p:attrNameLst>
                                          <p:attrName>style.visibility</p:attrName>
                                        </p:attrNameLst>
                                      </p:cBhvr>
                                      <p:to>
                                        <p:strVal val="visible"/>
                                      </p:to>
                                    </p:set>
                                    <p:animEffect transition="in" filter="wipe(down)">
                                      <p:cBhvr>
                                        <p:cTn id="120" dur="500"/>
                                        <p:tgtEl>
                                          <p:spTgt spid="952640941"/>
                                        </p:tgtEl>
                                      </p:cBhvr>
                                    </p:animEffect>
                                  </p:childTnLst>
                                </p:cTn>
                              </p:par>
                            </p:childTnLst>
                          </p:cTn>
                        </p:par>
                      </p:childTnLst>
                    </p:cTn>
                  </p:par>
                  <p:par>
                    <p:cTn id="121" fill="hold">
                      <p:stCondLst>
                        <p:cond delay="indefinite"/>
                      </p:stCondLst>
                      <p:childTnLst>
                        <p:par>
                          <p:cTn id="122" fill="hold">
                            <p:stCondLst>
                              <p:cond delay="0"/>
                            </p:stCondLst>
                            <p:childTnLst>
                              <p:par>
                                <p:cTn id="123" presetID="1" presetClass="exit" presetSubtype="0" fill="hold" nodeType="clickEffect">
                                  <p:stCondLst>
                                    <p:cond delay="0"/>
                                  </p:stCondLst>
                                  <p:childTnLst>
                                    <p:set>
                                      <p:cBhvr>
                                        <p:cTn id="124" dur="1" fill="hold">
                                          <p:stCondLst>
                                            <p:cond delay="0"/>
                                          </p:stCondLst>
                                        </p:cTn>
                                        <p:tgtEl>
                                          <p:spTgt spid="1108002904"/>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22" presetClass="entr" presetSubtype="4" fill="hold" nodeType="clickEffect">
                                  <p:stCondLst>
                                    <p:cond delay="0"/>
                                  </p:stCondLst>
                                  <p:childTnLst>
                                    <p:set>
                                      <p:cBhvr>
                                        <p:cTn id="128" dur="1" fill="hold">
                                          <p:stCondLst>
                                            <p:cond delay="0"/>
                                          </p:stCondLst>
                                        </p:cTn>
                                        <p:tgtEl>
                                          <p:spTgt spid="87729158"/>
                                        </p:tgtEl>
                                        <p:attrNameLst>
                                          <p:attrName>style.visibility</p:attrName>
                                        </p:attrNameLst>
                                      </p:cBhvr>
                                      <p:to>
                                        <p:strVal val="visible"/>
                                      </p:to>
                                    </p:set>
                                    <p:animEffect transition="in" filter="wipe(down)">
                                      <p:cBhvr>
                                        <p:cTn id="129" dur="500"/>
                                        <p:tgtEl>
                                          <p:spTgt spid="87729158"/>
                                        </p:tgtEl>
                                      </p:cBhvr>
                                    </p:animEffect>
                                  </p:childTnLst>
                                </p:cTn>
                              </p:par>
                            </p:childTnLst>
                          </p:cTn>
                        </p:par>
                      </p:childTnLst>
                    </p:cTn>
                  </p:par>
                  <p:par>
                    <p:cTn id="130" fill="hold">
                      <p:stCondLst>
                        <p:cond delay="indefinite"/>
                      </p:stCondLst>
                      <p:childTnLst>
                        <p:par>
                          <p:cTn id="131" fill="hold">
                            <p:stCondLst>
                              <p:cond delay="0"/>
                            </p:stCondLst>
                            <p:childTnLst>
                              <p:par>
                                <p:cTn id="132" presetID="1" presetClass="exit" presetSubtype="0" fill="hold" nodeType="clickEffect">
                                  <p:stCondLst>
                                    <p:cond delay="0"/>
                                  </p:stCondLst>
                                  <p:childTnLst>
                                    <p:set>
                                      <p:cBhvr>
                                        <p:cTn id="133" dur="1" fill="hold">
                                          <p:stCondLst>
                                            <p:cond delay="0"/>
                                          </p:stCondLst>
                                        </p:cTn>
                                        <p:tgtEl>
                                          <p:spTgt spid="102600331"/>
                                        </p:tgtEl>
                                        <p:attrNameLst>
                                          <p:attrName>style.visibility</p:attrName>
                                        </p:attrNameLst>
                                      </p:cBhvr>
                                      <p:to>
                                        <p:strVal val="hidden"/>
                                      </p:to>
                                    </p:set>
                                  </p:childTnLst>
                                </p:cTn>
                              </p:par>
                            </p:childTnLst>
                          </p:cTn>
                        </p:par>
                      </p:childTnLst>
                    </p:cTn>
                  </p:par>
                  <p:par>
                    <p:cTn id="134" fill="hold">
                      <p:stCondLst>
                        <p:cond delay="indefinite"/>
                      </p:stCondLst>
                      <p:childTnLst>
                        <p:par>
                          <p:cTn id="135" fill="hold">
                            <p:stCondLst>
                              <p:cond delay="0"/>
                            </p:stCondLst>
                            <p:childTnLst>
                              <p:par>
                                <p:cTn id="136" presetID="22" presetClass="entr" presetSubtype="4" fill="hold" nodeType="clickEffect">
                                  <p:stCondLst>
                                    <p:cond delay="0"/>
                                  </p:stCondLst>
                                  <p:childTnLst>
                                    <p:set>
                                      <p:cBhvr>
                                        <p:cTn id="137" dur="1" fill="hold">
                                          <p:stCondLst>
                                            <p:cond delay="0"/>
                                          </p:stCondLst>
                                        </p:cTn>
                                        <p:tgtEl>
                                          <p:spTgt spid="986366039"/>
                                        </p:tgtEl>
                                        <p:attrNameLst>
                                          <p:attrName>style.visibility</p:attrName>
                                        </p:attrNameLst>
                                      </p:cBhvr>
                                      <p:to>
                                        <p:strVal val="visible"/>
                                      </p:to>
                                    </p:set>
                                    <p:animEffect transition="in" filter="wipe(down)">
                                      <p:cBhvr>
                                        <p:cTn id="138" dur="500"/>
                                        <p:tgtEl>
                                          <p:spTgt spid="986366039"/>
                                        </p:tgtEl>
                                      </p:cBhvr>
                                    </p:animEffect>
                                  </p:childTnLst>
                                </p:cTn>
                              </p:par>
                            </p:childTnLst>
                          </p:cTn>
                        </p:par>
                      </p:childTnLst>
                    </p:cTn>
                  </p:par>
                  <p:par>
                    <p:cTn id="139" fill="hold">
                      <p:stCondLst>
                        <p:cond delay="indefinite"/>
                      </p:stCondLst>
                      <p:childTnLst>
                        <p:par>
                          <p:cTn id="140" fill="hold">
                            <p:stCondLst>
                              <p:cond delay="0"/>
                            </p:stCondLst>
                            <p:childTnLst>
                              <p:par>
                                <p:cTn id="141" presetID="1" presetClass="entr" presetSubtype="0" fill="hold" nodeType="clickEffect">
                                  <p:stCondLst>
                                    <p:cond delay="0"/>
                                  </p:stCondLst>
                                  <p:childTnLst>
                                    <p:set>
                                      <p:cBhvr>
                                        <p:cTn id="142" dur="1" fill="hold">
                                          <p:stCondLst>
                                            <p:cond delay="0"/>
                                          </p:stCondLst>
                                        </p:cTn>
                                        <p:tgtEl>
                                          <p:spTgt spid="23791436"/>
                                        </p:tgtEl>
                                        <p:attrNameLst>
                                          <p:attrName>style.visibility</p:attrName>
                                        </p:attrNameLst>
                                      </p:cBhvr>
                                      <p:to>
                                        <p:strVal val="visible"/>
                                      </p:to>
                                    </p:set>
                                  </p:childTnLst>
                                </p:cTn>
                              </p:par>
                              <p:par>
                                <p:cTn id="143" presetID="1" presetClass="entr" presetSubtype="0" fill="hold" grpId="0" nodeType="withEffect">
                                  <p:stCondLst>
                                    <p:cond delay="0"/>
                                  </p:stCondLst>
                                  <p:childTnLst>
                                    <p:set>
                                      <p:cBhvr>
                                        <p:cTn id="144" dur="1" fill="hold">
                                          <p:stCondLst>
                                            <p:cond delay="0"/>
                                          </p:stCondLst>
                                        </p:cTn>
                                        <p:tgtEl>
                                          <p:spTgt spid="977204193"/>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presetID="1" presetClass="exit" presetSubtype="0" fill="hold" nodeType="clickEffect">
                                  <p:stCondLst>
                                    <p:cond delay="0"/>
                                  </p:stCondLst>
                                  <p:childTnLst>
                                    <p:set>
                                      <p:cBhvr>
                                        <p:cTn id="148" dur="1" fill="hold">
                                          <p:stCondLst>
                                            <p:cond delay="0"/>
                                          </p:stCondLst>
                                        </p:cTn>
                                        <p:tgtEl>
                                          <p:spTgt spid="393425331"/>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22" presetClass="entr" presetSubtype="8" fill="hold" grpId="0" nodeType="clickEffect">
                                  <p:stCondLst>
                                    <p:cond delay="0"/>
                                  </p:stCondLst>
                                  <p:childTnLst>
                                    <p:set>
                                      <p:cBhvr>
                                        <p:cTn id="152" dur="1" fill="hold">
                                          <p:stCondLst>
                                            <p:cond delay="0"/>
                                          </p:stCondLst>
                                        </p:cTn>
                                        <p:tgtEl>
                                          <p:spTgt spid="971911725"/>
                                        </p:tgtEl>
                                        <p:attrNameLst>
                                          <p:attrName>style.visibility</p:attrName>
                                        </p:attrNameLst>
                                      </p:cBhvr>
                                      <p:to>
                                        <p:strVal val="visible"/>
                                      </p:to>
                                    </p:set>
                                    <p:animEffect transition="in" filter="wipe(left)">
                                      <p:cBhvr>
                                        <p:cTn id="153" dur="500"/>
                                        <p:tgtEl>
                                          <p:spTgt spid="971911725"/>
                                        </p:tgtEl>
                                      </p:cBhvr>
                                    </p:animEffect>
                                  </p:childTnLst>
                                </p:cTn>
                              </p:par>
                            </p:childTnLst>
                          </p:cTn>
                        </p:par>
                      </p:childTnLst>
                    </p:cTn>
                  </p:par>
                  <p:par>
                    <p:cTn id="154" fill="hold">
                      <p:stCondLst>
                        <p:cond delay="indefinite"/>
                      </p:stCondLst>
                      <p:childTnLst>
                        <p:par>
                          <p:cTn id="155" fill="hold">
                            <p:stCondLst>
                              <p:cond delay="0"/>
                            </p:stCondLst>
                            <p:childTnLst>
                              <p:par>
                                <p:cTn id="156" presetID="1" presetClass="exit" presetSubtype="0" fill="hold" nodeType="clickEffect">
                                  <p:stCondLst>
                                    <p:cond delay="0"/>
                                  </p:stCondLst>
                                  <p:childTnLst>
                                    <p:set>
                                      <p:cBhvr>
                                        <p:cTn id="157" dur="1" fill="hold">
                                          <p:stCondLst>
                                            <p:cond delay="0"/>
                                          </p:stCondLst>
                                        </p:cTn>
                                        <p:tgtEl>
                                          <p:spTgt spid="1181556521"/>
                                        </p:tgtEl>
                                        <p:attrNameLst>
                                          <p:attrName>style.visibility</p:attrName>
                                        </p:attrNameLst>
                                      </p:cBhvr>
                                      <p:to>
                                        <p:strVal val="hidden"/>
                                      </p:to>
                                    </p:set>
                                  </p:childTnLst>
                                </p:cTn>
                              </p:par>
                            </p:childTnLst>
                          </p:cTn>
                        </p:par>
                      </p:childTnLst>
                    </p:cTn>
                  </p:par>
                  <p:par>
                    <p:cTn id="158" fill="hold">
                      <p:stCondLst>
                        <p:cond delay="indefinite"/>
                      </p:stCondLst>
                      <p:childTnLst>
                        <p:par>
                          <p:cTn id="159" fill="hold">
                            <p:stCondLst>
                              <p:cond delay="0"/>
                            </p:stCondLst>
                            <p:childTnLst>
                              <p:par>
                                <p:cTn id="160" presetID="22" presetClass="entr" presetSubtype="2" fill="hold" grpId="0" nodeType="clickEffect">
                                  <p:stCondLst>
                                    <p:cond delay="0"/>
                                  </p:stCondLst>
                                  <p:childTnLst>
                                    <p:set>
                                      <p:cBhvr>
                                        <p:cTn id="161" dur="1" fill="hold">
                                          <p:stCondLst>
                                            <p:cond delay="0"/>
                                          </p:stCondLst>
                                        </p:cTn>
                                        <p:tgtEl>
                                          <p:spTgt spid="1895615111"/>
                                        </p:tgtEl>
                                        <p:attrNameLst>
                                          <p:attrName>style.visibility</p:attrName>
                                        </p:attrNameLst>
                                      </p:cBhvr>
                                      <p:to>
                                        <p:strVal val="visible"/>
                                      </p:to>
                                    </p:set>
                                    <p:animEffect transition="in" filter="wipe(right)">
                                      <p:cBhvr>
                                        <p:cTn id="162" dur="500"/>
                                        <p:tgtEl>
                                          <p:spTgt spid="1895615111"/>
                                        </p:tgtEl>
                                      </p:cBhvr>
                                    </p:animEffect>
                                  </p:childTnLst>
                                </p:cTn>
                              </p:par>
                            </p:childTnLst>
                          </p:cTn>
                        </p:par>
                      </p:childTnLst>
                    </p:cTn>
                  </p:par>
                  <p:par>
                    <p:cTn id="163" fill="hold">
                      <p:stCondLst>
                        <p:cond delay="indefinite"/>
                      </p:stCondLst>
                      <p:childTnLst>
                        <p:par>
                          <p:cTn id="164" fill="hold">
                            <p:stCondLst>
                              <p:cond delay="0"/>
                            </p:stCondLst>
                            <p:childTnLst>
                              <p:par>
                                <p:cTn id="165" presetID="22" presetClass="entr" presetSubtype="1" fill="hold" nodeType="clickEffect">
                                  <p:stCondLst>
                                    <p:cond delay="0"/>
                                  </p:stCondLst>
                                  <p:childTnLst>
                                    <p:set>
                                      <p:cBhvr>
                                        <p:cTn id="166" dur="1" fill="hold">
                                          <p:stCondLst>
                                            <p:cond delay="0"/>
                                          </p:stCondLst>
                                        </p:cTn>
                                        <p:tgtEl>
                                          <p:spTgt spid="720118177"/>
                                        </p:tgtEl>
                                        <p:attrNameLst>
                                          <p:attrName>style.visibility</p:attrName>
                                        </p:attrNameLst>
                                      </p:cBhvr>
                                      <p:to>
                                        <p:strVal val="visible"/>
                                      </p:to>
                                    </p:set>
                                    <p:animEffect transition="in" filter="wipe(up)">
                                      <p:cBhvr>
                                        <p:cTn id="167" dur="500"/>
                                        <p:tgtEl>
                                          <p:spTgt spid="720118177"/>
                                        </p:tgtEl>
                                      </p:cBhvr>
                                    </p:animEffect>
                                  </p:childTnLst>
                                </p:cTn>
                              </p:par>
                            </p:childTnLst>
                          </p:cTn>
                        </p:par>
                      </p:childTnLst>
                    </p:cTn>
                  </p:par>
                  <p:par>
                    <p:cTn id="168" fill="hold">
                      <p:stCondLst>
                        <p:cond delay="indefinite"/>
                      </p:stCondLst>
                      <p:childTnLst>
                        <p:par>
                          <p:cTn id="169" fill="hold">
                            <p:stCondLst>
                              <p:cond delay="0"/>
                            </p:stCondLst>
                            <p:childTnLst>
                              <p:par>
                                <p:cTn id="170" presetID="1" presetClass="entr" presetSubtype="0" fill="hold" grpId="0" nodeType="clickEffect">
                                  <p:stCondLst>
                                    <p:cond delay="0"/>
                                  </p:stCondLst>
                                  <p:childTnLst>
                                    <p:set>
                                      <p:cBhvr>
                                        <p:cTn id="171" dur="1" fill="hold">
                                          <p:stCondLst>
                                            <p:cond delay="0"/>
                                          </p:stCondLst>
                                        </p:cTn>
                                        <p:tgtEl>
                                          <p:spTgt spid="69744145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2509888" grpId="0" animBg="1"/>
      <p:bldP spid="1839770994" grpId="0" animBg="1"/>
      <p:bldP spid="1295424736" grpId="0" animBg="1"/>
      <p:bldP spid="1223401234" grpId="0" animBg="1"/>
      <p:bldP spid="1445052847" grpId="0" animBg="1"/>
      <p:bldP spid="2107728951" grpId="0" animBg="1"/>
      <p:bldP spid="983983384" grpId="0" animBg="1"/>
      <p:bldP spid="2122880895" grpId="0" animBg="1"/>
      <p:bldP spid="487566113" grpId="0" animBg="1"/>
      <p:bldP spid="1498874306" grpId="0" animBg="1"/>
      <p:bldP spid="906858851" grpId="0" animBg="1"/>
      <p:bldP spid="317582107" grpId="0" animBg="1"/>
      <p:bldP spid="1783623630" grpId="0" animBg="1"/>
      <p:bldP spid="688117730" grpId="0"/>
      <p:bldP spid="2072562533" grpId="0"/>
      <p:bldP spid="977204193" grpId="0"/>
      <p:bldP spid="971911725" grpId="0" animBg="1"/>
      <p:bldP spid="1895615111" grpId="0" animBg="1"/>
      <p:bldP spid="697441458" grpId="0"/>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340070" name="Title 1"/>
          <p:cNvSpPr>
            <a:spLocks noGrp="1"/>
          </p:cNvSpPr>
          <p:nvPr>
            <p:ph type="title"/>
          </p:nvPr>
        </p:nvSpPr>
        <p:spPr bwMode="auto"/>
        <p:txBody>
          <a:bodyPr/>
          <a:lstStyle/>
          <a:p>
            <a:pPr>
              <a:defRPr/>
            </a:pPr>
            <a:r>
              <a:rPr lang="en-US"/>
              <a:t>Threaded Binary Tree</a:t>
            </a:r>
            <a:endParaRPr/>
          </a:p>
        </p:txBody>
      </p:sp>
      <p:sp>
        <p:nvSpPr>
          <p:cNvPr id="8210672" name="Oval 3"/>
          <p:cNvSpPr/>
          <p:nvPr/>
        </p:nvSpPr>
        <p:spPr bwMode="auto">
          <a:xfrm>
            <a:off x="1882845" y="113453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1884541793" name="Oval 4"/>
          <p:cNvSpPr/>
          <p:nvPr/>
        </p:nvSpPr>
        <p:spPr bwMode="auto">
          <a:xfrm>
            <a:off x="1000079" y="206458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857624888" name="Oval 5"/>
          <p:cNvSpPr/>
          <p:nvPr/>
        </p:nvSpPr>
        <p:spPr bwMode="auto">
          <a:xfrm>
            <a:off x="484609" y="29610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1225027483" name="Oval 6"/>
          <p:cNvSpPr/>
          <p:nvPr/>
        </p:nvSpPr>
        <p:spPr bwMode="auto">
          <a:xfrm>
            <a:off x="2264101" y="29610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sp>
        <p:nvSpPr>
          <p:cNvPr id="229794109" name="Oval 7"/>
          <p:cNvSpPr/>
          <p:nvPr/>
        </p:nvSpPr>
        <p:spPr bwMode="auto">
          <a:xfrm>
            <a:off x="2745430" y="206458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1694443308" name="Oval 8"/>
          <p:cNvSpPr/>
          <p:nvPr/>
        </p:nvSpPr>
        <p:spPr bwMode="auto">
          <a:xfrm>
            <a:off x="3281594" y="29610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H</a:t>
            </a:r>
            <a:endParaRPr lang="en-US" sz="2000" b="1"/>
          </a:p>
        </p:txBody>
      </p:sp>
      <p:sp>
        <p:nvSpPr>
          <p:cNvPr id="76430908" name="Oval 9"/>
          <p:cNvSpPr/>
          <p:nvPr/>
        </p:nvSpPr>
        <p:spPr bwMode="auto">
          <a:xfrm>
            <a:off x="2745430" y="385752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cxnSp>
        <p:nvCxnSpPr>
          <p:cNvPr id="1111579917" name="Straight Arrow Connector 10"/>
          <p:cNvCxnSpPr>
            <a:stCxn id="8210672" idx="3"/>
            <a:endCxn id="1884541793" idx="0"/>
          </p:cNvCxnSpPr>
          <p:nvPr/>
        </p:nvCxnSpPr>
        <p:spPr bwMode="auto">
          <a:xfrm flipH="1">
            <a:off x="1280879" y="1613890"/>
            <a:ext cx="684209" cy="4506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85457793" name="Straight Arrow Connector 11"/>
          <p:cNvCxnSpPr>
            <a:stCxn id="1884541793" idx="3"/>
            <a:endCxn id="857624888" idx="0"/>
          </p:cNvCxnSpPr>
          <p:nvPr/>
        </p:nvCxnSpPr>
        <p:spPr bwMode="auto">
          <a:xfrm flipH="1">
            <a:off x="765409" y="2543941"/>
            <a:ext cx="316914" cy="41711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58241514" name="Straight Arrow Connector 12"/>
          <p:cNvCxnSpPr>
            <a:stCxn id="8210672" idx="5"/>
            <a:endCxn id="229794109" idx="0"/>
          </p:cNvCxnSpPr>
          <p:nvPr/>
        </p:nvCxnSpPr>
        <p:spPr bwMode="auto">
          <a:xfrm>
            <a:off x="2362201" y="1613890"/>
            <a:ext cx="664029" cy="4506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83475163" name="Straight Arrow Connector 13"/>
          <p:cNvCxnSpPr>
            <a:stCxn id="229794109" idx="3"/>
            <a:endCxn id="1225027483" idx="0"/>
          </p:cNvCxnSpPr>
          <p:nvPr/>
        </p:nvCxnSpPr>
        <p:spPr bwMode="auto">
          <a:xfrm flipH="1">
            <a:off x="2544901" y="2543941"/>
            <a:ext cx="282773" cy="41711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2033324" name="Straight Arrow Connector 14"/>
          <p:cNvCxnSpPr>
            <a:stCxn id="229794109" idx="5"/>
            <a:endCxn id="1694443308" idx="0"/>
          </p:cNvCxnSpPr>
          <p:nvPr/>
        </p:nvCxnSpPr>
        <p:spPr bwMode="auto">
          <a:xfrm>
            <a:off x="3224786" y="2543941"/>
            <a:ext cx="337608" cy="41711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48222147" name="Straight Arrow Connector 15"/>
          <p:cNvCxnSpPr>
            <a:stCxn id="1225027483" idx="5"/>
            <a:endCxn id="76430908" idx="0"/>
          </p:cNvCxnSpPr>
          <p:nvPr/>
        </p:nvCxnSpPr>
        <p:spPr bwMode="auto">
          <a:xfrm>
            <a:off x="2743457" y="3440411"/>
            <a:ext cx="282773" cy="41711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120469343" name="TextBox 16"/>
          <p:cNvSpPr txBox="1"/>
          <p:nvPr/>
        </p:nvSpPr>
        <p:spPr bwMode="auto">
          <a:xfrm>
            <a:off x="809712" y="5127245"/>
            <a:ext cx="2371162" cy="523220"/>
          </a:xfrm>
          <a:prstGeom prst="rect">
            <a:avLst/>
          </a:prstGeom>
          <a:noFill/>
        </p:spPr>
        <p:txBody>
          <a:bodyPr wrap="none" rtlCol="0">
            <a:spAutoFit/>
          </a:bodyPr>
          <a:lstStyle/>
          <a:p>
            <a:pPr>
              <a:defRPr/>
            </a:pPr>
            <a:r>
              <a:rPr lang="en-US" sz="2800" b="1"/>
              <a:t>C B D A F G E H</a:t>
            </a:r>
            <a:endParaRPr/>
          </a:p>
        </p:txBody>
      </p:sp>
      <p:sp>
        <p:nvSpPr>
          <p:cNvPr id="2046543654" name="TextBox 17"/>
          <p:cNvSpPr txBox="1"/>
          <p:nvPr/>
        </p:nvSpPr>
        <p:spPr bwMode="auto">
          <a:xfrm>
            <a:off x="1016499" y="4686177"/>
            <a:ext cx="1957588" cy="400110"/>
          </a:xfrm>
          <a:prstGeom prst="rect">
            <a:avLst/>
          </a:prstGeom>
          <a:noFill/>
        </p:spPr>
        <p:txBody>
          <a:bodyPr wrap="none" rtlCol="0">
            <a:spAutoFit/>
          </a:bodyPr>
          <a:lstStyle/>
          <a:p>
            <a:pPr algn="ctr">
              <a:defRPr/>
            </a:pPr>
            <a:r>
              <a:rPr lang="en-IN" sz="2000" b="1"/>
              <a:t>Inorder</a:t>
            </a:r>
            <a:r>
              <a:rPr lang="en-IN" sz="2000" b="1"/>
              <a:t> Traversal</a:t>
            </a:r>
            <a:endParaRPr lang="en-US" sz="2000" b="1"/>
          </a:p>
        </p:txBody>
      </p:sp>
      <p:cxnSp>
        <p:nvCxnSpPr>
          <p:cNvPr id="939285867" name="Straight Connector 18"/>
          <p:cNvCxnSpPr/>
          <p:nvPr/>
        </p:nvCxnSpPr>
        <p:spPr bwMode="auto">
          <a:xfrm>
            <a:off x="4249781" y="1066801"/>
            <a:ext cx="0" cy="5179255"/>
          </a:xfrm>
          <a:prstGeom prst="line">
            <a:avLst/>
          </a:prstGeom>
        </p:spPr>
        <p:style>
          <a:lnRef idx="2">
            <a:schemeClr val="dk1"/>
          </a:lnRef>
          <a:fillRef idx="0">
            <a:schemeClr val="dk1"/>
          </a:fillRef>
          <a:effectRef idx="1">
            <a:schemeClr val="dk1"/>
          </a:effectRef>
          <a:fontRef idx="minor">
            <a:schemeClr val="tx1"/>
          </a:fontRef>
        </p:style>
      </p:cxnSp>
      <p:sp>
        <p:nvSpPr>
          <p:cNvPr id="728712603" name="Oval 19"/>
          <p:cNvSpPr/>
          <p:nvPr/>
        </p:nvSpPr>
        <p:spPr bwMode="auto">
          <a:xfrm>
            <a:off x="1475208" y="296105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cxnSp>
        <p:nvCxnSpPr>
          <p:cNvPr id="1122069472" name="Straight Arrow Connector 21"/>
          <p:cNvCxnSpPr>
            <a:stCxn id="1884541793" idx="5"/>
            <a:endCxn id="728712603" idx="0"/>
          </p:cNvCxnSpPr>
          <p:nvPr/>
        </p:nvCxnSpPr>
        <p:spPr bwMode="auto">
          <a:xfrm>
            <a:off x="1479435" y="2543941"/>
            <a:ext cx="276573" cy="41711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974286449" name="Group 24"/>
          <p:cNvGrpSpPr/>
          <p:nvPr/>
        </p:nvGrpSpPr>
        <p:grpSpPr bwMode="auto">
          <a:xfrm>
            <a:off x="7114004" y="2743200"/>
            <a:ext cx="1066800" cy="381000"/>
            <a:chOff x="304800" y="4191000"/>
            <a:chExt cx="1066800" cy="381000"/>
          </a:xfrm>
        </p:grpSpPr>
        <p:sp>
          <p:nvSpPr>
            <p:cNvPr id="26" name="Rectangle 25"/>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sp>
          <p:nvSpPr>
            <p:cNvPr id="27" name="Rectangle 26"/>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28" name="Rectangle 27"/>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505651676" name="Group 28"/>
          <p:cNvGrpSpPr/>
          <p:nvPr/>
        </p:nvGrpSpPr>
        <p:grpSpPr bwMode="auto">
          <a:xfrm>
            <a:off x="5361404" y="3733800"/>
            <a:ext cx="1066800" cy="381000"/>
            <a:chOff x="304800" y="4191000"/>
            <a:chExt cx="1066800" cy="381000"/>
          </a:xfrm>
        </p:grpSpPr>
        <p:sp>
          <p:nvSpPr>
            <p:cNvPr id="30" name="Rectangle 29"/>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31" name="Rectangle 30"/>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32" name="Rectangle 31"/>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213944356" name="Group 32"/>
          <p:cNvGrpSpPr/>
          <p:nvPr/>
        </p:nvGrpSpPr>
        <p:grpSpPr bwMode="auto">
          <a:xfrm>
            <a:off x="8257004" y="3733800"/>
            <a:ext cx="1066800" cy="381000"/>
            <a:chOff x="304800" y="4191000"/>
            <a:chExt cx="1066800" cy="381000"/>
          </a:xfrm>
        </p:grpSpPr>
        <p:sp>
          <p:nvSpPr>
            <p:cNvPr id="34" name="Rectangle 33"/>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35" name="Rectangle 34"/>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36" name="Rectangle 35"/>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512910522" name="Group 36"/>
          <p:cNvGrpSpPr/>
          <p:nvPr/>
        </p:nvGrpSpPr>
        <p:grpSpPr bwMode="auto">
          <a:xfrm>
            <a:off x="4523204" y="4876800"/>
            <a:ext cx="1066800" cy="381000"/>
            <a:chOff x="304800" y="4191000"/>
            <a:chExt cx="1066800" cy="381000"/>
          </a:xfrm>
        </p:grpSpPr>
        <p:sp>
          <p:nvSpPr>
            <p:cNvPr id="38" name="Rectangle 37"/>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39" name="Rectangle 38"/>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0" name="Rectangle 39"/>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452081767" name="Group 40"/>
          <p:cNvGrpSpPr/>
          <p:nvPr/>
        </p:nvGrpSpPr>
        <p:grpSpPr bwMode="auto">
          <a:xfrm>
            <a:off x="7342604" y="4876800"/>
            <a:ext cx="1066800" cy="381000"/>
            <a:chOff x="304800" y="4191000"/>
            <a:chExt cx="1066800" cy="381000"/>
          </a:xfrm>
        </p:grpSpPr>
        <p:sp>
          <p:nvSpPr>
            <p:cNvPr id="42" name="Rectangle 41"/>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sp>
          <p:nvSpPr>
            <p:cNvPr id="43" name="Rectangle 42"/>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4" name="Rectangle 43"/>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235353174" name="Group 44"/>
          <p:cNvGrpSpPr/>
          <p:nvPr/>
        </p:nvGrpSpPr>
        <p:grpSpPr bwMode="auto">
          <a:xfrm>
            <a:off x="9323804" y="4876800"/>
            <a:ext cx="1066800" cy="381000"/>
            <a:chOff x="304800" y="4191000"/>
            <a:chExt cx="1066800" cy="381000"/>
          </a:xfrm>
        </p:grpSpPr>
        <p:sp>
          <p:nvSpPr>
            <p:cNvPr id="46" name="Rectangle 45"/>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H</a:t>
              </a:r>
              <a:endParaRPr lang="en-US" sz="2000" b="1"/>
            </a:p>
          </p:txBody>
        </p:sp>
        <p:sp>
          <p:nvSpPr>
            <p:cNvPr id="47" name="Rectangle 46"/>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48" name="Rectangle 47"/>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grpSp>
        <p:nvGrpSpPr>
          <p:cNvPr id="1379940150" name="Group 48"/>
          <p:cNvGrpSpPr/>
          <p:nvPr/>
        </p:nvGrpSpPr>
        <p:grpSpPr bwMode="auto">
          <a:xfrm>
            <a:off x="8333204" y="5943600"/>
            <a:ext cx="1066800" cy="381000"/>
            <a:chOff x="304800" y="4191000"/>
            <a:chExt cx="1066800" cy="381000"/>
          </a:xfrm>
        </p:grpSpPr>
        <p:sp>
          <p:nvSpPr>
            <p:cNvPr id="50" name="Rectangle 49"/>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51" name="Rectangle 50"/>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52" name="Rectangle 51"/>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sp>
        <p:nvSpPr>
          <p:cNvPr id="1569707075" name="Freeform 52"/>
          <p:cNvSpPr/>
          <p:nvPr/>
        </p:nvSpPr>
        <p:spPr bwMode="auto">
          <a:xfrm>
            <a:off x="5971005" y="2915530"/>
            <a:ext cx="1261403" cy="829939"/>
          </a:xfrm>
          <a:custGeom>
            <a:avLst/>
            <a:gdLst>
              <a:gd name="connsiteX0" fmla="*/ 829994 w 829994"/>
              <a:gd name="connsiteY0" fmla="*/ 0 h 1125416"/>
              <a:gd name="connsiteX1" fmla="*/ 0 w 829994"/>
              <a:gd name="connsiteY1" fmla="*/ 0 h 1125416"/>
              <a:gd name="connsiteX2" fmla="*/ 0 w 829994"/>
              <a:gd name="connsiteY2" fmla="*/ 1125416 h 1125416"/>
            </a:gdLst>
            <a:ahLst/>
            <a:cxnLst>
              <a:cxn ang="0">
                <a:pos x="connsiteX0" y="connsiteY0"/>
              </a:cxn>
              <a:cxn ang="0">
                <a:pos x="connsiteX1" y="connsiteY1"/>
              </a:cxn>
              <a:cxn ang="0">
                <a:pos x="connsiteX2" y="connsiteY2"/>
              </a:cxn>
            </a:cxnLst>
            <a:rect l="l" t="t" r="r" b="b"/>
            <a:pathLst>
              <a:path w="829994" h="1125416" fill="norm" stroke="1" extrusionOk="0">
                <a:moveTo>
                  <a:pt x="829994" y="0"/>
                </a:moveTo>
                <a:lnTo>
                  <a:pt x="0" y="0"/>
                </a:lnTo>
                <a:lnTo>
                  <a:pt x="0" y="112541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449077964" name="Freeform 53"/>
          <p:cNvSpPr/>
          <p:nvPr/>
        </p:nvSpPr>
        <p:spPr bwMode="auto">
          <a:xfrm>
            <a:off x="5056606" y="3904957"/>
            <a:ext cx="457199" cy="974188"/>
          </a:xfrm>
          <a:custGeom>
            <a:avLst/>
            <a:gdLst>
              <a:gd name="connsiteX0" fmla="*/ 661181 w 661181"/>
              <a:gd name="connsiteY0" fmla="*/ 0 h 1181686"/>
              <a:gd name="connsiteX1" fmla="*/ 0 w 661181"/>
              <a:gd name="connsiteY1" fmla="*/ 0 h 1181686"/>
              <a:gd name="connsiteX2" fmla="*/ 0 w 661181"/>
              <a:gd name="connsiteY2" fmla="*/ 1181686 h 1181686"/>
            </a:gdLst>
            <a:ahLst/>
            <a:cxnLst>
              <a:cxn ang="0">
                <a:pos x="connsiteX0" y="connsiteY0"/>
              </a:cxn>
              <a:cxn ang="0">
                <a:pos x="connsiteX1" y="connsiteY1"/>
              </a:cxn>
              <a:cxn ang="0">
                <a:pos x="connsiteX2" y="connsiteY2"/>
              </a:cxn>
            </a:cxnLst>
            <a:rect l="l" t="t" r="r" b="b"/>
            <a:pathLst>
              <a:path w="661181" h="1181686" fill="norm" stroke="1" extrusionOk="0">
                <a:moveTo>
                  <a:pt x="661181" y="0"/>
                </a:moveTo>
                <a:lnTo>
                  <a:pt x="0" y="0"/>
                </a:lnTo>
                <a:lnTo>
                  <a:pt x="0" y="1181686"/>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2130028963" name="Freeform 54"/>
          <p:cNvSpPr/>
          <p:nvPr/>
        </p:nvSpPr>
        <p:spPr bwMode="auto">
          <a:xfrm>
            <a:off x="8034266" y="2901463"/>
            <a:ext cx="731520" cy="844006"/>
          </a:xfrm>
          <a:custGeom>
            <a:avLst/>
            <a:gdLst>
              <a:gd name="connsiteX0" fmla="*/ 0 w 731520"/>
              <a:gd name="connsiteY0" fmla="*/ 0 h 1111347"/>
              <a:gd name="connsiteX1" fmla="*/ 731520 w 731520"/>
              <a:gd name="connsiteY1" fmla="*/ 0 h 1111347"/>
              <a:gd name="connsiteX2" fmla="*/ 731520 w 731520"/>
              <a:gd name="connsiteY2" fmla="*/ 1111347 h 1111347"/>
            </a:gdLst>
            <a:ahLst/>
            <a:cxnLst>
              <a:cxn ang="0">
                <a:pos x="connsiteX0" y="connsiteY0"/>
              </a:cxn>
              <a:cxn ang="0">
                <a:pos x="connsiteX1" y="connsiteY1"/>
              </a:cxn>
              <a:cxn ang="0">
                <a:pos x="connsiteX2" y="connsiteY2"/>
              </a:cxn>
            </a:cxnLst>
            <a:rect l="l" t="t" r="r" b="b"/>
            <a:pathLst>
              <a:path w="731520" h="1111347" fill="norm" stroke="1" extrusionOk="0">
                <a:moveTo>
                  <a:pt x="0" y="0"/>
                </a:moveTo>
                <a:lnTo>
                  <a:pt x="731520" y="0"/>
                </a:lnTo>
                <a:lnTo>
                  <a:pt x="731520" y="1111347"/>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572122815" name="Freeform 55"/>
          <p:cNvSpPr/>
          <p:nvPr/>
        </p:nvSpPr>
        <p:spPr bwMode="auto">
          <a:xfrm>
            <a:off x="7837318" y="3933093"/>
            <a:ext cx="534572" cy="946053"/>
          </a:xfrm>
          <a:custGeom>
            <a:avLst/>
            <a:gdLst>
              <a:gd name="connsiteX0" fmla="*/ 534572 w 534572"/>
              <a:gd name="connsiteY0" fmla="*/ 0 h 1139483"/>
              <a:gd name="connsiteX1" fmla="*/ 0 w 534572"/>
              <a:gd name="connsiteY1" fmla="*/ 0 h 1139483"/>
              <a:gd name="connsiteX2" fmla="*/ 0 w 534572"/>
              <a:gd name="connsiteY2" fmla="*/ 1139483 h 1139483"/>
            </a:gdLst>
            <a:ahLst/>
            <a:cxnLst>
              <a:cxn ang="0">
                <a:pos x="connsiteX0" y="connsiteY0"/>
              </a:cxn>
              <a:cxn ang="0">
                <a:pos x="connsiteX1" y="connsiteY1"/>
              </a:cxn>
              <a:cxn ang="0">
                <a:pos x="connsiteX2" y="connsiteY2"/>
              </a:cxn>
            </a:cxnLst>
            <a:rect l="l" t="t" r="r" b="b"/>
            <a:pathLst>
              <a:path w="534572" h="1139483" fill="norm" stroke="1" extrusionOk="0">
                <a:moveTo>
                  <a:pt x="534572" y="0"/>
                </a:moveTo>
                <a:lnTo>
                  <a:pt x="0" y="0"/>
                </a:lnTo>
                <a:lnTo>
                  <a:pt x="0"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1845647060" name="Freeform 56"/>
          <p:cNvSpPr/>
          <p:nvPr/>
        </p:nvSpPr>
        <p:spPr bwMode="auto">
          <a:xfrm>
            <a:off x="9187816" y="3930732"/>
            <a:ext cx="647114" cy="948414"/>
          </a:xfrm>
          <a:custGeom>
            <a:avLst/>
            <a:gdLst>
              <a:gd name="connsiteX0" fmla="*/ 0 w 647114"/>
              <a:gd name="connsiteY0" fmla="*/ 0 h 1223889"/>
              <a:gd name="connsiteX1" fmla="*/ 647114 w 647114"/>
              <a:gd name="connsiteY1" fmla="*/ 0 h 1223889"/>
              <a:gd name="connsiteX2" fmla="*/ 647114 w 647114"/>
              <a:gd name="connsiteY2" fmla="*/ 1223889 h 1223889"/>
            </a:gdLst>
            <a:ahLst/>
            <a:cxnLst>
              <a:cxn ang="0">
                <a:pos x="connsiteX0" y="connsiteY0"/>
              </a:cxn>
              <a:cxn ang="0">
                <a:pos x="connsiteX1" y="connsiteY1"/>
              </a:cxn>
              <a:cxn ang="0">
                <a:pos x="connsiteX2" y="connsiteY2"/>
              </a:cxn>
            </a:cxnLst>
            <a:rect l="l" t="t" r="r" b="b"/>
            <a:pathLst>
              <a:path w="647114" h="1223889" fill="norm" stroke="1" extrusionOk="0">
                <a:moveTo>
                  <a:pt x="0" y="0"/>
                </a:moveTo>
                <a:lnTo>
                  <a:pt x="647114" y="0"/>
                </a:lnTo>
                <a:lnTo>
                  <a:pt x="647114" y="1223889"/>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sp>
        <p:nvSpPr>
          <p:cNvPr id="8286692" name="Freeform 57"/>
          <p:cNvSpPr/>
          <p:nvPr/>
        </p:nvSpPr>
        <p:spPr bwMode="auto">
          <a:xfrm>
            <a:off x="8300311" y="5066770"/>
            <a:ext cx="534573" cy="876831"/>
          </a:xfrm>
          <a:custGeom>
            <a:avLst/>
            <a:gdLst>
              <a:gd name="connsiteX0" fmla="*/ 0 w 534573"/>
              <a:gd name="connsiteY0" fmla="*/ 0 h 1139483"/>
              <a:gd name="connsiteX1" fmla="*/ 534573 w 534573"/>
              <a:gd name="connsiteY1" fmla="*/ 0 h 1139483"/>
              <a:gd name="connsiteX2" fmla="*/ 534573 w 534573"/>
              <a:gd name="connsiteY2" fmla="*/ 1139483 h 1139483"/>
            </a:gdLst>
            <a:ahLst/>
            <a:cxnLst>
              <a:cxn ang="0">
                <a:pos x="connsiteX0" y="connsiteY0"/>
              </a:cxn>
              <a:cxn ang="0">
                <a:pos x="connsiteX1" y="connsiteY1"/>
              </a:cxn>
              <a:cxn ang="0">
                <a:pos x="connsiteX2" y="connsiteY2"/>
              </a:cxn>
            </a:cxnLst>
            <a:rect l="l" t="t" r="r" b="b"/>
            <a:pathLst>
              <a:path w="534573" h="1139483" fill="norm" stroke="1" extrusionOk="0">
                <a:moveTo>
                  <a:pt x="0" y="0"/>
                </a:moveTo>
                <a:lnTo>
                  <a:pt x="534573" y="0"/>
                </a:lnTo>
                <a:lnTo>
                  <a:pt x="534573" y="1139483"/>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cxnSp>
        <p:nvCxnSpPr>
          <p:cNvPr id="761717568" name="Straight Connector 59"/>
          <p:cNvCxnSpPr/>
          <p:nvPr/>
        </p:nvCxnSpPr>
        <p:spPr bwMode="auto">
          <a:xfrm flipH="1">
            <a:off x="4523204" y="4879146"/>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332160811" name="Straight Connector 60"/>
          <p:cNvCxnSpPr/>
          <p:nvPr/>
        </p:nvCxnSpPr>
        <p:spPr bwMode="auto">
          <a:xfrm flipH="1">
            <a:off x="52852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639890002" name="Straight Connector 61"/>
          <p:cNvCxnSpPr/>
          <p:nvPr/>
        </p:nvCxnSpPr>
        <p:spPr bwMode="auto">
          <a:xfrm flipH="1">
            <a:off x="73426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636493310" name="Straight Connector 62"/>
          <p:cNvCxnSpPr/>
          <p:nvPr/>
        </p:nvCxnSpPr>
        <p:spPr bwMode="auto">
          <a:xfrm flipH="1">
            <a:off x="93238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939555888" name="Straight Connector 63"/>
          <p:cNvCxnSpPr/>
          <p:nvPr/>
        </p:nvCxnSpPr>
        <p:spPr bwMode="auto">
          <a:xfrm flipH="1">
            <a:off x="100858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2079532366" name="Straight Connector 64"/>
          <p:cNvCxnSpPr/>
          <p:nvPr/>
        </p:nvCxnSpPr>
        <p:spPr bwMode="auto">
          <a:xfrm flipH="1">
            <a:off x="9095204" y="5945946"/>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1054423523" name="Straight Connector 65"/>
          <p:cNvCxnSpPr/>
          <p:nvPr/>
        </p:nvCxnSpPr>
        <p:spPr bwMode="auto">
          <a:xfrm flipH="1">
            <a:off x="8333204" y="59436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grpSp>
        <p:nvGrpSpPr>
          <p:cNvPr id="672406122" name="Group 66"/>
          <p:cNvGrpSpPr/>
          <p:nvPr/>
        </p:nvGrpSpPr>
        <p:grpSpPr bwMode="auto">
          <a:xfrm>
            <a:off x="6554100" y="1828800"/>
            <a:ext cx="2083904" cy="381000"/>
            <a:chOff x="-76200" y="4191000"/>
            <a:chExt cx="1997075" cy="381000"/>
          </a:xfrm>
        </p:grpSpPr>
        <p:sp>
          <p:nvSpPr>
            <p:cNvPr id="68" name="Rectangle 67"/>
            <p:cNvSpPr/>
            <p:nvPr/>
          </p:nvSpPr>
          <p:spPr bwMode="auto">
            <a:xfrm>
              <a:off x="609599" y="4191000"/>
              <a:ext cx="628650" cy="381000"/>
            </a:xfrm>
            <a:prstGeom prst="rect">
              <a:avLst/>
            </a:prstGeom>
            <a:pattFill prst="wdUpDiag">
              <a:fgClr>
                <a:schemeClr val="tx1">
                  <a:lumMod val="95000"/>
                  <a:lumOff val="5000"/>
                </a:schemeClr>
              </a:fgClr>
              <a:bgClr>
                <a:schemeClr val="bg1"/>
              </a:bgClr>
            </a:patt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1700" b="1"/>
            </a:p>
          </p:txBody>
        </p:sp>
        <p:sp>
          <p:nvSpPr>
            <p:cNvPr id="69" name="Rectangle 68"/>
            <p:cNvSpPr/>
            <p:nvPr/>
          </p:nvSpPr>
          <p:spPr bwMode="auto">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sp>
          <p:nvSpPr>
            <p:cNvPr id="70" name="Rectangle 69"/>
            <p:cNvSpPr/>
            <p:nvPr/>
          </p:nvSpPr>
          <p:spPr bwMode="auto">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b="1"/>
            </a:p>
          </p:txBody>
        </p:sp>
      </p:grpSp>
      <p:sp>
        <p:nvSpPr>
          <p:cNvPr id="872385416" name="TextBox 70"/>
          <p:cNvSpPr txBox="1"/>
          <p:nvPr/>
        </p:nvSpPr>
        <p:spPr bwMode="auto">
          <a:xfrm>
            <a:off x="7226942" y="1383268"/>
            <a:ext cx="725263" cy="369332"/>
          </a:xfrm>
          <a:prstGeom prst="rect">
            <a:avLst/>
          </a:prstGeom>
          <a:noFill/>
        </p:spPr>
        <p:txBody>
          <a:bodyPr wrap="none" rtlCol="0">
            <a:spAutoFit/>
          </a:bodyPr>
          <a:lstStyle/>
          <a:p>
            <a:pPr algn="ctr">
              <a:defRPr/>
            </a:pPr>
            <a:r>
              <a:rPr lang="en-IN" b="1"/>
              <a:t>HEAD</a:t>
            </a:r>
            <a:endParaRPr lang="en-US" b="1"/>
          </a:p>
        </p:txBody>
      </p:sp>
      <p:sp>
        <p:nvSpPr>
          <p:cNvPr id="1631009034" name="Freeform 78"/>
          <p:cNvSpPr/>
          <p:nvPr/>
        </p:nvSpPr>
        <p:spPr bwMode="auto">
          <a:xfrm>
            <a:off x="8653839" y="1996045"/>
            <a:ext cx="1603169" cy="2873829"/>
          </a:xfrm>
          <a:custGeom>
            <a:avLst/>
            <a:gdLst>
              <a:gd name="connsiteX0" fmla="*/ 1603169 w 1603169"/>
              <a:gd name="connsiteY0" fmla="*/ 2873829 h 2873829"/>
              <a:gd name="connsiteX1" fmla="*/ 1603169 w 1603169"/>
              <a:gd name="connsiteY1" fmla="*/ 0 h 2873829"/>
              <a:gd name="connsiteX2" fmla="*/ 0 w 1603169"/>
              <a:gd name="connsiteY2" fmla="*/ 0 h 2873829"/>
            </a:gdLst>
            <a:ahLst/>
            <a:cxnLst>
              <a:cxn ang="0">
                <a:pos x="connsiteX0" y="connsiteY0"/>
              </a:cxn>
              <a:cxn ang="0">
                <a:pos x="connsiteX1" y="connsiteY1"/>
              </a:cxn>
              <a:cxn ang="0">
                <a:pos x="connsiteX2" y="connsiteY2"/>
              </a:cxn>
            </a:cxnLst>
            <a:rect l="l" t="t" r="r" b="b"/>
            <a:pathLst>
              <a:path w="1603169" h="2873829" fill="norm" stroke="1" extrusionOk="0">
                <a:moveTo>
                  <a:pt x="1603169" y="2873829"/>
                </a:moveTo>
                <a:lnTo>
                  <a:pt x="1603169" y="0"/>
                </a:lnTo>
                <a:lnTo>
                  <a:pt x="0" y="0"/>
                </a:lnTo>
              </a:path>
            </a:pathLst>
          </a:custGeom>
          <a:ln w="28575">
            <a:prstDash val="sysDash"/>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defRPr/>
            </a:pPr>
            <a:endParaRPr lang="en-US"/>
          </a:p>
        </p:txBody>
      </p:sp>
      <p:cxnSp>
        <p:nvCxnSpPr>
          <p:cNvPr id="1957489819" name="Straight Arrow Connector 79"/>
          <p:cNvCxnSpPr>
            <a:stCxn id="69" idx="2"/>
            <a:endCxn id="26" idx="0"/>
          </p:cNvCxnSpPr>
          <p:nvPr/>
        </p:nvCxnSpPr>
        <p:spPr bwMode="auto">
          <a:xfrm>
            <a:off x="6911910" y="2209800"/>
            <a:ext cx="735495" cy="53340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nvGrpSpPr>
          <p:cNvPr id="1865532833" name="Group 80"/>
          <p:cNvGrpSpPr/>
          <p:nvPr/>
        </p:nvGrpSpPr>
        <p:grpSpPr bwMode="auto">
          <a:xfrm>
            <a:off x="6123404" y="4869873"/>
            <a:ext cx="1066800" cy="381000"/>
            <a:chOff x="304800" y="4191000"/>
            <a:chExt cx="1066800" cy="381000"/>
          </a:xfrm>
        </p:grpSpPr>
        <p:sp>
          <p:nvSpPr>
            <p:cNvPr id="82" name="Rectangle 81"/>
            <p:cNvSpPr/>
            <p:nvPr/>
          </p:nvSpPr>
          <p:spPr bwMode="auto">
            <a:xfrm>
              <a:off x="609600" y="4191000"/>
              <a:ext cx="4572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83" name="Rectangle 82"/>
            <p:cNvSpPr/>
            <p:nvPr/>
          </p:nvSpPr>
          <p:spPr bwMode="auto">
            <a:xfrm>
              <a:off x="304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sp>
          <p:nvSpPr>
            <p:cNvPr id="84" name="Rectangle 83"/>
            <p:cNvSpPr/>
            <p:nvPr/>
          </p:nvSpPr>
          <p:spPr bwMode="auto">
            <a:xfrm>
              <a:off x="1066800" y="4191000"/>
              <a:ext cx="304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sz="2000" b="1"/>
            </a:p>
          </p:txBody>
        </p:sp>
      </p:grpSp>
      <p:sp>
        <p:nvSpPr>
          <p:cNvPr id="2003160729" name="Freeform 85"/>
          <p:cNvSpPr/>
          <p:nvPr/>
        </p:nvSpPr>
        <p:spPr bwMode="auto">
          <a:xfrm>
            <a:off x="6272835" y="3930732"/>
            <a:ext cx="391886" cy="938150"/>
          </a:xfrm>
          <a:custGeom>
            <a:avLst/>
            <a:gdLst>
              <a:gd name="connsiteX0" fmla="*/ 0 w 391886"/>
              <a:gd name="connsiteY0" fmla="*/ 0 h 938150"/>
              <a:gd name="connsiteX1" fmla="*/ 391886 w 391886"/>
              <a:gd name="connsiteY1" fmla="*/ 0 h 938150"/>
              <a:gd name="connsiteX2" fmla="*/ 391886 w 391886"/>
              <a:gd name="connsiteY2" fmla="*/ 938150 h 938150"/>
            </a:gdLst>
            <a:ahLst/>
            <a:cxnLst>
              <a:cxn ang="0">
                <a:pos x="connsiteX0" y="connsiteY0"/>
              </a:cxn>
              <a:cxn ang="0">
                <a:pos x="connsiteX1" y="connsiteY1"/>
              </a:cxn>
              <a:cxn ang="0">
                <a:pos x="connsiteX2" y="connsiteY2"/>
              </a:cxn>
            </a:cxnLst>
            <a:rect l="l" t="t" r="r" b="b"/>
            <a:pathLst>
              <a:path w="391886" h="938150" fill="norm" stroke="1" extrusionOk="0">
                <a:moveTo>
                  <a:pt x="0" y="0"/>
                </a:moveTo>
                <a:lnTo>
                  <a:pt x="391886" y="0"/>
                </a:lnTo>
                <a:lnTo>
                  <a:pt x="391886" y="938150"/>
                </a:lnTo>
              </a:path>
            </a:pathLst>
          </a:custGeom>
          <a:ln w="28575">
            <a:solidFill>
              <a:srgbClr val="B84742"/>
            </a:solidFill>
            <a:headEnd type="none" w="med" len="med"/>
            <a:tailEnd type="arrow" w="med" len="med"/>
          </a:ln>
        </p:spPr>
        <p:style>
          <a:lnRef idx="2">
            <a:schemeClr val="accent2"/>
          </a:lnRef>
          <a:fillRef idx="0">
            <a:schemeClr val="accent2"/>
          </a:fillRef>
          <a:effectRef idx="1">
            <a:schemeClr val="accent2"/>
          </a:effectRef>
          <a:fontRef idx="minor">
            <a:schemeClr val="tx1"/>
          </a:fontRef>
        </p:style>
        <p:txBody>
          <a:bodyPr rtlCol="0" anchor="ctr"/>
          <a:lstStyle/>
          <a:p>
            <a:pPr algn="ctr">
              <a:defRPr/>
            </a:pPr>
            <a:endParaRPr lang="en-US"/>
          </a:p>
        </p:txBody>
      </p:sp>
      <p:cxnSp>
        <p:nvCxnSpPr>
          <p:cNvPr id="1087551302" name="Straight Connector 86"/>
          <p:cNvCxnSpPr/>
          <p:nvPr/>
        </p:nvCxnSpPr>
        <p:spPr bwMode="auto">
          <a:xfrm flipH="1">
            <a:off x="61234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cxnSp>
        <p:nvCxnSpPr>
          <p:cNvPr id="613940887" name="Straight Connector 87"/>
          <p:cNvCxnSpPr/>
          <p:nvPr/>
        </p:nvCxnSpPr>
        <p:spPr bwMode="auto">
          <a:xfrm flipH="1">
            <a:off x="6885404" y="4876801"/>
            <a:ext cx="304800" cy="378655"/>
          </a:xfrm>
          <a:prstGeom prst="line">
            <a:avLst/>
          </a:prstGeom>
          <a:ln w="28575">
            <a:solidFill>
              <a:srgbClr val="B84742"/>
            </a:solidFill>
          </a:ln>
        </p:spPr>
        <p:style>
          <a:lnRef idx="2">
            <a:schemeClr val="accent6"/>
          </a:lnRef>
          <a:fillRef idx="0">
            <a:schemeClr val="accent6"/>
          </a:fillRef>
          <a:effectRef idx="1">
            <a:schemeClr val="accent6"/>
          </a:effectRef>
          <a:fontRef idx="minor">
            <a:schemeClr val="tx1"/>
          </a:fontRef>
        </p:style>
      </p:cxnSp>
      <p:sp>
        <p:nvSpPr>
          <p:cNvPr id="1082884763" name="TextBox 88"/>
          <p:cNvSpPr txBox="1"/>
          <p:nvPr/>
        </p:nvSpPr>
        <p:spPr bwMode="auto">
          <a:xfrm>
            <a:off x="4824551" y="852572"/>
            <a:ext cx="5771131" cy="400110"/>
          </a:xfrm>
          <a:prstGeom prst="rect">
            <a:avLst/>
          </a:prstGeom>
          <a:noFill/>
        </p:spPr>
        <p:txBody>
          <a:bodyPr wrap="none" rtlCol="0">
            <a:spAutoFit/>
          </a:bodyPr>
          <a:lstStyle/>
          <a:p>
            <a:pPr algn="ctr">
              <a:defRPr/>
            </a:pPr>
            <a:r>
              <a:rPr lang="en-IN" sz="2000" b="1"/>
              <a:t>Construct Right In-Threaded Binary Tree of given Tree</a:t>
            </a:r>
            <a:endParaRPr lang="en-US" sz="2000" b="1"/>
          </a:p>
        </p:txBody>
      </p:sp>
      <p:cxnSp>
        <p:nvCxnSpPr>
          <p:cNvPr id="1527916556" name="Straight Arrow Connector 90"/>
          <p:cNvCxnSpPr>
            <a:stCxn id="40" idx="0"/>
            <a:endCxn id="30" idx="2"/>
          </p:cNvCxnSpPr>
          <p:nvPr/>
        </p:nvCxnSpPr>
        <p:spPr bwMode="auto">
          <a:xfrm flipV="1">
            <a:off x="5437604" y="4114800"/>
            <a:ext cx="457200" cy="7620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1554205496" name="Straight Arrow Connector 92"/>
          <p:cNvCxnSpPr>
            <a:stCxn id="84" idx="0"/>
            <a:endCxn id="26" idx="2"/>
          </p:cNvCxnSpPr>
          <p:nvPr/>
        </p:nvCxnSpPr>
        <p:spPr bwMode="auto">
          <a:xfrm flipV="1">
            <a:off x="7037804" y="3124201"/>
            <a:ext cx="609600" cy="1745673"/>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cxnSp>
        <p:nvCxnSpPr>
          <p:cNvPr id="712137817" name="Straight Arrow Connector 94"/>
          <p:cNvCxnSpPr>
            <a:stCxn id="52" idx="0"/>
            <a:endCxn id="34" idx="2"/>
          </p:cNvCxnSpPr>
          <p:nvPr/>
        </p:nvCxnSpPr>
        <p:spPr bwMode="auto">
          <a:xfrm flipH="1" flipV="1">
            <a:off x="8790404" y="4114800"/>
            <a:ext cx="457200" cy="1828800"/>
          </a:xfrm>
          <a:prstGeom prst="straightConnector1">
            <a:avLst/>
          </a:prstGeom>
          <a:ln w="28575">
            <a:prstDash val="dash"/>
            <a:tailEnd type="arrow"/>
          </a:ln>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21067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8454179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5762488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2502748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979410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9444330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643090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115799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8545779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85824151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8347516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62033324"/>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4822214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72871260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12206947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3928586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74286449"/>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505651676"/>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13944356"/>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1452081767"/>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35353174"/>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137994015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69707075"/>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449077964"/>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130028963"/>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72122815"/>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845647060"/>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286692"/>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1332160811"/>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163989000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1636493310"/>
                                        </p:tgtEl>
                                        <p:attrNameLst>
                                          <p:attrName>style.visibility</p:attrName>
                                        </p:attrNameLst>
                                      </p:cBhvr>
                                      <p:to>
                                        <p:strVal val="visible"/>
                                      </p:to>
                                    </p:set>
                                  </p:childTnLst>
                                </p:cTn>
                              </p:par>
                              <p:par>
                                <p:cTn id="71" presetID="1" presetClass="entr" presetSubtype="0" fill="hold" nodeType="withEffect">
                                  <p:stCondLst>
                                    <p:cond delay="0"/>
                                  </p:stCondLst>
                                  <p:childTnLst>
                                    <p:set>
                                      <p:cBhvr>
                                        <p:cTn id="72" dur="1" fill="hold">
                                          <p:stCondLst>
                                            <p:cond delay="0"/>
                                          </p:stCondLst>
                                        </p:cTn>
                                        <p:tgtEl>
                                          <p:spTgt spid="1939555888"/>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2079532366"/>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1054423523"/>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1865532833"/>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003160729"/>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1087551302"/>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613940887"/>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761717568"/>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512910522"/>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0" nodeType="clickEffect">
                                  <p:stCondLst>
                                    <p:cond delay="0"/>
                                  </p:stCondLst>
                                  <p:childTnLst>
                                    <p:set>
                                      <p:cBhvr>
                                        <p:cTn id="92" dur="1" fill="hold">
                                          <p:stCondLst>
                                            <p:cond delay="0"/>
                                          </p:stCondLst>
                                        </p:cTn>
                                        <p:tgtEl>
                                          <p:spTgt spid="108288476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grpId="0" nodeType="clickEffect">
                                  <p:stCondLst>
                                    <p:cond delay="0"/>
                                  </p:stCondLst>
                                  <p:childTnLst>
                                    <p:set>
                                      <p:cBhvr>
                                        <p:cTn id="96" dur="1" fill="hold">
                                          <p:stCondLst>
                                            <p:cond delay="0"/>
                                          </p:stCondLst>
                                        </p:cTn>
                                        <p:tgtEl>
                                          <p:spTgt spid="204654365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grpId="0" nodeType="clickEffect">
                                  <p:stCondLst>
                                    <p:cond delay="0"/>
                                  </p:stCondLst>
                                  <p:childTnLst>
                                    <p:set>
                                      <p:cBhvr>
                                        <p:cTn id="100" dur="1" fill="hold">
                                          <p:stCondLst>
                                            <p:cond delay="0"/>
                                          </p:stCondLst>
                                        </p:cTn>
                                        <p:tgtEl>
                                          <p:spTgt spid="2120469343"/>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xit" presetSubtype="0" fill="hold" nodeType="clickEffect">
                                  <p:stCondLst>
                                    <p:cond delay="0"/>
                                  </p:stCondLst>
                                  <p:childTnLst>
                                    <p:set>
                                      <p:cBhvr>
                                        <p:cTn id="104" dur="1" fill="hold">
                                          <p:stCondLst>
                                            <p:cond delay="0"/>
                                          </p:stCondLst>
                                        </p:cTn>
                                        <p:tgtEl>
                                          <p:spTgt spid="1332160811"/>
                                        </p:tgtEl>
                                        <p:attrNameLst>
                                          <p:attrName>style.visibility</p:attrName>
                                        </p:attrNameLst>
                                      </p:cBhvr>
                                      <p:to>
                                        <p:strVal val="hidden"/>
                                      </p:to>
                                    </p:set>
                                  </p:childTnLst>
                                </p:cTn>
                              </p:par>
                            </p:childTnLst>
                          </p:cTn>
                        </p:par>
                      </p:childTnLst>
                    </p:cTn>
                  </p:par>
                  <p:par>
                    <p:cTn id="105" fill="hold">
                      <p:stCondLst>
                        <p:cond delay="indefinite"/>
                      </p:stCondLst>
                      <p:childTnLst>
                        <p:par>
                          <p:cTn id="106" fill="hold">
                            <p:stCondLst>
                              <p:cond delay="0"/>
                            </p:stCondLst>
                            <p:childTnLst>
                              <p:par>
                                <p:cTn id="107" presetID="22" presetClass="entr" presetSubtype="4" fill="hold" nodeType="clickEffect">
                                  <p:stCondLst>
                                    <p:cond delay="0"/>
                                  </p:stCondLst>
                                  <p:childTnLst>
                                    <p:set>
                                      <p:cBhvr>
                                        <p:cTn id="108" dur="1" fill="hold">
                                          <p:stCondLst>
                                            <p:cond delay="0"/>
                                          </p:stCondLst>
                                        </p:cTn>
                                        <p:tgtEl>
                                          <p:spTgt spid="1527916556"/>
                                        </p:tgtEl>
                                        <p:attrNameLst>
                                          <p:attrName>style.visibility</p:attrName>
                                        </p:attrNameLst>
                                      </p:cBhvr>
                                      <p:to>
                                        <p:strVal val="visible"/>
                                      </p:to>
                                    </p:set>
                                    <p:animEffect transition="in" filter="wipe(down)">
                                      <p:cBhvr>
                                        <p:cTn id="109" dur="500"/>
                                        <p:tgtEl>
                                          <p:spTgt spid="1527916556"/>
                                        </p:tgtEl>
                                      </p:cBhvr>
                                    </p:animEffect>
                                  </p:childTnLst>
                                </p:cTn>
                              </p:par>
                            </p:childTnLst>
                          </p:cTn>
                        </p:par>
                      </p:childTnLst>
                    </p:cTn>
                  </p:par>
                  <p:par>
                    <p:cTn id="110" fill="hold">
                      <p:stCondLst>
                        <p:cond delay="indefinite"/>
                      </p:stCondLst>
                      <p:childTnLst>
                        <p:par>
                          <p:cTn id="111" fill="hold">
                            <p:stCondLst>
                              <p:cond delay="0"/>
                            </p:stCondLst>
                            <p:childTnLst>
                              <p:par>
                                <p:cTn id="112" presetID="1" presetClass="exit" presetSubtype="0" fill="hold" nodeType="clickEffect">
                                  <p:stCondLst>
                                    <p:cond delay="0"/>
                                  </p:stCondLst>
                                  <p:childTnLst>
                                    <p:set>
                                      <p:cBhvr>
                                        <p:cTn id="113" dur="1" fill="hold">
                                          <p:stCondLst>
                                            <p:cond delay="0"/>
                                          </p:stCondLst>
                                        </p:cTn>
                                        <p:tgtEl>
                                          <p:spTgt spid="613940887"/>
                                        </p:tgtEl>
                                        <p:attrNameLst>
                                          <p:attrName>style.visibility</p:attrName>
                                        </p:attrNameLst>
                                      </p:cBhvr>
                                      <p:to>
                                        <p:strVal val="hidden"/>
                                      </p:to>
                                    </p:set>
                                  </p:childTnLst>
                                </p:cTn>
                              </p:par>
                            </p:childTnLst>
                          </p:cTn>
                        </p:par>
                      </p:childTnLst>
                    </p:cTn>
                  </p:par>
                  <p:par>
                    <p:cTn id="114" fill="hold">
                      <p:stCondLst>
                        <p:cond delay="indefinite"/>
                      </p:stCondLst>
                      <p:childTnLst>
                        <p:par>
                          <p:cTn id="115" fill="hold">
                            <p:stCondLst>
                              <p:cond delay="0"/>
                            </p:stCondLst>
                            <p:childTnLst>
                              <p:par>
                                <p:cTn id="116" presetID="22" presetClass="entr" presetSubtype="4" fill="hold" nodeType="clickEffect">
                                  <p:stCondLst>
                                    <p:cond delay="0"/>
                                  </p:stCondLst>
                                  <p:childTnLst>
                                    <p:set>
                                      <p:cBhvr>
                                        <p:cTn id="117" dur="1" fill="hold">
                                          <p:stCondLst>
                                            <p:cond delay="0"/>
                                          </p:stCondLst>
                                        </p:cTn>
                                        <p:tgtEl>
                                          <p:spTgt spid="1554205496"/>
                                        </p:tgtEl>
                                        <p:attrNameLst>
                                          <p:attrName>style.visibility</p:attrName>
                                        </p:attrNameLst>
                                      </p:cBhvr>
                                      <p:to>
                                        <p:strVal val="visible"/>
                                      </p:to>
                                    </p:set>
                                    <p:animEffect transition="in" filter="wipe(down)">
                                      <p:cBhvr>
                                        <p:cTn id="118" dur="500"/>
                                        <p:tgtEl>
                                          <p:spTgt spid="1554205496"/>
                                        </p:tgtEl>
                                      </p:cBhvr>
                                    </p:animEffect>
                                  </p:childTnLst>
                                </p:cTn>
                              </p:par>
                            </p:childTnLst>
                          </p:cTn>
                        </p:par>
                      </p:childTnLst>
                    </p:cTn>
                  </p:par>
                  <p:par>
                    <p:cTn id="119" fill="hold">
                      <p:stCondLst>
                        <p:cond delay="indefinite"/>
                      </p:stCondLst>
                      <p:childTnLst>
                        <p:par>
                          <p:cTn id="120" fill="hold">
                            <p:stCondLst>
                              <p:cond delay="0"/>
                            </p:stCondLst>
                            <p:childTnLst>
                              <p:par>
                                <p:cTn id="121" presetID="1" presetClass="exit" presetSubtype="0" fill="hold" nodeType="clickEffect">
                                  <p:stCondLst>
                                    <p:cond delay="0"/>
                                  </p:stCondLst>
                                  <p:childTnLst>
                                    <p:set>
                                      <p:cBhvr>
                                        <p:cTn id="122" dur="1" fill="hold">
                                          <p:stCondLst>
                                            <p:cond delay="0"/>
                                          </p:stCondLst>
                                        </p:cTn>
                                        <p:tgtEl>
                                          <p:spTgt spid="2079532366"/>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4" fill="hold" nodeType="clickEffect">
                                  <p:stCondLst>
                                    <p:cond delay="0"/>
                                  </p:stCondLst>
                                  <p:childTnLst>
                                    <p:set>
                                      <p:cBhvr>
                                        <p:cTn id="126" dur="1" fill="hold">
                                          <p:stCondLst>
                                            <p:cond delay="0"/>
                                          </p:stCondLst>
                                        </p:cTn>
                                        <p:tgtEl>
                                          <p:spTgt spid="712137817"/>
                                        </p:tgtEl>
                                        <p:attrNameLst>
                                          <p:attrName>style.visibility</p:attrName>
                                        </p:attrNameLst>
                                      </p:cBhvr>
                                      <p:to>
                                        <p:strVal val="visible"/>
                                      </p:to>
                                    </p:set>
                                    <p:animEffect transition="in" filter="wipe(down)">
                                      <p:cBhvr>
                                        <p:cTn id="127" dur="500"/>
                                        <p:tgtEl>
                                          <p:spTgt spid="712137817"/>
                                        </p:tgtEl>
                                      </p:cBhvr>
                                    </p:animEffect>
                                  </p:childTnLst>
                                </p:cTn>
                              </p:par>
                            </p:childTnLst>
                          </p:cTn>
                        </p:par>
                      </p:childTnLst>
                    </p:cTn>
                  </p:par>
                  <p:par>
                    <p:cTn id="128" fill="hold">
                      <p:stCondLst>
                        <p:cond delay="indefinite"/>
                      </p:stCondLst>
                      <p:childTnLst>
                        <p:par>
                          <p:cTn id="129" fill="hold">
                            <p:stCondLst>
                              <p:cond delay="0"/>
                            </p:stCondLst>
                            <p:childTnLst>
                              <p:par>
                                <p:cTn id="130" presetID="1" presetClass="entr" presetSubtype="0" fill="hold" nodeType="clickEffect">
                                  <p:stCondLst>
                                    <p:cond delay="0"/>
                                  </p:stCondLst>
                                  <p:childTnLst>
                                    <p:set>
                                      <p:cBhvr>
                                        <p:cTn id="131" dur="1" fill="hold">
                                          <p:stCondLst>
                                            <p:cond delay="0"/>
                                          </p:stCondLst>
                                        </p:cTn>
                                        <p:tgtEl>
                                          <p:spTgt spid="672406122"/>
                                        </p:tgtEl>
                                        <p:attrNameLst>
                                          <p:attrName>style.visibility</p:attrName>
                                        </p:attrNameLst>
                                      </p:cBhvr>
                                      <p:to>
                                        <p:strVal val="visible"/>
                                      </p:to>
                                    </p:set>
                                  </p:childTnLst>
                                </p:cTn>
                              </p:par>
                              <p:par>
                                <p:cTn id="132" presetID="1" presetClass="entr" presetSubtype="0" fill="hold" grpId="0" nodeType="withEffect">
                                  <p:stCondLst>
                                    <p:cond delay="0"/>
                                  </p:stCondLst>
                                  <p:childTnLst>
                                    <p:set>
                                      <p:cBhvr>
                                        <p:cTn id="133" dur="1" fill="hold">
                                          <p:stCondLst>
                                            <p:cond delay="0"/>
                                          </p:stCondLst>
                                        </p:cTn>
                                        <p:tgtEl>
                                          <p:spTgt spid="872385416"/>
                                        </p:tgtEl>
                                        <p:attrNameLst>
                                          <p:attrName>style.visibility</p:attrName>
                                        </p:attrNameLst>
                                      </p:cBhvr>
                                      <p:to>
                                        <p:strVal val="visible"/>
                                      </p:to>
                                    </p:set>
                                  </p:childTnLst>
                                </p:cTn>
                              </p:par>
                            </p:childTnLst>
                          </p:cTn>
                        </p:par>
                      </p:childTnLst>
                    </p:cTn>
                  </p:par>
                  <p:par>
                    <p:cTn id="134" fill="hold">
                      <p:stCondLst>
                        <p:cond delay="indefinite"/>
                      </p:stCondLst>
                      <p:childTnLst>
                        <p:par>
                          <p:cTn id="135" fill="hold">
                            <p:stCondLst>
                              <p:cond delay="0"/>
                            </p:stCondLst>
                            <p:childTnLst>
                              <p:par>
                                <p:cTn id="136" presetID="1" presetClass="exit" presetSubtype="0" fill="hold" nodeType="clickEffect">
                                  <p:stCondLst>
                                    <p:cond delay="0"/>
                                  </p:stCondLst>
                                  <p:childTnLst>
                                    <p:set>
                                      <p:cBhvr>
                                        <p:cTn id="137" dur="1" fill="hold">
                                          <p:stCondLst>
                                            <p:cond delay="0"/>
                                          </p:stCondLst>
                                        </p:cTn>
                                        <p:tgtEl>
                                          <p:spTgt spid="1939555888"/>
                                        </p:tgtEl>
                                        <p:attrNameLst>
                                          <p:attrName>style.visibility</p:attrName>
                                        </p:attrNameLst>
                                      </p:cBhvr>
                                      <p:to>
                                        <p:strVal val="hidden"/>
                                      </p:to>
                                    </p:set>
                                  </p:childTnLst>
                                </p:cTn>
                              </p:par>
                            </p:childTnLst>
                          </p:cTn>
                        </p:par>
                      </p:childTnLst>
                    </p:cTn>
                  </p:par>
                  <p:par>
                    <p:cTn id="138" fill="hold">
                      <p:stCondLst>
                        <p:cond delay="indefinite"/>
                      </p:stCondLst>
                      <p:childTnLst>
                        <p:par>
                          <p:cTn id="139" fill="hold">
                            <p:stCondLst>
                              <p:cond delay="0"/>
                            </p:stCondLst>
                            <p:childTnLst>
                              <p:par>
                                <p:cTn id="140" presetID="22" presetClass="entr" presetSubtype="2" fill="hold" grpId="0" nodeType="clickEffect">
                                  <p:stCondLst>
                                    <p:cond delay="0"/>
                                  </p:stCondLst>
                                  <p:childTnLst>
                                    <p:set>
                                      <p:cBhvr>
                                        <p:cTn id="141" dur="1" fill="hold">
                                          <p:stCondLst>
                                            <p:cond delay="0"/>
                                          </p:stCondLst>
                                        </p:cTn>
                                        <p:tgtEl>
                                          <p:spTgt spid="1631009034"/>
                                        </p:tgtEl>
                                        <p:attrNameLst>
                                          <p:attrName>style.visibility</p:attrName>
                                        </p:attrNameLst>
                                      </p:cBhvr>
                                      <p:to>
                                        <p:strVal val="visible"/>
                                      </p:to>
                                    </p:set>
                                    <p:animEffect transition="in" filter="wipe(right)">
                                      <p:cBhvr>
                                        <p:cTn id="142" dur="500"/>
                                        <p:tgtEl>
                                          <p:spTgt spid="1631009034"/>
                                        </p:tgtEl>
                                      </p:cBhvr>
                                    </p:animEffect>
                                  </p:childTnLst>
                                </p:cTn>
                              </p:par>
                            </p:childTnLst>
                          </p:cTn>
                        </p:par>
                      </p:childTnLst>
                    </p:cTn>
                  </p:par>
                  <p:par>
                    <p:cTn id="143" fill="hold">
                      <p:stCondLst>
                        <p:cond delay="indefinite"/>
                      </p:stCondLst>
                      <p:childTnLst>
                        <p:par>
                          <p:cTn id="144" fill="hold">
                            <p:stCondLst>
                              <p:cond delay="0"/>
                            </p:stCondLst>
                            <p:childTnLst>
                              <p:par>
                                <p:cTn id="145" presetID="22" presetClass="entr" presetSubtype="1" fill="hold" nodeType="clickEffect">
                                  <p:stCondLst>
                                    <p:cond delay="0"/>
                                  </p:stCondLst>
                                  <p:childTnLst>
                                    <p:set>
                                      <p:cBhvr>
                                        <p:cTn id="146" dur="1" fill="hold">
                                          <p:stCondLst>
                                            <p:cond delay="0"/>
                                          </p:stCondLst>
                                        </p:cTn>
                                        <p:tgtEl>
                                          <p:spTgt spid="1957489819"/>
                                        </p:tgtEl>
                                        <p:attrNameLst>
                                          <p:attrName>style.visibility</p:attrName>
                                        </p:attrNameLst>
                                      </p:cBhvr>
                                      <p:to>
                                        <p:strVal val="visible"/>
                                      </p:to>
                                    </p:set>
                                    <p:animEffect transition="in" filter="wipe(up)">
                                      <p:cBhvr>
                                        <p:cTn id="147" dur="500"/>
                                        <p:tgtEl>
                                          <p:spTgt spid="19574898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10672" grpId="0" animBg="1"/>
      <p:bldP spid="1884541793" grpId="0" animBg="1"/>
      <p:bldP spid="857624888" grpId="0" animBg="1"/>
      <p:bldP spid="1225027483" grpId="0" animBg="1"/>
      <p:bldP spid="229794109" grpId="0" animBg="1"/>
      <p:bldP spid="1694443308" grpId="0" animBg="1"/>
      <p:bldP spid="76430908" grpId="0" animBg="1"/>
      <p:bldP spid="2120469343" grpId="0"/>
      <p:bldP spid="2046543654" grpId="0"/>
      <p:bldP spid="728712603" grpId="0" animBg="1"/>
      <p:bldP spid="1569707075" grpId="0" animBg="1"/>
      <p:bldP spid="449077964" grpId="0" animBg="1"/>
      <p:bldP spid="2130028963" grpId="0" animBg="1"/>
      <p:bldP spid="572122815" grpId="0" animBg="1"/>
      <p:bldP spid="1845647060" grpId="0" animBg="1"/>
      <p:bldP spid="8286692" grpId="0" animBg="1"/>
      <p:bldP spid="872385416" grpId="0"/>
      <p:bldP spid="1631009034" grpId="0" animBg="1"/>
      <p:bldP spid="2003160729" grpId="0" animBg="1"/>
      <p:bldP spid="1082884763" grpId="0"/>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95661343" name="Title 1"/>
          <p:cNvSpPr>
            <a:spLocks noGrp="1"/>
          </p:cNvSpPr>
          <p:nvPr>
            <p:ph type="title"/>
          </p:nvPr>
        </p:nvSpPr>
        <p:spPr bwMode="auto"/>
        <p:txBody>
          <a:bodyPr/>
          <a:lstStyle/>
          <a:p>
            <a:pPr>
              <a:defRPr/>
            </a:pPr>
            <a:r>
              <a:rPr lang="en-US"/>
              <a:t>Advantages of Threaded </a:t>
            </a:r>
            <a:r>
              <a:rPr lang="en-US"/>
              <a:t>Binary Tree</a:t>
            </a:r>
            <a:endParaRPr/>
          </a:p>
        </p:txBody>
      </p:sp>
      <p:sp>
        <p:nvSpPr>
          <p:cNvPr id="1884931932" name="Content Placeholder 2"/>
          <p:cNvSpPr>
            <a:spLocks noGrp="1"/>
          </p:cNvSpPr>
          <p:nvPr>
            <p:ph idx="1"/>
          </p:nvPr>
        </p:nvSpPr>
        <p:spPr bwMode="auto"/>
        <p:txBody>
          <a:bodyPr>
            <a:normAutofit/>
          </a:bodyPr>
          <a:lstStyle/>
          <a:p>
            <a:pPr>
              <a:defRPr/>
            </a:pPr>
            <a:r>
              <a:rPr lang="en-IN" b="1">
                <a:solidFill>
                  <a:srgbClr val="C00000"/>
                </a:solidFill>
              </a:rPr>
              <a:t>Inorder</a:t>
            </a:r>
            <a:r>
              <a:rPr lang="en-IN" b="1">
                <a:solidFill>
                  <a:srgbClr val="C00000"/>
                </a:solidFill>
              </a:rPr>
              <a:t> </a:t>
            </a:r>
            <a:r>
              <a:rPr lang="en-IN" b="1">
                <a:solidFill>
                  <a:srgbClr val="C00000"/>
                </a:solidFill>
              </a:rPr>
              <a:t>traversal is faster</a:t>
            </a:r>
            <a:r>
              <a:rPr lang="en-IN" b="1">
                <a:solidFill>
                  <a:srgbClr val="FF0000"/>
                </a:solidFill>
              </a:rPr>
              <a:t> </a:t>
            </a:r>
            <a:r>
              <a:rPr lang="en-IN"/>
              <a:t>than unthreaded version as stack is not </a:t>
            </a:r>
            <a:r>
              <a:rPr lang="en-IN"/>
              <a:t>required.</a:t>
            </a:r>
            <a:endParaRPr/>
          </a:p>
          <a:p>
            <a:pPr>
              <a:defRPr/>
            </a:pPr>
            <a:r>
              <a:rPr lang="en-IN" b="1">
                <a:solidFill>
                  <a:srgbClr val="C00000"/>
                </a:solidFill>
              </a:rPr>
              <a:t>Effectively</a:t>
            </a:r>
            <a:r>
              <a:rPr lang="en-IN" b="1">
                <a:solidFill>
                  <a:srgbClr val="FF0000"/>
                </a:solidFill>
              </a:rPr>
              <a:t> </a:t>
            </a:r>
            <a:r>
              <a:rPr lang="en-IN" b="1">
                <a:solidFill>
                  <a:srgbClr val="C00000"/>
                </a:solidFill>
              </a:rPr>
              <a:t>determines</a:t>
            </a:r>
            <a:r>
              <a:rPr lang="en-IN" b="1">
                <a:solidFill>
                  <a:srgbClr val="FF0000"/>
                </a:solidFill>
              </a:rPr>
              <a:t> </a:t>
            </a:r>
            <a:r>
              <a:rPr lang="en-IN"/>
              <a:t>the </a:t>
            </a:r>
            <a:r>
              <a:rPr lang="en-IN" b="1">
                <a:solidFill>
                  <a:srgbClr val="C00000"/>
                </a:solidFill>
              </a:rPr>
              <a:t>predecessor</a:t>
            </a:r>
            <a:r>
              <a:rPr lang="en-IN" b="1">
                <a:solidFill>
                  <a:srgbClr val="FF0000"/>
                </a:solidFill>
              </a:rPr>
              <a:t> </a:t>
            </a:r>
            <a:r>
              <a:rPr lang="en-IN" b="1">
                <a:solidFill>
                  <a:srgbClr val="C00000"/>
                </a:solidFill>
              </a:rPr>
              <a:t>and</a:t>
            </a:r>
            <a:r>
              <a:rPr lang="en-IN" b="1">
                <a:solidFill>
                  <a:srgbClr val="FF0000"/>
                </a:solidFill>
              </a:rPr>
              <a:t> </a:t>
            </a:r>
            <a:r>
              <a:rPr lang="en-IN" b="1">
                <a:solidFill>
                  <a:srgbClr val="C00000"/>
                </a:solidFill>
              </a:rPr>
              <a:t>successor</a:t>
            </a:r>
            <a:r>
              <a:rPr lang="en-IN" b="1">
                <a:solidFill>
                  <a:srgbClr val="FF0000"/>
                </a:solidFill>
              </a:rPr>
              <a:t> </a:t>
            </a:r>
            <a:r>
              <a:rPr lang="en-IN"/>
              <a:t>for </a:t>
            </a:r>
            <a:r>
              <a:rPr lang="en-IN"/>
              <a:t>inorder</a:t>
            </a:r>
            <a:r>
              <a:rPr lang="en-IN"/>
              <a:t> traversal, for unthreaded tree this task is more </a:t>
            </a:r>
            <a:r>
              <a:rPr lang="en-IN"/>
              <a:t>difficult.</a:t>
            </a:r>
            <a:endParaRPr/>
          </a:p>
          <a:p>
            <a:pPr>
              <a:defRPr/>
            </a:pPr>
            <a:r>
              <a:rPr lang="en-IN" b="1">
                <a:solidFill>
                  <a:srgbClr val="C00000"/>
                </a:solidFill>
              </a:rPr>
              <a:t>A</a:t>
            </a:r>
            <a:r>
              <a:rPr lang="en-IN" b="1">
                <a:solidFill>
                  <a:srgbClr val="FF0000"/>
                </a:solidFill>
              </a:rPr>
              <a:t> </a:t>
            </a:r>
            <a:r>
              <a:rPr lang="en-IN" b="1">
                <a:solidFill>
                  <a:srgbClr val="C00000"/>
                </a:solidFill>
              </a:rPr>
              <a:t>stack is required</a:t>
            </a:r>
            <a:r>
              <a:rPr lang="en-IN">
                <a:solidFill>
                  <a:srgbClr val="C00000"/>
                </a:solidFill>
              </a:rPr>
              <a:t> </a:t>
            </a:r>
            <a:r>
              <a:rPr lang="en-IN"/>
              <a:t>to provide upward pointing information </a:t>
            </a:r>
            <a:r>
              <a:rPr lang="en-IN" b="1">
                <a:solidFill>
                  <a:srgbClr val="C00000"/>
                </a:solidFill>
              </a:rPr>
              <a:t>in binary tree</a:t>
            </a:r>
            <a:r>
              <a:rPr lang="en-IN">
                <a:solidFill>
                  <a:srgbClr val="C00000"/>
                </a:solidFill>
              </a:rPr>
              <a:t> </a:t>
            </a:r>
            <a:r>
              <a:rPr lang="en-IN"/>
              <a:t>which </a:t>
            </a:r>
            <a:r>
              <a:rPr lang="en-IN" b="1">
                <a:solidFill>
                  <a:srgbClr val="C00000"/>
                </a:solidFill>
              </a:rPr>
              <a:t>threading</a:t>
            </a:r>
            <a:r>
              <a:rPr lang="en-IN" b="1">
                <a:solidFill>
                  <a:srgbClr val="FF0000"/>
                </a:solidFill>
              </a:rPr>
              <a:t> </a:t>
            </a:r>
            <a:r>
              <a:rPr lang="en-IN" b="1">
                <a:solidFill>
                  <a:srgbClr val="C00000"/>
                </a:solidFill>
              </a:rPr>
              <a:t>provides without stack</a:t>
            </a:r>
            <a:r>
              <a:rPr lang="en-IN"/>
              <a:t>.</a:t>
            </a:r>
            <a:endParaRPr/>
          </a:p>
          <a:p>
            <a:pPr>
              <a:defRPr/>
            </a:pPr>
            <a:r>
              <a:rPr lang="en-IN"/>
              <a:t>It is possible to </a:t>
            </a:r>
            <a:r>
              <a:rPr lang="en-IN" b="1">
                <a:solidFill>
                  <a:srgbClr val="C00000"/>
                </a:solidFill>
              </a:rPr>
              <a:t>generate successor or predecessor</a:t>
            </a:r>
            <a:r>
              <a:rPr lang="en-IN" b="1">
                <a:solidFill>
                  <a:srgbClr val="FF0000"/>
                </a:solidFill>
              </a:rPr>
              <a:t> </a:t>
            </a:r>
            <a:r>
              <a:rPr lang="en-IN"/>
              <a:t>of any node </a:t>
            </a:r>
            <a:r>
              <a:rPr lang="en-IN" b="1">
                <a:solidFill>
                  <a:srgbClr val="C00000"/>
                </a:solidFill>
              </a:rPr>
              <a:t>without</a:t>
            </a:r>
            <a:r>
              <a:rPr lang="en-IN">
                <a:solidFill>
                  <a:srgbClr val="C00000"/>
                </a:solidFill>
              </a:rPr>
              <a:t> </a:t>
            </a:r>
            <a:r>
              <a:rPr lang="en-IN"/>
              <a:t>having over head of </a:t>
            </a:r>
            <a:r>
              <a:rPr lang="en-IN" b="1">
                <a:solidFill>
                  <a:srgbClr val="C00000"/>
                </a:solidFill>
              </a:rPr>
              <a:t>stack</a:t>
            </a:r>
            <a:r>
              <a:rPr lang="en-IN">
                <a:solidFill>
                  <a:srgbClr val="C00000"/>
                </a:solidFill>
              </a:rPr>
              <a:t> </a:t>
            </a:r>
            <a:r>
              <a:rPr lang="en-IN"/>
              <a:t>with the help of threading</a:t>
            </a:r>
            <a:r>
              <a:rPr lang="en-IN"/>
              <a:t>.</a:t>
            </a:r>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8493193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8493193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8493193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8493193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58214622" name="Title 1"/>
          <p:cNvSpPr>
            <a:spLocks noGrp="1"/>
          </p:cNvSpPr>
          <p:nvPr>
            <p:ph type="title"/>
          </p:nvPr>
        </p:nvSpPr>
        <p:spPr bwMode="auto"/>
        <p:txBody>
          <a:bodyPr>
            <a:normAutofit/>
          </a:bodyPr>
          <a:lstStyle/>
          <a:p>
            <a:pPr>
              <a:defRPr/>
            </a:pPr>
            <a:r>
              <a:rPr lang="en-US"/>
              <a:t>Disadvantages </a:t>
            </a:r>
            <a:r>
              <a:rPr lang="en-US"/>
              <a:t>of Threaded Binary Tree</a:t>
            </a:r>
            <a:endParaRPr/>
          </a:p>
        </p:txBody>
      </p:sp>
      <p:sp>
        <p:nvSpPr>
          <p:cNvPr id="909050199" name="Content Placeholder 2"/>
          <p:cNvSpPr>
            <a:spLocks noGrp="1"/>
          </p:cNvSpPr>
          <p:nvPr>
            <p:ph idx="1"/>
          </p:nvPr>
        </p:nvSpPr>
        <p:spPr bwMode="auto"/>
        <p:txBody>
          <a:bodyPr/>
          <a:lstStyle/>
          <a:p>
            <a:pPr>
              <a:defRPr/>
            </a:pPr>
            <a:r>
              <a:rPr lang="en-IN"/>
              <a:t>Threaded </a:t>
            </a:r>
            <a:r>
              <a:rPr lang="en-IN"/>
              <a:t>trees are </a:t>
            </a:r>
            <a:r>
              <a:rPr lang="en-IN" b="1">
                <a:solidFill>
                  <a:srgbClr val="C00000"/>
                </a:solidFill>
              </a:rPr>
              <a:t>unable to share common </a:t>
            </a:r>
            <a:r>
              <a:rPr lang="en-IN" b="1">
                <a:solidFill>
                  <a:srgbClr val="C00000"/>
                </a:solidFill>
              </a:rPr>
              <a:t>sub trees.</a:t>
            </a:r>
            <a:endParaRPr lang="en-IN" b="1">
              <a:solidFill>
                <a:srgbClr val="C00000"/>
              </a:solidFill>
            </a:endParaRPr>
          </a:p>
          <a:p>
            <a:pPr>
              <a:defRPr/>
            </a:pPr>
            <a:r>
              <a:rPr lang="en-IN"/>
              <a:t>If </a:t>
            </a:r>
            <a:r>
              <a:rPr lang="en-IN" b="1">
                <a:solidFill>
                  <a:srgbClr val="C00000"/>
                </a:solidFill>
              </a:rPr>
              <a:t>Negative addressing </a:t>
            </a:r>
            <a:r>
              <a:rPr lang="en-IN" b="1">
                <a:solidFill>
                  <a:srgbClr val="C00000"/>
                </a:solidFill>
              </a:rPr>
              <a:t>is not permitted</a:t>
            </a:r>
            <a:r>
              <a:rPr lang="en-IN">
                <a:solidFill>
                  <a:srgbClr val="C00000"/>
                </a:solidFill>
              </a:rPr>
              <a:t> </a:t>
            </a:r>
            <a:r>
              <a:rPr lang="en-IN"/>
              <a:t>in programming language, </a:t>
            </a:r>
            <a:r>
              <a:rPr lang="en-IN" b="1">
                <a:solidFill>
                  <a:srgbClr val="C00000"/>
                </a:solidFill>
              </a:rPr>
              <a:t>two additional fields are </a:t>
            </a:r>
            <a:r>
              <a:rPr lang="en-IN" b="1">
                <a:solidFill>
                  <a:srgbClr val="C00000"/>
                </a:solidFill>
              </a:rPr>
              <a:t>required.</a:t>
            </a:r>
            <a:endParaRPr/>
          </a:p>
          <a:p>
            <a:pPr>
              <a:defRPr/>
            </a:pPr>
            <a:r>
              <a:rPr lang="en-IN" b="1">
                <a:solidFill>
                  <a:srgbClr val="C00000"/>
                </a:solidFill>
              </a:rPr>
              <a:t>Insertion</a:t>
            </a:r>
            <a:r>
              <a:rPr lang="en-IN">
                <a:solidFill>
                  <a:srgbClr val="C00000"/>
                </a:solidFill>
              </a:rPr>
              <a:t> </a:t>
            </a:r>
            <a:r>
              <a:rPr lang="en-IN"/>
              <a:t>into and </a:t>
            </a:r>
            <a:r>
              <a:rPr lang="en-IN" b="1">
                <a:solidFill>
                  <a:srgbClr val="C00000"/>
                </a:solidFill>
              </a:rPr>
              <a:t>deletion</a:t>
            </a:r>
            <a:r>
              <a:rPr lang="en-IN">
                <a:solidFill>
                  <a:srgbClr val="C00000"/>
                </a:solidFill>
              </a:rPr>
              <a:t> </a:t>
            </a:r>
            <a:r>
              <a:rPr lang="en-IN"/>
              <a:t>from threaded binary tree are </a:t>
            </a:r>
            <a:r>
              <a:rPr lang="en-IN" b="1">
                <a:solidFill>
                  <a:srgbClr val="C00000"/>
                </a:solidFill>
              </a:rPr>
              <a:t>more time consuming </a:t>
            </a:r>
            <a:r>
              <a:rPr lang="en-IN"/>
              <a:t>because both thread and structural link must be </a:t>
            </a:r>
            <a:r>
              <a:rPr lang="en-IN"/>
              <a:t>maintained.</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090501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090501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090501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591254267" name="Title 1"/>
          <p:cNvSpPr>
            <a:spLocks noGrp="1"/>
          </p:cNvSpPr>
          <p:nvPr>
            <p:ph type="title"/>
          </p:nvPr>
        </p:nvSpPr>
        <p:spPr bwMode="auto"/>
        <p:txBody>
          <a:bodyPr/>
          <a:lstStyle/>
          <a:p>
            <a:pPr>
              <a:defRPr/>
            </a:pPr>
            <a:r>
              <a:rPr lang="en-US"/>
              <a:t>Threaded Binary </a:t>
            </a:r>
            <a:r>
              <a:rPr lang="en-US"/>
              <a:t>Tree examples</a:t>
            </a:r>
            <a:endParaRPr lang="en-US"/>
          </a:p>
        </p:txBody>
      </p:sp>
      <p:grpSp>
        <p:nvGrpSpPr>
          <p:cNvPr id="955166215" name="Group 50"/>
          <p:cNvGrpSpPr/>
          <p:nvPr/>
        </p:nvGrpSpPr>
        <p:grpSpPr bwMode="auto">
          <a:xfrm>
            <a:off x="1780811" y="1836501"/>
            <a:ext cx="3271552" cy="3387083"/>
            <a:chOff x="610952" y="1150856"/>
            <a:chExt cx="3271552" cy="3387083"/>
          </a:xfrm>
        </p:grpSpPr>
        <p:sp>
          <p:nvSpPr>
            <p:cNvPr id="4" name="Oval 3"/>
            <p:cNvSpPr/>
            <p:nvPr/>
          </p:nvSpPr>
          <p:spPr bwMode="auto">
            <a:xfrm>
              <a:off x="1846237" y="115085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A</a:t>
              </a:r>
              <a:endParaRPr lang="en-US" sz="2000" b="1"/>
            </a:p>
          </p:txBody>
        </p:sp>
        <p:cxnSp>
          <p:nvCxnSpPr>
            <p:cNvPr id="5" name="Straight Arrow Connector 4"/>
            <p:cNvCxnSpPr>
              <a:stCxn id="4" idx="2"/>
              <a:endCxn id="6" idx="0"/>
            </p:cNvCxnSpPr>
            <p:nvPr/>
          </p:nvCxnSpPr>
          <p:spPr bwMode="auto">
            <a:xfrm flipH="1">
              <a:off x="891751" y="1431656"/>
              <a:ext cx="954485" cy="40038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6" name="Oval 5"/>
            <p:cNvSpPr/>
            <p:nvPr/>
          </p:nvSpPr>
          <p:spPr bwMode="auto">
            <a:xfrm>
              <a:off x="610952" y="1832045"/>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7" name="Oval 6"/>
            <p:cNvSpPr/>
            <p:nvPr/>
          </p:nvSpPr>
          <p:spPr bwMode="auto">
            <a:xfrm>
              <a:off x="1284637" y="251758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8" name="Oval 7"/>
            <p:cNvSpPr/>
            <p:nvPr/>
          </p:nvSpPr>
          <p:spPr bwMode="auto">
            <a:xfrm>
              <a:off x="610952" y="323368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9" name="Oval 8"/>
            <p:cNvSpPr/>
            <p:nvPr/>
          </p:nvSpPr>
          <p:spPr bwMode="auto">
            <a:xfrm>
              <a:off x="1973161" y="328169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10" name="Oval 9"/>
            <p:cNvSpPr/>
            <p:nvPr/>
          </p:nvSpPr>
          <p:spPr bwMode="auto">
            <a:xfrm>
              <a:off x="3010097" y="182293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sp>
          <p:nvSpPr>
            <p:cNvPr id="11" name="Oval 10"/>
            <p:cNvSpPr/>
            <p:nvPr/>
          </p:nvSpPr>
          <p:spPr bwMode="auto">
            <a:xfrm>
              <a:off x="2534761" y="251758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G</a:t>
              </a:r>
              <a:endParaRPr lang="en-US" sz="2000" b="1"/>
            </a:p>
          </p:txBody>
        </p:sp>
        <p:sp>
          <p:nvSpPr>
            <p:cNvPr id="12" name="Oval 11"/>
            <p:cNvSpPr/>
            <p:nvPr/>
          </p:nvSpPr>
          <p:spPr bwMode="auto">
            <a:xfrm>
              <a:off x="3320904" y="3281691"/>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H</a:t>
              </a:r>
              <a:endParaRPr lang="en-US" sz="2000" b="1"/>
            </a:p>
          </p:txBody>
        </p:sp>
        <p:sp>
          <p:nvSpPr>
            <p:cNvPr id="13" name="Oval 12"/>
            <p:cNvSpPr/>
            <p:nvPr/>
          </p:nvSpPr>
          <p:spPr bwMode="auto">
            <a:xfrm>
              <a:off x="2509672" y="3976339"/>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I</a:t>
              </a:r>
              <a:endParaRPr lang="en-US" sz="2000" b="1"/>
            </a:p>
          </p:txBody>
        </p:sp>
        <p:cxnSp>
          <p:nvCxnSpPr>
            <p:cNvPr id="17" name="Straight Arrow Connector 16"/>
            <p:cNvCxnSpPr>
              <a:stCxn id="4" idx="6"/>
              <a:endCxn id="10" idx="0"/>
            </p:cNvCxnSpPr>
            <p:nvPr/>
          </p:nvCxnSpPr>
          <p:spPr bwMode="auto">
            <a:xfrm>
              <a:off x="2407836" y="1431656"/>
              <a:ext cx="883060" cy="39128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 name="Straight Arrow Connector 18"/>
            <p:cNvCxnSpPr>
              <a:stCxn id="6" idx="5"/>
              <a:endCxn id="7" idx="1"/>
            </p:cNvCxnSpPr>
            <p:nvPr/>
          </p:nvCxnSpPr>
          <p:spPr bwMode="auto">
            <a:xfrm>
              <a:off x="1090308" y="2311401"/>
              <a:ext cx="276573" cy="288427"/>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 name="Straight Arrow Connector 20"/>
            <p:cNvCxnSpPr>
              <a:stCxn id="7" idx="3"/>
              <a:endCxn id="8" idx="7"/>
            </p:cNvCxnSpPr>
            <p:nvPr/>
          </p:nvCxnSpPr>
          <p:spPr bwMode="auto">
            <a:xfrm flipH="1">
              <a:off x="1090308" y="2996940"/>
              <a:ext cx="276573" cy="31899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4" name="Straight Arrow Connector 23"/>
            <p:cNvCxnSpPr>
              <a:stCxn id="7" idx="5"/>
              <a:endCxn id="9" idx="1"/>
            </p:cNvCxnSpPr>
            <p:nvPr/>
          </p:nvCxnSpPr>
          <p:spPr bwMode="auto">
            <a:xfrm>
              <a:off x="1763993" y="2996940"/>
              <a:ext cx="291411" cy="3669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6" name="Straight Arrow Connector 25"/>
            <p:cNvCxnSpPr>
              <a:stCxn id="10" idx="3"/>
              <a:endCxn id="11" idx="0"/>
            </p:cNvCxnSpPr>
            <p:nvPr/>
          </p:nvCxnSpPr>
          <p:spPr bwMode="auto">
            <a:xfrm flipH="1">
              <a:off x="2815561" y="2302292"/>
              <a:ext cx="276780" cy="21529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8" name="Straight Arrow Connector 27"/>
            <p:cNvCxnSpPr>
              <a:stCxn id="11" idx="5"/>
              <a:endCxn id="12" idx="1"/>
            </p:cNvCxnSpPr>
            <p:nvPr/>
          </p:nvCxnSpPr>
          <p:spPr bwMode="auto">
            <a:xfrm>
              <a:off x="3014117" y="2996940"/>
              <a:ext cx="389031" cy="3669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0" name="Straight Arrow Connector 29"/>
            <p:cNvCxnSpPr>
              <a:stCxn id="12" idx="3"/>
              <a:endCxn id="13" idx="7"/>
            </p:cNvCxnSpPr>
            <p:nvPr/>
          </p:nvCxnSpPr>
          <p:spPr bwMode="auto">
            <a:xfrm flipH="1">
              <a:off x="2989028" y="3761047"/>
              <a:ext cx="414120" cy="297536"/>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grpSp>
        <p:nvGrpSpPr>
          <p:cNvPr id="562913780" name="Group 53"/>
          <p:cNvGrpSpPr/>
          <p:nvPr/>
        </p:nvGrpSpPr>
        <p:grpSpPr bwMode="auto">
          <a:xfrm>
            <a:off x="6579101" y="1711661"/>
            <a:ext cx="3056947" cy="2355964"/>
            <a:chOff x="6661797" y="1105273"/>
            <a:chExt cx="3056947" cy="2355964"/>
          </a:xfrm>
        </p:grpSpPr>
        <p:sp>
          <p:nvSpPr>
            <p:cNvPr id="34" name="Oval 33"/>
            <p:cNvSpPr/>
            <p:nvPr/>
          </p:nvSpPr>
          <p:spPr bwMode="auto">
            <a:xfrm>
              <a:off x="7348482" y="1105273"/>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C</a:t>
              </a:r>
              <a:endParaRPr lang="en-US" sz="2000" b="1"/>
            </a:p>
          </p:txBody>
        </p:sp>
        <p:sp>
          <p:nvSpPr>
            <p:cNvPr id="35" name="Oval 34"/>
            <p:cNvSpPr/>
            <p:nvPr/>
          </p:nvSpPr>
          <p:spPr bwMode="auto">
            <a:xfrm>
              <a:off x="6661797" y="195598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B</a:t>
              </a:r>
              <a:endParaRPr lang="en-US" sz="2000" b="1"/>
            </a:p>
          </p:txBody>
        </p:sp>
        <p:sp>
          <p:nvSpPr>
            <p:cNvPr id="36" name="Oval 35"/>
            <p:cNvSpPr/>
            <p:nvPr/>
          </p:nvSpPr>
          <p:spPr bwMode="auto">
            <a:xfrm>
              <a:off x="8281381" y="1955984"/>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E</a:t>
              </a:r>
              <a:endParaRPr lang="en-US" sz="2000" b="1"/>
            </a:p>
          </p:txBody>
        </p:sp>
        <p:sp>
          <p:nvSpPr>
            <p:cNvPr id="37" name="Oval 36"/>
            <p:cNvSpPr/>
            <p:nvPr/>
          </p:nvSpPr>
          <p:spPr bwMode="auto">
            <a:xfrm>
              <a:off x="7557116" y="2899637"/>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D</a:t>
              </a:r>
              <a:endParaRPr lang="en-US" sz="2000" b="1"/>
            </a:p>
          </p:txBody>
        </p:sp>
        <p:sp>
          <p:nvSpPr>
            <p:cNvPr id="38" name="Oval 37"/>
            <p:cNvSpPr/>
            <p:nvPr/>
          </p:nvSpPr>
          <p:spPr bwMode="auto">
            <a:xfrm>
              <a:off x="9157144" y="2875636"/>
              <a:ext cx="561600" cy="56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000" b="1"/>
                <a:t>F</a:t>
              </a:r>
              <a:endParaRPr lang="en-US" sz="2000" b="1"/>
            </a:p>
          </p:txBody>
        </p:sp>
        <p:cxnSp>
          <p:nvCxnSpPr>
            <p:cNvPr id="40" name="Straight Arrow Connector 39"/>
            <p:cNvCxnSpPr>
              <a:stCxn id="34" idx="3"/>
              <a:endCxn id="35" idx="0"/>
            </p:cNvCxnSpPr>
            <p:nvPr/>
          </p:nvCxnSpPr>
          <p:spPr bwMode="auto">
            <a:xfrm flipH="1">
              <a:off x="6942597" y="1584629"/>
              <a:ext cx="488129" cy="37135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2" name="Straight Arrow Connector 41"/>
            <p:cNvCxnSpPr>
              <a:stCxn id="34" idx="5"/>
              <a:endCxn id="36" idx="1"/>
            </p:cNvCxnSpPr>
            <p:nvPr/>
          </p:nvCxnSpPr>
          <p:spPr bwMode="auto">
            <a:xfrm>
              <a:off x="7827838" y="1584629"/>
              <a:ext cx="535788" cy="453599"/>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4" name="Straight Arrow Connector 43"/>
            <p:cNvCxnSpPr>
              <a:stCxn id="36" idx="3"/>
              <a:endCxn id="37" idx="7"/>
            </p:cNvCxnSpPr>
            <p:nvPr/>
          </p:nvCxnSpPr>
          <p:spPr bwMode="auto">
            <a:xfrm flipH="1">
              <a:off x="8036472" y="2435339"/>
              <a:ext cx="327154" cy="54654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6" name="Straight Arrow Connector 45"/>
            <p:cNvCxnSpPr>
              <a:stCxn id="36" idx="5"/>
              <a:endCxn id="38" idx="1"/>
            </p:cNvCxnSpPr>
            <p:nvPr/>
          </p:nvCxnSpPr>
          <p:spPr bwMode="auto">
            <a:xfrm>
              <a:off x="8760738" y="2435339"/>
              <a:ext cx="478649" cy="5225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grpSp>
      <p:sp>
        <p:nvSpPr>
          <p:cNvPr id="257786127" name="Rectangle 55"/>
          <p:cNvSpPr/>
          <p:nvPr/>
        </p:nvSpPr>
        <p:spPr bwMode="auto">
          <a:xfrm>
            <a:off x="242896" y="904580"/>
            <a:ext cx="11644303" cy="461665"/>
          </a:xfrm>
          <a:prstGeom prst="rect">
            <a:avLst/>
          </a:prstGeom>
        </p:spPr>
        <p:txBody>
          <a:bodyPr wrap="square">
            <a:spAutoFit/>
          </a:bodyPr>
          <a:lstStyle/>
          <a:p>
            <a:pPr>
              <a:defRPr/>
            </a:pPr>
            <a:r>
              <a:rPr lang="en-US" sz="2400"/>
              <a:t>Draw Right In-threaded, Left In-threaded and Fully In-threaded Binary Tree for given </a:t>
            </a:r>
            <a:r>
              <a:rPr lang="en-US" sz="2400"/>
              <a:t>Trees</a:t>
            </a:r>
            <a:endParaRPr lang="en-US" sz="2400"/>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860166862" name="Title 1"/>
          <p:cNvSpPr>
            <a:spLocks noGrp="1"/>
          </p:cNvSpPr>
          <p:nvPr>
            <p:ph type="title"/>
          </p:nvPr>
        </p:nvSpPr>
        <p:spPr bwMode="auto"/>
        <p:txBody>
          <a:bodyPr/>
          <a:lstStyle/>
          <a:p>
            <a:pPr>
              <a:defRPr/>
            </a:pPr>
            <a:r>
              <a:rPr lang="en-IN"/>
              <a:t>Binary Search Tree (BST)</a:t>
            </a:r>
            <a:endParaRPr lang="en-US"/>
          </a:p>
        </p:txBody>
      </p:sp>
      <p:sp>
        <p:nvSpPr>
          <p:cNvPr id="84652707" name="Content Placeholder 2"/>
          <p:cNvSpPr>
            <a:spLocks noGrp="1"/>
          </p:cNvSpPr>
          <p:nvPr>
            <p:ph idx="1"/>
          </p:nvPr>
        </p:nvSpPr>
        <p:spPr bwMode="auto"/>
        <p:txBody>
          <a:bodyPr/>
          <a:lstStyle/>
          <a:p>
            <a:pPr>
              <a:defRPr/>
            </a:pPr>
            <a:r>
              <a:rPr lang="en-IN"/>
              <a:t>A </a:t>
            </a:r>
            <a:r>
              <a:rPr lang="en-IN" b="1">
                <a:solidFill>
                  <a:srgbClr val="C00000"/>
                </a:solidFill>
              </a:rPr>
              <a:t>binary search tree</a:t>
            </a:r>
            <a:r>
              <a:rPr lang="en-IN" b="1">
                <a:solidFill>
                  <a:srgbClr val="FF0000"/>
                </a:solidFill>
              </a:rPr>
              <a:t> </a:t>
            </a:r>
            <a:r>
              <a:rPr lang="en-IN"/>
              <a:t>is a </a:t>
            </a:r>
            <a:r>
              <a:rPr lang="en-IN" b="1">
                <a:solidFill>
                  <a:srgbClr val="C00000"/>
                </a:solidFill>
              </a:rPr>
              <a:t>binary tree</a:t>
            </a:r>
            <a:r>
              <a:rPr lang="en-IN" b="1">
                <a:solidFill>
                  <a:srgbClr val="FF0000"/>
                </a:solidFill>
              </a:rPr>
              <a:t>  </a:t>
            </a:r>
            <a:r>
              <a:rPr lang="en-IN"/>
              <a:t>in which </a:t>
            </a:r>
            <a:r>
              <a:rPr lang="en-IN" b="1">
                <a:solidFill>
                  <a:srgbClr val="C00000"/>
                </a:solidFill>
              </a:rPr>
              <a:t>each node</a:t>
            </a:r>
            <a:r>
              <a:rPr lang="en-IN" b="1">
                <a:solidFill>
                  <a:srgbClr val="FF0000"/>
                </a:solidFill>
              </a:rPr>
              <a:t> </a:t>
            </a:r>
            <a:r>
              <a:rPr lang="en-IN"/>
              <a:t>possessed a key that </a:t>
            </a:r>
            <a:r>
              <a:rPr lang="en-IN" b="1">
                <a:solidFill>
                  <a:srgbClr val="C00000"/>
                </a:solidFill>
              </a:rPr>
              <a:t>satisfy</a:t>
            </a:r>
            <a:r>
              <a:rPr lang="en-IN">
                <a:solidFill>
                  <a:srgbClr val="C00000"/>
                </a:solidFill>
              </a:rPr>
              <a:t> </a:t>
            </a:r>
            <a:r>
              <a:rPr lang="en-IN"/>
              <a:t>the </a:t>
            </a:r>
            <a:r>
              <a:rPr lang="en-IN" b="1">
                <a:solidFill>
                  <a:srgbClr val="C00000"/>
                </a:solidFill>
              </a:rPr>
              <a:t>following</a:t>
            </a:r>
            <a:r>
              <a:rPr lang="en-IN" b="1">
                <a:solidFill>
                  <a:srgbClr val="FF0000"/>
                </a:solidFill>
              </a:rPr>
              <a:t> </a:t>
            </a:r>
            <a:r>
              <a:rPr lang="en-IN" b="1">
                <a:solidFill>
                  <a:srgbClr val="C00000"/>
                </a:solidFill>
              </a:rPr>
              <a:t>conditions</a:t>
            </a:r>
            <a:endParaRPr/>
          </a:p>
          <a:p>
            <a:pPr marL="819150" lvl="1" indent="-457200">
              <a:buFont typeface="+mj-lt"/>
              <a:buAutoNum type="arabicPeriod"/>
              <a:defRPr/>
            </a:pPr>
            <a:r>
              <a:rPr lang="en-IN"/>
              <a:t>All </a:t>
            </a:r>
            <a:r>
              <a:rPr lang="en-IN" b="1">
                <a:solidFill>
                  <a:srgbClr val="C00000"/>
                </a:solidFill>
              </a:rPr>
              <a:t>key</a:t>
            </a:r>
            <a:r>
              <a:rPr lang="en-IN">
                <a:solidFill>
                  <a:srgbClr val="C00000"/>
                </a:solidFill>
              </a:rPr>
              <a:t> </a:t>
            </a:r>
            <a:r>
              <a:rPr lang="en-IN"/>
              <a:t>(if any) in </a:t>
            </a:r>
            <a:r>
              <a:rPr lang="en-IN" b="1">
                <a:solidFill>
                  <a:srgbClr val="C00000"/>
                </a:solidFill>
              </a:rPr>
              <a:t>the left sub tree</a:t>
            </a:r>
            <a:r>
              <a:rPr lang="en-IN">
                <a:solidFill>
                  <a:srgbClr val="C00000"/>
                </a:solidFill>
              </a:rPr>
              <a:t> </a:t>
            </a:r>
            <a:r>
              <a:rPr lang="en-IN"/>
              <a:t>of the root </a:t>
            </a:r>
            <a:r>
              <a:rPr lang="en-IN" b="1">
                <a:solidFill>
                  <a:srgbClr val="C00000"/>
                </a:solidFill>
              </a:rPr>
              <a:t>precedes the key</a:t>
            </a:r>
            <a:r>
              <a:rPr lang="en-IN" b="1">
                <a:solidFill>
                  <a:srgbClr val="FF0000"/>
                </a:solidFill>
              </a:rPr>
              <a:t> </a:t>
            </a:r>
            <a:r>
              <a:rPr lang="en-IN"/>
              <a:t>in the </a:t>
            </a:r>
            <a:r>
              <a:rPr lang="en-IN" b="1">
                <a:solidFill>
                  <a:srgbClr val="C00000"/>
                </a:solidFill>
              </a:rPr>
              <a:t>root</a:t>
            </a:r>
            <a:endParaRPr lang="en-IN">
              <a:solidFill>
                <a:srgbClr val="C00000"/>
              </a:solidFill>
            </a:endParaRPr>
          </a:p>
          <a:p>
            <a:pPr marL="819150" lvl="1" indent="-457200">
              <a:buFont typeface="+mj-lt"/>
              <a:buAutoNum type="arabicPeriod"/>
              <a:defRPr/>
            </a:pPr>
            <a:r>
              <a:rPr lang="en-IN"/>
              <a:t>The </a:t>
            </a:r>
            <a:r>
              <a:rPr lang="en-IN" b="1">
                <a:solidFill>
                  <a:srgbClr val="C00000"/>
                </a:solidFill>
              </a:rPr>
              <a:t>key in the root</a:t>
            </a:r>
            <a:r>
              <a:rPr lang="en-IN">
                <a:solidFill>
                  <a:srgbClr val="C00000"/>
                </a:solidFill>
              </a:rPr>
              <a:t> </a:t>
            </a:r>
            <a:r>
              <a:rPr lang="en-IN" b="1">
                <a:solidFill>
                  <a:srgbClr val="C00000"/>
                </a:solidFill>
              </a:rPr>
              <a:t>precedes</a:t>
            </a:r>
            <a:r>
              <a:rPr lang="en-IN">
                <a:solidFill>
                  <a:srgbClr val="C00000"/>
                </a:solidFill>
              </a:rPr>
              <a:t> </a:t>
            </a:r>
            <a:r>
              <a:rPr lang="en-IN"/>
              <a:t>all </a:t>
            </a:r>
            <a:r>
              <a:rPr lang="en-IN" b="1">
                <a:solidFill>
                  <a:srgbClr val="C00000"/>
                </a:solidFill>
              </a:rPr>
              <a:t>key</a:t>
            </a:r>
            <a:r>
              <a:rPr lang="en-IN">
                <a:solidFill>
                  <a:srgbClr val="C00000"/>
                </a:solidFill>
              </a:rPr>
              <a:t> </a:t>
            </a:r>
            <a:r>
              <a:rPr lang="en-IN"/>
              <a:t>(if any) in the </a:t>
            </a:r>
            <a:r>
              <a:rPr lang="en-IN" b="1">
                <a:solidFill>
                  <a:srgbClr val="C00000"/>
                </a:solidFill>
              </a:rPr>
              <a:t>right sub </a:t>
            </a:r>
            <a:r>
              <a:rPr lang="en-IN" b="1">
                <a:solidFill>
                  <a:srgbClr val="C00000"/>
                </a:solidFill>
              </a:rPr>
              <a:t>tree</a:t>
            </a:r>
            <a:endParaRPr lang="en-IN">
              <a:solidFill>
                <a:srgbClr val="C00000"/>
              </a:solidFill>
            </a:endParaRPr>
          </a:p>
          <a:p>
            <a:pPr marL="819150" lvl="1" indent="-457200">
              <a:buFont typeface="+mj-lt"/>
              <a:buAutoNum type="arabicPeriod"/>
              <a:defRPr/>
            </a:pPr>
            <a:r>
              <a:rPr lang="en-IN"/>
              <a:t>The </a:t>
            </a:r>
            <a:r>
              <a:rPr lang="en-IN" b="1">
                <a:solidFill>
                  <a:srgbClr val="C00000"/>
                </a:solidFill>
              </a:rPr>
              <a:t>left and right </a:t>
            </a:r>
            <a:r>
              <a:rPr lang="en-IN" b="1">
                <a:solidFill>
                  <a:srgbClr val="C00000"/>
                </a:solidFill>
              </a:rPr>
              <a:t>sub </a:t>
            </a:r>
            <a:r>
              <a:rPr lang="en-IN" b="1">
                <a:solidFill>
                  <a:srgbClr val="C00000"/>
                </a:solidFill>
              </a:rPr>
              <a:t>trees </a:t>
            </a:r>
            <a:r>
              <a:rPr lang="en-IN"/>
              <a:t>of the root are again </a:t>
            </a:r>
            <a:r>
              <a:rPr lang="en-IN" b="1">
                <a:solidFill>
                  <a:srgbClr val="C00000"/>
                </a:solidFill>
              </a:rPr>
              <a:t>search </a:t>
            </a:r>
            <a:r>
              <a:rPr lang="en-IN" b="1">
                <a:solidFill>
                  <a:srgbClr val="C00000"/>
                </a:solidFill>
              </a:rPr>
              <a:t>trees</a:t>
            </a:r>
            <a:endParaRPr lang="en-US">
              <a:solidFill>
                <a:srgbClr val="C00000"/>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465270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465270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65270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465270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56531557" name="Title 1"/>
          <p:cNvSpPr>
            <a:spLocks noGrp="1"/>
          </p:cNvSpPr>
          <p:nvPr>
            <p:ph type="title"/>
          </p:nvPr>
        </p:nvSpPr>
        <p:spPr bwMode="auto"/>
        <p:txBody>
          <a:bodyPr/>
          <a:lstStyle/>
          <a:p>
            <a:pPr>
              <a:defRPr/>
            </a:pPr>
            <a:r>
              <a:rPr lang="en-IN"/>
              <a:t>Construct Binary </a:t>
            </a:r>
            <a:r>
              <a:rPr lang="en-IN"/>
              <a:t>Search Tree (BST)</a:t>
            </a:r>
            <a:endParaRPr lang="en-US"/>
          </a:p>
        </p:txBody>
      </p:sp>
      <p:sp>
        <p:nvSpPr>
          <p:cNvPr id="1984309454" name="TextBox 3"/>
          <p:cNvSpPr txBox="1"/>
          <p:nvPr/>
        </p:nvSpPr>
        <p:spPr bwMode="auto">
          <a:xfrm>
            <a:off x="1752599" y="851649"/>
            <a:ext cx="8686800" cy="830997"/>
          </a:xfrm>
          <a:prstGeom prst="rect">
            <a:avLst/>
          </a:prstGeom>
          <a:noFill/>
        </p:spPr>
        <p:txBody>
          <a:bodyPr wrap="square" rtlCol="0">
            <a:spAutoFit/>
          </a:bodyPr>
          <a:lstStyle/>
          <a:p>
            <a:pPr algn="ctr">
              <a:defRPr/>
            </a:pPr>
            <a:r>
              <a:rPr lang="en-IN" sz="2400"/>
              <a:t>Construct binary search tree for the following data</a:t>
            </a:r>
            <a:br>
              <a:rPr lang="en-IN" sz="2400"/>
            </a:br>
            <a:r>
              <a:rPr lang="en-IN" sz="2400"/>
              <a:t>50 , 25 , 75 , 22 , 40 , 60 , 80 , 90 , 15 , 30 </a:t>
            </a:r>
            <a:endParaRPr lang="en-US" sz="2400"/>
          </a:p>
        </p:txBody>
      </p:sp>
      <p:sp>
        <p:nvSpPr>
          <p:cNvPr id="445637552" name="Oval 5"/>
          <p:cNvSpPr/>
          <p:nvPr/>
        </p:nvSpPr>
        <p:spPr bwMode="auto">
          <a:xfrm>
            <a:off x="5616388" y="1860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900" b="1"/>
              <a:t>50</a:t>
            </a:r>
            <a:endParaRPr lang="en-US" sz="1900" b="1"/>
          </a:p>
        </p:txBody>
      </p:sp>
      <p:sp>
        <p:nvSpPr>
          <p:cNvPr id="715990036" name="Oval 6"/>
          <p:cNvSpPr/>
          <p:nvPr/>
        </p:nvSpPr>
        <p:spPr bwMode="auto">
          <a:xfrm>
            <a:off x="4514225" y="2622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900" b="1"/>
              <a:t>25</a:t>
            </a:r>
            <a:endParaRPr lang="en-US" sz="1900" b="1"/>
          </a:p>
        </p:txBody>
      </p:sp>
      <p:sp>
        <p:nvSpPr>
          <p:cNvPr id="1460431732" name="Oval 7"/>
          <p:cNvSpPr/>
          <p:nvPr/>
        </p:nvSpPr>
        <p:spPr bwMode="auto">
          <a:xfrm>
            <a:off x="6781800" y="2622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900" b="1"/>
              <a:t>75</a:t>
            </a:r>
            <a:endParaRPr lang="en-US" sz="1900" b="1"/>
          </a:p>
        </p:txBody>
      </p:sp>
      <p:sp>
        <p:nvSpPr>
          <p:cNvPr id="766526505" name="Oval 8"/>
          <p:cNvSpPr/>
          <p:nvPr/>
        </p:nvSpPr>
        <p:spPr bwMode="auto">
          <a:xfrm>
            <a:off x="3657600" y="354399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900" b="1"/>
              <a:t>22</a:t>
            </a:r>
            <a:endParaRPr lang="en-US" sz="1900" b="1"/>
          </a:p>
        </p:txBody>
      </p:sp>
      <p:sp>
        <p:nvSpPr>
          <p:cNvPr id="334910961" name="Oval 9"/>
          <p:cNvSpPr/>
          <p:nvPr/>
        </p:nvSpPr>
        <p:spPr bwMode="auto">
          <a:xfrm>
            <a:off x="5257800" y="354399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900" b="1"/>
              <a:t>40</a:t>
            </a:r>
            <a:endParaRPr lang="en-US" sz="1900" b="1"/>
          </a:p>
        </p:txBody>
      </p:sp>
      <p:sp>
        <p:nvSpPr>
          <p:cNvPr id="650750546" name="Oval 10"/>
          <p:cNvSpPr/>
          <p:nvPr/>
        </p:nvSpPr>
        <p:spPr bwMode="auto">
          <a:xfrm>
            <a:off x="6096000" y="354399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900" b="1"/>
              <a:t>60</a:t>
            </a:r>
            <a:endParaRPr lang="en-US" sz="1900" b="1"/>
          </a:p>
        </p:txBody>
      </p:sp>
      <p:sp>
        <p:nvSpPr>
          <p:cNvPr id="268435709" name="Oval 11"/>
          <p:cNvSpPr/>
          <p:nvPr/>
        </p:nvSpPr>
        <p:spPr bwMode="auto">
          <a:xfrm>
            <a:off x="7620000" y="3543998"/>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900" b="1"/>
              <a:t>80</a:t>
            </a:r>
            <a:endParaRPr lang="en-US" sz="1900" b="1"/>
          </a:p>
        </p:txBody>
      </p:sp>
      <p:sp>
        <p:nvSpPr>
          <p:cNvPr id="1320220822" name="Oval 12"/>
          <p:cNvSpPr/>
          <p:nvPr/>
        </p:nvSpPr>
        <p:spPr bwMode="auto">
          <a:xfrm>
            <a:off x="8382000" y="4527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900" b="1"/>
              <a:t>90</a:t>
            </a:r>
            <a:endParaRPr lang="en-US" sz="1900" b="1"/>
          </a:p>
        </p:txBody>
      </p:sp>
      <p:sp>
        <p:nvSpPr>
          <p:cNvPr id="107430592" name="Oval 13"/>
          <p:cNvSpPr/>
          <p:nvPr/>
        </p:nvSpPr>
        <p:spPr bwMode="auto">
          <a:xfrm>
            <a:off x="2895600" y="4527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900" b="1"/>
              <a:t>15</a:t>
            </a:r>
            <a:endParaRPr lang="en-US" sz="1900" b="1"/>
          </a:p>
        </p:txBody>
      </p:sp>
      <p:sp>
        <p:nvSpPr>
          <p:cNvPr id="2018692911" name="Oval 14"/>
          <p:cNvSpPr/>
          <p:nvPr/>
        </p:nvSpPr>
        <p:spPr bwMode="auto">
          <a:xfrm>
            <a:off x="4514225" y="4527177"/>
            <a:ext cx="609600" cy="609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1900" b="1"/>
              <a:t>30</a:t>
            </a:r>
            <a:endParaRPr lang="en-US" sz="1900" b="1"/>
          </a:p>
        </p:txBody>
      </p:sp>
      <p:cxnSp>
        <p:nvCxnSpPr>
          <p:cNvPr id="1019520862" name="Straight Arrow Connector 16"/>
          <p:cNvCxnSpPr>
            <a:stCxn id="445637552" idx="3"/>
            <a:endCxn id="715990036" idx="7"/>
          </p:cNvCxnSpPr>
          <p:nvPr/>
        </p:nvCxnSpPr>
        <p:spPr bwMode="auto">
          <a:xfrm flipH="1">
            <a:off x="5034551" y="2380503"/>
            <a:ext cx="671111" cy="33094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74807287" name="Straight Arrow Connector 20"/>
          <p:cNvCxnSpPr>
            <a:stCxn id="715990036" idx="3"/>
            <a:endCxn id="766526505" idx="0"/>
          </p:cNvCxnSpPr>
          <p:nvPr/>
        </p:nvCxnSpPr>
        <p:spPr bwMode="auto">
          <a:xfrm flipH="1">
            <a:off x="3962400" y="3142502"/>
            <a:ext cx="641099" cy="4014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061438292" name="Straight Arrow Connector 22"/>
          <p:cNvCxnSpPr>
            <a:stCxn id="766526505" idx="3"/>
            <a:endCxn id="107430592" idx="0"/>
          </p:cNvCxnSpPr>
          <p:nvPr/>
        </p:nvCxnSpPr>
        <p:spPr bwMode="auto">
          <a:xfrm flipH="1">
            <a:off x="3200400" y="4064324"/>
            <a:ext cx="546474" cy="46285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60511302" name="Straight Arrow Connector 24"/>
          <p:cNvCxnSpPr>
            <a:stCxn id="715990036" idx="5"/>
            <a:endCxn id="334910961" idx="0"/>
          </p:cNvCxnSpPr>
          <p:nvPr/>
        </p:nvCxnSpPr>
        <p:spPr bwMode="auto">
          <a:xfrm>
            <a:off x="5034551" y="3142502"/>
            <a:ext cx="528049" cy="4014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88936741" name="Straight Arrow Connector 26"/>
          <p:cNvCxnSpPr>
            <a:stCxn id="334910961" idx="3"/>
            <a:endCxn id="2018692911" idx="0"/>
          </p:cNvCxnSpPr>
          <p:nvPr/>
        </p:nvCxnSpPr>
        <p:spPr bwMode="auto">
          <a:xfrm flipH="1">
            <a:off x="4819025" y="4064324"/>
            <a:ext cx="528049" cy="46285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315071056" name="Straight Arrow Connector 28"/>
          <p:cNvCxnSpPr>
            <a:stCxn id="445637552" idx="5"/>
            <a:endCxn id="1460431732" idx="1"/>
          </p:cNvCxnSpPr>
          <p:nvPr/>
        </p:nvCxnSpPr>
        <p:spPr bwMode="auto">
          <a:xfrm>
            <a:off x="6136714" y="2380503"/>
            <a:ext cx="734360" cy="33094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034372222" name="Straight Arrow Connector 30"/>
          <p:cNvCxnSpPr>
            <a:stCxn id="1460431732" idx="3"/>
            <a:endCxn id="650750546" idx="0"/>
          </p:cNvCxnSpPr>
          <p:nvPr/>
        </p:nvCxnSpPr>
        <p:spPr bwMode="auto">
          <a:xfrm flipH="1">
            <a:off x="6400800" y="3142502"/>
            <a:ext cx="470274" cy="4014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2380494" name="Straight Arrow Connector 32"/>
          <p:cNvCxnSpPr>
            <a:stCxn id="1460431732" idx="5"/>
            <a:endCxn id="268435709" idx="0"/>
          </p:cNvCxnSpPr>
          <p:nvPr/>
        </p:nvCxnSpPr>
        <p:spPr bwMode="auto">
          <a:xfrm>
            <a:off x="7302126" y="3142502"/>
            <a:ext cx="622674" cy="401495"/>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81618512" name="Straight Arrow Connector 34"/>
          <p:cNvCxnSpPr>
            <a:stCxn id="268435709" idx="5"/>
            <a:endCxn id="1320220822" idx="0"/>
          </p:cNvCxnSpPr>
          <p:nvPr/>
        </p:nvCxnSpPr>
        <p:spPr bwMode="auto">
          <a:xfrm>
            <a:off x="8140326" y="4064324"/>
            <a:ext cx="546474" cy="46285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707901975" name="TextBox 35"/>
          <p:cNvSpPr txBox="1"/>
          <p:nvPr/>
        </p:nvSpPr>
        <p:spPr bwMode="auto">
          <a:xfrm>
            <a:off x="1905000" y="5603234"/>
            <a:ext cx="8686800" cy="830997"/>
          </a:xfrm>
          <a:prstGeom prst="rect">
            <a:avLst/>
          </a:prstGeom>
          <a:noFill/>
        </p:spPr>
        <p:txBody>
          <a:bodyPr wrap="square" rtlCol="0">
            <a:spAutoFit/>
          </a:bodyPr>
          <a:lstStyle/>
          <a:p>
            <a:pPr algn="ctr">
              <a:defRPr/>
            </a:pPr>
            <a:r>
              <a:rPr lang="en-IN" sz="2400"/>
              <a:t>Construct binary search tree for the following data</a:t>
            </a:r>
            <a:br>
              <a:rPr lang="en-IN" sz="2400"/>
            </a:br>
            <a:r>
              <a:rPr lang="en-IN" sz="2400"/>
              <a:t>10, 3, 15, 22, 6, 45, 65, 23, 78, 34, 5</a:t>
            </a:r>
            <a:endParaRPr lang="en-US" sz="2400"/>
          </a:p>
        </p:txBody>
      </p:sp>
      <p:cxnSp>
        <p:nvCxnSpPr>
          <p:cNvPr id="690602867" name="Straight Connector 37"/>
          <p:cNvCxnSpPr/>
          <p:nvPr/>
        </p:nvCxnSpPr>
        <p:spPr bwMode="auto">
          <a:xfrm>
            <a:off x="1752599" y="5441577"/>
            <a:ext cx="8686800" cy="0"/>
          </a:xfrm>
          <a:prstGeom prst="line">
            <a:avLst/>
          </a:prstGeom>
        </p:spPr>
        <p:style>
          <a:lnRef idx="2">
            <a:schemeClr val="dk1"/>
          </a:lnRef>
          <a:fillRef idx="0">
            <a:schemeClr val="dk1"/>
          </a:fillRef>
          <a:effectRef idx="1">
            <a:schemeClr val="dk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8430945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4563755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1019520862"/>
                                        </p:tgtEl>
                                        <p:attrNameLst>
                                          <p:attrName>style.visibility</p:attrName>
                                        </p:attrNameLst>
                                      </p:cBhvr>
                                      <p:to>
                                        <p:strVal val="visible"/>
                                      </p:to>
                                    </p:set>
                                    <p:animEffect transition="in" filter="wipe(right)">
                                      <p:cBhvr>
                                        <p:cTn id="15" dur="500"/>
                                        <p:tgtEl>
                                          <p:spTgt spid="1019520862"/>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715990036"/>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nodeType="clickEffect">
                                  <p:stCondLst>
                                    <p:cond delay="0"/>
                                  </p:stCondLst>
                                  <p:childTnLst>
                                    <p:set>
                                      <p:cBhvr>
                                        <p:cTn id="23" dur="1" fill="hold">
                                          <p:stCondLst>
                                            <p:cond delay="0"/>
                                          </p:stCondLst>
                                        </p:cTn>
                                        <p:tgtEl>
                                          <p:spTgt spid="315071056"/>
                                        </p:tgtEl>
                                        <p:attrNameLst>
                                          <p:attrName>style.visibility</p:attrName>
                                        </p:attrNameLst>
                                      </p:cBhvr>
                                      <p:to>
                                        <p:strVal val="visible"/>
                                      </p:to>
                                    </p:set>
                                    <p:animEffect transition="in" filter="wipe(left)">
                                      <p:cBhvr>
                                        <p:cTn id="24" dur="500"/>
                                        <p:tgtEl>
                                          <p:spTgt spid="315071056"/>
                                        </p:tgtEl>
                                      </p:cBhvr>
                                    </p:animEffec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460431732"/>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22" presetClass="entr" presetSubtype="2" fill="hold" nodeType="clickEffect">
                                  <p:stCondLst>
                                    <p:cond delay="0"/>
                                  </p:stCondLst>
                                  <p:childTnLst>
                                    <p:set>
                                      <p:cBhvr>
                                        <p:cTn id="32" dur="1" fill="hold">
                                          <p:stCondLst>
                                            <p:cond delay="0"/>
                                          </p:stCondLst>
                                        </p:cTn>
                                        <p:tgtEl>
                                          <p:spTgt spid="774807287"/>
                                        </p:tgtEl>
                                        <p:attrNameLst>
                                          <p:attrName>style.visibility</p:attrName>
                                        </p:attrNameLst>
                                      </p:cBhvr>
                                      <p:to>
                                        <p:strVal val="visible"/>
                                      </p:to>
                                    </p:set>
                                    <p:animEffect transition="in" filter="wipe(right)">
                                      <p:cBhvr>
                                        <p:cTn id="33" dur="500"/>
                                        <p:tgtEl>
                                          <p:spTgt spid="774807287"/>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766526505"/>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760511302"/>
                                        </p:tgtEl>
                                        <p:attrNameLst>
                                          <p:attrName>style.visibility</p:attrName>
                                        </p:attrNameLst>
                                      </p:cBhvr>
                                      <p:to>
                                        <p:strVal val="visible"/>
                                      </p:to>
                                    </p:set>
                                    <p:animEffect transition="in" filter="wipe(left)">
                                      <p:cBhvr>
                                        <p:cTn id="42" dur="500"/>
                                        <p:tgtEl>
                                          <p:spTgt spid="1760511302"/>
                                        </p:tgtEl>
                                      </p:cBhvr>
                                    </p:animEffec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34910961"/>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22" presetClass="entr" presetSubtype="2" fill="hold" nodeType="clickEffect">
                                  <p:stCondLst>
                                    <p:cond delay="0"/>
                                  </p:stCondLst>
                                  <p:childTnLst>
                                    <p:set>
                                      <p:cBhvr>
                                        <p:cTn id="50" dur="1" fill="hold">
                                          <p:stCondLst>
                                            <p:cond delay="0"/>
                                          </p:stCondLst>
                                        </p:cTn>
                                        <p:tgtEl>
                                          <p:spTgt spid="1034372222"/>
                                        </p:tgtEl>
                                        <p:attrNameLst>
                                          <p:attrName>style.visibility</p:attrName>
                                        </p:attrNameLst>
                                      </p:cBhvr>
                                      <p:to>
                                        <p:strVal val="visible"/>
                                      </p:to>
                                    </p:set>
                                    <p:animEffect transition="in" filter="wipe(right)">
                                      <p:cBhvr>
                                        <p:cTn id="51" dur="500"/>
                                        <p:tgtEl>
                                          <p:spTgt spid="1034372222"/>
                                        </p:tgtEl>
                                      </p:cBhvr>
                                    </p:animEffec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650750546"/>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62380494"/>
                                        </p:tgtEl>
                                        <p:attrNameLst>
                                          <p:attrName>style.visibility</p:attrName>
                                        </p:attrNameLst>
                                      </p:cBhvr>
                                      <p:to>
                                        <p:strVal val="visible"/>
                                      </p:to>
                                    </p:set>
                                    <p:animEffect transition="in" filter="wipe(left)">
                                      <p:cBhvr>
                                        <p:cTn id="60" dur="500"/>
                                        <p:tgtEl>
                                          <p:spTgt spid="162380494"/>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68435709"/>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981618512"/>
                                        </p:tgtEl>
                                        <p:attrNameLst>
                                          <p:attrName>style.visibility</p:attrName>
                                        </p:attrNameLst>
                                      </p:cBhvr>
                                      <p:to>
                                        <p:strVal val="visible"/>
                                      </p:to>
                                    </p:set>
                                    <p:animEffect transition="in" filter="wipe(left)">
                                      <p:cBhvr>
                                        <p:cTn id="69" dur="500"/>
                                        <p:tgtEl>
                                          <p:spTgt spid="981618512"/>
                                        </p:tgtEl>
                                      </p:cBhvr>
                                    </p:animEffec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1320220822"/>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22" presetClass="entr" presetSubtype="2" fill="hold" nodeType="clickEffect">
                                  <p:stCondLst>
                                    <p:cond delay="0"/>
                                  </p:stCondLst>
                                  <p:childTnLst>
                                    <p:set>
                                      <p:cBhvr>
                                        <p:cTn id="77" dur="1" fill="hold">
                                          <p:stCondLst>
                                            <p:cond delay="0"/>
                                          </p:stCondLst>
                                        </p:cTn>
                                        <p:tgtEl>
                                          <p:spTgt spid="1061438292"/>
                                        </p:tgtEl>
                                        <p:attrNameLst>
                                          <p:attrName>style.visibility</p:attrName>
                                        </p:attrNameLst>
                                      </p:cBhvr>
                                      <p:to>
                                        <p:strVal val="visible"/>
                                      </p:to>
                                    </p:set>
                                    <p:animEffect transition="in" filter="wipe(right)">
                                      <p:cBhvr>
                                        <p:cTn id="78" dur="500"/>
                                        <p:tgtEl>
                                          <p:spTgt spid="1061438292"/>
                                        </p:tgtEl>
                                      </p:cBhvr>
                                    </p:animEffec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grpId="0" nodeType="clickEffect">
                                  <p:stCondLst>
                                    <p:cond delay="0"/>
                                  </p:stCondLst>
                                  <p:childTnLst>
                                    <p:set>
                                      <p:cBhvr>
                                        <p:cTn id="82" dur="1" fill="hold">
                                          <p:stCondLst>
                                            <p:cond delay="0"/>
                                          </p:stCondLst>
                                        </p:cTn>
                                        <p:tgtEl>
                                          <p:spTgt spid="107430592"/>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2" fill="hold" nodeType="clickEffect">
                                  <p:stCondLst>
                                    <p:cond delay="0"/>
                                  </p:stCondLst>
                                  <p:childTnLst>
                                    <p:set>
                                      <p:cBhvr>
                                        <p:cTn id="86" dur="1" fill="hold">
                                          <p:stCondLst>
                                            <p:cond delay="0"/>
                                          </p:stCondLst>
                                        </p:cTn>
                                        <p:tgtEl>
                                          <p:spTgt spid="188936741"/>
                                        </p:tgtEl>
                                        <p:attrNameLst>
                                          <p:attrName>style.visibility</p:attrName>
                                        </p:attrNameLst>
                                      </p:cBhvr>
                                      <p:to>
                                        <p:strVal val="visible"/>
                                      </p:to>
                                    </p:set>
                                    <p:animEffect transition="in" filter="wipe(right)">
                                      <p:cBhvr>
                                        <p:cTn id="87" dur="500"/>
                                        <p:tgtEl>
                                          <p:spTgt spid="188936741"/>
                                        </p:tgtEl>
                                      </p:cBhvr>
                                    </p:animEffect>
                                  </p:childTnLst>
                                </p:cTn>
                              </p:par>
                            </p:childTnLst>
                          </p:cTn>
                        </p:par>
                      </p:childTnLst>
                    </p:cTn>
                  </p:par>
                  <p:par>
                    <p:cTn id="88" fill="hold">
                      <p:stCondLst>
                        <p:cond delay="indefinite"/>
                      </p:stCondLst>
                      <p:childTnLst>
                        <p:par>
                          <p:cTn id="89" fill="hold">
                            <p:stCondLst>
                              <p:cond delay="0"/>
                            </p:stCondLst>
                            <p:childTnLst>
                              <p:par>
                                <p:cTn id="90" presetID="1" presetClass="entr" presetSubtype="0" fill="hold" grpId="0" nodeType="clickEffect">
                                  <p:stCondLst>
                                    <p:cond delay="0"/>
                                  </p:stCondLst>
                                  <p:childTnLst>
                                    <p:set>
                                      <p:cBhvr>
                                        <p:cTn id="91" dur="1" fill="hold">
                                          <p:stCondLst>
                                            <p:cond delay="0"/>
                                          </p:stCondLst>
                                        </p:cTn>
                                        <p:tgtEl>
                                          <p:spTgt spid="2018692911"/>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fill="hold" grpId="0" nodeType="clickEffect">
                                  <p:stCondLst>
                                    <p:cond delay="0"/>
                                  </p:stCondLst>
                                  <p:childTnLst>
                                    <p:set>
                                      <p:cBhvr>
                                        <p:cTn id="95" dur="1" fill="hold">
                                          <p:stCondLst>
                                            <p:cond delay="0"/>
                                          </p:stCondLst>
                                        </p:cTn>
                                        <p:tgtEl>
                                          <p:spTgt spid="707901975"/>
                                        </p:tgtEl>
                                        <p:attrNameLst>
                                          <p:attrName>style.visibility</p:attrName>
                                        </p:attrNameLst>
                                      </p:cBhvr>
                                      <p:to>
                                        <p:strVal val="visible"/>
                                      </p:to>
                                    </p:set>
                                  </p:childTnLst>
                                </p:cTn>
                              </p:par>
                              <p:par>
                                <p:cTn id="96" presetID="1" presetClass="entr" presetSubtype="0" fill="hold" nodeType="withEffect">
                                  <p:stCondLst>
                                    <p:cond delay="0"/>
                                  </p:stCondLst>
                                  <p:childTnLst>
                                    <p:set>
                                      <p:cBhvr>
                                        <p:cTn id="97" dur="1" fill="hold">
                                          <p:stCondLst>
                                            <p:cond delay="0"/>
                                          </p:stCondLst>
                                        </p:cTn>
                                        <p:tgtEl>
                                          <p:spTgt spid="6906028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4309454" grpId="0"/>
      <p:bldP spid="445637552" grpId="0" animBg="1"/>
      <p:bldP spid="715990036" grpId="0" animBg="1"/>
      <p:bldP spid="1460431732" grpId="0" animBg="1"/>
      <p:bldP spid="766526505" grpId="0" animBg="1"/>
      <p:bldP spid="334910961" grpId="0" animBg="1"/>
      <p:bldP spid="650750546" grpId="0" animBg="1"/>
      <p:bldP spid="268435709" grpId="0" animBg="1"/>
      <p:bldP spid="1320220822" grpId="0" animBg="1"/>
      <p:bldP spid="107430592" grpId="0" animBg="1"/>
      <p:bldP spid="2018692911" grpId="0" animBg="1"/>
      <p:bldP spid="707901975" grpId="0"/>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24123428" name="Title 1"/>
          <p:cNvSpPr>
            <a:spLocks noGrp="1"/>
          </p:cNvSpPr>
          <p:nvPr>
            <p:ph type="title"/>
          </p:nvPr>
        </p:nvSpPr>
        <p:spPr bwMode="auto"/>
        <p:txBody>
          <a:bodyPr>
            <a:normAutofit/>
          </a:bodyPr>
          <a:lstStyle/>
          <a:p>
            <a:pPr>
              <a:defRPr/>
            </a:pPr>
            <a:r>
              <a:rPr lang="en-IN"/>
              <a:t>Search a node in Binary </a:t>
            </a:r>
            <a:r>
              <a:rPr lang="en-IN"/>
              <a:t>Search </a:t>
            </a:r>
            <a:r>
              <a:rPr lang="en-IN"/>
              <a:t>Tree</a:t>
            </a:r>
            <a:endParaRPr lang="en-US"/>
          </a:p>
        </p:txBody>
      </p:sp>
      <p:sp>
        <p:nvSpPr>
          <p:cNvPr id="1536868866" name="Content Placeholder 2"/>
          <p:cNvSpPr>
            <a:spLocks noGrp="1"/>
          </p:cNvSpPr>
          <p:nvPr>
            <p:ph idx="1"/>
          </p:nvPr>
        </p:nvSpPr>
        <p:spPr bwMode="auto"/>
        <p:txBody>
          <a:bodyPr/>
          <a:lstStyle/>
          <a:p>
            <a:pPr>
              <a:defRPr/>
            </a:pPr>
            <a:r>
              <a:rPr lang="en-IN"/>
              <a:t>To search for target value.</a:t>
            </a:r>
            <a:endParaRPr/>
          </a:p>
          <a:p>
            <a:pPr>
              <a:defRPr/>
            </a:pPr>
            <a:r>
              <a:rPr lang="en-IN"/>
              <a:t>W</a:t>
            </a:r>
            <a:r>
              <a:rPr lang="en-IN"/>
              <a:t>e first compare it with the key at root of the tree.</a:t>
            </a:r>
            <a:endParaRPr/>
          </a:p>
          <a:p>
            <a:pPr>
              <a:defRPr/>
            </a:pPr>
            <a:r>
              <a:rPr lang="en-IN"/>
              <a:t>If it is not same, we go to either Left sub tree or Right sub tree as appropriate and repeat the search in sub tree.</a:t>
            </a:r>
            <a:endParaRPr/>
          </a:p>
          <a:p>
            <a:pPr>
              <a:defRPr/>
            </a:pPr>
            <a:r>
              <a:rPr lang="en-IN"/>
              <a:t>If we have </a:t>
            </a:r>
            <a:r>
              <a:rPr lang="en-IN" b="1"/>
              <a:t>In-Order List </a:t>
            </a:r>
            <a:r>
              <a:rPr lang="en-IN"/>
              <a:t>&amp; we want to search for specific node it requires </a:t>
            </a:r>
            <a:r>
              <a:rPr lang="en-IN" b="1">
                <a:solidFill>
                  <a:srgbClr val="C00000"/>
                </a:solidFill>
              </a:rPr>
              <a:t>O(n) time.</a:t>
            </a:r>
            <a:endParaRPr/>
          </a:p>
          <a:p>
            <a:pPr>
              <a:defRPr/>
            </a:pPr>
            <a:r>
              <a:rPr lang="en-IN"/>
              <a:t>In case of</a:t>
            </a:r>
            <a:r>
              <a:rPr lang="en-IN">
                <a:solidFill>
                  <a:srgbClr val="FF0000"/>
                </a:solidFill>
              </a:rPr>
              <a:t> </a:t>
            </a:r>
            <a:r>
              <a:rPr lang="en-IN" b="1">
                <a:solidFill>
                  <a:srgbClr val="C00000"/>
                </a:solidFill>
              </a:rPr>
              <a:t>Binary tree </a:t>
            </a:r>
            <a:r>
              <a:rPr lang="en-IN"/>
              <a:t>it requires </a:t>
            </a:r>
            <a:r>
              <a:rPr lang="en-IN" b="1">
                <a:solidFill>
                  <a:srgbClr val="C00000"/>
                </a:solidFill>
              </a:rPr>
              <a:t>O(Log</a:t>
            </a:r>
            <a:r>
              <a:rPr lang="en-IN" b="1" baseline="-25000">
                <a:solidFill>
                  <a:srgbClr val="C00000"/>
                </a:solidFill>
              </a:rPr>
              <a:t>2</a:t>
            </a:r>
            <a:r>
              <a:rPr lang="en-IN" b="1">
                <a:solidFill>
                  <a:srgbClr val="C00000"/>
                </a:solidFill>
              </a:rPr>
              <a:t>n)</a:t>
            </a:r>
            <a:r>
              <a:rPr lang="en-IN">
                <a:solidFill>
                  <a:srgbClr val="FF0000"/>
                </a:solidFill>
              </a:rPr>
              <a:t> </a:t>
            </a:r>
            <a:r>
              <a:rPr lang="en-IN"/>
              <a:t>time to search a node.</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3686886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3686886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3686886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3686886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36868866">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868866" grpId="0" build="p"/>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139070634" name="Title 1"/>
          <p:cNvSpPr>
            <a:spLocks noGrp="1"/>
          </p:cNvSpPr>
          <p:nvPr>
            <p:ph type="title"/>
          </p:nvPr>
        </p:nvSpPr>
        <p:spPr bwMode="auto"/>
        <p:txBody>
          <a:bodyPr/>
          <a:lstStyle/>
          <a:p>
            <a:pPr>
              <a:defRPr/>
            </a:pPr>
            <a:r>
              <a:rPr lang="en-IN"/>
              <a:t>Delete node from Binary Search Tree</a:t>
            </a:r>
            <a:endParaRPr lang="en-US"/>
          </a:p>
        </p:txBody>
      </p:sp>
      <p:sp>
        <p:nvSpPr>
          <p:cNvPr id="1402885071" name="Oval 3"/>
          <p:cNvSpPr/>
          <p:nvPr/>
        </p:nvSpPr>
        <p:spPr bwMode="auto">
          <a:xfrm>
            <a:off x="2743200" y="1066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15949735" name="Oval 4"/>
          <p:cNvSpPr/>
          <p:nvPr/>
        </p:nvSpPr>
        <p:spPr bwMode="auto">
          <a:xfrm>
            <a:off x="2133600" y="1676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57650443" name="Oval 5"/>
          <p:cNvSpPr/>
          <p:nvPr/>
        </p:nvSpPr>
        <p:spPr bwMode="auto">
          <a:xfrm>
            <a:off x="1770529" y="236219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85806660" name="Oval 6"/>
          <p:cNvSpPr/>
          <p:nvPr/>
        </p:nvSpPr>
        <p:spPr bwMode="auto">
          <a:xfrm>
            <a:off x="2438400" y="236219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485385815" name="Oval 7"/>
          <p:cNvSpPr/>
          <p:nvPr/>
        </p:nvSpPr>
        <p:spPr bwMode="auto">
          <a:xfrm>
            <a:off x="3352800" y="1676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42326275" name="Oval 8"/>
          <p:cNvSpPr/>
          <p:nvPr/>
        </p:nvSpPr>
        <p:spPr bwMode="auto">
          <a:xfrm>
            <a:off x="2971800" y="236219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70760908" name="Oval 9"/>
          <p:cNvSpPr/>
          <p:nvPr/>
        </p:nvSpPr>
        <p:spPr bwMode="auto">
          <a:xfrm>
            <a:off x="3810000" y="236219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43395097" name="Oval 10"/>
          <p:cNvSpPr/>
          <p:nvPr/>
        </p:nvSpPr>
        <p:spPr bwMode="auto">
          <a:xfrm>
            <a:off x="4289612" y="3048000"/>
            <a:ext cx="360000" cy="360000"/>
          </a:xfrm>
          <a:prstGeom prst="ellipse">
            <a:avLst/>
          </a:prstGeom>
          <a:solidFill>
            <a:srgbClr val="B84742"/>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en-IN" b="1"/>
              <a:t>a</a:t>
            </a:r>
            <a:endParaRPr lang="en-US" b="1"/>
          </a:p>
        </p:txBody>
      </p:sp>
      <p:cxnSp>
        <p:nvCxnSpPr>
          <p:cNvPr id="224847152" name="Straight Arrow Connector 12"/>
          <p:cNvCxnSpPr>
            <a:stCxn id="1402885071" idx="3"/>
            <a:endCxn id="815949735" idx="0"/>
          </p:cNvCxnSpPr>
          <p:nvPr/>
        </p:nvCxnSpPr>
        <p:spPr bwMode="auto">
          <a:xfrm flipH="1">
            <a:off x="2313600" y="1374079"/>
            <a:ext cx="482321"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093603502" name="Straight Arrow Connector 15"/>
          <p:cNvCxnSpPr>
            <a:stCxn id="815949735" idx="3"/>
            <a:endCxn id="2057650443" idx="0"/>
          </p:cNvCxnSpPr>
          <p:nvPr/>
        </p:nvCxnSpPr>
        <p:spPr bwMode="auto">
          <a:xfrm flipH="1">
            <a:off x="1950529" y="1983679"/>
            <a:ext cx="235792"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97020084" name="Straight Arrow Connector 17"/>
          <p:cNvCxnSpPr>
            <a:stCxn id="815949735" idx="5"/>
            <a:endCxn id="2085806660" idx="0"/>
          </p:cNvCxnSpPr>
          <p:nvPr/>
        </p:nvCxnSpPr>
        <p:spPr bwMode="auto">
          <a:xfrm>
            <a:off x="2440879" y="1983679"/>
            <a:ext cx="1775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91324250" name="Straight Arrow Connector 19"/>
          <p:cNvCxnSpPr>
            <a:stCxn id="1402885071" idx="5"/>
            <a:endCxn id="1485385815" idx="0"/>
          </p:cNvCxnSpPr>
          <p:nvPr/>
        </p:nvCxnSpPr>
        <p:spPr bwMode="auto">
          <a:xfrm>
            <a:off x="3050479" y="1374079"/>
            <a:ext cx="482321"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43654101" name="Straight Arrow Connector 21"/>
          <p:cNvCxnSpPr>
            <a:stCxn id="1485385815" idx="3"/>
            <a:endCxn id="1142326275" idx="0"/>
          </p:cNvCxnSpPr>
          <p:nvPr/>
        </p:nvCxnSpPr>
        <p:spPr bwMode="auto">
          <a:xfrm flipH="1">
            <a:off x="3151800" y="1983679"/>
            <a:ext cx="2537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74794880" name="Straight Arrow Connector 23"/>
          <p:cNvCxnSpPr>
            <a:stCxn id="1485385815" idx="5"/>
            <a:endCxn id="2070760908" idx="0"/>
          </p:cNvCxnSpPr>
          <p:nvPr/>
        </p:nvCxnSpPr>
        <p:spPr bwMode="auto">
          <a:xfrm>
            <a:off x="3660079" y="1983679"/>
            <a:ext cx="3299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386267277" name="Straight Arrow Connector 25"/>
          <p:cNvCxnSpPr>
            <a:stCxn id="2070760908" idx="5"/>
            <a:endCxn id="943395097" idx="0"/>
          </p:cNvCxnSpPr>
          <p:nvPr/>
        </p:nvCxnSpPr>
        <p:spPr bwMode="auto">
          <a:xfrm>
            <a:off x="4117279" y="2669479"/>
            <a:ext cx="352333" cy="378521"/>
          </a:xfrm>
          <a:prstGeom prst="straightConnector1">
            <a:avLst/>
          </a:prstGeom>
          <a:ln w="28575">
            <a:solidFill>
              <a:srgbClr val="B84742"/>
            </a:solidFill>
            <a:prstDash val="dash"/>
            <a:tailEnd type="arrow"/>
          </a:ln>
        </p:spPr>
        <p:style>
          <a:lnRef idx="2">
            <a:schemeClr val="accent2"/>
          </a:lnRef>
          <a:fillRef idx="0">
            <a:schemeClr val="accent2"/>
          </a:fillRef>
          <a:effectRef idx="1">
            <a:schemeClr val="accent2"/>
          </a:effectRef>
          <a:fontRef idx="minor">
            <a:schemeClr val="tx1"/>
          </a:fontRef>
        </p:style>
      </p:cxnSp>
      <p:sp>
        <p:nvSpPr>
          <p:cNvPr id="1732520766" name="Oval 26"/>
          <p:cNvSpPr/>
          <p:nvPr/>
        </p:nvSpPr>
        <p:spPr bwMode="auto">
          <a:xfrm>
            <a:off x="8583706" y="1066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66793345" name="Oval 27"/>
          <p:cNvSpPr/>
          <p:nvPr/>
        </p:nvSpPr>
        <p:spPr bwMode="auto">
          <a:xfrm>
            <a:off x="7920318" y="1676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00031702" name="Oval 28"/>
          <p:cNvSpPr/>
          <p:nvPr/>
        </p:nvSpPr>
        <p:spPr bwMode="auto">
          <a:xfrm>
            <a:off x="7543800" y="236219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04493630" name="Oval 29"/>
          <p:cNvSpPr/>
          <p:nvPr/>
        </p:nvSpPr>
        <p:spPr bwMode="auto">
          <a:xfrm>
            <a:off x="8255000" y="236219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63092658" name="Oval 30"/>
          <p:cNvSpPr/>
          <p:nvPr/>
        </p:nvSpPr>
        <p:spPr bwMode="auto">
          <a:xfrm>
            <a:off x="9273988" y="1676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12274241" name="Oval 31"/>
          <p:cNvSpPr/>
          <p:nvPr/>
        </p:nvSpPr>
        <p:spPr bwMode="auto">
          <a:xfrm>
            <a:off x="8966200" y="236219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96182129" name="Oval 32"/>
          <p:cNvSpPr/>
          <p:nvPr/>
        </p:nvSpPr>
        <p:spPr bwMode="auto">
          <a:xfrm>
            <a:off x="9677400" y="236219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729520658" name="Straight Arrow Connector 34"/>
          <p:cNvCxnSpPr>
            <a:stCxn id="1732520766" idx="3"/>
            <a:endCxn id="266793345" idx="0"/>
          </p:cNvCxnSpPr>
          <p:nvPr/>
        </p:nvCxnSpPr>
        <p:spPr bwMode="auto">
          <a:xfrm flipH="1">
            <a:off x="8100318" y="1374079"/>
            <a:ext cx="536109"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75862515" name="Straight Arrow Connector 35"/>
          <p:cNvCxnSpPr>
            <a:stCxn id="266793345" idx="3"/>
            <a:endCxn id="1200031702" idx="0"/>
          </p:cNvCxnSpPr>
          <p:nvPr/>
        </p:nvCxnSpPr>
        <p:spPr bwMode="auto">
          <a:xfrm flipH="1">
            <a:off x="7723800" y="1983679"/>
            <a:ext cx="249239"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10826687" name="Straight Arrow Connector 36"/>
          <p:cNvCxnSpPr>
            <a:stCxn id="266793345" idx="5"/>
            <a:endCxn id="904493630" idx="0"/>
          </p:cNvCxnSpPr>
          <p:nvPr/>
        </p:nvCxnSpPr>
        <p:spPr bwMode="auto">
          <a:xfrm>
            <a:off x="8227597" y="1983679"/>
            <a:ext cx="207403"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72726992" name="Straight Arrow Connector 37"/>
          <p:cNvCxnSpPr>
            <a:stCxn id="1732520766" idx="5"/>
            <a:endCxn id="763092658" idx="0"/>
          </p:cNvCxnSpPr>
          <p:nvPr/>
        </p:nvCxnSpPr>
        <p:spPr bwMode="auto">
          <a:xfrm>
            <a:off x="8890985" y="1374079"/>
            <a:ext cx="563003"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649654632" name="Straight Arrow Connector 38"/>
          <p:cNvCxnSpPr>
            <a:stCxn id="763092658" idx="3"/>
            <a:endCxn id="912274241" idx="0"/>
          </p:cNvCxnSpPr>
          <p:nvPr/>
        </p:nvCxnSpPr>
        <p:spPr bwMode="auto">
          <a:xfrm flipH="1">
            <a:off x="9146200" y="1983679"/>
            <a:ext cx="180509"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80929246" name="Straight Arrow Connector 39"/>
          <p:cNvCxnSpPr>
            <a:stCxn id="763092658" idx="5"/>
            <a:endCxn id="996182129" idx="0"/>
          </p:cNvCxnSpPr>
          <p:nvPr/>
        </p:nvCxnSpPr>
        <p:spPr bwMode="auto">
          <a:xfrm>
            <a:off x="9581267" y="1983679"/>
            <a:ext cx="276133"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482937669" name="Right Arrow 41"/>
          <p:cNvSpPr/>
          <p:nvPr/>
        </p:nvSpPr>
        <p:spPr bwMode="auto">
          <a:xfrm>
            <a:off x="4661560" y="1116650"/>
            <a:ext cx="2514600" cy="1245550"/>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Delete node </a:t>
            </a:r>
            <a:r>
              <a:rPr lang="en-IN" sz="2400" b="1">
                <a:solidFill>
                  <a:srgbClr val="FFFF00"/>
                </a:solidFill>
              </a:rPr>
              <a:t>a</a:t>
            </a:r>
            <a:endParaRPr lang="en-US" sz="2400" b="1">
              <a:solidFill>
                <a:srgbClr val="FFFF00"/>
              </a:solidFill>
            </a:endParaRPr>
          </a:p>
        </p:txBody>
      </p:sp>
      <p:sp>
        <p:nvSpPr>
          <p:cNvPr id="800282511" name="TextBox 42"/>
          <p:cNvSpPr txBox="1"/>
          <p:nvPr/>
        </p:nvSpPr>
        <p:spPr bwMode="auto">
          <a:xfrm>
            <a:off x="5313660" y="3048001"/>
            <a:ext cx="3068340" cy="461665"/>
          </a:xfrm>
          <a:prstGeom prst="rect">
            <a:avLst/>
          </a:prstGeom>
          <a:noFill/>
        </p:spPr>
        <p:txBody>
          <a:bodyPr wrap="none" rtlCol="0">
            <a:spAutoFit/>
          </a:bodyPr>
          <a:lstStyle/>
          <a:p>
            <a:pPr>
              <a:defRPr/>
            </a:pPr>
            <a:r>
              <a:rPr lang="en-IN" sz="2400" b="1"/>
              <a:t>Delete from Leaf Node</a:t>
            </a:r>
            <a:endParaRPr lang="en-US" sz="2400" b="1"/>
          </a:p>
        </p:txBody>
      </p:sp>
      <p:cxnSp>
        <p:nvCxnSpPr>
          <p:cNvPr id="541207196" name="Straight Connector 44"/>
          <p:cNvCxnSpPr/>
          <p:nvPr/>
        </p:nvCxnSpPr>
        <p:spPr bwMode="auto">
          <a:xfrm>
            <a:off x="1676400" y="3657600"/>
            <a:ext cx="8839200" cy="0"/>
          </a:xfrm>
          <a:prstGeom prst="line">
            <a:avLst/>
          </a:prstGeom>
        </p:spPr>
        <p:style>
          <a:lnRef idx="2">
            <a:schemeClr val="dk1"/>
          </a:lnRef>
          <a:fillRef idx="0">
            <a:schemeClr val="dk1"/>
          </a:fillRef>
          <a:effectRef idx="1">
            <a:schemeClr val="dk1"/>
          </a:effectRef>
          <a:fontRef idx="minor">
            <a:schemeClr val="tx1"/>
          </a:fontRef>
        </p:style>
      </p:cxnSp>
      <p:sp>
        <p:nvSpPr>
          <p:cNvPr id="1802021208" name="Oval 45"/>
          <p:cNvSpPr/>
          <p:nvPr/>
        </p:nvSpPr>
        <p:spPr bwMode="auto">
          <a:xfrm>
            <a:off x="2743200" y="3886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654004843" name="Oval 46"/>
          <p:cNvSpPr/>
          <p:nvPr/>
        </p:nvSpPr>
        <p:spPr bwMode="auto">
          <a:xfrm>
            <a:off x="2133600" y="4495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68568473" name="Oval 47"/>
          <p:cNvSpPr/>
          <p:nvPr/>
        </p:nvSpPr>
        <p:spPr bwMode="auto">
          <a:xfrm>
            <a:off x="1676400" y="51816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69880688" name="Oval 48"/>
          <p:cNvSpPr/>
          <p:nvPr/>
        </p:nvSpPr>
        <p:spPr bwMode="auto">
          <a:xfrm>
            <a:off x="2438400" y="51816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87824977" name="Oval 51"/>
          <p:cNvSpPr/>
          <p:nvPr/>
        </p:nvSpPr>
        <p:spPr bwMode="auto">
          <a:xfrm>
            <a:off x="3810000" y="51816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b</a:t>
            </a:r>
            <a:endParaRPr lang="en-US" b="1"/>
          </a:p>
        </p:txBody>
      </p:sp>
      <p:cxnSp>
        <p:nvCxnSpPr>
          <p:cNvPr id="1156164051" name="Straight Arrow Connector 53"/>
          <p:cNvCxnSpPr>
            <a:stCxn id="1802021208" idx="3"/>
            <a:endCxn id="654004843" idx="0"/>
          </p:cNvCxnSpPr>
          <p:nvPr/>
        </p:nvCxnSpPr>
        <p:spPr bwMode="auto">
          <a:xfrm flipH="1">
            <a:off x="2313600" y="4193479"/>
            <a:ext cx="482321"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00088693" name="Straight Arrow Connector 54"/>
          <p:cNvCxnSpPr>
            <a:stCxn id="654004843" idx="3"/>
            <a:endCxn id="468568473" idx="0"/>
          </p:cNvCxnSpPr>
          <p:nvPr/>
        </p:nvCxnSpPr>
        <p:spPr bwMode="auto">
          <a:xfrm flipH="1">
            <a:off x="1856400" y="4803079"/>
            <a:ext cx="3299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736992353" name="Straight Arrow Connector 55"/>
          <p:cNvCxnSpPr>
            <a:stCxn id="654004843" idx="5"/>
            <a:endCxn id="969880688" idx="0"/>
          </p:cNvCxnSpPr>
          <p:nvPr/>
        </p:nvCxnSpPr>
        <p:spPr bwMode="auto">
          <a:xfrm>
            <a:off x="2440879" y="4803079"/>
            <a:ext cx="1775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68120769" name="Straight Arrow Connector 56"/>
          <p:cNvCxnSpPr>
            <a:stCxn id="1802021208" idx="5"/>
            <a:endCxn id="1279854942" idx="0"/>
          </p:cNvCxnSpPr>
          <p:nvPr/>
        </p:nvCxnSpPr>
        <p:spPr bwMode="auto">
          <a:xfrm>
            <a:off x="3050479" y="4193479"/>
            <a:ext cx="437684" cy="346958"/>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71871497" name="Straight Arrow Connector 58"/>
          <p:cNvCxnSpPr>
            <a:stCxn id="1279854942" idx="5"/>
            <a:endCxn id="2087824977" idx="0"/>
          </p:cNvCxnSpPr>
          <p:nvPr/>
        </p:nvCxnSpPr>
        <p:spPr bwMode="auto">
          <a:xfrm>
            <a:off x="3615442" y="4847716"/>
            <a:ext cx="374558" cy="33388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279854942" name="Oval 60"/>
          <p:cNvSpPr/>
          <p:nvPr/>
        </p:nvSpPr>
        <p:spPr bwMode="auto">
          <a:xfrm>
            <a:off x="3308163" y="4540437"/>
            <a:ext cx="360000" cy="360000"/>
          </a:xfrm>
          <a:prstGeom prst="ellipse">
            <a:avLst/>
          </a:prstGeom>
          <a:solidFill>
            <a:srgbClr val="B84742"/>
          </a:solid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en-IN" b="1"/>
              <a:t>a</a:t>
            </a:r>
            <a:endParaRPr lang="en-US" b="1"/>
          </a:p>
        </p:txBody>
      </p:sp>
      <p:sp>
        <p:nvSpPr>
          <p:cNvPr id="1663155454" name="Oval 65"/>
          <p:cNvSpPr/>
          <p:nvPr/>
        </p:nvSpPr>
        <p:spPr bwMode="auto">
          <a:xfrm>
            <a:off x="3397437" y="59436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93555455" name="Oval 66"/>
          <p:cNvSpPr/>
          <p:nvPr/>
        </p:nvSpPr>
        <p:spPr bwMode="auto">
          <a:xfrm>
            <a:off x="4191000" y="59436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572581405" name="Straight Arrow Connector 68"/>
          <p:cNvCxnSpPr>
            <a:stCxn id="2087824977" idx="3"/>
            <a:endCxn id="1663155454" idx="0"/>
          </p:cNvCxnSpPr>
          <p:nvPr/>
        </p:nvCxnSpPr>
        <p:spPr bwMode="auto">
          <a:xfrm flipH="1">
            <a:off x="3577437" y="5488879"/>
            <a:ext cx="285284"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59301718" name="Straight Arrow Connector 70"/>
          <p:cNvCxnSpPr>
            <a:stCxn id="2087824977" idx="5"/>
            <a:endCxn id="1293555455" idx="0"/>
          </p:cNvCxnSpPr>
          <p:nvPr/>
        </p:nvCxnSpPr>
        <p:spPr bwMode="auto">
          <a:xfrm>
            <a:off x="4117279" y="5488879"/>
            <a:ext cx="253721"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85153605" name="Right Arrow 71"/>
          <p:cNvSpPr/>
          <p:nvPr/>
        </p:nvSpPr>
        <p:spPr bwMode="auto">
          <a:xfrm>
            <a:off x="4648200" y="4012250"/>
            <a:ext cx="2514600" cy="1245550"/>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Delete node </a:t>
            </a:r>
            <a:r>
              <a:rPr lang="en-IN" sz="2400" b="1">
                <a:solidFill>
                  <a:srgbClr val="FFFF00"/>
                </a:solidFill>
              </a:rPr>
              <a:t>a</a:t>
            </a:r>
            <a:endParaRPr lang="en-US" sz="2400" b="1">
              <a:solidFill>
                <a:srgbClr val="FFFF00"/>
              </a:solidFill>
            </a:endParaRPr>
          </a:p>
        </p:txBody>
      </p:sp>
      <p:sp>
        <p:nvSpPr>
          <p:cNvPr id="96698765" name="Oval 72"/>
          <p:cNvSpPr/>
          <p:nvPr/>
        </p:nvSpPr>
        <p:spPr bwMode="auto">
          <a:xfrm>
            <a:off x="8404412" y="38862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988916876" name="Oval 73"/>
          <p:cNvSpPr/>
          <p:nvPr/>
        </p:nvSpPr>
        <p:spPr bwMode="auto">
          <a:xfrm>
            <a:off x="7781365" y="4495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02071675" name="Oval 74"/>
          <p:cNvSpPr/>
          <p:nvPr/>
        </p:nvSpPr>
        <p:spPr bwMode="auto">
          <a:xfrm>
            <a:off x="7391400" y="5257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772412334" name="Oval 75"/>
          <p:cNvSpPr/>
          <p:nvPr/>
        </p:nvSpPr>
        <p:spPr bwMode="auto">
          <a:xfrm>
            <a:off x="8153399" y="5257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33934594" name="Oval 76"/>
          <p:cNvSpPr/>
          <p:nvPr/>
        </p:nvSpPr>
        <p:spPr bwMode="auto">
          <a:xfrm>
            <a:off x="9045575" y="4495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b</a:t>
            </a:r>
            <a:endParaRPr lang="en-US" b="1"/>
          </a:p>
        </p:txBody>
      </p:sp>
      <p:cxnSp>
        <p:nvCxnSpPr>
          <p:cNvPr id="272382779" name="Straight Arrow Connector 77"/>
          <p:cNvCxnSpPr>
            <a:stCxn id="96698765" idx="3"/>
            <a:endCxn id="988916876" idx="0"/>
          </p:cNvCxnSpPr>
          <p:nvPr/>
        </p:nvCxnSpPr>
        <p:spPr bwMode="auto">
          <a:xfrm flipH="1">
            <a:off x="7961365" y="4193479"/>
            <a:ext cx="495768"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130073249" name="Straight Arrow Connector 78"/>
          <p:cNvCxnSpPr>
            <a:stCxn id="988916876" idx="3"/>
            <a:endCxn id="1102071675" idx="0"/>
          </p:cNvCxnSpPr>
          <p:nvPr/>
        </p:nvCxnSpPr>
        <p:spPr bwMode="auto">
          <a:xfrm flipH="1">
            <a:off x="7571400" y="4803079"/>
            <a:ext cx="262686"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51061742" name="Straight Arrow Connector 79"/>
          <p:cNvCxnSpPr>
            <a:stCxn id="988916876" idx="5"/>
            <a:endCxn id="772412334" idx="0"/>
          </p:cNvCxnSpPr>
          <p:nvPr/>
        </p:nvCxnSpPr>
        <p:spPr bwMode="auto">
          <a:xfrm>
            <a:off x="8088644" y="4803079"/>
            <a:ext cx="244756"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150594324" name="Straight Arrow Connector 80"/>
          <p:cNvCxnSpPr>
            <a:stCxn id="96698765" idx="5"/>
            <a:endCxn id="2033934594" idx="0"/>
          </p:cNvCxnSpPr>
          <p:nvPr/>
        </p:nvCxnSpPr>
        <p:spPr bwMode="auto">
          <a:xfrm>
            <a:off x="8711691" y="4193479"/>
            <a:ext cx="513884"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03664471" name="Oval 83"/>
          <p:cNvSpPr/>
          <p:nvPr/>
        </p:nvSpPr>
        <p:spPr bwMode="auto">
          <a:xfrm>
            <a:off x="8686800" y="5257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94528544" name="Oval 84"/>
          <p:cNvSpPr/>
          <p:nvPr/>
        </p:nvSpPr>
        <p:spPr bwMode="auto">
          <a:xfrm>
            <a:off x="9480363" y="5257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307649003" name="Straight Arrow Connector 85"/>
          <p:cNvCxnSpPr>
            <a:stCxn id="2033934594" idx="3"/>
            <a:endCxn id="503664471" idx="0"/>
          </p:cNvCxnSpPr>
          <p:nvPr/>
        </p:nvCxnSpPr>
        <p:spPr bwMode="auto">
          <a:xfrm flipH="1">
            <a:off x="8866800" y="4803079"/>
            <a:ext cx="231496"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607725810" name="Straight Arrow Connector 86"/>
          <p:cNvCxnSpPr>
            <a:stCxn id="2033934594" idx="5"/>
            <a:endCxn id="294528544" idx="0"/>
          </p:cNvCxnSpPr>
          <p:nvPr/>
        </p:nvCxnSpPr>
        <p:spPr bwMode="auto">
          <a:xfrm>
            <a:off x="9352854" y="4803079"/>
            <a:ext cx="307509"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94722552" name="TextBox 88"/>
          <p:cNvSpPr txBox="1"/>
          <p:nvPr/>
        </p:nvSpPr>
        <p:spPr bwMode="auto">
          <a:xfrm>
            <a:off x="4985112" y="5939135"/>
            <a:ext cx="5530488" cy="415498"/>
          </a:xfrm>
          <a:prstGeom prst="rect">
            <a:avLst/>
          </a:prstGeom>
          <a:noFill/>
        </p:spPr>
        <p:txBody>
          <a:bodyPr wrap="none" rtlCol="0">
            <a:spAutoFit/>
          </a:bodyPr>
          <a:lstStyle/>
          <a:p>
            <a:pPr>
              <a:defRPr/>
            </a:pPr>
            <a:r>
              <a:rPr lang="en-IN" sz="2100" b="1"/>
              <a:t>Delete from Non Terminal (Empty Left Sub Tree)</a:t>
            </a:r>
            <a:endParaRPr lang="en-US" sz="21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0288507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1594973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5765044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08580666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8538581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4232627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7076090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4339509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2484715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09360350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9702008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39132425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436541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74794880"/>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38626727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8002825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8293766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73252076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66793345"/>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20003170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904493630"/>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763092658"/>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1227424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996182129"/>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729520658"/>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1575862515"/>
                                        </p:tgtEl>
                                        <p:attrNameLst>
                                          <p:attrName>style.visibility</p:attrName>
                                        </p:attrNameLst>
                                      </p:cBhvr>
                                      <p:to>
                                        <p:strVal val="visible"/>
                                      </p:to>
                                    </p:set>
                                  </p:childTnLst>
                                </p:cTn>
                              </p:par>
                              <p:par>
                                <p:cTn id="63" presetID="1" presetClass="entr" presetSubtype="0" fill="hold" nodeType="withEffect">
                                  <p:stCondLst>
                                    <p:cond delay="0"/>
                                  </p:stCondLst>
                                  <p:childTnLst>
                                    <p:set>
                                      <p:cBhvr>
                                        <p:cTn id="64" dur="1" fill="hold">
                                          <p:stCondLst>
                                            <p:cond delay="0"/>
                                          </p:stCondLst>
                                        </p:cTn>
                                        <p:tgtEl>
                                          <p:spTgt spid="110826687"/>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872726992"/>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649654632"/>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48092924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4120719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1802021208"/>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654004843"/>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468568473"/>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969880688"/>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2087824977"/>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156164051"/>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1400088693"/>
                                        </p:tgtEl>
                                        <p:attrNameLst>
                                          <p:attrName>style.visibility</p:attrName>
                                        </p:attrNameLst>
                                      </p:cBhvr>
                                      <p:to>
                                        <p:strVal val="visible"/>
                                      </p:to>
                                    </p:set>
                                  </p:childTnLst>
                                </p:cTn>
                              </p:par>
                              <p:par>
                                <p:cTn id="91" presetID="1" presetClass="entr" presetSubtype="0" fill="hold" nodeType="withEffect">
                                  <p:stCondLst>
                                    <p:cond delay="0"/>
                                  </p:stCondLst>
                                  <p:childTnLst>
                                    <p:set>
                                      <p:cBhvr>
                                        <p:cTn id="92" dur="1" fill="hold">
                                          <p:stCondLst>
                                            <p:cond delay="0"/>
                                          </p:stCondLst>
                                        </p:cTn>
                                        <p:tgtEl>
                                          <p:spTgt spid="736992353"/>
                                        </p:tgtEl>
                                        <p:attrNameLst>
                                          <p:attrName>style.visibility</p:attrName>
                                        </p:attrNameLst>
                                      </p:cBhvr>
                                      <p:to>
                                        <p:strVal val="visible"/>
                                      </p:to>
                                    </p:set>
                                  </p:childTnLst>
                                </p:cTn>
                              </p:par>
                              <p:par>
                                <p:cTn id="93" presetID="1" presetClass="entr" presetSubtype="0" fill="hold" nodeType="withEffect">
                                  <p:stCondLst>
                                    <p:cond delay="0"/>
                                  </p:stCondLst>
                                  <p:childTnLst>
                                    <p:set>
                                      <p:cBhvr>
                                        <p:cTn id="94" dur="1" fill="hold">
                                          <p:stCondLst>
                                            <p:cond delay="0"/>
                                          </p:stCondLst>
                                        </p:cTn>
                                        <p:tgtEl>
                                          <p:spTgt spid="468120769"/>
                                        </p:tgtEl>
                                        <p:attrNameLst>
                                          <p:attrName>style.visibility</p:attrName>
                                        </p:attrNameLst>
                                      </p:cBhvr>
                                      <p:to>
                                        <p:strVal val="visible"/>
                                      </p:to>
                                    </p:set>
                                  </p:childTnLst>
                                </p:cTn>
                              </p:par>
                              <p:par>
                                <p:cTn id="95" presetID="1" presetClass="entr" presetSubtype="0" fill="hold" nodeType="withEffect">
                                  <p:stCondLst>
                                    <p:cond delay="0"/>
                                  </p:stCondLst>
                                  <p:childTnLst>
                                    <p:set>
                                      <p:cBhvr>
                                        <p:cTn id="96" dur="1" fill="hold">
                                          <p:stCondLst>
                                            <p:cond delay="0"/>
                                          </p:stCondLst>
                                        </p:cTn>
                                        <p:tgtEl>
                                          <p:spTgt spid="871871497"/>
                                        </p:tgtEl>
                                        <p:attrNameLst>
                                          <p:attrName>style.visibility</p:attrName>
                                        </p:attrNameLst>
                                      </p:cBhvr>
                                      <p:to>
                                        <p:strVal val="visible"/>
                                      </p:to>
                                    </p:set>
                                  </p:childTnLst>
                                </p:cTn>
                              </p:par>
                              <p:par>
                                <p:cTn id="97" presetID="1" presetClass="entr" presetSubtype="0" fill="hold" grpId="0" nodeType="withEffect">
                                  <p:stCondLst>
                                    <p:cond delay="0"/>
                                  </p:stCondLst>
                                  <p:childTnLst>
                                    <p:set>
                                      <p:cBhvr>
                                        <p:cTn id="98" dur="1" fill="hold">
                                          <p:stCondLst>
                                            <p:cond delay="0"/>
                                          </p:stCondLst>
                                        </p:cTn>
                                        <p:tgtEl>
                                          <p:spTgt spid="1279854942"/>
                                        </p:tgtEl>
                                        <p:attrNameLst>
                                          <p:attrName>style.visibility</p:attrName>
                                        </p:attrNameLst>
                                      </p:cBhvr>
                                      <p:to>
                                        <p:strVal val="visible"/>
                                      </p:to>
                                    </p:set>
                                  </p:childTnLst>
                                </p:cTn>
                              </p:par>
                              <p:par>
                                <p:cTn id="99" presetID="1" presetClass="entr" presetSubtype="0" fill="hold" grpId="0" nodeType="withEffect">
                                  <p:stCondLst>
                                    <p:cond delay="0"/>
                                  </p:stCondLst>
                                  <p:childTnLst>
                                    <p:set>
                                      <p:cBhvr>
                                        <p:cTn id="100" dur="1" fill="hold">
                                          <p:stCondLst>
                                            <p:cond delay="0"/>
                                          </p:stCondLst>
                                        </p:cTn>
                                        <p:tgtEl>
                                          <p:spTgt spid="1663155454"/>
                                        </p:tgtEl>
                                        <p:attrNameLst>
                                          <p:attrName>style.visibility</p:attrName>
                                        </p:attrNameLst>
                                      </p:cBhvr>
                                      <p:to>
                                        <p:strVal val="visible"/>
                                      </p:to>
                                    </p:set>
                                  </p:childTnLst>
                                </p:cTn>
                              </p:par>
                              <p:par>
                                <p:cTn id="101" presetID="1" presetClass="entr" presetSubtype="0" fill="hold" grpId="0" nodeType="withEffect">
                                  <p:stCondLst>
                                    <p:cond delay="0"/>
                                  </p:stCondLst>
                                  <p:childTnLst>
                                    <p:set>
                                      <p:cBhvr>
                                        <p:cTn id="102" dur="1" fill="hold">
                                          <p:stCondLst>
                                            <p:cond delay="0"/>
                                          </p:stCondLst>
                                        </p:cTn>
                                        <p:tgtEl>
                                          <p:spTgt spid="1293555455"/>
                                        </p:tgtEl>
                                        <p:attrNameLst>
                                          <p:attrName>style.visibility</p:attrName>
                                        </p:attrNameLst>
                                      </p:cBhvr>
                                      <p:to>
                                        <p:strVal val="visible"/>
                                      </p:to>
                                    </p:set>
                                  </p:childTnLst>
                                </p:cTn>
                              </p:par>
                              <p:par>
                                <p:cTn id="103" presetID="1" presetClass="entr" presetSubtype="0" fill="hold" nodeType="withEffect">
                                  <p:stCondLst>
                                    <p:cond delay="0"/>
                                  </p:stCondLst>
                                  <p:childTnLst>
                                    <p:set>
                                      <p:cBhvr>
                                        <p:cTn id="104" dur="1" fill="hold">
                                          <p:stCondLst>
                                            <p:cond delay="0"/>
                                          </p:stCondLst>
                                        </p:cTn>
                                        <p:tgtEl>
                                          <p:spTgt spid="572581405"/>
                                        </p:tgtEl>
                                        <p:attrNameLst>
                                          <p:attrName>style.visibility</p:attrName>
                                        </p:attrNameLst>
                                      </p:cBhvr>
                                      <p:to>
                                        <p:strVal val="visible"/>
                                      </p:to>
                                    </p:set>
                                  </p:childTnLst>
                                </p:cTn>
                              </p:par>
                              <p:par>
                                <p:cTn id="105" presetID="1" presetClass="entr" presetSubtype="0" fill="hold" nodeType="withEffect">
                                  <p:stCondLst>
                                    <p:cond delay="0"/>
                                  </p:stCondLst>
                                  <p:childTnLst>
                                    <p:set>
                                      <p:cBhvr>
                                        <p:cTn id="106" dur="1" fill="hold">
                                          <p:stCondLst>
                                            <p:cond delay="0"/>
                                          </p:stCondLst>
                                        </p:cTn>
                                        <p:tgtEl>
                                          <p:spTgt spid="559301718"/>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194722552"/>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485153605"/>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96698765"/>
                                        </p:tgtEl>
                                        <p:attrNameLst>
                                          <p:attrName>style.visibility</p:attrName>
                                        </p:attrNameLst>
                                      </p:cBhvr>
                                      <p:to>
                                        <p:strVal val="visible"/>
                                      </p:to>
                                    </p:set>
                                  </p:childTnLst>
                                </p:cTn>
                              </p:par>
                              <p:par>
                                <p:cTn id="119" presetID="1" presetClass="entr" presetSubtype="0" fill="hold" grpId="0" nodeType="withEffect">
                                  <p:stCondLst>
                                    <p:cond delay="0"/>
                                  </p:stCondLst>
                                  <p:childTnLst>
                                    <p:set>
                                      <p:cBhvr>
                                        <p:cTn id="120" dur="1" fill="hold">
                                          <p:stCondLst>
                                            <p:cond delay="0"/>
                                          </p:stCondLst>
                                        </p:cTn>
                                        <p:tgtEl>
                                          <p:spTgt spid="988916876"/>
                                        </p:tgtEl>
                                        <p:attrNameLst>
                                          <p:attrName>style.visibility</p:attrName>
                                        </p:attrNameLst>
                                      </p:cBhvr>
                                      <p:to>
                                        <p:strVal val="visible"/>
                                      </p:to>
                                    </p:set>
                                  </p:childTnLst>
                                </p:cTn>
                              </p:par>
                              <p:par>
                                <p:cTn id="121" presetID="1" presetClass="entr" presetSubtype="0" fill="hold" grpId="0" nodeType="withEffect">
                                  <p:stCondLst>
                                    <p:cond delay="0"/>
                                  </p:stCondLst>
                                  <p:childTnLst>
                                    <p:set>
                                      <p:cBhvr>
                                        <p:cTn id="122" dur="1" fill="hold">
                                          <p:stCondLst>
                                            <p:cond delay="0"/>
                                          </p:stCondLst>
                                        </p:cTn>
                                        <p:tgtEl>
                                          <p:spTgt spid="1102071675"/>
                                        </p:tgtEl>
                                        <p:attrNameLst>
                                          <p:attrName>style.visibility</p:attrName>
                                        </p:attrNameLst>
                                      </p:cBhvr>
                                      <p:to>
                                        <p:strVal val="visible"/>
                                      </p:to>
                                    </p:set>
                                  </p:childTnLst>
                                </p:cTn>
                              </p:par>
                              <p:par>
                                <p:cTn id="123" presetID="1" presetClass="entr" presetSubtype="0" fill="hold" grpId="0" nodeType="withEffect">
                                  <p:stCondLst>
                                    <p:cond delay="0"/>
                                  </p:stCondLst>
                                  <p:childTnLst>
                                    <p:set>
                                      <p:cBhvr>
                                        <p:cTn id="124" dur="1" fill="hold">
                                          <p:stCondLst>
                                            <p:cond delay="0"/>
                                          </p:stCondLst>
                                        </p:cTn>
                                        <p:tgtEl>
                                          <p:spTgt spid="772412334"/>
                                        </p:tgtEl>
                                        <p:attrNameLst>
                                          <p:attrName>style.visibility</p:attrName>
                                        </p:attrNameLst>
                                      </p:cBhvr>
                                      <p:to>
                                        <p:strVal val="visible"/>
                                      </p:to>
                                    </p:set>
                                  </p:childTnLst>
                                </p:cTn>
                              </p:par>
                              <p:par>
                                <p:cTn id="125" presetID="1" presetClass="entr" presetSubtype="0" fill="hold" grpId="0" nodeType="withEffect">
                                  <p:stCondLst>
                                    <p:cond delay="0"/>
                                  </p:stCondLst>
                                  <p:childTnLst>
                                    <p:set>
                                      <p:cBhvr>
                                        <p:cTn id="126" dur="1" fill="hold">
                                          <p:stCondLst>
                                            <p:cond delay="0"/>
                                          </p:stCondLst>
                                        </p:cTn>
                                        <p:tgtEl>
                                          <p:spTgt spid="2033934594"/>
                                        </p:tgtEl>
                                        <p:attrNameLst>
                                          <p:attrName>style.visibility</p:attrName>
                                        </p:attrNameLst>
                                      </p:cBhvr>
                                      <p:to>
                                        <p:strVal val="visible"/>
                                      </p:to>
                                    </p:set>
                                  </p:childTnLst>
                                </p:cTn>
                              </p:par>
                              <p:par>
                                <p:cTn id="127" presetID="1" presetClass="entr" presetSubtype="0" fill="hold" nodeType="withEffect">
                                  <p:stCondLst>
                                    <p:cond delay="0"/>
                                  </p:stCondLst>
                                  <p:childTnLst>
                                    <p:set>
                                      <p:cBhvr>
                                        <p:cTn id="128" dur="1" fill="hold">
                                          <p:stCondLst>
                                            <p:cond delay="0"/>
                                          </p:stCondLst>
                                        </p:cTn>
                                        <p:tgtEl>
                                          <p:spTgt spid="272382779"/>
                                        </p:tgtEl>
                                        <p:attrNameLst>
                                          <p:attrName>style.visibility</p:attrName>
                                        </p:attrNameLst>
                                      </p:cBhvr>
                                      <p:to>
                                        <p:strVal val="visible"/>
                                      </p:to>
                                    </p:set>
                                  </p:childTnLst>
                                </p:cTn>
                              </p:par>
                              <p:par>
                                <p:cTn id="129" presetID="1" presetClass="entr" presetSubtype="0" fill="hold" nodeType="withEffect">
                                  <p:stCondLst>
                                    <p:cond delay="0"/>
                                  </p:stCondLst>
                                  <p:childTnLst>
                                    <p:set>
                                      <p:cBhvr>
                                        <p:cTn id="130" dur="1" fill="hold">
                                          <p:stCondLst>
                                            <p:cond delay="0"/>
                                          </p:stCondLst>
                                        </p:cTn>
                                        <p:tgtEl>
                                          <p:spTgt spid="1130073249"/>
                                        </p:tgtEl>
                                        <p:attrNameLst>
                                          <p:attrName>style.visibility</p:attrName>
                                        </p:attrNameLst>
                                      </p:cBhvr>
                                      <p:to>
                                        <p:strVal val="visible"/>
                                      </p:to>
                                    </p:set>
                                  </p:childTnLst>
                                </p:cTn>
                              </p:par>
                              <p:par>
                                <p:cTn id="131" presetID="1" presetClass="entr" presetSubtype="0" fill="hold" nodeType="withEffect">
                                  <p:stCondLst>
                                    <p:cond delay="0"/>
                                  </p:stCondLst>
                                  <p:childTnLst>
                                    <p:set>
                                      <p:cBhvr>
                                        <p:cTn id="132" dur="1" fill="hold">
                                          <p:stCondLst>
                                            <p:cond delay="0"/>
                                          </p:stCondLst>
                                        </p:cTn>
                                        <p:tgtEl>
                                          <p:spTgt spid="2051061742"/>
                                        </p:tgtEl>
                                        <p:attrNameLst>
                                          <p:attrName>style.visibility</p:attrName>
                                        </p:attrNameLst>
                                      </p:cBhvr>
                                      <p:to>
                                        <p:strVal val="visible"/>
                                      </p:to>
                                    </p:set>
                                  </p:childTnLst>
                                </p:cTn>
                              </p:par>
                              <p:par>
                                <p:cTn id="133" presetID="1" presetClass="entr" presetSubtype="0" fill="hold" nodeType="withEffect">
                                  <p:stCondLst>
                                    <p:cond delay="0"/>
                                  </p:stCondLst>
                                  <p:childTnLst>
                                    <p:set>
                                      <p:cBhvr>
                                        <p:cTn id="134" dur="1" fill="hold">
                                          <p:stCondLst>
                                            <p:cond delay="0"/>
                                          </p:stCondLst>
                                        </p:cTn>
                                        <p:tgtEl>
                                          <p:spTgt spid="1150594324"/>
                                        </p:tgtEl>
                                        <p:attrNameLst>
                                          <p:attrName>style.visibility</p:attrName>
                                        </p:attrNameLst>
                                      </p:cBhvr>
                                      <p:to>
                                        <p:strVal val="visible"/>
                                      </p:to>
                                    </p:set>
                                  </p:childTnLst>
                                </p:cTn>
                              </p:par>
                              <p:par>
                                <p:cTn id="135" presetID="1" presetClass="entr" presetSubtype="0" fill="hold" grpId="0" nodeType="withEffect">
                                  <p:stCondLst>
                                    <p:cond delay="0"/>
                                  </p:stCondLst>
                                  <p:childTnLst>
                                    <p:set>
                                      <p:cBhvr>
                                        <p:cTn id="136" dur="1" fill="hold">
                                          <p:stCondLst>
                                            <p:cond delay="0"/>
                                          </p:stCondLst>
                                        </p:cTn>
                                        <p:tgtEl>
                                          <p:spTgt spid="503664471"/>
                                        </p:tgtEl>
                                        <p:attrNameLst>
                                          <p:attrName>style.visibility</p:attrName>
                                        </p:attrNameLst>
                                      </p:cBhvr>
                                      <p:to>
                                        <p:strVal val="visible"/>
                                      </p:to>
                                    </p:set>
                                  </p:childTnLst>
                                </p:cTn>
                              </p:par>
                              <p:par>
                                <p:cTn id="137" presetID="1" presetClass="entr" presetSubtype="0" fill="hold" grpId="0" nodeType="withEffect">
                                  <p:stCondLst>
                                    <p:cond delay="0"/>
                                  </p:stCondLst>
                                  <p:childTnLst>
                                    <p:set>
                                      <p:cBhvr>
                                        <p:cTn id="138" dur="1" fill="hold">
                                          <p:stCondLst>
                                            <p:cond delay="0"/>
                                          </p:stCondLst>
                                        </p:cTn>
                                        <p:tgtEl>
                                          <p:spTgt spid="294528544"/>
                                        </p:tgtEl>
                                        <p:attrNameLst>
                                          <p:attrName>style.visibility</p:attrName>
                                        </p:attrNameLst>
                                      </p:cBhvr>
                                      <p:to>
                                        <p:strVal val="visible"/>
                                      </p:to>
                                    </p:set>
                                  </p:childTnLst>
                                </p:cTn>
                              </p:par>
                              <p:par>
                                <p:cTn id="139" presetID="1" presetClass="entr" presetSubtype="0" fill="hold" nodeType="withEffect">
                                  <p:stCondLst>
                                    <p:cond delay="0"/>
                                  </p:stCondLst>
                                  <p:childTnLst>
                                    <p:set>
                                      <p:cBhvr>
                                        <p:cTn id="140" dur="1" fill="hold">
                                          <p:stCondLst>
                                            <p:cond delay="0"/>
                                          </p:stCondLst>
                                        </p:cTn>
                                        <p:tgtEl>
                                          <p:spTgt spid="1307649003"/>
                                        </p:tgtEl>
                                        <p:attrNameLst>
                                          <p:attrName>style.visibility</p:attrName>
                                        </p:attrNameLst>
                                      </p:cBhvr>
                                      <p:to>
                                        <p:strVal val="visible"/>
                                      </p:to>
                                    </p:set>
                                  </p:childTnLst>
                                </p:cTn>
                              </p:par>
                              <p:par>
                                <p:cTn id="141" presetID="1" presetClass="entr" presetSubtype="0" fill="hold" nodeType="withEffect">
                                  <p:stCondLst>
                                    <p:cond delay="0"/>
                                  </p:stCondLst>
                                  <p:childTnLst>
                                    <p:set>
                                      <p:cBhvr>
                                        <p:cTn id="142" dur="1" fill="hold">
                                          <p:stCondLst>
                                            <p:cond delay="0"/>
                                          </p:stCondLst>
                                        </p:cTn>
                                        <p:tgtEl>
                                          <p:spTgt spid="16077258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2885071" grpId="0" animBg="1"/>
      <p:bldP spid="815949735" grpId="0" animBg="1"/>
      <p:bldP spid="2057650443" grpId="0" animBg="1"/>
      <p:bldP spid="2085806660" grpId="0" animBg="1"/>
      <p:bldP spid="1485385815" grpId="0" animBg="1"/>
      <p:bldP spid="1142326275" grpId="0" animBg="1"/>
      <p:bldP spid="2070760908" grpId="0" animBg="1"/>
      <p:bldP spid="943395097" grpId="0" animBg="1"/>
      <p:bldP spid="1732520766" grpId="0" animBg="1"/>
      <p:bldP spid="266793345" grpId="0" animBg="1"/>
      <p:bldP spid="1200031702" grpId="0" animBg="1"/>
      <p:bldP spid="904493630" grpId="0" animBg="1"/>
      <p:bldP spid="763092658" grpId="0" animBg="1"/>
      <p:bldP spid="912274241" grpId="0" animBg="1"/>
      <p:bldP spid="996182129" grpId="0" animBg="1"/>
      <p:bldP spid="1482937669" grpId="0" animBg="1"/>
      <p:bldP spid="800282511" grpId="0"/>
      <p:bldP spid="1802021208" grpId="0" animBg="1"/>
      <p:bldP spid="654004843" grpId="0" animBg="1"/>
      <p:bldP spid="468568473" grpId="0" animBg="1"/>
      <p:bldP spid="969880688" grpId="0" animBg="1"/>
      <p:bldP spid="2087824977" grpId="0" animBg="1"/>
      <p:bldP spid="1279854942" grpId="0" animBg="1"/>
      <p:bldP spid="1663155454" grpId="0" animBg="1"/>
      <p:bldP spid="1293555455" grpId="0" animBg="1"/>
      <p:bldP spid="485153605" grpId="0" animBg="1"/>
      <p:bldP spid="96698765" grpId="0" animBg="1"/>
      <p:bldP spid="988916876" grpId="0" animBg="1"/>
      <p:bldP spid="1102071675" grpId="0" animBg="1"/>
      <p:bldP spid="772412334" grpId="0" animBg="1"/>
      <p:bldP spid="2033934594" grpId="0" animBg="1"/>
      <p:bldP spid="503664471" grpId="0" animBg="1"/>
      <p:bldP spid="294528544" grpId="0" animBg="1"/>
      <p:bldP spid="194722552" grpId="0"/>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53492043" name="Title 1"/>
          <p:cNvSpPr>
            <a:spLocks noGrp="1"/>
          </p:cNvSpPr>
          <p:nvPr>
            <p:ph type="title"/>
          </p:nvPr>
        </p:nvSpPr>
        <p:spPr bwMode="auto"/>
        <p:txBody>
          <a:bodyPr/>
          <a:lstStyle/>
          <a:p>
            <a:pPr>
              <a:defRPr/>
            </a:pPr>
            <a:r>
              <a:rPr lang="en-IN"/>
              <a:t>Delete node from BST</a:t>
            </a:r>
            <a:endParaRPr lang="en-US"/>
          </a:p>
        </p:txBody>
      </p:sp>
      <p:sp>
        <p:nvSpPr>
          <p:cNvPr id="367839569" name="Oval 3"/>
          <p:cNvSpPr/>
          <p:nvPr/>
        </p:nvSpPr>
        <p:spPr bwMode="auto">
          <a:xfrm>
            <a:off x="2510119" y="1295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27832149" name="Oval 4"/>
          <p:cNvSpPr/>
          <p:nvPr/>
        </p:nvSpPr>
        <p:spPr bwMode="auto">
          <a:xfrm>
            <a:off x="1766049" y="19050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137154575" name="Oval 5"/>
          <p:cNvSpPr/>
          <p:nvPr/>
        </p:nvSpPr>
        <p:spPr bwMode="auto">
          <a:xfrm>
            <a:off x="1362637"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38449659" name="Oval 6"/>
          <p:cNvSpPr/>
          <p:nvPr/>
        </p:nvSpPr>
        <p:spPr bwMode="auto">
          <a:xfrm>
            <a:off x="2124637"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59180314" name="Straight Arrow Connector 8"/>
          <p:cNvCxnSpPr>
            <a:stCxn id="367839569" idx="3"/>
            <a:endCxn id="1827832149" idx="0"/>
          </p:cNvCxnSpPr>
          <p:nvPr/>
        </p:nvCxnSpPr>
        <p:spPr bwMode="auto">
          <a:xfrm flipH="1">
            <a:off x="1946049" y="1602679"/>
            <a:ext cx="616790"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79007072" name="Straight Arrow Connector 9"/>
          <p:cNvCxnSpPr>
            <a:stCxn id="1827832149" idx="3"/>
            <a:endCxn id="1137154575" idx="0"/>
          </p:cNvCxnSpPr>
          <p:nvPr/>
        </p:nvCxnSpPr>
        <p:spPr bwMode="auto">
          <a:xfrm flipH="1">
            <a:off x="1542637" y="2212279"/>
            <a:ext cx="276133"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40317149" name="Straight Arrow Connector 10"/>
          <p:cNvCxnSpPr>
            <a:stCxn id="1827832149" idx="5"/>
            <a:endCxn id="238449659" idx="0"/>
          </p:cNvCxnSpPr>
          <p:nvPr/>
        </p:nvCxnSpPr>
        <p:spPr bwMode="auto">
          <a:xfrm>
            <a:off x="2073328" y="2212279"/>
            <a:ext cx="231309"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75194240" name="Straight Arrow Connector 11"/>
          <p:cNvCxnSpPr>
            <a:stCxn id="367839569" idx="5"/>
            <a:endCxn id="903651610" idx="0"/>
          </p:cNvCxnSpPr>
          <p:nvPr/>
        </p:nvCxnSpPr>
        <p:spPr bwMode="auto">
          <a:xfrm>
            <a:off x="2817398" y="1602679"/>
            <a:ext cx="666097" cy="3023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2098764572" name="Oval 18"/>
          <p:cNvSpPr/>
          <p:nvPr/>
        </p:nvSpPr>
        <p:spPr bwMode="auto">
          <a:xfrm>
            <a:off x="4630270" y="3294622"/>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C</a:t>
            </a:r>
            <a:endParaRPr lang="en-US" b="1"/>
          </a:p>
        </p:txBody>
      </p:sp>
      <p:cxnSp>
        <p:nvCxnSpPr>
          <p:cNvPr id="1279144316" name="Straight Arrow Connector 19"/>
          <p:cNvCxnSpPr>
            <a:stCxn id="326554880" idx="5"/>
            <a:endCxn id="2098764572" idx="0"/>
          </p:cNvCxnSpPr>
          <p:nvPr/>
        </p:nvCxnSpPr>
        <p:spPr bwMode="auto">
          <a:xfrm>
            <a:off x="4207113" y="2898079"/>
            <a:ext cx="603157" cy="39654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326554880" name="Oval 20"/>
          <p:cNvSpPr/>
          <p:nvPr/>
        </p:nvSpPr>
        <p:spPr bwMode="auto">
          <a:xfrm>
            <a:off x="3899834" y="2590800"/>
            <a:ext cx="360000" cy="360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defRPr/>
            </a:pPr>
            <a:r>
              <a:rPr lang="en-IN" b="1"/>
              <a:t>a</a:t>
            </a:r>
            <a:endParaRPr lang="en-US" b="1"/>
          </a:p>
        </p:txBody>
      </p:sp>
      <p:sp>
        <p:nvSpPr>
          <p:cNvPr id="1796902106" name="Oval 21"/>
          <p:cNvSpPr/>
          <p:nvPr/>
        </p:nvSpPr>
        <p:spPr bwMode="auto">
          <a:xfrm>
            <a:off x="4217707" y="4078941"/>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282452026" name="Oval 22"/>
          <p:cNvSpPr/>
          <p:nvPr/>
        </p:nvSpPr>
        <p:spPr bwMode="auto">
          <a:xfrm>
            <a:off x="5091952" y="4078941"/>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490982516" name="Straight Arrow Connector 23"/>
          <p:cNvCxnSpPr>
            <a:stCxn id="2098764572" idx="3"/>
            <a:endCxn id="1796902106" idx="0"/>
          </p:cNvCxnSpPr>
          <p:nvPr/>
        </p:nvCxnSpPr>
        <p:spPr bwMode="auto">
          <a:xfrm flipH="1">
            <a:off x="4397707" y="3601901"/>
            <a:ext cx="285284" cy="4770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979514357" name="Straight Arrow Connector 24"/>
          <p:cNvCxnSpPr>
            <a:stCxn id="2098764572" idx="5"/>
            <a:endCxn id="1282452026" idx="0"/>
          </p:cNvCxnSpPr>
          <p:nvPr/>
        </p:nvCxnSpPr>
        <p:spPr bwMode="auto">
          <a:xfrm>
            <a:off x="4937549" y="3601901"/>
            <a:ext cx="334403" cy="4770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903651610" name="Oval 25"/>
          <p:cNvSpPr/>
          <p:nvPr/>
        </p:nvSpPr>
        <p:spPr bwMode="auto">
          <a:xfrm>
            <a:off x="3303495" y="19050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028899421" name="Oval 26"/>
          <p:cNvSpPr/>
          <p:nvPr/>
        </p:nvSpPr>
        <p:spPr bwMode="auto">
          <a:xfrm>
            <a:off x="2662519"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780723484" name="Straight Arrow Connector 28"/>
          <p:cNvCxnSpPr>
            <a:stCxn id="903651610" idx="3"/>
            <a:endCxn id="2028899421" idx="0"/>
          </p:cNvCxnSpPr>
          <p:nvPr/>
        </p:nvCxnSpPr>
        <p:spPr bwMode="auto">
          <a:xfrm flipH="1">
            <a:off x="2842519" y="2212279"/>
            <a:ext cx="513697"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008277157" name="Straight Arrow Connector 29"/>
          <p:cNvCxnSpPr>
            <a:stCxn id="903651610" idx="5"/>
            <a:endCxn id="326554880" idx="0"/>
          </p:cNvCxnSpPr>
          <p:nvPr/>
        </p:nvCxnSpPr>
        <p:spPr bwMode="auto">
          <a:xfrm>
            <a:off x="3610774" y="2212279"/>
            <a:ext cx="469060"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571943097" name="Oval 31"/>
          <p:cNvSpPr/>
          <p:nvPr/>
        </p:nvSpPr>
        <p:spPr bwMode="auto">
          <a:xfrm>
            <a:off x="3285751" y="3294622"/>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b</a:t>
            </a:r>
            <a:endParaRPr lang="en-US" b="1"/>
          </a:p>
        </p:txBody>
      </p:sp>
      <p:sp>
        <p:nvSpPr>
          <p:cNvPr id="1008499081" name="Oval 32"/>
          <p:cNvSpPr/>
          <p:nvPr/>
        </p:nvSpPr>
        <p:spPr bwMode="auto">
          <a:xfrm>
            <a:off x="2873188" y="4078941"/>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60045306" name="Oval 33"/>
          <p:cNvSpPr/>
          <p:nvPr/>
        </p:nvSpPr>
        <p:spPr bwMode="auto">
          <a:xfrm>
            <a:off x="3666751" y="4078941"/>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718937827" name="Straight Arrow Connector 34"/>
          <p:cNvCxnSpPr>
            <a:stCxn id="1571943097" idx="3"/>
            <a:endCxn id="1008499081" idx="0"/>
          </p:cNvCxnSpPr>
          <p:nvPr/>
        </p:nvCxnSpPr>
        <p:spPr bwMode="auto">
          <a:xfrm flipH="1">
            <a:off x="3053188" y="3601901"/>
            <a:ext cx="285284" cy="4770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739981722" name="Straight Arrow Connector 35"/>
          <p:cNvCxnSpPr>
            <a:stCxn id="1571943097" idx="5"/>
            <a:endCxn id="1660045306" idx="0"/>
          </p:cNvCxnSpPr>
          <p:nvPr/>
        </p:nvCxnSpPr>
        <p:spPr bwMode="auto">
          <a:xfrm>
            <a:off x="3593030" y="3601901"/>
            <a:ext cx="253721" cy="4770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835618890" name="Straight Arrow Connector 37"/>
          <p:cNvCxnSpPr>
            <a:stCxn id="326554880" idx="3"/>
            <a:endCxn id="1571943097" idx="0"/>
          </p:cNvCxnSpPr>
          <p:nvPr/>
        </p:nvCxnSpPr>
        <p:spPr bwMode="auto">
          <a:xfrm flipH="1">
            <a:off x="3465751" y="2898079"/>
            <a:ext cx="486804" cy="396543"/>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290234169" name="Right Arrow 27"/>
          <p:cNvSpPr/>
          <p:nvPr/>
        </p:nvSpPr>
        <p:spPr bwMode="auto">
          <a:xfrm>
            <a:off x="4661560" y="1447800"/>
            <a:ext cx="2514600" cy="1245550"/>
          </a:xfrm>
          <a:prstGeom prst="rightArrow">
            <a:avLst>
              <a:gd name="adj1" fmla="val 50000"/>
              <a:gd name="adj2" fmla="val 5000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sz="2400" b="1"/>
              <a:t>Delete node </a:t>
            </a:r>
            <a:r>
              <a:rPr lang="en-IN" sz="2400" b="1">
                <a:solidFill>
                  <a:srgbClr val="FFFF00"/>
                </a:solidFill>
              </a:rPr>
              <a:t>a</a:t>
            </a:r>
            <a:endParaRPr lang="en-US" sz="2400" b="1">
              <a:solidFill>
                <a:srgbClr val="FFFF00"/>
              </a:solidFill>
            </a:endParaRPr>
          </a:p>
        </p:txBody>
      </p:sp>
      <p:sp>
        <p:nvSpPr>
          <p:cNvPr id="903691148" name="Oval 30"/>
          <p:cNvSpPr/>
          <p:nvPr/>
        </p:nvSpPr>
        <p:spPr bwMode="auto">
          <a:xfrm>
            <a:off x="8381999" y="12954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62529738" name="Oval 36"/>
          <p:cNvSpPr/>
          <p:nvPr/>
        </p:nvSpPr>
        <p:spPr bwMode="auto">
          <a:xfrm>
            <a:off x="7772399" y="19050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853341233" name="Oval 38"/>
          <p:cNvSpPr/>
          <p:nvPr/>
        </p:nvSpPr>
        <p:spPr bwMode="auto">
          <a:xfrm>
            <a:off x="7315199"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86061992" name="Oval 39"/>
          <p:cNvSpPr/>
          <p:nvPr/>
        </p:nvSpPr>
        <p:spPr bwMode="auto">
          <a:xfrm>
            <a:off x="8157881"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894072369" name="Straight Arrow Connector 40"/>
          <p:cNvCxnSpPr>
            <a:stCxn id="903691148" idx="3"/>
            <a:endCxn id="1662529738" idx="7"/>
          </p:cNvCxnSpPr>
          <p:nvPr/>
        </p:nvCxnSpPr>
        <p:spPr bwMode="auto">
          <a:xfrm flipH="1">
            <a:off x="8079678" y="1602679"/>
            <a:ext cx="355042" cy="35504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435824542" name="Straight Arrow Connector 41"/>
          <p:cNvCxnSpPr>
            <a:stCxn id="1662529738" idx="3"/>
            <a:endCxn id="1853341233" idx="0"/>
          </p:cNvCxnSpPr>
          <p:nvPr/>
        </p:nvCxnSpPr>
        <p:spPr bwMode="auto">
          <a:xfrm flipH="1">
            <a:off x="7495199" y="2212279"/>
            <a:ext cx="329921"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061681792" name="Straight Arrow Connector 42"/>
          <p:cNvCxnSpPr>
            <a:stCxn id="1662529738" idx="5"/>
            <a:endCxn id="86061992" idx="0"/>
          </p:cNvCxnSpPr>
          <p:nvPr/>
        </p:nvCxnSpPr>
        <p:spPr bwMode="auto">
          <a:xfrm>
            <a:off x="8079678" y="2212279"/>
            <a:ext cx="258203"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518041532" name="Straight Arrow Connector 43"/>
          <p:cNvCxnSpPr>
            <a:stCxn id="903691148" idx="5"/>
            <a:endCxn id="1045840770" idx="1"/>
          </p:cNvCxnSpPr>
          <p:nvPr/>
        </p:nvCxnSpPr>
        <p:spPr bwMode="auto">
          <a:xfrm>
            <a:off x="8689278" y="1602679"/>
            <a:ext cx="469342" cy="355042"/>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447605082" name="Oval 44"/>
          <p:cNvSpPr/>
          <p:nvPr/>
        </p:nvSpPr>
        <p:spPr bwMode="auto">
          <a:xfrm>
            <a:off x="9556561"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C</a:t>
            </a:r>
            <a:endParaRPr lang="en-US" b="1"/>
          </a:p>
        </p:txBody>
      </p:sp>
      <p:sp>
        <p:nvSpPr>
          <p:cNvPr id="1917435558" name="Oval 47"/>
          <p:cNvSpPr/>
          <p:nvPr/>
        </p:nvSpPr>
        <p:spPr bwMode="auto">
          <a:xfrm>
            <a:off x="9127190" y="3352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247854576" name="Oval 48"/>
          <p:cNvSpPr/>
          <p:nvPr/>
        </p:nvSpPr>
        <p:spPr bwMode="auto">
          <a:xfrm>
            <a:off x="9991350" y="3352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1284107440" name="Straight Arrow Connector 49"/>
          <p:cNvCxnSpPr>
            <a:stCxn id="447605082" idx="3"/>
            <a:endCxn id="1917435558" idx="0"/>
          </p:cNvCxnSpPr>
          <p:nvPr/>
        </p:nvCxnSpPr>
        <p:spPr bwMode="auto">
          <a:xfrm flipH="1">
            <a:off x="9307190" y="2898079"/>
            <a:ext cx="302093"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2146510714" name="Straight Arrow Connector 50"/>
          <p:cNvCxnSpPr>
            <a:stCxn id="447605082" idx="5"/>
            <a:endCxn id="247854576" idx="0"/>
          </p:cNvCxnSpPr>
          <p:nvPr/>
        </p:nvCxnSpPr>
        <p:spPr bwMode="auto">
          <a:xfrm>
            <a:off x="9863841" y="2898079"/>
            <a:ext cx="307509" cy="4547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1045840770" name="Oval 51"/>
          <p:cNvSpPr/>
          <p:nvPr/>
        </p:nvSpPr>
        <p:spPr bwMode="auto">
          <a:xfrm>
            <a:off x="9105899" y="19050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1651869471" name="Oval 52"/>
          <p:cNvSpPr/>
          <p:nvPr/>
        </p:nvSpPr>
        <p:spPr bwMode="auto">
          <a:xfrm>
            <a:off x="8641975" y="2590800"/>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219914187" name="Straight Arrow Connector 53"/>
          <p:cNvCxnSpPr>
            <a:stCxn id="1045840770" idx="3"/>
            <a:endCxn id="1651869471" idx="0"/>
          </p:cNvCxnSpPr>
          <p:nvPr/>
        </p:nvCxnSpPr>
        <p:spPr bwMode="auto">
          <a:xfrm flipH="1">
            <a:off x="8821975" y="2212279"/>
            <a:ext cx="336645"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253271626" name="Straight Arrow Connector 54"/>
          <p:cNvCxnSpPr>
            <a:stCxn id="1045840770" idx="5"/>
            <a:endCxn id="447605082" idx="0"/>
          </p:cNvCxnSpPr>
          <p:nvPr/>
        </p:nvCxnSpPr>
        <p:spPr bwMode="auto">
          <a:xfrm>
            <a:off x="9413178" y="2212279"/>
            <a:ext cx="323384" cy="378521"/>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738406499" name="Oval 55"/>
          <p:cNvSpPr/>
          <p:nvPr/>
        </p:nvSpPr>
        <p:spPr bwMode="auto">
          <a:xfrm>
            <a:off x="8722657" y="4011519"/>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b</a:t>
            </a:r>
            <a:endParaRPr lang="en-US" b="1"/>
          </a:p>
        </p:txBody>
      </p:sp>
      <p:sp>
        <p:nvSpPr>
          <p:cNvPr id="462505075" name="Oval 56"/>
          <p:cNvSpPr/>
          <p:nvPr/>
        </p:nvSpPr>
        <p:spPr bwMode="auto">
          <a:xfrm>
            <a:off x="8238563" y="4780242"/>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431476723" name="Oval 57"/>
          <p:cNvSpPr/>
          <p:nvPr/>
        </p:nvSpPr>
        <p:spPr bwMode="auto">
          <a:xfrm>
            <a:off x="9248213" y="4780242"/>
            <a:ext cx="360000" cy="360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cxnSp>
        <p:nvCxnSpPr>
          <p:cNvPr id="394375615" name="Straight Arrow Connector 58"/>
          <p:cNvCxnSpPr>
            <a:stCxn id="738406499" idx="3"/>
            <a:endCxn id="462505075" idx="0"/>
          </p:cNvCxnSpPr>
          <p:nvPr/>
        </p:nvCxnSpPr>
        <p:spPr bwMode="auto">
          <a:xfrm flipH="1">
            <a:off x="8418563" y="4318798"/>
            <a:ext cx="356815" cy="4614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547536666" name="Straight Arrow Connector 59"/>
          <p:cNvCxnSpPr>
            <a:stCxn id="738406499" idx="5"/>
            <a:endCxn id="431476723" idx="0"/>
          </p:cNvCxnSpPr>
          <p:nvPr/>
        </p:nvCxnSpPr>
        <p:spPr bwMode="auto">
          <a:xfrm>
            <a:off x="9029936" y="4318798"/>
            <a:ext cx="398277" cy="461444"/>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cxnSp>
        <p:nvCxnSpPr>
          <p:cNvPr id="1472187553" name="Straight Arrow Connector 60"/>
          <p:cNvCxnSpPr>
            <a:stCxn id="1917435558" idx="3"/>
            <a:endCxn id="738406499" idx="0"/>
          </p:cNvCxnSpPr>
          <p:nvPr/>
        </p:nvCxnSpPr>
        <p:spPr bwMode="auto">
          <a:xfrm flipH="1">
            <a:off x="8902657" y="3660079"/>
            <a:ext cx="277254" cy="351440"/>
          </a:xfrm>
          <a:prstGeom prst="straightConnector1">
            <a:avLst/>
          </a:prstGeom>
          <a:ln w="28575">
            <a:solidFill>
              <a:srgbClr val="B84742"/>
            </a:solidFill>
            <a:tailEnd type="arrow"/>
          </a:ln>
        </p:spPr>
        <p:style>
          <a:lnRef idx="2">
            <a:schemeClr val="accent2"/>
          </a:lnRef>
          <a:fillRef idx="0">
            <a:schemeClr val="accent2"/>
          </a:fillRef>
          <a:effectRef idx="1">
            <a:schemeClr val="accent2"/>
          </a:effectRef>
          <a:fontRef idx="minor">
            <a:schemeClr val="tx1"/>
          </a:fontRef>
        </p:style>
      </p:cxnSp>
      <p:sp>
        <p:nvSpPr>
          <p:cNvPr id="595748178" name="TextBox 61"/>
          <p:cNvSpPr txBox="1"/>
          <p:nvPr/>
        </p:nvSpPr>
        <p:spPr bwMode="auto">
          <a:xfrm>
            <a:off x="2895600" y="5756702"/>
            <a:ext cx="6188104" cy="415498"/>
          </a:xfrm>
          <a:prstGeom prst="rect">
            <a:avLst/>
          </a:prstGeom>
          <a:noFill/>
        </p:spPr>
        <p:txBody>
          <a:bodyPr wrap="none" rtlCol="0">
            <a:spAutoFit/>
          </a:bodyPr>
          <a:lstStyle/>
          <a:p>
            <a:pPr algn="ctr">
              <a:defRPr/>
            </a:pPr>
            <a:r>
              <a:rPr lang="en-IN" sz="2100" b="1"/>
              <a:t>Delete from Non Terminal (Neither Sub Tree is Empty)</a:t>
            </a:r>
            <a:endParaRPr lang="en-US" sz="2100" b="1"/>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9023416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957481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90234169" grpId="0" animBg="1"/>
      <p:bldP spid="595748178" grpId="0"/>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23181615" name="Title 1"/>
          <p:cNvSpPr>
            <a:spLocks noGrp="1"/>
          </p:cNvSpPr>
          <p:nvPr>
            <p:ph type="title"/>
          </p:nvPr>
        </p:nvSpPr>
        <p:spPr bwMode="auto"/>
        <p:txBody>
          <a:bodyPr/>
          <a:lstStyle/>
          <a:p>
            <a:pPr>
              <a:defRPr/>
            </a:pPr>
            <a:r>
              <a:rPr lang="en-IN"/>
              <a:t>Node Structure of Binary Tree</a:t>
            </a:r>
            <a:endParaRPr lang="en-US"/>
          </a:p>
        </p:txBody>
      </p:sp>
      <p:grpSp>
        <p:nvGrpSpPr>
          <p:cNvPr id="490257459" name="Group 8"/>
          <p:cNvGrpSpPr/>
          <p:nvPr/>
        </p:nvGrpSpPr>
        <p:grpSpPr bwMode="auto">
          <a:xfrm>
            <a:off x="267133" y="1693098"/>
            <a:ext cx="4973975" cy="3046542"/>
            <a:chOff x="3987145" y="3631469"/>
            <a:chExt cx="4973975" cy="3046542"/>
          </a:xfrm>
        </p:grpSpPr>
        <p:sp>
          <p:nvSpPr>
            <p:cNvPr id="19" name="Rectangle 18"/>
            <p:cNvSpPr/>
            <p:nvPr/>
          </p:nvSpPr>
          <p:spPr bwMode="auto">
            <a:xfrm>
              <a:off x="3987145" y="3631469"/>
              <a:ext cx="4973975" cy="3046542"/>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0" name="TextBox 29"/>
            <p:cNvSpPr txBox="1"/>
            <p:nvPr/>
          </p:nvSpPr>
          <p:spPr bwMode="auto">
            <a:xfrm>
              <a:off x="4303280" y="3841447"/>
              <a:ext cx="4464139" cy="2677656"/>
            </a:xfrm>
            <a:prstGeom prst="rect">
              <a:avLst/>
            </a:prstGeom>
            <a:noFill/>
          </p:spPr>
          <p:txBody>
            <a:bodyPr wrap="square" rtlCol="0">
              <a:spAutoFit/>
            </a:bodyPr>
            <a:lstStyle/>
            <a:p>
              <a:pPr>
                <a:defRPr/>
              </a:pPr>
              <a:r>
                <a:rPr lang="en-US" sz="2400" b="1">
                  <a:solidFill>
                    <a:schemeClr val="tx2"/>
                  </a:solidFill>
                  <a:latin typeface="Consolas"/>
                  <a:cs typeface="Consolas"/>
                </a:rPr>
                <a:t>struct</a:t>
              </a:r>
              <a:r>
                <a:rPr lang="en-US" sz="2400" b="1">
                  <a:solidFill>
                    <a:schemeClr val="tx2"/>
                  </a:solidFill>
                  <a:latin typeface="Consolas"/>
                  <a:cs typeface="Consolas"/>
                </a:rPr>
                <a:t> </a:t>
              </a:r>
              <a:r>
                <a:rPr lang="en-US" sz="2400" b="1">
                  <a:solidFill>
                    <a:schemeClr val="accent6"/>
                  </a:solidFill>
                  <a:latin typeface="Consolas"/>
                  <a:cs typeface="Consolas"/>
                </a:rPr>
                <a:t>node</a:t>
              </a:r>
              <a:endParaRPr/>
            </a:p>
            <a:p>
              <a:pPr>
                <a:defRPr/>
              </a:pPr>
              <a:r>
                <a:rPr lang="en-US" sz="2400" b="1">
                  <a:latin typeface="Consolas"/>
                  <a:cs typeface="Consolas"/>
                </a:rPr>
                <a:t>{</a:t>
              </a:r>
              <a:endParaRPr/>
            </a:p>
            <a:p>
              <a:pPr>
                <a:defRPr/>
              </a:pPr>
              <a:r>
                <a:rPr lang="en-US" sz="2400" b="1">
                  <a:latin typeface="Consolas"/>
                  <a:cs typeface="Consolas"/>
                </a:rPr>
                <a:t>	</a:t>
              </a:r>
              <a:r>
                <a:rPr lang="en-US" sz="2400" b="1">
                  <a:solidFill>
                    <a:schemeClr val="accent3">
                      <a:lumMod val="75000"/>
                    </a:schemeClr>
                  </a:solidFill>
                  <a:latin typeface="Consolas"/>
                  <a:cs typeface="Consolas"/>
                </a:rPr>
                <a:t>int</a:t>
              </a:r>
              <a:r>
                <a:rPr lang="en-US" sz="2400" b="1">
                  <a:solidFill>
                    <a:schemeClr val="accent3">
                      <a:lumMod val="75000"/>
                    </a:schemeClr>
                  </a:solidFill>
                  <a:latin typeface="Consolas"/>
                  <a:cs typeface="Consolas"/>
                </a:rPr>
                <a:t> </a:t>
              </a:r>
              <a:r>
                <a:rPr lang="en-US" sz="2400" b="1">
                  <a:latin typeface="Consolas"/>
                  <a:cs typeface="Consolas"/>
                </a:rPr>
                <a:t>key;</a:t>
              </a:r>
              <a:endParaRPr lang="en-US" sz="2400" b="1">
                <a:latin typeface="Consolas"/>
                <a:cs typeface="Consolas"/>
              </a:endParaRPr>
            </a:p>
            <a:p>
              <a:pPr>
                <a:defRPr/>
              </a:pPr>
              <a:r>
                <a:rPr lang="en-US" sz="2400" b="1">
                  <a:latin typeface="Consolas"/>
                  <a:cs typeface="Consolas"/>
                </a:rPr>
                <a:t>	</a:t>
              </a:r>
              <a:r>
                <a:rPr lang="en-US" sz="2400" b="1">
                  <a:solidFill>
                    <a:schemeClr val="accent3">
                      <a:lumMod val="75000"/>
                    </a:schemeClr>
                  </a:solidFill>
                  <a:latin typeface="Consolas"/>
                  <a:cs typeface="Consolas"/>
                </a:rPr>
                <a:t>struct</a:t>
              </a:r>
              <a:r>
                <a:rPr lang="en-US" sz="2400" b="1">
                  <a:solidFill>
                    <a:schemeClr val="accent3">
                      <a:lumMod val="75000"/>
                    </a:schemeClr>
                  </a:solidFill>
                  <a:latin typeface="Consolas"/>
                  <a:cs typeface="Consolas"/>
                </a:rPr>
                <a:t> </a:t>
              </a:r>
              <a:r>
                <a:rPr lang="en-US" sz="2400" b="1">
                  <a:latin typeface="Consolas"/>
                  <a:cs typeface="Consolas"/>
                </a:rPr>
                <a:t>node </a:t>
              </a:r>
              <a:r>
                <a:rPr lang="en-US" sz="2400" b="1">
                  <a:latin typeface="Consolas"/>
                  <a:cs typeface="Consolas"/>
                </a:rPr>
                <a:t>*left;</a:t>
              </a:r>
              <a:endParaRPr/>
            </a:p>
            <a:p>
              <a:pPr>
                <a:defRPr/>
              </a:pPr>
              <a:r>
                <a:rPr lang="en-US" sz="2400" b="1">
                  <a:latin typeface="Consolas"/>
                  <a:cs typeface="Consolas"/>
                </a:rPr>
                <a:t>	</a:t>
              </a:r>
              <a:r>
                <a:rPr lang="en-US" sz="2400" b="1">
                  <a:solidFill>
                    <a:schemeClr val="accent3">
                      <a:lumMod val="75000"/>
                    </a:schemeClr>
                  </a:solidFill>
                  <a:latin typeface="Consolas"/>
                  <a:cs typeface="Consolas"/>
                </a:rPr>
                <a:t>struct</a:t>
              </a:r>
              <a:r>
                <a:rPr lang="en-US" sz="2400" b="1">
                  <a:solidFill>
                    <a:schemeClr val="accent3">
                      <a:lumMod val="75000"/>
                    </a:schemeClr>
                  </a:solidFill>
                  <a:latin typeface="Consolas"/>
                  <a:cs typeface="Consolas"/>
                </a:rPr>
                <a:t> </a:t>
              </a:r>
              <a:r>
                <a:rPr lang="en-US" sz="2400" b="1">
                  <a:latin typeface="Consolas"/>
                  <a:cs typeface="Consolas"/>
                </a:rPr>
                <a:t>node </a:t>
              </a:r>
              <a:r>
                <a:rPr lang="en-US" sz="2400" b="1">
                  <a:latin typeface="Consolas"/>
                  <a:cs typeface="Consolas"/>
                </a:rPr>
                <a:t>*right;</a:t>
              </a:r>
              <a:endParaRPr lang="en-US" sz="2400" b="1">
                <a:latin typeface="Consolas"/>
                <a:cs typeface="Consolas"/>
              </a:endParaRPr>
            </a:p>
            <a:p>
              <a:pPr>
                <a:defRPr/>
              </a:pPr>
              <a:endParaRPr lang="en-US" sz="2400" b="1">
                <a:latin typeface="Consolas"/>
                <a:cs typeface="Consolas"/>
              </a:endParaRPr>
            </a:p>
            <a:p>
              <a:pPr>
                <a:defRPr/>
              </a:pPr>
              <a:r>
                <a:rPr lang="en-US" sz="2400" b="1">
                  <a:latin typeface="Consolas"/>
                  <a:cs typeface="Consolas"/>
                </a:rPr>
                <a:t>};</a:t>
              </a:r>
              <a:endParaRPr/>
            </a:p>
          </p:txBody>
        </p:sp>
      </p:grpSp>
      <p:sp>
        <p:nvSpPr>
          <p:cNvPr id="743312063" name="TextBox 43"/>
          <p:cNvSpPr txBox="1"/>
          <p:nvPr/>
        </p:nvSpPr>
        <p:spPr bwMode="auto">
          <a:xfrm>
            <a:off x="267133" y="925150"/>
            <a:ext cx="4973975" cy="553998"/>
          </a:xfrm>
          <a:prstGeom prst="rect">
            <a:avLst/>
          </a:prstGeom>
          <a:noFill/>
        </p:spPr>
        <p:txBody>
          <a:bodyPr wrap="square" rtlCol="0">
            <a:spAutoFit/>
          </a:bodyPr>
          <a:lstStyle/>
          <a:p>
            <a:pPr algn="ctr">
              <a:defRPr/>
            </a:pPr>
            <a:r>
              <a:rPr lang="en-IN" sz="3000" b="1"/>
              <a:t>C Structure </a:t>
            </a:r>
            <a:r>
              <a:rPr lang="en-IN" sz="3000" b="1"/>
              <a:t>to represent a </a:t>
            </a:r>
            <a:r>
              <a:rPr lang="en-IN" sz="3000" b="1"/>
              <a:t>node</a:t>
            </a:r>
            <a:endParaRPr/>
          </a:p>
        </p:txBody>
      </p:sp>
      <p:grpSp>
        <p:nvGrpSpPr>
          <p:cNvPr id="2064512280" name="Group 31"/>
          <p:cNvGrpSpPr/>
          <p:nvPr/>
        </p:nvGrpSpPr>
        <p:grpSpPr bwMode="auto">
          <a:xfrm>
            <a:off x="5444762" y="1693097"/>
            <a:ext cx="6409509" cy="4580703"/>
            <a:chOff x="4211776" y="3928792"/>
            <a:chExt cx="3680632" cy="5497048"/>
          </a:xfrm>
        </p:grpSpPr>
        <p:sp>
          <p:nvSpPr>
            <p:cNvPr id="33" name="Rectangle 32"/>
            <p:cNvSpPr/>
            <p:nvPr/>
          </p:nvSpPr>
          <p:spPr bwMode="auto">
            <a:xfrm>
              <a:off x="4211776" y="3928792"/>
              <a:ext cx="3680632" cy="5497048"/>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en-US"/>
            </a:p>
          </p:txBody>
        </p:sp>
        <p:sp>
          <p:nvSpPr>
            <p:cNvPr id="34" name="TextBox 33"/>
            <p:cNvSpPr txBox="1"/>
            <p:nvPr/>
          </p:nvSpPr>
          <p:spPr bwMode="auto">
            <a:xfrm>
              <a:off x="4265977" y="3998230"/>
              <a:ext cx="3626432" cy="5281644"/>
            </a:xfrm>
            <a:prstGeom prst="rect">
              <a:avLst/>
            </a:prstGeom>
            <a:noFill/>
          </p:spPr>
          <p:txBody>
            <a:bodyPr wrap="square" rtlCol="0">
              <a:spAutoFit/>
            </a:bodyPr>
            <a:lstStyle/>
            <a:p>
              <a:pPr>
                <a:defRPr/>
              </a:pPr>
              <a:r>
                <a:rPr lang="en-US" sz="2000" b="1">
                  <a:solidFill>
                    <a:schemeClr val="tx2"/>
                  </a:solidFill>
                  <a:latin typeface="Consolas"/>
                  <a:cs typeface="Consolas"/>
                </a:rPr>
                <a:t>class</a:t>
              </a:r>
              <a:r>
                <a:rPr lang="en-US" sz="2000" b="1">
                  <a:latin typeface="Consolas"/>
                  <a:cs typeface="Consolas"/>
                </a:rPr>
                <a:t> </a:t>
              </a:r>
              <a:r>
                <a:rPr lang="en-US" sz="2000" b="1">
                  <a:solidFill>
                    <a:schemeClr val="accent6"/>
                  </a:solidFill>
                  <a:latin typeface="Consolas"/>
                  <a:cs typeface="Consolas"/>
                </a:rPr>
                <a:t>Node</a:t>
              </a:r>
              <a:r>
                <a:rPr lang="en-US" sz="2000" b="1">
                  <a:latin typeface="Consolas"/>
                  <a:cs typeface="Consolas"/>
                </a:rPr>
                <a:t> {</a:t>
              </a:r>
              <a:endParaRPr/>
            </a:p>
            <a:p>
              <a:pPr>
                <a:defRPr/>
              </a:pPr>
              <a:r>
                <a:rPr lang="en-US" sz="2000" b="1">
                  <a:latin typeface="Consolas"/>
                  <a:cs typeface="Consolas"/>
                </a:rPr>
                <a:t>	</a:t>
              </a:r>
              <a:r>
                <a:rPr lang="en-US" sz="2000" b="1">
                  <a:solidFill>
                    <a:schemeClr val="accent3">
                      <a:lumMod val="75000"/>
                    </a:schemeClr>
                  </a:solidFill>
                  <a:latin typeface="Consolas"/>
                  <a:cs typeface="Consolas"/>
                </a:rPr>
                <a:t>int</a:t>
              </a:r>
              <a:r>
                <a:rPr lang="en-US" sz="2000" b="1">
                  <a:solidFill>
                    <a:schemeClr val="accent3">
                      <a:lumMod val="75000"/>
                    </a:schemeClr>
                  </a:solidFill>
                  <a:latin typeface="Consolas"/>
                  <a:cs typeface="Consolas"/>
                </a:rPr>
                <a:t> </a:t>
              </a:r>
              <a:r>
                <a:rPr lang="en-US" sz="2000" b="1">
                  <a:latin typeface="Consolas"/>
                  <a:cs typeface="Consolas"/>
                </a:rPr>
                <a:t>key;</a:t>
              </a:r>
              <a:endParaRPr lang="en-US" sz="2000" b="1">
                <a:latin typeface="Consolas"/>
                <a:cs typeface="Consolas"/>
              </a:endParaRPr>
            </a:p>
            <a:p>
              <a:pPr>
                <a:defRPr/>
              </a:pPr>
              <a:r>
                <a:rPr lang="en-US" sz="2000" b="1">
                  <a:latin typeface="Consolas"/>
                  <a:cs typeface="Consolas"/>
                </a:rPr>
                <a:t>	</a:t>
              </a:r>
              <a:r>
                <a:rPr lang="en-US" sz="2000" b="1">
                  <a:solidFill>
                    <a:schemeClr val="accent3">
                      <a:lumMod val="75000"/>
                    </a:schemeClr>
                  </a:solidFill>
                  <a:latin typeface="Consolas"/>
                  <a:cs typeface="Consolas"/>
                </a:rPr>
                <a:t>Node</a:t>
              </a:r>
              <a:r>
                <a:rPr lang="en-US" sz="2000" b="1">
                  <a:latin typeface="Consolas"/>
                  <a:cs typeface="Consolas"/>
                </a:rPr>
                <a:t> left;</a:t>
              </a:r>
              <a:endParaRPr/>
            </a:p>
            <a:p>
              <a:pPr>
                <a:defRPr/>
              </a:pPr>
              <a:r>
                <a:rPr lang="en-US" sz="2000" b="1">
                  <a:latin typeface="Consolas"/>
                  <a:cs typeface="Consolas"/>
                </a:rPr>
                <a:t>	</a:t>
              </a:r>
              <a:r>
                <a:rPr lang="en-US" sz="2000" b="1">
                  <a:solidFill>
                    <a:schemeClr val="accent3">
                      <a:lumMod val="75000"/>
                    </a:schemeClr>
                  </a:solidFill>
                  <a:latin typeface="Consolas"/>
                  <a:cs typeface="Consolas"/>
                </a:rPr>
                <a:t>Node</a:t>
              </a:r>
              <a:r>
                <a:rPr lang="en-US" sz="2000" b="1">
                  <a:latin typeface="Consolas"/>
                  <a:cs typeface="Consolas"/>
                </a:rPr>
                <a:t> </a:t>
              </a:r>
              <a:r>
                <a:rPr lang="en-US" sz="2000" b="1">
                  <a:latin typeface="Consolas"/>
                  <a:cs typeface="Consolas"/>
                </a:rPr>
                <a:t>right;</a:t>
              </a:r>
              <a:endParaRPr lang="en-US" sz="2000" b="1">
                <a:latin typeface="Consolas"/>
                <a:cs typeface="Consolas"/>
              </a:endParaRPr>
            </a:p>
            <a:p>
              <a:pPr>
                <a:defRPr/>
              </a:pPr>
              <a:endParaRPr lang="en-US" sz="2000" b="1">
                <a:latin typeface="Consolas"/>
                <a:cs typeface="Consolas"/>
              </a:endParaRPr>
            </a:p>
            <a:p>
              <a:pPr>
                <a:defRPr/>
              </a:pPr>
              <a:endParaRPr lang="en-US" sz="2000" b="1">
                <a:latin typeface="Consolas"/>
                <a:cs typeface="Consolas"/>
              </a:endParaRPr>
            </a:p>
            <a:p>
              <a:pPr>
                <a:defRPr/>
              </a:pPr>
              <a:r>
                <a:rPr lang="en-US" sz="2000" b="1">
                  <a:latin typeface="Consolas"/>
                  <a:cs typeface="Consolas"/>
                </a:rPr>
                <a:t>	</a:t>
              </a:r>
              <a:r>
                <a:rPr lang="en-US" sz="2000" b="1" i="1">
                  <a:solidFill>
                    <a:schemeClr val="tx2">
                      <a:lumMod val="40000"/>
                      <a:lumOff val="60000"/>
                    </a:schemeClr>
                  </a:solidFill>
                  <a:latin typeface="Consolas"/>
                  <a:cs typeface="Consolas"/>
                </a:rPr>
                <a:t>// </a:t>
              </a:r>
              <a:r>
                <a:rPr lang="en-US" sz="2000" b="1" i="1">
                  <a:solidFill>
                    <a:schemeClr val="tx2">
                      <a:lumMod val="40000"/>
                      <a:lumOff val="60000"/>
                    </a:schemeClr>
                  </a:solidFill>
                  <a:latin typeface="Consolas"/>
                  <a:cs typeface="Consolas"/>
                </a:rPr>
                <a:t>Constructor to create a new node</a:t>
              </a:r>
              <a:endParaRPr/>
            </a:p>
            <a:p>
              <a:pPr>
                <a:defRPr/>
              </a:pPr>
              <a:r>
                <a:rPr lang="en-US" sz="2000" b="1" i="1">
                  <a:solidFill>
                    <a:schemeClr val="tx2">
                      <a:lumMod val="40000"/>
                      <a:lumOff val="60000"/>
                    </a:schemeClr>
                  </a:solidFill>
                  <a:latin typeface="Consolas"/>
                  <a:cs typeface="Consolas"/>
                </a:rPr>
                <a:t>	</a:t>
              </a:r>
              <a:r>
                <a:rPr lang="en-US" sz="2000" b="1" i="1">
                  <a:solidFill>
                    <a:schemeClr val="tx2">
                      <a:lumMod val="40000"/>
                      <a:lumOff val="60000"/>
                    </a:schemeClr>
                  </a:solidFill>
                  <a:latin typeface="Consolas"/>
                  <a:cs typeface="Consolas"/>
                </a:rPr>
                <a:t>//</a:t>
              </a:r>
              <a:r>
                <a:rPr lang="en-US" b="1" i="1">
                  <a:solidFill>
                    <a:schemeClr val="tx2">
                      <a:lumMod val="40000"/>
                      <a:lumOff val="60000"/>
                    </a:schemeClr>
                  </a:solidFill>
                  <a:latin typeface="Consolas"/>
                  <a:cs typeface="Consolas"/>
                </a:rPr>
                <a:t> left &amp; right is initialized as </a:t>
              </a:r>
              <a:r>
                <a:rPr lang="en-US" b="1" i="1">
                  <a:solidFill>
                    <a:schemeClr val="tx2">
                      <a:lumMod val="40000"/>
                      <a:lumOff val="60000"/>
                    </a:schemeClr>
                  </a:solidFill>
                  <a:latin typeface="Consolas"/>
                  <a:cs typeface="Consolas"/>
                </a:rPr>
                <a:t>null</a:t>
              </a:r>
              <a:endParaRPr/>
            </a:p>
            <a:p>
              <a:pPr>
                <a:defRPr/>
              </a:pPr>
              <a:r>
                <a:rPr lang="en-US" sz="2000" b="1">
                  <a:latin typeface="Consolas"/>
                  <a:cs typeface="Consolas"/>
                </a:rPr>
                <a:t>	</a:t>
              </a:r>
              <a:r>
                <a:rPr lang="en-US" sz="2000" b="1">
                  <a:latin typeface="Consolas"/>
                  <a:cs typeface="Consolas"/>
                </a:rPr>
                <a:t>public </a:t>
              </a:r>
              <a:r>
                <a:rPr lang="en-US" sz="2000" b="1">
                  <a:solidFill>
                    <a:schemeClr val="accent4">
                      <a:lumMod val="75000"/>
                    </a:schemeClr>
                  </a:solidFill>
                  <a:latin typeface="Consolas"/>
                  <a:cs typeface="Consolas"/>
                </a:rPr>
                <a:t>Node</a:t>
              </a:r>
              <a:r>
                <a:rPr lang="en-US" sz="2000" b="1">
                  <a:latin typeface="Consolas"/>
                  <a:cs typeface="Consolas"/>
                </a:rPr>
                <a:t>(</a:t>
              </a:r>
              <a:r>
                <a:rPr lang="en-US" sz="2000" b="1">
                  <a:solidFill>
                    <a:schemeClr val="accent3">
                      <a:lumMod val="75000"/>
                    </a:schemeClr>
                  </a:solidFill>
                  <a:latin typeface="Consolas"/>
                  <a:cs typeface="Consolas"/>
                </a:rPr>
                <a:t>int</a:t>
              </a:r>
              <a:r>
                <a:rPr lang="en-US" sz="2000" b="1">
                  <a:latin typeface="Consolas"/>
                  <a:cs typeface="Consolas"/>
                </a:rPr>
                <a:t> data) </a:t>
              </a:r>
              <a:r>
                <a:rPr lang="en-US" sz="2000" b="1">
                  <a:latin typeface="Consolas"/>
                  <a:cs typeface="Consolas"/>
                </a:rPr>
                <a:t>{ </a:t>
              </a:r>
              <a:endParaRPr lang="en-US" sz="2000" b="1">
                <a:latin typeface="Consolas"/>
                <a:cs typeface="Consolas"/>
              </a:endParaRPr>
            </a:p>
            <a:p>
              <a:pPr>
                <a:defRPr/>
              </a:pPr>
              <a:r>
                <a:rPr lang="en-US" sz="2000" b="1">
                  <a:latin typeface="Consolas"/>
                  <a:cs typeface="Consolas"/>
                </a:rPr>
                <a:t> </a:t>
              </a:r>
              <a:r>
                <a:rPr lang="en-US" sz="2000" b="1">
                  <a:latin typeface="Consolas"/>
                  <a:cs typeface="Consolas"/>
                </a:rPr>
                <a:t>		 </a:t>
              </a:r>
              <a:r>
                <a:rPr lang="en-US" sz="2000" b="1">
                  <a:latin typeface="Consolas"/>
                  <a:cs typeface="Consolas"/>
                </a:rPr>
                <a:t>this.key</a:t>
              </a:r>
              <a:r>
                <a:rPr lang="en-US" sz="2000" b="1">
                  <a:latin typeface="Consolas"/>
                  <a:cs typeface="Consolas"/>
                </a:rPr>
                <a:t>   = data; </a:t>
              </a:r>
              <a:endParaRPr/>
            </a:p>
            <a:p>
              <a:pPr>
                <a:defRPr/>
              </a:pPr>
              <a:r>
                <a:rPr lang="en-US" sz="2000" b="1">
                  <a:latin typeface="Consolas"/>
                  <a:cs typeface="Consolas"/>
                </a:rPr>
                <a:t>	</a:t>
              </a:r>
              <a:r>
                <a:rPr lang="en-US" sz="2000" b="1">
                  <a:latin typeface="Consolas"/>
                  <a:cs typeface="Consolas"/>
                </a:rPr>
                <a:t>	</a:t>
              </a:r>
              <a:r>
                <a:rPr lang="en-US" sz="2000" b="1">
                  <a:latin typeface="Consolas"/>
                  <a:cs typeface="Consolas"/>
                </a:rPr>
                <a:t> </a:t>
              </a:r>
              <a:r>
                <a:rPr lang="en-US" sz="2000" b="1">
                  <a:latin typeface="Consolas"/>
                  <a:cs typeface="Consolas"/>
                </a:rPr>
                <a:t>this.left</a:t>
              </a:r>
              <a:r>
                <a:rPr lang="en-US" sz="2000" b="1">
                  <a:latin typeface="Consolas"/>
                  <a:cs typeface="Consolas"/>
                </a:rPr>
                <a:t>  = null;</a:t>
              </a:r>
              <a:endParaRPr/>
            </a:p>
            <a:p>
              <a:pPr>
                <a:defRPr/>
              </a:pPr>
              <a:r>
                <a:rPr lang="en-US" sz="2000" b="1">
                  <a:latin typeface="Consolas"/>
                  <a:cs typeface="Consolas"/>
                </a:rPr>
                <a:t>	</a:t>
              </a:r>
              <a:r>
                <a:rPr lang="en-US" sz="2000" b="1">
                  <a:latin typeface="Consolas"/>
                  <a:cs typeface="Consolas"/>
                </a:rPr>
                <a:t>	 </a:t>
              </a:r>
              <a:r>
                <a:rPr lang="en-US" sz="2000" b="1">
                  <a:latin typeface="Consolas"/>
                  <a:cs typeface="Consolas"/>
                </a:rPr>
                <a:t>this.right</a:t>
              </a:r>
              <a:r>
                <a:rPr lang="en-US" sz="2000" b="1">
                  <a:latin typeface="Consolas"/>
                  <a:cs typeface="Consolas"/>
                </a:rPr>
                <a:t> = null;	</a:t>
              </a:r>
              <a:endParaRPr/>
            </a:p>
            <a:p>
              <a:pPr>
                <a:defRPr/>
              </a:pPr>
              <a:r>
                <a:rPr lang="en-US" sz="2000" b="1">
                  <a:latin typeface="Consolas"/>
                  <a:cs typeface="Consolas"/>
                </a:rPr>
                <a:t>	</a:t>
              </a:r>
              <a:r>
                <a:rPr lang="en-US" sz="2000" b="1">
                  <a:latin typeface="Consolas"/>
                  <a:cs typeface="Consolas"/>
                </a:rPr>
                <a:t>}</a:t>
              </a:r>
              <a:endParaRPr lang="en-US" sz="2000" b="1">
                <a:latin typeface="Consolas"/>
                <a:cs typeface="Consolas"/>
              </a:endParaRPr>
            </a:p>
            <a:p>
              <a:pPr>
                <a:defRPr/>
              </a:pPr>
              <a:r>
                <a:rPr lang="en-US" sz="2000" b="1">
                  <a:latin typeface="Consolas"/>
                  <a:cs typeface="Consolas"/>
                </a:rPr>
                <a:t>}</a:t>
              </a:r>
              <a:endParaRPr lang="en-US" sz="2000" b="1">
                <a:latin typeface="Consolas"/>
                <a:cs typeface="Consolas"/>
              </a:endParaRPr>
            </a:p>
          </p:txBody>
        </p:sp>
      </p:grpSp>
      <p:sp>
        <p:nvSpPr>
          <p:cNvPr id="697108432" name="TextBox 34"/>
          <p:cNvSpPr txBox="1"/>
          <p:nvPr/>
        </p:nvSpPr>
        <p:spPr bwMode="auto">
          <a:xfrm>
            <a:off x="5444762" y="925150"/>
            <a:ext cx="6409507" cy="553998"/>
          </a:xfrm>
          <a:prstGeom prst="rect">
            <a:avLst/>
          </a:prstGeom>
          <a:noFill/>
        </p:spPr>
        <p:txBody>
          <a:bodyPr wrap="square" rtlCol="0">
            <a:spAutoFit/>
          </a:bodyPr>
          <a:lstStyle/>
          <a:p>
            <a:pPr algn="ctr">
              <a:defRPr/>
            </a:pPr>
            <a:r>
              <a:rPr lang="en-IN" sz="3000" b="1"/>
              <a:t>Java class to represent a </a:t>
            </a:r>
            <a:r>
              <a:rPr lang="en-IN" sz="3000" b="1"/>
              <a:t>node</a:t>
            </a:r>
            <a:endParaRPr/>
          </a:p>
        </p:txBody>
      </p:sp>
      <p:grpSp>
        <p:nvGrpSpPr>
          <p:cNvPr id="1332518839" name="Group 30"/>
          <p:cNvGrpSpPr/>
          <p:nvPr/>
        </p:nvGrpSpPr>
        <p:grpSpPr bwMode="auto">
          <a:xfrm>
            <a:off x="1433596" y="5106141"/>
            <a:ext cx="2705573" cy="466320"/>
            <a:chOff x="-76200" y="4191000"/>
            <a:chExt cx="1997075" cy="381000"/>
          </a:xfrm>
        </p:grpSpPr>
        <p:sp>
          <p:nvSpPr>
            <p:cNvPr id="36" name="Rectangle 35"/>
            <p:cNvSpPr/>
            <p:nvPr/>
          </p:nvSpPr>
          <p:spPr bwMode="auto">
            <a:xfrm>
              <a:off x="609599" y="4191000"/>
              <a:ext cx="62865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Key</a:t>
              </a:r>
              <a:endParaRPr lang="en-US" sz="2000" b="1"/>
            </a:p>
          </p:txBody>
        </p:sp>
        <p:sp>
          <p:nvSpPr>
            <p:cNvPr id="37" name="Rectangle 36"/>
            <p:cNvSpPr/>
            <p:nvPr/>
          </p:nvSpPr>
          <p:spPr bwMode="auto">
            <a:xfrm>
              <a:off x="-76200" y="4191000"/>
              <a:ext cx="685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L</a:t>
              </a:r>
              <a:r>
                <a:rPr lang="en-IN" b="1"/>
                <a:t>eft</a:t>
              </a:r>
              <a:endParaRPr lang="en-US" b="1"/>
            </a:p>
          </p:txBody>
        </p:sp>
        <p:sp>
          <p:nvSpPr>
            <p:cNvPr id="38" name="Rectangle 37"/>
            <p:cNvSpPr/>
            <p:nvPr/>
          </p:nvSpPr>
          <p:spPr bwMode="auto">
            <a:xfrm>
              <a:off x="1238250" y="4191000"/>
              <a:ext cx="682625"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IN" b="1"/>
                <a:t>Right</a:t>
              </a:r>
              <a:endParaRPr lang="en-US" b="1"/>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33251883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4331206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9025745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9710843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645122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3312063" grpId="0"/>
      <p:bldP spid="697108432" grpId="0"/>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608900500" name="Title 1"/>
          <p:cNvSpPr>
            <a:spLocks noGrp="1"/>
          </p:cNvSpPr>
          <p:nvPr>
            <p:ph type="title"/>
          </p:nvPr>
        </p:nvSpPr>
        <p:spPr bwMode="auto"/>
        <p:txBody>
          <a:bodyPr/>
          <a:lstStyle/>
          <a:p>
            <a:pPr>
              <a:defRPr/>
            </a:pPr>
            <a:r>
              <a:rPr lang="en-US"/>
              <a:t>C </a:t>
            </a:r>
            <a:r>
              <a:rPr lang="en-US"/>
              <a:t>code to Insert a Node in BST</a:t>
            </a:r>
            <a:endParaRPr lang="en-IN"/>
          </a:p>
        </p:txBody>
      </p:sp>
      <p:sp>
        <p:nvSpPr>
          <p:cNvPr id="219665173" name="Rectangle 7"/>
          <p:cNvSpPr/>
          <p:nvPr/>
        </p:nvSpPr>
        <p:spPr bwMode="auto">
          <a:xfrm>
            <a:off x="5448822" y="764024"/>
            <a:ext cx="6743178" cy="5847755"/>
          </a:xfrm>
          <a:prstGeom prst="rect">
            <a:avLst/>
          </a:prstGeom>
        </p:spPr>
        <p:txBody>
          <a:bodyPr wrap="square">
            <a:spAutoFit/>
          </a:bodyPr>
          <a:lstStyle/>
          <a:p>
            <a:pPr>
              <a:defRPr/>
            </a:pPr>
            <a:r>
              <a:rPr lang="en-US" sz="1500">
                <a:solidFill>
                  <a:srgbClr val="008000"/>
                </a:solidFill>
                <a:highlight>
                  <a:srgbClr val="FFFFFF"/>
                </a:highlight>
                <a:latin typeface="Cascadia Mono"/>
              </a:rPr>
              <a:t>// Function to insert a new node with the given key</a:t>
            </a:r>
            <a:endParaRPr lang="en-US" sz="1500">
              <a:solidFill>
                <a:srgbClr val="000000"/>
              </a:solidFill>
              <a:highlight>
                <a:srgbClr val="FFFFFF"/>
              </a:highlight>
              <a:latin typeface="Cascadia Mono"/>
            </a:endParaRPr>
          </a:p>
          <a:p>
            <a:pPr>
              <a:defRPr/>
            </a:pPr>
            <a:r>
              <a:rPr lang="en-IN" sz="1500">
                <a:solidFill>
                  <a:srgbClr val="0000FF"/>
                </a:solidFill>
                <a:highlight>
                  <a:srgbClr val="FFFFFF"/>
                </a:highlight>
                <a:latin typeface="Cascadia Mono"/>
              </a:rPr>
              <a:t>struct</a:t>
            </a:r>
            <a:r>
              <a:rPr lang="en-IN" sz="1500">
                <a:solidFill>
                  <a:srgbClr val="000000"/>
                </a:solidFill>
                <a:highlight>
                  <a:srgbClr val="FFFFFF"/>
                </a:highlight>
                <a:latin typeface="Cascadia Mono"/>
              </a:rPr>
              <a:t> </a:t>
            </a:r>
            <a:r>
              <a:rPr lang="en-IN" sz="1500">
                <a:solidFill>
                  <a:srgbClr val="2B91AF"/>
                </a:solidFill>
                <a:highlight>
                  <a:srgbClr val="FFFFFF"/>
                </a:highlight>
                <a:latin typeface="Cascadia Mono"/>
              </a:rPr>
              <a:t>Node</a:t>
            </a:r>
            <a:r>
              <a:rPr lang="en-IN" sz="1500">
                <a:solidFill>
                  <a:srgbClr val="000000"/>
                </a:solidFill>
                <a:highlight>
                  <a:srgbClr val="FFFFFF"/>
                </a:highlight>
                <a:latin typeface="Cascadia Mono"/>
              </a:rPr>
              <a:t>*insert(</a:t>
            </a:r>
            <a:r>
              <a:rPr lang="en-IN" sz="1500">
                <a:solidFill>
                  <a:srgbClr val="0000FF"/>
                </a:solidFill>
                <a:highlight>
                  <a:srgbClr val="FFFFFF"/>
                </a:highlight>
                <a:latin typeface="Cascadia Mono"/>
              </a:rPr>
              <a:t>struct</a:t>
            </a:r>
            <a:r>
              <a:rPr lang="en-IN" sz="1500">
                <a:solidFill>
                  <a:srgbClr val="000000"/>
                </a:solidFill>
                <a:highlight>
                  <a:srgbClr val="FFFFFF"/>
                </a:highlight>
                <a:latin typeface="Cascadia Mono"/>
              </a:rPr>
              <a:t> </a:t>
            </a:r>
            <a:r>
              <a:rPr lang="en-IN" sz="1500">
                <a:solidFill>
                  <a:srgbClr val="2B91AF"/>
                </a:solidFill>
                <a:highlight>
                  <a:srgbClr val="FFFFFF"/>
                </a:highlight>
                <a:latin typeface="Cascadia Mono"/>
              </a:rPr>
              <a:t>Node</a:t>
            </a:r>
            <a:r>
              <a:rPr lang="en-IN" sz="1500">
                <a:solidFill>
                  <a:srgbClr val="000000"/>
                </a:solidFill>
                <a:highlight>
                  <a:srgbClr val="FFFFFF"/>
                </a:highlight>
                <a:latin typeface="Cascadia Mono"/>
              </a:rPr>
              <a:t>*node, </a:t>
            </a:r>
            <a:r>
              <a:rPr lang="en-IN" sz="1500">
                <a:solidFill>
                  <a:srgbClr val="0000FF"/>
                </a:solidFill>
                <a:highlight>
                  <a:srgbClr val="FFFFFF"/>
                </a:highlight>
                <a:latin typeface="Cascadia Mono"/>
              </a:rPr>
              <a:t>int</a:t>
            </a:r>
            <a:r>
              <a:rPr lang="en-IN" sz="1500">
                <a:solidFill>
                  <a:srgbClr val="000000"/>
                </a:solidFill>
                <a:highlight>
                  <a:srgbClr val="FFFFFF"/>
                </a:highlight>
                <a:latin typeface="Cascadia Mono"/>
              </a:rPr>
              <a:t> key) {</a:t>
            </a:r>
            <a:endParaRPr/>
          </a:p>
          <a:p>
            <a:pPr>
              <a:defRPr/>
            </a:pPr>
            <a:r>
              <a:rPr lang="en-IN" sz="1500">
                <a:solidFill>
                  <a:srgbClr val="000000"/>
                </a:solidFill>
                <a:highlight>
                  <a:srgbClr val="FFFFFF"/>
                </a:highlight>
                <a:latin typeface="Cascadia Mono"/>
              </a:rPr>
              <a:t>  </a:t>
            </a:r>
            <a:endParaRPr/>
          </a:p>
          <a:p>
            <a:pPr>
              <a:defRPr/>
            </a:pPr>
            <a:r>
              <a:rPr lang="en-US" sz="1500">
                <a:solidFill>
                  <a:srgbClr val="008000"/>
                </a:solidFill>
                <a:highlight>
                  <a:srgbClr val="FFFFFF"/>
                </a:highlight>
                <a:latin typeface="Cascadia Mono"/>
              </a:rPr>
              <a:t>// </a:t>
            </a:r>
            <a:r>
              <a:rPr lang="en-US" sz="1500">
                <a:solidFill>
                  <a:srgbClr val="008000"/>
                </a:solidFill>
                <a:highlight>
                  <a:srgbClr val="FFFFFF"/>
                </a:highlight>
                <a:latin typeface="Cascadia Mono"/>
              </a:rPr>
              <a:t>If the tree is empty, return a new node</a:t>
            </a:r>
            <a:endParaRPr lang="en-US" sz="1500">
              <a:solidFill>
                <a:srgbClr val="000000"/>
              </a:solidFill>
              <a:highlight>
                <a:srgbClr val="FFFFFF"/>
              </a:highlight>
              <a:latin typeface="Cascadia Mono"/>
            </a:endParaRPr>
          </a:p>
          <a:p>
            <a:pPr>
              <a:defRPr/>
            </a:pPr>
            <a:r>
              <a:rPr lang="en-IN" sz="1500">
                <a:solidFill>
                  <a:srgbClr val="0000FF"/>
                </a:solidFill>
                <a:highlight>
                  <a:srgbClr val="FFFFFF"/>
                </a:highlight>
                <a:latin typeface="Cascadia Mono"/>
              </a:rPr>
              <a:t>if</a:t>
            </a:r>
            <a:r>
              <a:rPr lang="en-IN" sz="1500">
                <a:solidFill>
                  <a:srgbClr val="000000"/>
                </a:solidFill>
                <a:highlight>
                  <a:srgbClr val="FFFFFF"/>
                </a:highlight>
                <a:latin typeface="Cascadia Mono"/>
              </a:rPr>
              <a:t> </a:t>
            </a:r>
            <a:r>
              <a:rPr lang="en-IN" sz="1500">
                <a:solidFill>
                  <a:srgbClr val="000000"/>
                </a:solidFill>
                <a:highlight>
                  <a:srgbClr val="FFFFFF"/>
                </a:highlight>
                <a:latin typeface="Cascadia Mono"/>
              </a:rPr>
              <a:t>(node == NULL)</a:t>
            </a:r>
            <a:endParaRPr/>
          </a:p>
          <a:p>
            <a:pPr>
              <a:defRPr/>
            </a:pPr>
            <a:r>
              <a:rPr lang="en-IN" sz="1500">
                <a:solidFill>
                  <a:srgbClr val="000000"/>
                </a:solidFill>
                <a:highlight>
                  <a:srgbClr val="FFFFFF"/>
                </a:highlight>
                <a:latin typeface="Cascadia Mono"/>
              </a:rPr>
              <a:t>    </a:t>
            </a:r>
            <a:r>
              <a:rPr lang="en-IN" sz="1500">
                <a:solidFill>
                  <a:srgbClr val="0000FF"/>
                </a:solidFill>
                <a:highlight>
                  <a:srgbClr val="FFFFFF"/>
                </a:highlight>
                <a:latin typeface="Cascadia Mono"/>
              </a:rPr>
              <a:t>return</a:t>
            </a:r>
            <a:r>
              <a:rPr lang="en-IN" sz="1500">
                <a:solidFill>
                  <a:srgbClr val="000000"/>
                </a:solidFill>
                <a:highlight>
                  <a:srgbClr val="FFFFFF"/>
                </a:highlight>
                <a:latin typeface="Cascadia Mono"/>
              </a:rPr>
              <a:t> </a:t>
            </a:r>
            <a:r>
              <a:rPr lang="en-IN" sz="1500">
                <a:solidFill>
                  <a:srgbClr val="000000"/>
                </a:solidFill>
                <a:highlight>
                  <a:srgbClr val="FFFFFF"/>
                </a:highlight>
                <a:latin typeface="Cascadia Mono"/>
              </a:rPr>
              <a:t>newNode</a:t>
            </a:r>
            <a:r>
              <a:rPr lang="en-IN" sz="1500">
                <a:solidFill>
                  <a:srgbClr val="000000"/>
                </a:solidFill>
                <a:highlight>
                  <a:srgbClr val="FFFFFF"/>
                </a:highlight>
                <a:latin typeface="Cascadia Mono"/>
              </a:rPr>
              <a:t>(key);</a:t>
            </a:r>
            <a:endParaRPr/>
          </a:p>
          <a:p>
            <a:pPr>
              <a:defRPr/>
            </a:pPr>
            <a:endParaRPr lang="en-IN" sz="1500">
              <a:solidFill>
                <a:srgbClr val="000000"/>
              </a:solidFill>
              <a:highlight>
                <a:srgbClr val="FFFFFF"/>
              </a:highlight>
              <a:latin typeface="Cascadia Mono"/>
            </a:endParaRPr>
          </a:p>
          <a:p>
            <a:pPr>
              <a:defRPr/>
            </a:pPr>
            <a:r>
              <a:rPr lang="en-US" sz="1400">
                <a:solidFill>
                  <a:srgbClr val="008000"/>
                </a:solidFill>
                <a:highlight>
                  <a:srgbClr val="FFFFFF"/>
                </a:highlight>
                <a:latin typeface="Cascadia Mono"/>
              </a:rPr>
              <a:t>// If the key is already present in the tree</a:t>
            </a:r>
            <a:r>
              <a:rPr lang="en-US" sz="1400">
                <a:solidFill>
                  <a:srgbClr val="008000"/>
                </a:solidFill>
                <a:highlight>
                  <a:srgbClr val="FFFFFF"/>
                </a:highlight>
                <a:latin typeface="Cascadia Mono"/>
              </a:rPr>
              <a:t>, </a:t>
            </a:r>
            <a:r>
              <a:rPr lang="en-IN" sz="1400">
                <a:solidFill>
                  <a:srgbClr val="008000"/>
                </a:solidFill>
                <a:highlight>
                  <a:srgbClr val="FFFFFF"/>
                </a:highlight>
                <a:latin typeface="Cascadia Mono"/>
              </a:rPr>
              <a:t>return </a:t>
            </a:r>
            <a:r>
              <a:rPr lang="en-IN" sz="1400">
                <a:solidFill>
                  <a:srgbClr val="008000"/>
                </a:solidFill>
                <a:highlight>
                  <a:srgbClr val="FFFFFF"/>
                </a:highlight>
                <a:latin typeface="Cascadia Mono"/>
              </a:rPr>
              <a:t>the node</a:t>
            </a:r>
            <a:endParaRPr lang="en-IN" sz="1400">
              <a:solidFill>
                <a:srgbClr val="000000"/>
              </a:solidFill>
              <a:highlight>
                <a:srgbClr val="FFFFFF"/>
              </a:highlight>
              <a:latin typeface="Cascadia Mono"/>
            </a:endParaRPr>
          </a:p>
          <a:p>
            <a:pPr>
              <a:defRPr/>
            </a:pPr>
            <a:r>
              <a:rPr lang="en-IN" sz="1500">
                <a:solidFill>
                  <a:srgbClr val="0000FF"/>
                </a:solidFill>
                <a:highlight>
                  <a:srgbClr val="FFFFFF"/>
                </a:highlight>
                <a:latin typeface="Cascadia Mono"/>
              </a:rPr>
              <a:t>if</a:t>
            </a:r>
            <a:r>
              <a:rPr lang="en-IN" sz="1500">
                <a:solidFill>
                  <a:srgbClr val="000000"/>
                </a:solidFill>
                <a:highlight>
                  <a:srgbClr val="FFFFFF"/>
                </a:highlight>
                <a:latin typeface="Cascadia Mono"/>
              </a:rPr>
              <a:t> (node-&gt;key == key)</a:t>
            </a:r>
            <a:endParaRPr/>
          </a:p>
          <a:p>
            <a:pPr>
              <a:defRPr/>
            </a:pPr>
            <a:r>
              <a:rPr lang="en-IN" sz="1500">
                <a:solidFill>
                  <a:srgbClr val="000000"/>
                </a:solidFill>
                <a:highlight>
                  <a:srgbClr val="FFFFFF"/>
                </a:highlight>
                <a:latin typeface="Cascadia Mono"/>
              </a:rPr>
              <a:t>    </a:t>
            </a:r>
            <a:r>
              <a:rPr lang="en-IN" sz="1500">
                <a:solidFill>
                  <a:srgbClr val="0000FF"/>
                </a:solidFill>
                <a:highlight>
                  <a:srgbClr val="FFFFFF"/>
                </a:highlight>
                <a:latin typeface="Cascadia Mono"/>
              </a:rPr>
              <a:t>return</a:t>
            </a:r>
            <a:r>
              <a:rPr lang="en-IN" sz="1500">
                <a:solidFill>
                  <a:srgbClr val="000000"/>
                </a:solidFill>
                <a:highlight>
                  <a:srgbClr val="FFFFFF"/>
                </a:highlight>
                <a:latin typeface="Cascadia Mono"/>
              </a:rPr>
              <a:t> node;</a:t>
            </a:r>
            <a:endParaRPr/>
          </a:p>
          <a:p>
            <a:pPr>
              <a:defRPr/>
            </a:pPr>
            <a:endParaRPr lang="en-IN" sz="1500">
              <a:solidFill>
                <a:srgbClr val="000000"/>
              </a:solidFill>
              <a:highlight>
                <a:srgbClr val="FFFFFF"/>
              </a:highlight>
              <a:latin typeface="Cascadia Mono"/>
            </a:endParaRPr>
          </a:p>
          <a:p>
            <a:pPr>
              <a:defRPr/>
            </a:pPr>
            <a:r>
              <a:rPr lang="en-US" sz="1500">
                <a:solidFill>
                  <a:srgbClr val="008000"/>
                </a:solidFill>
                <a:highlight>
                  <a:srgbClr val="FFFFFF"/>
                </a:highlight>
                <a:latin typeface="Cascadia Mono"/>
              </a:rPr>
              <a:t>// Otherwise, recur down the tree. If the key </a:t>
            </a:r>
            <a:endParaRPr lang="en-US" sz="1500">
              <a:solidFill>
                <a:srgbClr val="000000"/>
              </a:solidFill>
              <a:highlight>
                <a:srgbClr val="FFFFFF"/>
              </a:highlight>
              <a:latin typeface="Cascadia Mono"/>
            </a:endParaRPr>
          </a:p>
          <a:p>
            <a:pPr>
              <a:defRPr/>
            </a:pPr>
            <a:r>
              <a:rPr lang="en-US" sz="1500">
                <a:solidFill>
                  <a:srgbClr val="008000"/>
                </a:solidFill>
                <a:highlight>
                  <a:srgbClr val="FFFFFF"/>
                </a:highlight>
                <a:latin typeface="Cascadia Mono"/>
              </a:rPr>
              <a:t>// to be inserted is greater than the node's key,</a:t>
            </a:r>
            <a:endParaRPr lang="en-US" sz="1500">
              <a:solidFill>
                <a:srgbClr val="000000"/>
              </a:solidFill>
              <a:highlight>
                <a:srgbClr val="FFFFFF"/>
              </a:highlight>
              <a:latin typeface="Cascadia Mono"/>
            </a:endParaRPr>
          </a:p>
          <a:p>
            <a:pPr>
              <a:defRPr/>
            </a:pPr>
            <a:r>
              <a:rPr lang="en-US" sz="1500">
                <a:solidFill>
                  <a:srgbClr val="008000"/>
                </a:solidFill>
                <a:highlight>
                  <a:srgbClr val="FFFFFF"/>
                </a:highlight>
                <a:latin typeface="Cascadia Mono"/>
              </a:rPr>
              <a:t>// insert it in the right subtree</a:t>
            </a:r>
            <a:endParaRPr lang="en-US" sz="1500">
              <a:solidFill>
                <a:srgbClr val="000000"/>
              </a:solidFill>
              <a:highlight>
                <a:srgbClr val="FFFFFF"/>
              </a:highlight>
              <a:latin typeface="Cascadia Mono"/>
            </a:endParaRPr>
          </a:p>
          <a:p>
            <a:pPr>
              <a:defRPr/>
            </a:pPr>
            <a:r>
              <a:rPr lang="en-IN" sz="1500">
                <a:solidFill>
                  <a:srgbClr val="0000FF"/>
                </a:solidFill>
                <a:highlight>
                  <a:srgbClr val="FFFFFF"/>
                </a:highlight>
                <a:latin typeface="Cascadia Mono"/>
              </a:rPr>
              <a:t>if</a:t>
            </a:r>
            <a:r>
              <a:rPr lang="en-IN" sz="1500">
                <a:solidFill>
                  <a:srgbClr val="000000"/>
                </a:solidFill>
                <a:highlight>
                  <a:srgbClr val="FFFFFF"/>
                </a:highlight>
                <a:latin typeface="Cascadia Mono"/>
              </a:rPr>
              <a:t> (node-&gt;key &lt; key)</a:t>
            </a:r>
            <a:endParaRPr/>
          </a:p>
          <a:p>
            <a:pPr>
              <a:defRPr/>
            </a:pPr>
            <a:r>
              <a:rPr lang="en-US" sz="1500">
                <a:solidFill>
                  <a:srgbClr val="000000"/>
                </a:solidFill>
                <a:highlight>
                  <a:srgbClr val="FFFFFF"/>
                </a:highlight>
                <a:latin typeface="Cascadia Mono"/>
              </a:rPr>
              <a:t>    node-&gt;right = insert(node-&gt;right, key);</a:t>
            </a:r>
            <a:endParaRPr/>
          </a:p>
          <a:p>
            <a:pPr>
              <a:defRPr/>
            </a:pPr>
            <a:endParaRPr lang="en-IN" sz="1500">
              <a:solidFill>
                <a:srgbClr val="000000"/>
              </a:solidFill>
              <a:highlight>
                <a:srgbClr val="FFFFFF"/>
              </a:highlight>
              <a:latin typeface="Cascadia Mono"/>
            </a:endParaRPr>
          </a:p>
          <a:p>
            <a:pPr>
              <a:defRPr/>
            </a:pPr>
            <a:r>
              <a:rPr lang="en-US" sz="1500">
                <a:solidFill>
                  <a:srgbClr val="008000"/>
                </a:solidFill>
                <a:highlight>
                  <a:srgbClr val="FFFFFF"/>
                </a:highlight>
                <a:latin typeface="Cascadia Mono"/>
              </a:rPr>
              <a:t>// If the key to be inserted is smaller than </a:t>
            </a:r>
            <a:endParaRPr lang="en-US" sz="1500">
              <a:solidFill>
                <a:srgbClr val="000000"/>
              </a:solidFill>
              <a:highlight>
                <a:srgbClr val="FFFFFF"/>
              </a:highlight>
              <a:latin typeface="Cascadia Mono"/>
            </a:endParaRPr>
          </a:p>
          <a:p>
            <a:pPr>
              <a:defRPr/>
            </a:pPr>
            <a:r>
              <a:rPr lang="en-US" sz="1500">
                <a:solidFill>
                  <a:srgbClr val="008000"/>
                </a:solidFill>
                <a:highlight>
                  <a:srgbClr val="FFFFFF"/>
                </a:highlight>
                <a:latin typeface="Cascadia Mono"/>
              </a:rPr>
              <a:t>// the node's </a:t>
            </a:r>
            <a:r>
              <a:rPr lang="en-US" sz="1500">
                <a:solidFill>
                  <a:srgbClr val="008000"/>
                </a:solidFill>
                <a:highlight>
                  <a:srgbClr val="FFFFFF"/>
                </a:highlight>
                <a:latin typeface="Cascadia Mono"/>
              </a:rPr>
              <a:t>key,insert</a:t>
            </a:r>
            <a:r>
              <a:rPr lang="en-US" sz="1500">
                <a:solidFill>
                  <a:srgbClr val="008000"/>
                </a:solidFill>
                <a:highlight>
                  <a:srgbClr val="FFFFFF"/>
                </a:highlight>
                <a:latin typeface="Cascadia Mono"/>
              </a:rPr>
              <a:t> it in the left subtree</a:t>
            </a:r>
            <a:endParaRPr lang="en-US" sz="1500">
              <a:solidFill>
                <a:srgbClr val="000000"/>
              </a:solidFill>
              <a:highlight>
                <a:srgbClr val="FFFFFF"/>
              </a:highlight>
              <a:latin typeface="Cascadia Mono"/>
            </a:endParaRPr>
          </a:p>
          <a:p>
            <a:pPr>
              <a:defRPr/>
            </a:pPr>
            <a:r>
              <a:rPr lang="en-IN" sz="1500">
                <a:solidFill>
                  <a:srgbClr val="0000FF"/>
                </a:solidFill>
                <a:highlight>
                  <a:srgbClr val="FFFFFF"/>
                </a:highlight>
                <a:latin typeface="Cascadia Mono"/>
              </a:rPr>
              <a:t>else</a:t>
            </a:r>
            <a:endParaRPr lang="en-IN" sz="1500">
              <a:solidFill>
                <a:srgbClr val="000000"/>
              </a:solidFill>
              <a:highlight>
                <a:srgbClr val="FFFFFF"/>
              </a:highlight>
              <a:latin typeface="Cascadia Mono"/>
            </a:endParaRPr>
          </a:p>
          <a:p>
            <a:pPr>
              <a:defRPr/>
            </a:pPr>
            <a:r>
              <a:rPr lang="en-US" sz="1500">
                <a:solidFill>
                  <a:srgbClr val="000000"/>
                </a:solidFill>
                <a:highlight>
                  <a:srgbClr val="FFFFFF"/>
                </a:highlight>
                <a:latin typeface="Cascadia Mono"/>
              </a:rPr>
              <a:t>    node-&gt;left = insert(node-&gt;left, key);</a:t>
            </a:r>
            <a:endParaRPr/>
          </a:p>
          <a:p>
            <a:pPr>
              <a:defRPr/>
            </a:pPr>
            <a:endParaRPr lang="en-IN" sz="1500">
              <a:solidFill>
                <a:srgbClr val="000000"/>
              </a:solidFill>
              <a:highlight>
                <a:srgbClr val="FFFFFF"/>
              </a:highlight>
              <a:latin typeface="Cascadia Mono"/>
            </a:endParaRPr>
          </a:p>
          <a:p>
            <a:pPr>
              <a:defRPr/>
            </a:pPr>
            <a:r>
              <a:rPr lang="en-US" sz="1500">
                <a:solidFill>
                  <a:srgbClr val="008000"/>
                </a:solidFill>
                <a:highlight>
                  <a:srgbClr val="FFFFFF"/>
                </a:highlight>
                <a:latin typeface="Cascadia Mono"/>
              </a:rPr>
              <a:t>// Return the (unchanged) node pointer</a:t>
            </a:r>
            <a:endParaRPr lang="en-US" sz="1500">
              <a:solidFill>
                <a:srgbClr val="000000"/>
              </a:solidFill>
              <a:highlight>
                <a:srgbClr val="FFFFFF"/>
              </a:highlight>
              <a:latin typeface="Cascadia Mono"/>
            </a:endParaRPr>
          </a:p>
          <a:p>
            <a:pPr>
              <a:defRPr/>
            </a:pPr>
            <a:r>
              <a:rPr lang="en-IN" sz="1500">
                <a:solidFill>
                  <a:srgbClr val="0000FF"/>
                </a:solidFill>
                <a:highlight>
                  <a:srgbClr val="FFFFFF"/>
                </a:highlight>
                <a:latin typeface="Cascadia Mono"/>
              </a:rPr>
              <a:t>return</a:t>
            </a:r>
            <a:r>
              <a:rPr lang="en-IN" sz="1500">
                <a:solidFill>
                  <a:srgbClr val="000000"/>
                </a:solidFill>
                <a:highlight>
                  <a:srgbClr val="FFFFFF"/>
                </a:highlight>
                <a:latin typeface="Cascadia Mono"/>
              </a:rPr>
              <a:t> node;</a:t>
            </a:r>
            <a:endParaRPr/>
          </a:p>
          <a:p>
            <a:pPr>
              <a:defRPr/>
            </a:pPr>
            <a:r>
              <a:rPr lang="en-IN" sz="1500">
                <a:solidFill>
                  <a:srgbClr val="000000"/>
                </a:solidFill>
                <a:highlight>
                  <a:srgbClr val="FFFFFF"/>
                </a:highlight>
                <a:latin typeface="Cascadia Mono"/>
              </a:rPr>
              <a:t>}</a:t>
            </a:r>
            <a:endParaRPr lang="en-IN" sz="1500"/>
          </a:p>
        </p:txBody>
      </p:sp>
      <p:sp>
        <p:nvSpPr>
          <p:cNvPr id="1773223209" name="Rectangle 5"/>
          <p:cNvSpPr/>
          <p:nvPr/>
        </p:nvSpPr>
        <p:spPr bwMode="auto">
          <a:xfrm>
            <a:off x="242170" y="949494"/>
            <a:ext cx="6096000" cy="2554545"/>
          </a:xfrm>
          <a:prstGeom prst="rect">
            <a:avLst/>
          </a:prstGeom>
        </p:spPr>
        <p:txBody>
          <a:bodyPr>
            <a:spAutoFit/>
          </a:bodyPr>
          <a:lstStyle/>
          <a:p>
            <a:pPr>
              <a:defRPr/>
            </a:pPr>
            <a:r>
              <a:rPr lang="en-IN" sz="1600">
                <a:solidFill>
                  <a:srgbClr val="808080"/>
                </a:solidFill>
                <a:highlight>
                  <a:srgbClr val="FFFFFF"/>
                </a:highlight>
                <a:latin typeface="Cascadia Mono"/>
              </a:rPr>
              <a:t>#include</a:t>
            </a:r>
            <a:r>
              <a:rPr lang="en-IN" sz="1600">
                <a:solidFill>
                  <a:srgbClr val="000000"/>
                </a:solidFill>
                <a:highlight>
                  <a:srgbClr val="FFFFFF"/>
                </a:highlight>
                <a:latin typeface="Cascadia Mono"/>
              </a:rPr>
              <a:t> &lt;</a:t>
            </a:r>
            <a:r>
              <a:rPr lang="en-IN" sz="1600">
                <a:solidFill>
                  <a:srgbClr val="000000"/>
                </a:solidFill>
                <a:highlight>
                  <a:srgbClr val="FFFFFF"/>
                </a:highlight>
                <a:latin typeface="Cascadia Mono"/>
              </a:rPr>
              <a:t>stdio.h</a:t>
            </a:r>
            <a:r>
              <a:rPr lang="en-IN" sz="1600">
                <a:solidFill>
                  <a:srgbClr val="000000"/>
                </a:solidFill>
                <a:highlight>
                  <a:srgbClr val="FFFFFF"/>
                </a:highlight>
                <a:latin typeface="Cascadia Mono"/>
              </a:rPr>
              <a:t>&gt;</a:t>
            </a:r>
            <a:endParaRPr/>
          </a:p>
          <a:p>
            <a:pPr>
              <a:defRPr/>
            </a:pPr>
            <a:r>
              <a:rPr lang="en-IN" sz="1600">
                <a:solidFill>
                  <a:srgbClr val="808080"/>
                </a:solidFill>
                <a:highlight>
                  <a:srgbClr val="FFFFFF"/>
                </a:highlight>
                <a:latin typeface="Cascadia Mono"/>
              </a:rPr>
              <a:t>#include</a:t>
            </a:r>
            <a:r>
              <a:rPr lang="en-IN" sz="1600">
                <a:solidFill>
                  <a:srgbClr val="000000"/>
                </a:solidFill>
                <a:highlight>
                  <a:srgbClr val="FFFFFF"/>
                </a:highlight>
                <a:latin typeface="Cascadia Mono"/>
              </a:rPr>
              <a:t> &lt;</a:t>
            </a:r>
            <a:r>
              <a:rPr lang="en-IN" sz="1600">
                <a:solidFill>
                  <a:srgbClr val="000000"/>
                </a:solidFill>
                <a:highlight>
                  <a:srgbClr val="FFFFFF"/>
                </a:highlight>
                <a:latin typeface="Cascadia Mono"/>
              </a:rPr>
              <a:t>stdlib.h</a:t>
            </a:r>
            <a:r>
              <a:rPr lang="en-IN" sz="1600">
                <a:solidFill>
                  <a:srgbClr val="000000"/>
                </a:solidFill>
                <a:highlight>
                  <a:srgbClr val="FFFFFF"/>
                </a:highlight>
                <a:latin typeface="Cascadia Mono"/>
              </a:rPr>
              <a:t>&gt;</a:t>
            </a:r>
            <a:endParaRPr/>
          </a:p>
          <a:p>
            <a:pPr>
              <a:defRPr/>
            </a:pPr>
            <a:endParaRPr lang="en-IN" sz="1600">
              <a:solidFill>
                <a:srgbClr val="000000"/>
              </a:solidFill>
              <a:highlight>
                <a:srgbClr val="FFFFFF"/>
              </a:highlight>
              <a:latin typeface="Cascadia Mono"/>
            </a:endParaRPr>
          </a:p>
          <a:p>
            <a:pPr>
              <a:defRPr/>
            </a:pPr>
            <a:r>
              <a:rPr lang="en-US" sz="1600">
                <a:solidFill>
                  <a:srgbClr val="008000"/>
                </a:solidFill>
                <a:highlight>
                  <a:srgbClr val="FFFFFF"/>
                </a:highlight>
                <a:latin typeface="Cascadia Mono"/>
              </a:rPr>
              <a:t>// Define the structure for a BST node</a:t>
            </a:r>
            <a:endParaRPr lang="en-US" sz="1600">
              <a:solidFill>
                <a:srgbClr val="000000"/>
              </a:solidFill>
              <a:highlight>
                <a:srgbClr val="FFFFFF"/>
              </a:highlight>
              <a:latin typeface="Cascadia Mono"/>
            </a:endParaRPr>
          </a:p>
          <a:p>
            <a:pPr>
              <a:defRPr/>
            </a:pPr>
            <a:r>
              <a:rPr lang="en-IN" sz="1600">
                <a:solidFill>
                  <a:srgbClr val="0000FF"/>
                </a:solidFill>
                <a:highlight>
                  <a:srgbClr val="FFFFFF"/>
                </a:highlight>
                <a:latin typeface="Cascadia Mono"/>
              </a:rPr>
              <a:t>struct</a:t>
            </a:r>
            <a:r>
              <a:rPr lang="en-IN" sz="1600">
                <a:solidFill>
                  <a:srgbClr val="000000"/>
                </a:solidFill>
                <a:highlight>
                  <a:srgbClr val="FFFFFF"/>
                </a:highlight>
                <a:latin typeface="Cascadia Mono"/>
              </a:rPr>
              <a:t> </a:t>
            </a:r>
            <a:r>
              <a:rPr lang="en-IN" sz="1600">
                <a:solidFill>
                  <a:srgbClr val="2B91AF"/>
                </a:solidFill>
                <a:highlight>
                  <a:srgbClr val="FFFFFF"/>
                </a:highlight>
                <a:latin typeface="Cascadia Mono"/>
              </a:rPr>
              <a:t>Node</a:t>
            </a:r>
            <a:endParaRPr lang="en-IN" sz="1600">
              <a:solidFill>
                <a:srgbClr val="000000"/>
              </a:solidFill>
              <a:highlight>
                <a:srgbClr val="FFFFFF"/>
              </a:highlight>
              <a:latin typeface="Cascadia Mono"/>
            </a:endParaRPr>
          </a:p>
          <a:p>
            <a:pPr>
              <a:defRPr/>
            </a:pPr>
            <a:r>
              <a:rPr lang="en-IN" sz="1600">
                <a:solidFill>
                  <a:srgbClr val="000000"/>
                </a:solidFill>
                <a:highlight>
                  <a:srgbClr val="FFFFFF"/>
                </a:highlight>
                <a:latin typeface="Cascadia Mono"/>
              </a:rPr>
              <a:t>{</a:t>
            </a:r>
            <a:endParaRPr/>
          </a:p>
          <a:p>
            <a:pPr>
              <a:defRPr/>
            </a:pPr>
            <a:r>
              <a:rPr lang="en-IN" sz="1600">
                <a:solidFill>
                  <a:srgbClr val="000000"/>
                </a:solidFill>
                <a:highlight>
                  <a:srgbClr val="FFFFFF"/>
                </a:highlight>
                <a:latin typeface="Cascadia Mono"/>
              </a:rPr>
              <a:t>    </a:t>
            </a:r>
            <a:r>
              <a:rPr lang="en-IN" sz="1600">
                <a:solidFill>
                  <a:srgbClr val="0000FF"/>
                </a:solidFill>
                <a:highlight>
                  <a:srgbClr val="FFFFFF"/>
                </a:highlight>
                <a:latin typeface="Cascadia Mono"/>
              </a:rPr>
              <a:t>int</a:t>
            </a:r>
            <a:r>
              <a:rPr lang="en-IN" sz="1600">
                <a:solidFill>
                  <a:srgbClr val="000000"/>
                </a:solidFill>
                <a:highlight>
                  <a:srgbClr val="FFFFFF"/>
                </a:highlight>
                <a:latin typeface="Cascadia Mono"/>
              </a:rPr>
              <a:t> key;</a:t>
            </a:r>
            <a:endParaRPr/>
          </a:p>
          <a:p>
            <a:pPr>
              <a:defRPr/>
            </a:pPr>
            <a:r>
              <a:rPr lang="en-IN" sz="1600">
                <a:solidFill>
                  <a:srgbClr val="000000"/>
                </a:solidFill>
                <a:highlight>
                  <a:srgbClr val="FFFFFF"/>
                </a:highlight>
                <a:latin typeface="Cascadia Mono"/>
              </a:rPr>
              <a:t>    </a:t>
            </a:r>
            <a:r>
              <a:rPr lang="en-IN" sz="1600">
                <a:solidFill>
                  <a:srgbClr val="0000FF"/>
                </a:solidFill>
                <a:highlight>
                  <a:srgbClr val="FFFFFF"/>
                </a:highlight>
                <a:latin typeface="Cascadia Mono"/>
              </a:rPr>
              <a:t>struct</a:t>
            </a:r>
            <a:r>
              <a:rPr lang="en-IN" sz="1600">
                <a:solidFill>
                  <a:srgbClr val="000000"/>
                </a:solidFill>
                <a:highlight>
                  <a:srgbClr val="FFFFFF"/>
                </a:highlight>
                <a:latin typeface="Cascadia Mono"/>
              </a:rPr>
              <a:t> </a:t>
            </a:r>
            <a:r>
              <a:rPr lang="en-IN" sz="1600">
                <a:solidFill>
                  <a:srgbClr val="2B91AF"/>
                </a:solidFill>
                <a:highlight>
                  <a:srgbClr val="FFFFFF"/>
                </a:highlight>
                <a:latin typeface="Cascadia Mono"/>
              </a:rPr>
              <a:t>Node</a:t>
            </a:r>
            <a:r>
              <a:rPr lang="en-IN" sz="1600">
                <a:solidFill>
                  <a:srgbClr val="000000"/>
                </a:solidFill>
                <a:highlight>
                  <a:srgbClr val="FFFFFF"/>
                </a:highlight>
                <a:latin typeface="Cascadia Mono"/>
              </a:rPr>
              <a:t>* left;</a:t>
            </a:r>
            <a:endParaRPr/>
          </a:p>
          <a:p>
            <a:pPr>
              <a:defRPr/>
            </a:pPr>
            <a:r>
              <a:rPr lang="en-IN" sz="1600">
                <a:solidFill>
                  <a:srgbClr val="000000"/>
                </a:solidFill>
                <a:highlight>
                  <a:srgbClr val="FFFFFF"/>
                </a:highlight>
                <a:latin typeface="Cascadia Mono"/>
              </a:rPr>
              <a:t>    </a:t>
            </a:r>
            <a:r>
              <a:rPr lang="en-IN" sz="1600">
                <a:solidFill>
                  <a:srgbClr val="0000FF"/>
                </a:solidFill>
                <a:highlight>
                  <a:srgbClr val="FFFFFF"/>
                </a:highlight>
                <a:latin typeface="Cascadia Mono"/>
              </a:rPr>
              <a:t>struct</a:t>
            </a:r>
            <a:r>
              <a:rPr lang="en-IN" sz="1600">
                <a:solidFill>
                  <a:srgbClr val="000000"/>
                </a:solidFill>
                <a:highlight>
                  <a:srgbClr val="FFFFFF"/>
                </a:highlight>
                <a:latin typeface="Cascadia Mono"/>
              </a:rPr>
              <a:t> </a:t>
            </a:r>
            <a:r>
              <a:rPr lang="en-IN" sz="1600">
                <a:solidFill>
                  <a:srgbClr val="2B91AF"/>
                </a:solidFill>
                <a:highlight>
                  <a:srgbClr val="FFFFFF"/>
                </a:highlight>
                <a:latin typeface="Cascadia Mono"/>
              </a:rPr>
              <a:t>Node</a:t>
            </a:r>
            <a:r>
              <a:rPr lang="en-IN" sz="1600">
                <a:solidFill>
                  <a:srgbClr val="000000"/>
                </a:solidFill>
                <a:highlight>
                  <a:srgbClr val="FFFFFF"/>
                </a:highlight>
                <a:latin typeface="Cascadia Mono"/>
              </a:rPr>
              <a:t>* right;</a:t>
            </a:r>
            <a:endParaRPr/>
          </a:p>
          <a:p>
            <a:pPr>
              <a:defRPr/>
            </a:pPr>
            <a:r>
              <a:rPr lang="en-IN" sz="1600">
                <a:solidFill>
                  <a:srgbClr val="000000"/>
                </a:solidFill>
                <a:highlight>
                  <a:srgbClr val="FFFFFF"/>
                </a:highlight>
                <a:latin typeface="Cascadia Mono"/>
              </a:rPr>
              <a:t>};</a:t>
            </a:r>
            <a:endParaRPr lang="en-IN" sz="1600"/>
          </a:p>
        </p:txBody>
      </p:sp>
      <p:sp>
        <p:nvSpPr>
          <p:cNvPr id="203183598" name="Rectangle 6"/>
          <p:cNvSpPr/>
          <p:nvPr/>
        </p:nvSpPr>
        <p:spPr bwMode="auto">
          <a:xfrm>
            <a:off x="242170" y="3596529"/>
            <a:ext cx="4968657" cy="2062103"/>
          </a:xfrm>
          <a:prstGeom prst="rect">
            <a:avLst/>
          </a:prstGeom>
        </p:spPr>
        <p:txBody>
          <a:bodyPr wrap="square">
            <a:spAutoFit/>
          </a:bodyPr>
          <a:lstStyle/>
          <a:p>
            <a:pPr>
              <a:defRPr/>
            </a:pPr>
            <a:r>
              <a:rPr lang="en-US" sz="1600">
                <a:solidFill>
                  <a:srgbClr val="008000"/>
                </a:solidFill>
                <a:highlight>
                  <a:srgbClr val="FFFFFF"/>
                </a:highlight>
                <a:latin typeface="Cascadia Mono"/>
              </a:rPr>
              <a:t>// Function to create a new BST node</a:t>
            </a:r>
            <a:endParaRPr lang="en-US" sz="1600">
              <a:solidFill>
                <a:srgbClr val="000000"/>
              </a:solidFill>
              <a:highlight>
                <a:srgbClr val="FFFFFF"/>
              </a:highlight>
              <a:latin typeface="Cascadia Mono"/>
            </a:endParaRPr>
          </a:p>
          <a:p>
            <a:pPr>
              <a:defRPr/>
            </a:pPr>
            <a:r>
              <a:rPr lang="en-IN" sz="1600">
                <a:solidFill>
                  <a:srgbClr val="0000FF"/>
                </a:solidFill>
                <a:highlight>
                  <a:srgbClr val="FFFFFF"/>
                </a:highlight>
                <a:latin typeface="Cascadia Mono"/>
              </a:rPr>
              <a:t>struct</a:t>
            </a:r>
            <a:r>
              <a:rPr lang="en-IN" sz="1600">
                <a:solidFill>
                  <a:srgbClr val="000000"/>
                </a:solidFill>
                <a:highlight>
                  <a:srgbClr val="FFFFFF"/>
                </a:highlight>
                <a:latin typeface="Cascadia Mono"/>
              </a:rPr>
              <a:t> </a:t>
            </a:r>
            <a:r>
              <a:rPr lang="en-IN" sz="1600">
                <a:solidFill>
                  <a:srgbClr val="2B91AF"/>
                </a:solidFill>
                <a:highlight>
                  <a:srgbClr val="FFFFFF"/>
                </a:highlight>
                <a:latin typeface="Cascadia Mono"/>
              </a:rPr>
              <a:t>Node</a:t>
            </a:r>
            <a:r>
              <a:rPr lang="en-IN" sz="1600">
                <a:solidFill>
                  <a:srgbClr val="000000"/>
                </a:solidFill>
                <a:highlight>
                  <a:srgbClr val="FFFFFF"/>
                </a:highlight>
                <a:latin typeface="Cascadia Mono"/>
              </a:rPr>
              <a:t>*</a:t>
            </a:r>
            <a:r>
              <a:rPr lang="en-IN" sz="1600">
                <a:solidFill>
                  <a:srgbClr val="000000"/>
                </a:solidFill>
                <a:highlight>
                  <a:srgbClr val="FFFFFF"/>
                </a:highlight>
                <a:latin typeface="Cascadia Mono"/>
              </a:rPr>
              <a:t>newNode</a:t>
            </a:r>
            <a:r>
              <a:rPr lang="en-IN" sz="1600">
                <a:solidFill>
                  <a:srgbClr val="000000"/>
                </a:solidFill>
                <a:highlight>
                  <a:srgbClr val="FFFFFF"/>
                </a:highlight>
                <a:latin typeface="Cascadia Mono"/>
              </a:rPr>
              <a:t>(</a:t>
            </a:r>
            <a:r>
              <a:rPr lang="en-IN" sz="1600">
                <a:solidFill>
                  <a:srgbClr val="0000FF"/>
                </a:solidFill>
                <a:highlight>
                  <a:srgbClr val="FFFFFF"/>
                </a:highlight>
                <a:latin typeface="Cascadia Mono"/>
              </a:rPr>
              <a:t>int</a:t>
            </a:r>
            <a:r>
              <a:rPr lang="en-IN" sz="1600">
                <a:solidFill>
                  <a:srgbClr val="000000"/>
                </a:solidFill>
                <a:highlight>
                  <a:srgbClr val="FFFFFF"/>
                </a:highlight>
                <a:latin typeface="Cascadia Mono"/>
              </a:rPr>
              <a:t> item) {</a:t>
            </a:r>
            <a:endParaRPr/>
          </a:p>
          <a:p>
            <a:pPr>
              <a:defRPr/>
            </a:pPr>
            <a:r>
              <a:rPr lang="en-IN" sz="1600">
                <a:solidFill>
                  <a:srgbClr val="0000FF"/>
                </a:solidFill>
                <a:highlight>
                  <a:srgbClr val="FFFFFF"/>
                </a:highlight>
                <a:latin typeface="Cascadia Mono"/>
              </a:rPr>
              <a:t>struct</a:t>
            </a:r>
            <a:r>
              <a:rPr lang="en-IN" sz="1600">
                <a:solidFill>
                  <a:srgbClr val="000000"/>
                </a:solidFill>
                <a:highlight>
                  <a:srgbClr val="FFFFFF"/>
                </a:highlight>
                <a:latin typeface="Cascadia Mono"/>
              </a:rPr>
              <a:t> </a:t>
            </a:r>
            <a:r>
              <a:rPr lang="en-IN" sz="1600">
                <a:solidFill>
                  <a:srgbClr val="2B91AF"/>
                </a:solidFill>
                <a:highlight>
                  <a:srgbClr val="FFFFFF"/>
                </a:highlight>
                <a:latin typeface="Cascadia Mono"/>
              </a:rPr>
              <a:t>Node</a:t>
            </a:r>
            <a:r>
              <a:rPr lang="en-IN" sz="1600">
                <a:solidFill>
                  <a:srgbClr val="000000"/>
                </a:solidFill>
                <a:highlight>
                  <a:srgbClr val="FFFFFF"/>
                </a:highlight>
                <a:latin typeface="Cascadia Mono"/>
              </a:rPr>
              <a:t> *temp </a:t>
            </a:r>
            <a:r>
              <a:rPr lang="en-IN" sz="1600">
                <a:solidFill>
                  <a:srgbClr val="000000"/>
                </a:solidFill>
                <a:highlight>
                  <a:srgbClr val="FFFFFF"/>
                </a:highlight>
                <a:latin typeface="Cascadia Mono"/>
              </a:rPr>
              <a:t>=  </a:t>
            </a:r>
            <a:r>
              <a:rPr lang="en-IN" sz="1600">
                <a:solidFill>
                  <a:srgbClr val="000000"/>
                </a:solidFill>
                <a:highlight>
                  <a:srgbClr val="FFFFFF"/>
                </a:highlight>
                <a:latin typeface="Cascadia Mono"/>
              </a:rPr>
              <a:t>(</a:t>
            </a:r>
            <a:r>
              <a:rPr lang="en-IN" sz="1600">
                <a:solidFill>
                  <a:srgbClr val="0000FF"/>
                </a:solidFill>
                <a:highlight>
                  <a:srgbClr val="FFFFFF"/>
                </a:highlight>
                <a:latin typeface="Cascadia Mono"/>
              </a:rPr>
              <a:t>struct</a:t>
            </a:r>
            <a:r>
              <a:rPr lang="en-IN" sz="1600">
                <a:solidFill>
                  <a:srgbClr val="000000"/>
                </a:solidFill>
                <a:highlight>
                  <a:srgbClr val="FFFFFF"/>
                </a:highlight>
                <a:latin typeface="Cascadia Mono"/>
              </a:rPr>
              <a:t> </a:t>
            </a:r>
            <a:r>
              <a:rPr lang="en-IN" sz="1600">
                <a:solidFill>
                  <a:srgbClr val="2B91AF"/>
                </a:solidFill>
                <a:highlight>
                  <a:srgbClr val="FFFFFF"/>
                </a:highlight>
                <a:latin typeface="Cascadia Mono"/>
              </a:rPr>
              <a:t>Node</a:t>
            </a:r>
            <a:r>
              <a:rPr lang="en-IN" sz="1600">
                <a:solidFill>
                  <a:srgbClr val="000000"/>
                </a:solidFill>
                <a:highlight>
                  <a:srgbClr val="FFFFFF"/>
                </a:highlight>
                <a:latin typeface="Cascadia Mono"/>
              </a:rPr>
              <a:t> </a:t>
            </a:r>
            <a:r>
              <a:rPr lang="en-IN" sz="1600">
                <a:solidFill>
                  <a:srgbClr val="000000"/>
                </a:solidFill>
                <a:highlight>
                  <a:srgbClr val="FFFFFF"/>
                </a:highlight>
                <a:latin typeface="Cascadia Mono"/>
              </a:rPr>
              <a:t>*)</a:t>
            </a:r>
            <a:endParaRPr/>
          </a:p>
          <a:p>
            <a:pPr>
              <a:defRPr/>
            </a:pPr>
            <a:r>
              <a:rPr lang="en-IN" sz="1600">
                <a:solidFill>
                  <a:srgbClr val="000000"/>
                </a:solidFill>
                <a:highlight>
                  <a:srgbClr val="FFFFFF"/>
                </a:highlight>
                <a:latin typeface="Cascadia Mono"/>
              </a:rPr>
              <a:t> </a:t>
            </a:r>
            <a:r>
              <a:rPr lang="en-IN" sz="1600">
                <a:solidFill>
                  <a:srgbClr val="000000"/>
                </a:solidFill>
                <a:highlight>
                  <a:srgbClr val="FFFFFF"/>
                </a:highlight>
                <a:latin typeface="Cascadia Mono"/>
              </a:rPr>
              <a:t>           </a:t>
            </a:r>
            <a:r>
              <a:rPr lang="en-IN" sz="1600">
                <a:solidFill>
                  <a:srgbClr val="000000"/>
                </a:solidFill>
                <a:highlight>
                  <a:srgbClr val="FFFFFF"/>
                </a:highlight>
                <a:latin typeface="Cascadia Mono"/>
              </a:rPr>
              <a:t>malloc</a:t>
            </a:r>
            <a:r>
              <a:rPr lang="en-IN" sz="1600">
                <a:solidFill>
                  <a:srgbClr val="000000"/>
                </a:solidFill>
                <a:highlight>
                  <a:srgbClr val="FFFFFF"/>
                </a:highlight>
                <a:latin typeface="Cascadia Mono"/>
              </a:rPr>
              <a:t>(</a:t>
            </a:r>
            <a:r>
              <a:rPr lang="en-IN" sz="1600">
                <a:solidFill>
                  <a:srgbClr val="0000FF"/>
                </a:solidFill>
                <a:highlight>
                  <a:srgbClr val="FFFFFF"/>
                </a:highlight>
                <a:latin typeface="Cascadia Mono"/>
              </a:rPr>
              <a:t>sizeof</a:t>
            </a:r>
            <a:r>
              <a:rPr lang="en-IN" sz="1600">
                <a:solidFill>
                  <a:srgbClr val="000000"/>
                </a:solidFill>
                <a:highlight>
                  <a:srgbClr val="FFFFFF"/>
                </a:highlight>
                <a:latin typeface="Cascadia Mono"/>
              </a:rPr>
              <a:t>(</a:t>
            </a:r>
            <a:r>
              <a:rPr lang="en-IN" sz="1600">
                <a:solidFill>
                  <a:srgbClr val="0000FF"/>
                </a:solidFill>
                <a:highlight>
                  <a:srgbClr val="FFFFFF"/>
                </a:highlight>
                <a:latin typeface="Cascadia Mono"/>
              </a:rPr>
              <a:t>struct</a:t>
            </a:r>
            <a:r>
              <a:rPr lang="en-IN" sz="1600">
                <a:solidFill>
                  <a:srgbClr val="000000"/>
                </a:solidFill>
                <a:highlight>
                  <a:srgbClr val="FFFFFF"/>
                </a:highlight>
                <a:latin typeface="Cascadia Mono"/>
              </a:rPr>
              <a:t> </a:t>
            </a:r>
            <a:r>
              <a:rPr lang="en-IN" sz="1600">
                <a:solidFill>
                  <a:srgbClr val="2B91AF"/>
                </a:solidFill>
                <a:highlight>
                  <a:srgbClr val="FFFFFF"/>
                </a:highlight>
                <a:latin typeface="Cascadia Mono"/>
              </a:rPr>
              <a:t>Node</a:t>
            </a:r>
            <a:r>
              <a:rPr lang="en-IN" sz="1600">
                <a:solidFill>
                  <a:srgbClr val="000000"/>
                </a:solidFill>
                <a:highlight>
                  <a:srgbClr val="FFFFFF"/>
                </a:highlight>
                <a:latin typeface="Cascadia Mono"/>
              </a:rPr>
              <a:t>));</a:t>
            </a:r>
            <a:endParaRPr/>
          </a:p>
          <a:p>
            <a:pPr>
              <a:defRPr/>
            </a:pPr>
            <a:r>
              <a:rPr lang="en-IN" sz="1600">
                <a:solidFill>
                  <a:srgbClr val="000000"/>
                </a:solidFill>
                <a:highlight>
                  <a:srgbClr val="FFFFFF"/>
                </a:highlight>
                <a:latin typeface="Cascadia Mono"/>
              </a:rPr>
              <a:t>temp-&gt;key = item;</a:t>
            </a:r>
            <a:endParaRPr/>
          </a:p>
          <a:p>
            <a:pPr>
              <a:defRPr/>
            </a:pPr>
            <a:r>
              <a:rPr lang="en-US" sz="1600">
                <a:solidFill>
                  <a:srgbClr val="000000"/>
                </a:solidFill>
                <a:highlight>
                  <a:srgbClr val="FFFFFF"/>
                </a:highlight>
                <a:latin typeface="Cascadia Mono"/>
              </a:rPr>
              <a:t>temp-&gt;left = temp-&gt;right = NULL;</a:t>
            </a:r>
            <a:endParaRPr/>
          </a:p>
          <a:p>
            <a:pPr>
              <a:defRPr/>
            </a:pPr>
            <a:r>
              <a:rPr lang="en-IN" sz="1600">
                <a:solidFill>
                  <a:srgbClr val="0000FF"/>
                </a:solidFill>
                <a:highlight>
                  <a:srgbClr val="FFFFFF"/>
                </a:highlight>
                <a:latin typeface="Cascadia Mono"/>
              </a:rPr>
              <a:t>return</a:t>
            </a:r>
            <a:r>
              <a:rPr lang="en-IN" sz="1600">
                <a:solidFill>
                  <a:srgbClr val="000000"/>
                </a:solidFill>
                <a:highlight>
                  <a:srgbClr val="FFFFFF"/>
                </a:highlight>
                <a:latin typeface="Cascadia Mono"/>
              </a:rPr>
              <a:t> temp;</a:t>
            </a:r>
            <a:endParaRPr/>
          </a:p>
          <a:p>
            <a:pPr>
              <a:defRPr/>
            </a:pPr>
            <a:r>
              <a:rPr lang="en-IN" sz="1600">
                <a:solidFill>
                  <a:srgbClr val="000000"/>
                </a:solidFill>
                <a:highlight>
                  <a:srgbClr val="FFFFFF"/>
                </a:highlight>
                <a:latin typeface="Cascadia Mono"/>
              </a:rPr>
              <a:t>}</a:t>
            </a:r>
            <a:endParaRPr lang="en-IN" sz="1600"/>
          </a:p>
        </p:txBody>
      </p:sp>
      <p:cxnSp>
        <p:nvCxnSpPr>
          <p:cNvPr id="1949941563" name="Straight Connector 9"/>
          <p:cNvCxnSpPr/>
          <p:nvPr/>
        </p:nvCxnSpPr>
        <p:spPr bwMode="auto">
          <a:xfrm>
            <a:off x="5235879" y="764024"/>
            <a:ext cx="0" cy="584775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768844651" name="Title 1"/>
          <p:cNvSpPr>
            <a:spLocks noGrp="1"/>
          </p:cNvSpPr>
          <p:nvPr>
            <p:ph type="title"/>
          </p:nvPr>
        </p:nvSpPr>
        <p:spPr bwMode="auto"/>
        <p:txBody>
          <a:bodyPr/>
          <a:lstStyle/>
          <a:p>
            <a:pPr>
              <a:defRPr/>
            </a:pPr>
            <a:r>
              <a:rPr lang="en-US"/>
              <a:t>C code to Search record in BST</a:t>
            </a:r>
            <a:endParaRPr lang="en-IN"/>
          </a:p>
        </p:txBody>
      </p:sp>
      <p:sp>
        <p:nvSpPr>
          <p:cNvPr id="217746657" name="Rectangle 4"/>
          <p:cNvSpPr/>
          <p:nvPr/>
        </p:nvSpPr>
        <p:spPr bwMode="auto">
          <a:xfrm>
            <a:off x="392481" y="916119"/>
            <a:ext cx="6747354" cy="4524315"/>
          </a:xfrm>
          <a:prstGeom prst="rect">
            <a:avLst/>
          </a:prstGeom>
        </p:spPr>
        <p:txBody>
          <a:bodyPr wrap="square">
            <a:spAutoFit/>
          </a:bodyPr>
          <a:lstStyle/>
          <a:p>
            <a:pPr>
              <a:defRPr/>
            </a:pPr>
            <a:r>
              <a:rPr lang="en-IN">
                <a:solidFill>
                  <a:srgbClr val="008000"/>
                </a:solidFill>
                <a:highlight>
                  <a:srgbClr val="FFFFFF"/>
                </a:highlight>
                <a:latin typeface="Cascadia Mono"/>
              </a:rPr>
              <a:t>//</a:t>
            </a:r>
            <a:r>
              <a:rPr lang="en-IN">
                <a:highlight>
                  <a:srgbClr val="FFFFFF"/>
                </a:highlight>
              </a:rPr>
              <a:t> </a:t>
            </a:r>
            <a:r>
              <a:rPr lang="en-US">
                <a:solidFill>
                  <a:srgbClr val="008000"/>
                </a:solidFill>
                <a:highlight>
                  <a:srgbClr val="FFFFFF"/>
                </a:highlight>
                <a:latin typeface="Cascadia Mono"/>
              </a:rPr>
              <a:t>function </a:t>
            </a:r>
            <a:r>
              <a:rPr lang="en-US">
                <a:solidFill>
                  <a:srgbClr val="008000"/>
                </a:solidFill>
                <a:highlight>
                  <a:srgbClr val="FFFFFF"/>
                </a:highlight>
                <a:latin typeface="Cascadia Mono"/>
              </a:rPr>
              <a:t>to search a key in a BST</a:t>
            </a:r>
            <a:endParaRPr lang="en-US">
              <a:solidFill>
                <a:srgbClr val="000000"/>
              </a:solidFill>
              <a:highlight>
                <a:srgbClr val="FFFFFF"/>
              </a:highlight>
              <a:latin typeface="Cascadia Mono"/>
            </a:endParaRPr>
          </a:p>
          <a:p>
            <a:pPr>
              <a:defRPr/>
            </a:pPr>
            <a:r>
              <a:rPr lang="en-US">
                <a:solidFill>
                  <a:srgbClr val="0000FF"/>
                </a:solidFill>
                <a:highlight>
                  <a:srgbClr val="FFFFFF"/>
                </a:highlight>
                <a:latin typeface="Cascadia Mono"/>
              </a:rPr>
              <a:t>struct</a:t>
            </a:r>
            <a:r>
              <a:rPr lang="en-US">
                <a:solidFill>
                  <a:srgbClr val="000000"/>
                </a:solidFill>
                <a:highlight>
                  <a:srgbClr val="FFFFFF"/>
                </a:highlight>
                <a:latin typeface="Cascadia Mono"/>
              </a:rPr>
              <a:t> </a:t>
            </a:r>
            <a:r>
              <a:rPr lang="en-US">
                <a:solidFill>
                  <a:srgbClr val="2B91AF"/>
                </a:solidFill>
                <a:highlight>
                  <a:srgbClr val="FFFFFF"/>
                </a:highlight>
                <a:latin typeface="Cascadia Mono"/>
              </a:rPr>
              <a:t>Node</a:t>
            </a:r>
            <a:r>
              <a:rPr lang="en-US">
                <a:solidFill>
                  <a:srgbClr val="000000"/>
                </a:solidFill>
                <a:highlight>
                  <a:srgbClr val="FFFFFF"/>
                </a:highlight>
                <a:latin typeface="Cascadia Mono"/>
              </a:rPr>
              <a:t>*search(</a:t>
            </a:r>
            <a:r>
              <a:rPr lang="en-US">
                <a:solidFill>
                  <a:srgbClr val="0000FF"/>
                </a:solidFill>
                <a:highlight>
                  <a:srgbClr val="FFFFFF"/>
                </a:highlight>
                <a:latin typeface="Cascadia Mono"/>
              </a:rPr>
              <a:t>struct</a:t>
            </a:r>
            <a:r>
              <a:rPr lang="en-US">
                <a:solidFill>
                  <a:srgbClr val="000000"/>
                </a:solidFill>
                <a:highlight>
                  <a:srgbClr val="FFFFFF"/>
                </a:highlight>
                <a:latin typeface="Cascadia Mono"/>
              </a:rPr>
              <a:t> </a:t>
            </a:r>
            <a:r>
              <a:rPr lang="en-US">
                <a:solidFill>
                  <a:srgbClr val="2B91AF"/>
                </a:solidFill>
                <a:highlight>
                  <a:srgbClr val="FFFFFF"/>
                </a:highlight>
                <a:latin typeface="Cascadia Mono"/>
              </a:rPr>
              <a:t>Node</a:t>
            </a:r>
            <a:r>
              <a:rPr lang="en-US">
                <a:solidFill>
                  <a:srgbClr val="000000"/>
                </a:solidFill>
                <a:highlight>
                  <a:srgbClr val="FFFFFF"/>
                </a:highlight>
                <a:latin typeface="Cascadia Mono"/>
              </a:rPr>
              <a:t>*root, </a:t>
            </a:r>
            <a:r>
              <a:rPr lang="en-US">
                <a:solidFill>
                  <a:srgbClr val="0000FF"/>
                </a:solidFill>
                <a:highlight>
                  <a:srgbClr val="FFFFFF"/>
                </a:highlight>
                <a:latin typeface="Cascadia Mono"/>
              </a:rPr>
              <a:t>int</a:t>
            </a:r>
            <a:r>
              <a:rPr lang="en-US">
                <a:solidFill>
                  <a:srgbClr val="000000"/>
                </a:solidFill>
                <a:highlight>
                  <a:srgbClr val="FFFFFF"/>
                </a:highlight>
                <a:latin typeface="Cascadia Mono"/>
              </a:rPr>
              <a:t> key)</a:t>
            </a:r>
            <a:endParaRPr/>
          </a:p>
          <a:p>
            <a:pPr>
              <a:defRPr/>
            </a:pPr>
            <a:r>
              <a:rPr lang="en-IN">
                <a:solidFill>
                  <a:srgbClr val="000000"/>
                </a:solidFill>
                <a:highlight>
                  <a:srgbClr val="FFFFFF"/>
                </a:highlight>
                <a:latin typeface="Cascadia Mono"/>
              </a:rPr>
              <a:t>{</a:t>
            </a:r>
            <a:endParaRPr/>
          </a:p>
          <a:p>
            <a:pPr>
              <a:defRPr/>
            </a:pPr>
            <a:endParaRPr lang="en-IN">
              <a:solidFill>
                <a:srgbClr val="000000"/>
              </a:solidFill>
              <a:highlight>
                <a:srgbClr val="FFFFFF"/>
              </a:highlight>
              <a:latin typeface="Cascadia Mono"/>
            </a:endParaRPr>
          </a:p>
          <a:p>
            <a:pPr>
              <a:defRPr/>
            </a:pPr>
            <a:r>
              <a:rPr lang="en-US">
                <a:solidFill>
                  <a:srgbClr val="000000"/>
                </a:solidFill>
                <a:highlight>
                  <a:srgbClr val="FFFFFF"/>
                </a:highlight>
                <a:latin typeface="Cascadia Mono"/>
              </a:rPr>
              <a:t>    </a:t>
            </a:r>
            <a:r>
              <a:rPr lang="en-US">
                <a:solidFill>
                  <a:srgbClr val="008000"/>
                </a:solidFill>
                <a:highlight>
                  <a:srgbClr val="FFFFFF"/>
                </a:highlight>
                <a:latin typeface="Cascadia Mono"/>
              </a:rPr>
              <a:t>// Base Cases: root is null or key is</a:t>
            </a:r>
            <a:endParaRPr lang="en-US">
              <a:solidFill>
                <a:srgbClr val="000000"/>
              </a:solidFill>
              <a:highlight>
                <a:srgbClr val="FFFFFF"/>
              </a:highlight>
              <a:latin typeface="Cascadia Mono"/>
            </a:endParaRPr>
          </a:p>
          <a:p>
            <a:pPr>
              <a:defRPr/>
            </a:pPr>
            <a:r>
              <a:rPr lang="en-IN">
                <a:solidFill>
                  <a:srgbClr val="000000"/>
                </a:solidFill>
                <a:highlight>
                  <a:srgbClr val="FFFFFF"/>
                </a:highlight>
                <a:latin typeface="Cascadia Mono"/>
              </a:rPr>
              <a:t>    </a:t>
            </a:r>
            <a:r>
              <a:rPr lang="en-IN">
                <a:solidFill>
                  <a:srgbClr val="008000"/>
                </a:solidFill>
                <a:highlight>
                  <a:srgbClr val="FFFFFF"/>
                </a:highlight>
                <a:latin typeface="Cascadia Mono"/>
              </a:rPr>
              <a:t>// present at root</a:t>
            </a:r>
            <a:endParaRPr lang="en-IN">
              <a:solidFill>
                <a:srgbClr val="000000"/>
              </a:solidFill>
              <a:highlight>
                <a:srgbClr val="FFFFFF"/>
              </a:highlight>
              <a:latin typeface="Cascadia Mono"/>
            </a:endParaRPr>
          </a:p>
          <a:p>
            <a:pPr>
              <a:defRPr/>
            </a:pPr>
            <a:r>
              <a:rPr lang="en-US">
                <a:solidFill>
                  <a:srgbClr val="000000"/>
                </a:solidFill>
                <a:highlight>
                  <a:srgbClr val="FFFFFF"/>
                </a:highlight>
                <a:latin typeface="Cascadia Mono"/>
              </a:rPr>
              <a:t>    </a:t>
            </a:r>
            <a:r>
              <a:rPr lang="en-US">
                <a:solidFill>
                  <a:srgbClr val="0000FF"/>
                </a:solidFill>
                <a:highlight>
                  <a:srgbClr val="FFFFFF"/>
                </a:highlight>
                <a:latin typeface="Cascadia Mono"/>
              </a:rPr>
              <a:t>if</a:t>
            </a:r>
            <a:r>
              <a:rPr lang="en-US">
                <a:solidFill>
                  <a:srgbClr val="000000"/>
                </a:solidFill>
                <a:highlight>
                  <a:srgbClr val="FFFFFF"/>
                </a:highlight>
                <a:latin typeface="Cascadia Mono"/>
              </a:rPr>
              <a:t> (root == NULL || root-&gt;key == key)</a:t>
            </a:r>
            <a:endParaRPr/>
          </a:p>
          <a:p>
            <a:pPr>
              <a:defRPr/>
            </a:pPr>
            <a:r>
              <a:rPr lang="en-IN">
                <a:solidFill>
                  <a:srgbClr val="000000"/>
                </a:solidFill>
                <a:highlight>
                  <a:srgbClr val="FFFFFF"/>
                </a:highlight>
                <a:latin typeface="Cascadia Mono"/>
              </a:rPr>
              <a:t>        </a:t>
            </a:r>
            <a:r>
              <a:rPr lang="en-IN">
                <a:solidFill>
                  <a:srgbClr val="0000FF"/>
                </a:solidFill>
                <a:highlight>
                  <a:srgbClr val="FFFFFF"/>
                </a:highlight>
                <a:latin typeface="Cascadia Mono"/>
              </a:rPr>
              <a:t>return</a:t>
            </a:r>
            <a:r>
              <a:rPr lang="en-IN">
                <a:solidFill>
                  <a:srgbClr val="000000"/>
                </a:solidFill>
                <a:highlight>
                  <a:srgbClr val="FFFFFF"/>
                </a:highlight>
                <a:latin typeface="Cascadia Mono"/>
              </a:rPr>
              <a:t> root;</a:t>
            </a:r>
            <a:endParaRPr/>
          </a:p>
          <a:p>
            <a:pPr>
              <a:defRPr/>
            </a:pPr>
            <a:endParaRPr lang="en-IN">
              <a:solidFill>
                <a:srgbClr val="000000"/>
              </a:solidFill>
              <a:highlight>
                <a:srgbClr val="FFFFFF"/>
              </a:highlight>
              <a:latin typeface="Cascadia Mono"/>
            </a:endParaRPr>
          </a:p>
          <a:p>
            <a:pPr lvl="1">
              <a:defRPr/>
            </a:pPr>
            <a:r>
              <a:rPr lang="en-US">
                <a:solidFill>
                  <a:srgbClr val="008000"/>
                </a:solidFill>
                <a:highlight>
                  <a:srgbClr val="FFFFFF"/>
                </a:highlight>
                <a:latin typeface="Cascadia Mono"/>
              </a:rPr>
              <a:t>// </a:t>
            </a:r>
            <a:r>
              <a:rPr lang="en-US">
                <a:solidFill>
                  <a:srgbClr val="008000"/>
                </a:solidFill>
                <a:highlight>
                  <a:srgbClr val="FFFFFF"/>
                </a:highlight>
                <a:latin typeface="Cascadia Mono"/>
              </a:rPr>
              <a:t>Key is greater than root's key</a:t>
            </a:r>
            <a:endParaRPr lang="en-US">
              <a:solidFill>
                <a:srgbClr val="000000"/>
              </a:solidFill>
              <a:highlight>
                <a:srgbClr val="FFFFFF"/>
              </a:highlight>
              <a:latin typeface="Cascadia Mono"/>
            </a:endParaRPr>
          </a:p>
          <a:p>
            <a:pPr lvl="1">
              <a:defRPr/>
            </a:pPr>
            <a:r>
              <a:rPr lang="en-IN">
                <a:solidFill>
                  <a:srgbClr val="0000FF"/>
                </a:solidFill>
                <a:highlight>
                  <a:srgbClr val="FFFFFF"/>
                </a:highlight>
                <a:latin typeface="Cascadia Mono"/>
              </a:rPr>
              <a:t>if</a:t>
            </a:r>
            <a:r>
              <a:rPr lang="en-IN">
                <a:solidFill>
                  <a:srgbClr val="000000"/>
                </a:solidFill>
                <a:highlight>
                  <a:srgbClr val="FFFFFF"/>
                </a:highlight>
                <a:latin typeface="Cascadia Mono"/>
              </a:rPr>
              <a:t> (root-&gt;key &lt; key)</a:t>
            </a:r>
            <a:endParaRPr/>
          </a:p>
          <a:p>
            <a:pPr lvl="1">
              <a:defRPr/>
            </a:pPr>
            <a:r>
              <a:rPr lang="en-IN">
                <a:solidFill>
                  <a:srgbClr val="000000"/>
                </a:solidFill>
                <a:highlight>
                  <a:srgbClr val="FFFFFF"/>
                </a:highlight>
                <a:latin typeface="Cascadia Mono"/>
              </a:rPr>
              <a:t>    </a:t>
            </a:r>
            <a:r>
              <a:rPr lang="en-IN">
                <a:solidFill>
                  <a:srgbClr val="0000FF"/>
                </a:solidFill>
                <a:highlight>
                  <a:srgbClr val="FFFFFF"/>
                </a:highlight>
                <a:latin typeface="Cascadia Mono"/>
              </a:rPr>
              <a:t>return</a:t>
            </a:r>
            <a:r>
              <a:rPr lang="en-IN">
                <a:solidFill>
                  <a:srgbClr val="000000"/>
                </a:solidFill>
                <a:highlight>
                  <a:srgbClr val="FFFFFF"/>
                </a:highlight>
                <a:latin typeface="Cascadia Mono"/>
              </a:rPr>
              <a:t> search(root-&gt;right, key);</a:t>
            </a:r>
            <a:endParaRPr/>
          </a:p>
          <a:p>
            <a:pPr lvl="1">
              <a:defRPr/>
            </a:pPr>
            <a:endParaRPr lang="en-IN">
              <a:solidFill>
                <a:srgbClr val="000000"/>
              </a:solidFill>
              <a:highlight>
                <a:srgbClr val="FFFFFF"/>
              </a:highlight>
              <a:latin typeface="Cascadia Mono"/>
            </a:endParaRPr>
          </a:p>
          <a:p>
            <a:pPr lvl="1">
              <a:defRPr/>
            </a:pPr>
            <a:r>
              <a:rPr lang="en-US">
                <a:solidFill>
                  <a:srgbClr val="008000"/>
                </a:solidFill>
                <a:highlight>
                  <a:srgbClr val="FFFFFF"/>
                </a:highlight>
                <a:latin typeface="Cascadia Mono"/>
              </a:rPr>
              <a:t>// Key is smaller than root's key</a:t>
            </a:r>
            <a:endParaRPr lang="en-US">
              <a:solidFill>
                <a:srgbClr val="000000"/>
              </a:solidFill>
              <a:highlight>
                <a:srgbClr val="FFFFFF"/>
              </a:highlight>
              <a:latin typeface="Cascadia Mono"/>
            </a:endParaRPr>
          </a:p>
          <a:p>
            <a:pPr lvl="1">
              <a:defRPr/>
            </a:pPr>
            <a:r>
              <a:rPr lang="en-IN">
                <a:solidFill>
                  <a:srgbClr val="0000FF"/>
                </a:solidFill>
                <a:highlight>
                  <a:srgbClr val="FFFFFF"/>
                </a:highlight>
                <a:latin typeface="Cascadia Mono"/>
              </a:rPr>
              <a:t>return</a:t>
            </a:r>
            <a:r>
              <a:rPr lang="en-IN">
                <a:solidFill>
                  <a:srgbClr val="000000"/>
                </a:solidFill>
                <a:highlight>
                  <a:srgbClr val="FFFFFF"/>
                </a:highlight>
                <a:latin typeface="Cascadia Mono"/>
              </a:rPr>
              <a:t> search(root-&gt;left, key);</a:t>
            </a:r>
            <a:endParaRPr/>
          </a:p>
          <a:p>
            <a:pPr>
              <a:defRPr/>
            </a:pPr>
            <a:r>
              <a:rPr lang="en-IN">
                <a:solidFill>
                  <a:srgbClr val="000000"/>
                </a:solidFill>
                <a:highlight>
                  <a:srgbClr val="FFFFFF"/>
                </a:highlight>
                <a:latin typeface="Cascadia Mono"/>
              </a:rPr>
              <a:t>}</a:t>
            </a:r>
            <a:endParaRPr lang="en-IN"/>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496679047" name="Title 1"/>
          <p:cNvSpPr>
            <a:spLocks noGrp="1"/>
          </p:cNvSpPr>
          <p:nvPr>
            <p:ph type="title"/>
          </p:nvPr>
        </p:nvSpPr>
        <p:spPr bwMode="auto"/>
        <p:txBody>
          <a:bodyPr/>
          <a:lstStyle/>
          <a:p>
            <a:pPr>
              <a:defRPr/>
            </a:pPr>
            <a:r>
              <a:rPr lang="en-US"/>
              <a:t>Examples: Construct Binary Search Tree (BST)</a:t>
            </a:r>
            <a:endParaRPr/>
          </a:p>
        </p:txBody>
      </p:sp>
      <p:sp>
        <p:nvSpPr>
          <p:cNvPr id="1474271650" name="Content Placeholder 2"/>
          <p:cNvSpPr>
            <a:spLocks noGrp="1"/>
          </p:cNvSpPr>
          <p:nvPr>
            <p:ph idx="1"/>
          </p:nvPr>
        </p:nvSpPr>
        <p:spPr bwMode="auto">
          <a:xfrm>
            <a:off x="131181" y="863444"/>
            <a:ext cx="5355220" cy="5590565"/>
          </a:xfrm>
        </p:spPr>
        <p:txBody>
          <a:bodyPr/>
          <a:lstStyle/>
          <a:p>
            <a:pPr>
              <a:defRPr/>
            </a:pPr>
            <a:r>
              <a:rPr lang="en-US"/>
              <a:t>10,3,15,22,6,45,65,23,78,34,5</a:t>
            </a:r>
            <a:endParaRPr lang="en-US"/>
          </a:p>
          <a:p>
            <a:pPr>
              <a:defRPr/>
            </a:pPr>
            <a:r>
              <a:rPr lang="en-US"/>
              <a:t>50 </a:t>
            </a:r>
            <a:r>
              <a:rPr lang="en-US"/>
              <a:t>,25 ,75, 22,40,60,80,90,15,30</a:t>
            </a:r>
            <a:endParaRPr/>
          </a:p>
          <a:p>
            <a:pPr>
              <a:defRPr/>
            </a:pPr>
            <a:r>
              <a:rPr lang="en-US"/>
              <a:t>50</a:t>
            </a:r>
            <a:r>
              <a:rPr lang="en-US"/>
              <a:t>, 60, 25, 40, 30, 70, 35, 10, 55, 65, 5</a:t>
            </a:r>
            <a:endParaRPr/>
          </a:p>
          <a:p>
            <a:pPr>
              <a:defRPr/>
            </a:pPr>
            <a:r>
              <a:rPr lang="en-US"/>
              <a:t>45,56,39,12,34,78,54,67,10,32,89,81</a:t>
            </a:r>
            <a:endParaRPr lang="en-US"/>
          </a:p>
          <a:p>
            <a:pPr>
              <a:defRPr/>
            </a:pPr>
            <a:r>
              <a:rPr lang="en-US"/>
              <a:t>40,65,25,55,10,70,30,50,15,80,75</a:t>
            </a:r>
            <a:endParaRPr lang="en-US"/>
          </a:p>
          <a:p>
            <a:pPr>
              <a:defRPr/>
            </a:pPr>
            <a:r>
              <a:rPr lang="en-US"/>
              <a:t>8,3,11,5,9,12,13,4,6,20</a:t>
            </a:r>
            <a:endParaRPr lang="en-US"/>
          </a:p>
          <a:p>
            <a:pPr>
              <a:defRPr/>
            </a:pPr>
            <a:r>
              <a:rPr lang="en-US"/>
              <a:t>10,15,17,8,9,11,12,13,4,14,5</a:t>
            </a:r>
            <a:endParaRPr/>
          </a:p>
          <a:p>
            <a:pPr>
              <a:defRPr/>
            </a:pPr>
            <a:r>
              <a:rPr lang="en-US"/>
              <a:t>50</a:t>
            </a:r>
            <a:r>
              <a:rPr lang="en-US"/>
              <a:t>, 45, 100, 25, 49, 120, 105, 46, 90, 95 </a:t>
            </a:r>
            <a:endParaRPr lang="en-US"/>
          </a:p>
          <a:p>
            <a:pPr>
              <a:defRPr/>
            </a:pPr>
            <a:r>
              <a:rPr lang="en-US"/>
              <a:t>7,2,9,0,5,6,8,1</a:t>
            </a:r>
            <a:endParaRPr lang="en-US"/>
          </a:p>
          <a:p>
            <a:pPr>
              <a:defRPr/>
            </a:pPr>
            <a:r>
              <a:rPr lang="en-US"/>
              <a:t>7,39</a:t>
            </a:r>
            <a:r>
              <a:rPr lang="en-US"/>
              <a:t>,-2,0,3,42,20,5,40</a:t>
            </a:r>
            <a:endParaRPr/>
          </a:p>
          <a:p>
            <a:pPr>
              <a:defRPr/>
            </a:pPr>
            <a:endParaRPr lang="en-US"/>
          </a:p>
          <a:p>
            <a:pPr>
              <a:defRPr/>
            </a:pPr>
            <a:endParaRPr lang="en-US"/>
          </a:p>
        </p:txBody>
      </p:sp>
      <p:sp>
        <p:nvSpPr>
          <p:cNvPr id="1007157050" name="Content Placeholder 2"/>
          <p:cNvSpPr txBox="1"/>
          <p:nvPr/>
        </p:nvSpPr>
        <p:spPr bwMode="auto">
          <a:xfrm>
            <a:off x="5396249" y="863443"/>
            <a:ext cx="6542466" cy="5590565"/>
          </a:xfrm>
          <a:prstGeom prst="rect">
            <a:avLst/>
          </a:prstGeom>
        </p:spPr>
        <p:txBody>
          <a:bodyPr vert="horz" lIns="91440" tIns="45720" rIns="91440" bIns="45720" rtlCol="0">
            <a:noAutofit/>
          </a:bodyPr>
          <a:lstStyle>
            <a:lvl1pPr marL="265113" indent="-265113" algn="just" defTabSz="914400" rtl="0">
              <a:lnSpc>
                <a:spcPct val="113999"/>
              </a:lnSpc>
              <a:spcBef>
                <a:spcPts val="1000"/>
              </a:spcBef>
              <a:buClr>
                <a:schemeClr val="accent6"/>
              </a:buClr>
              <a:buFont typeface="Wingdings 3"/>
              <a:buChar char=""/>
              <a:defRPr sz="2400">
                <a:solidFill>
                  <a:schemeClr val="tx1"/>
                </a:solidFill>
                <a:latin typeface="+mn-lt"/>
                <a:ea typeface="+mn-ea"/>
                <a:cs typeface="+mn-cs"/>
              </a:defRPr>
            </a:lvl1pPr>
            <a:lvl2pPr marL="809625" indent="-352425" algn="just" defTabSz="914400" rtl="0">
              <a:lnSpc>
                <a:spcPct val="113999"/>
              </a:lnSpc>
              <a:spcBef>
                <a:spcPts val="1000"/>
              </a:spcBef>
              <a:buClr>
                <a:schemeClr val="accent6"/>
              </a:buClr>
              <a:buFont typeface="Wingdings 3"/>
              <a:buChar char=""/>
              <a:defRPr sz="2000">
                <a:solidFill>
                  <a:schemeClr val="tx1"/>
                </a:solidFill>
                <a:latin typeface="+mn-lt"/>
                <a:ea typeface="+mn-ea"/>
                <a:cs typeface="+mn-cs"/>
              </a:defRPr>
            </a:lvl2pPr>
            <a:lvl3pPr marL="1143000" indent="-228600" algn="just" defTabSz="914400" rtl="0">
              <a:lnSpc>
                <a:spcPct val="113999"/>
              </a:lnSpc>
              <a:spcBef>
                <a:spcPts val="1000"/>
              </a:spcBef>
              <a:buClr>
                <a:schemeClr val="accent6"/>
              </a:buClr>
              <a:buFont typeface="Wingdings"/>
              <a:buChar char="§"/>
              <a:defRPr sz="1800">
                <a:solidFill>
                  <a:schemeClr val="tx1"/>
                </a:solidFill>
                <a:latin typeface="+mn-lt"/>
                <a:ea typeface="+mn-ea"/>
                <a:cs typeface="+mn-cs"/>
              </a:defRPr>
            </a:lvl3pPr>
            <a:lvl4pPr marL="1600200" indent="-228600" algn="just" defTabSz="914400" rtl="0">
              <a:lnSpc>
                <a:spcPct val="113999"/>
              </a:lnSpc>
              <a:spcBef>
                <a:spcPts val="1000"/>
              </a:spcBef>
              <a:buClr>
                <a:schemeClr val="accent6"/>
              </a:buClr>
              <a:buFont typeface="Arial"/>
              <a:buChar char="•"/>
              <a:defRPr sz="1600">
                <a:solidFill>
                  <a:schemeClr val="tx1"/>
                </a:solidFill>
                <a:latin typeface="+mn-lt"/>
                <a:ea typeface="+mn-ea"/>
                <a:cs typeface="+mn-cs"/>
              </a:defRPr>
            </a:lvl4pPr>
            <a:lvl5pPr marL="2057400" indent="-228600" algn="just" defTabSz="914400" rtl="0">
              <a:lnSpc>
                <a:spcPct val="113999"/>
              </a:lnSpc>
              <a:spcBef>
                <a:spcPts val="1000"/>
              </a:spcBef>
              <a:buClr>
                <a:schemeClr val="accent6"/>
              </a:buClr>
              <a:buFont typeface="Arial"/>
              <a:buChar char="•"/>
              <a:defRPr sz="16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a:lstStyle>
          <a:p>
            <a:pPr>
              <a:defRPr/>
            </a:pPr>
            <a:r>
              <a:rPr lang="en-US"/>
              <a:t>DBLFHAN</a:t>
            </a:r>
            <a:endParaRPr/>
          </a:p>
          <a:p>
            <a:pPr>
              <a:defRPr/>
            </a:pPr>
            <a:r>
              <a:rPr lang="en-US"/>
              <a:t>15,16,5,10,8,19,4,6,17,5,21,18,10,15,6</a:t>
            </a:r>
            <a:endParaRPr/>
          </a:p>
          <a:p>
            <a:pPr>
              <a:defRPr/>
            </a:pPr>
            <a:r>
              <a:rPr lang="en-US"/>
              <a:t>Create </a:t>
            </a:r>
            <a:r>
              <a:rPr lang="en-US"/>
              <a:t>a binary search tree for the following data. 14, 10, 17, 12, 10, 11, 20, 12, 18, 25, 20, 8, 22, 11, 23 Explain deleting node 20 in the resultant binary search tree</a:t>
            </a:r>
            <a:r>
              <a:rPr lang="en-US"/>
              <a:t>.</a:t>
            </a:r>
            <a:endParaRPr/>
          </a:p>
          <a:p>
            <a:pPr>
              <a:defRPr/>
            </a:pPr>
            <a:r>
              <a:rPr lang="en-US"/>
              <a:t>Insertion </a:t>
            </a:r>
            <a:r>
              <a:rPr lang="en-US"/>
              <a:t>sequence of names is Norma, Roger</a:t>
            </a:r>
            <a:r>
              <a:rPr lang="en-US"/>
              <a:t>, John, Bill, Leo, Paul</a:t>
            </a:r>
            <a:r>
              <a:rPr lang="en-US"/>
              <a:t>, Ken and Maurice</a:t>
            </a:r>
            <a:endParaRPr/>
          </a:p>
          <a:p>
            <a:pPr lvl="1">
              <a:defRPr/>
            </a:pPr>
            <a:r>
              <a:rPr lang="en-US"/>
              <a:t>Show </a:t>
            </a:r>
            <a:r>
              <a:rPr lang="en-US"/>
              <a:t>the behavior of creating a lexically ordered binary tree.</a:t>
            </a:r>
            <a:endParaRPr/>
          </a:p>
          <a:p>
            <a:pPr lvl="1">
              <a:defRPr/>
            </a:pPr>
            <a:r>
              <a:rPr lang="en-US"/>
              <a:t>Insert </a:t>
            </a:r>
            <a:r>
              <a:rPr lang="en-US"/>
              <a:t>Kirk. Show the binary tree.</a:t>
            </a:r>
            <a:endParaRPr/>
          </a:p>
          <a:p>
            <a:pPr lvl="1">
              <a:defRPr/>
            </a:pPr>
            <a:r>
              <a:rPr lang="en-US"/>
              <a:t>Delete </a:t>
            </a:r>
            <a:r>
              <a:rPr lang="en-US"/>
              <a:t>John. Show the binary tree.</a:t>
            </a:r>
            <a:endParaRPr/>
          </a:p>
          <a:p>
            <a:pPr>
              <a:defRPr/>
            </a:pPr>
            <a:endParaRPr lang="en-US"/>
          </a:p>
          <a:p>
            <a:pPr>
              <a:defRPr/>
            </a:pPr>
            <a:endParaRPr lang="en-US"/>
          </a:p>
          <a:p>
            <a:pPr>
              <a:defRPr/>
            </a:pPr>
            <a:endParaRPr lang="en-US"/>
          </a:p>
        </p:txBody>
      </p:sp>
      <p:cxnSp>
        <p:nvCxnSpPr>
          <p:cNvPr id="2059264444" name="Straight Connector 5"/>
          <p:cNvCxnSpPr/>
          <p:nvPr/>
        </p:nvCxnSpPr>
        <p:spPr bwMode="auto">
          <a:xfrm>
            <a:off x="5344735" y="863443"/>
            <a:ext cx="0" cy="5590565"/>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939717709" name="Text Placeholder 1"/>
          <p:cNvSpPr>
            <a:spLocks noGrp="1"/>
          </p:cNvSpPr>
          <p:nvPr>
            <p:ph type="body" sz="quarter" idx="11"/>
          </p:nvPr>
        </p:nvSpPr>
        <p:spPr bwMode="auto"/>
        <p:txBody>
          <a:bodyPr/>
          <a:lstStyle/>
          <a:p>
            <a:pPr>
              <a:defRPr/>
            </a:pPr>
            <a:r>
              <a:rPr lang="en-US"/>
              <a:t>pradyuman.jadeja@darshan.ac.in</a:t>
            </a:r>
            <a:endParaRPr lang="en-US"/>
          </a:p>
        </p:txBody>
      </p:sp>
      <p:sp>
        <p:nvSpPr>
          <p:cNvPr id="241316400" name="Text Placeholder 2"/>
          <p:cNvSpPr>
            <a:spLocks noGrp="1"/>
          </p:cNvSpPr>
          <p:nvPr>
            <p:ph type="body" sz="quarter" idx="12"/>
          </p:nvPr>
        </p:nvSpPr>
        <p:spPr bwMode="auto"/>
        <p:txBody>
          <a:bodyPr/>
          <a:lstStyle/>
          <a:p>
            <a:pPr>
              <a:defRPr/>
            </a:pPr>
            <a:r>
              <a:rPr lang="en-US"/>
              <a:t>+91 </a:t>
            </a:r>
            <a:r>
              <a:rPr lang="en-US"/>
              <a:t>9879461848</a:t>
            </a:r>
            <a:endParaRPr lang="en-US"/>
          </a:p>
        </p:txBody>
      </p:sp>
      <p:sp>
        <p:nvSpPr>
          <p:cNvPr id="1545260383" name="Text Placeholder 3"/>
          <p:cNvSpPr>
            <a:spLocks noGrp="1"/>
          </p:cNvSpPr>
          <p:nvPr>
            <p:ph type="body" sz="quarter" idx="13"/>
          </p:nvPr>
        </p:nvSpPr>
        <p:spPr bwMode="auto"/>
        <p:txBody>
          <a:bodyPr/>
          <a:lstStyle/>
          <a:p>
            <a:pPr>
              <a:defRPr/>
            </a:pPr>
            <a:r>
              <a:rPr lang="en-US"/>
              <a:t>Computer Engineering </a:t>
            </a:r>
            <a:r>
              <a:rPr lang="en-US"/>
              <a:t>Department</a:t>
            </a:r>
            <a:endParaRPr lang="en-US"/>
          </a:p>
        </p:txBody>
      </p:sp>
      <p:sp>
        <p:nvSpPr>
          <p:cNvPr id="1451923232" name="Text Placeholder 4"/>
          <p:cNvSpPr>
            <a:spLocks noGrp="1"/>
          </p:cNvSpPr>
          <p:nvPr>
            <p:ph type="body" sz="quarter" idx="14"/>
          </p:nvPr>
        </p:nvSpPr>
        <p:spPr bwMode="auto"/>
        <p:txBody>
          <a:bodyPr/>
          <a:lstStyle/>
          <a:p>
            <a:pPr>
              <a:defRPr/>
            </a:pPr>
            <a:r>
              <a:rPr lang="en-IN"/>
              <a:t>Dr.</a:t>
            </a:r>
            <a:r>
              <a:rPr lang="en-IN"/>
              <a:t> </a:t>
            </a:r>
            <a:r>
              <a:rPr lang="en-IN"/>
              <a:t>Pradyumansinh</a:t>
            </a:r>
            <a:r>
              <a:rPr lang="en-IN"/>
              <a:t> </a:t>
            </a:r>
            <a:r>
              <a:rPr lang="en-IN"/>
              <a:t>Jadeja</a:t>
            </a:r>
            <a:endParaRPr lang="en-IN"/>
          </a:p>
        </p:txBody>
      </p:sp>
      <p:sp>
        <p:nvSpPr>
          <p:cNvPr id="2033197214" name="Text Placeholder 1026"/>
          <p:cNvSpPr>
            <a:spLocks noGrp="1"/>
          </p:cNvSpPr>
          <p:nvPr>
            <p:ph type="body" sz="quarter" idx="16"/>
          </p:nvPr>
        </p:nvSpPr>
        <p:spPr bwMode="auto"/>
        <p:txBody>
          <a:bodyPr/>
          <a:lstStyle/>
          <a:p>
            <a:pPr>
              <a:defRPr/>
            </a:pPr>
            <a:r>
              <a:rPr lang="en-US" b="1"/>
              <a:t>Data Structures </a:t>
            </a:r>
            <a:r>
              <a:rPr lang="en-US">
                <a:latin typeface="Roboto Condensed Light"/>
                <a:ea typeface="Roboto Condensed Light"/>
              </a:rPr>
              <a:t>(DS)</a:t>
            </a:r>
            <a:endParaRPr/>
          </a:p>
          <a:p>
            <a:pPr>
              <a:defRPr/>
            </a:pPr>
            <a:r>
              <a:rPr lang="en-US">
                <a:latin typeface="Roboto Condensed Light"/>
                <a:ea typeface="Roboto Condensed Light"/>
              </a:rPr>
              <a:t>DU #2301CS301</a:t>
            </a:r>
            <a:endParaRPr/>
          </a:p>
        </p:txBody>
      </p:sp>
      <p:pic>
        <p:nvPicPr>
          <p:cNvPr id="947749492" name="Picture Placeholder 6"/>
          <p:cNvPicPr>
            <a:picLocks noChangeAspect="1" noGrp="1"/>
          </p:cNvPicPr>
          <p:nvPr>
            <p:ph type="pic" sz="quarter" idx="10"/>
          </p:nvPr>
        </p:nvPicPr>
        <p:blipFill rotWithShape="1">
          <a:blip r:embed="rId3"/>
          <a:stretch/>
        </p:blipFill>
        <p:spPr bwMode="auto"/>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timing>
    <p:tnLst>
      <p:par>
        <p:cTn id="1" dur="indefinite" restart="never" nodeType="tmRoot"/>
      </p:par>
    </p:tnLst>
  </p:timing>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Theme">
  <a:themeElements>
    <a:clrScheme name="DeptPPT">
      <a:dk1>
        <a:srgbClr val="212121"/>
      </a:dk1>
      <a:lt1>
        <a:sysClr val="window" lastClr="FFFFFF"/>
      </a:lt1>
      <a:dk2>
        <a:srgbClr val="1D6FA9"/>
      </a:dk2>
      <a:lt2>
        <a:srgbClr val="FFFFFF"/>
      </a:lt2>
      <a:accent1>
        <a:srgbClr val="909090"/>
      </a:accent1>
      <a:accent2>
        <a:srgbClr val="00BBD3"/>
      </a:accent2>
      <a:accent3>
        <a:srgbClr val="8BC145"/>
      </a:accent3>
      <a:accent4>
        <a:srgbClr val="1D9A78"/>
      </a:accent4>
      <a:accent5>
        <a:srgbClr val="F19D19"/>
      </a:accent5>
      <a:accent6>
        <a:srgbClr val="B84742"/>
      </a:accent6>
      <a:hlink>
        <a:srgbClr val="70AD47"/>
      </a:hlink>
      <a:folHlink>
        <a:srgbClr val="ED7D31"/>
      </a:folHlink>
    </a:clrScheme>
    <a:fontScheme name="Custom 1">
      <a:majorFont>
        <a:latin typeface="Roboto Condensed"/>
        <a:ea typeface="Arial"/>
        <a:cs typeface="Arial"/>
      </a:majorFont>
      <a:minorFont>
        <a:latin typeface="Roboto Condensed"/>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ONLYOFFICE/9.4.0.129</Application>
  <PresentationFormat>On-screen Show (4:3)</PresentationFormat>
  <Paragraphs>0</Paragraphs>
  <Slides>34</Slides>
  <Notes>34</Notes>
  <HiddenSlides>0</HiddenSlides>
  <MMClips>2</MMClips>
  <ScaleCrop>0</ScaleCrop>
  <HeadingPairs>
    <vt:vector size="4" baseType="variant">
      <vt:variant>
        <vt:lpstr>Theme</vt:lpstr>
      </vt:variant>
      <vt:variant>
        <vt:i4>1</vt:i4>
      </vt:variant>
      <vt:variant>
        <vt:lpstr>Slide Titles</vt:lpstr>
      </vt:variant>
      <vt:variant>
        <vt:i4>34</vt:i4>
      </vt:variant>
    </vt:vector>
  </HeadingPairs>
  <TitlesOfParts>
    <vt:vector size="35"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 part 2 - Non-linear Data Structure</dc:title>
  <dc:creator>ADMIN</dc:creator>
  <cp:keywords>Tree, Data Structure, Darshan Institute of Engineering &amp; Technology, DIET</cp:keywords>
  <cp:lastModifiedBy/>
  <cp:revision>725</cp:revision>
  <dcterms:created xsi:type="dcterms:W3CDTF">2020-05-01T05:09:15Z</dcterms:created>
  <dcterms:modified xsi:type="dcterms:W3CDTF">2026-08-12T06:50:19Z</dcterms:modified>
</cp:coreProperties>
</file>