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93" r:id="rId1"/>
    <p:sldMasterId id="2147483714" r:id="rId2"/>
  </p:sldMasterIdLst>
  <p:notesMasterIdLst>
    <p:notesMasterId r:id="rId317"/>
  </p:notesMasterIdLst>
  <p:handoutMasterIdLst>
    <p:handoutMasterId r:id="rId318"/>
  </p:handoutMasterIdLst>
  <p:sldIdLst>
    <p:sldId id="257" r:id="rId3"/>
    <p:sldId id="265" r:id="rId4"/>
    <p:sldId id="1270" r:id="rId5"/>
    <p:sldId id="268" r:id="rId6"/>
    <p:sldId id="1066" r:id="rId7"/>
    <p:sldId id="856" r:id="rId8"/>
    <p:sldId id="857" r:id="rId9"/>
    <p:sldId id="1271" r:id="rId10"/>
    <p:sldId id="1272" r:id="rId11"/>
    <p:sldId id="955" r:id="rId12"/>
    <p:sldId id="863" r:id="rId13"/>
    <p:sldId id="1273" r:id="rId14"/>
    <p:sldId id="1274" r:id="rId15"/>
    <p:sldId id="864" r:id="rId16"/>
    <p:sldId id="865" r:id="rId17"/>
    <p:sldId id="929" r:id="rId18"/>
    <p:sldId id="930" r:id="rId19"/>
    <p:sldId id="1275" r:id="rId20"/>
    <p:sldId id="1276" r:id="rId21"/>
    <p:sldId id="1279" r:id="rId22"/>
    <p:sldId id="1280" r:id="rId23"/>
    <p:sldId id="1070" r:id="rId24"/>
    <p:sldId id="1071" r:id="rId25"/>
    <p:sldId id="1072" r:id="rId26"/>
    <p:sldId id="775" r:id="rId27"/>
    <p:sldId id="1281" r:id="rId28"/>
    <p:sldId id="1282" r:id="rId29"/>
    <p:sldId id="1283" r:id="rId30"/>
    <p:sldId id="1073" r:id="rId31"/>
    <p:sldId id="842" r:id="rId32"/>
    <p:sldId id="1284" r:id="rId33"/>
    <p:sldId id="808" r:id="rId34"/>
    <p:sldId id="820" r:id="rId35"/>
    <p:sldId id="873" r:id="rId36"/>
    <p:sldId id="874" r:id="rId37"/>
    <p:sldId id="875" r:id="rId38"/>
    <p:sldId id="876" r:id="rId39"/>
    <p:sldId id="1074" r:id="rId40"/>
    <p:sldId id="1297" r:id="rId41"/>
    <p:sldId id="877" r:id="rId42"/>
    <p:sldId id="1295" r:id="rId43"/>
    <p:sldId id="878" r:id="rId44"/>
    <p:sldId id="879" r:id="rId45"/>
    <p:sldId id="880" r:id="rId46"/>
    <p:sldId id="843" r:id="rId47"/>
    <p:sldId id="956" r:id="rId48"/>
    <p:sldId id="881" r:id="rId49"/>
    <p:sldId id="1287" r:id="rId50"/>
    <p:sldId id="1286" r:id="rId51"/>
    <p:sldId id="1285" r:id="rId52"/>
    <p:sldId id="882" r:id="rId53"/>
    <p:sldId id="1288" r:id="rId54"/>
    <p:sldId id="1075" r:id="rId55"/>
    <p:sldId id="1290" r:id="rId56"/>
    <p:sldId id="844" r:id="rId57"/>
    <p:sldId id="961" r:id="rId58"/>
    <p:sldId id="1076" r:id="rId59"/>
    <p:sldId id="1077" r:id="rId60"/>
    <p:sldId id="1299" r:id="rId61"/>
    <p:sldId id="1301" r:id="rId62"/>
    <p:sldId id="1298" r:id="rId63"/>
    <p:sldId id="1291" r:id="rId64"/>
    <p:sldId id="1302" r:id="rId65"/>
    <p:sldId id="1296" r:id="rId66"/>
    <p:sldId id="1293" r:id="rId67"/>
    <p:sldId id="1096" r:id="rId68"/>
    <p:sldId id="1304" r:id="rId69"/>
    <p:sldId id="1082" r:id="rId70"/>
    <p:sldId id="1083" r:id="rId71"/>
    <p:sldId id="1305" r:id="rId72"/>
    <p:sldId id="1084" r:id="rId73"/>
    <p:sldId id="1085" r:id="rId74"/>
    <p:sldId id="1306" r:id="rId75"/>
    <p:sldId id="1094" r:id="rId76"/>
    <p:sldId id="1089" r:id="rId77"/>
    <p:sldId id="1307" r:id="rId78"/>
    <p:sldId id="1095" r:id="rId79"/>
    <p:sldId id="1308" r:id="rId80"/>
    <p:sldId id="1309" r:id="rId81"/>
    <p:sldId id="1303" r:id="rId82"/>
    <p:sldId id="1097" r:id="rId83"/>
    <p:sldId id="846" r:id="rId84"/>
    <p:sldId id="845" r:id="rId85"/>
    <p:sldId id="1098" r:id="rId86"/>
    <p:sldId id="1099" r:id="rId87"/>
    <p:sldId id="1088" r:id="rId88"/>
    <p:sldId id="1093" r:id="rId89"/>
    <p:sldId id="827" r:id="rId90"/>
    <p:sldId id="1067" r:id="rId91"/>
    <p:sldId id="962" r:id="rId92"/>
    <p:sldId id="1068" r:id="rId93"/>
    <p:sldId id="964" r:id="rId94"/>
    <p:sldId id="965" r:id="rId95"/>
    <p:sldId id="933" r:id="rId96"/>
    <p:sldId id="1091" r:id="rId97"/>
    <p:sldId id="1092" r:id="rId98"/>
    <p:sldId id="966" r:id="rId99"/>
    <p:sldId id="967" r:id="rId100"/>
    <p:sldId id="968" r:id="rId101"/>
    <p:sldId id="969" r:id="rId102"/>
    <p:sldId id="970" r:id="rId103"/>
    <p:sldId id="971" r:id="rId104"/>
    <p:sldId id="972" r:id="rId105"/>
    <p:sldId id="973" r:id="rId106"/>
    <p:sldId id="974" r:id="rId107"/>
    <p:sldId id="829" r:id="rId108"/>
    <p:sldId id="931" r:id="rId109"/>
    <p:sldId id="1311" r:id="rId110"/>
    <p:sldId id="1313" r:id="rId111"/>
    <p:sldId id="1310" r:id="rId112"/>
    <p:sldId id="1312" r:id="rId113"/>
    <p:sldId id="1314" r:id="rId114"/>
    <p:sldId id="1316" r:id="rId115"/>
    <p:sldId id="1102" r:id="rId116"/>
    <p:sldId id="1317" r:id="rId117"/>
    <p:sldId id="1319" r:id="rId118"/>
    <p:sldId id="850" r:id="rId119"/>
    <p:sldId id="932" r:id="rId120"/>
    <p:sldId id="1106" r:id="rId121"/>
    <p:sldId id="853" r:id="rId122"/>
    <p:sldId id="1109" r:id="rId123"/>
    <p:sldId id="1110" r:id="rId124"/>
    <p:sldId id="975" r:id="rId125"/>
    <p:sldId id="1108" r:id="rId126"/>
    <p:sldId id="1321" r:id="rId127"/>
    <p:sldId id="1322" r:id="rId128"/>
    <p:sldId id="1320" r:id="rId129"/>
    <p:sldId id="1164" r:id="rId130"/>
    <p:sldId id="1323" r:id="rId131"/>
    <p:sldId id="1107" r:id="rId132"/>
    <p:sldId id="1183" r:id="rId133"/>
    <p:sldId id="1184" r:id="rId134"/>
    <p:sldId id="1185" r:id="rId135"/>
    <p:sldId id="1111" r:id="rId136"/>
    <p:sldId id="1324" r:id="rId137"/>
    <p:sldId id="1325" r:id="rId138"/>
    <p:sldId id="1193" r:id="rId139"/>
    <p:sldId id="1112" r:id="rId140"/>
    <p:sldId id="851" r:id="rId141"/>
    <p:sldId id="895" r:id="rId142"/>
    <p:sldId id="838" r:id="rId143"/>
    <p:sldId id="1327" r:id="rId144"/>
    <p:sldId id="1326" r:id="rId145"/>
    <p:sldId id="977" r:id="rId146"/>
    <p:sldId id="854" r:id="rId147"/>
    <p:sldId id="978" r:id="rId148"/>
    <p:sldId id="979" r:id="rId149"/>
    <p:sldId id="855" r:id="rId150"/>
    <p:sldId id="981" r:id="rId151"/>
    <p:sldId id="982" r:id="rId152"/>
    <p:sldId id="980" r:id="rId153"/>
    <p:sldId id="983" r:id="rId154"/>
    <p:sldId id="894" r:id="rId155"/>
    <p:sldId id="984" r:id="rId156"/>
    <p:sldId id="1115" r:id="rId157"/>
    <p:sldId id="896" r:id="rId158"/>
    <p:sldId id="1116" r:id="rId159"/>
    <p:sldId id="1328" r:id="rId160"/>
    <p:sldId id="1330" r:id="rId161"/>
    <p:sldId id="1117" r:id="rId162"/>
    <p:sldId id="1118" r:id="rId163"/>
    <p:sldId id="1329" r:id="rId164"/>
    <p:sldId id="897" r:id="rId165"/>
    <p:sldId id="1163" r:id="rId166"/>
    <p:sldId id="1176" r:id="rId167"/>
    <p:sldId id="1178" r:id="rId168"/>
    <p:sldId id="1179" r:id="rId169"/>
    <p:sldId id="1186" r:id="rId170"/>
    <p:sldId id="909" r:id="rId171"/>
    <p:sldId id="1180" r:id="rId172"/>
    <p:sldId id="912" r:id="rId173"/>
    <p:sldId id="1182" r:id="rId174"/>
    <p:sldId id="914" r:id="rId175"/>
    <p:sldId id="913" r:id="rId176"/>
    <p:sldId id="1181" r:id="rId177"/>
    <p:sldId id="1188" r:id="rId178"/>
    <p:sldId id="1341" r:id="rId179"/>
    <p:sldId id="1342" r:id="rId180"/>
    <p:sldId id="1343" r:id="rId181"/>
    <p:sldId id="1344" r:id="rId182"/>
    <p:sldId id="276" r:id="rId183"/>
    <p:sldId id="1192" r:id="rId184"/>
    <p:sldId id="278" r:id="rId185"/>
    <p:sldId id="1345" r:id="rId186"/>
    <p:sldId id="1346" r:id="rId187"/>
    <p:sldId id="917" r:id="rId188"/>
    <p:sldId id="919" r:id="rId189"/>
    <p:sldId id="1348" r:id="rId190"/>
    <p:sldId id="920" r:id="rId191"/>
    <p:sldId id="986" r:id="rId192"/>
    <p:sldId id="987" r:id="rId193"/>
    <p:sldId id="1357" r:id="rId194"/>
    <p:sldId id="1197" r:id="rId195"/>
    <p:sldId id="1195" r:id="rId196"/>
    <p:sldId id="1196" r:id="rId197"/>
    <p:sldId id="1350" r:id="rId198"/>
    <p:sldId id="1351" r:id="rId199"/>
    <p:sldId id="1353" r:id="rId200"/>
    <p:sldId id="1352" r:id="rId201"/>
    <p:sldId id="1354" r:id="rId202"/>
    <p:sldId id="1356" r:id="rId203"/>
    <p:sldId id="1355" r:id="rId204"/>
    <p:sldId id="990" r:id="rId205"/>
    <p:sldId id="1362" r:id="rId206"/>
    <p:sldId id="1363" r:id="rId207"/>
    <p:sldId id="1215" r:id="rId208"/>
    <p:sldId id="992" r:id="rId209"/>
    <p:sldId id="993" r:id="rId210"/>
    <p:sldId id="1216" r:id="rId211"/>
    <p:sldId id="1230" r:id="rId212"/>
    <p:sldId id="996" r:id="rId213"/>
    <p:sldId id="999" r:id="rId214"/>
    <p:sldId id="1231" r:id="rId215"/>
    <p:sldId id="997" r:id="rId216"/>
    <p:sldId id="998" r:id="rId217"/>
    <p:sldId id="1217" r:id="rId218"/>
    <p:sldId id="1218" r:id="rId219"/>
    <p:sldId id="1219" r:id="rId220"/>
    <p:sldId id="1000" r:id="rId221"/>
    <p:sldId id="1004" r:id="rId222"/>
    <p:sldId id="1005" r:id="rId223"/>
    <p:sldId id="1007" r:id="rId224"/>
    <p:sldId id="1008" r:id="rId225"/>
    <p:sldId id="1009" r:id="rId226"/>
    <p:sldId id="1001" r:id="rId227"/>
    <p:sldId id="1220" r:id="rId228"/>
    <p:sldId id="1221" r:id="rId229"/>
    <p:sldId id="1222" r:id="rId230"/>
    <p:sldId id="1229" r:id="rId231"/>
    <p:sldId id="1002" r:id="rId232"/>
    <p:sldId id="1376" r:id="rId233"/>
    <p:sldId id="1375" r:id="rId234"/>
    <p:sldId id="1379" r:id="rId235"/>
    <p:sldId id="1003" r:id="rId236"/>
    <p:sldId id="1245" r:id="rId237"/>
    <p:sldId id="1013" r:id="rId238"/>
    <p:sldId id="1016" r:id="rId239"/>
    <p:sldId id="1366" r:id="rId240"/>
    <p:sldId id="1367" r:id="rId241"/>
    <p:sldId id="1015" r:id="rId242"/>
    <p:sldId id="1017" r:id="rId243"/>
    <p:sldId id="1018" r:id="rId244"/>
    <p:sldId id="1019" r:id="rId245"/>
    <p:sldId id="1020" r:id="rId246"/>
    <p:sldId id="1368" r:id="rId247"/>
    <p:sldId id="1232" r:id="rId248"/>
    <p:sldId id="1021" r:id="rId249"/>
    <p:sldId id="1371" r:id="rId250"/>
    <p:sldId id="1380" r:id="rId251"/>
    <p:sldId id="1381" r:id="rId252"/>
    <p:sldId id="1382" r:id="rId253"/>
    <p:sldId id="1384" r:id="rId254"/>
    <p:sldId id="976" r:id="rId255"/>
    <p:sldId id="1385" r:id="rId256"/>
    <p:sldId id="1386" r:id="rId257"/>
    <p:sldId id="1390" r:id="rId258"/>
    <p:sldId id="1387" r:id="rId259"/>
    <p:sldId id="1388" r:id="rId260"/>
    <p:sldId id="1370" r:id="rId261"/>
    <p:sldId id="1372" r:id="rId262"/>
    <p:sldId id="1369" r:id="rId263"/>
    <p:sldId id="1225" r:id="rId264"/>
    <p:sldId id="1374" r:id="rId265"/>
    <p:sldId id="1023" r:id="rId266"/>
    <p:sldId id="1226" r:id="rId267"/>
    <p:sldId id="1235" r:id="rId268"/>
    <p:sldId id="1025" r:id="rId269"/>
    <p:sldId id="1028" r:id="rId270"/>
    <p:sldId id="1029" r:id="rId271"/>
    <p:sldId id="1030" r:id="rId272"/>
    <p:sldId id="1032" r:id="rId273"/>
    <p:sldId id="1033" r:id="rId274"/>
    <p:sldId id="1038" r:id="rId275"/>
    <p:sldId id="1039" r:id="rId276"/>
    <p:sldId id="1040" r:id="rId277"/>
    <p:sldId id="1041" r:id="rId278"/>
    <p:sldId id="1042" r:id="rId279"/>
    <p:sldId id="1043" r:id="rId280"/>
    <p:sldId id="1044" r:id="rId281"/>
    <p:sldId id="1045" r:id="rId282"/>
    <p:sldId id="1046" r:id="rId283"/>
    <p:sldId id="1236" r:id="rId284"/>
    <p:sldId id="1237" r:id="rId285"/>
    <p:sldId id="1048" r:id="rId286"/>
    <p:sldId id="1049" r:id="rId287"/>
    <p:sldId id="1248" r:id="rId288"/>
    <p:sldId id="1249" r:id="rId289"/>
    <p:sldId id="1257" r:id="rId290"/>
    <p:sldId id="1258" r:id="rId291"/>
    <p:sldId id="1262" r:id="rId292"/>
    <p:sldId id="1053" r:id="rId293"/>
    <p:sldId id="1054" r:id="rId294"/>
    <p:sldId id="1050" r:id="rId295"/>
    <p:sldId id="1250" r:id="rId296"/>
    <p:sldId id="1052" r:id="rId297"/>
    <p:sldId id="1240" r:id="rId298"/>
    <p:sldId id="1055" r:id="rId299"/>
    <p:sldId id="1056" r:id="rId300"/>
    <p:sldId id="1057" r:id="rId301"/>
    <p:sldId id="1241" r:id="rId302"/>
    <p:sldId id="1260" r:id="rId303"/>
    <p:sldId id="1058" r:id="rId304"/>
    <p:sldId id="1059" r:id="rId305"/>
    <p:sldId id="1060" r:id="rId306"/>
    <p:sldId id="1065" r:id="rId307"/>
    <p:sldId id="1061" r:id="rId308"/>
    <p:sldId id="1062" r:id="rId309"/>
    <p:sldId id="1063" r:id="rId310"/>
    <p:sldId id="347" r:id="rId311"/>
    <p:sldId id="581" r:id="rId312"/>
    <p:sldId id="348" r:id="rId313"/>
    <p:sldId id="606" r:id="rId314"/>
    <p:sldId id="607" r:id="rId315"/>
    <p:sldId id="1389" r:id="rId316"/>
  </p:sldIdLst>
  <p:sldSz cx="12192000" cy="6858000"/>
  <p:notesSz cx="6858000" cy="9144000"/>
  <p:embeddedFontLst>
    <p:embeddedFont>
      <p:font typeface="Cambria" panose="02040503050406030204" pitchFamily="18" charset="0"/>
      <p:regular r:id="rId319"/>
      <p:bold r:id="rId320"/>
      <p:italic r:id="rId321"/>
      <p:boldItalic r:id="rId322"/>
    </p:embeddedFont>
    <p:embeddedFont>
      <p:font typeface="Cambria Math" panose="02040503050406030204" pitchFamily="18" charset="0"/>
      <p:regular r:id="rId323"/>
    </p:embeddedFont>
    <p:embeddedFont>
      <p:font typeface="Roboto Condensed" panose="02000000000000000000" pitchFamily="2" charset="0"/>
      <p:regular r:id="rId324"/>
      <p:bold r:id="rId325"/>
      <p:italic r:id="rId326"/>
      <p:boldItalic r:id="rId327"/>
    </p:embeddedFont>
    <p:embeddedFont>
      <p:font typeface="Roboto Condensed Light" panose="02000000000000000000" pitchFamily="2" charset="0"/>
      <p:regular r:id="rId328"/>
      <p:italic r:id="rId329"/>
    </p:embeddedFont>
    <p:embeddedFont>
      <p:font typeface="Wingdings 3" panose="05040102010807070707" pitchFamily="18" charset="2"/>
      <p:regular r:id="rId330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jE3lxjIQRTa1+7CxMBpULg==" hashData="xGocBjc+M+HAzbx6q/ajoEysU562GuxMsU3fi9NW/ZKZWZBKqHTEe543hUOlw8dqzVOF3aVAmzfx1GpZKoMpUw=="/>
  <p:extLst>
    <p:ext uri="{521415D9-36F7-43E2-AB2F-B90AF26B5E84}">
      <p14:sectionLst xmlns:p14="http://schemas.microsoft.com/office/powerpoint/2010/main">
        <p14:section name="Unit - 2 : Probability" id="{F6A3B4D0-472F-4BF1-9185-4011BE451F64}">
          <p14:sldIdLst>
            <p14:sldId id="257"/>
            <p14:sldId id="265"/>
            <p14:sldId id="1270"/>
            <p14:sldId id="268"/>
          </p14:sldIdLst>
        </p14:section>
        <p14:section name="Introduction" id="{E0DA3A62-5732-4E54-BC01-5C47A184E776}">
          <p14:sldIdLst>
            <p14:sldId id="1066"/>
            <p14:sldId id="856"/>
            <p14:sldId id="857"/>
            <p14:sldId id="1271"/>
            <p14:sldId id="1272"/>
          </p14:sldIdLst>
        </p14:section>
        <p14:section name="Method : 1 - Basic Terminology" id="{AAF392F2-E362-4B6F-833F-FD10AB364682}">
          <p14:sldIdLst>
            <p14:sldId id="955"/>
            <p14:sldId id="863"/>
            <p14:sldId id="1273"/>
            <p14:sldId id="1274"/>
            <p14:sldId id="864"/>
            <p14:sldId id="865"/>
            <p14:sldId id="929"/>
            <p14:sldId id="930"/>
            <p14:sldId id="1275"/>
            <p14:sldId id="1276"/>
            <p14:sldId id="1279"/>
            <p14:sldId id="1280"/>
            <p14:sldId id="1070"/>
            <p14:sldId id="1071"/>
            <p14:sldId id="1072"/>
            <p14:sldId id="775"/>
            <p14:sldId id="1281"/>
            <p14:sldId id="1282"/>
            <p14:sldId id="1283"/>
            <p14:sldId id="1073"/>
            <p14:sldId id="842"/>
            <p14:sldId id="1284"/>
            <p14:sldId id="808"/>
            <p14:sldId id="820"/>
            <p14:sldId id="873"/>
            <p14:sldId id="874"/>
            <p14:sldId id="875"/>
            <p14:sldId id="876"/>
            <p14:sldId id="1074"/>
            <p14:sldId id="1297"/>
            <p14:sldId id="877"/>
            <p14:sldId id="1295"/>
            <p14:sldId id="878"/>
            <p14:sldId id="879"/>
            <p14:sldId id="880"/>
            <p14:sldId id="843"/>
          </p14:sldIdLst>
        </p14:section>
        <p14:section name="Method : 2 -  Probability of an Event" id="{98C53713-4B2F-4FB7-A6E8-7BED6F8BD92C}">
          <p14:sldIdLst>
            <p14:sldId id="956"/>
            <p14:sldId id="881"/>
            <p14:sldId id="1287"/>
            <p14:sldId id="1286"/>
            <p14:sldId id="1285"/>
            <p14:sldId id="882"/>
            <p14:sldId id="1288"/>
            <p14:sldId id="1075"/>
            <p14:sldId id="1290"/>
            <p14:sldId id="844"/>
            <p14:sldId id="961"/>
            <p14:sldId id="1076"/>
            <p14:sldId id="1077"/>
            <p14:sldId id="1299"/>
            <p14:sldId id="1301"/>
            <p14:sldId id="1298"/>
            <p14:sldId id="1291"/>
            <p14:sldId id="1302"/>
            <p14:sldId id="1296"/>
            <p14:sldId id="1293"/>
            <p14:sldId id="1096"/>
            <p14:sldId id="1304"/>
            <p14:sldId id="1082"/>
            <p14:sldId id="1083"/>
            <p14:sldId id="1305"/>
            <p14:sldId id="1084"/>
            <p14:sldId id="1085"/>
            <p14:sldId id="1306"/>
            <p14:sldId id="1094"/>
            <p14:sldId id="1089"/>
            <p14:sldId id="1307"/>
            <p14:sldId id="1095"/>
            <p14:sldId id="1308"/>
            <p14:sldId id="1309"/>
            <p14:sldId id="1303"/>
            <p14:sldId id="1097"/>
            <p14:sldId id="846"/>
            <p14:sldId id="845"/>
            <p14:sldId id="1098"/>
            <p14:sldId id="1099"/>
            <p14:sldId id="1088"/>
            <p14:sldId id="1093"/>
            <p14:sldId id="827"/>
            <p14:sldId id="1067"/>
            <p14:sldId id="962"/>
            <p14:sldId id="1068"/>
            <p14:sldId id="964"/>
            <p14:sldId id="965"/>
            <p14:sldId id="933"/>
            <p14:sldId id="1091"/>
            <p14:sldId id="1092"/>
            <p14:sldId id="966"/>
            <p14:sldId id="967"/>
            <p14:sldId id="968"/>
            <p14:sldId id="969"/>
            <p14:sldId id="970"/>
            <p14:sldId id="971"/>
            <p14:sldId id="972"/>
            <p14:sldId id="973"/>
            <p14:sldId id="974"/>
          </p14:sldIdLst>
        </p14:section>
        <p14:section name="Method : 3 - Conditional Probability" id="{BCB6CC4B-2DF7-4421-8E4C-7763B5ACAFD1}">
          <p14:sldIdLst>
            <p14:sldId id="829"/>
            <p14:sldId id="931"/>
            <p14:sldId id="1311"/>
            <p14:sldId id="1313"/>
            <p14:sldId id="1310"/>
            <p14:sldId id="1312"/>
            <p14:sldId id="1314"/>
            <p14:sldId id="1316"/>
            <p14:sldId id="1102"/>
            <p14:sldId id="1317"/>
            <p14:sldId id="1319"/>
            <p14:sldId id="850"/>
            <p14:sldId id="932"/>
            <p14:sldId id="1106"/>
            <p14:sldId id="853"/>
            <p14:sldId id="1109"/>
            <p14:sldId id="1110"/>
            <p14:sldId id="975"/>
            <p14:sldId id="1108"/>
            <p14:sldId id="1321"/>
            <p14:sldId id="1322"/>
            <p14:sldId id="1320"/>
            <p14:sldId id="1164"/>
            <p14:sldId id="1323"/>
            <p14:sldId id="1107"/>
            <p14:sldId id="1183"/>
            <p14:sldId id="1184"/>
            <p14:sldId id="1185"/>
            <p14:sldId id="1111"/>
            <p14:sldId id="1324"/>
            <p14:sldId id="1325"/>
            <p14:sldId id="1193"/>
            <p14:sldId id="1112"/>
            <p14:sldId id="851"/>
            <p14:sldId id="895"/>
            <p14:sldId id="838"/>
            <p14:sldId id="1327"/>
            <p14:sldId id="1326"/>
            <p14:sldId id="977"/>
            <p14:sldId id="854"/>
            <p14:sldId id="978"/>
            <p14:sldId id="979"/>
            <p14:sldId id="855"/>
            <p14:sldId id="981"/>
            <p14:sldId id="982"/>
            <p14:sldId id="980"/>
            <p14:sldId id="983"/>
            <p14:sldId id="894"/>
            <p14:sldId id="984"/>
            <p14:sldId id="1115"/>
          </p14:sldIdLst>
        </p14:section>
        <p14:section name="Method : 4 - Bayes' Theorem" id="{112F158A-EDE4-4812-A98A-AC4034BB1F73}">
          <p14:sldIdLst>
            <p14:sldId id="896"/>
          </p14:sldIdLst>
        </p14:section>
        <p14:section name="The Law of Total Probability" id="{B909B7F9-C6A0-4777-A728-1125CEA37726}">
          <p14:sldIdLst>
            <p14:sldId id="1116"/>
            <p14:sldId id="1328"/>
            <p14:sldId id="1330"/>
            <p14:sldId id="1117"/>
            <p14:sldId id="1118"/>
            <p14:sldId id="1329"/>
            <p14:sldId id="897"/>
            <p14:sldId id="1163"/>
            <p14:sldId id="1176"/>
            <p14:sldId id="1178"/>
            <p14:sldId id="1179"/>
            <p14:sldId id="1186"/>
            <p14:sldId id="909"/>
            <p14:sldId id="1180"/>
            <p14:sldId id="912"/>
            <p14:sldId id="1182"/>
            <p14:sldId id="914"/>
            <p14:sldId id="913"/>
            <p14:sldId id="1181"/>
          </p14:sldIdLst>
        </p14:section>
        <p14:section name="The Bayes’ Theorem" id="{E7F50200-7DA1-4C65-A524-B97E291F6BFE}">
          <p14:sldIdLst>
            <p14:sldId id="1188"/>
            <p14:sldId id="1341"/>
            <p14:sldId id="1342"/>
            <p14:sldId id="1343"/>
            <p14:sldId id="1344"/>
            <p14:sldId id="276"/>
            <p14:sldId id="1192"/>
            <p14:sldId id="278"/>
            <p14:sldId id="1345"/>
            <p14:sldId id="1346"/>
            <p14:sldId id="917"/>
            <p14:sldId id="919"/>
            <p14:sldId id="1348"/>
            <p14:sldId id="920"/>
            <p14:sldId id="986"/>
            <p14:sldId id="987"/>
            <p14:sldId id="1357"/>
            <p14:sldId id="1197"/>
            <p14:sldId id="1195"/>
            <p14:sldId id="1196"/>
            <p14:sldId id="1350"/>
            <p14:sldId id="1351"/>
            <p14:sldId id="1353"/>
            <p14:sldId id="1352"/>
            <p14:sldId id="1354"/>
            <p14:sldId id="1356"/>
            <p14:sldId id="1355"/>
          </p14:sldIdLst>
        </p14:section>
        <p14:section name="Method : 5 - Random Variable and Probability Function" id="{FD16FA3C-4F0B-4CC2-B785-C32F7DEB124F}">
          <p14:sldIdLst>
            <p14:sldId id="990"/>
            <p14:sldId id="1362"/>
            <p14:sldId id="1363"/>
            <p14:sldId id="1215"/>
            <p14:sldId id="992"/>
            <p14:sldId id="993"/>
            <p14:sldId id="1216"/>
            <p14:sldId id="1230"/>
            <p14:sldId id="996"/>
            <p14:sldId id="999"/>
            <p14:sldId id="1231"/>
            <p14:sldId id="997"/>
            <p14:sldId id="998"/>
            <p14:sldId id="1217"/>
            <p14:sldId id="1218"/>
            <p14:sldId id="1219"/>
            <p14:sldId id="1000"/>
            <p14:sldId id="1004"/>
            <p14:sldId id="1005"/>
            <p14:sldId id="1007"/>
            <p14:sldId id="1008"/>
            <p14:sldId id="1009"/>
            <p14:sldId id="1001"/>
            <p14:sldId id="1220"/>
            <p14:sldId id="1221"/>
            <p14:sldId id="1222"/>
            <p14:sldId id="1229"/>
            <p14:sldId id="1002"/>
            <p14:sldId id="1376"/>
            <p14:sldId id="1375"/>
            <p14:sldId id="1379"/>
            <p14:sldId id="1003"/>
            <p14:sldId id="1245"/>
            <p14:sldId id="1013"/>
            <p14:sldId id="1016"/>
            <p14:sldId id="1366"/>
            <p14:sldId id="1367"/>
            <p14:sldId id="1015"/>
            <p14:sldId id="1017"/>
            <p14:sldId id="1018"/>
            <p14:sldId id="1019"/>
          </p14:sldIdLst>
        </p14:section>
        <p14:section name="Method : 6 - Measures of Random Variables" id="{48969543-860F-4016-B6F3-F407147486CB}">
          <p14:sldIdLst>
            <p14:sldId id="1020"/>
            <p14:sldId id="1368"/>
            <p14:sldId id="1232"/>
            <p14:sldId id="1021"/>
            <p14:sldId id="1371"/>
            <p14:sldId id="1380"/>
            <p14:sldId id="1381"/>
            <p14:sldId id="1382"/>
            <p14:sldId id="1384"/>
            <p14:sldId id="976"/>
            <p14:sldId id="1385"/>
            <p14:sldId id="1386"/>
            <p14:sldId id="1390"/>
            <p14:sldId id="1387"/>
            <p14:sldId id="1388"/>
            <p14:sldId id="1370"/>
            <p14:sldId id="1372"/>
            <p14:sldId id="1369"/>
            <p14:sldId id="1225"/>
            <p14:sldId id="1374"/>
            <p14:sldId id="1023"/>
            <p14:sldId id="1226"/>
            <p14:sldId id="1235"/>
            <p14:sldId id="1025"/>
            <p14:sldId id="1028"/>
            <p14:sldId id="1029"/>
            <p14:sldId id="1030"/>
            <p14:sldId id="1032"/>
            <p14:sldId id="1033"/>
            <p14:sldId id="1038"/>
            <p14:sldId id="1039"/>
            <p14:sldId id="1040"/>
            <p14:sldId id="1041"/>
            <p14:sldId id="1042"/>
            <p14:sldId id="1043"/>
            <p14:sldId id="1044"/>
            <p14:sldId id="1045"/>
          </p14:sldIdLst>
        </p14:section>
        <p14:section name="Method : 7 - Cumulative Distribution Function" id="{B3D279BD-954C-4CF2-A7E0-7C1A16C71156}">
          <p14:sldIdLst>
            <p14:sldId id="1046"/>
            <p14:sldId id="1236"/>
            <p14:sldId id="1237"/>
            <p14:sldId id="1048"/>
            <p14:sldId id="1049"/>
            <p14:sldId id="1248"/>
            <p14:sldId id="1249"/>
            <p14:sldId id="1257"/>
            <p14:sldId id="1258"/>
            <p14:sldId id="1262"/>
            <p14:sldId id="1053"/>
            <p14:sldId id="1054"/>
            <p14:sldId id="1050"/>
            <p14:sldId id="1250"/>
            <p14:sldId id="1052"/>
            <p14:sldId id="1240"/>
            <p14:sldId id="1055"/>
            <p14:sldId id="1056"/>
            <p14:sldId id="1057"/>
            <p14:sldId id="1241"/>
            <p14:sldId id="1260"/>
            <p14:sldId id="1058"/>
            <p14:sldId id="1059"/>
            <p14:sldId id="1060"/>
            <p14:sldId id="1065"/>
            <p14:sldId id="1061"/>
            <p14:sldId id="1062"/>
            <p14:sldId id="1063"/>
          </p14:sldIdLst>
        </p14:section>
        <p14:section name="Revision of Improper Integral of First Kind" id="{CCD31B3E-7695-43F6-9D82-8A02058B82A1}">
          <p14:sldIdLst>
            <p14:sldId id="347"/>
            <p14:sldId id="581"/>
            <p14:sldId id="348"/>
            <p14:sldId id="606"/>
            <p14:sldId id="607"/>
            <p14:sldId id="1389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sujain39@gmail.com" initials="v" lastIdx="1" clrIdx="0">
    <p:extLst>
      <p:ext uri="{19B8F6BF-5375-455C-9EA6-DF929625EA0E}">
        <p15:presenceInfo xmlns:p15="http://schemas.microsoft.com/office/powerpoint/2012/main" userId="4e3c4d1726c659fc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009788"/>
    <a:srgbClr val="FE5722"/>
    <a:srgbClr val="FF4848"/>
    <a:srgbClr val="301B92"/>
    <a:srgbClr val="C76765"/>
    <a:srgbClr val="FF9801"/>
    <a:srgbClr val="B14440"/>
    <a:srgbClr val="0690DF"/>
    <a:srgbClr val="B71B1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Medium Style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434" autoAdjust="0"/>
  </p:normalViewPr>
  <p:slideViewPr>
    <p:cSldViewPr snapToGrid="0">
      <p:cViewPr varScale="1">
        <p:scale>
          <a:sx n="79" d="100"/>
          <a:sy n="79" d="100"/>
        </p:scale>
        <p:origin x="773" y="72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-2659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61877"/>
    </p:cViewPr>
  </p:sorterViewPr>
  <p:notesViewPr>
    <p:cSldViewPr snapToGrid="0">
      <p:cViewPr varScale="1">
        <p:scale>
          <a:sx n="60" d="100"/>
          <a:sy n="60" d="100"/>
        </p:scale>
        <p:origin x="3187" y="4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99" Type="http://schemas.openxmlformats.org/officeDocument/2006/relationships/slide" Target="slides/slide297.xml"/><Relationship Id="rId21" Type="http://schemas.openxmlformats.org/officeDocument/2006/relationships/slide" Target="slides/slide19.xml"/><Relationship Id="rId63" Type="http://schemas.openxmlformats.org/officeDocument/2006/relationships/slide" Target="slides/slide61.xml"/><Relationship Id="rId159" Type="http://schemas.openxmlformats.org/officeDocument/2006/relationships/slide" Target="slides/slide157.xml"/><Relationship Id="rId324" Type="http://schemas.openxmlformats.org/officeDocument/2006/relationships/font" Target="fonts/font6.fntdata"/><Relationship Id="rId170" Type="http://schemas.openxmlformats.org/officeDocument/2006/relationships/slide" Target="slides/slide168.xml"/><Relationship Id="rId226" Type="http://schemas.openxmlformats.org/officeDocument/2006/relationships/slide" Target="slides/slide224.xml"/><Relationship Id="rId268" Type="http://schemas.openxmlformats.org/officeDocument/2006/relationships/slide" Target="slides/slide266.xml"/><Relationship Id="rId32" Type="http://schemas.openxmlformats.org/officeDocument/2006/relationships/slide" Target="slides/slide30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335" Type="http://schemas.openxmlformats.org/officeDocument/2006/relationships/tableStyles" Target="tableStyles.xml"/><Relationship Id="rId5" Type="http://schemas.openxmlformats.org/officeDocument/2006/relationships/slide" Target="slides/slide3.xml"/><Relationship Id="rId181" Type="http://schemas.openxmlformats.org/officeDocument/2006/relationships/slide" Target="slides/slide179.xml"/><Relationship Id="rId237" Type="http://schemas.openxmlformats.org/officeDocument/2006/relationships/slide" Target="slides/slide235.xml"/><Relationship Id="rId279" Type="http://schemas.openxmlformats.org/officeDocument/2006/relationships/slide" Target="slides/slide277.xml"/><Relationship Id="rId43" Type="http://schemas.openxmlformats.org/officeDocument/2006/relationships/slide" Target="slides/slide41.xml"/><Relationship Id="rId139" Type="http://schemas.openxmlformats.org/officeDocument/2006/relationships/slide" Target="slides/slide137.xml"/><Relationship Id="rId290" Type="http://schemas.openxmlformats.org/officeDocument/2006/relationships/slide" Target="slides/slide288.xml"/><Relationship Id="rId304" Type="http://schemas.openxmlformats.org/officeDocument/2006/relationships/slide" Target="slides/slide302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92" Type="http://schemas.openxmlformats.org/officeDocument/2006/relationships/slide" Target="slides/slide190.xml"/><Relationship Id="rId206" Type="http://schemas.openxmlformats.org/officeDocument/2006/relationships/slide" Target="slides/slide204.xml"/><Relationship Id="rId248" Type="http://schemas.openxmlformats.org/officeDocument/2006/relationships/slide" Target="slides/slide246.xml"/><Relationship Id="rId12" Type="http://schemas.openxmlformats.org/officeDocument/2006/relationships/slide" Target="slides/slide10.xml"/><Relationship Id="rId108" Type="http://schemas.openxmlformats.org/officeDocument/2006/relationships/slide" Target="slides/slide106.xml"/><Relationship Id="rId315" Type="http://schemas.openxmlformats.org/officeDocument/2006/relationships/slide" Target="slides/slide313.xml"/><Relationship Id="rId54" Type="http://schemas.openxmlformats.org/officeDocument/2006/relationships/slide" Target="slides/slide52.xml"/><Relationship Id="rId96" Type="http://schemas.openxmlformats.org/officeDocument/2006/relationships/slide" Target="slides/slide94.xml"/><Relationship Id="rId161" Type="http://schemas.openxmlformats.org/officeDocument/2006/relationships/slide" Target="slides/slide159.xml"/><Relationship Id="rId217" Type="http://schemas.openxmlformats.org/officeDocument/2006/relationships/slide" Target="slides/slide215.xml"/><Relationship Id="rId259" Type="http://schemas.openxmlformats.org/officeDocument/2006/relationships/slide" Target="slides/slide257.xml"/><Relationship Id="rId23" Type="http://schemas.openxmlformats.org/officeDocument/2006/relationships/slide" Target="slides/slide21.xml"/><Relationship Id="rId119" Type="http://schemas.openxmlformats.org/officeDocument/2006/relationships/slide" Target="slides/slide117.xml"/><Relationship Id="rId270" Type="http://schemas.openxmlformats.org/officeDocument/2006/relationships/slide" Target="slides/slide268.xml"/><Relationship Id="rId326" Type="http://schemas.openxmlformats.org/officeDocument/2006/relationships/font" Target="fonts/font8.fntdata"/><Relationship Id="rId65" Type="http://schemas.openxmlformats.org/officeDocument/2006/relationships/slide" Target="slides/slide63.xml"/><Relationship Id="rId130" Type="http://schemas.openxmlformats.org/officeDocument/2006/relationships/slide" Target="slides/slide128.xml"/><Relationship Id="rId172" Type="http://schemas.openxmlformats.org/officeDocument/2006/relationships/slide" Target="slides/slide170.xml"/><Relationship Id="rId228" Type="http://schemas.openxmlformats.org/officeDocument/2006/relationships/slide" Target="slides/slide226.xml"/><Relationship Id="rId281" Type="http://schemas.openxmlformats.org/officeDocument/2006/relationships/slide" Target="slides/slide279.xml"/><Relationship Id="rId34" Type="http://schemas.openxmlformats.org/officeDocument/2006/relationships/slide" Target="slides/slide32.xml"/><Relationship Id="rId76" Type="http://schemas.openxmlformats.org/officeDocument/2006/relationships/slide" Target="slides/slide74.xml"/><Relationship Id="rId141" Type="http://schemas.openxmlformats.org/officeDocument/2006/relationships/slide" Target="slides/slide139.xml"/><Relationship Id="rId7" Type="http://schemas.openxmlformats.org/officeDocument/2006/relationships/slide" Target="slides/slide5.xml"/><Relationship Id="rId183" Type="http://schemas.openxmlformats.org/officeDocument/2006/relationships/slide" Target="slides/slide181.xml"/><Relationship Id="rId239" Type="http://schemas.openxmlformats.org/officeDocument/2006/relationships/slide" Target="slides/slide237.xml"/><Relationship Id="rId250" Type="http://schemas.openxmlformats.org/officeDocument/2006/relationships/slide" Target="slides/slide248.xml"/><Relationship Id="rId292" Type="http://schemas.openxmlformats.org/officeDocument/2006/relationships/slide" Target="slides/slide290.xml"/><Relationship Id="rId306" Type="http://schemas.openxmlformats.org/officeDocument/2006/relationships/slide" Target="slides/slide304.xml"/><Relationship Id="rId24" Type="http://schemas.openxmlformats.org/officeDocument/2006/relationships/slide" Target="slides/slide22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31" Type="http://schemas.openxmlformats.org/officeDocument/2006/relationships/slide" Target="slides/slide129.xml"/><Relationship Id="rId327" Type="http://schemas.openxmlformats.org/officeDocument/2006/relationships/font" Target="fonts/font9.fntdata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slide" Target="slides/slide192.xml"/><Relationship Id="rId208" Type="http://schemas.openxmlformats.org/officeDocument/2006/relationships/slide" Target="slides/slide206.xml"/><Relationship Id="rId229" Type="http://schemas.openxmlformats.org/officeDocument/2006/relationships/slide" Target="slides/slide227.xml"/><Relationship Id="rId240" Type="http://schemas.openxmlformats.org/officeDocument/2006/relationships/slide" Target="slides/slide238.xml"/><Relationship Id="rId261" Type="http://schemas.openxmlformats.org/officeDocument/2006/relationships/slide" Target="slides/slide259.xml"/><Relationship Id="rId14" Type="http://schemas.openxmlformats.org/officeDocument/2006/relationships/slide" Target="slides/slide12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282" Type="http://schemas.openxmlformats.org/officeDocument/2006/relationships/slide" Target="slides/slide280.xml"/><Relationship Id="rId317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219" Type="http://schemas.openxmlformats.org/officeDocument/2006/relationships/slide" Target="slides/slide217.xml"/><Relationship Id="rId230" Type="http://schemas.openxmlformats.org/officeDocument/2006/relationships/slide" Target="slides/slide228.xml"/><Relationship Id="rId251" Type="http://schemas.openxmlformats.org/officeDocument/2006/relationships/slide" Target="slides/slide249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72" Type="http://schemas.openxmlformats.org/officeDocument/2006/relationships/slide" Target="slides/slide270.xml"/><Relationship Id="rId293" Type="http://schemas.openxmlformats.org/officeDocument/2006/relationships/slide" Target="slides/slide291.xml"/><Relationship Id="rId307" Type="http://schemas.openxmlformats.org/officeDocument/2006/relationships/slide" Target="slides/slide305.xml"/><Relationship Id="rId328" Type="http://schemas.openxmlformats.org/officeDocument/2006/relationships/font" Target="fonts/font10.fntdata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95" Type="http://schemas.openxmlformats.org/officeDocument/2006/relationships/slide" Target="slides/slide193.xml"/><Relationship Id="rId209" Type="http://schemas.openxmlformats.org/officeDocument/2006/relationships/slide" Target="slides/slide207.xml"/><Relationship Id="rId220" Type="http://schemas.openxmlformats.org/officeDocument/2006/relationships/slide" Target="slides/slide218.xml"/><Relationship Id="rId241" Type="http://schemas.openxmlformats.org/officeDocument/2006/relationships/slide" Target="slides/slide23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262" Type="http://schemas.openxmlformats.org/officeDocument/2006/relationships/slide" Target="slides/slide260.xml"/><Relationship Id="rId283" Type="http://schemas.openxmlformats.org/officeDocument/2006/relationships/slide" Target="slides/slide281.xml"/><Relationship Id="rId318" Type="http://schemas.openxmlformats.org/officeDocument/2006/relationships/handoutMaster" Target="handoutMasters/handoutMaster1.xml"/><Relationship Id="rId78" Type="http://schemas.openxmlformats.org/officeDocument/2006/relationships/slide" Target="slides/slide76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64" Type="http://schemas.openxmlformats.org/officeDocument/2006/relationships/slide" Target="slides/slide162.xml"/><Relationship Id="rId185" Type="http://schemas.openxmlformats.org/officeDocument/2006/relationships/slide" Target="slides/slide183.xml"/><Relationship Id="rId9" Type="http://schemas.openxmlformats.org/officeDocument/2006/relationships/slide" Target="slides/slide7.xml"/><Relationship Id="rId210" Type="http://schemas.openxmlformats.org/officeDocument/2006/relationships/slide" Target="slides/slide208.xml"/><Relationship Id="rId26" Type="http://schemas.openxmlformats.org/officeDocument/2006/relationships/slide" Target="slides/slide24.xml"/><Relationship Id="rId231" Type="http://schemas.openxmlformats.org/officeDocument/2006/relationships/slide" Target="slides/slide229.xml"/><Relationship Id="rId252" Type="http://schemas.openxmlformats.org/officeDocument/2006/relationships/slide" Target="slides/slide250.xml"/><Relationship Id="rId273" Type="http://schemas.openxmlformats.org/officeDocument/2006/relationships/slide" Target="slides/slide271.xml"/><Relationship Id="rId294" Type="http://schemas.openxmlformats.org/officeDocument/2006/relationships/slide" Target="slides/slide292.xml"/><Relationship Id="rId308" Type="http://schemas.openxmlformats.org/officeDocument/2006/relationships/slide" Target="slides/slide306.xml"/><Relationship Id="rId329" Type="http://schemas.openxmlformats.org/officeDocument/2006/relationships/font" Target="fonts/font11.fntdata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slide" Target="slides/slide152.xml"/><Relationship Id="rId175" Type="http://schemas.openxmlformats.org/officeDocument/2006/relationships/slide" Target="slides/slide173.xml"/><Relationship Id="rId196" Type="http://schemas.openxmlformats.org/officeDocument/2006/relationships/slide" Target="slides/slide194.xml"/><Relationship Id="rId200" Type="http://schemas.openxmlformats.org/officeDocument/2006/relationships/slide" Target="slides/slide198.xml"/><Relationship Id="rId16" Type="http://schemas.openxmlformats.org/officeDocument/2006/relationships/slide" Target="slides/slide14.xml"/><Relationship Id="rId221" Type="http://schemas.openxmlformats.org/officeDocument/2006/relationships/slide" Target="slides/slide219.xml"/><Relationship Id="rId242" Type="http://schemas.openxmlformats.org/officeDocument/2006/relationships/slide" Target="slides/slide240.xml"/><Relationship Id="rId263" Type="http://schemas.openxmlformats.org/officeDocument/2006/relationships/slide" Target="slides/slide261.xml"/><Relationship Id="rId284" Type="http://schemas.openxmlformats.org/officeDocument/2006/relationships/slide" Target="slides/slide282.xml"/><Relationship Id="rId319" Type="http://schemas.openxmlformats.org/officeDocument/2006/relationships/font" Target="fonts/font1.fntdata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330" Type="http://schemas.openxmlformats.org/officeDocument/2006/relationships/font" Target="fonts/font12.fntdata"/><Relationship Id="rId90" Type="http://schemas.openxmlformats.org/officeDocument/2006/relationships/slide" Target="slides/slide88.xml"/><Relationship Id="rId165" Type="http://schemas.openxmlformats.org/officeDocument/2006/relationships/slide" Target="slides/slide163.xml"/><Relationship Id="rId186" Type="http://schemas.openxmlformats.org/officeDocument/2006/relationships/slide" Target="slides/slide184.xml"/><Relationship Id="rId211" Type="http://schemas.openxmlformats.org/officeDocument/2006/relationships/slide" Target="slides/slide209.xml"/><Relationship Id="rId232" Type="http://schemas.openxmlformats.org/officeDocument/2006/relationships/slide" Target="slides/slide230.xml"/><Relationship Id="rId253" Type="http://schemas.openxmlformats.org/officeDocument/2006/relationships/slide" Target="slides/slide251.xml"/><Relationship Id="rId274" Type="http://schemas.openxmlformats.org/officeDocument/2006/relationships/slide" Target="slides/slide272.xml"/><Relationship Id="rId295" Type="http://schemas.openxmlformats.org/officeDocument/2006/relationships/slide" Target="slides/slide293.xml"/><Relationship Id="rId309" Type="http://schemas.openxmlformats.org/officeDocument/2006/relationships/slide" Target="slides/slide307.xml"/><Relationship Id="rId27" Type="http://schemas.openxmlformats.org/officeDocument/2006/relationships/slide" Target="slides/slide25.xml"/><Relationship Id="rId48" Type="http://schemas.openxmlformats.org/officeDocument/2006/relationships/slide" Target="slides/slide46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34" Type="http://schemas.openxmlformats.org/officeDocument/2006/relationships/slide" Target="slides/slide132.xml"/><Relationship Id="rId320" Type="http://schemas.openxmlformats.org/officeDocument/2006/relationships/font" Target="fonts/font2.fntdata"/><Relationship Id="rId80" Type="http://schemas.openxmlformats.org/officeDocument/2006/relationships/slide" Target="slides/slide78.xml"/><Relationship Id="rId155" Type="http://schemas.openxmlformats.org/officeDocument/2006/relationships/slide" Target="slides/slide153.xml"/><Relationship Id="rId176" Type="http://schemas.openxmlformats.org/officeDocument/2006/relationships/slide" Target="slides/slide174.xml"/><Relationship Id="rId197" Type="http://schemas.openxmlformats.org/officeDocument/2006/relationships/slide" Target="slides/slide195.xml"/><Relationship Id="rId201" Type="http://schemas.openxmlformats.org/officeDocument/2006/relationships/slide" Target="slides/slide199.xml"/><Relationship Id="rId222" Type="http://schemas.openxmlformats.org/officeDocument/2006/relationships/slide" Target="slides/slide220.xml"/><Relationship Id="rId243" Type="http://schemas.openxmlformats.org/officeDocument/2006/relationships/slide" Target="slides/slide241.xml"/><Relationship Id="rId264" Type="http://schemas.openxmlformats.org/officeDocument/2006/relationships/slide" Target="slides/slide262.xml"/><Relationship Id="rId285" Type="http://schemas.openxmlformats.org/officeDocument/2006/relationships/slide" Target="slides/slide283.xml"/><Relationship Id="rId17" Type="http://schemas.openxmlformats.org/officeDocument/2006/relationships/slide" Target="slides/slide15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24" Type="http://schemas.openxmlformats.org/officeDocument/2006/relationships/slide" Target="slides/slide122.xml"/><Relationship Id="rId310" Type="http://schemas.openxmlformats.org/officeDocument/2006/relationships/slide" Target="slides/slide308.xml"/><Relationship Id="rId70" Type="http://schemas.openxmlformats.org/officeDocument/2006/relationships/slide" Target="slides/slide68.xml"/><Relationship Id="rId91" Type="http://schemas.openxmlformats.org/officeDocument/2006/relationships/slide" Target="slides/slide89.xml"/><Relationship Id="rId145" Type="http://schemas.openxmlformats.org/officeDocument/2006/relationships/slide" Target="slides/slide143.xml"/><Relationship Id="rId166" Type="http://schemas.openxmlformats.org/officeDocument/2006/relationships/slide" Target="slides/slide164.xml"/><Relationship Id="rId187" Type="http://schemas.openxmlformats.org/officeDocument/2006/relationships/slide" Target="slides/slide185.xml"/><Relationship Id="rId331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0.xml"/><Relationship Id="rId233" Type="http://schemas.openxmlformats.org/officeDocument/2006/relationships/slide" Target="slides/slide231.xml"/><Relationship Id="rId254" Type="http://schemas.openxmlformats.org/officeDocument/2006/relationships/slide" Target="slides/slide252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275" Type="http://schemas.openxmlformats.org/officeDocument/2006/relationships/slide" Target="slides/slide273.xml"/><Relationship Id="rId296" Type="http://schemas.openxmlformats.org/officeDocument/2006/relationships/slide" Target="slides/slide294.xml"/><Relationship Id="rId300" Type="http://schemas.openxmlformats.org/officeDocument/2006/relationships/slide" Target="slides/slide298.xml"/><Relationship Id="rId60" Type="http://schemas.openxmlformats.org/officeDocument/2006/relationships/slide" Target="slides/slide58.xml"/><Relationship Id="rId81" Type="http://schemas.openxmlformats.org/officeDocument/2006/relationships/slide" Target="slides/slide79.xml"/><Relationship Id="rId135" Type="http://schemas.openxmlformats.org/officeDocument/2006/relationships/slide" Target="slides/slide133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slide" Target="slides/slide196.xml"/><Relationship Id="rId321" Type="http://schemas.openxmlformats.org/officeDocument/2006/relationships/font" Target="fonts/font3.fntdata"/><Relationship Id="rId202" Type="http://schemas.openxmlformats.org/officeDocument/2006/relationships/slide" Target="slides/slide200.xml"/><Relationship Id="rId223" Type="http://schemas.openxmlformats.org/officeDocument/2006/relationships/slide" Target="slides/slide221.xml"/><Relationship Id="rId244" Type="http://schemas.openxmlformats.org/officeDocument/2006/relationships/slide" Target="slides/slide242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265" Type="http://schemas.openxmlformats.org/officeDocument/2006/relationships/slide" Target="slides/slide263.xml"/><Relationship Id="rId286" Type="http://schemas.openxmlformats.org/officeDocument/2006/relationships/slide" Target="slides/slide284.xml"/><Relationship Id="rId50" Type="http://schemas.openxmlformats.org/officeDocument/2006/relationships/slide" Target="slides/slide48.xml"/><Relationship Id="rId104" Type="http://schemas.openxmlformats.org/officeDocument/2006/relationships/slide" Target="slides/slide102.xml"/><Relationship Id="rId125" Type="http://schemas.openxmlformats.org/officeDocument/2006/relationships/slide" Target="slides/slide123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311" Type="http://schemas.openxmlformats.org/officeDocument/2006/relationships/slide" Target="slides/slide309.xml"/><Relationship Id="rId332" Type="http://schemas.openxmlformats.org/officeDocument/2006/relationships/presProps" Target="presProps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13" Type="http://schemas.openxmlformats.org/officeDocument/2006/relationships/slide" Target="slides/slide211.xml"/><Relationship Id="rId234" Type="http://schemas.openxmlformats.org/officeDocument/2006/relationships/slide" Target="slides/slide232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55" Type="http://schemas.openxmlformats.org/officeDocument/2006/relationships/slide" Target="slides/slide253.xml"/><Relationship Id="rId276" Type="http://schemas.openxmlformats.org/officeDocument/2006/relationships/slide" Target="slides/slide274.xml"/><Relationship Id="rId297" Type="http://schemas.openxmlformats.org/officeDocument/2006/relationships/slide" Target="slides/slide295.xml"/><Relationship Id="rId40" Type="http://schemas.openxmlformats.org/officeDocument/2006/relationships/slide" Target="slides/slide38.xml"/><Relationship Id="rId115" Type="http://schemas.openxmlformats.org/officeDocument/2006/relationships/slide" Target="slides/slide113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301" Type="http://schemas.openxmlformats.org/officeDocument/2006/relationships/slide" Target="slides/slide299.xml"/><Relationship Id="rId322" Type="http://schemas.openxmlformats.org/officeDocument/2006/relationships/font" Target="fonts/font4.fntdata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19" Type="http://schemas.openxmlformats.org/officeDocument/2006/relationships/slide" Target="slides/slide17.xml"/><Relationship Id="rId224" Type="http://schemas.openxmlformats.org/officeDocument/2006/relationships/slide" Target="slides/slide222.xml"/><Relationship Id="rId245" Type="http://schemas.openxmlformats.org/officeDocument/2006/relationships/slide" Target="slides/slide243.xml"/><Relationship Id="rId266" Type="http://schemas.openxmlformats.org/officeDocument/2006/relationships/slide" Target="slides/slide264.xml"/><Relationship Id="rId287" Type="http://schemas.openxmlformats.org/officeDocument/2006/relationships/slide" Target="slides/slide285.xml"/><Relationship Id="rId30" Type="http://schemas.openxmlformats.org/officeDocument/2006/relationships/slide" Target="slides/slide2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312" Type="http://schemas.openxmlformats.org/officeDocument/2006/relationships/slide" Target="slides/slide310.xml"/><Relationship Id="rId333" Type="http://schemas.openxmlformats.org/officeDocument/2006/relationships/viewProps" Target="viewProps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14" Type="http://schemas.openxmlformats.org/officeDocument/2006/relationships/slide" Target="slides/slide212.xml"/><Relationship Id="rId235" Type="http://schemas.openxmlformats.org/officeDocument/2006/relationships/slide" Target="slides/slide233.xml"/><Relationship Id="rId256" Type="http://schemas.openxmlformats.org/officeDocument/2006/relationships/slide" Target="slides/slide254.xml"/><Relationship Id="rId277" Type="http://schemas.openxmlformats.org/officeDocument/2006/relationships/slide" Target="slides/slide275.xml"/><Relationship Id="rId298" Type="http://schemas.openxmlformats.org/officeDocument/2006/relationships/slide" Target="slides/slide296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302" Type="http://schemas.openxmlformats.org/officeDocument/2006/relationships/slide" Target="slides/slide300.xml"/><Relationship Id="rId323" Type="http://schemas.openxmlformats.org/officeDocument/2006/relationships/font" Target="fonts/font5.fntdata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179" Type="http://schemas.openxmlformats.org/officeDocument/2006/relationships/slide" Target="slides/slide177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225" Type="http://schemas.openxmlformats.org/officeDocument/2006/relationships/slide" Target="slides/slide223.xml"/><Relationship Id="rId246" Type="http://schemas.openxmlformats.org/officeDocument/2006/relationships/slide" Target="slides/slide244.xml"/><Relationship Id="rId267" Type="http://schemas.openxmlformats.org/officeDocument/2006/relationships/slide" Target="slides/slide265.xml"/><Relationship Id="rId288" Type="http://schemas.openxmlformats.org/officeDocument/2006/relationships/slide" Target="slides/slide286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313" Type="http://schemas.openxmlformats.org/officeDocument/2006/relationships/slide" Target="slides/slide31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94" Type="http://schemas.openxmlformats.org/officeDocument/2006/relationships/slide" Target="slides/slide92.xml"/><Relationship Id="rId148" Type="http://schemas.openxmlformats.org/officeDocument/2006/relationships/slide" Target="slides/slide146.xml"/><Relationship Id="rId169" Type="http://schemas.openxmlformats.org/officeDocument/2006/relationships/slide" Target="slides/slide167.xml"/><Relationship Id="rId334" Type="http://schemas.openxmlformats.org/officeDocument/2006/relationships/theme" Target="theme/theme1.xml"/><Relationship Id="rId4" Type="http://schemas.openxmlformats.org/officeDocument/2006/relationships/slide" Target="slides/slide2.xml"/><Relationship Id="rId180" Type="http://schemas.openxmlformats.org/officeDocument/2006/relationships/slide" Target="slides/slide178.xml"/><Relationship Id="rId215" Type="http://schemas.openxmlformats.org/officeDocument/2006/relationships/slide" Target="slides/slide213.xml"/><Relationship Id="rId236" Type="http://schemas.openxmlformats.org/officeDocument/2006/relationships/slide" Target="slides/slide234.xml"/><Relationship Id="rId257" Type="http://schemas.openxmlformats.org/officeDocument/2006/relationships/slide" Target="slides/slide255.xml"/><Relationship Id="rId278" Type="http://schemas.openxmlformats.org/officeDocument/2006/relationships/slide" Target="slides/slide276.xml"/><Relationship Id="rId303" Type="http://schemas.openxmlformats.org/officeDocument/2006/relationships/slide" Target="slides/slide301.xml"/><Relationship Id="rId42" Type="http://schemas.openxmlformats.org/officeDocument/2006/relationships/slide" Target="slides/slide40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91" Type="http://schemas.openxmlformats.org/officeDocument/2006/relationships/slide" Target="slides/slide189.xml"/><Relationship Id="rId205" Type="http://schemas.openxmlformats.org/officeDocument/2006/relationships/slide" Target="slides/slide203.xml"/><Relationship Id="rId247" Type="http://schemas.openxmlformats.org/officeDocument/2006/relationships/slide" Target="slides/slide245.xml"/><Relationship Id="rId107" Type="http://schemas.openxmlformats.org/officeDocument/2006/relationships/slide" Target="slides/slide105.xml"/><Relationship Id="rId289" Type="http://schemas.openxmlformats.org/officeDocument/2006/relationships/slide" Target="slides/slide287.xml"/><Relationship Id="rId11" Type="http://schemas.openxmlformats.org/officeDocument/2006/relationships/slide" Target="slides/slide9.xml"/><Relationship Id="rId53" Type="http://schemas.openxmlformats.org/officeDocument/2006/relationships/slide" Target="slides/slide51.xml"/><Relationship Id="rId149" Type="http://schemas.openxmlformats.org/officeDocument/2006/relationships/slide" Target="slides/slide147.xml"/><Relationship Id="rId314" Type="http://schemas.openxmlformats.org/officeDocument/2006/relationships/slide" Target="slides/slide312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216" Type="http://schemas.openxmlformats.org/officeDocument/2006/relationships/slide" Target="slides/slide214.xml"/><Relationship Id="rId258" Type="http://schemas.openxmlformats.org/officeDocument/2006/relationships/slide" Target="slides/slide256.xml"/><Relationship Id="rId22" Type="http://schemas.openxmlformats.org/officeDocument/2006/relationships/slide" Target="slides/slide20.xml"/><Relationship Id="rId64" Type="http://schemas.openxmlformats.org/officeDocument/2006/relationships/slide" Target="slides/slide62.xml"/><Relationship Id="rId118" Type="http://schemas.openxmlformats.org/officeDocument/2006/relationships/slide" Target="slides/slide116.xml"/><Relationship Id="rId325" Type="http://schemas.openxmlformats.org/officeDocument/2006/relationships/font" Target="fonts/font7.fntdata"/><Relationship Id="rId171" Type="http://schemas.openxmlformats.org/officeDocument/2006/relationships/slide" Target="slides/slide169.xml"/><Relationship Id="rId227" Type="http://schemas.openxmlformats.org/officeDocument/2006/relationships/slide" Target="slides/slide225.xml"/><Relationship Id="rId269" Type="http://schemas.openxmlformats.org/officeDocument/2006/relationships/slide" Target="slides/slide267.xml"/><Relationship Id="rId33" Type="http://schemas.openxmlformats.org/officeDocument/2006/relationships/slide" Target="slides/slide31.xml"/><Relationship Id="rId129" Type="http://schemas.openxmlformats.org/officeDocument/2006/relationships/slide" Target="slides/slide127.xml"/><Relationship Id="rId280" Type="http://schemas.openxmlformats.org/officeDocument/2006/relationships/slide" Target="slides/slide278.xml"/><Relationship Id="rId75" Type="http://schemas.openxmlformats.org/officeDocument/2006/relationships/slide" Target="slides/slide73.xml"/><Relationship Id="rId140" Type="http://schemas.openxmlformats.org/officeDocument/2006/relationships/slide" Target="slides/slide138.xml"/><Relationship Id="rId182" Type="http://schemas.openxmlformats.org/officeDocument/2006/relationships/slide" Target="slides/slide180.xml"/><Relationship Id="rId6" Type="http://schemas.openxmlformats.org/officeDocument/2006/relationships/slide" Target="slides/slide4.xml"/><Relationship Id="rId238" Type="http://schemas.openxmlformats.org/officeDocument/2006/relationships/slide" Target="slides/slide236.xml"/><Relationship Id="rId291" Type="http://schemas.openxmlformats.org/officeDocument/2006/relationships/slide" Target="slides/slide289.xml"/><Relationship Id="rId305" Type="http://schemas.openxmlformats.org/officeDocument/2006/relationships/slide" Target="slides/slide303.xml"/><Relationship Id="rId44" Type="http://schemas.openxmlformats.org/officeDocument/2006/relationships/slide" Target="slides/slide42.xml"/><Relationship Id="rId86" Type="http://schemas.openxmlformats.org/officeDocument/2006/relationships/slide" Target="slides/slide84.xml"/><Relationship Id="rId151" Type="http://schemas.openxmlformats.org/officeDocument/2006/relationships/slide" Target="slides/slide149.xml"/><Relationship Id="rId193" Type="http://schemas.openxmlformats.org/officeDocument/2006/relationships/slide" Target="slides/slide191.xml"/><Relationship Id="rId207" Type="http://schemas.openxmlformats.org/officeDocument/2006/relationships/slide" Target="slides/slide205.xml"/><Relationship Id="rId249" Type="http://schemas.openxmlformats.org/officeDocument/2006/relationships/slide" Target="slides/slide247.xml"/><Relationship Id="rId13" Type="http://schemas.openxmlformats.org/officeDocument/2006/relationships/slide" Target="slides/slide11.xml"/><Relationship Id="rId109" Type="http://schemas.openxmlformats.org/officeDocument/2006/relationships/slide" Target="slides/slide107.xml"/><Relationship Id="rId260" Type="http://schemas.openxmlformats.org/officeDocument/2006/relationships/slide" Target="slides/slide258.xml"/><Relationship Id="rId316" Type="http://schemas.openxmlformats.org/officeDocument/2006/relationships/slide" Target="slides/slide314.xml"/><Relationship Id="rId55" Type="http://schemas.openxmlformats.org/officeDocument/2006/relationships/slide" Target="slides/slide53.xml"/><Relationship Id="rId97" Type="http://schemas.openxmlformats.org/officeDocument/2006/relationships/slide" Target="slides/slide95.xml"/><Relationship Id="rId120" Type="http://schemas.openxmlformats.org/officeDocument/2006/relationships/slide" Target="slides/slide118.xml"/><Relationship Id="rId162" Type="http://schemas.openxmlformats.org/officeDocument/2006/relationships/slide" Target="slides/slide160.xml"/><Relationship Id="rId218" Type="http://schemas.openxmlformats.org/officeDocument/2006/relationships/slide" Target="slides/slide216.xml"/><Relationship Id="rId271" Type="http://schemas.openxmlformats.org/officeDocument/2006/relationships/slide" Target="slides/slide26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8/6/2026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84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111.62791" units="1/cm"/>
          <inkml:channelProperty channel="Y" name="resolution" value="55.6701" units="1/cm"/>
          <inkml:channelProperty channel="T" name="resolution" value="1" units="1/dev"/>
        </inkml:channelProperties>
      </inkml:inkSource>
      <inkml:timestamp xml:id="ts0" timeString="2025-12-24T02:36:03.56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10827 15432 0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1023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2.84167" units="1/deg"/>
          <inkml:channelProperty channel="T" name="resolution" value="1" units="1/dev"/>
        </inkml:channelProperties>
      </inkml:inkSource>
      <inkml:timestamp xml:id="ts0" timeString="2025-12-24T02:40:32.43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26228 13024 0 0,'-19'26'12'15,"-8"-3"6"-15,7-6 8 16,7-1-7-16,13-5-12 16,0-3-7-16,0-3-2 15,20-5-5-15,39 0-13 16,37-32-15-16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8/6/2026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95DAB-CE6B-180E-C1C9-099BA3B27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AD7B0B9-B9BC-179D-A60A-78A3C67EF9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D51893-8E9F-49AF-D978-F4D403019D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5F36E72-C0E5-007E-9A8E-D2BF241378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C79BDEF-6165-4E72-B1A6-6E8034CEC24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99577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8E921F-54D8-8D65-EE68-BA6066272B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2D1A88-DCBB-9384-3EE5-90BB96D3FE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AAE896-D3C8-E5A8-93C9-1033D28C7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254C7E-184F-9CCD-9877-CF002B178A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C79BDEF-6165-4E72-B1A6-6E8034CEC24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58725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1852B-D592-E52D-2703-6594A6CA49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91A84C4-BA09-11BF-BA5A-87E0FFC120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A040B1D-6459-423E-6D50-C8FD130BF4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6F1380-2DC8-91CB-86EB-3F77D6479E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01328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48E48A-6A06-0366-6539-5E76293E3F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141383A-7270-0564-86F7-85913AD88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CF376FA-88B6-1504-7595-AC3DDF2B5F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DB0378-9562-5F35-0942-11D4DA02DF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87710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738809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15601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322457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C79BDEF-6165-4E72-B1A6-6E8034CEC24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9897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F532D3-0DFA-ED0E-C2DB-B86C7C2E3C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1E4F353-DC15-A64C-1E5D-620E2651BE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6F94BD-256C-CA93-51B9-3F4DAA36AA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21696E-40C1-75BB-DEF6-3F29DF562F8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22052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111453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571255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811873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67709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675493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46707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6595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165872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11.png"/><Relationship Id="rId9" Type="http://schemas.openxmlformats.org/officeDocument/2006/relationships/image" Target="../media/image10.jpe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11.png"/><Relationship Id="rId9" Type="http://schemas.openxmlformats.org/officeDocument/2006/relationships/image" Target="../media/image10.jpeg"/></Relationships>
</file>

<file path=ppt/slideLayouts/_rels/slideLayout3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3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4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22" name="Footer Placeholder 2">
            <a:extLst>
              <a:ext uri="{FF2B5EF4-FFF2-40B4-BE49-F238E27FC236}">
                <a16:creationId xmlns:a16="http://schemas.microsoft.com/office/drawing/2014/main" id="{DF949A34-812B-4860-89D9-F866C155599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1347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2627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5" name="Footer Placeholder 2">
            <a:extLst>
              <a:ext uri="{FF2B5EF4-FFF2-40B4-BE49-F238E27FC236}">
                <a16:creationId xmlns:a16="http://schemas.microsoft.com/office/drawing/2014/main" id="{31BD2762-073C-4A6C-A015-82D707DA9D9F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8236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435362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6" name="Footer Placeholder 2">
            <a:extLst>
              <a:ext uri="{FF2B5EF4-FFF2-40B4-BE49-F238E27FC236}">
                <a16:creationId xmlns:a16="http://schemas.microsoft.com/office/drawing/2014/main" id="{015DEC30-0CDD-409E-989E-C0E2EBEFF5F1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64977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3" name="Footer Placeholder 2">
            <a:extLst>
              <a:ext uri="{FF2B5EF4-FFF2-40B4-BE49-F238E27FC236}">
                <a16:creationId xmlns:a16="http://schemas.microsoft.com/office/drawing/2014/main" id="{E99367EA-80AE-40C6-9DB7-0517B954E92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509066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57263094-14A1-42B2-AA8F-C31427B28EB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0523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5644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83724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29170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65283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41731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27241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12177"/>
          <a:stretch/>
        </p:blipFill>
        <p:spPr>
          <a:xfrm>
            <a:off x="8435168" y="2252532"/>
            <a:ext cx="3464278" cy="1808024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811303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49991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96680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14410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00117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383110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08034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22" name="Footer Placeholder 2">
            <a:extLst>
              <a:ext uri="{FF2B5EF4-FFF2-40B4-BE49-F238E27FC236}">
                <a16:creationId xmlns:a16="http://schemas.microsoft.com/office/drawing/2014/main" id="{DF949A34-812B-4860-89D9-F866C155599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943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843055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5" name="Footer Placeholder 2">
            <a:extLst>
              <a:ext uri="{FF2B5EF4-FFF2-40B4-BE49-F238E27FC236}">
                <a16:creationId xmlns:a16="http://schemas.microsoft.com/office/drawing/2014/main" id="{31BD2762-073C-4A6C-A015-82D707DA9D9F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25556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985183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6" name="Footer Placeholder 2">
            <a:extLst>
              <a:ext uri="{FF2B5EF4-FFF2-40B4-BE49-F238E27FC236}">
                <a16:creationId xmlns:a16="http://schemas.microsoft.com/office/drawing/2014/main" id="{015DEC30-0CDD-409E-989E-C0E2EBEFF5F1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69419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3" name="Footer Placeholder 2">
            <a:extLst>
              <a:ext uri="{FF2B5EF4-FFF2-40B4-BE49-F238E27FC236}">
                <a16:creationId xmlns:a16="http://schemas.microsoft.com/office/drawing/2014/main" id="{E99367EA-80AE-40C6-9DB7-0517B954E92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99256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Mr. Dhvanik H. Zala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57263094-14A1-42B2-AA8F-C31427B28EB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969535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663626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271497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682796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109770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197770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841575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12177"/>
          <a:stretch/>
        </p:blipFill>
        <p:spPr>
          <a:xfrm>
            <a:off x="8435168" y="2252532"/>
            <a:ext cx="3464278" cy="1808024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144089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508693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962340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312826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0246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700008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9217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3" Type="http://schemas.openxmlformats.org/officeDocument/2006/relationships/slideLayout" Target="../slideLayouts/slideLayout23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2" Type="http://schemas.openxmlformats.org/officeDocument/2006/relationships/slideLayout" Target="../slideLayouts/slideLayout22.xml"/><Relationship Id="rId16" Type="http://schemas.openxmlformats.org/officeDocument/2006/relationships/slideLayout" Target="../slideLayouts/slideLayout36.xml"/><Relationship Id="rId20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5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30.xml"/><Relationship Id="rId19" Type="http://schemas.openxmlformats.org/officeDocument/2006/relationships/slideLayout" Target="../slideLayouts/slideLayout39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4" Type="http://schemas.openxmlformats.org/officeDocument/2006/relationships/slideLayout" Target="../slideLayouts/slideLayout3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8/6/2026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5602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8/6/2026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1410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  <p:sldLayoutId id="2147483726" r:id="rId12"/>
    <p:sldLayoutId id="2147483727" r:id="rId13"/>
    <p:sldLayoutId id="2147483728" r:id="rId14"/>
    <p:sldLayoutId id="2147483729" r:id="rId15"/>
    <p:sldLayoutId id="2147483730" r:id="rId16"/>
    <p:sldLayoutId id="2147483731" r:id="rId17"/>
    <p:sldLayoutId id="2147483732" r:id="rId18"/>
    <p:sldLayoutId id="2147483733" r:id="rId19"/>
    <p:sldLayoutId id="2147483734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12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13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12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8.png"/><Relationship Id="rId5" Type="http://schemas.openxmlformats.org/officeDocument/2006/relationships/image" Target="../media/image217.png"/><Relationship Id="rId4" Type="http://schemas.openxmlformats.org/officeDocument/2006/relationships/image" Target="../media/image216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31.png"/><Relationship Id="rId3" Type="http://schemas.openxmlformats.org/officeDocument/2006/relationships/image" Target="../media/image2081.png"/><Relationship Id="rId7" Type="http://schemas.openxmlformats.org/officeDocument/2006/relationships/image" Target="../media/image2121.png"/><Relationship Id="rId2" Type="http://schemas.openxmlformats.org/officeDocument/2006/relationships/image" Target="../media/image20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11.png"/><Relationship Id="rId5" Type="http://schemas.openxmlformats.org/officeDocument/2006/relationships/image" Target="../media/image2101.png"/><Relationship Id="rId10" Type="http://schemas.openxmlformats.org/officeDocument/2006/relationships/image" Target="../media/image2151.png"/><Relationship Id="rId4" Type="http://schemas.openxmlformats.org/officeDocument/2006/relationships/image" Target="../media/image198.png"/><Relationship Id="rId9" Type="http://schemas.openxmlformats.org/officeDocument/2006/relationships/image" Target="../media/image214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0.png"/><Relationship Id="rId13" Type="http://schemas.openxmlformats.org/officeDocument/2006/relationships/image" Target="../media/image930.png"/><Relationship Id="rId18" Type="http://schemas.openxmlformats.org/officeDocument/2006/relationships/image" Target="../media/image24.png"/><Relationship Id="rId3" Type="http://schemas.openxmlformats.org/officeDocument/2006/relationships/image" Target="../media/image820.png"/><Relationship Id="rId7" Type="http://schemas.openxmlformats.org/officeDocument/2006/relationships/image" Target="../media/image870.png"/><Relationship Id="rId12" Type="http://schemas.openxmlformats.org/officeDocument/2006/relationships/image" Target="../media/image920.png"/><Relationship Id="rId17" Type="http://schemas.openxmlformats.org/officeDocument/2006/relationships/image" Target="../media/image970.png"/><Relationship Id="rId2" Type="http://schemas.openxmlformats.org/officeDocument/2006/relationships/image" Target="../media/image830.png"/><Relationship Id="rId16" Type="http://schemas.openxmlformats.org/officeDocument/2006/relationships/image" Target="../media/image9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60.png"/><Relationship Id="rId11" Type="http://schemas.openxmlformats.org/officeDocument/2006/relationships/image" Target="../media/image910.png"/><Relationship Id="rId5" Type="http://schemas.openxmlformats.org/officeDocument/2006/relationships/image" Target="../media/image850.png"/><Relationship Id="rId15" Type="http://schemas.openxmlformats.org/officeDocument/2006/relationships/image" Target="../media/image950.png"/><Relationship Id="rId10" Type="http://schemas.openxmlformats.org/officeDocument/2006/relationships/image" Target="../media/image900.png"/><Relationship Id="rId19" Type="http://schemas.openxmlformats.org/officeDocument/2006/relationships/image" Target="../media/image18.png"/><Relationship Id="rId4" Type="http://schemas.openxmlformats.org/officeDocument/2006/relationships/image" Target="../media/image840.png"/><Relationship Id="rId9" Type="http://schemas.openxmlformats.org/officeDocument/2006/relationships/image" Target="../media/image890.png"/><Relationship Id="rId14" Type="http://schemas.openxmlformats.org/officeDocument/2006/relationships/image" Target="../media/image940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80.png"/><Relationship Id="rId18" Type="http://schemas.openxmlformats.org/officeDocument/2006/relationships/image" Target="../media/image1330.png"/><Relationship Id="rId26" Type="http://schemas.openxmlformats.org/officeDocument/2006/relationships/image" Target="../media/image1410.png"/><Relationship Id="rId3" Type="http://schemas.openxmlformats.org/officeDocument/2006/relationships/image" Target="../media/image1180.png"/><Relationship Id="rId21" Type="http://schemas.openxmlformats.org/officeDocument/2006/relationships/image" Target="../media/image1360.png"/><Relationship Id="rId7" Type="http://schemas.openxmlformats.org/officeDocument/2006/relationships/image" Target="../media/image1220.png"/><Relationship Id="rId12" Type="http://schemas.openxmlformats.org/officeDocument/2006/relationships/image" Target="../media/image1270.png"/><Relationship Id="rId17" Type="http://schemas.openxmlformats.org/officeDocument/2006/relationships/image" Target="../media/image1320.png"/><Relationship Id="rId25" Type="http://schemas.openxmlformats.org/officeDocument/2006/relationships/image" Target="../media/image1400.png"/><Relationship Id="rId33" Type="http://schemas.openxmlformats.org/officeDocument/2006/relationships/image" Target="../media/image1480.png"/><Relationship Id="rId2" Type="http://schemas.openxmlformats.org/officeDocument/2006/relationships/image" Target="../media/image5710.png"/><Relationship Id="rId16" Type="http://schemas.openxmlformats.org/officeDocument/2006/relationships/image" Target="../media/image1310.png"/><Relationship Id="rId20" Type="http://schemas.openxmlformats.org/officeDocument/2006/relationships/image" Target="../media/image1350.png"/><Relationship Id="rId29" Type="http://schemas.openxmlformats.org/officeDocument/2006/relationships/image" Target="../media/image14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10.png"/><Relationship Id="rId11" Type="http://schemas.openxmlformats.org/officeDocument/2006/relationships/image" Target="../media/image1260.png"/><Relationship Id="rId24" Type="http://schemas.openxmlformats.org/officeDocument/2006/relationships/image" Target="../media/image1390.png"/><Relationship Id="rId32" Type="http://schemas.openxmlformats.org/officeDocument/2006/relationships/image" Target="../media/image1470.png"/><Relationship Id="rId5" Type="http://schemas.openxmlformats.org/officeDocument/2006/relationships/image" Target="../media/image1200.png"/><Relationship Id="rId15" Type="http://schemas.openxmlformats.org/officeDocument/2006/relationships/image" Target="../media/image1300.png"/><Relationship Id="rId23" Type="http://schemas.openxmlformats.org/officeDocument/2006/relationships/image" Target="../media/image1380.png"/><Relationship Id="rId28" Type="http://schemas.openxmlformats.org/officeDocument/2006/relationships/image" Target="../media/image1430.png"/><Relationship Id="rId10" Type="http://schemas.openxmlformats.org/officeDocument/2006/relationships/image" Target="../media/image1250.png"/><Relationship Id="rId19" Type="http://schemas.openxmlformats.org/officeDocument/2006/relationships/image" Target="../media/image1340.png"/><Relationship Id="rId31" Type="http://schemas.openxmlformats.org/officeDocument/2006/relationships/image" Target="../media/image1460.png"/><Relationship Id="rId4" Type="http://schemas.openxmlformats.org/officeDocument/2006/relationships/image" Target="../media/image1190.png"/><Relationship Id="rId9" Type="http://schemas.openxmlformats.org/officeDocument/2006/relationships/image" Target="../media/image1240.png"/><Relationship Id="rId14" Type="http://schemas.openxmlformats.org/officeDocument/2006/relationships/image" Target="../media/image1290.png"/><Relationship Id="rId22" Type="http://schemas.openxmlformats.org/officeDocument/2006/relationships/image" Target="../media/image1370.png"/><Relationship Id="rId27" Type="http://schemas.openxmlformats.org/officeDocument/2006/relationships/image" Target="../media/image1420.png"/><Relationship Id="rId30" Type="http://schemas.openxmlformats.org/officeDocument/2006/relationships/image" Target="../media/image1450.png"/><Relationship Id="rId8" Type="http://schemas.openxmlformats.org/officeDocument/2006/relationships/image" Target="../media/image1230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10.png"/><Relationship Id="rId3" Type="http://schemas.openxmlformats.org/officeDocument/2006/relationships/image" Target="../media/image2712.png"/><Relationship Id="rId7" Type="http://schemas.openxmlformats.org/officeDocument/2006/relationships/image" Target="../media/image3112.png"/><Relationship Id="rId12" Type="http://schemas.openxmlformats.org/officeDocument/2006/relationships/image" Target="../media/image36.png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10.png"/><Relationship Id="rId11" Type="http://schemas.openxmlformats.org/officeDocument/2006/relationships/image" Target="../media/image35.png"/><Relationship Id="rId5" Type="http://schemas.openxmlformats.org/officeDocument/2006/relationships/image" Target="../media/image2915.png"/><Relationship Id="rId10" Type="http://schemas.openxmlformats.org/officeDocument/2006/relationships/image" Target="../media/image34.png"/><Relationship Id="rId4" Type="http://schemas.openxmlformats.org/officeDocument/2006/relationships/image" Target="../media/image280.png"/><Relationship Id="rId9" Type="http://schemas.openxmlformats.org/officeDocument/2006/relationships/image" Target="../media/image33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5.png"/><Relationship Id="rId7" Type="http://schemas.openxmlformats.org/officeDocument/2006/relationships/image" Target="../media/image29.png"/><Relationship Id="rId12" Type="http://schemas.openxmlformats.org/officeDocument/2006/relationships/image" Target="../media/image41.png"/><Relationship Id="rId2" Type="http://schemas.openxmlformats.org/officeDocument/2006/relationships/image" Target="../media/image39.png"/><Relationship Id="rId16" Type="http://schemas.openxmlformats.org/officeDocument/2006/relationships/image" Target="../media/image26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.png"/><Relationship Id="rId11" Type="http://schemas.openxmlformats.org/officeDocument/2006/relationships/image" Target="../media/image40.png"/><Relationship Id="rId5" Type="http://schemas.openxmlformats.org/officeDocument/2006/relationships/image" Target="../media/image27.png"/><Relationship Id="rId10" Type="http://schemas.openxmlformats.org/officeDocument/2006/relationships/image" Target="../media/image32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13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14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1.png"/><Relationship Id="rId2" Type="http://schemas.openxmlformats.org/officeDocument/2006/relationships/image" Target="../media/image27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13.png"/><Relationship Id="rId5" Type="http://schemas.openxmlformats.org/officeDocument/2006/relationships/image" Target="../media/image3011.png"/><Relationship Id="rId4" Type="http://schemas.openxmlformats.org/officeDocument/2006/relationships/image" Target="../media/image2916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7" Type="http://schemas.openxmlformats.org/officeDocument/2006/relationships/image" Target="../media/image47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14.png"/><Relationship Id="rId5" Type="http://schemas.openxmlformats.org/officeDocument/2006/relationships/image" Target="../media/image46.png"/><Relationship Id="rId4" Type="http://schemas.openxmlformats.org/officeDocument/2006/relationships/image" Target="../media/image42.png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8.png"/><Relationship Id="rId18" Type="http://schemas.openxmlformats.org/officeDocument/2006/relationships/image" Target="../media/image1850.png"/><Relationship Id="rId3" Type="http://schemas.openxmlformats.org/officeDocument/2006/relationships/image" Target="../media/image1601.png"/><Relationship Id="rId17" Type="http://schemas.openxmlformats.org/officeDocument/2006/relationships/image" Target="../media/image1840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79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80.png"/><Relationship Id="rId5" Type="http://schemas.openxmlformats.org/officeDocument/2006/relationships/image" Target="../media/image1730.png"/><Relationship Id="rId15" Type="http://schemas.openxmlformats.org/officeDocument/2006/relationships/image" Target="../media/image670.png"/><Relationship Id="rId19" Type="http://schemas.openxmlformats.org/officeDocument/2006/relationships/image" Target="../media/image1860.png"/><Relationship Id="rId4" Type="http://schemas.openxmlformats.org/officeDocument/2006/relationships/image" Target="../media/image1710.png"/><Relationship Id="rId14" Type="http://schemas.openxmlformats.org/officeDocument/2006/relationships/image" Target="../media/image669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11" Type="http://schemas.openxmlformats.org/officeDocument/2006/relationships/image" Target="../media/image56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1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13.png"/><Relationship Id="rId2" Type="http://schemas.openxmlformats.org/officeDocument/2006/relationships/image" Target="../media/image42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13.png"/><Relationship Id="rId5" Type="http://schemas.openxmlformats.org/officeDocument/2006/relationships/image" Target="../media/image4912.png"/><Relationship Id="rId4" Type="http://schemas.openxmlformats.org/officeDocument/2006/relationships/image" Target="../media/image4814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13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212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20.png"/><Relationship Id="rId13" Type="http://schemas.openxmlformats.org/officeDocument/2006/relationships/image" Target="../media/image2170.png"/><Relationship Id="rId18" Type="http://schemas.openxmlformats.org/officeDocument/2006/relationships/image" Target="../media/image2220.png"/><Relationship Id="rId3" Type="http://schemas.openxmlformats.org/officeDocument/2006/relationships/image" Target="../media/image2070.png"/><Relationship Id="rId21" Type="http://schemas.openxmlformats.org/officeDocument/2006/relationships/image" Target="../media/image2250.png"/><Relationship Id="rId7" Type="http://schemas.openxmlformats.org/officeDocument/2006/relationships/image" Target="../media/image2110.png"/><Relationship Id="rId12" Type="http://schemas.openxmlformats.org/officeDocument/2006/relationships/image" Target="../media/image2160.png"/><Relationship Id="rId17" Type="http://schemas.openxmlformats.org/officeDocument/2006/relationships/image" Target="../media/image2210.png"/><Relationship Id="rId2" Type="http://schemas.openxmlformats.org/officeDocument/2006/relationships/image" Target="../media/image2030.png"/><Relationship Id="rId16" Type="http://schemas.openxmlformats.org/officeDocument/2006/relationships/image" Target="../media/image2200.png"/><Relationship Id="rId20" Type="http://schemas.openxmlformats.org/officeDocument/2006/relationships/image" Target="../media/image22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00.png"/><Relationship Id="rId11" Type="http://schemas.openxmlformats.org/officeDocument/2006/relationships/image" Target="../media/image2150.png"/><Relationship Id="rId5" Type="http://schemas.openxmlformats.org/officeDocument/2006/relationships/image" Target="../media/image2090.png"/><Relationship Id="rId15" Type="http://schemas.openxmlformats.org/officeDocument/2006/relationships/image" Target="../media/image2190.png"/><Relationship Id="rId10" Type="http://schemas.openxmlformats.org/officeDocument/2006/relationships/image" Target="../media/image2140.png"/><Relationship Id="rId19" Type="http://schemas.openxmlformats.org/officeDocument/2006/relationships/image" Target="../media/image2230.png"/><Relationship Id="rId4" Type="http://schemas.openxmlformats.org/officeDocument/2006/relationships/image" Target="../media/image2080.png"/><Relationship Id="rId9" Type="http://schemas.openxmlformats.org/officeDocument/2006/relationships/image" Target="../media/image2130.png"/><Relationship Id="rId14" Type="http://schemas.openxmlformats.org/officeDocument/2006/relationships/image" Target="../media/image2180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130.png"/><Relationship Id="rId4" Type="http://schemas.openxmlformats.org/officeDocument/2006/relationships/image" Target="../media/image129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12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png"/><Relationship Id="rId13" Type="http://schemas.openxmlformats.org/officeDocument/2006/relationships/image" Target="../media/image272.png"/><Relationship Id="rId7" Type="http://schemas.openxmlformats.org/officeDocument/2006/relationships/image" Target="../media/image266.png"/><Relationship Id="rId12" Type="http://schemas.openxmlformats.org/officeDocument/2006/relationships/image" Target="../media/image271.png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2.png"/><Relationship Id="rId11" Type="http://schemas.openxmlformats.org/officeDocument/2006/relationships/image" Target="../media/image270.png"/><Relationship Id="rId5" Type="http://schemas.openxmlformats.org/officeDocument/2006/relationships/image" Target="../media/image264.png"/><Relationship Id="rId10" Type="http://schemas.openxmlformats.org/officeDocument/2006/relationships/image" Target="../media/image269.png"/><Relationship Id="rId4" Type="http://schemas.openxmlformats.org/officeDocument/2006/relationships/image" Target="../media/image263.png"/><Relationship Id="rId9" Type="http://schemas.openxmlformats.org/officeDocument/2006/relationships/image" Target="../media/image268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13" Type="http://schemas.openxmlformats.org/officeDocument/2006/relationships/image" Target="../media/image2791.png"/><Relationship Id="rId18" Type="http://schemas.openxmlformats.org/officeDocument/2006/relationships/image" Target="../media/image285.png"/><Relationship Id="rId3" Type="http://schemas.openxmlformats.org/officeDocument/2006/relationships/image" Target="../media/image261.png"/><Relationship Id="rId21" Type="http://schemas.openxmlformats.org/officeDocument/2006/relationships/image" Target="../media/image293.png"/><Relationship Id="rId7" Type="http://schemas.openxmlformats.org/officeDocument/2006/relationships/image" Target="../media/image277.png"/><Relationship Id="rId12" Type="http://schemas.openxmlformats.org/officeDocument/2006/relationships/image" Target="../media/image262.png"/><Relationship Id="rId17" Type="http://schemas.openxmlformats.org/officeDocument/2006/relationships/image" Target="../media/image283.png"/><Relationship Id="rId2" Type="http://schemas.openxmlformats.org/officeDocument/2006/relationships/image" Target="../media/image275.png"/><Relationship Id="rId16" Type="http://schemas.openxmlformats.org/officeDocument/2006/relationships/image" Target="../media/image282.png"/><Relationship Id="rId20" Type="http://schemas.openxmlformats.org/officeDocument/2006/relationships/image" Target="../media/image29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6.png"/><Relationship Id="rId5" Type="http://schemas.openxmlformats.org/officeDocument/2006/relationships/image" Target="../media/image274.png"/><Relationship Id="rId15" Type="http://schemas.openxmlformats.org/officeDocument/2006/relationships/image" Target="../media/image281.png"/><Relationship Id="rId19" Type="http://schemas.openxmlformats.org/officeDocument/2006/relationships/image" Target="../media/image286.png"/><Relationship Id="rId4" Type="http://schemas.openxmlformats.org/officeDocument/2006/relationships/image" Target="../media/image273.png"/><Relationship Id="rId9" Type="http://schemas.openxmlformats.org/officeDocument/2006/relationships/image" Target="../media/image279.png"/><Relationship Id="rId14" Type="http://schemas.openxmlformats.org/officeDocument/2006/relationships/image" Target="../media/image203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5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2.png"/><Relationship Id="rId7" Type="http://schemas.openxmlformats.org/officeDocument/2006/relationships/image" Target="../media/image7112.png"/><Relationship Id="rId2" Type="http://schemas.openxmlformats.org/officeDocument/2006/relationships/image" Target="../media/image5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3.png"/><Relationship Id="rId5" Type="http://schemas.openxmlformats.org/officeDocument/2006/relationships/image" Target="../media/image630.png"/><Relationship Id="rId4" Type="http://schemas.openxmlformats.org/officeDocument/2006/relationships/image" Target="../media/image5612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13.png"/><Relationship Id="rId7" Type="http://schemas.openxmlformats.org/officeDocument/2006/relationships/image" Target="../media/image74.png"/><Relationship Id="rId2" Type="http://schemas.openxmlformats.org/officeDocument/2006/relationships/image" Target="../media/image69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.png"/><Relationship Id="rId5" Type="http://schemas.openxmlformats.org/officeDocument/2006/relationships/image" Target="../media/image72.png"/><Relationship Id="rId4" Type="http://schemas.openxmlformats.org/officeDocument/2006/relationships/image" Target="../media/image7111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1.png"/><Relationship Id="rId3" Type="http://schemas.openxmlformats.org/officeDocument/2006/relationships/image" Target="../media/image220.png"/><Relationship Id="rId7" Type="http://schemas.openxmlformats.org/officeDocument/2006/relationships/image" Target="../media/image2611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512.png"/><Relationship Id="rId5" Type="http://schemas.openxmlformats.org/officeDocument/2006/relationships/image" Target="../media/image2411.png"/><Relationship Id="rId4" Type="http://schemas.openxmlformats.org/officeDocument/2006/relationships/image" Target="../media/image2310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6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3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12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12.png"/><Relationship Id="rId7" Type="http://schemas.openxmlformats.org/officeDocument/2006/relationships/image" Target="../media/image19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4.png"/><Relationship Id="rId5" Type="http://schemas.openxmlformats.org/officeDocument/2006/relationships/image" Target="../media/image163.png"/><Relationship Id="rId4" Type="http://schemas.openxmlformats.org/officeDocument/2006/relationships/image" Target="../media/image162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13.png"/><Relationship Id="rId7" Type="http://schemas.openxmlformats.org/officeDocument/2006/relationships/image" Target="../media/image15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6.png"/><Relationship Id="rId5" Type="http://schemas.openxmlformats.org/officeDocument/2006/relationships/image" Target="../media/image141.png"/><Relationship Id="rId4" Type="http://schemas.openxmlformats.org/officeDocument/2006/relationships/image" Target="../media/image138.png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81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.png"/><Relationship Id="rId5" Type="http://schemas.openxmlformats.org/officeDocument/2006/relationships/image" Target="../media/image206.png"/><Relationship Id="rId4" Type="http://schemas.openxmlformats.org/officeDocument/2006/relationships/image" Target="../media/image205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.png"/><Relationship Id="rId13" Type="http://schemas.openxmlformats.org/officeDocument/2006/relationships/image" Target="../media/image93.png"/><Relationship Id="rId18" Type="http://schemas.openxmlformats.org/officeDocument/2006/relationships/image" Target="../media/image98.png"/><Relationship Id="rId3" Type="http://schemas.openxmlformats.org/officeDocument/2006/relationships/image" Target="../media/image83.png"/><Relationship Id="rId21" Type="http://schemas.openxmlformats.org/officeDocument/2006/relationships/image" Target="../media/image101.png"/><Relationship Id="rId7" Type="http://schemas.openxmlformats.org/officeDocument/2006/relationships/image" Target="../media/image87.png"/><Relationship Id="rId12" Type="http://schemas.openxmlformats.org/officeDocument/2006/relationships/image" Target="../media/image92.png"/><Relationship Id="rId17" Type="http://schemas.openxmlformats.org/officeDocument/2006/relationships/image" Target="../media/image97.png"/><Relationship Id="rId2" Type="http://schemas.openxmlformats.org/officeDocument/2006/relationships/image" Target="../media/image82.png"/><Relationship Id="rId16" Type="http://schemas.openxmlformats.org/officeDocument/2006/relationships/image" Target="../media/image96.png"/><Relationship Id="rId20" Type="http://schemas.openxmlformats.org/officeDocument/2006/relationships/image" Target="../media/image1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.png"/><Relationship Id="rId11" Type="http://schemas.openxmlformats.org/officeDocument/2006/relationships/image" Target="../media/image91.png"/><Relationship Id="rId24" Type="http://schemas.openxmlformats.org/officeDocument/2006/relationships/image" Target="../media/image104.png"/><Relationship Id="rId5" Type="http://schemas.openxmlformats.org/officeDocument/2006/relationships/image" Target="../media/image85.png"/><Relationship Id="rId15" Type="http://schemas.openxmlformats.org/officeDocument/2006/relationships/image" Target="../media/image95.png"/><Relationship Id="rId23" Type="http://schemas.openxmlformats.org/officeDocument/2006/relationships/image" Target="../media/image103.png"/><Relationship Id="rId10" Type="http://schemas.openxmlformats.org/officeDocument/2006/relationships/image" Target="../media/image90.png"/><Relationship Id="rId19" Type="http://schemas.openxmlformats.org/officeDocument/2006/relationships/image" Target="../media/image99.png"/><Relationship Id="rId4" Type="http://schemas.openxmlformats.org/officeDocument/2006/relationships/image" Target="../media/image84.png"/><Relationship Id="rId9" Type="http://schemas.openxmlformats.org/officeDocument/2006/relationships/image" Target="../media/image89.png"/><Relationship Id="rId14" Type="http://schemas.openxmlformats.org/officeDocument/2006/relationships/image" Target="../media/image94.png"/><Relationship Id="rId22" Type="http://schemas.openxmlformats.org/officeDocument/2006/relationships/image" Target="../media/image102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13" Type="http://schemas.openxmlformats.org/officeDocument/2006/relationships/image" Target="../media/image117.png"/><Relationship Id="rId18" Type="http://schemas.openxmlformats.org/officeDocument/2006/relationships/image" Target="../media/image121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12" Type="http://schemas.openxmlformats.org/officeDocument/2006/relationships/image" Target="../media/image116.png"/><Relationship Id="rId17" Type="http://schemas.openxmlformats.org/officeDocument/2006/relationships/image" Target="../media/image105.png"/><Relationship Id="rId2" Type="http://schemas.openxmlformats.org/officeDocument/2006/relationships/image" Target="../media/image106.png"/><Relationship Id="rId16" Type="http://schemas.openxmlformats.org/officeDocument/2006/relationships/image" Target="../media/image1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5" Type="http://schemas.openxmlformats.org/officeDocument/2006/relationships/image" Target="../media/image11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13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84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11.png"/><Relationship Id="rId4" Type="http://schemas.openxmlformats.org/officeDocument/2006/relationships/image" Target="../media/image241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0.png"/><Relationship Id="rId13" Type="http://schemas.openxmlformats.org/officeDocument/2006/relationships/image" Target="../media/image478.png"/><Relationship Id="rId18" Type="http://schemas.openxmlformats.org/officeDocument/2006/relationships/image" Target="../media/image481.png"/><Relationship Id="rId3" Type="http://schemas.openxmlformats.org/officeDocument/2006/relationships/image" Target="../media/image468.png"/><Relationship Id="rId21" Type="http://schemas.openxmlformats.org/officeDocument/2006/relationships/image" Target="../media/image484.png"/><Relationship Id="rId7" Type="http://schemas.openxmlformats.org/officeDocument/2006/relationships/image" Target="../media/image388.png"/><Relationship Id="rId12" Type="http://schemas.openxmlformats.org/officeDocument/2006/relationships/image" Target="../media/image477.png"/><Relationship Id="rId17" Type="http://schemas.openxmlformats.org/officeDocument/2006/relationships/image" Target="../media/image480.png"/><Relationship Id="rId2" Type="http://schemas.openxmlformats.org/officeDocument/2006/relationships/image" Target="../media/image467.png"/><Relationship Id="rId16" Type="http://schemas.openxmlformats.org/officeDocument/2006/relationships/image" Target="../media/image479.png"/><Relationship Id="rId20" Type="http://schemas.openxmlformats.org/officeDocument/2006/relationships/image" Target="../media/image48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71.png"/><Relationship Id="rId11" Type="http://schemas.openxmlformats.org/officeDocument/2006/relationships/image" Target="../media/image476.png"/><Relationship Id="rId24" Type="http://schemas.openxmlformats.org/officeDocument/2006/relationships/image" Target="../media/image487.png"/><Relationship Id="rId5" Type="http://schemas.openxmlformats.org/officeDocument/2006/relationships/image" Target="../media/image334.png"/><Relationship Id="rId15" Type="http://schemas.openxmlformats.org/officeDocument/2006/relationships/image" Target="../media/image473.png"/><Relationship Id="rId23" Type="http://schemas.openxmlformats.org/officeDocument/2006/relationships/image" Target="../media/image486.png"/><Relationship Id="rId10" Type="http://schemas.openxmlformats.org/officeDocument/2006/relationships/image" Target="../media/image475.png"/><Relationship Id="rId19" Type="http://schemas.openxmlformats.org/officeDocument/2006/relationships/image" Target="../media/image482.png"/><Relationship Id="rId4" Type="http://schemas.openxmlformats.org/officeDocument/2006/relationships/image" Target="../media/image469.png"/><Relationship Id="rId9" Type="http://schemas.openxmlformats.org/officeDocument/2006/relationships/image" Target="../media/image474.png"/><Relationship Id="rId14" Type="http://schemas.openxmlformats.org/officeDocument/2006/relationships/image" Target="../media/image472.png"/><Relationship Id="rId22" Type="http://schemas.openxmlformats.org/officeDocument/2006/relationships/image" Target="../media/image485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6.png"/><Relationship Id="rId13" Type="http://schemas.openxmlformats.org/officeDocument/2006/relationships/image" Target="../media/image251.png"/><Relationship Id="rId18" Type="http://schemas.openxmlformats.org/officeDocument/2006/relationships/image" Target="../media/image256.png"/><Relationship Id="rId3" Type="http://schemas.openxmlformats.org/officeDocument/2006/relationships/image" Target="../media/image2012.png"/><Relationship Id="rId21" Type="http://schemas.openxmlformats.org/officeDocument/2006/relationships/image" Target="../media/image259.png"/><Relationship Id="rId7" Type="http://schemas.openxmlformats.org/officeDocument/2006/relationships/image" Target="../media/image245.png"/><Relationship Id="rId12" Type="http://schemas.openxmlformats.org/officeDocument/2006/relationships/image" Target="../media/image250.png"/><Relationship Id="rId17" Type="http://schemas.openxmlformats.org/officeDocument/2006/relationships/image" Target="../media/image255.png"/><Relationship Id="rId2" Type="http://schemas.openxmlformats.org/officeDocument/2006/relationships/image" Target="../media/image2401.png"/><Relationship Id="rId16" Type="http://schemas.openxmlformats.org/officeDocument/2006/relationships/image" Target="../media/image254.png"/><Relationship Id="rId20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4.png"/><Relationship Id="rId11" Type="http://schemas.openxmlformats.org/officeDocument/2006/relationships/image" Target="../media/image249.png"/><Relationship Id="rId5" Type="http://schemas.openxmlformats.org/officeDocument/2006/relationships/image" Target="../media/image243.png"/><Relationship Id="rId15" Type="http://schemas.openxmlformats.org/officeDocument/2006/relationships/image" Target="../media/image253.png"/><Relationship Id="rId10" Type="http://schemas.openxmlformats.org/officeDocument/2006/relationships/image" Target="../media/image248.png"/><Relationship Id="rId19" Type="http://schemas.openxmlformats.org/officeDocument/2006/relationships/image" Target="../media/image257.png"/><Relationship Id="rId4" Type="http://schemas.openxmlformats.org/officeDocument/2006/relationships/image" Target="../media/image242.png"/><Relationship Id="rId9" Type="http://schemas.openxmlformats.org/officeDocument/2006/relationships/image" Target="../media/image247.png"/><Relationship Id="rId14" Type="http://schemas.openxmlformats.org/officeDocument/2006/relationships/image" Target="../media/image252.png"/><Relationship Id="rId22" Type="http://schemas.openxmlformats.org/officeDocument/2006/relationships/image" Target="../media/image260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12.png"/><Relationship Id="rId2" Type="http://schemas.openxmlformats.org/officeDocument/2006/relationships/image" Target="../media/image85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811.png"/><Relationship Id="rId4" Type="http://schemas.openxmlformats.org/officeDocument/2006/relationships/image" Target="../media/image8714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2.png"/><Relationship Id="rId2" Type="http://schemas.openxmlformats.org/officeDocument/2006/relationships/image" Target="../media/image8912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12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3" Type="http://schemas.openxmlformats.org/officeDocument/2006/relationships/image" Target="../media/image8911.png"/><Relationship Id="rId7" Type="http://schemas.openxmlformats.org/officeDocument/2006/relationships/image" Target="../media/image9312.png"/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213.png"/><Relationship Id="rId5" Type="http://schemas.openxmlformats.org/officeDocument/2006/relationships/image" Target="../media/image9111.png"/><Relationship Id="rId10" Type="http://schemas.openxmlformats.org/officeDocument/2006/relationships/image" Target="../media/image302.png"/><Relationship Id="rId4" Type="http://schemas.openxmlformats.org/officeDocument/2006/relationships/image" Target="../media/image9011.png"/><Relationship Id="rId9" Type="http://schemas.openxmlformats.org/officeDocument/2006/relationships/image" Target="../media/image301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13.png"/><Relationship Id="rId13" Type="http://schemas.openxmlformats.org/officeDocument/2006/relationships/image" Target="../media/image4414.png"/><Relationship Id="rId18" Type="http://schemas.openxmlformats.org/officeDocument/2006/relationships/image" Target="../media/image4911.png"/><Relationship Id="rId3" Type="http://schemas.openxmlformats.org/officeDocument/2006/relationships/image" Target="../media/image3411.png"/><Relationship Id="rId21" Type="http://schemas.openxmlformats.org/officeDocument/2006/relationships/image" Target="../media/image5211.png"/><Relationship Id="rId7" Type="http://schemas.openxmlformats.org/officeDocument/2006/relationships/image" Target="../media/image3811.png"/><Relationship Id="rId12" Type="http://schemas.openxmlformats.org/officeDocument/2006/relationships/image" Target="../media/image4311.png"/><Relationship Id="rId17" Type="http://schemas.openxmlformats.org/officeDocument/2006/relationships/image" Target="../media/image4813.png"/><Relationship Id="rId25" Type="http://schemas.openxmlformats.org/officeDocument/2006/relationships/image" Target="../media/image1631.png"/><Relationship Id="rId2" Type="http://schemas.openxmlformats.org/officeDocument/2006/relationships/image" Target="../media/image2211.png"/><Relationship Id="rId16" Type="http://schemas.openxmlformats.org/officeDocument/2006/relationships/image" Target="../media/image4712.png"/><Relationship Id="rId20" Type="http://schemas.openxmlformats.org/officeDocument/2006/relationships/image" Target="../media/image51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11.png"/><Relationship Id="rId11" Type="http://schemas.openxmlformats.org/officeDocument/2006/relationships/image" Target="../media/image4213.png"/><Relationship Id="rId24" Type="http://schemas.openxmlformats.org/officeDocument/2006/relationships/image" Target="../media/image329.png"/><Relationship Id="rId5" Type="http://schemas.openxmlformats.org/officeDocument/2006/relationships/image" Target="../media/image3611.png"/><Relationship Id="rId15" Type="http://schemas.openxmlformats.org/officeDocument/2006/relationships/image" Target="../media/image4613.png"/><Relationship Id="rId23" Type="http://schemas.openxmlformats.org/officeDocument/2006/relationships/image" Target="../media/image328.png"/><Relationship Id="rId10" Type="http://schemas.openxmlformats.org/officeDocument/2006/relationships/image" Target="../media/image4113.png"/><Relationship Id="rId19" Type="http://schemas.openxmlformats.org/officeDocument/2006/relationships/image" Target="../media/image5012.png"/><Relationship Id="rId4" Type="http://schemas.openxmlformats.org/officeDocument/2006/relationships/image" Target="../media/image3512.png"/><Relationship Id="rId9" Type="http://schemas.openxmlformats.org/officeDocument/2006/relationships/image" Target="../media/image4010.png"/><Relationship Id="rId14" Type="http://schemas.openxmlformats.org/officeDocument/2006/relationships/image" Target="../media/image4513.png"/><Relationship Id="rId22" Type="http://schemas.openxmlformats.org/officeDocument/2006/relationships/image" Target="../media/image5311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11.png"/><Relationship Id="rId13" Type="http://schemas.openxmlformats.org/officeDocument/2006/relationships/image" Target="../media/image6211.png"/><Relationship Id="rId18" Type="http://schemas.openxmlformats.org/officeDocument/2006/relationships/image" Target="../media/image6711.png"/><Relationship Id="rId26" Type="http://schemas.openxmlformats.org/officeDocument/2006/relationships/image" Target="../media/image7511.png"/><Relationship Id="rId21" Type="http://schemas.openxmlformats.org/officeDocument/2006/relationships/image" Target="../media/image7012.png"/><Relationship Id="rId7" Type="http://schemas.openxmlformats.org/officeDocument/2006/relationships/image" Target="../media/image5411.png"/><Relationship Id="rId12" Type="http://schemas.openxmlformats.org/officeDocument/2006/relationships/image" Target="../media/image6111.png"/><Relationship Id="rId17" Type="http://schemas.openxmlformats.org/officeDocument/2006/relationships/image" Target="../media/image6611.png"/><Relationship Id="rId25" Type="http://schemas.openxmlformats.org/officeDocument/2006/relationships/image" Target="../media/image7411.png"/><Relationship Id="rId2" Type="http://schemas.openxmlformats.org/officeDocument/2006/relationships/image" Target="../media/image9412.png"/><Relationship Id="rId16" Type="http://schemas.openxmlformats.org/officeDocument/2006/relationships/image" Target="../media/image6512.png"/><Relationship Id="rId20" Type="http://schemas.openxmlformats.org/officeDocument/2006/relationships/image" Target="../media/image69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9.png"/><Relationship Id="rId11" Type="http://schemas.openxmlformats.org/officeDocument/2006/relationships/image" Target="../media/image6011.png"/><Relationship Id="rId24" Type="http://schemas.openxmlformats.org/officeDocument/2006/relationships/image" Target="../media/image7311.png"/><Relationship Id="rId5" Type="http://schemas.openxmlformats.org/officeDocument/2006/relationships/image" Target="../media/image328.png"/><Relationship Id="rId15" Type="http://schemas.openxmlformats.org/officeDocument/2006/relationships/image" Target="../media/image643.png"/><Relationship Id="rId23" Type="http://schemas.openxmlformats.org/officeDocument/2006/relationships/image" Target="../media/image7211.png"/><Relationship Id="rId28" Type="http://schemas.openxmlformats.org/officeDocument/2006/relationships/image" Target="../media/image297.png"/><Relationship Id="rId10" Type="http://schemas.openxmlformats.org/officeDocument/2006/relationships/image" Target="../media/image5911.png"/><Relationship Id="rId19" Type="http://schemas.openxmlformats.org/officeDocument/2006/relationships/image" Target="../media/image6811.png"/><Relationship Id="rId9" Type="http://schemas.openxmlformats.org/officeDocument/2006/relationships/image" Target="../media/image5611.png"/><Relationship Id="rId14" Type="http://schemas.openxmlformats.org/officeDocument/2006/relationships/image" Target="../media/image638.png"/><Relationship Id="rId22" Type="http://schemas.openxmlformats.org/officeDocument/2006/relationships/image" Target="../media/image7110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11.png"/><Relationship Id="rId13" Type="http://schemas.openxmlformats.org/officeDocument/2006/relationships/image" Target="../media/image8211.png"/><Relationship Id="rId18" Type="http://schemas.openxmlformats.org/officeDocument/2006/relationships/image" Target="../media/image8713.png"/><Relationship Id="rId26" Type="http://schemas.openxmlformats.org/officeDocument/2006/relationships/image" Target="../media/image297.png"/><Relationship Id="rId21" Type="http://schemas.openxmlformats.org/officeDocument/2006/relationships/image" Target="../media/image9010.png"/><Relationship Id="rId7" Type="http://schemas.openxmlformats.org/officeDocument/2006/relationships/image" Target="../media/image7611.png"/><Relationship Id="rId12" Type="http://schemas.openxmlformats.org/officeDocument/2006/relationships/image" Target="../media/image813.png"/><Relationship Id="rId17" Type="http://schemas.openxmlformats.org/officeDocument/2006/relationships/image" Target="../media/image8611.png"/><Relationship Id="rId25" Type="http://schemas.openxmlformats.org/officeDocument/2006/relationships/image" Target="../media/image9411.png"/><Relationship Id="rId2" Type="http://schemas.openxmlformats.org/officeDocument/2006/relationships/image" Target="../media/image9513.png"/><Relationship Id="rId16" Type="http://schemas.openxmlformats.org/officeDocument/2006/relationships/image" Target="../media/image8511.png"/><Relationship Id="rId20" Type="http://schemas.openxmlformats.org/officeDocument/2006/relationships/image" Target="../media/image89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9.png"/><Relationship Id="rId11" Type="http://schemas.openxmlformats.org/officeDocument/2006/relationships/image" Target="../media/image8013.png"/><Relationship Id="rId24" Type="http://schemas.openxmlformats.org/officeDocument/2006/relationships/image" Target="../media/image9311.png"/><Relationship Id="rId5" Type="http://schemas.openxmlformats.org/officeDocument/2006/relationships/image" Target="../media/image328.png"/><Relationship Id="rId15" Type="http://schemas.openxmlformats.org/officeDocument/2006/relationships/image" Target="../media/image8411.png"/><Relationship Id="rId23" Type="http://schemas.openxmlformats.org/officeDocument/2006/relationships/image" Target="../media/image9212.png"/><Relationship Id="rId28" Type="http://schemas.openxmlformats.org/officeDocument/2006/relationships/image" Target="../media/image9611.png"/><Relationship Id="rId10" Type="http://schemas.openxmlformats.org/officeDocument/2006/relationships/image" Target="../media/image7912.png"/><Relationship Id="rId19" Type="http://schemas.openxmlformats.org/officeDocument/2006/relationships/image" Target="../media/image8810.png"/><Relationship Id="rId9" Type="http://schemas.openxmlformats.org/officeDocument/2006/relationships/image" Target="../media/image7811.png"/><Relationship Id="rId14" Type="http://schemas.openxmlformats.org/officeDocument/2006/relationships/image" Target="../media/image8311.png"/><Relationship Id="rId22" Type="http://schemas.openxmlformats.org/officeDocument/2006/relationships/image" Target="../media/image9110.png"/><Relationship Id="rId27" Type="http://schemas.openxmlformats.org/officeDocument/2006/relationships/image" Target="../media/image9511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0.png"/><Relationship Id="rId13" Type="http://schemas.openxmlformats.org/officeDocument/2006/relationships/image" Target="../media/image1050.png"/><Relationship Id="rId18" Type="http://schemas.openxmlformats.org/officeDocument/2006/relationships/image" Target="../media/image1100.png"/><Relationship Id="rId26" Type="http://schemas.openxmlformats.org/officeDocument/2006/relationships/image" Target="../media/image425.png"/><Relationship Id="rId3" Type="http://schemas.openxmlformats.org/officeDocument/2006/relationships/image" Target="../media/image402.png"/><Relationship Id="rId21" Type="http://schemas.openxmlformats.org/officeDocument/2006/relationships/image" Target="../media/image1130.png"/><Relationship Id="rId7" Type="http://schemas.openxmlformats.org/officeDocument/2006/relationships/image" Target="../media/image995.png"/><Relationship Id="rId12" Type="http://schemas.openxmlformats.org/officeDocument/2006/relationships/image" Target="../media/image1040.png"/><Relationship Id="rId17" Type="http://schemas.openxmlformats.org/officeDocument/2006/relationships/image" Target="../media/image10911.png"/><Relationship Id="rId25" Type="http://schemas.openxmlformats.org/officeDocument/2006/relationships/image" Target="../media/image424.png"/><Relationship Id="rId2" Type="http://schemas.openxmlformats.org/officeDocument/2006/relationships/image" Target="../media/image9712.png"/><Relationship Id="rId16" Type="http://schemas.openxmlformats.org/officeDocument/2006/relationships/image" Target="../media/image10811.png"/><Relationship Id="rId20" Type="http://schemas.openxmlformats.org/officeDocument/2006/relationships/image" Target="../media/image11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0.png"/><Relationship Id="rId11" Type="http://schemas.openxmlformats.org/officeDocument/2006/relationships/image" Target="../media/image1031.png"/><Relationship Id="rId24" Type="http://schemas.openxmlformats.org/officeDocument/2006/relationships/image" Target="../media/image423.png"/><Relationship Id="rId5" Type="http://schemas.openxmlformats.org/officeDocument/2006/relationships/image" Target="../media/image9711.png"/><Relationship Id="rId15" Type="http://schemas.openxmlformats.org/officeDocument/2006/relationships/image" Target="../media/image10711.png"/><Relationship Id="rId23" Type="http://schemas.openxmlformats.org/officeDocument/2006/relationships/image" Target="../media/image11511.png"/><Relationship Id="rId10" Type="http://schemas.openxmlformats.org/officeDocument/2006/relationships/image" Target="../media/image1021.png"/><Relationship Id="rId19" Type="http://schemas.openxmlformats.org/officeDocument/2006/relationships/image" Target="../media/image1110.png"/><Relationship Id="rId4" Type="http://schemas.openxmlformats.org/officeDocument/2006/relationships/image" Target="../media/image403.png"/><Relationship Id="rId9" Type="http://schemas.openxmlformats.org/officeDocument/2006/relationships/image" Target="../media/image10112.png"/><Relationship Id="rId14" Type="http://schemas.openxmlformats.org/officeDocument/2006/relationships/image" Target="../media/image10612.png"/><Relationship Id="rId22" Type="http://schemas.openxmlformats.org/officeDocument/2006/relationships/image" Target="../media/image1140.png"/></Relationships>
</file>

<file path=ppt/slides/_rels/slide9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6.png"/><Relationship Id="rId18" Type="http://schemas.openxmlformats.org/officeDocument/2006/relationships/image" Target="../media/image144.png"/><Relationship Id="rId26" Type="http://schemas.openxmlformats.org/officeDocument/2006/relationships/image" Target="../media/image152.png"/><Relationship Id="rId39" Type="http://schemas.openxmlformats.org/officeDocument/2006/relationships/image" Target="../media/image173.png"/><Relationship Id="rId21" Type="http://schemas.openxmlformats.org/officeDocument/2006/relationships/image" Target="../media/image147.png"/><Relationship Id="rId34" Type="http://schemas.openxmlformats.org/officeDocument/2006/relationships/image" Target="../media/image168.png"/><Relationship Id="rId42" Type="http://schemas.openxmlformats.org/officeDocument/2006/relationships/image" Target="../media/image176.png"/><Relationship Id="rId7" Type="http://schemas.openxmlformats.org/officeDocument/2006/relationships/image" Target="../media/image11911.png"/><Relationship Id="rId2" Type="http://schemas.openxmlformats.org/officeDocument/2006/relationships/image" Target="../media/image402.png"/><Relationship Id="rId16" Type="http://schemas.openxmlformats.org/officeDocument/2006/relationships/image" Target="../media/image142.png"/><Relationship Id="rId20" Type="http://schemas.openxmlformats.org/officeDocument/2006/relationships/image" Target="../media/image146.png"/><Relationship Id="rId29" Type="http://schemas.openxmlformats.org/officeDocument/2006/relationships/image" Target="../media/image155.png"/><Relationship Id="rId41" Type="http://schemas.openxmlformats.org/officeDocument/2006/relationships/image" Target="../media/image1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12.png"/><Relationship Id="rId11" Type="http://schemas.openxmlformats.org/officeDocument/2006/relationships/image" Target="../media/image125.png"/><Relationship Id="rId24" Type="http://schemas.openxmlformats.org/officeDocument/2006/relationships/image" Target="../media/image150.png"/><Relationship Id="rId32" Type="http://schemas.openxmlformats.org/officeDocument/2006/relationships/image" Target="../media/image166.png"/><Relationship Id="rId37" Type="http://schemas.openxmlformats.org/officeDocument/2006/relationships/image" Target="../media/image171.png"/><Relationship Id="rId40" Type="http://schemas.openxmlformats.org/officeDocument/2006/relationships/image" Target="../media/image174.png"/><Relationship Id="rId5" Type="http://schemas.openxmlformats.org/officeDocument/2006/relationships/image" Target="../media/image1170.png"/><Relationship Id="rId15" Type="http://schemas.openxmlformats.org/officeDocument/2006/relationships/image" Target="../media/image140.png"/><Relationship Id="rId23" Type="http://schemas.openxmlformats.org/officeDocument/2006/relationships/image" Target="../media/image149.png"/><Relationship Id="rId28" Type="http://schemas.openxmlformats.org/officeDocument/2006/relationships/image" Target="../media/image154.png"/><Relationship Id="rId36" Type="http://schemas.openxmlformats.org/officeDocument/2006/relationships/image" Target="../media/image170.png"/><Relationship Id="rId10" Type="http://schemas.openxmlformats.org/officeDocument/2006/relationships/image" Target="../media/image12212.png"/><Relationship Id="rId19" Type="http://schemas.openxmlformats.org/officeDocument/2006/relationships/image" Target="../media/image145.png"/><Relationship Id="rId31" Type="http://schemas.openxmlformats.org/officeDocument/2006/relationships/image" Target="../media/image165.png"/><Relationship Id="rId44" Type="http://schemas.openxmlformats.org/officeDocument/2006/relationships/image" Target="../media/image178.png"/><Relationship Id="rId4" Type="http://schemas.openxmlformats.org/officeDocument/2006/relationships/image" Target="../media/image1160.png"/><Relationship Id="rId9" Type="http://schemas.openxmlformats.org/officeDocument/2006/relationships/image" Target="../media/image1218.png"/><Relationship Id="rId14" Type="http://schemas.openxmlformats.org/officeDocument/2006/relationships/image" Target="../media/image139.png"/><Relationship Id="rId22" Type="http://schemas.openxmlformats.org/officeDocument/2006/relationships/image" Target="../media/image148.png"/><Relationship Id="rId27" Type="http://schemas.openxmlformats.org/officeDocument/2006/relationships/image" Target="../media/image153.png"/><Relationship Id="rId30" Type="http://schemas.openxmlformats.org/officeDocument/2006/relationships/image" Target="../media/image159.png"/><Relationship Id="rId35" Type="http://schemas.openxmlformats.org/officeDocument/2006/relationships/image" Target="../media/image169.png"/><Relationship Id="rId43" Type="http://schemas.openxmlformats.org/officeDocument/2006/relationships/image" Target="../media/image177.png"/><Relationship Id="rId8" Type="http://schemas.openxmlformats.org/officeDocument/2006/relationships/image" Target="../media/image12012.png"/><Relationship Id="rId3" Type="http://schemas.openxmlformats.org/officeDocument/2006/relationships/image" Target="../media/image403.png"/><Relationship Id="rId12" Type="http://schemas.openxmlformats.org/officeDocument/2006/relationships/image" Target="../media/image127.png"/><Relationship Id="rId17" Type="http://schemas.openxmlformats.org/officeDocument/2006/relationships/image" Target="../media/image143.png"/><Relationship Id="rId25" Type="http://schemas.openxmlformats.org/officeDocument/2006/relationships/image" Target="../media/image151.png"/><Relationship Id="rId33" Type="http://schemas.openxmlformats.org/officeDocument/2006/relationships/image" Target="../media/image167.png"/><Relationship Id="rId38" Type="http://schemas.openxmlformats.org/officeDocument/2006/relationships/image" Target="../media/image172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1.png"/><Relationship Id="rId3" Type="http://schemas.openxmlformats.org/officeDocument/2006/relationships/image" Target="../media/image237.png"/><Relationship Id="rId7" Type="http://schemas.openxmlformats.org/officeDocument/2006/relationships/image" Target="../media/image330.png"/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7.png"/><Relationship Id="rId5" Type="http://schemas.openxmlformats.org/officeDocument/2006/relationships/image" Target="../media/image326.png"/><Relationship Id="rId4" Type="http://schemas.openxmlformats.org/officeDocument/2006/relationships/image" Target="../media/image325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3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7.png"/><Relationship Id="rId5" Type="http://schemas.openxmlformats.org/officeDocument/2006/relationships/image" Target="../media/image336.png"/><Relationship Id="rId4" Type="http://schemas.openxmlformats.org/officeDocument/2006/relationships/image" Target="../media/image335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4.png"/><Relationship Id="rId3" Type="http://schemas.openxmlformats.org/officeDocument/2006/relationships/image" Target="../media/image339.png"/><Relationship Id="rId7" Type="http://schemas.openxmlformats.org/officeDocument/2006/relationships/image" Target="../media/image343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2.png"/><Relationship Id="rId11" Type="http://schemas.openxmlformats.org/officeDocument/2006/relationships/image" Target="../media/image3410.png"/><Relationship Id="rId5" Type="http://schemas.openxmlformats.org/officeDocument/2006/relationships/image" Target="../media/image341.png"/><Relationship Id="rId10" Type="http://schemas.openxmlformats.org/officeDocument/2006/relationships/customXml" Target="../ink/ink1.xml"/><Relationship Id="rId4" Type="http://schemas.openxmlformats.org/officeDocument/2006/relationships/image" Target="../media/image238.png"/><Relationship Id="rId9" Type="http://schemas.openxmlformats.org/officeDocument/2006/relationships/image" Target="../media/image345.png"/></Relationships>
</file>

<file path=ppt/slides/_rels/slide9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21.png"/><Relationship Id="rId18" Type="http://schemas.openxmlformats.org/officeDocument/2006/relationships/image" Target="../media/image526.png"/><Relationship Id="rId26" Type="http://schemas.openxmlformats.org/officeDocument/2006/relationships/image" Target="../media/image534.png"/><Relationship Id="rId3" Type="http://schemas.openxmlformats.org/officeDocument/2006/relationships/image" Target="../media/image511.png"/><Relationship Id="rId21" Type="http://schemas.openxmlformats.org/officeDocument/2006/relationships/image" Target="../media/image529.png"/><Relationship Id="rId34" Type="http://schemas.openxmlformats.org/officeDocument/2006/relationships/customXml" Target="../ink/ink2.xml"/><Relationship Id="rId7" Type="http://schemas.openxmlformats.org/officeDocument/2006/relationships/image" Target="../media/image515.png"/><Relationship Id="rId12" Type="http://schemas.openxmlformats.org/officeDocument/2006/relationships/image" Target="../media/image520.png"/><Relationship Id="rId17" Type="http://schemas.openxmlformats.org/officeDocument/2006/relationships/image" Target="../media/image525.png"/><Relationship Id="rId25" Type="http://schemas.openxmlformats.org/officeDocument/2006/relationships/image" Target="../media/image533.png"/><Relationship Id="rId33" Type="http://schemas.openxmlformats.org/officeDocument/2006/relationships/image" Target="../media/image541.png"/><Relationship Id="rId2" Type="http://schemas.openxmlformats.org/officeDocument/2006/relationships/image" Target="../media/image510.png"/><Relationship Id="rId16" Type="http://schemas.openxmlformats.org/officeDocument/2006/relationships/image" Target="../media/image524.png"/><Relationship Id="rId20" Type="http://schemas.openxmlformats.org/officeDocument/2006/relationships/image" Target="../media/image528.png"/><Relationship Id="rId29" Type="http://schemas.openxmlformats.org/officeDocument/2006/relationships/image" Target="../media/image5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4.png"/><Relationship Id="rId11" Type="http://schemas.openxmlformats.org/officeDocument/2006/relationships/image" Target="../media/image519.png"/><Relationship Id="rId24" Type="http://schemas.openxmlformats.org/officeDocument/2006/relationships/image" Target="../media/image532.png"/><Relationship Id="rId32" Type="http://schemas.openxmlformats.org/officeDocument/2006/relationships/image" Target="../media/image540.png"/><Relationship Id="rId5" Type="http://schemas.openxmlformats.org/officeDocument/2006/relationships/image" Target="../media/image513.png"/><Relationship Id="rId15" Type="http://schemas.openxmlformats.org/officeDocument/2006/relationships/image" Target="../media/image523.png"/><Relationship Id="rId23" Type="http://schemas.openxmlformats.org/officeDocument/2006/relationships/image" Target="../media/image531.png"/><Relationship Id="rId28" Type="http://schemas.openxmlformats.org/officeDocument/2006/relationships/image" Target="../media/image536.png"/><Relationship Id="rId10" Type="http://schemas.openxmlformats.org/officeDocument/2006/relationships/image" Target="../media/image518.png"/><Relationship Id="rId19" Type="http://schemas.openxmlformats.org/officeDocument/2006/relationships/image" Target="../media/image527.png"/><Relationship Id="rId31" Type="http://schemas.openxmlformats.org/officeDocument/2006/relationships/image" Target="../media/image539.png"/><Relationship Id="rId4" Type="http://schemas.openxmlformats.org/officeDocument/2006/relationships/image" Target="../media/image512.png"/><Relationship Id="rId9" Type="http://schemas.openxmlformats.org/officeDocument/2006/relationships/image" Target="../media/image517.png"/><Relationship Id="rId14" Type="http://schemas.openxmlformats.org/officeDocument/2006/relationships/image" Target="../media/image522.png"/><Relationship Id="rId22" Type="http://schemas.openxmlformats.org/officeDocument/2006/relationships/image" Target="../media/image530.png"/><Relationship Id="rId27" Type="http://schemas.openxmlformats.org/officeDocument/2006/relationships/image" Target="../media/image535.png"/><Relationship Id="rId30" Type="http://schemas.openxmlformats.org/officeDocument/2006/relationships/image" Target="../media/image538.png"/><Relationship Id="rId35" Type="http://schemas.openxmlformats.org/officeDocument/2006/relationships/image" Target="../media/image3510.png"/><Relationship Id="rId8" Type="http://schemas.openxmlformats.org/officeDocument/2006/relationships/image" Target="../media/image516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13" Type="http://schemas.openxmlformats.org/officeDocument/2006/relationships/image" Target="../media/image179.png"/><Relationship Id="rId18" Type="http://schemas.openxmlformats.org/officeDocument/2006/relationships/image" Target="../media/image184.png"/><Relationship Id="rId26" Type="http://schemas.openxmlformats.org/officeDocument/2006/relationships/image" Target="../media/image542.png"/><Relationship Id="rId3" Type="http://schemas.openxmlformats.org/officeDocument/2006/relationships/image" Target="../media/image124.png"/><Relationship Id="rId21" Type="http://schemas.openxmlformats.org/officeDocument/2006/relationships/image" Target="../media/image187.png"/><Relationship Id="rId7" Type="http://schemas.openxmlformats.org/officeDocument/2006/relationships/image" Target="../media/image2913.png"/><Relationship Id="rId12" Type="http://schemas.openxmlformats.org/officeDocument/2006/relationships/image" Target="../media/image161.png"/><Relationship Id="rId17" Type="http://schemas.openxmlformats.org/officeDocument/2006/relationships/image" Target="../media/image183.png"/><Relationship Id="rId25" Type="http://schemas.openxmlformats.org/officeDocument/2006/relationships/image" Target="../media/image459.png"/><Relationship Id="rId2" Type="http://schemas.openxmlformats.org/officeDocument/2006/relationships/image" Target="../media/image123.png"/><Relationship Id="rId16" Type="http://schemas.openxmlformats.org/officeDocument/2006/relationships/image" Target="../media/image182.png"/><Relationship Id="rId20" Type="http://schemas.openxmlformats.org/officeDocument/2006/relationships/image" Target="../media/image186.png"/><Relationship Id="rId29" Type="http://schemas.openxmlformats.org/officeDocument/2006/relationships/image" Target="../media/image19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3.png"/><Relationship Id="rId11" Type="http://schemas.openxmlformats.org/officeDocument/2006/relationships/image" Target="../media/image160.png"/><Relationship Id="rId24" Type="http://schemas.openxmlformats.org/officeDocument/2006/relationships/image" Target="../media/image440.png"/><Relationship Id="rId32" Type="http://schemas.openxmlformats.org/officeDocument/2006/relationships/image" Target="../media/image195.png"/><Relationship Id="rId5" Type="http://schemas.openxmlformats.org/officeDocument/2006/relationships/image" Target="../media/image131.png"/><Relationship Id="rId15" Type="http://schemas.openxmlformats.org/officeDocument/2006/relationships/image" Target="../media/image181.png"/><Relationship Id="rId23" Type="http://schemas.openxmlformats.org/officeDocument/2006/relationships/image" Target="../media/image189.png"/><Relationship Id="rId28" Type="http://schemas.openxmlformats.org/officeDocument/2006/relationships/image" Target="../media/image191.png"/><Relationship Id="rId10" Type="http://schemas.openxmlformats.org/officeDocument/2006/relationships/image" Target="../media/image158.png"/><Relationship Id="rId19" Type="http://schemas.openxmlformats.org/officeDocument/2006/relationships/image" Target="../media/image185.png"/><Relationship Id="rId31" Type="http://schemas.openxmlformats.org/officeDocument/2006/relationships/image" Target="../media/image547.png"/><Relationship Id="rId4" Type="http://schemas.openxmlformats.org/officeDocument/2006/relationships/image" Target="../media/image126.png"/><Relationship Id="rId9" Type="http://schemas.openxmlformats.org/officeDocument/2006/relationships/image" Target="../media/image137.png"/><Relationship Id="rId14" Type="http://schemas.openxmlformats.org/officeDocument/2006/relationships/image" Target="../media/image180.png"/><Relationship Id="rId22" Type="http://schemas.openxmlformats.org/officeDocument/2006/relationships/image" Target="../media/image188.png"/><Relationship Id="rId27" Type="http://schemas.openxmlformats.org/officeDocument/2006/relationships/image" Target="../media/image190.png"/><Relationship Id="rId30" Type="http://schemas.openxmlformats.org/officeDocument/2006/relationships/image" Target="../media/image194.png"/></Relationships>
</file>

<file path=ppt/slides/_rels/slide9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79.png"/><Relationship Id="rId18" Type="http://schemas.openxmlformats.org/officeDocument/2006/relationships/image" Target="../media/image584.png"/><Relationship Id="rId26" Type="http://schemas.openxmlformats.org/officeDocument/2006/relationships/image" Target="../media/image592.png"/><Relationship Id="rId3" Type="http://schemas.openxmlformats.org/officeDocument/2006/relationships/image" Target="../media/image569.png"/><Relationship Id="rId21" Type="http://schemas.openxmlformats.org/officeDocument/2006/relationships/image" Target="../media/image587.png"/><Relationship Id="rId7" Type="http://schemas.openxmlformats.org/officeDocument/2006/relationships/image" Target="../media/image573.png"/><Relationship Id="rId12" Type="http://schemas.openxmlformats.org/officeDocument/2006/relationships/image" Target="../media/image578.png"/><Relationship Id="rId17" Type="http://schemas.openxmlformats.org/officeDocument/2006/relationships/image" Target="../media/image583.png"/><Relationship Id="rId25" Type="http://schemas.openxmlformats.org/officeDocument/2006/relationships/image" Target="../media/image591.png"/><Relationship Id="rId33" Type="http://schemas.openxmlformats.org/officeDocument/2006/relationships/image" Target="../media/image2001.png"/><Relationship Id="rId2" Type="http://schemas.openxmlformats.org/officeDocument/2006/relationships/image" Target="../media/image568.png"/><Relationship Id="rId16" Type="http://schemas.openxmlformats.org/officeDocument/2006/relationships/image" Target="../media/image582.png"/><Relationship Id="rId20" Type="http://schemas.openxmlformats.org/officeDocument/2006/relationships/image" Target="../media/image586.png"/><Relationship Id="rId29" Type="http://schemas.openxmlformats.org/officeDocument/2006/relationships/image" Target="../media/image59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2.png"/><Relationship Id="rId11" Type="http://schemas.openxmlformats.org/officeDocument/2006/relationships/image" Target="../media/image577.png"/><Relationship Id="rId24" Type="http://schemas.openxmlformats.org/officeDocument/2006/relationships/image" Target="../media/image590.png"/><Relationship Id="rId32" Type="http://schemas.openxmlformats.org/officeDocument/2006/relationships/image" Target="../media/image599.png"/><Relationship Id="rId5" Type="http://schemas.openxmlformats.org/officeDocument/2006/relationships/image" Target="../media/image571.png"/><Relationship Id="rId15" Type="http://schemas.openxmlformats.org/officeDocument/2006/relationships/image" Target="../media/image581.png"/><Relationship Id="rId23" Type="http://schemas.openxmlformats.org/officeDocument/2006/relationships/image" Target="../media/image589.png"/><Relationship Id="rId28" Type="http://schemas.openxmlformats.org/officeDocument/2006/relationships/image" Target="../media/image595.png"/><Relationship Id="rId10" Type="http://schemas.openxmlformats.org/officeDocument/2006/relationships/image" Target="../media/image576.png"/><Relationship Id="rId19" Type="http://schemas.openxmlformats.org/officeDocument/2006/relationships/image" Target="../media/image585.png"/><Relationship Id="rId31" Type="http://schemas.openxmlformats.org/officeDocument/2006/relationships/image" Target="../media/image598.png"/><Relationship Id="rId4" Type="http://schemas.openxmlformats.org/officeDocument/2006/relationships/image" Target="../media/image570.png"/><Relationship Id="rId9" Type="http://schemas.openxmlformats.org/officeDocument/2006/relationships/image" Target="../media/image575.png"/><Relationship Id="rId14" Type="http://schemas.openxmlformats.org/officeDocument/2006/relationships/image" Target="../media/image580.png"/><Relationship Id="rId22" Type="http://schemas.openxmlformats.org/officeDocument/2006/relationships/image" Target="../media/image588.png"/><Relationship Id="rId27" Type="http://schemas.openxmlformats.org/officeDocument/2006/relationships/image" Target="../media/image368.png"/><Relationship Id="rId30" Type="http://schemas.openxmlformats.org/officeDocument/2006/relationships/image" Target="../media/image597.png"/><Relationship Id="rId8" Type="http://schemas.openxmlformats.org/officeDocument/2006/relationships/image" Target="../media/image574.png"/></Relationships>
</file>

<file path=ppt/slides/_rels/slide10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60.png"/><Relationship Id="rId26" Type="http://schemas.openxmlformats.org/officeDocument/2006/relationships/image" Target="../media/image621.png"/><Relationship Id="rId39" Type="http://schemas.openxmlformats.org/officeDocument/2006/relationships/image" Target="../media/image601.png"/><Relationship Id="rId3" Type="http://schemas.openxmlformats.org/officeDocument/2006/relationships/image" Target="../media/image550.png"/><Relationship Id="rId34" Type="http://schemas.openxmlformats.org/officeDocument/2006/relationships/image" Target="../media/image565.png"/><Relationship Id="rId42" Type="http://schemas.openxmlformats.org/officeDocument/2006/relationships/image" Target="../media/image604.png"/><Relationship Id="rId7" Type="http://schemas.openxmlformats.org/officeDocument/2006/relationships/image" Target="../media/image554.png"/><Relationship Id="rId12" Type="http://schemas.openxmlformats.org/officeDocument/2006/relationships/image" Target="../media/image559.png"/><Relationship Id="rId25" Type="http://schemas.openxmlformats.org/officeDocument/2006/relationships/image" Target="../media/image620.png"/><Relationship Id="rId33" Type="http://schemas.openxmlformats.org/officeDocument/2006/relationships/image" Target="../media/image564.png"/><Relationship Id="rId38" Type="http://schemas.openxmlformats.org/officeDocument/2006/relationships/image" Target="../media/image600.png"/><Relationship Id="rId2" Type="http://schemas.openxmlformats.org/officeDocument/2006/relationships/image" Target="../media/image549.png"/><Relationship Id="rId29" Type="http://schemas.openxmlformats.org/officeDocument/2006/relationships/image" Target="../media/image624.png"/><Relationship Id="rId41" Type="http://schemas.openxmlformats.org/officeDocument/2006/relationships/image" Target="../media/image60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53.png"/><Relationship Id="rId11" Type="http://schemas.openxmlformats.org/officeDocument/2006/relationships/image" Target="../media/image558.png"/><Relationship Id="rId24" Type="http://schemas.openxmlformats.org/officeDocument/2006/relationships/image" Target="../media/image619.png"/><Relationship Id="rId32" Type="http://schemas.openxmlformats.org/officeDocument/2006/relationships/image" Target="../media/image563.png"/><Relationship Id="rId37" Type="http://schemas.openxmlformats.org/officeDocument/2006/relationships/image" Target="../media/image593.png"/><Relationship Id="rId40" Type="http://schemas.openxmlformats.org/officeDocument/2006/relationships/image" Target="../media/image602.png"/><Relationship Id="rId5" Type="http://schemas.openxmlformats.org/officeDocument/2006/relationships/image" Target="../media/image552.png"/><Relationship Id="rId23" Type="http://schemas.openxmlformats.org/officeDocument/2006/relationships/image" Target="../media/image618.png"/><Relationship Id="rId28" Type="http://schemas.openxmlformats.org/officeDocument/2006/relationships/image" Target="../media/image623.png"/><Relationship Id="rId36" Type="http://schemas.openxmlformats.org/officeDocument/2006/relationships/image" Target="../media/image567.png"/><Relationship Id="rId10" Type="http://schemas.openxmlformats.org/officeDocument/2006/relationships/image" Target="../media/image557.png"/><Relationship Id="rId31" Type="http://schemas.openxmlformats.org/officeDocument/2006/relationships/image" Target="../media/image562.png"/><Relationship Id="rId4" Type="http://schemas.openxmlformats.org/officeDocument/2006/relationships/image" Target="../media/image551.png"/><Relationship Id="rId9" Type="http://schemas.openxmlformats.org/officeDocument/2006/relationships/image" Target="../media/image556.png"/><Relationship Id="rId14" Type="http://schemas.openxmlformats.org/officeDocument/2006/relationships/image" Target="../media/image561.png"/><Relationship Id="rId22" Type="http://schemas.openxmlformats.org/officeDocument/2006/relationships/image" Target="../media/image617.png"/><Relationship Id="rId27" Type="http://schemas.openxmlformats.org/officeDocument/2006/relationships/image" Target="../media/image622.png"/><Relationship Id="rId30" Type="http://schemas.openxmlformats.org/officeDocument/2006/relationships/image" Target="../media/image625.png"/><Relationship Id="rId35" Type="http://schemas.openxmlformats.org/officeDocument/2006/relationships/image" Target="../media/image566.png"/><Relationship Id="rId8" Type="http://schemas.openxmlformats.org/officeDocument/2006/relationships/image" Target="../media/image555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9.png"/><Relationship Id="rId13" Type="http://schemas.openxmlformats.org/officeDocument/2006/relationships/image" Target="../media/image637.png"/><Relationship Id="rId3" Type="http://schemas.openxmlformats.org/officeDocument/2006/relationships/image" Target="../media/image197.png"/><Relationship Id="rId7" Type="http://schemas.openxmlformats.org/officeDocument/2006/relationships/image" Target="../media/image208.png"/><Relationship Id="rId12" Type="http://schemas.openxmlformats.org/officeDocument/2006/relationships/image" Target="../media/image636.png"/><Relationship Id="rId2" Type="http://schemas.openxmlformats.org/officeDocument/2006/relationships/image" Target="../media/image1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.png"/><Relationship Id="rId11" Type="http://schemas.openxmlformats.org/officeDocument/2006/relationships/image" Target="../media/image635.png"/><Relationship Id="rId5" Type="http://schemas.openxmlformats.org/officeDocument/2006/relationships/image" Target="../media/image200.png"/><Relationship Id="rId15" Type="http://schemas.openxmlformats.org/officeDocument/2006/relationships/image" Target="../media/image640.png"/><Relationship Id="rId10" Type="http://schemas.openxmlformats.org/officeDocument/2006/relationships/image" Target="../media/image211.png"/><Relationship Id="rId4" Type="http://schemas.openxmlformats.org/officeDocument/2006/relationships/image" Target="../media/image199.png"/><Relationship Id="rId9" Type="http://schemas.openxmlformats.org/officeDocument/2006/relationships/image" Target="../media/image210.png"/><Relationship Id="rId14" Type="http://schemas.openxmlformats.org/officeDocument/2006/relationships/image" Target="../media/image639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5.png"/><Relationship Id="rId13" Type="http://schemas.openxmlformats.org/officeDocument/2006/relationships/image" Target="../media/image649.png"/><Relationship Id="rId3" Type="http://schemas.openxmlformats.org/officeDocument/2006/relationships/image" Target="../media/image213.png"/><Relationship Id="rId7" Type="http://schemas.openxmlformats.org/officeDocument/2006/relationships/image" Target="../media/image224.png"/><Relationship Id="rId12" Type="http://schemas.openxmlformats.org/officeDocument/2006/relationships/image" Target="../media/image648.png"/><Relationship Id="rId2" Type="http://schemas.openxmlformats.org/officeDocument/2006/relationships/image" Target="../media/image2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11" Type="http://schemas.openxmlformats.org/officeDocument/2006/relationships/image" Target="../media/image635.png"/><Relationship Id="rId5" Type="http://schemas.openxmlformats.org/officeDocument/2006/relationships/image" Target="../media/image222.png"/><Relationship Id="rId15" Type="http://schemas.openxmlformats.org/officeDocument/2006/relationships/image" Target="../media/image651.png"/><Relationship Id="rId10" Type="http://schemas.openxmlformats.org/officeDocument/2006/relationships/image" Target="../media/image647.png"/><Relationship Id="rId4" Type="http://schemas.openxmlformats.org/officeDocument/2006/relationships/image" Target="../media/image221.png"/><Relationship Id="rId9" Type="http://schemas.openxmlformats.org/officeDocument/2006/relationships/image" Target="../media/image226.png"/><Relationship Id="rId14" Type="http://schemas.openxmlformats.org/officeDocument/2006/relationships/image" Target="../media/image650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png"/><Relationship Id="rId13" Type="http://schemas.openxmlformats.org/officeDocument/2006/relationships/image" Target="../media/image661.png"/><Relationship Id="rId18" Type="http://schemas.openxmlformats.org/officeDocument/2006/relationships/image" Target="../media/image666.png"/><Relationship Id="rId3" Type="http://schemas.openxmlformats.org/officeDocument/2006/relationships/image" Target="../media/image227.png"/><Relationship Id="rId7" Type="http://schemas.openxmlformats.org/officeDocument/2006/relationships/image" Target="../media/image656.png"/><Relationship Id="rId12" Type="http://schemas.openxmlformats.org/officeDocument/2006/relationships/image" Target="../media/image660.png"/><Relationship Id="rId17" Type="http://schemas.openxmlformats.org/officeDocument/2006/relationships/image" Target="../media/image665.png"/><Relationship Id="rId2" Type="http://schemas.openxmlformats.org/officeDocument/2006/relationships/image" Target="../media/image652.png"/><Relationship Id="rId16" Type="http://schemas.openxmlformats.org/officeDocument/2006/relationships/image" Target="../media/image664.png"/><Relationship Id="rId20" Type="http://schemas.openxmlformats.org/officeDocument/2006/relationships/image" Target="../media/image6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90.png"/><Relationship Id="rId11" Type="http://schemas.openxmlformats.org/officeDocument/2006/relationships/image" Target="../media/image659.png"/><Relationship Id="rId5" Type="http://schemas.openxmlformats.org/officeDocument/2006/relationships/image" Target="../media/image228.png"/><Relationship Id="rId15" Type="http://schemas.openxmlformats.org/officeDocument/2006/relationships/image" Target="../media/image663.png"/><Relationship Id="rId10" Type="http://schemas.openxmlformats.org/officeDocument/2006/relationships/image" Target="../media/image658.png"/><Relationship Id="rId19" Type="http://schemas.openxmlformats.org/officeDocument/2006/relationships/image" Target="../media/image667.png"/><Relationship Id="rId4" Type="http://schemas.openxmlformats.org/officeDocument/2006/relationships/image" Target="../media/image654.png"/><Relationship Id="rId9" Type="http://schemas.openxmlformats.org/officeDocument/2006/relationships/image" Target="../media/image6320.png"/><Relationship Id="rId14" Type="http://schemas.openxmlformats.org/officeDocument/2006/relationships/image" Target="../media/image662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png"/><Relationship Id="rId13" Type="http://schemas.openxmlformats.org/officeDocument/2006/relationships/image" Target="../media/image661.png"/><Relationship Id="rId18" Type="http://schemas.openxmlformats.org/officeDocument/2006/relationships/image" Target="../media/image679.png"/><Relationship Id="rId3" Type="http://schemas.openxmlformats.org/officeDocument/2006/relationships/image" Target="../media/image229.png"/><Relationship Id="rId7" Type="http://schemas.openxmlformats.org/officeDocument/2006/relationships/image" Target="../media/image656.png"/><Relationship Id="rId12" Type="http://schemas.openxmlformats.org/officeDocument/2006/relationships/image" Target="../media/image660.png"/><Relationship Id="rId17" Type="http://schemas.openxmlformats.org/officeDocument/2006/relationships/image" Target="../media/image665.png"/><Relationship Id="rId2" Type="http://schemas.openxmlformats.org/officeDocument/2006/relationships/image" Target="../media/image672.png"/><Relationship Id="rId16" Type="http://schemas.openxmlformats.org/officeDocument/2006/relationships/image" Target="../media/image678.png"/><Relationship Id="rId20" Type="http://schemas.openxmlformats.org/officeDocument/2006/relationships/image" Target="../media/image68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90.png"/><Relationship Id="rId11" Type="http://schemas.openxmlformats.org/officeDocument/2006/relationships/image" Target="../media/image676.png"/><Relationship Id="rId5" Type="http://schemas.openxmlformats.org/officeDocument/2006/relationships/image" Target="../media/image230.png"/><Relationship Id="rId15" Type="http://schemas.openxmlformats.org/officeDocument/2006/relationships/image" Target="../media/image677.png"/><Relationship Id="rId10" Type="http://schemas.openxmlformats.org/officeDocument/2006/relationships/image" Target="../media/image658.png"/><Relationship Id="rId19" Type="http://schemas.openxmlformats.org/officeDocument/2006/relationships/image" Target="../media/image680.png"/><Relationship Id="rId4" Type="http://schemas.openxmlformats.org/officeDocument/2006/relationships/image" Target="../media/image674.png"/><Relationship Id="rId9" Type="http://schemas.openxmlformats.org/officeDocument/2006/relationships/image" Target="../media/image6320.png"/><Relationship Id="rId14" Type="http://schemas.openxmlformats.org/officeDocument/2006/relationships/image" Target="../media/image662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png"/><Relationship Id="rId13" Type="http://schemas.openxmlformats.org/officeDocument/2006/relationships/image" Target="../media/image290.png"/><Relationship Id="rId3" Type="http://schemas.openxmlformats.org/officeDocument/2006/relationships/image" Target="../media/image232.png"/><Relationship Id="rId7" Type="http://schemas.openxmlformats.org/officeDocument/2006/relationships/image" Target="../media/image239.png"/><Relationship Id="rId12" Type="http://schemas.openxmlformats.org/officeDocument/2006/relationships/image" Target="../media/image289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6.png"/><Relationship Id="rId11" Type="http://schemas.openxmlformats.org/officeDocument/2006/relationships/image" Target="../media/image288.png"/><Relationship Id="rId5" Type="http://schemas.openxmlformats.org/officeDocument/2006/relationships/image" Target="../media/image235.png"/><Relationship Id="rId15" Type="http://schemas.openxmlformats.org/officeDocument/2006/relationships/image" Target="../media/image295.png"/><Relationship Id="rId10" Type="http://schemas.openxmlformats.org/officeDocument/2006/relationships/image" Target="../media/image287.png"/><Relationship Id="rId4" Type="http://schemas.openxmlformats.org/officeDocument/2006/relationships/image" Target="../media/image233.png"/><Relationship Id="rId9" Type="http://schemas.openxmlformats.org/officeDocument/2006/relationships/image" Target="../media/image284.png"/><Relationship Id="rId14" Type="http://schemas.openxmlformats.org/officeDocument/2006/relationships/image" Target="../media/image291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png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8.png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2.png"/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8.png"/><Relationship Id="rId3" Type="http://schemas.openxmlformats.org/officeDocument/2006/relationships/image" Target="../media/image606.png"/><Relationship Id="rId7" Type="http://schemas.openxmlformats.org/officeDocument/2006/relationships/image" Target="../media/image4610.png"/><Relationship Id="rId2" Type="http://schemas.openxmlformats.org/officeDocument/2006/relationships/image" Target="../media/image441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07.png"/><Relationship Id="rId4" Type="http://schemas.openxmlformats.org/officeDocument/2006/relationships/image" Target="../media/image607.png"/><Relationship Id="rId9" Type="http://schemas.openxmlformats.org/officeDocument/2006/relationships/image" Target="../media/image309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6.png"/><Relationship Id="rId3" Type="http://schemas.openxmlformats.org/officeDocument/2006/relationships/image" Target="../media/image311.png"/><Relationship Id="rId7" Type="http://schemas.openxmlformats.org/officeDocument/2006/relationships/image" Target="../media/image315.png"/><Relationship Id="rId12" Type="http://schemas.openxmlformats.org/officeDocument/2006/relationships/image" Target="../media/image320.png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4.png"/><Relationship Id="rId11" Type="http://schemas.openxmlformats.org/officeDocument/2006/relationships/image" Target="../media/image319.png"/><Relationship Id="rId5" Type="http://schemas.openxmlformats.org/officeDocument/2006/relationships/image" Target="../media/image313.png"/><Relationship Id="rId10" Type="http://schemas.openxmlformats.org/officeDocument/2006/relationships/image" Target="../media/image318.png"/><Relationship Id="rId4" Type="http://schemas.openxmlformats.org/officeDocument/2006/relationships/image" Target="../media/image312.png"/><Relationship Id="rId9" Type="http://schemas.openxmlformats.org/officeDocument/2006/relationships/image" Target="../media/image317.png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10.png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png"/><Relationship Id="rId13" Type="http://schemas.openxmlformats.org/officeDocument/2006/relationships/image" Target="../media/image6012.png"/><Relationship Id="rId3" Type="http://schemas.openxmlformats.org/officeDocument/2006/relationships/image" Target="../media/image3221.png"/><Relationship Id="rId7" Type="http://schemas.openxmlformats.org/officeDocument/2006/relationships/image" Target="../media/image697.png"/><Relationship Id="rId12" Type="http://schemas.openxmlformats.org/officeDocument/2006/relationships/image" Target="../media/image5910.png"/><Relationship Id="rId2" Type="http://schemas.openxmlformats.org/officeDocument/2006/relationships/image" Target="../media/image323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410.png"/><Relationship Id="rId11" Type="http://schemas.openxmlformats.org/officeDocument/2006/relationships/image" Target="../media/image5610.png"/><Relationship Id="rId5" Type="http://schemas.openxmlformats.org/officeDocument/2006/relationships/image" Target="../media/image5310.png"/><Relationship Id="rId10" Type="http://schemas.openxmlformats.org/officeDocument/2006/relationships/image" Target="../media/image5510.png"/><Relationship Id="rId4" Type="http://schemas.openxmlformats.org/officeDocument/2006/relationships/image" Target="../media/image5210.png"/><Relationship Id="rId9" Type="http://schemas.openxmlformats.org/officeDocument/2006/relationships/image" Target="../media/image699.png"/><Relationship Id="rId14" Type="http://schemas.openxmlformats.org/officeDocument/2006/relationships/image" Target="../media/image3240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10.png"/><Relationship Id="rId3" Type="http://schemas.openxmlformats.org/officeDocument/2006/relationships/image" Target="../media/image6310.png"/><Relationship Id="rId7" Type="http://schemas.openxmlformats.org/officeDocument/2006/relationships/image" Target="../media/image6710.png"/><Relationship Id="rId2" Type="http://schemas.openxmlformats.org/officeDocument/2006/relationships/image" Target="../media/image6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10.png"/><Relationship Id="rId5" Type="http://schemas.openxmlformats.org/officeDocument/2006/relationships/image" Target="../media/image6511.png"/><Relationship Id="rId4" Type="http://schemas.openxmlformats.org/officeDocument/2006/relationships/image" Target="../media/image6410.png"/><Relationship Id="rId9" Type="http://schemas.openxmlformats.org/officeDocument/2006/relationships/image" Target="../media/image6910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10.png"/><Relationship Id="rId3" Type="http://schemas.openxmlformats.org/officeDocument/2006/relationships/image" Target="../media/image716.png"/><Relationship Id="rId7" Type="http://schemas.openxmlformats.org/officeDocument/2006/relationships/image" Target="../media/image7510.png"/><Relationship Id="rId2" Type="http://schemas.openxmlformats.org/officeDocument/2006/relationships/image" Target="../media/image70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10.png"/><Relationship Id="rId5" Type="http://schemas.openxmlformats.org/officeDocument/2006/relationships/image" Target="../media/image7310.png"/><Relationship Id="rId10" Type="http://schemas.openxmlformats.org/officeDocument/2006/relationships/image" Target="../media/image7810.png"/><Relationship Id="rId4" Type="http://schemas.openxmlformats.org/officeDocument/2006/relationships/image" Target="../media/image7210.png"/><Relationship Id="rId9" Type="http://schemas.openxmlformats.org/officeDocument/2006/relationships/image" Target="../media/image7710.png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0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6.png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8.pn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14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82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32.png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11.png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10.pn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10.pn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51.png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1.png"/><Relationship Id="rId7" Type="http://schemas.openxmlformats.org/officeDocument/2006/relationships/image" Target="../media/image352.png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1.png"/><Relationship Id="rId5" Type="http://schemas.openxmlformats.org/officeDocument/2006/relationships/image" Target="../media/image350.png"/><Relationship Id="rId4" Type="http://schemas.openxmlformats.org/officeDocument/2006/relationships/image" Target="../media/image324.png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14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11.png"/><Relationship Id="rId13" Type="http://schemas.openxmlformats.org/officeDocument/2006/relationships/image" Target="../media/image9710.png"/><Relationship Id="rId3" Type="http://schemas.openxmlformats.org/officeDocument/2006/relationships/image" Target="../media/image735.png"/><Relationship Id="rId7" Type="http://schemas.openxmlformats.org/officeDocument/2006/relationships/image" Target="../media/image919.png"/><Relationship Id="rId12" Type="http://schemas.openxmlformats.org/officeDocument/2006/relationships/image" Target="../media/image9610.png"/><Relationship Id="rId2" Type="http://schemas.openxmlformats.org/officeDocument/2006/relationships/image" Target="../media/image87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6.png"/><Relationship Id="rId11" Type="http://schemas.openxmlformats.org/officeDocument/2006/relationships/image" Target="../media/image951.png"/><Relationship Id="rId5" Type="http://schemas.openxmlformats.org/officeDocument/2006/relationships/image" Target="../media/image894.png"/><Relationship Id="rId10" Type="http://schemas.openxmlformats.org/officeDocument/2006/relationships/image" Target="../media/image9410.png"/><Relationship Id="rId4" Type="http://schemas.openxmlformats.org/officeDocument/2006/relationships/image" Target="../media/image885.png"/><Relationship Id="rId9" Type="http://schemas.openxmlformats.org/officeDocument/2006/relationships/image" Target="../media/image9310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5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0.png"/><Relationship Id="rId5" Type="http://schemas.openxmlformats.org/officeDocument/2006/relationships/image" Target="../media/image359.png"/><Relationship Id="rId4" Type="http://schemas.openxmlformats.org/officeDocument/2006/relationships/image" Target="../media/image358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5.png"/><Relationship Id="rId5" Type="http://schemas.openxmlformats.org/officeDocument/2006/relationships/image" Target="../media/image364.png"/><Relationship Id="rId4" Type="http://schemas.openxmlformats.org/officeDocument/2006/relationships/image" Target="../media/image363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10.png"/><Relationship Id="rId2" Type="http://schemas.openxmlformats.org/officeDocument/2006/relationships/image" Target="../media/image10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11.png"/><Relationship Id="rId5" Type="http://schemas.openxmlformats.org/officeDocument/2006/relationships/image" Target="../media/image10511.png"/><Relationship Id="rId4" Type="http://schemas.openxmlformats.org/officeDocument/2006/relationships/image" Target="../media/image10411.png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png"/><Relationship Id="rId3" Type="http://schemas.openxmlformats.org/officeDocument/2006/relationships/image" Target="../media/image755.png"/><Relationship Id="rId7" Type="http://schemas.openxmlformats.org/officeDocument/2006/relationships/image" Target="../media/image370.png"/><Relationship Id="rId2" Type="http://schemas.openxmlformats.org/officeDocument/2006/relationships/image" Target="../media/image7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png"/><Relationship Id="rId11" Type="http://schemas.openxmlformats.org/officeDocument/2006/relationships/image" Target="../media/image374.png"/><Relationship Id="rId5" Type="http://schemas.openxmlformats.org/officeDocument/2006/relationships/image" Target="../media/image367.png"/><Relationship Id="rId10" Type="http://schemas.openxmlformats.org/officeDocument/2006/relationships/image" Target="../media/image373.png"/><Relationship Id="rId4" Type="http://schemas.openxmlformats.org/officeDocument/2006/relationships/image" Target="../media/image366.png"/><Relationship Id="rId9" Type="http://schemas.openxmlformats.org/officeDocument/2006/relationships/image" Target="../media/image372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0.png"/><Relationship Id="rId13" Type="http://schemas.openxmlformats.org/officeDocument/2006/relationships/image" Target="../media/image382.png"/><Relationship Id="rId3" Type="http://schemas.openxmlformats.org/officeDocument/2006/relationships/image" Target="../media/image376.png"/><Relationship Id="rId12" Type="http://schemas.openxmlformats.org/officeDocument/2006/relationships/image" Target="../media/image381.png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80.png"/><Relationship Id="rId10" Type="http://schemas.openxmlformats.org/officeDocument/2006/relationships/image" Target="../media/image379.png"/><Relationship Id="rId4" Type="http://schemas.openxmlformats.org/officeDocument/2006/relationships/image" Target="../media/image377.png"/><Relationship Id="rId9" Type="http://schemas.openxmlformats.org/officeDocument/2006/relationships/image" Target="../media/image378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8.png"/><Relationship Id="rId3" Type="http://schemas.openxmlformats.org/officeDocument/2006/relationships/image" Target="../media/image773.png"/><Relationship Id="rId7" Type="http://schemas.openxmlformats.org/officeDocument/2006/relationships/image" Target="../media/image777.png"/><Relationship Id="rId2" Type="http://schemas.openxmlformats.org/officeDocument/2006/relationships/image" Target="../media/image108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6.png"/><Relationship Id="rId11" Type="http://schemas.openxmlformats.org/officeDocument/2006/relationships/image" Target="../media/image781.png"/><Relationship Id="rId5" Type="http://schemas.openxmlformats.org/officeDocument/2006/relationships/image" Target="../media/image775.png"/><Relationship Id="rId10" Type="http://schemas.openxmlformats.org/officeDocument/2006/relationships/image" Target="../media/image780.png"/><Relationship Id="rId4" Type="http://schemas.openxmlformats.org/officeDocument/2006/relationships/image" Target="../media/image774.png"/><Relationship Id="rId9" Type="http://schemas.openxmlformats.org/officeDocument/2006/relationships/image" Target="../media/image779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8.png"/><Relationship Id="rId13" Type="http://schemas.openxmlformats.org/officeDocument/2006/relationships/image" Target="../media/image3513.png"/><Relationship Id="rId18" Type="http://schemas.openxmlformats.org/officeDocument/2006/relationships/image" Target="../media/image3560.png"/><Relationship Id="rId26" Type="http://schemas.openxmlformats.org/officeDocument/2006/relationships/image" Target="../media/image1104.png"/><Relationship Id="rId3" Type="http://schemas.openxmlformats.org/officeDocument/2006/relationships/image" Target="../media/image783.png"/><Relationship Id="rId21" Type="http://schemas.openxmlformats.org/officeDocument/2006/relationships/image" Target="../media/image3590.png"/><Relationship Id="rId7" Type="http://schemas.openxmlformats.org/officeDocument/2006/relationships/image" Target="../media/image787.png"/><Relationship Id="rId12" Type="http://schemas.openxmlformats.org/officeDocument/2006/relationships/image" Target="../media/image3500.png"/><Relationship Id="rId17" Type="http://schemas.openxmlformats.org/officeDocument/2006/relationships/image" Target="../media/image3550.png"/><Relationship Id="rId25" Type="http://schemas.openxmlformats.org/officeDocument/2006/relationships/image" Target="../media/image805.png"/><Relationship Id="rId2" Type="http://schemas.openxmlformats.org/officeDocument/2006/relationships/image" Target="../media/image1096.png"/><Relationship Id="rId16" Type="http://schemas.openxmlformats.org/officeDocument/2006/relationships/image" Target="../media/image3540.png"/><Relationship Id="rId20" Type="http://schemas.openxmlformats.org/officeDocument/2006/relationships/image" Target="../media/image3580.png"/><Relationship Id="rId29" Type="http://schemas.openxmlformats.org/officeDocument/2006/relationships/image" Target="../media/image111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6.png"/><Relationship Id="rId11" Type="http://schemas.openxmlformats.org/officeDocument/2006/relationships/image" Target="../media/image3490.png"/><Relationship Id="rId24" Type="http://schemas.openxmlformats.org/officeDocument/2006/relationships/image" Target="../media/image804.png"/><Relationship Id="rId5" Type="http://schemas.openxmlformats.org/officeDocument/2006/relationships/image" Target="../media/image785.png"/><Relationship Id="rId15" Type="http://schemas.openxmlformats.org/officeDocument/2006/relationships/image" Target="../media/image3530.png"/><Relationship Id="rId23" Type="http://schemas.openxmlformats.org/officeDocument/2006/relationships/image" Target="../media/image803.png"/><Relationship Id="rId28" Type="http://schemas.openxmlformats.org/officeDocument/2006/relationships/image" Target="../media/image808.png"/><Relationship Id="rId10" Type="http://schemas.openxmlformats.org/officeDocument/2006/relationships/image" Target="../media/image3480.png"/><Relationship Id="rId19" Type="http://schemas.openxmlformats.org/officeDocument/2006/relationships/image" Target="../media/image3570.png"/><Relationship Id="rId4" Type="http://schemas.openxmlformats.org/officeDocument/2006/relationships/image" Target="../media/image784.png"/><Relationship Id="rId9" Type="http://schemas.openxmlformats.org/officeDocument/2006/relationships/image" Target="../media/image383.png"/><Relationship Id="rId14" Type="http://schemas.openxmlformats.org/officeDocument/2006/relationships/image" Target="../media/image3520.png"/><Relationship Id="rId22" Type="http://schemas.openxmlformats.org/officeDocument/2006/relationships/image" Target="../media/image3600.png"/><Relationship Id="rId27" Type="http://schemas.openxmlformats.org/officeDocument/2006/relationships/image" Target="../media/image807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6.png"/><Relationship Id="rId13" Type="http://schemas.openxmlformats.org/officeDocument/2006/relationships/image" Target="../media/image1177.png"/><Relationship Id="rId18" Type="http://schemas.openxmlformats.org/officeDocument/2006/relationships/image" Target="../media/image1221.png"/><Relationship Id="rId26" Type="http://schemas.openxmlformats.org/officeDocument/2006/relationships/image" Target="../media/image1442.png"/><Relationship Id="rId3" Type="http://schemas.openxmlformats.org/officeDocument/2006/relationships/image" Target="../media/image11312.png"/><Relationship Id="rId21" Type="http://schemas.openxmlformats.org/officeDocument/2006/relationships/image" Target="../media/image1362.png"/><Relationship Id="rId7" Type="http://schemas.openxmlformats.org/officeDocument/2006/relationships/image" Target="../media/image785.png"/><Relationship Id="rId12" Type="http://schemas.openxmlformats.org/officeDocument/2006/relationships/image" Target="../media/image11611.png"/><Relationship Id="rId17" Type="http://schemas.openxmlformats.org/officeDocument/2006/relationships/image" Target="../media/image1211.png"/><Relationship Id="rId25" Type="http://schemas.openxmlformats.org/officeDocument/2006/relationships/image" Target="../media/image1432.png"/><Relationship Id="rId2" Type="http://schemas.openxmlformats.org/officeDocument/2006/relationships/image" Target="../media/image11211.png"/><Relationship Id="rId16" Type="http://schemas.openxmlformats.org/officeDocument/2006/relationships/image" Target="../media/image1201.png"/><Relationship Id="rId20" Type="http://schemas.openxmlformats.org/officeDocument/2006/relationships/image" Target="../media/image12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4.png"/><Relationship Id="rId11" Type="http://schemas.openxmlformats.org/officeDocument/2006/relationships/image" Target="../media/image1157.png"/><Relationship Id="rId24" Type="http://schemas.openxmlformats.org/officeDocument/2006/relationships/image" Target="../media/image1422.png"/><Relationship Id="rId5" Type="http://schemas.openxmlformats.org/officeDocument/2006/relationships/image" Target="../media/image783.png"/><Relationship Id="rId15" Type="http://schemas.openxmlformats.org/officeDocument/2006/relationships/image" Target="../media/image1192.png"/><Relationship Id="rId23" Type="http://schemas.openxmlformats.org/officeDocument/2006/relationships/image" Target="../media/image1402.png"/><Relationship Id="rId10" Type="http://schemas.openxmlformats.org/officeDocument/2006/relationships/image" Target="../media/image788.png"/><Relationship Id="rId19" Type="http://schemas.openxmlformats.org/officeDocument/2006/relationships/image" Target="../media/image1251.png"/><Relationship Id="rId4" Type="http://schemas.openxmlformats.org/officeDocument/2006/relationships/image" Target="../media/image11411.png"/><Relationship Id="rId9" Type="http://schemas.openxmlformats.org/officeDocument/2006/relationships/image" Target="../media/image787.png"/><Relationship Id="rId14" Type="http://schemas.openxmlformats.org/officeDocument/2006/relationships/image" Target="../media/image1181.png"/><Relationship Id="rId22" Type="http://schemas.openxmlformats.org/officeDocument/2006/relationships/image" Target="../media/image1392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7.png"/><Relationship Id="rId13" Type="http://schemas.openxmlformats.org/officeDocument/2006/relationships/image" Target="../media/image1500.png"/><Relationship Id="rId18" Type="http://schemas.openxmlformats.org/officeDocument/2006/relationships/image" Target="../media/image1551.png"/><Relationship Id="rId26" Type="http://schemas.openxmlformats.org/officeDocument/2006/relationships/image" Target="../media/image1712.png"/><Relationship Id="rId3" Type="http://schemas.openxmlformats.org/officeDocument/2006/relationships/image" Target="../media/image1462.png"/><Relationship Id="rId21" Type="http://schemas.openxmlformats.org/officeDocument/2006/relationships/image" Target="../media/image1660.png"/><Relationship Id="rId7" Type="http://schemas.openxmlformats.org/officeDocument/2006/relationships/image" Target="../media/image786.png"/><Relationship Id="rId12" Type="http://schemas.openxmlformats.org/officeDocument/2006/relationships/image" Target="../media/image1490.png"/><Relationship Id="rId17" Type="http://schemas.openxmlformats.org/officeDocument/2006/relationships/image" Target="../media/image1541.png"/><Relationship Id="rId25" Type="http://schemas.openxmlformats.org/officeDocument/2006/relationships/image" Target="../media/image1701.png"/><Relationship Id="rId2" Type="http://schemas.openxmlformats.org/officeDocument/2006/relationships/image" Target="../media/image1452.png"/><Relationship Id="rId16" Type="http://schemas.openxmlformats.org/officeDocument/2006/relationships/image" Target="../media/image1530.png"/><Relationship Id="rId20" Type="http://schemas.openxmlformats.org/officeDocument/2006/relationships/image" Target="../media/image16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5.png"/><Relationship Id="rId11" Type="http://schemas.openxmlformats.org/officeDocument/2006/relationships/image" Target="../media/image1482.png"/><Relationship Id="rId24" Type="http://schemas.openxmlformats.org/officeDocument/2006/relationships/image" Target="../media/image1691.png"/><Relationship Id="rId5" Type="http://schemas.openxmlformats.org/officeDocument/2006/relationships/image" Target="../media/image784.png"/><Relationship Id="rId15" Type="http://schemas.openxmlformats.org/officeDocument/2006/relationships/image" Target="../media/image1520.png"/><Relationship Id="rId23" Type="http://schemas.openxmlformats.org/officeDocument/2006/relationships/image" Target="../media/image1681.png"/><Relationship Id="rId10" Type="http://schemas.openxmlformats.org/officeDocument/2006/relationships/image" Target="../media/image1472.png"/><Relationship Id="rId19" Type="http://schemas.openxmlformats.org/officeDocument/2006/relationships/image" Target="../media/image1590.png"/><Relationship Id="rId4" Type="http://schemas.openxmlformats.org/officeDocument/2006/relationships/image" Target="../media/image783.png"/><Relationship Id="rId9" Type="http://schemas.openxmlformats.org/officeDocument/2006/relationships/image" Target="../media/image788.png"/><Relationship Id="rId14" Type="http://schemas.openxmlformats.org/officeDocument/2006/relationships/image" Target="../media/image1510.png"/><Relationship Id="rId22" Type="http://schemas.openxmlformats.org/officeDocument/2006/relationships/image" Target="../media/image1671.png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2.png"/><Relationship Id="rId13" Type="http://schemas.openxmlformats.org/officeDocument/2006/relationships/image" Target="../media/image843.png"/><Relationship Id="rId18" Type="http://schemas.openxmlformats.org/officeDocument/2006/relationships/image" Target="../media/image848.png"/><Relationship Id="rId26" Type="http://schemas.openxmlformats.org/officeDocument/2006/relationships/image" Target="../media/image853.png"/><Relationship Id="rId3" Type="http://schemas.openxmlformats.org/officeDocument/2006/relationships/image" Target="../media/image784.png"/><Relationship Id="rId21" Type="http://schemas.openxmlformats.org/officeDocument/2006/relationships/image" Target="../media/image802.png"/><Relationship Id="rId7" Type="http://schemas.openxmlformats.org/officeDocument/2006/relationships/image" Target="../media/image788.png"/><Relationship Id="rId12" Type="http://schemas.openxmlformats.org/officeDocument/2006/relationships/image" Target="../media/image793.png"/><Relationship Id="rId17" Type="http://schemas.openxmlformats.org/officeDocument/2006/relationships/image" Target="../media/image847.png"/><Relationship Id="rId25" Type="http://schemas.openxmlformats.org/officeDocument/2006/relationships/image" Target="../media/image852.png"/><Relationship Id="rId2" Type="http://schemas.openxmlformats.org/officeDocument/2006/relationships/image" Target="../media/image783.png"/><Relationship Id="rId16" Type="http://schemas.openxmlformats.org/officeDocument/2006/relationships/image" Target="../media/image846.png"/><Relationship Id="rId20" Type="http://schemas.openxmlformats.org/officeDocument/2006/relationships/image" Target="../media/image8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7.png"/><Relationship Id="rId11" Type="http://schemas.openxmlformats.org/officeDocument/2006/relationships/image" Target="../media/image792.png"/><Relationship Id="rId24" Type="http://schemas.openxmlformats.org/officeDocument/2006/relationships/image" Target="../media/image851.png"/><Relationship Id="rId5" Type="http://schemas.openxmlformats.org/officeDocument/2006/relationships/image" Target="../media/image786.png"/><Relationship Id="rId15" Type="http://schemas.openxmlformats.org/officeDocument/2006/relationships/image" Target="../media/image845.png"/><Relationship Id="rId23" Type="http://schemas.openxmlformats.org/officeDocument/2006/relationships/image" Target="../media/image804.png"/><Relationship Id="rId28" Type="http://schemas.openxmlformats.org/officeDocument/2006/relationships/image" Target="../media/image1731.png"/><Relationship Id="rId10" Type="http://schemas.openxmlformats.org/officeDocument/2006/relationships/image" Target="../media/image842.png"/><Relationship Id="rId19" Type="http://schemas.openxmlformats.org/officeDocument/2006/relationships/image" Target="../media/image849.png"/><Relationship Id="rId4" Type="http://schemas.openxmlformats.org/officeDocument/2006/relationships/image" Target="../media/image785.png"/><Relationship Id="rId9" Type="http://schemas.openxmlformats.org/officeDocument/2006/relationships/image" Target="../media/image790.png"/><Relationship Id="rId14" Type="http://schemas.openxmlformats.org/officeDocument/2006/relationships/image" Target="../media/image844.png"/><Relationship Id="rId22" Type="http://schemas.openxmlformats.org/officeDocument/2006/relationships/image" Target="../media/image803.png"/><Relationship Id="rId27" Type="http://schemas.openxmlformats.org/officeDocument/2006/relationships/image" Target="../media/image854.pn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91.png"/><Relationship Id="rId3" Type="http://schemas.openxmlformats.org/officeDocument/2006/relationships/image" Target="../media/image857.png"/><Relationship Id="rId7" Type="http://schemas.openxmlformats.org/officeDocument/2006/relationships/image" Target="../media/image4371.png"/><Relationship Id="rId12" Type="http://schemas.openxmlformats.org/officeDocument/2006/relationships/image" Target="../media/image86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1.png"/><Relationship Id="rId11" Type="http://schemas.openxmlformats.org/officeDocument/2006/relationships/image" Target="../media/image866.png"/><Relationship Id="rId5" Type="http://schemas.openxmlformats.org/officeDocument/2006/relationships/image" Target="../media/image859.png"/><Relationship Id="rId10" Type="http://schemas.openxmlformats.org/officeDocument/2006/relationships/image" Target="../media/image865.png"/><Relationship Id="rId4" Type="http://schemas.openxmlformats.org/officeDocument/2006/relationships/image" Target="../media/image858.png"/><Relationship Id="rId9" Type="http://schemas.openxmlformats.org/officeDocument/2006/relationships/image" Target="../media/image4400.pn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5.png"/><Relationship Id="rId13" Type="http://schemas.openxmlformats.org/officeDocument/2006/relationships/image" Target="../media/image3670.png"/><Relationship Id="rId18" Type="http://schemas.openxmlformats.org/officeDocument/2006/relationships/image" Target="../media/image3720.png"/><Relationship Id="rId26" Type="http://schemas.openxmlformats.org/officeDocument/2006/relationships/image" Target="../media/image3800.png"/><Relationship Id="rId3" Type="http://schemas.openxmlformats.org/officeDocument/2006/relationships/image" Target="../media/image869.png"/><Relationship Id="rId21" Type="http://schemas.openxmlformats.org/officeDocument/2006/relationships/image" Target="../media/image3750.png"/><Relationship Id="rId7" Type="http://schemas.openxmlformats.org/officeDocument/2006/relationships/image" Target="../media/image384.png"/><Relationship Id="rId12" Type="http://schemas.openxmlformats.org/officeDocument/2006/relationships/image" Target="../media/image3660.png"/><Relationship Id="rId17" Type="http://schemas.openxmlformats.org/officeDocument/2006/relationships/image" Target="../media/image3710.png"/><Relationship Id="rId25" Type="http://schemas.openxmlformats.org/officeDocument/2006/relationships/image" Target="../media/image3790.png"/><Relationship Id="rId2" Type="http://schemas.openxmlformats.org/officeDocument/2006/relationships/image" Target="../media/image868.png"/><Relationship Id="rId16" Type="http://schemas.openxmlformats.org/officeDocument/2006/relationships/image" Target="../media/image3700.png"/><Relationship Id="rId20" Type="http://schemas.openxmlformats.org/officeDocument/2006/relationships/image" Target="../media/image37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450.png"/><Relationship Id="rId11" Type="http://schemas.openxmlformats.org/officeDocument/2006/relationships/image" Target="../media/image3650.png"/><Relationship Id="rId24" Type="http://schemas.openxmlformats.org/officeDocument/2006/relationships/image" Target="../media/image3780.png"/><Relationship Id="rId32" Type="http://schemas.openxmlformats.org/officeDocument/2006/relationships/image" Target="../media/image901.png"/><Relationship Id="rId5" Type="http://schemas.openxmlformats.org/officeDocument/2006/relationships/image" Target="../media/image5500.png"/><Relationship Id="rId15" Type="http://schemas.openxmlformats.org/officeDocument/2006/relationships/image" Target="../media/image3690.png"/><Relationship Id="rId23" Type="http://schemas.openxmlformats.org/officeDocument/2006/relationships/image" Target="../media/image3770.png"/><Relationship Id="rId10" Type="http://schemas.openxmlformats.org/officeDocument/2006/relationships/image" Target="../media/image3640.png"/><Relationship Id="rId19" Type="http://schemas.openxmlformats.org/officeDocument/2006/relationships/image" Target="../media/image3730.png"/><Relationship Id="rId4" Type="http://schemas.openxmlformats.org/officeDocument/2006/relationships/image" Target="../media/image4590.png"/><Relationship Id="rId9" Type="http://schemas.openxmlformats.org/officeDocument/2006/relationships/image" Target="../media/image3630.png"/><Relationship Id="rId14" Type="http://schemas.openxmlformats.org/officeDocument/2006/relationships/image" Target="../media/image3680.png"/><Relationship Id="rId22" Type="http://schemas.openxmlformats.org/officeDocument/2006/relationships/image" Target="../media/image3760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0.png"/><Relationship Id="rId13" Type="http://schemas.openxmlformats.org/officeDocument/2006/relationships/image" Target="../media/image1861.png"/><Relationship Id="rId18" Type="http://schemas.openxmlformats.org/officeDocument/2006/relationships/image" Target="../media/image1910.png"/><Relationship Id="rId3" Type="http://schemas.openxmlformats.org/officeDocument/2006/relationships/image" Target="../media/image1761.png"/><Relationship Id="rId21" Type="http://schemas.openxmlformats.org/officeDocument/2006/relationships/image" Target="../media/image1950.png"/><Relationship Id="rId7" Type="http://schemas.openxmlformats.org/officeDocument/2006/relationships/image" Target="../media/image1800.png"/><Relationship Id="rId12" Type="http://schemas.openxmlformats.org/officeDocument/2006/relationships/image" Target="../media/image1851.png"/><Relationship Id="rId17" Type="http://schemas.openxmlformats.org/officeDocument/2006/relationships/image" Target="../media/image1900.png"/><Relationship Id="rId2" Type="http://schemas.openxmlformats.org/officeDocument/2006/relationships/image" Target="../media/image1751.png"/><Relationship Id="rId16" Type="http://schemas.openxmlformats.org/officeDocument/2006/relationships/image" Target="../media/image1890.png"/><Relationship Id="rId20" Type="http://schemas.openxmlformats.org/officeDocument/2006/relationships/image" Target="../media/image19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91.png"/><Relationship Id="rId11" Type="http://schemas.openxmlformats.org/officeDocument/2006/relationships/image" Target="../media/image1841.png"/><Relationship Id="rId5" Type="http://schemas.openxmlformats.org/officeDocument/2006/relationships/image" Target="../media/image1781.png"/><Relationship Id="rId15" Type="http://schemas.openxmlformats.org/officeDocument/2006/relationships/image" Target="../media/image1880.png"/><Relationship Id="rId23" Type="http://schemas.openxmlformats.org/officeDocument/2006/relationships/image" Target="../media/image2350.png"/><Relationship Id="rId10" Type="http://schemas.openxmlformats.org/officeDocument/2006/relationships/image" Target="../media/image1830.png"/><Relationship Id="rId19" Type="http://schemas.openxmlformats.org/officeDocument/2006/relationships/image" Target="../media/image1920.png"/><Relationship Id="rId4" Type="http://schemas.openxmlformats.org/officeDocument/2006/relationships/image" Target="../media/image1771.png"/><Relationship Id="rId9" Type="http://schemas.openxmlformats.org/officeDocument/2006/relationships/image" Target="../media/image1820.png"/><Relationship Id="rId14" Type="http://schemas.openxmlformats.org/officeDocument/2006/relationships/image" Target="../media/image1870.png"/><Relationship Id="rId22" Type="http://schemas.openxmlformats.org/officeDocument/2006/relationships/image" Target="../media/image2082.png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8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02.png"/><Relationship Id="rId13" Type="http://schemas.openxmlformats.org/officeDocument/2006/relationships/image" Target="../media/image3952.png"/><Relationship Id="rId18" Type="http://schemas.openxmlformats.org/officeDocument/2006/relationships/image" Target="../media/image4002.png"/><Relationship Id="rId3" Type="http://schemas.openxmlformats.org/officeDocument/2006/relationships/image" Target="../media/image3840.png"/><Relationship Id="rId7" Type="http://schemas.openxmlformats.org/officeDocument/2006/relationships/image" Target="../media/image3892.png"/><Relationship Id="rId12" Type="http://schemas.openxmlformats.org/officeDocument/2006/relationships/image" Target="../media/image3942.png"/><Relationship Id="rId17" Type="http://schemas.openxmlformats.org/officeDocument/2006/relationships/image" Target="../media/image3992.png"/><Relationship Id="rId2" Type="http://schemas.openxmlformats.org/officeDocument/2006/relationships/image" Target="../media/image3831.png"/><Relationship Id="rId16" Type="http://schemas.openxmlformats.org/officeDocument/2006/relationships/image" Target="../media/image39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70.png"/><Relationship Id="rId11" Type="http://schemas.openxmlformats.org/officeDocument/2006/relationships/image" Target="../media/image3932.png"/><Relationship Id="rId5" Type="http://schemas.openxmlformats.org/officeDocument/2006/relationships/image" Target="../media/image3860.png"/><Relationship Id="rId15" Type="http://schemas.openxmlformats.org/officeDocument/2006/relationships/image" Target="../media/image3972.png"/><Relationship Id="rId10" Type="http://schemas.openxmlformats.org/officeDocument/2006/relationships/image" Target="../media/image3922.png"/><Relationship Id="rId19" Type="http://schemas.openxmlformats.org/officeDocument/2006/relationships/image" Target="../media/image404.png"/><Relationship Id="rId4" Type="http://schemas.openxmlformats.org/officeDocument/2006/relationships/image" Target="../media/image3850.png"/><Relationship Id="rId9" Type="http://schemas.openxmlformats.org/officeDocument/2006/relationships/image" Target="../media/image401.png"/><Relationship Id="rId14" Type="http://schemas.openxmlformats.org/officeDocument/2006/relationships/image" Target="../media/image3962.png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42.png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1.png"/><Relationship Id="rId3" Type="http://schemas.openxmlformats.org/officeDocument/2006/relationships/image" Target="../media/image406.png"/><Relationship Id="rId7" Type="http://schemas.openxmlformats.org/officeDocument/2006/relationships/image" Target="../media/image410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9.png"/><Relationship Id="rId5" Type="http://schemas.openxmlformats.org/officeDocument/2006/relationships/image" Target="../media/image408.png"/><Relationship Id="rId4" Type="http://schemas.openxmlformats.org/officeDocument/2006/relationships/image" Target="../media/image407.pn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1.png"/><Relationship Id="rId13" Type="http://schemas.openxmlformats.org/officeDocument/2006/relationships/image" Target="../media/image4830.png"/><Relationship Id="rId3" Type="http://schemas.openxmlformats.org/officeDocument/2006/relationships/image" Target="../media/image3901.png"/><Relationship Id="rId7" Type="http://schemas.openxmlformats.org/officeDocument/2006/relationships/image" Target="../media/image4770.png"/><Relationship Id="rId12" Type="http://schemas.openxmlformats.org/officeDocument/2006/relationships/image" Target="../media/image4820.png"/><Relationship Id="rId2" Type="http://schemas.openxmlformats.org/officeDocument/2006/relationships/image" Target="../media/image38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60.png"/><Relationship Id="rId11" Type="http://schemas.openxmlformats.org/officeDocument/2006/relationships/image" Target="../media/image4810.png"/><Relationship Id="rId5" Type="http://schemas.openxmlformats.org/officeDocument/2006/relationships/image" Target="../media/image4750.png"/><Relationship Id="rId10" Type="http://schemas.openxmlformats.org/officeDocument/2006/relationships/image" Target="../media/image4800.png"/><Relationship Id="rId4" Type="http://schemas.openxmlformats.org/officeDocument/2006/relationships/image" Target="../media/image4740.png"/><Relationship Id="rId9" Type="http://schemas.openxmlformats.org/officeDocument/2006/relationships/image" Target="../media/image4790.png"/><Relationship Id="rId14" Type="http://schemas.openxmlformats.org/officeDocument/2006/relationships/image" Target="../media/image4840.pn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71.png"/><Relationship Id="rId13" Type="http://schemas.openxmlformats.org/officeDocument/2006/relationships/image" Target="../media/image489.png"/><Relationship Id="rId3" Type="http://schemas.openxmlformats.org/officeDocument/2006/relationships/image" Target="../media/image3921.png"/><Relationship Id="rId7" Type="http://schemas.openxmlformats.org/officeDocument/2006/relationships/image" Target="../media/image3961.png"/><Relationship Id="rId12" Type="http://schemas.openxmlformats.org/officeDocument/2006/relationships/image" Target="../media/image488.png"/><Relationship Id="rId2" Type="http://schemas.openxmlformats.org/officeDocument/2006/relationships/image" Target="../media/image39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1.png"/><Relationship Id="rId11" Type="http://schemas.openxmlformats.org/officeDocument/2006/relationships/image" Target="../media/image4001.png"/><Relationship Id="rId5" Type="http://schemas.openxmlformats.org/officeDocument/2006/relationships/image" Target="../media/image3941.png"/><Relationship Id="rId15" Type="http://schemas.openxmlformats.org/officeDocument/2006/relationships/image" Target="../media/image491.png"/><Relationship Id="rId10" Type="http://schemas.openxmlformats.org/officeDocument/2006/relationships/image" Target="../media/image3991.png"/><Relationship Id="rId4" Type="http://schemas.openxmlformats.org/officeDocument/2006/relationships/image" Target="../media/image3931.png"/><Relationship Id="rId9" Type="http://schemas.openxmlformats.org/officeDocument/2006/relationships/image" Target="../media/image3981.png"/><Relationship Id="rId14" Type="http://schemas.openxmlformats.org/officeDocument/2006/relationships/image" Target="../media/image490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2.png"/><Relationship Id="rId2" Type="http://schemas.openxmlformats.org/officeDocument/2006/relationships/image" Target="../media/image49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4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3.png"/><Relationship Id="rId3" Type="http://schemas.openxmlformats.org/officeDocument/2006/relationships/image" Target="../media/image496.png"/><Relationship Id="rId7" Type="http://schemas.openxmlformats.org/officeDocument/2006/relationships/image" Target="../media/image502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9.png"/><Relationship Id="rId11" Type="http://schemas.openxmlformats.org/officeDocument/2006/relationships/image" Target="../media/image501.png"/><Relationship Id="rId5" Type="http://schemas.openxmlformats.org/officeDocument/2006/relationships/image" Target="../media/image498.png"/><Relationship Id="rId10" Type="http://schemas.openxmlformats.org/officeDocument/2006/relationships/image" Target="../media/image505.png"/><Relationship Id="rId4" Type="http://schemas.openxmlformats.org/officeDocument/2006/relationships/image" Target="../media/image497.png"/><Relationship Id="rId9" Type="http://schemas.openxmlformats.org/officeDocument/2006/relationships/image" Target="../media/image504.png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10" Type="http://schemas.openxmlformats.org/officeDocument/2006/relationships/image" Target="../media/image506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13" Type="http://schemas.openxmlformats.org/officeDocument/2006/relationships/image" Target="../media/image615.png"/><Relationship Id="rId3" Type="http://schemas.openxmlformats.org/officeDocument/2006/relationships/image" Target="../media/image495.png"/><Relationship Id="rId7" Type="http://schemas.openxmlformats.org/officeDocument/2006/relationships/image" Target="../media/image508.png"/><Relationship Id="rId12" Type="http://schemas.openxmlformats.org/officeDocument/2006/relationships/image" Target="../media/image610.png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7.png"/><Relationship Id="rId11" Type="http://schemas.openxmlformats.org/officeDocument/2006/relationships/image" Target="../media/image609.png"/><Relationship Id="rId5" Type="http://schemas.openxmlformats.org/officeDocument/2006/relationships/image" Target="../media/image499.png"/><Relationship Id="rId10" Type="http://schemas.openxmlformats.org/officeDocument/2006/relationships/image" Target="../media/image605.png"/><Relationship Id="rId4" Type="http://schemas.openxmlformats.org/officeDocument/2006/relationships/image" Target="../media/image498.png"/><Relationship Id="rId9" Type="http://schemas.openxmlformats.org/officeDocument/2006/relationships/image" Target="../media/image594.png"/><Relationship Id="rId14" Type="http://schemas.openxmlformats.org/officeDocument/2006/relationships/image" Target="../media/image616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png"/><Relationship Id="rId3" Type="http://schemas.openxmlformats.org/officeDocument/2006/relationships/image" Target="../media/image6090.png"/><Relationship Id="rId7" Type="http://schemas.openxmlformats.org/officeDocument/2006/relationships/image" Target="../media/image645.png"/><Relationship Id="rId12" Type="http://schemas.openxmlformats.org/officeDocument/2006/relationships/image" Target="../media/image701.png"/><Relationship Id="rId2" Type="http://schemas.openxmlformats.org/officeDocument/2006/relationships/image" Target="../media/image605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160.png"/><Relationship Id="rId11" Type="http://schemas.openxmlformats.org/officeDocument/2006/relationships/image" Target="../media/image700.png"/><Relationship Id="rId5" Type="http://schemas.openxmlformats.org/officeDocument/2006/relationships/image" Target="../media/image6150.png"/><Relationship Id="rId10" Type="http://schemas.openxmlformats.org/officeDocument/2006/relationships/image" Target="../media/image696.png"/><Relationship Id="rId4" Type="http://schemas.openxmlformats.org/officeDocument/2006/relationships/image" Target="../media/image6100.png"/><Relationship Id="rId9" Type="http://schemas.openxmlformats.org/officeDocument/2006/relationships/image" Target="../media/image695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8.png"/><Relationship Id="rId3" Type="http://schemas.openxmlformats.org/officeDocument/2006/relationships/image" Target="../media/image413.png"/><Relationship Id="rId7" Type="http://schemas.openxmlformats.org/officeDocument/2006/relationships/image" Target="../media/image707.png"/><Relationship Id="rId2" Type="http://schemas.openxmlformats.org/officeDocument/2006/relationships/image" Target="../media/image7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6.png"/><Relationship Id="rId5" Type="http://schemas.openxmlformats.org/officeDocument/2006/relationships/image" Target="../media/image705.png"/><Relationship Id="rId4" Type="http://schemas.openxmlformats.org/officeDocument/2006/relationships/image" Target="../media/image704.pn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0.png"/><Relationship Id="rId13" Type="http://schemas.openxmlformats.org/officeDocument/2006/relationships/image" Target="../media/image6070.png"/><Relationship Id="rId3" Type="http://schemas.openxmlformats.org/officeDocument/2006/relationships/image" Target="../media/image5970.png"/><Relationship Id="rId7" Type="http://schemas.openxmlformats.org/officeDocument/2006/relationships/image" Target="../media/image6010.png"/><Relationship Id="rId12" Type="http://schemas.openxmlformats.org/officeDocument/2006/relationships/image" Target="../media/image6060.png"/><Relationship Id="rId2" Type="http://schemas.openxmlformats.org/officeDocument/2006/relationships/image" Target="../media/image59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9.png"/><Relationship Id="rId11" Type="http://schemas.openxmlformats.org/officeDocument/2006/relationships/image" Target="../media/image6050.png"/><Relationship Id="rId5" Type="http://schemas.openxmlformats.org/officeDocument/2006/relationships/image" Target="../media/image5990.png"/><Relationship Id="rId10" Type="http://schemas.openxmlformats.org/officeDocument/2006/relationships/image" Target="../media/image6040.png"/><Relationship Id="rId4" Type="http://schemas.openxmlformats.org/officeDocument/2006/relationships/image" Target="../media/image5980.png"/><Relationship Id="rId9" Type="http://schemas.openxmlformats.org/officeDocument/2006/relationships/image" Target="../media/image6030.png"/><Relationship Id="rId14" Type="http://schemas.openxmlformats.org/officeDocument/2006/relationships/image" Target="../media/image6080.png"/></Relationships>
</file>

<file path=ppt/slides/_rels/slide172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26.png"/><Relationship Id="rId3" Type="http://schemas.openxmlformats.org/officeDocument/2006/relationships/image" Target="../media/image711.png"/><Relationship Id="rId7" Type="http://schemas.openxmlformats.org/officeDocument/2006/relationships/image" Target="../media/image715.png"/><Relationship Id="rId17" Type="http://schemas.openxmlformats.org/officeDocument/2006/relationships/image" Target="../media/image725.png"/><Relationship Id="rId2" Type="http://schemas.openxmlformats.org/officeDocument/2006/relationships/image" Target="../media/image710.png"/><Relationship Id="rId16" Type="http://schemas.openxmlformats.org/officeDocument/2006/relationships/image" Target="../media/image724.png"/><Relationship Id="rId20" Type="http://schemas.openxmlformats.org/officeDocument/2006/relationships/image" Target="../media/image3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4.png"/><Relationship Id="rId5" Type="http://schemas.openxmlformats.org/officeDocument/2006/relationships/image" Target="../media/image713.png"/><Relationship Id="rId19" Type="http://schemas.openxmlformats.org/officeDocument/2006/relationships/image" Target="../media/image386.png"/><Relationship Id="rId4" Type="http://schemas.openxmlformats.org/officeDocument/2006/relationships/image" Target="../media/image712.png"/></Relationships>
</file>

<file path=ppt/slides/_rels/slide1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9.png"/><Relationship Id="rId18" Type="http://schemas.openxmlformats.org/officeDocument/2006/relationships/image" Target="../media/image744.png"/><Relationship Id="rId26" Type="http://schemas.openxmlformats.org/officeDocument/2006/relationships/image" Target="../media/image752.png"/><Relationship Id="rId21" Type="http://schemas.openxmlformats.org/officeDocument/2006/relationships/image" Target="../media/image747.png"/><Relationship Id="rId34" Type="http://schemas.openxmlformats.org/officeDocument/2006/relationships/image" Target="../media/image796.png"/><Relationship Id="rId7" Type="http://schemas.openxmlformats.org/officeDocument/2006/relationships/image" Target="../media/image732.png"/><Relationship Id="rId12" Type="http://schemas.openxmlformats.org/officeDocument/2006/relationships/image" Target="../media/image738.png"/><Relationship Id="rId17" Type="http://schemas.openxmlformats.org/officeDocument/2006/relationships/image" Target="../media/image743.png"/><Relationship Id="rId25" Type="http://schemas.openxmlformats.org/officeDocument/2006/relationships/image" Target="../media/image751.png"/><Relationship Id="rId33" Type="http://schemas.openxmlformats.org/officeDocument/2006/relationships/image" Target="../media/image795.png"/><Relationship Id="rId2" Type="http://schemas.openxmlformats.org/officeDocument/2006/relationships/image" Target="../media/image727.png"/><Relationship Id="rId16" Type="http://schemas.openxmlformats.org/officeDocument/2006/relationships/image" Target="../media/image742.png"/><Relationship Id="rId20" Type="http://schemas.openxmlformats.org/officeDocument/2006/relationships/image" Target="../media/image746.png"/><Relationship Id="rId29" Type="http://schemas.openxmlformats.org/officeDocument/2006/relationships/image" Target="../media/image7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1.png"/><Relationship Id="rId11" Type="http://schemas.openxmlformats.org/officeDocument/2006/relationships/image" Target="../media/image737.png"/><Relationship Id="rId24" Type="http://schemas.openxmlformats.org/officeDocument/2006/relationships/image" Target="../media/image750.png"/><Relationship Id="rId32" Type="http://schemas.openxmlformats.org/officeDocument/2006/relationships/image" Target="../media/image794.png"/><Relationship Id="rId37" Type="http://schemas.openxmlformats.org/officeDocument/2006/relationships/image" Target="../media/image799.png"/><Relationship Id="rId5" Type="http://schemas.openxmlformats.org/officeDocument/2006/relationships/image" Target="../media/image730.png"/><Relationship Id="rId15" Type="http://schemas.openxmlformats.org/officeDocument/2006/relationships/image" Target="../media/image741.png"/><Relationship Id="rId23" Type="http://schemas.openxmlformats.org/officeDocument/2006/relationships/image" Target="../media/image749.png"/><Relationship Id="rId28" Type="http://schemas.openxmlformats.org/officeDocument/2006/relationships/image" Target="../media/image718.png"/><Relationship Id="rId36" Type="http://schemas.openxmlformats.org/officeDocument/2006/relationships/image" Target="../media/image798.png"/><Relationship Id="rId10" Type="http://schemas.openxmlformats.org/officeDocument/2006/relationships/image" Target="../media/image736.png"/><Relationship Id="rId19" Type="http://schemas.openxmlformats.org/officeDocument/2006/relationships/image" Target="../media/image745.png"/><Relationship Id="rId31" Type="http://schemas.openxmlformats.org/officeDocument/2006/relationships/image" Target="../media/image791.png"/><Relationship Id="rId4" Type="http://schemas.openxmlformats.org/officeDocument/2006/relationships/image" Target="../media/image729.png"/><Relationship Id="rId9" Type="http://schemas.openxmlformats.org/officeDocument/2006/relationships/image" Target="../media/image734.png"/><Relationship Id="rId14" Type="http://schemas.openxmlformats.org/officeDocument/2006/relationships/image" Target="../media/image740.png"/><Relationship Id="rId22" Type="http://schemas.openxmlformats.org/officeDocument/2006/relationships/image" Target="../media/image748.png"/><Relationship Id="rId27" Type="http://schemas.openxmlformats.org/officeDocument/2006/relationships/image" Target="../media/image753.png"/><Relationship Id="rId30" Type="http://schemas.openxmlformats.org/officeDocument/2006/relationships/image" Target="../media/image789.png"/><Relationship Id="rId35" Type="http://schemas.openxmlformats.org/officeDocument/2006/relationships/image" Target="../media/image797.png"/><Relationship Id="rId8" Type="http://schemas.openxmlformats.org/officeDocument/2006/relationships/image" Target="../media/image733.png"/><Relationship Id="rId3" Type="http://schemas.openxmlformats.org/officeDocument/2006/relationships/image" Target="../media/image728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0.png"/><Relationship Id="rId7" Type="http://schemas.openxmlformats.org/officeDocument/2006/relationships/image" Target="../media/image772.png"/><Relationship Id="rId2" Type="http://schemas.openxmlformats.org/officeDocument/2006/relationships/image" Target="../media/image7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3.png"/><Relationship Id="rId5" Type="http://schemas.openxmlformats.org/officeDocument/2006/relationships/image" Target="../media/image722.png"/><Relationship Id="rId4" Type="http://schemas.openxmlformats.org/officeDocument/2006/relationships/image" Target="../media/image721.pn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4.png"/><Relationship Id="rId2" Type="http://schemas.openxmlformats.org/officeDocument/2006/relationships/image" Target="../media/image80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15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16.png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2.pn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8.pn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0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31.png"/><Relationship Id="rId4" Type="http://schemas.openxmlformats.org/officeDocument/2006/relationships/image" Target="../media/image4302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png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34.png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63.pn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30.png"/><Relationship Id="rId2" Type="http://schemas.openxmlformats.org/officeDocument/2006/relationships/image" Target="../media/image86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40.png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0.png"/><Relationship Id="rId7" Type="http://schemas.openxmlformats.org/officeDocument/2006/relationships/image" Target="../media/image6980.png"/><Relationship Id="rId17" Type="http://schemas.openxmlformats.org/officeDocument/2006/relationships/image" Target="../media/image7080.png"/><Relationship Id="rId2" Type="http://schemas.openxmlformats.org/officeDocument/2006/relationships/image" Target="../media/image6940.png"/><Relationship Id="rId16" Type="http://schemas.openxmlformats.org/officeDocument/2006/relationships/image" Target="../media/image70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70.png"/><Relationship Id="rId5" Type="http://schemas.openxmlformats.org/officeDocument/2006/relationships/image" Target="../media/image6960.png"/><Relationship Id="rId4" Type="http://schemas.openxmlformats.org/officeDocument/2006/relationships/image" Target="../media/image6950.png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png"/><Relationship Id="rId13" Type="http://schemas.openxmlformats.org/officeDocument/2006/relationships/image" Target="../media/image449.png"/><Relationship Id="rId3" Type="http://schemas.openxmlformats.org/officeDocument/2006/relationships/image" Target="../media/image4383.png"/><Relationship Id="rId7" Type="http://schemas.openxmlformats.org/officeDocument/2006/relationships/image" Target="../media/image443.png"/><Relationship Id="rId12" Type="http://schemas.openxmlformats.org/officeDocument/2006/relationships/image" Target="../media/image448.png"/><Relationship Id="rId2" Type="http://schemas.openxmlformats.org/officeDocument/2006/relationships/image" Target="../media/image43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png"/><Relationship Id="rId11" Type="http://schemas.openxmlformats.org/officeDocument/2006/relationships/image" Target="../media/image447.png"/><Relationship Id="rId5" Type="http://schemas.openxmlformats.org/officeDocument/2006/relationships/image" Target="../media/image441.png"/><Relationship Id="rId15" Type="http://schemas.openxmlformats.org/officeDocument/2006/relationships/image" Target="../media/image451.png"/><Relationship Id="rId10" Type="http://schemas.openxmlformats.org/officeDocument/2006/relationships/image" Target="../media/image446.png"/><Relationship Id="rId4" Type="http://schemas.openxmlformats.org/officeDocument/2006/relationships/image" Target="../media/image439.png"/><Relationship Id="rId9" Type="http://schemas.openxmlformats.org/officeDocument/2006/relationships/image" Target="../media/image445.png"/><Relationship Id="rId14" Type="http://schemas.openxmlformats.org/officeDocument/2006/relationships/image" Target="../media/image450.pn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00.png"/><Relationship Id="rId3" Type="http://schemas.openxmlformats.org/officeDocument/2006/relationships/image" Target="../media/image453.png"/><Relationship Id="rId7" Type="http://schemas.openxmlformats.org/officeDocument/2006/relationships/image" Target="../media/image6490.png"/><Relationship Id="rId12" Type="http://schemas.openxmlformats.org/officeDocument/2006/relationships/image" Target="../media/image455.png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80.png"/><Relationship Id="rId11" Type="http://schemas.openxmlformats.org/officeDocument/2006/relationships/image" Target="../media/image7051.png"/><Relationship Id="rId5" Type="http://schemas.openxmlformats.org/officeDocument/2006/relationships/image" Target="../media/image7490.png"/><Relationship Id="rId10" Type="http://schemas.openxmlformats.org/officeDocument/2006/relationships/image" Target="../media/image6930.png"/><Relationship Id="rId4" Type="http://schemas.openxmlformats.org/officeDocument/2006/relationships/image" Target="../media/image454.png"/><Relationship Id="rId9" Type="http://schemas.openxmlformats.org/officeDocument/2006/relationships/image" Target="../media/image6510.png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8.png"/><Relationship Id="rId3" Type="http://schemas.openxmlformats.org/officeDocument/2006/relationships/image" Target="../media/image9512.png"/><Relationship Id="rId7" Type="http://schemas.openxmlformats.org/officeDocument/2006/relationships/image" Target="../media/image9440.png"/><Relationship Id="rId2" Type="http://schemas.openxmlformats.org/officeDocument/2006/relationships/image" Target="../media/image93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7.png"/><Relationship Id="rId5" Type="http://schemas.openxmlformats.org/officeDocument/2006/relationships/image" Target="../media/image456.png"/><Relationship Id="rId4" Type="http://schemas.openxmlformats.org/officeDocument/2006/relationships/image" Target="../media/image952.png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4.png"/><Relationship Id="rId3" Type="http://schemas.openxmlformats.org/officeDocument/2006/relationships/image" Target="../media/image4580.png"/><Relationship Id="rId7" Type="http://schemas.openxmlformats.org/officeDocument/2006/relationships/image" Target="../media/image463.png"/><Relationship Id="rId12" Type="http://schemas.openxmlformats.org/officeDocument/2006/relationships/image" Target="../media/image544.png"/><Relationship Id="rId2" Type="http://schemas.openxmlformats.org/officeDocument/2006/relationships/image" Target="../media/image45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png"/><Relationship Id="rId11" Type="http://schemas.openxmlformats.org/officeDocument/2006/relationships/image" Target="../media/image543.png"/><Relationship Id="rId5" Type="http://schemas.openxmlformats.org/officeDocument/2006/relationships/image" Target="../media/image461.png"/><Relationship Id="rId10" Type="http://schemas.openxmlformats.org/officeDocument/2006/relationships/image" Target="../media/image466.png"/><Relationship Id="rId4" Type="http://schemas.openxmlformats.org/officeDocument/2006/relationships/image" Target="../media/image460.png"/><Relationship Id="rId9" Type="http://schemas.openxmlformats.org/officeDocument/2006/relationships/image" Target="../media/image465.pn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6.png"/><Relationship Id="rId3" Type="http://schemas.openxmlformats.org/officeDocument/2006/relationships/image" Target="../media/image608.png"/><Relationship Id="rId7" Type="http://schemas.openxmlformats.org/officeDocument/2006/relationships/image" Target="../media/image614.png"/><Relationship Id="rId2" Type="http://schemas.openxmlformats.org/officeDocument/2006/relationships/image" Target="../media/image54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3.png"/><Relationship Id="rId5" Type="http://schemas.openxmlformats.org/officeDocument/2006/relationships/image" Target="../media/image612.png"/><Relationship Id="rId4" Type="http://schemas.openxmlformats.org/officeDocument/2006/relationships/image" Target="../media/image611.png"/><Relationship Id="rId9" Type="http://schemas.openxmlformats.org/officeDocument/2006/relationships/image" Target="../media/image627.png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8.png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png"/><Relationship Id="rId2" Type="http://schemas.openxmlformats.org/officeDocument/2006/relationships/image" Target="../media/image62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33.png"/><Relationship Id="rId4" Type="http://schemas.openxmlformats.org/officeDocument/2006/relationships/image" Target="../media/image632.png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30.png"/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40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4.png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0.png"/><Relationship Id="rId2" Type="http://schemas.openxmlformats.org/officeDocument/2006/relationships/image" Target="../media/image6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311.png"/><Relationship Id="rId4" Type="http://schemas.openxmlformats.org/officeDocument/2006/relationships/image" Target="../media/image6291.pn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8.png"/><Relationship Id="rId2" Type="http://schemas.openxmlformats.org/officeDocument/2006/relationships/image" Target="../media/image634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1.pn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2.png"/><Relationship Id="rId2" Type="http://schemas.openxmlformats.org/officeDocument/2006/relationships/image" Target="../media/image64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46.png"/><Relationship Id="rId4" Type="http://schemas.openxmlformats.org/officeDocument/2006/relationships/image" Target="../media/image644.png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5.png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5.png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5.png"/><Relationship Id="rId3" Type="http://schemas.openxmlformats.org/officeDocument/2006/relationships/image" Target="../media/image909.png"/><Relationship Id="rId7" Type="http://schemas.openxmlformats.org/officeDocument/2006/relationships/image" Target="../media/image914.png"/><Relationship Id="rId12" Type="http://schemas.openxmlformats.org/officeDocument/2006/relationships/image" Target="../media/image918.png"/><Relationship Id="rId2" Type="http://schemas.openxmlformats.org/officeDocument/2006/relationships/image" Target="../media/image6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3.png"/><Relationship Id="rId11" Type="http://schemas.openxmlformats.org/officeDocument/2006/relationships/image" Target="../media/image1005.png"/><Relationship Id="rId5" Type="http://schemas.openxmlformats.org/officeDocument/2006/relationships/image" Target="../media/image912.png"/><Relationship Id="rId10" Type="http://schemas.openxmlformats.org/officeDocument/2006/relationships/image" Target="../media/image917.png"/><Relationship Id="rId4" Type="http://schemas.openxmlformats.org/officeDocument/2006/relationships/image" Target="../media/image911.png"/><Relationship Id="rId9" Type="http://schemas.openxmlformats.org/officeDocument/2006/relationships/image" Target="../media/image916.png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50.png"/><Relationship Id="rId2" Type="http://schemas.openxmlformats.org/officeDocument/2006/relationships/image" Target="../media/image288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8.png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9.png"/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0.png"/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6.png"/><Relationship Id="rId13" Type="http://schemas.openxmlformats.org/officeDocument/2006/relationships/image" Target="../media/image761.png"/><Relationship Id="rId3" Type="http://schemas.openxmlformats.org/officeDocument/2006/relationships/image" Target="../media/image692.png"/><Relationship Id="rId7" Type="http://schemas.openxmlformats.org/officeDocument/2006/relationships/image" Target="../media/image717.png"/><Relationship Id="rId12" Type="http://schemas.openxmlformats.org/officeDocument/2006/relationships/image" Target="../media/image686.png"/><Relationship Id="rId2" Type="http://schemas.openxmlformats.org/officeDocument/2006/relationships/image" Target="../media/image691.png"/><Relationship Id="rId16" Type="http://schemas.openxmlformats.org/officeDocument/2006/relationships/image" Target="../media/image7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png"/><Relationship Id="rId11" Type="http://schemas.openxmlformats.org/officeDocument/2006/relationships/image" Target="../media/image759.png"/><Relationship Id="rId5" Type="http://schemas.openxmlformats.org/officeDocument/2006/relationships/image" Target="../media/image694.png"/><Relationship Id="rId15" Type="http://schemas.openxmlformats.org/officeDocument/2006/relationships/image" Target="../media/image7613.png"/><Relationship Id="rId10" Type="http://schemas.openxmlformats.org/officeDocument/2006/relationships/image" Target="../media/image758.png"/><Relationship Id="rId4" Type="http://schemas.openxmlformats.org/officeDocument/2006/relationships/image" Target="../media/image693.png"/><Relationship Id="rId9" Type="http://schemas.openxmlformats.org/officeDocument/2006/relationships/image" Target="../media/image757.png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6.png"/><Relationship Id="rId13" Type="http://schemas.openxmlformats.org/officeDocument/2006/relationships/image" Target="../media/image1052.png"/><Relationship Id="rId3" Type="http://schemas.openxmlformats.org/officeDocument/2006/relationships/image" Target="../media/image1041.png"/><Relationship Id="rId7" Type="http://schemas.openxmlformats.org/officeDocument/2006/relationships/image" Target="../media/image1045.png"/><Relationship Id="rId12" Type="http://schemas.openxmlformats.org/officeDocument/2006/relationships/image" Target="../media/image1051.png"/><Relationship Id="rId17" Type="http://schemas.openxmlformats.org/officeDocument/2006/relationships/image" Target="../media/image1056.png"/><Relationship Id="rId2" Type="http://schemas.openxmlformats.org/officeDocument/2006/relationships/image" Target="../media/image767.png"/><Relationship Id="rId16" Type="http://schemas.openxmlformats.org/officeDocument/2006/relationships/image" Target="../media/image10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4.png"/><Relationship Id="rId11" Type="http://schemas.openxmlformats.org/officeDocument/2006/relationships/image" Target="../media/image1049.png"/><Relationship Id="rId5" Type="http://schemas.openxmlformats.org/officeDocument/2006/relationships/image" Target="../media/image1043.png"/><Relationship Id="rId15" Type="http://schemas.openxmlformats.org/officeDocument/2006/relationships/image" Target="../media/image1054.png"/><Relationship Id="rId10" Type="http://schemas.openxmlformats.org/officeDocument/2006/relationships/image" Target="../media/image1048.png"/><Relationship Id="rId4" Type="http://schemas.openxmlformats.org/officeDocument/2006/relationships/image" Target="../media/image1042.png"/><Relationship Id="rId9" Type="http://schemas.openxmlformats.org/officeDocument/2006/relationships/image" Target="../media/image1047.png"/><Relationship Id="rId14" Type="http://schemas.openxmlformats.org/officeDocument/2006/relationships/image" Target="../media/image1053.pn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6.png"/><Relationship Id="rId3" Type="http://schemas.openxmlformats.org/officeDocument/2006/relationships/image" Target="../media/image923.png"/><Relationship Id="rId7" Type="http://schemas.openxmlformats.org/officeDocument/2006/relationships/image" Target="../media/image771.png"/><Relationship Id="rId2" Type="http://schemas.openxmlformats.org/officeDocument/2006/relationships/image" Target="../media/image9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0.png"/><Relationship Id="rId5" Type="http://schemas.openxmlformats.org/officeDocument/2006/relationships/image" Target="../media/image769.png"/><Relationship Id="rId4" Type="http://schemas.openxmlformats.org/officeDocument/2006/relationships/image" Target="../media/image768.png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png"/><Relationship Id="rId3" Type="http://schemas.openxmlformats.org/officeDocument/2006/relationships/image" Target="../media/image931.png"/><Relationship Id="rId7" Type="http://schemas.openxmlformats.org/officeDocument/2006/relationships/image" Target="../media/image935.png"/><Relationship Id="rId2" Type="http://schemas.openxmlformats.org/officeDocument/2006/relationships/image" Target="../media/image9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4.png"/><Relationship Id="rId5" Type="http://schemas.openxmlformats.org/officeDocument/2006/relationships/image" Target="../media/image933.png"/><Relationship Id="rId4" Type="http://schemas.openxmlformats.org/officeDocument/2006/relationships/image" Target="../media/image932.png"/><Relationship Id="rId9" Type="http://schemas.openxmlformats.org/officeDocument/2006/relationships/image" Target="../media/image390.pn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5.png"/><Relationship Id="rId13" Type="http://schemas.openxmlformats.org/officeDocument/2006/relationships/image" Target="../media/image390.png"/><Relationship Id="rId3" Type="http://schemas.openxmlformats.org/officeDocument/2006/relationships/image" Target="../media/image939.png"/><Relationship Id="rId7" Type="http://schemas.openxmlformats.org/officeDocument/2006/relationships/image" Target="../media/image944.png"/><Relationship Id="rId12" Type="http://schemas.openxmlformats.org/officeDocument/2006/relationships/image" Target="../media/image949.png"/><Relationship Id="rId2" Type="http://schemas.openxmlformats.org/officeDocument/2006/relationships/image" Target="../media/image9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3.png"/><Relationship Id="rId11" Type="http://schemas.openxmlformats.org/officeDocument/2006/relationships/image" Target="../media/image948.png"/><Relationship Id="rId5" Type="http://schemas.openxmlformats.org/officeDocument/2006/relationships/image" Target="../media/image942.png"/><Relationship Id="rId10" Type="http://schemas.openxmlformats.org/officeDocument/2006/relationships/image" Target="../media/image947.png"/><Relationship Id="rId4" Type="http://schemas.openxmlformats.org/officeDocument/2006/relationships/image" Target="../media/image941.png"/><Relationship Id="rId9" Type="http://schemas.openxmlformats.org/officeDocument/2006/relationships/image" Target="../media/image946.png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4.png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6.png"/><Relationship Id="rId13" Type="http://schemas.openxmlformats.org/officeDocument/2006/relationships/image" Target="../media/image1082.png"/><Relationship Id="rId3" Type="http://schemas.openxmlformats.org/officeDocument/2006/relationships/image" Target="../media/image8711.png"/><Relationship Id="rId7" Type="http://schemas.openxmlformats.org/officeDocument/2006/relationships/image" Target="../media/image1075.png"/><Relationship Id="rId12" Type="http://schemas.openxmlformats.org/officeDocument/2006/relationships/image" Target="../media/image1081.png"/><Relationship Id="rId2" Type="http://schemas.openxmlformats.org/officeDocument/2006/relationships/image" Target="../media/image107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4.png"/><Relationship Id="rId11" Type="http://schemas.openxmlformats.org/officeDocument/2006/relationships/image" Target="../media/image1079.png"/><Relationship Id="rId5" Type="http://schemas.openxmlformats.org/officeDocument/2006/relationships/image" Target="../media/image2952.png"/><Relationship Id="rId10" Type="http://schemas.openxmlformats.org/officeDocument/2006/relationships/image" Target="../media/image1078.png"/><Relationship Id="rId4" Type="http://schemas.openxmlformats.org/officeDocument/2006/relationships/image" Target="../media/image2917.png"/><Relationship Id="rId9" Type="http://schemas.openxmlformats.org/officeDocument/2006/relationships/image" Target="../media/image1077.pn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7.png"/><Relationship Id="rId13" Type="http://schemas.openxmlformats.org/officeDocument/2006/relationships/image" Target="../media/image1093.png"/><Relationship Id="rId3" Type="http://schemas.openxmlformats.org/officeDocument/2006/relationships/image" Target="../media/image1073.png"/><Relationship Id="rId7" Type="http://schemas.openxmlformats.org/officeDocument/2006/relationships/image" Target="../media/image1086.png"/><Relationship Id="rId12" Type="http://schemas.openxmlformats.org/officeDocument/2006/relationships/image" Target="../media/image1092.png"/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85.png"/><Relationship Id="rId11" Type="http://schemas.openxmlformats.org/officeDocument/2006/relationships/image" Target="../media/image1091.png"/><Relationship Id="rId5" Type="http://schemas.openxmlformats.org/officeDocument/2006/relationships/image" Target="../media/image1084.png"/><Relationship Id="rId10" Type="http://schemas.openxmlformats.org/officeDocument/2006/relationships/image" Target="../media/image1089.png"/><Relationship Id="rId4" Type="http://schemas.openxmlformats.org/officeDocument/2006/relationships/image" Target="../media/image1083.png"/><Relationship Id="rId9" Type="http://schemas.openxmlformats.org/officeDocument/2006/relationships/image" Target="../media/image1088.pn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6.png"/><Relationship Id="rId13" Type="http://schemas.openxmlformats.org/officeDocument/2006/relationships/image" Target="../media/image23110.png"/><Relationship Id="rId18" Type="http://schemas.openxmlformats.org/officeDocument/2006/relationships/image" Target="../media/image2810.png"/><Relationship Id="rId3" Type="http://schemas.openxmlformats.org/officeDocument/2006/relationships/image" Target="../media/image1711.png"/><Relationship Id="rId7" Type="http://schemas.openxmlformats.org/officeDocument/2006/relationships/image" Target="../media/image1101.png"/><Relationship Id="rId12" Type="http://schemas.openxmlformats.org/officeDocument/2006/relationships/image" Target="../media/image22110.png"/><Relationship Id="rId17" Type="http://schemas.openxmlformats.org/officeDocument/2006/relationships/image" Target="../media/image2710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6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4.png"/><Relationship Id="rId11" Type="http://schemas.openxmlformats.org/officeDocument/2006/relationships/image" Target="../media/image2112.png"/><Relationship Id="rId5" Type="http://schemas.openxmlformats.org/officeDocument/2006/relationships/image" Target="../media/image763.png"/><Relationship Id="rId15" Type="http://schemas.openxmlformats.org/officeDocument/2006/relationships/image" Target="../media/image2510.png"/><Relationship Id="rId10" Type="http://schemas.openxmlformats.org/officeDocument/2006/relationships/image" Target="../media/image2010.png"/><Relationship Id="rId4" Type="http://schemas.openxmlformats.org/officeDocument/2006/relationships/image" Target="../media/image1097.png"/><Relationship Id="rId9" Type="http://schemas.openxmlformats.org/officeDocument/2006/relationships/image" Target="../media/image1911.png"/><Relationship Id="rId14" Type="http://schemas.openxmlformats.org/officeDocument/2006/relationships/image" Target="../media/image2410.pn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8.png"/><Relationship Id="rId13" Type="http://schemas.openxmlformats.org/officeDocument/2006/relationships/image" Target="../media/image3911.png"/><Relationship Id="rId18" Type="http://schemas.openxmlformats.org/officeDocument/2006/relationships/image" Target="../media/image9370.png"/><Relationship Id="rId3" Type="http://schemas.openxmlformats.org/officeDocument/2006/relationships/image" Target="../media/image2910.png"/><Relationship Id="rId21" Type="http://schemas.openxmlformats.org/officeDocument/2006/relationships/image" Target="../media/image967.png"/><Relationship Id="rId7" Type="http://schemas.openxmlformats.org/officeDocument/2006/relationships/image" Target="../media/image3311.png"/><Relationship Id="rId12" Type="http://schemas.openxmlformats.org/officeDocument/2006/relationships/image" Target="../media/image3810.png"/><Relationship Id="rId17" Type="http://schemas.openxmlformats.org/officeDocument/2006/relationships/image" Target="../media/image9210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4210.png"/><Relationship Id="rId20" Type="http://schemas.openxmlformats.org/officeDocument/2006/relationships/image" Target="../media/image966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712.png"/><Relationship Id="rId15" Type="http://schemas.openxmlformats.org/officeDocument/2006/relationships/image" Target="../media/image4111.png"/><Relationship Id="rId10" Type="http://schemas.openxmlformats.org/officeDocument/2006/relationships/image" Target="../media/image3610.png"/><Relationship Id="rId19" Type="http://schemas.openxmlformats.org/officeDocument/2006/relationships/image" Target="../media/image965.png"/><Relationship Id="rId9" Type="http://schemas.openxmlformats.org/officeDocument/2006/relationships/image" Target="../media/image1103.png"/><Relationship Id="rId14" Type="http://schemas.openxmlformats.org/officeDocument/2006/relationships/image" Target="../media/image4011.png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6.png"/><Relationship Id="rId13" Type="http://schemas.openxmlformats.org/officeDocument/2006/relationships/image" Target="../media/image1090.png"/><Relationship Id="rId18" Type="http://schemas.openxmlformats.org/officeDocument/2006/relationships/image" Target="../media/image3930.png"/><Relationship Id="rId3" Type="http://schemas.openxmlformats.org/officeDocument/2006/relationships/image" Target="../media/image2910.png"/><Relationship Id="rId7" Type="http://schemas.openxmlformats.org/officeDocument/2006/relationships/image" Target="../media/image1105.png"/><Relationship Id="rId12" Type="http://schemas.openxmlformats.org/officeDocument/2006/relationships/image" Target="../media/image1080.png"/><Relationship Id="rId17" Type="http://schemas.openxmlformats.org/officeDocument/2006/relationships/image" Target="../media/image3920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39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1.png"/><Relationship Id="rId11" Type="http://schemas.openxmlformats.org/officeDocument/2006/relationships/image" Target="../media/image1109.png"/><Relationship Id="rId5" Type="http://schemas.openxmlformats.org/officeDocument/2006/relationships/image" Target="../media/image810.png"/><Relationship Id="rId15" Type="http://schemas.openxmlformats.org/officeDocument/2006/relationships/image" Target="../media/image3900.png"/><Relationship Id="rId10" Type="http://schemas.openxmlformats.org/officeDocument/2006/relationships/image" Target="../media/image1108.png"/><Relationship Id="rId4" Type="http://schemas.openxmlformats.org/officeDocument/2006/relationships/image" Target="../media/image809.png"/><Relationship Id="rId9" Type="http://schemas.openxmlformats.org/officeDocument/2006/relationships/image" Target="../media/image1107.png"/><Relationship Id="rId14" Type="http://schemas.openxmlformats.org/officeDocument/2006/relationships/image" Target="../media/image1111.png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01.png"/><Relationship Id="rId2" Type="http://schemas.openxmlformats.org/officeDocument/2006/relationships/image" Target="../media/image8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111.png"/><Relationship Id="rId4" Type="http://schemas.openxmlformats.org/officeDocument/2006/relationships/image" Target="../media/image1061.png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3.png"/><Relationship Id="rId3" Type="http://schemas.openxmlformats.org/officeDocument/2006/relationships/image" Target="../media/image9670.png"/><Relationship Id="rId7" Type="http://schemas.openxmlformats.org/officeDocument/2006/relationships/image" Target="../media/image972.png"/><Relationship Id="rId2" Type="http://schemas.openxmlformats.org/officeDocument/2006/relationships/image" Target="../media/image96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1.png"/><Relationship Id="rId5" Type="http://schemas.openxmlformats.org/officeDocument/2006/relationships/image" Target="../media/image969.png"/><Relationship Id="rId4" Type="http://schemas.openxmlformats.org/officeDocument/2006/relationships/image" Target="../media/image968.png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1.png"/><Relationship Id="rId13" Type="http://schemas.openxmlformats.org/officeDocument/2006/relationships/image" Target="../media/image986.png"/><Relationship Id="rId18" Type="http://schemas.openxmlformats.org/officeDocument/2006/relationships/image" Target="../media/image991.png"/><Relationship Id="rId3" Type="http://schemas.openxmlformats.org/officeDocument/2006/relationships/image" Target="../media/image975.png"/><Relationship Id="rId7" Type="http://schemas.openxmlformats.org/officeDocument/2006/relationships/image" Target="../media/image979.png"/><Relationship Id="rId12" Type="http://schemas.openxmlformats.org/officeDocument/2006/relationships/image" Target="../media/image985.png"/><Relationship Id="rId17" Type="http://schemas.openxmlformats.org/officeDocument/2006/relationships/image" Target="../media/image990.png"/><Relationship Id="rId2" Type="http://schemas.openxmlformats.org/officeDocument/2006/relationships/image" Target="../media/image974.png"/><Relationship Id="rId16" Type="http://schemas.openxmlformats.org/officeDocument/2006/relationships/image" Target="../media/image9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8.png"/><Relationship Id="rId11" Type="http://schemas.openxmlformats.org/officeDocument/2006/relationships/image" Target="../media/image984.png"/><Relationship Id="rId5" Type="http://schemas.openxmlformats.org/officeDocument/2006/relationships/image" Target="../media/image977.png"/><Relationship Id="rId15" Type="http://schemas.openxmlformats.org/officeDocument/2006/relationships/image" Target="../media/image988.png"/><Relationship Id="rId10" Type="http://schemas.openxmlformats.org/officeDocument/2006/relationships/image" Target="../media/image983.png"/><Relationship Id="rId4" Type="http://schemas.openxmlformats.org/officeDocument/2006/relationships/image" Target="../media/image976.png"/><Relationship Id="rId9" Type="http://schemas.openxmlformats.org/officeDocument/2006/relationships/image" Target="../media/image982.png"/><Relationship Id="rId14" Type="http://schemas.openxmlformats.org/officeDocument/2006/relationships/image" Target="../media/image987.png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8.png"/><Relationship Id="rId13" Type="http://schemas.openxmlformats.org/officeDocument/2006/relationships/image" Target="../media/image1004.png"/><Relationship Id="rId3" Type="http://schemas.openxmlformats.org/officeDocument/2006/relationships/image" Target="../media/image992.png"/><Relationship Id="rId7" Type="http://schemas.openxmlformats.org/officeDocument/2006/relationships/image" Target="../media/image997.png"/><Relationship Id="rId12" Type="http://schemas.openxmlformats.org/officeDocument/2006/relationships/image" Target="../media/image1003.png"/><Relationship Id="rId2" Type="http://schemas.openxmlformats.org/officeDocument/2006/relationships/image" Target="../media/image97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96.png"/><Relationship Id="rId11" Type="http://schemas.openxmlformats.org/officeDocument/2006/relationships/image" Target="../media/image1002.png"/><Relationship Id="rId5" Type="http://schemas.openxmlformats.org/officeDocument/2006/relationships/image" Target="../media/image994.png"/><Relationship Id="rId15" Type="http://schemas.openxmlformats.org/officeDocument/2006/relationships/image" Target="../media/image1057.png"/><Relationship Id="rId10" Type="http://schemas.openxmlformats.org/officeDocument/2006/relationships/image" Target="../media/image1001.png"/><Relationship Id="rId4" Type="http://schemas.openxmlformats.org/officeDocument/2006/relationships/image" Target="../media/image993.png"/><Relationship Id="rId9" Type="http://schemas.openxmlformats.org/officeDocument/2006/relationships/image" Target="../media/image999.png"/><Relationship Id="rId14" Type="http://schemas.openxmlformats.org/officeDocument/2006/relationships/image" Target="../media/image1006.png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7.png"/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40.png"/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8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60.png"/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7" Type="http://schemas.openxmlformats.org/officeDocument/2006/relationships/image" Target="../media/image1069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8.png"/><Relationship Id="rId5" Type="http://schemas.openxmlformats.org/officeDocument/2006/relationships/image" Target="../media/image1067.png"/><Relationship Id="rId4" Type="http://schemas.openxmlformats.org/officeDocument/2006/relationships/image" Target="../media/image1066.png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31.png"/><Relationship Id="rId3" Type="http://schemas.openxmlformats.org/officeDocument/2006/relationships/image" Target="../media/image2903.png"/><Relationship Id="rId7" Type="http://schemas.openxmlformats.org/officeDocument/2006/relationships/image" Target="../media/image2982.png"/><Relationship Id="rId2" Type="http://schemas.openxmlformats.org/officeDocument/2006/relationships/image" Target="../media/image296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64.png"/><Relationship Id="rId11" Type="http://schemas.openxmlformats.org/officeDocument/2006/relationships/image" Target="../media/image3061.png"/><Relationship Id="rId5" Type="http://schemas.openxmlformats.org/officeDocument/2006/relationships/image" Target="../media/image2953.png"/><Relationship Id="rId10" Type="http://schemas.openxmlformats.org/officeDocument/2006/relationships/image" Target="../media/image3051.png"/><Relationship Id="rId4" Type="http://schemas.openxmlformats.org/officeDocument/2006/relationships/image" Target="../media/image2914.png"/><Relationship Id="rId9" Type="http://schemas.openxmlformats.org/officeDocument/2006/relationships/image" Target="../media/image3041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71.png"/><Relationship Id="rId7" Type="http://schemas.openxmlformats.org/officeDocument/2006/relationships/image" Target="../media/image10110.png"/><Relationship Id="rId2" Type="http://schemas.openxmlformats.org/officeDocument/2006/relationships/image" Target="../media/image816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18.pn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5.png"/><Relationship Id="rId3" Type="http://schemas.openxmlformats.org/officeDocument/2006/relationships/image" Target="../media/image821.png"/><Relationship Id="rId7" Type="http://schemas.openxmlformats.org/officeDocument/2006/relationships/image" Target="../media/image824.png"/><Relationship Id="rId2" Type="http://schemas.openxmlformats.org/officeDocument/2006/relationships/image" Target="../media/image8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3.png"/><Relationship Id="rId5" Type="http://schemas.openxmlformats.org/officeDocument/2006/relationships/image" Target="../media/image822.png"/><Relationship Id="rId4" Type="http://schemas.openxmlformats.org/officeDocument/2006/relationships/image" Target="../media/image10610.pn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3.png"/><Relationship Id="rId3" Type="http://schemas.openxmlformats.org/officeDocument/2006/relationships/image" Target="../media/image827.png"/><Relationship Id="rId7" Type="http://schemas.openxmlformats.org/officeDocument/2006/relationships/image" Target="../media/image832.png"/><Relationship Id="rId2" Type="http://schemas.openxmlformats.org/officeDocument/2006/relationships/image" Target="../media/image8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1.png"/><Relationship Id="rId5" Type="http://schemas.openxmlformats.org/officeDocument/2006/relationships/image" Target="../media/image829.png"/><Relationship Id="rId10" Type="http://schemas.openxmlformats.org/officeDocument/2006/relationships/image" Target="../media/image835.png"/><Relationship Id="rId4" Type="http://schemas.openxmlformats.org/officeDocument/2006/relationships/image" Target="../media/image828.png"/><Relationship Id="rId9" Type="http://schemas.openxmlformats.org/officeDocument/2006/relationships/image" Target="../media/image834.png"/></Relationships>
</file>

<file path=ppt/slides/_rels/slide2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5.png"/><Relationship Id="rId3" Type="http://schemas.openxmlformats.org/officeDocument/2006/relationships/image" Target="../media/image836.png"/><Relationship Id="rId7" Type="http://schemas.openxmlformats.org/officeDocument/2006/relationships/image" Target="../media/image841.png"/><Relationship Id="rId2" Type="http://schemas.openxmlformats.org/officeDocument/2006/relationships/image" Target="../media/image8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9.png"/><Relationship Id="rId5" Type="http://schemas.openxmlformats.org/officeDocument/2006/relationships/image" Target="../media/image838.png"/><Relationship Id="rId4" Type="http://schemas.openxmlformats.org/officeDocument/2006/relationships/image" Target="../media/image837.png"/></Relationships>
</file>

<file path=ppt/slides/_rels/slide2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10.png"/><Relationship Id="rId3" Type="http://schemas.openxmlformats.org/officeDocument/2006/relationships/image" Target="../media/image11410.png"/><Relationship Id="rId7" Type="http://schemas.openxmlformats.org/officeDocument/2006/relationships/image" Target="../media/image11810.png"/><Relationship Id="rId2" Type="http://schemas.openxmlformats.org/officeDocument/2006/relationships/image" Target="../media/image106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10.png"/><Relationship Id="rId11" Type="http://schemas.openxmlformats.org/officeDocument/2006/relationships/image" Target="../media/image12210.png"/><Relationship Id="rId5" Type="http://schemas.openxmlformats.org/officeDocument/2006/relationships/image" Target="../media/image11610.png"/><Relationship Id="rId10" Type="http://schemas.openxmlformats.org/officeDocument/2006/relationships/image" Target="../media/image12110.png"/><Relationship Id="rId4" Type="http://schemas.openxmlformats.org/officeDocument/2006/relationships/image" Target="../media/image11510.png"/><Relationship Id="rId9" Type="http://schemas.openxmlformats.org/officeDocument/2006/relationships/image" Target="../media/image12010.png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3.png"/><Relationship Id="rId7" Type="http://schemas.openxmlformats.org/officeDocument/2006/relationships/image" Target="../media/image1132.png"/><Relationship Id="rId12" Type="http://schemas.openxmlformats.org/officeDocument/2006/relationships/image" Target="../media/image1321.png"/><Relationship Id="rId2" Type="http://schemas.openxmlformats.org/officeDocument/2006/relationships/image" Target="../media/image11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png"/><Relationship Id="rId11" Type="http://schemas.openxmlformats.org/officeDocument/2006/relationships/image" Target="../media/image1136.png"/><Relationship Id="rId5" Type="http://schemas.openxmlformats.org/officeDocument/2006/relationships/image" Target="../media/image1129.png"/><Relationship Id="rId10" Type="http://schemas.openxmlformats.org/officeDocument/2006/relationships/image" Target="../media/image1135.png"/><Relationship Id="rId4" Type="http://schemas.openxmlformats.org/officeDocument/2006/relationships/image" Target="../media/image1245.png"/><Relationship Id="rId9" Type="http://schemas.openxmlformats.org/officeDocument/2006/relationships/image" Target="../media/image1134.pn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1.png"/><Relationship Id="rId3" Type="http://schemas.openxmlformats.org/officeDocument/2006/relationships/image" Target="../media/image11280.png"/><Relationship Id="rId7" Type="http://schemas.openxmlformats.org/officeDocument/2006/relationships/image" Target="../media/image11311.png"/><Relationship Id="rId2" Type="http://schemas.openxmlformats.org/officeDocument/2006/relationships/image" Target="../media/image13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90.png"/><Relationship Id="rId11" Type="http://schemas.openxmlformats.org/officeDocument/2006/relationships/image" Target="../media/image1421.png"/><Relationship Id="rId5" Type="http://schemas.openxmlformats.org/officeDocument/2006/relationships/image" Target="../media/image1361.png"/><Relationship Id="rId10" Type="http://schemas.openxmlformats.org/officeDocument/2006/relationships/image" Target="../media/image1411.png"/><Relationship Id="rId4" Type="http://schemas.openxmlformats.org/officeDocument/2006/relationships/image" Target="../media/image1351.png"/><Relationship Id="rId9" Type="http://schemas.openxmlformats.org/officeDocument/2006/relationships/image" Target="../media/image1401.pn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1.png"/><Relationship Id="rId13" Type="http://schemas.openxmlformats.org/officeDocument/2006/relationships/image" Target="../media/image1512.png"/><Relationship Id="rId18" Type="http://schemas.openxmlformats.org/officeDocument/2006/relationships/image" Target="../media/image1561.png"/><Relationship Id="rId3" Type="http://schemas.openxmlformats.org/officeDocument/2006/relationships/image" Target="../media/image11510.png"/><Relationship Id="rId7" Type="http://schemas.openxmlformats.org/officeDocument/2006/relationships/image" Target="../media/image1451.png"/><Relationship Id="rId12" Type="http://schemas.openxmlformats.org/officeDocument/2006/relationships/image" Target="../media/image1501.png"/><Relationship Id="rId17" Type="http://schemas.openxmlformats.org/officeDocument/2006/relationships/image" Target="../media/image1550.png"/><Relationship Id="rId2" Type="http://schemas.openxmlformats.org/officeDocument/2006/relationships/image" Target="../media/image11410.png"/><Relationship Id="rId16" Type="http://schemas.openxmlformats.org/officeDocument/2006/relationships/image" Target="../media/image15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41.png"/><Relationship Id="rId11" Type="http://schemas.openxmlformats.org/officeDocument/2006/relationships/image" Target="../media/image1491.png"/><Relationship Id="rId5" Type="http://schemas.openxmlformats.org/officeDocument/2006/relationships/image" Target="../media/image11810.png"/><Relationship Id="rId15" Type="http://schemas.openxmlformats.org/officeDocument/2006/relationships/image" Target="../media/image1531.png"/><Relationship Id="rId10" Type="http://schemas.openxmlformats.org/officeDocument/2006/relationships/image" Target="../media/image1481.png"/><Relationship Id="rId4" Type="http://schemas.openxmlformats.org/officeDocument/2006/relationships/image" Target="../media/image1431.png"/><Relationship Id="rId9" Type="http://schemas.openxmlformats.org/officeDocument/2006/relationships/image" Target="../media/image1471.png"/><Relationship Id="rId14" Type="http://schemas.openxmlformats.org/officeDocument/2006/relationships/image" Target="../media/image1521.pn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2.png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1.png"/><Relationship Id="rId7" Type="http://schemas.openxmlformats.org/officeDocument/2006/relationships/image" Target="../media/image875.png"/><Relationship Id="rId2" Type="http://schemas.openxmlformats.org/officeDocument/2006/relationships/image" Target="../media/image8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4.png"/><Relationship Id="rId5" Type="http://schemas.openxmlformats.org/officeDocument/2006/relationships/image" Target="../media/image873.png"/><Relationship Id="rId4" Type="http://schemas.openxmlformats.org/officeDocument/2006/relationships/image" Target="../media/image872.png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11.png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7.png"/><Relationship Id="rId2" Type="http://schemas.openxmlformats.org/officeDocument/2006/relationships/image" Target="../media/image87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78.png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9.png"/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4.png"/><Relationship Id="rId2" Type="http://schemas.openxmlformats.org/officeDocument/2006/relationships/image" Target="../media/image26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12.pn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hyperlink" Target="https://blog.betmaster.ie/casino/european-roulette-wheel/" TargetMode="External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3.png"/><Relationship Id="rId2" Type="http://schemas.openxmlformats.org/officeDocument/2006/relationships/image" Target="../media/image882.png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blog.betmaster.ie/casino/european-roulette-wheel/" TargetMode="Externa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6.png"/><Relationship Id="rId2" Type="http://schemas.openxmlformats.org/officeDocument/2006/relationships/image" Target="../media/image884.png"/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8.png"/><Relationship Id="rId2" Type="http://schemas.openxmlformats.org/officeDocument/2006/relationships/image" Target="../media/image88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91.png"/><Relationship Id="rId4" Type="http://schemas.openxmlformats.org/officeDocument/2006/relationships/image" Target="../media/image889.png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60.png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80.png"/><Relationship Id="rId2" Type="http://schemas.openxmlformats.org/officeDocument/2006/relationships/image" Target="../media/image87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20.png"/><Relationship Id="rId5" Type="http://schemas.openxmlformats.org/officeDocument/2006/relationships/image" Target="../media/image8812.png"/><Relationship Id="rId4" Type="http://schemas.openxmlformats.org/officeDocument/2006/relationships/image" Target="../media/image8790.png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30.png"/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40.png"/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0.png"/><Relationship Id="rId2" Type="http://schemas.openxmlformats.org/officeDocument/2006/relationships/image" Target="../media/image88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13.png"/><Relationship Id="rId5" Type="http://schemas.openxmlformats.org/officeDocument/2006/relationships/image" Target="../media/image8890.png"/><Relationship Id="rId4" Type="http://schemas.openxmlformats.org/officeDocument/2006/relationships/image" Target="../media/image8880.png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3.png"/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6.png"/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4.png"/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8.png"/><Relationship Id="rId13" Type="http://schemas.openxmlformats.org/officeDocument/2006/relationships/image" Target="../media/image1141.png"/><Relationship Id="rId3" Type="http://schemas.openxmlformats.org/officeDocument/2006/relationships/image" Target="../media/image1113.png"/><Relationship Id="rId7" Type="http://schemas.openxmlformats.org/officeDocument/2006/relationships/image" Target="../media/image1117.png"/><Relationship Id="rId12" Type="http://schemas.openxmlformats.org/officeDocument/2006/relationships/image" Target="../media/image112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6.png"/><Relationship Id="rId11" Type="http://schemas.openxmlformats.org/officeDocument/2006/relationships/image" Target="../media/image1122.png"/><Relationship Id="rId5" Type="http://schemas.openxmlformats.org/officeDocument/2006/relationships/image" Target="../media/image1115.png"/><Relationship Id="rId10" Type="http://schemas.openxmlformats.org/officeDocument/2006/relationships/image" Target="../media/image1121.png"/><Relationship Id="rId4" Type="http://schemas.openxmlformats.org/officeDocument/2006/relationships/image" Target="../media/image1114.png"/><Relationship Id="rId9" Type="http://schemas.openxmlformats.org/officeDocument/2006/relationships/image" Target="../media/image1119.png"/><Relationship Id="rId14" Type="http://schemas.openxmlformats.org/officeDocument/2006/relationships/image" Target="../media/image1124.png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3.png"/><Relationship Id="rId13" Type="http://schemas.openxmlformats.org/officeDocument/2006/relationships/image" Target="../media/image1148.png"/><Relationship Id="rId18" Type="http://schemas.openxmlformats.org/officeDocument/2006/relationships/image" Target="../media/image2900.png"/><Relationship Id="rId3" Type="http://schemas.openxmlformats.org/officeDocument/2006/relationships/image" Target="../media/image1125.png"/><Relationship Id="rId21" Type="http://schemas.openxmlformats.org/officeDocument/2006/relationships/image" Target="../media/image1156.png"/><Relationship Id="rId7" Type="http://schemas.openxmlformats.org/officeDocument/2006/relationships/image" Target="../media/image1142.png"/><Relationship Id="rId12" Type="http://schemas.openxmlformats.org/officeDocument/2006/relationships/image" Target="../media/image1147.png"/><Relationship Id="rId17" Type="http://schemas.openxmlformats.org/officeDocument/2006/relationships/image" Target="../media/image1152.png"/><Relationship Id="rId2" Type="http://schemas.openxmlformats.org/officeDocument/2006/relationships/notesSlide" Target="../notesSlides/notesSlide14.xml"/><Relationship Id="rId16" Type="http://schemas.openxmlformats.org/officeDocument/2006/relationships/image" Target="../media/image898.png"/><Relationship Id="rId20" Type="http://schemas.openxmlformats.org/officeDocument/2006/relationships/image" Target="../media/image11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9.png"/><Relationship Id="rId11" Type="http://schemas.openxmlformats.org/officeDocument/2006/relationships/image" Target="../media/image1146.png"/><Relationship Id="rId5" Type="http://schemas.openxmlformats.org/officeDocument/2006/relationships/image" Target="../media/image1138.png"/><Relationship Id="rId15" Type="http://schemas.openxmlformats.org/officeDocument/2006/relationships/image" Target="../media/image1150.png"/><Relationship Id="rId10" Type="http://schemas.openxmlformats.org/officeDocument/2006/relationships/image" Target="../media/image1145.png"/><Relationship Id="rId19" Type="http://schemas.openxmlformats.org/officeDocument/2006/relationships/image" Target="../media/image1154.png"/><Relationship Id="rId4" Type="http://schemas.openxmlformats.org/officeDocument/2006/relationships/image" Target="../media/image1137.png"/><Relationship Id="rId9" Type="http://schemas.openxmlformats.org/officeDocument/2006/relationships/image" Target="../media/image1144.png"/><Relationship Id="rId14" Type="http://schemas.openxmlformats.org/officeDocument/2006/relationships/image" Target="../media/image1149.png"/><Relationship Id="rId22" Type="http://schemas.openxmlformats.org/officeDocument/2006/relationships/image" Target="../media/image395.png"/></Relationships>
</file>

<file path=ppt/slides/_rels/slide2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0.png"/><Relationship Id="rId18" Type="http://schemas.openxmlformats.org/officeDocument/2006/relationships/image" Target="../media/image2113.png"/><Relationship Id="rId3" Type="http://schemas.openxmlformats.org/officeDocument/2006/relationships/image" Target="../media/image1158.png"/><Relationship Id="rId21" Type="http://schemas.openxmlformats.org/officeDocument/2006/relationships/image" Target="../media/image2142.png"/><Relationship Id="rId7" Type="http://schemas.openxmlformats.org/officeDocument/2006/relationships/image" Target="../media/image2011.png"/><Relationship Id="rId12" Type="http://schemas.openxmlformats.org/officeDocument/2006/relationships/image" Target="../media/image1163.png"/><Relationship Id="rId17" Type="http://schemas.openxmlformats.org/officeDocument/2006/relationships/image" Target="../media/image2102.png"/><Relationship Id="rId2" Type="http://schemas.openxmlformats.org/officeDocument/2006/relationships/notesSlide" Target="../notesSlides/notesSlide15.xml"/><Relationship Id="rId20" Type="http://schemas.openxmlformats.org/officeDocument/2006/relationships/image" Target="../media/image21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00.png"/><Relationship Id="rId11" Type="http://schemas.openxmlformats.org/officeDocument/2006/relationships/image" Target="../media/image1162.png"/><Relationship Id="rId5" Type="http://schemas.openxmlformats.org/officeDocument/2006/relationships/image" Target="../media/image1990.png"/><Relationship Id="rId10" Type="http://schemas.openxmlformats.org/officeDocument/2006/relationships/image" Target="../media/image1161.png"/><Relationship Id="rId19" Type="http://schemas.openxmlformats.org/officeDocument/2006/relationships/image" Target="../media/image2122.png"/><Relationship Id="rId4" Type="http://schemas.openxmlformats.org/officeDocument/2006/relationships/image" Target="../media/image19800.png"/><Relationship Id="rId9" Type="http://schemas.openxmlformats.org/officeDocument/2006/relationships/image" Target="../media/image1159.png"/></Relationships>
</file>

<file path=ppt/slides/_rels/slide271.xml.rels><?xml version="1.0" encoding="UTF-8" standalone="yes"?>
<Relationships xmlns="http://schemas.openxmlformats.org/package/2006/relationships"><Relationship Id="rId18" Type="http://schemas.openxmlformats.org/officeDocument/2006/relationships/image" Target="../media/image2301.png"/><Relationship Id="rId21" Type="http://schemas.openxmlformats.org/officeDocument/2006/relationships/image" Target="../media/image23300.png"/><Relationship Id="rId17" Type="http://schemas.openxmlformats.org/officeDocument/2006/relationships/image" Target="../media/image2291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281.png"/><Relationship Id="rId20" Type="http://schemas.openxmlformats.org/officeDocument/2006/relationships/image" Target="../media/image23200.png"/><Relationship Id="rId1" Type="http://schemas.openxmlformats.org/officeDocument/2006/relationships/slideLayout" Target="../slideLayouts/slideLayout3.xml"/><Relationship Id="rId19" Type="http://schemas.openxmlformats.org/officeDocument/2006/relationships/image" Target="../media/image1164.png"/><Relationship Id="rId22" Type="http://schemas.openxmlformats.org/officeDocument/2006/relationships/image" Target="../media/image1165.png"/></Relationships>
</file>

<file path=ppt/slides/_rels/slide2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2.png"/><Relationship Id="rId3" Type="http://schemas.openxmlformats.org/officeDocument/2006/relationships/image" Target="../media/image1166.png"/><Relationship Id="rId7" Type="http://schemas.openxmlformats.org/officeDocument/2006/relationships/image" Target="../media/image1171.png"/><Relationship Id="rId12" Type="http://schemas.openxmlformats.org/officeDocument/2006/relationships/image" Target="../media/image117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9.png"/><Relationship Id="rId11" Type="http://schemas.openxmlformats.org/officeDocument/2006/relationships/image" Target="../media/image1175.png"/><Relationship Id="rId5" Type="http://schemas.openxmlformats.org/officeDocument/2006/relationships/image" Target="../media/image1168.png"/><Relationship Id="rId10" Type="http://schemas.openxmlformats.org/officeDocument/2006/relationships/image" Target="../media/image1174.png"/><Relationship Id="rId4" Type="http://schemas.openxmlformats.org/officeDocument/2006/relationships/image" Target="../media/image1167.png"/><Relationship Id="rId9" Type="http://schemas.openxmlformats.org/officeDocument/2006/relationships/image" Target="../media/image1173.png"/></Relationships>
</file>

<file path=ppt/slides/_rels/slide2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0.png"/><Relationship Id="rId3" Type="http://schemas.openxmlformats.org/officeDocument/2006/relationships/image" Target="../media/image3250.png"/><Relationship Id="rId7" Type="http://schemas.openxmlformats.org/officeDocument/2006/relationships/image" Target="../media/image3291.png"/><Relationship Id="rId2" Type="http://schemas.openxmlformats.org/officeDocument/2006/relationships/image" Target="../media/image32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80.png"/><Relationship Id="rId11" Type="http://schemas.openxmlformats.org/officeDocument/2006/relationships/image" Target="../media/image3050.png"/><Relationship Id="rId5" Type="http://schemas.openxmlformats.org/officeDocument/2006/relationships/image" Target="../media/image3270.png"/><Relationship Id="rId10" Type="http://schemas.openxmlformats.org/officeDocument/2006/relationships/image" Target="../media/image3040.png"/><Relationship Id="rId4" Type="http://schemas.openxmlformats.org/officeDocument/2006/relationships/image" Target="../media/image3260.png"/><Relationship Id="rId9" Type="http://schemas.openxmlformats.org/officeDocument/2006/relationships/image" Target="../media/image3030.png"/></Relationships>
</file>

<file path=ppt/slides/_rels/slide2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21.png"/><Relationship Id="rId13" Type="http://schemas.openxmlformats.org/officeDocument/2006/relationships/image" Target="../media/image3170.png"/><Relationship Id="rId3" Type="http://schemas.openxmlformats.org/officeDocument/2006/relationships/image" Target="../media/image3070.png"/><Relationship Id="rId7" Type="http://schemas.openxmlformats.org/officeDocument/2006/relationships/image" Target="../media/image3111.png"/><Relationship Id="rId12" Type="http://schemas.openxmlformats.org/officeDocument/2006/relationships/image" Target="../media/image3160.png"/><Relationship Id="rId17" Type="http://schemas.openxmlformats.org/officeDocument/2006/relationships/image" Target="../media/image396.png"/><Relationship Id="rId2" Type="http://schemas.openxmlformats.org/officeDocument/2006/relationships/image" Target="../media/image3060.png"/><Relationship Id="rId16" Type="http://schemas.openxmlformats.org/officeDocument/2006/relationships/image" Target="../media/image32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00.png"/><Relationship Id="rId11" Type="http://schemas.openxmlformats.org/officeDocument/2006/relationships/image" Target="../media/image3150.png"/><Relationship Id="rId5" Type="http://schemas.openxmlformats.org/officeDocument/2006/relationships/image" Target="../media/image3091.png"/><Relationship Id="rId15" Type="http://schemas.openxmlformats.org/officeDocument/2006/relationships/image" Target="../media/image3190.png"/><Relationship Id="rId10" Type="http://schemas.openxmlformats.org/officeDocument/2006/relationships/image" Target="../media/image3141.png"/><Relationship Id="rId4" Type="http://schemas.openxmlformats.org/officeDocument/2006/relationships/image" Target="../media/image3080.png"/><Relationship Id="rId9" Type="http://schemas.openxmlformats.org/officeDocument/2006/relationships/image" Target="../media/image3131.png"/><Relationship Id="rId14" Type="http://schemas.openxmlformats.org/officeDocument/2006/relationships/image" Target="../media/image3180.png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91.png"/><Relationship Id="rId13" Type="http://schemas.openxmlformats.org/officeDocument/2006/relationships/image" Target="../media/image4141.png"/><Relationship Id="rId3" Type="http://schemas.openxmlformats.org/officeDocument/2006/relationships/image" Target="../media/image3470.png"/><Relationship Id="rId7" Type="http://schemas.openxmlformats.org/officeDocument/2006/relationships/image" Target="../media/image4081.png"/><Relationship Id="rId12" Type="http://schemas.openxmlformats.org/officeDocument/2006/relationships/image" Target="../media/image4131.png"/><Relationship Id="rId2" Type="http://schemas.openxmlformats.org/officeDocument/2006/relationships/image" Target="../media/image32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71.png"/><Relationship Id="rId11" Type="http://schemas.openxmlformats.org/officeDocument/2006/relationships/image" Target="../media/image4121.png"/><Relationship Id="rId5" Type="http://schemas.openxmlformats.org/officeDocument/2006/relationships/image" Target="../media/image4061.png"/><Relationship Id="rId10" Type="http://schemas.openxmlformats.org/officeDocument/2006/relationships/image" Target="../media/image4110.png"/><Relationship Id="rId4" Type="http://schemas.openxmlformats.org/officeDocument/2006/relationships/image" Target="../media/image4041.png"/><Relationship Id="rId9" Type="http://schemas.openxmlformats.org/officeDocument/2006/relationships/image" Target="../media/image4101.png"/></Relationships>
</file>

<file path=ppt/slides/_rels/slide27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62.png"/><Relationship Id="rId3" Type="http://schemas.openxmlformats.org/officeDocument/2006/relationships/image" Target="../media/image2152.png"/><Relationship Id="rId12" Type="http://schemas.openxmlformats.org/officeDocument/2006/relationships/image" Target="../media/image2172.png"/><Relationship Id="rId2" Type="http://schemas.openxmlformats.org/officeDocument/2006/relationships/image" Target="../media/image11790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9300.png"/><Relationship Id="rId15" Type="http://schemas.openxmlformats.org/officeDocument/2006/relationships/image" Target="../media/image9020.png"/><Relationship Id="rId4" Type="http://schemas.openxmlformats.org/officeDocument/2006/relationships/image" Target="../media/image4151.png"/><Relationship Id="rId14" Type="http://schemas.openxmlformats.org/officeDocument/2006/relationships/image" Target="../media/image4172.png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0.png"/><Relationship Id="rId13" Type="http://schemas.openxmlformats.org/officeDocument/2006/relationships/image" Target="../media/image1183.png"/><Relationship Id="rId3" Type="http://schemas.openxmlformats.org/officeDocument/2006/relationships/image" Target="../media/image2221.png"/><Relationship Id="rId7" Type="http://schemas.openxmlformats.org/officeDocument/2006/relationships/image" Target="../media/image2260.png"/><Relationship Id="rId12" Type="http://schemas.openxmlformats.org/officeDocument/2006/relationships/image" Target="../media/image11820.png"/><Relationship Id="rId2" Type="http://schemas.openxmlformats.org/officeDocument/2006/relationships/image" Target="../media/image2212.png"/><Relationship Id="rId1" Type="http://schemas.openxmlformats.org/officeDocument/2006/relationships/slideLayout" Target="../slideLayouts/slideLayout3.xml"/><Relationship Id="rId11" Type="http://schemas.openxmlformats.org/officeDocument/2006/relationships/image" Target="../media/image2370.png"/><Relationship Id="rId5" Type="http://schemas.openxmlformats.org/officeDocument/2006/relationships/image" Target="../media/image11811.png"/><Relationship Id="rId10" Type="http://schemas.openxmlformats.org/officeDocument/2006/relationships/image" Target="../media/image2361.png"/><Relationship Id="rId4" Type="http://schemas.openxmlformats.org/officeDocument/2006/relationships/image" Target="../media/image2231.png"/><Relationship Id="rId9" Type="http://schemas.openxmlformats.org/officeDocument/2006/relationships/image" Target="../media/image2352.pn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0.png"/><Relationship Id="rId3" Type="http://schemas.openxmlformats.org/officeDocument/2006/relationships/image" Target="../media/image2381.png"/><Relationship Id="rId7" Type="http://schemas.openxmlformats.org/officeDocument/2006/relationships/image" Target="../media/image2550.png"/><Relationship Id="rId2" Type="http://schemas.openxmlformats.org/officeDocument/2006/relationships/image" Target="../media/image23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40.png"/><Relationship Id="rId5" Type="http://schemas.openxmlformats.org/officeDocument/2006/relationships/image" Target="../media/image2530.png"/><Relationship Id="rId10" Type="http://schemas.openxmlformats.org/officeDocument/2006/relationships/image" Target="../media/image2370.png"/><Relationship Id="rId4" Type="http://schemas.openxmlformats.org/officeDocument/2006/relationships/image" Target="../media/image2380.png"/><Relationship Id="rId9" Type="http://schemas.openxmlformats.org/officeDocument/2006/relationships/image" Target="../media/image2570.png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png"/><Relationship Id="rId3" Type="http://schemas.openxmlformats.org/officeDocument/2006/relationships/image" Target="../media/image2380.png"/><Relationship Id="rId7" Type="http://schemas.openxmlformats.org/officeDocument/2006/relationships/image" Target="../media/image1187.png"/><Relationship Id="rId2" Type="http://schemas.openxmlformats.org/officeDocument/2006/relationships/image" Target="../media/image23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86.png"/><Relationship Id="rId11" Type="http://schemas.openxmlformats.org/officeDocument/2006/relationships/image" Target="../media/image1191.png"/><Relationship Id="rId5" Type="http://schemas.openxmlformats.org/officeDocument/2006/relationships/image" Target="../media/image1185.png"/><Relationship Id="rId10" Type="http://schemas.openxmlformats.org/officeDocument/2006/relationships/image" Target="../media/image2370.png"/><Relationship Id="rId4" Type="http://schemas.openxmlformats.org/officeDocument/2006/relationships/image" Target="../media/image1184.png"/><Relationship Id="rId9" Type="http://schemas.openxmlformats.org/officeDocument/2006/relationships/image" Target="../media/image1189.pn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92.png"/><Relationship Id="rId3" Type="http://schemas.openxmlformats.org/officeDocument/2006/relationships/image" Target="../media/image2640.png"/><Relationship Id="rId7" Type="http://schemas.openxmlformats.org/officeDocument/2006/relationships/image" Target="../media/image2680.png"/><Relationship Id="rId12" Type="http://schemas.openxmlformats.org/officeDocument/2006/relationships/image" Target="../media/image903.png"/><Relationship Id="rId2" Type="http://schemas.openxmlformats.org/officeDocument/2006/relationships/image" Target="../media/image263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0.png"/><Relationship Id="rId11" Type="http://schemas.openxmlformats.org/officeDocument/2006/relationships/image" Target="../media/image4221.png"/><Relationship Id="rId5" Type="http://schemas.openxmlformats.org/officeDocument/2006/relationships/image" Target="../media/image2660.png"/><Relationship Id="rId10" Type="http://schemas.openxmlformats.org/officeDocument/2006/relationships/image" Target="../media/image4211.png"/><Relationship Id="rId4" Type="http://schemas.openxmlformats.org/officeDocument/2006/relationships/image" Target="../media/image2650.png"/><Relationship Id="rId9" Type="http://schemas.openxmlformats.org/officeDocument/2006/relationships/image" Target="../media/image4201.png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2.png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40.png"/><Relationship Id="rId2" Type="http://schemas.openxmlformats.org/officeDocument/2006/relationships/image" Target="../media/image903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05.png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7.png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30.png"/><Relationship Id="rId13" Type="http://schemas.openxmlformats.org/officeDocument/2006/relationships/image" Target="../media/image3330.png"/><Relationship Id="rId3" Type="http://schemas.openxmlformats.org/officeDocument/2006/relationships/image" Target="../media/image3081.png"/><Relationship Id="rId7" Type="http://schemas.openxmlformats.org/officeDocument/2006/relationships/image" Target="../media/image3120.png"/><Relationship Id="rId12" Type="http://schemas.openxmlformats.org/officeDocument/2006/relationships/image" Target="../media/image3320.png"/><Relationship Id="rId2" Type="http://schemas.openxmlformats.org/officeDocument/2006/relationships/image" Target="../media/image9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10.png"/><Relationship Id="rId11" Type="http://schemas.openxmlformats.org/officeDocument/2006/relationships/image" Target="../media/image3312.png"/><Relationship Id="rId5" Type="http://schemas.openxmlformats.org/officeDocument/2006/relationships/image" Target="../media/image3101.png"/><Relationship Id="rId15" Type="http://schemas.openxmlformats.org/officeDocument/2006/relationships/image" Target="../media/image3351.png"/><Relationship Id="rId10" Type="http://schemas.openxmlformats.org/officeDocument/2006/relationships/image" Target="../media/image3301.png"/><Relationship Id="rId4" Type="http://schemas.openxmlformats.org/officeDocument/2006/relationships/image" Target="../media/image3090.png"/><Relationship Id="rId9" Type="http://schemas.openxmlformats.org/officeDocument/2006/relationships/image" Target="../media/image3140.png"/><Relationship Id="rId14" Type="http://schemas.openxmlformats.org/officeDocument/2006/relationships/image" Target="../media/image3340.png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9.png"/><Relationship Id="rId13" Type="http://schemas.openxmlformats.org/officeDocument/2006/relationships/image" Target="../media/image1036.png"/><Relationship Id="rId3" Type="http://schemas.openxmlformats.org/officeDocument/2006/relationships/image" Target="../media/image4362.png"/><Relationship Id="rId7" Type="http://schemas.openxmlformats.org/officeDocument/2006/relationships/image" Target="../media/image1028.png"/><Relationship Id="rId12" Type="http://schemas.openxmlformats.org/officeDocument/2006/relationships/image" Target="../media/image1035.png"/><Relationship Id="rId2" Type="http://schemas.openxmlformats.org/officeDocument/2006/relationships/image" Target="../media/image43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1.png"/><Relationship Id="rId11" Type="http://schemas.openxmlformats.org/officeDocument/2006/relationships/image" Target="../media/image1034.png"/><Relationship Id="rId5" Type="http://schemas.openxmlformats.org/officeDocument/2006/relationships/image" Target="../media/image4411.png"/><Relationship Id="rId15" Type="http://schemas.openxmlformats.org/officeDocument/2006/relationships/image" Target="../media/image1038.png"/><Relationship Id="rId10" Type="http://schemas.openxmlformats.org/officeDocument/2006/relationships/image" Target="../media/image1033.png"/><Relationship Id="rId4" Type="http://schemas.openxmlformats.org/officeDocument/2006/relationships/image" Target="../media/image4382.png"/><Relationship Id="rId9" Type="http://schemas.openxmlformats.org/officeDocument/2006/relationships/image" Target="../media/image1032.png"/><Relationship Id="rId14" Type="http://schemas.openxmlformats.org/officeDocument/2006/relationships/image" Target="../media/image4430.png"/></Relationships>
</file>

<file path=ppt/slides/_rels/slide28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25.png"/><Relationship Id="rId18" Type="http://schemas.openxmlformats.org/officeDocument/2006/relationships/image" Target="../media/image954.png"/><Relationship Id="rId26" Type="http://schemas.openxmlformats.org/officeDocument/2006/relationships/image" Target="../media/image963.png"/><Relationship Id="rId3" Type="http://schemas.openxmlformats.org/officeDocument/2006/relationships/image" Target="../media/image4341.png"/><Relationship Id="rId21" Type="http://schemas.openxmlformats.org/officeDocument/2006/relationships/image" Target="../media/image957.png"/><Relationship Id="rId34" Type="http://schemas.openxmlformats.org/officeDocument/2006/relationships/image" Target="../media/image1014.png"/><Relationship Id="rId7" Type="http://schemas.openxmlformats.org/officeDocument/2006/relationships/image" Target="../media/image4471.png"/><Relationship Id="rId12" Type="http://schemas.openxmlformats.org/officeDocument/2006/relationships/image" Target="../media/image924.png"/><Relationship Id="rId17" Type="http://schemas.openxmlformats.org/officeDocument/2006/relationships/image" Target="../media/image953.png"/><Relationship Id="rId25" Type="http://schemas.openxmlformats.org/officeDocument/2006/relationships/image" Target="../media/image962.png"/><Relationship Id="rId33" Type="http://schemas.openxmlformats.org/officeDocument/2006/relationships/image" Target="../media/image1013.png"/><Relationship Id="rId2" Type="http://schemas.openxmlformats.org/officeDocument/2006/relationships/image" Target="../media/image4331.png"/><Relationship Id="rId16" Type="http://schemas.openxmlformats.org/officeDocument/2006/relationships/image" Target="../media/image928.png"/><Relationship Id="rId20" Type="http://schemas.openxmlformats.org/officeDocument/2006/relationships/image" Target="../media/image956.png"/><Relationship Id="rId29" Type="http://schemas.openxmlformats.org/officeDocument/2006/relationships/image" Target="../media/image100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60.png"/><Relationship Id="rId11" Type="http://schemas.openxmlformats.org/officeDocument/2006/relationships/image" Target="../media/image921.png"/><Relationship Id="rId24" Type="http://schemas.openxmlformats.org/officeDocument/2006/relationships/image" Target="../media/image961.png"/><Relationship Id="rId32" Type="http://schemas.openxmlformats.org/officeDocument/2006/relationships/image" Target="../media/image1012.png"/><Relationship Id="rId5" Type="http://schemas.openxmlformats.org/officeDocument/2006/relationships/image" Target="../media/image4450.png"/><Relationship Id="rId15" Type="http://schemas.openxmlformats.org/officeDocument/2006/relationships/image" Target="../media/image927.png"/><Relationship Id="rId23" Type="http://schemas.openxmlformats.org/officeDocument/2006/relationships/image" Target="../media/image959.png"/><Relationship Id="rId28" Type="http://schemas.openxmlformats.org/officeDocument/2006/relationships/image" Target="../media/image1008.png"/><Relationship Id="rId10" Type="http://schemas.openxmlformats.org/officeDocument/2006/relationships/image" Target="../media/image4500.png"/><Relationship Id="rId19" Type="http://schemas.openxmlformats.org/officeDocument/2006/relationships/image" Target="../media/image955.png"/><Relationship Id="rId31" Type="http://schemas.openxmlformats.org/officeDocument/2006/relationships/image" Target="../media/image1011.png"/><Relationship Id="rId4" Type="http://schemas.openxmlformats.org/officeDocument/2006/relationships/image" Target="../media/image4440.png"/><Relationship Id="rId9" Type="http://schemas.openxmlformats.org/officeDocument/2006/relationships/image" Target="../media/image4490.png"/><Relationship Id="rId14" Type="http://schemas.openxmlformats.org/officeDocument/2006/relationships/image" Target="../media/image926.png"/><Relationship Id="rId22" Type="http://schemas.openxmlformats.org/officeDocument/2006/relationships/image" Target="../media/image958.png"/><Relationship Id="rId27" Type="http://schemas.openxmlformats.org/officeDocument/2006/relationships/image" Target="../media/image1007.png"/><Relationship Id="rId30" Type="http://schemas.openxmlformats.org/officeDocument/2006/relationships/image" Target="../media/image1010.png"/><Relationship Id="rId35" Type="http://schemas.openxmlformats.org/officeDocument/2006/relationships/image" Target="../media/image1015.png"/><Relationship Id="rId8" Type="http://schemas.openxmlformats.org/officeDocument/2006/relationships/image" Target="../media/image4480.pn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0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3" Type="http://schemas.openxmlformats.org/officeDocument/2006/relationships/image" Target="../media/image7170.png"/><Relationship Id="rId21" Type="http://schemas.openxmlformats.org/officeDocument/2006/relationships/image" Target="../media/image1204.png"/><Relationship Id="rId7" Type="http://schemas.openxmlformats.org/officeDocument/2006/relationships/image" Target="../media/image8110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" Type="http://schemas.openxmlformats.org/officeDocument/2006/relationships/image" Target="../media/image4660.png"/><Relationship Id="rId16" Type="http://schemas.openxmlformats.org/officeDocument/2006/relationships/image" Target="../media/image1197.png"/><Relationship Id="rId20" Type="http://schemas.openxmlformats.org/officeDocument/2006/relationships/image" Target="../media/image12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0.png"/><Relationship Id="rId11" Type="http://schemas.openxmlformats.org/officeDocument/2006/relationships/image" Target="../media/image1182.png"/><Relationship Id="rId5" Type="http://schemas.openxmlformats.org/officeDocument/2006/relationships/image" Target="../media/image8090.png"/><Relationship Id="rId15" Type="http://schemas.openxmlformats.org/officeDocument/2006/relationships/image" Target="../media/image1196.png"/><Relationship Id="rId23" Type="http://schemas.openxmlformats.org/officeDocument/2006/relationships/image" Target="../media/image1016.png"/><Relationship Id="rId10" Type="http://schemas.openxmlformats.org/officeDocument/2006/relationships/image" Target="../media/image963.png"/><Relationship Id="rId19" Type="http://schemas.openxmlformats.org/officeDocument/2006/relationships/image" Target="../media/image1202.png"/><Relationship Id="rId4" Type="http://schemas.openxmlformats.org/officeDocument/2006/relationships/image" Target="../media/image8060.png"/><Relationship Id="rId9" Type="http://schemas.openxmlformats.org/officeDocument/2006/relationships/image" Target="../media/image8960.png"/><Relationship Id="rId14" Type="http://schemas.openxmlformats.org/officeDocument/2006/relationships/image" Target="../media/image1195.png"/><Relationship Id="rId22" Type="http://schemas.openxmlformats.org/officeDocument/2006/relationships/image" Target="../media/image1205.pn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0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3" Type="http://schemas.openxmlformats.org/officeDocument/2006/relationships/image" Target="../media/image7170.png"/><Relationship Id="rId21" Type="http://schemas.openxmlformats.org/officeDocument/2006/relationships/image" Target="../media/image1204.png"/><Relationship Id="rId7" Type="http://schemas.openxmlformats.org/officeDocument/2006/relationships/image" Target="../media/image8110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" Type="http://schemas.openxmlformats.org/officeDocument/2006/relationships/image" Target="../media/image4660.png"/><Relationship Id="rId16" Type="http://schemas.openxmlformats.org/officeDocument/2006/relationships/image" Target="../media/image1197.png"/><Relationship Id="rId20" Type="http://schemas.openxmlformats.org/officeDocument/2006/relationships/image" Target="../media/image12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0.png"/><Relationship Id="rId11" Type="http://schemas.openxmlformats.org/officeDocument/2006/relationships/image" Target="../media/image1182.png"/><Relationship Id="rId5" Type="http://schemas.openxmlformats.org/officeDocument/2006/relationships/image" Target="../media/image8090.png"/><Relationship Id="rId15" Type="http://schemas.openxmlformats.org/officeDocument/2006/relationships/image" Target="../media/image1196.png"/><Relationship Id="rId23" Type="http://schemas.openxmlformats.org/officeDocument/2006/relationships/image" Target="../media/image1017.png"/><Relationship Id="rId10" Type="http://schemas.openxmlformats.org/officeDocument/2006/relationships/image" Target="../media/image963.png"/><Relationship Id="rId19" Type="http://schemas.openxmlformats.org/officeDocument/2006/relationships/image" Target="../media/image1202.png"/><Relationship Id="rId4" Type="http://schemas.openxmlformats.org/officeDocument/2006/relationships/image" Target="../media/image8060.png"/><Relationship Id="rId9" Type="http://schemas.openxmlformats.org/officeDocument/2006/relationships/image" Target="../media/image8960.png"/><Relationship Id="rId14" Type="http://schemas.openxmlformats.org/officeDocument/2006/relationships/image" Target="../media/image1195.png"/><Relationship Id="rId22" Type="http://schemas.openxmlformats.org/officeDocument/2006/relationships/image" Target="../media/image1205.pn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7.png"/><Relationship Id="rId3" Type="http://schemas.openxmlformats.org/officeDocument/2006/relationships/image" Target="../media/image1209.png"/><Relationship Id="rId7" Type="http://schemas.openxmlformats.org/officeDocument/2006/relationships/image" Target="../media/image1215.png"/><Relationship Id="rId2" Type="http://schemas.openxmlformats.org/officeDocument/2006/relationships/image" Target="../media/image12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4.png"/><Relationship Id="rId5" Type="http://schemas.openxmlformats.org/officeDocument/2006/relationships/image" Target="../media/image1213.png"/><Relationship Id="rId4" Type="http://schemas.openxmlformats.org/officeDocument/2006/relationships/image" Target="../media/image1212.png"/><Relationship Id="rId9" Type="http://schemas.openxmlformats.org/officeDocument/2006/relationships/image" Target="../media/image414.png"/></Relationships>
</file>

<file path=ppt/slides/_rels/slide2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1.png"/><Relationship Id="rId3" Type="http://schemas.openxmlformats.org/officeDocument/2006/relationships/image" Target="../media/image3391.png"/><Relationship Id="rId7" Type="http://schemas.openxmlformats.org/officeDocument/2006/relationships/image" Target="../media/image11940.png"/><Relationship Id="rId2" Type="http://schemas.openxmlformats.org/officeDocument/2006/relationships/image" Target="../media/image1193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11.png"/><Relationship Id="rId11" Type="http://schemas.openxmlformats.org/officeDocument/2006/relationships/image" Target="../media/image11950.png"/><Relationship Id="rId5" Type="http://schemas.openxmlformats.org/officeDocument/2006/relationships/image" Target="../media/image34100.png"/><Relationship Id="rId10" Type="http://schemas.openxmlformats.org/officeDocument/2006/relationships/image" Target="../media/image3551.png"/><Relationship Id="rId4" Type="http://schemas.openxmlformats.org/officeDocument/2006/relationships/image" Target="../media/image3401.png"/><Relationship Id="rId9" Type="http://schemas.openxmlformats.org/officeDocument/2006/relationships/image" Target="../media/image3541.png"/></Relationships>
</file>

<file path=ppt/slides/_rels/slide2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120.png"/><Relationship Id="rId13" Type="http://schemas.openxmlformats.org/officeDocument/2006/relationships/image" Target="../media/image3970.png"/><Relationship Id="rId18" Type="http://schemas.openxmlformats.org/officeDocument/2006/relationships/image" Target="../media/image4020.png"/><Relationship Id="rId26" Type="http://schemas.openxmlformats.org/officeDocument/2006/relationships/image" Target="../media/image4100.png"/><Relationship Id="rId3" Type="http://schemas.openxmlformats.org/officeDocument/2006/relationships/image" Target="../media/image3571.png"/><Relationship Id="rId21" Type="http://schemas.openxmlformats.org/officeDocument/2006/relationships/image" Target="../media/image4050.png"/><Relationship Id="rId12" Type="http://schemas.openxmlformats.org/officeDocument/2006/relationships/image" Target="../media/image3960.png"/><Relationship Id="rId17" Type="http://schemas.openxmlformats.org/officeDocument/2006/relationships/image" Target="../media/image4012.png"/><Relationship Id="rId25" Type="http://schemas.openxmlformats.org/officeDocument/2006/relationships/image" Target="../media/image4090.png"/><Relationship Id="rId16" Type="http://schemas.openxmlformats.org/officeDocument/2006/relationships/image" Target="../media/image4000.png"/><Relationship Id="rId20" Type="http://schemas.openxmlformats.org/officeDocument/2006/relationships/image" Target="../media/image4040.png"/><Relationship Id="rId29" Type="http://schemas.openxmlformats.org/officeDocument/2006/relationships/image" Target="../media/image4130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950.png"/><Relationship Id="rId24" Type="http://schemas.openxmlformats.org/officeDocument/2006/relationships/image" Target="../media/image4080.png"/><Relationship Id="rId15" Type="http://schemas.openxmlformats.org/officeDocument/2006/relationships/image" Target="../media/image3990.png"/><Relationship Id="rId23" Type="http://schemas.openxmlformats.org/officeDocument/2006/relationships/image" Target="../media/image4070.png"/><Relationship Id="rId28" Type="http://schemas.openxmlformats.org/officeDocument/2006/relationships/image" Target="../media/image4120.png"/><Relationship Id="rId10" Type="http://schemas.openxmlformats.org/officeDocument/2006/relationships/image" Target="../media/image3940.png"/><Relationship Id="rId19" Type="http://schemas.openxmlformats.org/officeDocument/2006/relationships/image" Target="../media/image4030.png"/><Relationship Id="rId4" Type="http://schemas.openxmlformats.org/officeDocument/2006/relationships/image" Target="../media/image3581.png"/><Relationship Id="rId9" Type="http://schemas.openxmlformats.org/officeDocument/2006/relationships/image" Target="../media/image39200.png"/><Relationship Id="rId14" Type="http://schemas.openxmlformats.org/officeDocument/2006/relationships/image" Target="../media/image3980.png"/><Relationship Id="rId22" Type="http://schemas.openxmlformats.org/officeDocument/2006/relationships/image" Target="../media/image4060.png"/><Relationship Id="rId27" Type="http://schemas.openxmlformats.org/officeDocument/2006/relationships/image" Target="../media/image4112.png"/><Relationship Id="rId30" Type="http://schemas.openxmlformats.org/officeDocument/2006/relationships/image" Target="../media/image11960.png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30.png"/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21.png"/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1.png"/><Relationship Id="rId2" Type="http://schemas.openxmlformats.org/officeDocument/2006/relationships/image" Target="../media/image12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13.png"/><Relationship Id="rId5" Type="http://schemas.openxmlformats.org/officeDocument/2006/relationships/image" Target="../media/image4381.png"/><Relationship Id="rId4" Type="http://schemas.openxmlformats.org/officeDocument/2006/relationships/image" Target="../media/image4361.png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12.png"/><Relationship Id="rId7" Type="http://schemas.openxmlformats.org/officeDocument/2006/relationships/image" Target="../media/image4550.png"/><Relationship Id="rId2" Type="http://schemas.openxmlformats.org/officeDocument/2006/relationships/image" Target="../media/image12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40.png"/><Relationship Id="rId5" Type="http://schemas.openxmlformats.org/officeDocument/2006/relationships/image" Target="../media/image4530.png"/><Relationship Id="rId4" Type="http://schemas.openxmlformats.org/officeDocument/2006/relationships/image" Target="../media/image4520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0.png"/><Relationship Id="rId7" Type="http://schemas.openxmlformats.org/officeDocument/2006/relationships/image" Target="../media/image4191.png"/><Relationship Id="rId2" Type="http://schemas.openxmlformats.org/officeDocument/2006/relationships/image" Target="../media/image41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81.png"/><Relationship Id="rId5" Type="http://schemas.openxmlformats.org/officeDocument/2006/relationships/image" Target="../media/image4171.png"/><Relationship Id="rId4" Type="http://schemas.openxmlformats.org/officeDocument/2006/relationships/image" Target="../media/image4161.png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20.png"/><Relationship Id="rId13" Type="http://schemas.openxmlformats.org/officeDocument/2006/relationships/image" Target="../media/image4271.png"/><Relationship Id="rId3" Type="http://schemas.openxmlformats.org/officeDocument/2006/relationships/image" Target="../media/image4170.png"/><Relationship Id="rId7" Type="http://schemas.openxmlformats.org/officeDocument/2006/relationships/image" Target="../media/image4212.png"/><Relationship Id="rId12" Type="http://schemas.openxmlformats.org/officeDocument/2006/relationships/image" Target="../media/image4260.png"/><Relationship Id="rId2" Type="http://schemas.openxmlformats.org/officeDocument/2006/relationships/image" Target="../media/image4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00.png"/><Relationship Id="rId11" Type="http://schemas.openxmlformats.org/officeDocument/2006/relationships/image" Target="../media/image4250.png"/><Relationship Id="rId5" Type="http://schemas.openxmlformats.org/officeDocument/2006/relationships/image" Target="../media/image4190.png"/><Relationship Id="rId15" Type="http://schemas.openxmlformats.org/officeDocument/2006/relationships/image" Target="../media/image4291.png"/><Relationship Id="rId10" Type="http://schemas.openxmlformats.org/officeDocument/2006/relationships/image" Target="../media/image4240.png"/><Relationship Id="rId4" Type="http://schemas.openxmlformats.org/officeDocument/2006/relationships/image" Target="../media/image4180.png"/><Relationship Id="rId9" Type="http://schemas.openxmlformats.org/officeDocument/2006/relationships/image" Target="../media/image4230.png"/><Relationship Id="rId14" Type="http://schemas.openxmlformats.org/officeDocument/2006/relationships/image" Target="../media/image4281.png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0.png"/><Relationship Id="rId13" Type="http://schemas.openxmlformats.org/officeDocument/2006/relationships/image" Target="../media/image4370.png"/><Relationship Id="rId3" Type="http://schemas.openxmlformats.org/officeDocument/2006/relationships/image" Target="../media/image4270.png"/><Relationship Id="rId7" Type="http://schemas.openxmlformats.org/officeDocument/2006/relationships/image" Target="../media/image12132.png"/><Relationship Id="rId12" Type="http://schemas.openxmlformats.org/officeDocument/2006/relationships/image" Target="../media/image4360.png"/><Relationship Id="rId2" Type="http://schemas.openxmlformats.org/officeDocument/2006/relationships/image" Target="../media/image4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00.png"/><Relationship Id="rId11" Type="http://schemas.openxmlformats.org/officeDocument/2006/relationships/image" Target="../media/image4350.png"/><Relationship Id="rId5" Type="http://schemas.openxmlformats.org/officeDocument/2006/relationships/image" Target="../media/image4290.png"/><Relationship Id="rId15" Type="http://schemas.openxmlformats.org/officeDocument/2006/relationships/image" Target="../media/image4390.png"/><Relationship Id="rId10" Type="http://schemas.openxmlformats.org/officeDocument/2006/relationships/image" Target="../media/image4340.png"/><Relationship Id="rId4" Type="http://schemas.openxmlformats.org/officeDocument/2006/relationships/image" Target="../media/image4280.png"/><Relationship Id="rId9" Type="http://schemas.openxmlformats.org/officeDocument/2006/relationships/image" Target="../media/image4330.png"/><Relationship Id="rId14" Type="http://schemas.openxmlformats.org/officeDocument/2006/relationships/image" Target="../media/image4380.png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9.png"/><Relationship Id="rId2" Type="http://schemas.openxmlformats.org/officeDocument/2006/relationships/image" Target="../media/image29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12.png"/><Relationship Id="rId5" Type="http://schemas.openxmlformats.org/officeDocument/2006/relationships/image" Target="../media/image12152.png"/><Relationship Id="rId4" Type="http://schemas.openxmlformats.org/officeDocument/2006/relationships/image" Target="../media/image4560.png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41.png"/><Relationship Id="rId2" Type="http://schemas.openxmlformats.org/officeDocument/2006/relationships/image" Target="../media/image1213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161.png"/><Relationship Id="rId4" Type="http://schemas.openxmlformats.org/officeDocument/2006/relationships/image" Target="../media/image12151.pn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11.png"/><Relationship Id="rId3" Type="http://schemas.openxmlformats.org/officeDocument/2006/relationships/image" Target="../media/image415.png"/><Relationship Id="rId7" Type="http://schemas.openxmlformats.org/officeDocument/2006/relationships/image" Target="../media/image11990.png"/><Relationship Id="rId2" Type="http://schemas.openxmlformats.org/officeDocument/2006/relationships/image" Target="../media/image4400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1980.png"/><Relationship Id="rId5" Type="http://schemas.openxmlformats.org/officeDocument/2006/relationships/image" Target="../media/image11970.png"/><Relationship Id="rId4" Type="http://schemas.openxmlformats.org/officeDocument/2006/relationships/image" Target="../media/image436.pn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70.png"/><Relationship Id="rId13" Type="http://schemas.openxmlformats.org/officeDocument/2006/relationships/image" Target="../media/image12130.png"/><Relationship Id="rId18" Type="http://schemas.openxmlformats.org/officeDocument/2006/relationships/image" Target="../media/image4630.png"/><Relationship Id="rId3" Type="http://schemas.openxmlformats.org/officeDocument/2006/relationships/image" Target="../media/image12020.png"/><Relationship Id="rId7" Type="http://schemas.openxmlformats.org/officeDocument/2006/relationships/image" Target="../media/image12060.png"/><Relationship Id="rId12" Type="http://schemas.openxmlformats.org/officeDocument/2006/relationships/image" Target="../media/image12120.png"/><Relationship Id="rId17" Type="http://schemas.openxmlformats.org/officeDocument/2006/relationships/image" Target="../media/image4620.png"/><Relationship Id="rId2" Type="http://schemas.openxmlformats.org/officeDocument/2006/relationships/image" Target="../media/image4470.png"/><Relationship Id="rId16" Type="http://schemas.openxmlformats.org/officeDocument/2006/relationships/image" Target="../media/image4611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050.png"/><Relationship Id="rId11" Type="http://schemas.openxmlformats.org/officeDocument/2006/relationships/image" Target="../media/image12111.png"/><Relationship Id="rId5" Type="http://schemas.openxmlformats.org/officeDocument/2006/relationships/image" Target="../media/image12040.png"/><Relationship Id="rId15" Type="http://schemas.openxmlformats.org/officeDocument/2006/relationships/image" Target="../media/image12150.png"/><Relationship Id="rId10" Type="http://schemas.openxmlformats.org/officeDocument/2006/relationships/image" Target="../media/image12090.png"/><Relationship Id="rId19" Type="http://schemas.openxmlformats.org/officeDocument/2006/relationships/image" Target="../media/image4640.png"/><Relationship Id="rId4" Type="http://schemas.openxmlformats.org/officeDocument/2006/relationships/image" Target="../media/image12030.png"/><Relationship Id="rId9" Type="http://schemas.openxmlformats.org/officeDocument/2006/relationships/image" Target="../media/image12080.png"/><Relationship Id="rId14" Type="http://schemas.openxmlformats.org/officeDocument/2006/relationships/image" Target="../media/image12140.png"/></Relationships>
</file>

<file path=ppt/slides/_rels/slide3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3.png"/><Relationship Id="rId18" Type="http://schemas.openxmlformats.org/officeDocument/2006/relationships/image" Target="../media/image4801.png"/><Relationship Id="rId3" Type="http://schemas.openxmlformats.org/officeDocument/2006/relationships/image" Target="../media/image12170.png"/><Relationship Id="rId21" Type="http://schemas.openxmlformats.org/officeDocument/2006/relationships/image" Target="../media/image1226.png"/><Relationship Id="rId7" Type="http://schemas.openxmlformats.org/officeDocument/2006/relationships/image" Target="../media/image1222.png"/><Relationship Id="rId17" Type="http://schemas.openxmlformats.org/officeDocument/2006/relationships/image" Target="../media/image4791.png"/><Relationship Id="rId2" Type="http://schemas.openxmlformats.org/officeDocument/2006/relationships/image" Target="../media/image12160.png"/><Relationship Id="rId20" Type="http://schemas.openxmlformats.org/officeDocument/2006/relationships/image" Target="../media/image1225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211.png"/><Relationship Id="rId5" Type="http://schemas.openxmlformats.org/officeDocument/2006/relationships/image" Target="../media/image12190.png"/><Relationship Id="rId10" Type="http://schemas.openxmlformats.org/officeDocument/2006/relationships/image" Target="../media/image4470.png"/><Relationship Id="rId19" Type="http://schemas.openxmlformats.org/officeDocument/2006/relationships/image" Target="../media/image46110.png"/><Relationship Id="rId9" Type="http://schemas.openxmlformats.org/officeDocument/2006/relationships/image" Target="../media/image1224.png"/><Relationship Id="rId22" Type="http://schemas.openxmlformats.org/officeDocument/2006/relationships/image" Target="../media/image1227.png"/></Relationships>
</file>

<file path=ppt/slides/_rels/slide3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5.png"/><Relationship Id="rId13" Type="http://schemas.openxmlformats.org/officeDocument/2006/relationships/image" Target="../media/image1241.png"/><Relationship Id="rId3" Type="http://schemas.openxmlformats.org/officeDocument/2006/relationships/image" Target="../media/image1229.png"/><Relationship Id="rId7" Type="http://schemas.openxmlformats.org/officeDocument/2006/relationships/image" Target="../media/image1234.png"/><Relationship Id="rId12" Type="http://schemas.openxmlformats.org/officeDocument/2006/relationships/image" Target="../media/image1239.png"/><Relationship Id="rId2" Type="http://schemas.openxmlformats.org/officeDocument/2006/relationships/image" Target="../media/image1228.png"/><Relationship Id="rId16" Type="http://schemas.openxmlformats.org/officeDocument/2006/relationships/image" Target="../media/image1217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33.png"/><Relationship Id="rId11" Type="http://schemas.openxmlformats.org/officeDocument/2006/relationships/image" Target="../media/image1238.png"/><Relationship Id="rId5" Type="http://schemas.openxmlformats.org/officeDocument/2006/relationships/image" Target="../media/image1232.png"/><Relationship Id="rId15" Type="http://schemas.openxmlformats.org/officeDocument/2006/relationships/image" Target="../media/image12160.png"/><Relationship Id="rId10" Type="http://schemas.openxmlformats.org/officeDocument/2006/relationships/image" Target="../media/image1237.png"/><Relationship Id="rId4" Type="http://schemas.openxmlformats.org/officeDocument/2006/relationships/image" Target="../media/image1231.png"/><Relationship Id="rId9" Type="http://schemas.openxmlformats.org/officeDocument/2006/relationships/image" Target="../media/image1236.png"/><Relationship Id="rId14" Type="http://schemas.openxmlformats.org/officeDocument/2006/relationships/image" Target="../media/image1242.png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70.png"/><Relationship Id="rId13" Type="http://schemas.openxmlformats.org/officeDocument/2006/relationships/image" Target="../media/image4920.png"/><Relationship Id="rId3" Type="http://schemas.openxmlformats.org/officeDocument/2006/relationships/image" Target="../media/image4821.png"/><Relationship Id="rId7" Type="http://schemas.openxmlformats.org/officeDocument/2006/relationships/image" Target="../media/image4860.png"/><Relationship Id="rId12" Type="http://schemas.openxmlformats.org/officeDocument/2006/relationships/image" Target="../media/image49100.png"/><Relationship Id="rId2" Type="http://schemas.openxmlformats.org/officeDocument/2006/relationships/image" Target="../media/image4812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4850.png"/><Relationship Id="rId11" Type="http://schemas.openxmlformats.org/officeDocument/2006/relationships/image" Target="../media/image4900.png"/><Relationship Id="rId5" Type="http://schemas.openxmlformats.org/officeDocument/2006/relationships/image" Target="../media/image4841.png"/><Relationship Id="rId15" Type="http://schemas.openxmlformats.org/officeDocument/2006/relationships/image" Target="../media/image4940.png"/><Relationship Id="rId10" Type="http://schemas.openxmlformats.org/officeDocument/2006/relationships/image" Target="../media/image4890.png"/><Relationship Id="rId4" Type="http://schemas.openxmlformats.org/officeDocument/2006/relationships/image" Target="../media/image4831.png"/><Relationship Id="rId9" Type="http://schemas.openxmlformats.org/officeDocument/2006/relationships/image" Target="../media/image4880.png"/><Relationship Id="rId14" Type="http://schemas.openxmlformats.org/officeDocument/2006/relationships/image" Target="../media/image4930.png"/></Relationships>
</file>

<file path=ppt/slides/_rels/slide3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11.png"/><Relationship Id="rId13" Type="http://schemas.openxmlformats.org/officeDocument/2006/relationships/image" Target="../media/image5061.png"/><Relationship Id="rId3" Type="http://schemas.openxmlformats.org/officeDocument/2006/relationships/image" Target="../media/image4960.png"/><Relationship Id="rId7" Type="http://schemas.openxmlformats.org/officeDocument/2006/relationships/image" Target="../media/image5001.png"/><Relationship Id="rId12" Type="http://schemas.openxmlformats.org/officeDocument/2006/relationships/image" Target="../media/image5051.png"/><Relationship Id="rId17" Type="http://schemas.openxmlformats.org/officeDocument/2006/relationships/image" Target="../media/image5101.png"/><Relationship Id="rId2" Type="http://schemas.openxmlformats.org/officeDocument/2006/relationships/image" Target="../media/image4950.png"/><Relationship Id="rId16" Type="http://schemas.openxmlformats.org/officeDocument/2006/relationships/image" Target="../media/image5091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4991.png"/><Relationship Id="rId11" Type="http://schemas.openxmlformats.org/officeDocument/2006/relationships/image" Target="../media/image12180.png"/><Relationship Id="rId5" Type="http://schemas.openxmlformats.org/officeDocument/2006/relationships/image" Target="../media/image4981.png"/><Relationship Id="rId15" Type="http://schemas.openxmlformats.org/officeDocument/2006/relationships/image" Target="../media/image5081.png"/><Relationship Id="rId10" Type="http://schemas.openxmlformats.org/officeDocument/2006/relationships/image" Target="../media/image5031.png"/><Relationship Id="rId4" Type="http://schemas.openxmlformats.org/officeDocument/2006/relationships/image" Target="../media/image1243.png"/><Relationship Id="rId9" Type="http://schemas.openxmlformats.org/officeDocument/2006/relationships/image" Target="../media/image5021.png"/><Relationship Id="rId14" Type="http://schemas.openxmlformats.org/officeDocument/2006/relationships/image" Target="../media/image5071.png"/></Relationships>
</file>

<file path=ppt/slides/_rels/slide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61.png"/><Relationship Id="rId13" Type="http://schemas.openxmlformats.org/officeDocument/2006/relationships/image" Target="../media/image5191.png"/><Relationship Id="rId3" Type="http://schemas.openxmlformats.org/officeDocument/2006/relationships/image" Target="../media/image1244.png"/><Relationship Id="rId7" Type="http://schemas.openxmlformats.org/officeDocument/2006/relationships/image" Target="../media/image5151.png"/><Relationship Id="rId12" Type="http://schemas.openxmlformats.org/officeDocument/2006/relationships/image" Target="../media/image4970.png"/><Relationship Id="rId2" Type="http://schemas.openxmlformats.org/officeDocument/2006/relationships/image" Target="../media/image5111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5141.png"/><Relationship Id="rId11" Type="http://schemas.openxmlformats.org/officeDocument/2006/relationships/image" Target="../media/image5181.png"/><Relationship Id="rId5" Type="http://schemas.openxmlformats.org/officeDocument/2006/relationships/image" Target="../media/image5131.png"/><Relationship Id="rId10" Type="http://schemas.openxmlformats.org/officeDocument/2006/relationships/image" Target="../media/image5031.png"/><Relationship Id="rId4" Type="http://schemas.openxmlformats.org/officeDocument/2006/relationships/image" Target="../media/image5121.png"/><Relationship Id="rId9" Type="http://schemas.openxmlformats.org/officeDocument/2006/relationships/image" Target="../media/image5171.png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4" Type="http://schemas.openxmlformats.org/officeDocument/2006/relationships/image" Target="NUL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../media/image437.png"/><Relationship Id="rId1" Type="http://schemas.openxmlformats.org/officeDocument/2006/relationships/slideLayout" Target="../slideLayouts/slideLayout2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682.png"/><Relationship Id="rId4" Type="http://schemas.openxmlformats.org/officeDocument/2006/relationships/image" Target="NUL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683.png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3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6D125B39-4795-4BA6-B9B5-11FFCFC984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90" y="1122364"/>
            <a:ext cx="7035300" cy="1874836"/>
          </a:xfrm>
        </p:spPr>
        <p:txBody>
          <a:bodyPr/>
          <a:lstStyle/>
          <a:p>
            <a:r>
              <a:rPr lang="en-US" dirty="0"/>
              <a:t>Unit – 2</a:t>
            </a:r>
            <a:br>
              <a:rPr lang="en-US"/>
            </a:br>
            <a:r>
              <a:rPr lang="en-IN"/>
              <a:t>Probability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5EEC38D-B69A-4F45-9CFB-3F832F2054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dhvanik.zala@darshan.ac.in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B892750-977A-4A19-B627-46C829D9C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8238588865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DD3C75D-9CAD-401D-B6F2-D687EEC3CD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/>
              <a:t>Department of Humanities &amp; Science</a:t>
            </a:r>
            <a:endParaRPr lang="en-US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6DA44CB-50AE-4D51-AC18-61617625288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Mr. Dhvanik H. Zala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12C6FA8-76F5-4F55-873C-76674E986E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sp>
        <p:nvSpPr>
          <p:cNvPr id="3" name="Rectangle 2"/>
          <p:cNvSpPr/>
          <p:nvPr/>
        </p:nvSpPr>
        <p:spPr>
          <a:xfrm>
            <a:off x="559491" y="2969088"/>
            <a:ext cx="7563106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CO2: At the end of this Unit, students will be able to: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use probability concepts and random variables to model uncertainty.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A2BEF8E-B706-D6C4-BE19-2D3B69B48E1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93" r="6193"/>
          <a:stretch>
            <a:fillRect/>
          </a:stretch>
        </p:blipFill>
        <p:spPr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prstClr val="white">
                <a:lumMod val="65000"/>
              </a:prstClr>
            </a:solidFill>
          </a:ln>
        </p:spPr>
      </p:pic>
    </p:spTree>
    <p:extLst>
      <p:ext uri="{BB962C8B-B14F-4D97-AF65-F5344CB8AC3E}">
        <p14:creationId xmlns:p14="http://schemas.microsoft.com/office/powerpoint/2010/main" val="12732609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E988DA4-0944-4E8D-969E-D57D8844DC17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5040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28233" cy="5664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Topics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Introduction 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Basic Terminologies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Random Experiments,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Sample Space, 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Types of Experiments (with and without Replacement), and Types of Events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Probability of an Event and Fundamental Laws of Probability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Conditional Probability and Independent Events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GB" sz="2400" dirty="0">
                <a:solidFill>
                  <a:srgbClr val="002060"/>
                </a:solidFill>
              </a:rPr>
              <a:t>Bayes’ Theorem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28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59C2A4-75EA-B702-7A36-34FC64D4B3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7EF9CD4-BA7F-B607-F94D-DD959D0B1B4A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09F568A4-A9E7-DE05-2563-DD2296B5583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63668F3-39C3-F894-1B24-DC1A0B557D7B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C0475B3-47EB-8800-B13D-ED5D954EBB58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2628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E22F249D-80E7-6F3A-0D73-AB3C08CE0346}"/>
              </a:ext>
            </a:extLst>
          </p:cNvPr>
          <p:cNvSpPr txBox="1"/>
          <p:nvPr/>
        </p:nvSpPr>
        <p:spPr>
          <a:xfrm>
            <a:off x="1458963" y="560256"/>
            <a:ext cx="8998271" cy="3176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Topics of Unit 2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Random Variables (Discrete and Continuous) and their Probability Functions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Cumulative Distribution Function and its Properties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Measures of Random Variables: Expectation, Variance and Standard Deviation.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838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4644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85386" cy="52029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Outline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Introduction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Basic Terminologies 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Probability of an Event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Conditional Probability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GB" sz="2400" noProof="0" dirty="0">
                <a:solidFill>
                  <a:srgbClr val="002060"/>
                </a:solidFill>
                <a:latin typeface="Roboto Condensed"/>
              </a:rPr>
              <a:t>Bayes’ Theorem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Random Variables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GB" sz="2400" dirty="0">
                <a:solidFill>
                  <a:srgbClr val="002060"/>
                </a:solidFill>
              </a:rPr>
              <a:t>Measures of Random Variables</a:t>
            </a:r>
            <a:endParaRPr lang="en-US" sz="24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  <a:defRPr/>
            </a:pPr>
            <a:r>
              <a:rPr lang="en-US" sz="2400" dirty="0">
                <a:solidFill>
                  <a:srgbClr val="002060"/>
                </a:solidFill>
              </a:rPr>
              <a:t>Cumulative Distribution Function</a:t>
            </a:r>
            <a:endParaRPr kumimoji="0" lang="en-IN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7980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8AE8BF-CAAA-4DBA-8E1B-B8AB579596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gradFill flip="none" rotWithShape="1">
                  <a:gsLst>
                    <a:gs pos="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</a:rPr>
              <a:t>Introduction 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06EDA8C-E0A9-4AC9-81CF-B8536F6163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IN" sz="2800" dirty="0"/>
          </a:p>
        </p:txBody>
      </p:sp>
    </p:spTree>
    <p:extLst>
      <p:ext uri="{BB962C8B-B14F-4D97-AF65-F5344CB8AC3E}">
        <p14:creationId xmlns:p14="http://schemas.microsoft.com/office/powerpoint/2010/main" val="27094520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27980"/>
            <a:ext cx="11929641" cy="5892953"/>
          </a:xfrm>
        </p:spPr>
        <p:txBody>
          <a:bodyPr/>
          <a:lstStyle/>
          <a:p>
            <a:pPr>
              <a:lnSpc>
                <a:spcPct val="120000"/>
              </a:lnSpc>
            </a:pPr>
            <a:r>
              <a:rPr lang="en-US" dirty="0"/>
              <a:t>The world is governed by </a:t>
            </a:r>
            <a:r>
              <a:rPr lang="en-US" b="1" dirty="0">
                <a:solidFill>
                  <a:srgbClr val="0070C0"/>
                </a:solidFill>
              </a:rPr>
              <a:t>uncertainty</a:t>
            </a:r>
            <a:r>
              <a:rPr lang="en-US" dirty="0"/>
              <a:t>.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Every second, countless events are unfolding, and no one knows exactly what will happen next.</a:t>
            </a:r>
          </a:p>
          <a:p>
            <a:pPr>
              <a:lnSpc>
                <a:spcPct val="120000"/>
              </a:lnSpc>
            </a:pPr>
            <a:r>
              <a:rPr lang="en-US" dirty="0"/>
              <a:t>Yet, humans have always asked: "Can we predict the future?“</a:t>
            </a:r>
          </a:p>
          <a:p>
            <a:pPr>
              <a:lnSpc>
                <a:spcPct val="120000"/>
              </a:lnSpc>
            </a:pPr>
            <a:r>
              <a:rPr lang="en-US" dirty="0"/>
              <a:t>We may never know the future with complete certainty, but mathematics gives us something almost as powerful: </a:t>
            </a:r>
          </a:p>
          <a:p>
            <a:pPr marL="0" indent="0" algn="ctr">
              <a:lnSpc>
                <a:spcPct val="120000"/>
              </a:lnSpc>
              <a:buNone/>
            </a:pPr>
            <a:r>
              <a:rPr lang="en-US" b="1" dirty="0">
                <a:solidFill>
                  <a:srgbClr val="0070C0"/>
                </a:solidFill>
              </a:rPr>
              <a:t>The ability to measure uncertainty</a:t>
            </a:r>
            <a:r>
              <a:rPr lang="en-US" dirty="0"/>
              <a:t>.</a:t>
            </a:r>
          </a:p>
          <a:p>
            <a:pPr>
              <a:lnSpc>
                <a:spcPct val="120000"/>
              </a:lnSpc>
            </a:pPr>
            <a:r>
              <a:rPr lang="en-US" dirty="0"/>
              <a:t>That powerful tool is called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Probability</a:t>
            </a:r>
            <a:r>
              <a:rPr lang="en-US" dirty="0"/>
              <a:t>.</a:t>
            </a:r>
          </a:p>
          <a:p>
            <a:pPr marL="0" indent="0" algn="ctr">
              <a:lnSpc>
                <a:spcPct val="120000"/>
              </a:lnSpc>
              <a:buNone/>
            </a:pPr>
            <a:r>
              <a:rPr lang="en-US" b="1" dirty="0">
                <a:solidFill>
                  <a:srgbClr val="0070C0"/>
                </a:solidFill>
              </a:rPr>
              <a:t>We cannot predict the future with certainty, but we can prepare for it with probability.</a:t>
            </a:r>
          </a:p>
          <a:p>
            <a:pPr marL="0" lvl="0" indent="0">
              <a:buNone/>
            </a:pP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49393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spcAft>
                <a:spcPts val="300"/>
              </a:spcAft>
            </a:pPr>
            <a:r>
              <a:rPr lang="en-US" dirty="0"/>
              <a:t>Why Probability is Important?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87940"/>
            <a:ext cx="11929641" cy="5666069"/>
          </a:xfrm>
        </p:spPr>
        <p:txBody>
          <a:bodyPr/>
          <a:lstStyle/>
          <a:p>
            <a:pPr>
              <a:spcAft>
                <a:spcPts val="300"/>
              </a:spcAft>
            </a:pPr>
            <a:r>
              <a:rPr lang="en-US" dirty="0"/>
              <a:t> Probability helps us answer questions like:</a:t>
            </a:r>
          </a:p>
          <a:p>
            <a:pPr lvl="1">
              <a:spcAft>
                <a:spcPts val="300"/>
              </a:spcAft>
            </a:pPr>
            <a:r>
              <a:rPr lang="en-US" dirty="0"/>
              <a:t>Will it rain tomorrow? </a:t>
            </a:r>
          </a:p>
          <a:p>
            <a:pPr lvl="1">
              <a:spcAft>
                <a:spcPts val="300"/>
              </a:spcAft>
            </a:pPr>
            <a:r>
              <a:rPr lang="en-US" dirty="0"/>
              <a:t>What are the chances of getting placed? </a:t>
            </a:r>
          </a:p>
          <a:p>
            <a:pPr lvl="1">
              <a:spcAft>
                <a:spcPts val="300"/>
              </a:spcAft>
            </a:pPr>
            <a:r>
              <a:rPr lang="en-US" dirty="0"/>
              <a:t>Can AI predict diseases accurately? </a:t>
            </a:r>
          </a:p>
          <a:p>
            <a:pPr lvl="1">
              <a:spcAft>
                <a:spcPts val="300"/>
              </a:spcAft>
            </a:pPr>
            <a:r>
              <a:rPr lang="en-US" dirty="0"/>
              <a:t>What is the probability of network failure? </a:t>
            </a:r>
          </a:p>
          <a:p>
            <a:pPr lvl="1">
              <a:spcAft>
                <a:spcPts val="300"/>
              </a:spcAft>
            </a:pPr>
            <a:r>
              <a:rPr lang="en-US" dirty="0"/>
              <a:t>How risky is a stock market investment?</a:t>
            </a:r>
          </a:p>
          <a:p>
            <a:pPr>
              <a:spcAft>
                <a:spcPts val="300"/>
              </a:spcAft>
            </a:pPr>
            <a:endParaRPr lang="en-GB" sz="2000" dirty="0"/>
          </a:p>
        </p:txBody>
      </p:sp>
    </p:spTree>
    <p:extLst>
      <p:ext uri="{BB962C8B-B14F-4D97-AF65-F5344CB8AC3E}">
        <p14:creationId xmlns:p14="http://schemas.microsoft.com/office/powerpoint/2010/main" val="3240021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3870CC-CB56-A2C7-6CC4-91E32F23C4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BE41281-5252-12A5-DCDA-B62F243996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spcAft>
                <a:spcPts val="300"/>
              </a:spcAft>
            </a:pPr>
            <a:r>
              <a:rPr lang="en-US" dirty="0"/>
              <a:t>Why Probability is Important?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D980516-3FDF-00F7-E29A-0C39A1E464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87940"/>
            <a:ext cx="11929641" cy="5666069"/>
          </a:xfrm>
        </p:spPr>
        <p:txBody>
          <a:bodyPr/>
          <a:lstStyle/>
          <a:p>
            <a:r>
              <a:rPr lang="en-US" dirty="0"/>
              <a:t>Probability forms the foundation of:</a:t>
            </a:r>
          </a:p>
          <a:p>
            <a:pPr lvl="1"/>
            <a:r>
              <a:rPr lang="en-US" dirty="0"/>
              <a:t>Artificial Intelligence &amp; Machine Learning </a:t>
            </a:r>
          </a:p>
          <a:p>
            <a:pPr lvl="1"/>
            <a:r>
              <a:rPr lang="en-US" dirty="0"/>
              <a:t>Data Science </a:t>
            </a:r>
          </a:p>
          <a:p>
            <a:pPr lvl="1"/>
            <a:r>
              <a:rPr lang="en-US" dirty="0"/>
              <a:t>Cyber Security </a:t>
            </a:r>
          </a:p>
          <a:p>
            <a:pPr lvl="1"/>
            <a:r>
              <a:rPr lang="en-US" dirty="0"/>
              <a:t>Predictive Analytics </a:t>
            </a:r>
          </a:p>
          <a:p>
            <a:pPr lvl="1"/>
            <a:r>
              <a:rPr lang="en-US" dirty="0"/>
              <a:t>Risk Analysis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244173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C25B-FA2D-FD1A-041B-51E725C6E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9CC94FA-6E76-2CF7-F434-CFA9D86854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spcAft>
                <a:spcPts val="300"/>
              </a:spcAft>
            </a:pPr>
            <a:r>
              <a:rPr lang="en-US" dirty="0"/>
              <a:t>Why Probability is Important?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B669C6-835C-D2F6-8D8E-5DB11D09D8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There are two types of approaches in the theory of Probability: </a:t>
            </a:r>
          </a:p>
          <a:p>
            <a:pPr lvl="1"/>
            <a:r>
              <a:rPr lang="en-US" dirty="0"/>
              <a:t>Classical Approach - Introduced by Blaise Pascal </a:t>
            </a:r>
          </a:p>
          <a:p>
            <a:pPr lvl="1"/>
            <a:r>
              <a:rPr lang="en-US" dirty="0"/>
              <a:t>Axiomatic Approach - Introduced by A. Kolmogorov</a:t>
            </a:r>
          </a:p>
        </p:txBody>
      </p:sp>
    </p:spTree>
    <p:extLst>
      <p:ext uri="{BB962C8B-B14F-4D97-AF65-F5344CB8AC3E}">
        <p14:creationId xmlns:p14="http://schemas.microsoft.com/office/powerpoint/2010/main" val="90022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1</a:t>
            </a:r>
            <a:br>
              <a:rPr lang="en-IN" dirty="0"/>
            </a:br>
            <a:r>
              <a:rPr lang="en-GB" dirty="0"/>
              <a:t>Basic Terminologies</a:t>
            </a:r>
            <a:endParaRPr lang="en-IN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AF66629-F349-43A0-B5A5-A51D2BBB74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8546531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Experiment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</p:spPr>
            <p:txBody>
              <a:bodyPr/>
              <a:lstStyle/>
              <a:p>
                <a:pPr lvl="0">
                  <a:spcBef>
                    <a:spcPts val="800"/>
                  </a:spcBef>
                </a:pPr>
                <a:r>
                  <a:rPr lang="en-US" dirty="0"/>
                  <a:t>An experiment conducted under identical conditions is called a random experiment if it satisfies the following conditions:</a:t>
                </a:r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It has more than one possible outcome.</a:t>
                </a:r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All possible outcomes are known beforehand.</a:t>
                </a:r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The exact outcome cannot be predicted with certainty in advance.</a:t>
                </a:r>
              </a:p>
              <a:p>
                <a:pPr>
                  <a:spcBef>
                    <a:spcPts val="800"/>
                  </a:spcBef>
                </a:pPr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Examples: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Tossing a coin is a random experiment.</a:t>
                </a:r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Rolling a die is a random experiment.</a:t>
                </a:r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Dividing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lang="en-US" dirty="0"/>
                  <a:t>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using a calculator is not a random experiment.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  <a:blipFill>
                <a:blip r:embed="rId2"/>
                <a:stretch>
                  <a:fillRect l="-971" r="-1074" b="-129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04220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342CEFC-D4BE-00A9-1623-F0D0615389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5665CC-3CAF-5D26-D1B3-5CA8BA04F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Experiment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C84780E-FFA7-15F4-5B3D-44564FE8B9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pPr lvl="0">
              <a:spcBef>
                <a:spcPts val="800"/>
              </a:spcBef>
            </a:pPr>
            <a:r>
              <a:rPr lang="en-US" dirty="0"/>
              <a:t>Identical conditions means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The method, equipment, and environment remain the same for every repetition of the experiment.</a:t>
            </a:r>
          </a:p>
          <a:p>
            <a:pPr>
              <a:spcBef>
                <a:spcPts val="800"/>
              </a:spcBef>
            </a:pPr>
            <a:r>
              <a:rPr lang="en-US" dirty="0"/>
              <a:t>Example: Coin Toss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Identical conditions mean:</a:t>
            </a:r>
          </a:p>
          <a:p>
            <a:pPr lvl="2">
              <a:spcBef>
                <a:spcPts val="800"/>
              </a:spcBef>
            </a:pPr>
            <a:r>
              <a:rPr lang="en-US" dirty="0"/>
              <a:t>Same coin</a:t>
            </a:r>
          </a:p>
          <a:p>
            <a:pPr lvl="2">
              <a:spcBef>
                <a:spcPts val="800"/>
              </a:spcBef>
            </a:pPr>
            <a:r>
              <a:rPr lang="en-US" dirty="0"/>
              <a:t>Same tossing method</a:t>
            </a:r>
          </a:p>
          <a:p>
            <a:pPr lvl="2">
              <a:spcBef>
                <a:spcPts val="800"/>
              </a:spcBef>
            </a:pPr>
            <a:r>
              <a:rPr lang="en-US" dirty="0"/>
              <a:t>Same landing surface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Only the outcome (Head or Tail) changes.</a:t>
            </a:r>
          </a:p>
        </p:txBody>
      </p:sp>
    </p:spTree>
    <p:extLst>
      <p:ext uri="{BB962C8B-B14F-4D97-AF65-F5344CB8AC3E}">
        <p14:creationId xmlns:p14="http://schemas.microsoft.com/office/powerpoint/2010/main" val="1875191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1CD5096B-8D82-CD8A-B328-B1E4976307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9DFB84-67C6-5A41-660A-7AFF7D4508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Experiment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1B971B-D917-BE8D-BDCB-88B95EFBB5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pPr lvl="0">
              <a:spcBef>
                <a:spcPts val="800"/>
              </a:spcBef>
            </a:pPr>
            <a:r>
              <a:rPr lang="en-US" dirty="0"/>
              <a:t>The result of a random experiment is known as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outcome</a:t>
            </a:r>
            <a:r>
              <a:rPr lang="en-US" dirty="0"/>
              <a:t>.</a:t>
            </a:r>
          </a:p>
          <a:p>
            <a:pPr lvl="0">
              <a:spcBef>
                <a:spcPts val="800"/>
              </a:spcBef>
            </a:pPr>
            <a:r>
              <a:rPr lang="en-US" b="1" dirty="0">
                <a:solidFill>
                  <a:srgbClr val="0070C0"/>
                </a:solidFill>
              </a:rPr>
              <a:t>Why is it called a "Random" Experiment?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The word "random" means </a:t>
            </a:r>
            <a:r>
              <a:rPr lang="en-US" b="1" dirty="0"/>
              <a:t>happening by chance without a predictable pattern</a:t>
            </a:r>
            <a:r>
              <a:rPr lang="en-US" dirty="0"/>
              <a:t>.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In a random experiment: We know all the possible outcomes.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But we do not know which outcome will occur in a particular trial.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The outcome is determined by chance, not by certainty.</a:t>
            </a:r>
          </a:p>
          <a:p>
            <a:pPr lvl="1">
              <a:spcBef>
                <a:spcPts val="800"/>
              </a:spcBef>
            </a:pPr>
            <a:r>
              <a:rPr lang="en-US" dirty="0"/>
              <a:t>Hence, it is called a random experiment.</a:t>
            </a:r>
          </a:p>
        </p:txBody>
      </p:sp>
    </p:spTree>
    <p:extLst>
      <p:ext uri="{BB962C8B-B14F-4D97-AF65-F5344CB8AC3E}">
        <p14:creationId xmlns:p14="http://schemas.microsoft.com/office/powerpoint/2010/main" val="1138072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Sample Space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The </a:t>
                </a:r>
                <a:r>
                  <a:rPr lang="en-US" b="1" dirty="0">
                    <a:solidFill>
                      <a:srgbClr val="0070C0"/>
                    </a:solidFill>
                  </a:rPr>
                  <a:t>set of all possible outcome</a:t>
                </a:r>
                <a:r>
                  <a:rPr lang="en-US" dirty="0"/>
                  <a:t> is known as sample space of a random experiment.</a:t>
                </a:r>
                <a:r>
                  <a:rPr lang="en-IN" dirty="0"/>
                  <a:t> </a:t>
                </a:r>
              </a:p>
              <a:p>
                <a:pPr lvl="1"/>
                <a:r>
                  <a:rPr lang="en-US" dirty="0"/>
                  <a:t>Sample space is denoted by the symbol </a:t>
                </a:r>
                <a14:m>
                  <m:oMath xmlns:m="http://schemas.openxmlformats.org/officeDocument/2006/math">
                    <m:r>
                      <a:rPr lang="en-US" b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𝐒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Elements of a sample space is known as </a:t>
                </a:r>
                <a:r>
                  <a:rPr lang="en-US" b="1" dirty="0">
                    <a:solidFill>
                      <a:srgbClr val="0070C0"/>
                    </a:solidFill>
                  </a:rPr>
                  <a:t>sample points</a:t>
                </a:r>
                <a:r>
                  <a:rPr lang="en-US" dirty="0"/>
                  <a:t>.</a:t>
                </a:r>
              </a:p>
              <a:p>
                <a:pPr lvl="0">
                  <a:buClr>
                    <a:srgbClr val="B84742"/>
                  </a:buClr>
                  <a:defRPr/>
                </a:pPr>
                <a:r>
                  <a:rPr lang="en-US" b="1" dirty="0">
                    <a:solidFill>
                      <a:srgbClr val="B84742">
                        <a:lumMod val="50000"/>
                      </a:srgbClr>
                    </a:solidFill>
                  </a:rPr>
                  <a:t>Examples:</a:t>
                </a:r>
                <a:endParaRPr lang="en-IN" dirty="0"/>
              </a:p>
              <a:p>
                <a:pPr lvl="1">
                  <a:buClr>
                    <a:srgbClr val="B84742"/>
                  </a:buClr>
                  <a:defRPr/>
                </a:pPr>
                <a:r>
                  <a:rPr lang="en-US" dirty="0"/>
                  <a:t>Consider an experiment of </a:t>
                </a:r>
                <a:r>
                  <a:rPr lang="en-US" b="1" dirty="0"/>
                  <a:t>tossing a coin</a:t>
                </a:r>
                <a:r>
                  <a:rPr lang="en-US" dirty="0"/>
                  <a:t>.</a:t>
                </a:r>
              </a:p>
              <a:p>
                <a:pPr lvl="2">
                  <a:buClr>
                    <a:srgbClr val="B84742"/>
                  </a:buClr>
                  <a:defRPr/>
                </a:pPr>
                <a:r>
                  <a:rPr lang="en-US" dirty="0"/>
                  <a:t>The outcomes of this experiment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head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tail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</a:t>
                </a:r>
              </a:p>
              <a:p>
                <a:pPr lvl="2">
                  <a:buClr>
                    <a:srgbClr val="B84742"/>
                  </a:buClr>
                  <a:defRPr/>
                </a:pPr>
                <a:r>
                  <a:rPr lang="en-US" dirty="0"/>
                  <a:t>Therefore, sample space of this experiment is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61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2253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822410"/>
              </a:xfrm>
            </p:spPr>
            <p:txBody>
              <a:bodyPr/>
              <a:lstStyle/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Examples:</a:t>
                </a:r>
                <a:endParaRPr lang="en-IN" dirty="0"/>
              </a:p>
              <a:p>
                <a:pPr lvl="1"/>
                <a:r>
                  <a:rPr lang="en-US" dirty="0"/>
                  <a:t>Consider an experiment of rolling a die. </a:t>
                </a:r>
              </a:p>
              <a:p>
                <a:pPr lvl="1"/>
                <a:r>
                  <a:rPr lang="en-US" dirty="0"/>
                  <a:t>The outcomes of this experiment are</a:t>
                </a:r>
              </a:p>
              <a:p>
                <a:pPr marL="800100" lvl="1" indent="0">
                  <a:buNone/>
                </a:pPr>
                <a:endParaRPr lang="en-US" sz="3600" dirty="0"/>
              </a:p>
              <a:p>
                <a:pPr marL="630238" lvl="1" indent="0">
                  <a:buNone/>
                </a:pPr>
                <a:endParaRPr lang="gu-IN" dirty="0"/>
              </a:p>
              <a:p>
                <a:pPr marL="630238" lvl="1" indent="0">
                  <a:buNone/>
                </a:pPr>
                <a:r>
                  <a:rPr lang="en-US" dirty="0"/>
                  <a:t>Therefore, sample space of this experiment is written as follow:</a:t>
                </a:r>
                <a:endParaRPr lang="en-IN" dirty="0"/>
              </a:p>
              <a:p>
                <a:pPr marL="630238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 1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822410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F65C7C3-54EE-4FD7-8828-EA747106C93F}"/>
              </a:ext>
            </a:extLst>
          </p:cNvPr>
          <p:cNvGrpSpPr>
            <a:grpSpLocks noChangeAspect="1"/>
          </p:cNvGrpSpPr>
          <p:nvPr/>
        </p:nvGrpSpPr>
        <p:grpSpPr>
          <a:xfrm>
            <a:off x="5067205" y="3172056"/>
            <a:ext cx="4015641" cy="947084"/>
            <a:chOff x="0" y="-55685"/>
            <a:chExt cx="2323465" cy="54866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6E72D61F-038E-4E0D-8C44-E50DF8AD4D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6705" b="52986"/>
            <a:stretch/>
          </p:blipFill>
          <p:spPr bwMode="auto">
            <a:xfrm>
              <a:off x="0" y="-55685"/>
              <a:ext cx="1160780" cy="446210"/>
            </a:xfrm>
            <a:prstGeom prst="rect">
              <a:avLst/>
            </a:prstGeom>
            <a:extLst>
              <a:ext uri="{53640926-AAD7-44D8-BBD7-CCE9431645EC}">
                <a14:shadowObscured xmlns:a14="http://schemas.microsoft.com/office/drawing/2010/main"/>
              </a:ext>
            </a:extLst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0C42EA1B-656A-4362-9A56-247B8BBDB8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6" t="53021" r="12" b="-12418"/>
            <a:stretch/>
          </p:blipFill>
          <p:spPr bwMode="auto">
            <a:xfrm>
              <a:off x="1162753" y="-1"/>
              <a:ext cx="1160712" cy="492981"/>
            </a:xfrm>
            <a:prstGeom prst="rect">
              <a:avLst/>
            </a:prstGeom>
            <a:extLst>
              <a:ext uri="{53640926-AAD7-44D8-BBD7-CCE9431645EC}">
                <a14:shadowObscured xmlns:a14="http://schemas.microsoft.com/office/drawing/2010/main"/>
              </a:ext>
            </a:extLst>
          </p:spPr>
        </p:pic>
      </p:grpSp>
      <p:sp>
        <p:nvSpPr>
          <p:cNvPr id="15" name="Arrow: Right 14">
            <a:extLst>
              <a:ext uri="{FF2B5EF4-FFF2-40B4-BE49-F238E27FC236}">
                <a16:creationId xmlns:a16="http://schemas.microsoft.com/office/drawing/2014/main" id="{9D10E8CA-280E-497F-8F69-EC6FDBB15EDE}"/>
              </a:ext>
            </a:extLst>
          </p:cNvPr>
          <p:cNvSpPr>
            <a:spLocks noChangeAspect="1"/>
          </p:cNvSpPr>
          <p:nvPr/>
        </p:nvSpPr>
        <p:spPr>
          <a:xfrm>
            <a:off x="4212016" y="3510297"/>
            <a:ext cx="660677" cy="212235"/>
          </a:xfrm>
          <a:prstGeom prst="rightArrow">
            <a:avLst>
              <a:gd name="adj1" fmla="val 32555"/>
              <a:gd name="adj2" fmla="val 79657"/>
            </a:avLst>
          </a:prstGeom>
          <a:solidFill>
            <a:srgbClr val="00206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308D8F1-BB75-461A-8518-04C860135DCD}"/>
                  </a:ext>
                </a:extLst>
              </p:cNvPr>
              <p:cNvSpPr txBox="1"/>
              <p:nvPr/>
            </p:nvSpPr>
            <p:spPr>
              <a:xfrm>
                <a:off x="5925064" y="2186459"/>
                <a:ext cx="28323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6.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308D8F1-BB75-461A-8518-04C860135D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5064" y="2186459"/>
                <a:ext cx="2832325" cy="523220"/>
              </a:xfrm>
              <a:prstGeom prst="rect">
                <a:avLst/>
              </a:prstGeom>
              <a:blipFill>
                <a:blip r:embed="rId4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Picture 5">
            <a:extLst>
              <a:ext uri="{FF2B5EF4-FFF2-40B4-BE49-F238E27FC236}">
                <a16:creationId xmlns:a16="http://schemas.microsoft.com/office/drawing/2014/main" id="{597E29E8-B842-431E-92D5-6642372A0C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62072" y="2951643"/>
            <a:ext cx="1152688" cy="11526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7177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15" grpId="0" uiExpand="1" animBg="1"/>
      <p:bldP spid="11" grpId="0" uiExpan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extLst>
              <a:ext uri="{FF2B5EF4-FFF2-40B4-BE49-F238E27FC236}">
                <a16:creationId xmlns:a16="http://schemas.microsoft.com/office/drawing/2014/main" id="{4F987BB3-A249-476A-8837-3A1DE8544278}"/>
              </a:ext>
            </a:extLst>
          </p:cNvPr>
          <p:cNvSpPr txBox="1"/>
          <p:nvPr/>
        </p:nvSpPr>
        <p:spPr>
          <a:xfrm>
            <a:off x="8220031" y="2918880"/>
            <a:ext cx="1116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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FEFA0E9-82F7-4C14-867A-744A59792BC4}"/>
              </a:ext>
            </a:extLst>
          </p:cNvPr>
          <p:cNvSpPr txBox="1"/>
          <p:nvPr/>
        </p:nvSpPr>
        <p:spPr>
          <a:xfrm>
            <a:off x="2762869" y="2918880"/>
            <a:ext cx="1318365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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A1F4BBA4-0831-442E-BEFE-E2348720ABC8}"/>
              </a:ext>
            </a:extLst>
          </p:cNvPr>
          <p:cNvCxnSpPr>
            <a:cxnSpLocks/>
            <a:endCxn id="25" idx="2"/>
          </p:cNvCxnSpPr>
          <p:nvPr/>
        </p:nvCxnSpPr>
        <p:spPr>
          <a:xfrm flipV="1">
            <a:off x="3422052" y="4278957"/>
            <a:ext cx="0" cy="223260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C41488D-DF2C-4BE2-8664-2EF82F865B2E}"/>
              </a:ext>
            </a:extLst>
          </p:cNvPr>
          <p:cNvCxnSpPr>
            <a:cxnSpLocks/>
            <a:endCxn id="26" idx="2"/>
          </p:cNvCxnSpPr>
          <p:nvPr/>
        </p:nvCxnSpPr>
        <p:spPr>
          <a:xfrm flipV="1">
            <a:off x="8778030" y="4278957"/>
            <a:ext cx="0" cy="211349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CAE54FCE-2DE8-4DF9-83D9-C36ABBF386F9}"/>
              </a:ext>
            </a:extLst>
          </p:cNvPr>
          <p:cNvCxnSpPr>
            <a:cxnSpLocks/>
            <a:endCxn id="24" idx="2"/>
          </p:cNvCxnSpPr>
          <p:nvPr/>
        </p:nvCxnSpPr>
        <p:spPr>
          <a:xfrm flipV="1">
            <a:off x="6096000" y="2274952"/>
            <a:ext cx="0" cy="268619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7C9AE1D-0DB7-4B51-8CB2-2A76DE52EDFD}"/>
              </a:ext>
            </a:extLst>
          </p:cNvPr>
          <p:cNvSpPr/>
          <p:nvPr/>
        </p:nvSpPr>
        <p:spPr>
          <a:xfrm>
            <a:off x="5320726" y="1752952"/>
            <a:ext cx="1550548" cy="522000"/>
          </a:xfrm>
          <a:prstGeom prst="rect">
            <a:avLst/>
          </a:pr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52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B69E3A3-0C66-4342-9E2F-FF4ED8668C09}"/>
              </a:ext>
            </a:extLst>
          </p:cNvPr>
          <p:cNvSpPr/>
          <p:nvPr/>
        </p:nvSpPr>
        <p:spPr>
          <a:xfrm>
            <a:off x="2675796" y="3756957"/>
            <a:ext cx="1492511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26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CCDEF02-45EC-4F28-99CE-FCD5E04A4FAD}"/>
              </a:ext>
            </a:extLst>
          </p:cNvPr>
          <p:cNvSpPr/>
          <p:nvPr/>
        </p:nvSpPr>
        <p:spPr>
          <a:xfrm>
            <a:off x="8033211" y="3756957"/>
            <a:ext cx="1489637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26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9EC4A75-CC82-45B2-8412-3A849F714C0A}"/>
              </a:ext>
            </a:extLst>
          </p:cNvPr>
          <p:cNvSpPr txBox="1"/>
          <p:nvPr/>
        </p:nvSpPr>
        <p:spPr>
          <a:xfrm>
            <a:off x="2904551" y="3380558"/>
            <a:ext cx="10350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Black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08E7D9F-48E4-4FFF-99FA-21AE83D8F4AF}"/>
              </a:ext>
            </a:extLst>
          </p:cNvPr>
          <p:cNvSpPr txBox="1"/>
          <p:nvPr/>
        </p:nvSpPr>
        <p:spPr>
          <a:xfrm>
            <a:off x="8350426" y="3380558"/>
            <a:ext cx="841919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Red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53BA363-C472-4941-8E2B-AC43F5D23921}"/>
              </a:ext>
            </a:extLst>
          </p:cNvPr>
          <p:cNvGrpSpPr/>
          <p:nvPr/>
        </p:nvGrpSpPr>
        <p:grpSpPr>
          <a:xfrm>
            <a:off x="5605591" y="711201"/>
            <a:ext cx="980818" cy="1260631"/>
            <a:chOff x="5050673" y="954713"/>
            <a:chExt cx="980818" cy="126063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20B0918-48D6-4218-8A65-DBF2E716D29F}"/>
                </a:ext>
              </a:extLst>
            </p:cNvPr>
            <p:cNvSpPr txBox="1"/>
            <p:nvPr/>
          </p:nvSpPr>
          <p:spPr>
            <a:xfrm>
              <a:off x="5050673" y="968849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</a:t>
              </a:r>
              <a:endParaRPr kumimoji="0" lang="en-IN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9D2EFD2-0E1C-48B1-8B49-5B26CF101427}"/>
                </a:ext>
              </a:extLst>
            </p:cNvPr>
            <p:cNvSpPr txBox="1"/>
            <p:nvPr/>
          </p:nvSpPr>
          <p:spPr>
            <a:xfrm>
              <a:off x="5487291" y="954713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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992DEC2-E931-4843-A909-4320E1E6096D}"/>
                </a:ext>
              </a:extLst>
            </p:cNvPr>
            <p:cNvSpPr txBox="1"/>
            <p:nvPr/>
          </p:nvSpPr>
          <p:spPr>
            <a:xfrm>
              <a:off x="5050673" y="1384347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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91A9566-B5BD-4BD6-800A-8D6B66D38812}"/>
                </a:ext>
              </a:extLst>
            </p:cNvPr>
            <p:cNvSpPr txBox="1"/>
            <p:nvPr/>
          </p:nvSpPr>
          <p:spPr>
            <a:xfrm>
              <a:off x="5491491" y="1384347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</a:t>
              </a:r>
              <a:endParaRPr kumimoji="0" lang="en-IN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C349B026-E4C5-4918-80C0-8DD299E85D91}"/>
              </a:ext>
            </a:extLst>
          </p:cNvPr>
          <p:cNvSpPr/>
          <p:nvPr/>
        </p:nvSpPr>
        <p:spPr>
          <a:xfrm>
            <a:off x="1198663" y="5359020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CC62285-F6D9-4247-9E39-F47E711552A8}"/>
              </a:ext>
            </a:extLst>
          </p:cNvPr>
          <p:cNvSpPr txBox="1"/>
          <p:nvPr/>
        </p:nvSpPr>
        <p:spPr>
          <a:xfrm>
            <a:off x="1684663" y="487836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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E95B044-7651-425D-908F-2D7580EA32F8}"/>
              </a:ext>
            </a:extLst>
          </p:cNvPr>
          <p:cNvSpPr/>
          <p:nvPr/>
        </p:nvSpPr>
        <p:spPr>
          <a:xfrm>
            <a:off x="4128537" y="5359020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F7E25A3-64EF-4557-9769-2133912987A6}"/>
              </a:ext>
            </a:extLst>
          </p:cNvPr>
          <p:cNvSpPr txBox="1"/>
          <p:nvPr/>
        </p:nvSpPr>
        <p:spPr>
          <a:xfrm>
            <a:off x="4614537" y="490884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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FA4C7A2-0044-47EA-84C6-E1A0FEAEF62E}"/>
              </a:ext>
            </a:extLst>
          </p:cNvPr>
          <p:cNvSpPr/>
          <p:nvPr/>
        </p:nvSpPr>
        <p:spPr>
          <a:xfrm>
            <a:off x="9484245" y="5355001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C1FBE8A-3A70-4E11-94D1-3F7DD4596B94}"/>
              </a:ext>
            </a:extLst>
          </p:cNvPr>
          <p:cNvSpPr txBox="1"/>
          <p:nvPr/>
        </p:nvSpPr>
        <p:spPr>
          <a:xfrm>
            <a:off x="9970245" y="490884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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421A5C7-F30A-49EC-98CC-4E3F18889FE0}"/>
              </a:ext>
            </a:extLst>
          </p:cNvPr>
          <p:cNvSpPr/>
          <p:nvPr/>
        </p:nvSpPr>
        <p:spPr>
          <a:xfrm>
            <a:off x="6554371" y="5355001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A973B48-6B8F-4188-AD77-FCD2C56FDD2A}"/>
              </a:ext>
            </a:extLst>
          </p:cNvPr>
          <p:cNvSpPr txBox="1"/>
          <p:nvPr/>
        </p:nvSpPr>
        <p:spPr>
          <a:xfrm>
            <a:off x="7040371" y="4878365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</a:t>
            </a:r>
          </a:p>
        </p:txBody>
      </p:sp>
      <p:cxnSp>
        <p:nvCxnSpPr>
          <p:cNvPr id="40" name="Connector: Elbow 39">
            <a:extLst>
              <a:ext uri="{FF2B5EF4-FFF2-40B4-BE49-F238E27FC236}">
                <a16:creationId xmlns:a16="http://schemas.microsoft.com/office/drawing/2014/main" id="{20089847-44CE-4E37-B501-F5705F2825C8}"/>
              </a:ext>
            </a:extLst>
          </p:cNvPr>
          <p:cNvCxnSpPr>
            <a:cxnSpLocks/>
            <a:stCxn id="48" idx="0"/>
            <a:endCxn id="47" idx="0"/>
          </p:cNvCxnSpPr>
          <p:nvPr/>
        </p:nvCxnSpPr>
        <p:spPr>
          <a:xfrm rot="5400000" flipH="1" flipV="1">
            <a:off x="6100041" y="240891"/>
            <a:ext cx="12700" cy="5355979"/>
          </a:xfrm>
          <a:prstGeom prst="bentConnector3">
            <a:avLst>
              <a:gd name="adj1" fmla="val 3025000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nector: Elbow 43">
            <a:extLst>
              <a:ext uri="{FF2B5EF4-FFF2-40B4-BE49-F238E27FC236}">
                <a16:creationId xmlns:a16="http://schemas.microsoft.com/office/drawing/2014/main" id="{F8B4B635-68BD-4E52-AC2F-373EE47737B1}"/>
              </a:ext>
            </a:extLst>
          </p:cNvPr>
          <p:cNvCxnSpPr>
            <a:cxnSpLocks/>
            <a:stCxn id="33" idx="0"/>
            <a:endCxn id="35" idx="0"/>
          </p:cNvCxnSpPr>
          <p:nvPr/>
        </p:nvCxnSpPr>
        <p:spPr>
          <a:xfrm rot="16200000" flipH="1">
            <a:off x="3404360" y="3428667"/>
            <a:ext cx="30480" cy="2929874"/>
          </a:xfrm>
          <a:prstGeom prst="bentConnector3">
            <a:avLst>
              <a:gd name="adj1" fmla="val -1179688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Connector: Elbow 44">
            <a:extLst>
              <a:ext uri="{FF2B5EF4-FFF2-40B4-BE49-F238E27FC236}">
                <a16:creationId xmlns:a16="http://schemas.microsoft.com/office/drawing/2014/main" id="{BD911BC1-191E-4AD7-A48F-54E0A1F00BF1}"/>
              </a:ext>
            </a:extLst>
          </p:cNvPr>
          <p:cNvCxnSpPr>
            <a:cxnSpLocks/>
            <a:stCxn id="39" idx="0"/>
            <a:endCxn id="37" idx="0"/>
          </p:cNvCxnSpPr>
          <p:nvPr/>
        </p:nvCxnSpPr>
        <p:spPr>
          <a:xfrm rot="16200000" flipH="1">
            <a:off x="8760068" y="3428667"/>
            <a:ext cx="30479" cy="2929874"/>
          </a:xfrm>
          <a:prstGeom prst="bentConnector3">
            <a:avLst>
              <a:gd name="adj1" fmla="val -1218797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0305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24" grpId="0"/>
      <p:bldP spid="25" grpId="0"/>
      <p:bldP spid="26" grpId="0"/>
      <p:bldP spid="27" grpId="0"/>
      <p:bldP spid="28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0538F19-FA53-4E08-BF30-4C6D31AF270D}"/>
              </a:ext>
            </a:extLst>
          </p:cNvPr>
          <p:cNvGrpSpPr>
            <a:grpSpLocks noChangeAspect="1"/>
          </p:cNvGrpSpPr>
          <p:nvPr/>
        </p:nvGrpSpPr>
        <p:grpSpPr>
          <a:xfrm>
            <a:off x="2597535" y="1797415"/>
            <a:ext cx="1481158" cy="2167606"/>
            <a:chOff x="6388438" y="2889000"/>
            <a:chExt cx="1454331" cy="2128346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7AAAAA67-402A-4681-9159-2DB6E7ACCDA2}"/>
                </a:ext>
              </a:extLst>
            </p:cNvPr>
            <p:cNvGrpSpPr/>
            <p:nvPr/>
          </p:nvGrpSpPr>
          <p:grpSpPr>
            <a:xfrm>
              <a:off x="6388438" y="2889000"/>
              <a:ext cx="1454331" cy="2128346"/>
              <a:chOff x="6388438" y="548993"/>
              <a:chExt cx="1454331" cy="2128346"/>
            </a:xfrm>
          </p:grpSpPr>
          <p:sp>
            <p:nvSpPr>
              <p:cNvPr id="54" name="Rectangle: Rounded Corners 53">
                <a:extLst>
                  <a:ext uri="{FF2B5EF4-FFF2-40B4-BE49-F238E27FC236}">
                    <a16:creationId xmlns:a16="http://schemas.microsoft.com/office/drawing/2014/main" id="{3275177D-F247-45CA-9D97-D00628591621}"/>
                  </a:ext>
                </a:extLst>
              </p:cNvPr>
              <p:cNvSpPr/>
              <p:nvPr/>
            </p:nvSpPr>
            <p:spPr>
              <a:xfrm>
                <a:off x="6437057" y="548993"/>
                <a:ext cx="1371600" cy="2128345"/>
              </a:xfrm>
              <a:prstGeom prst="roundRect">
                <a:avLst>
                  <a:gd name="adj" fmla="val 5093"/>
                </a:avLst>
              </a:prstGeom>
              <a:solidFill>
                <a:schemeClr val="bg1"/>
              </a:solidFill>
              <a:ln>
                <a:solidFill>
                  <a:srgbClr val="002060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7BE04BC9-165E-4DEA-A65C-93DEF7693AEE}"/>
                  </a:ext>
                </a:extLst>
              </p:cNvPr>
              <p:cNvGrpSpPr/>
              <p:nvPr/>
            </p:nvGrpSpPr>
            <p:grpSpPr>
              <a:xfrm>
                <a:off x="6388438" y="548993"/>
                <a:ext cx="333375" cy="535998"/>
                <a:chOff x="6388438" y="548993"/>
                <a:chExt cx="333375" cy="535998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69F97EDB-0DCA-4B90-B912-0330BB1F602F}"/>
                    </a:ext>
                  </a:extLst>
                </p:cNvPr>
                <p:cNvSpPr/>
                <p:nvPr/>
              </p:nvSpPr>
              <p:spPr>
                <a:xfrm>
                  <a:off x="6437057" y="548993"/>
                  <a:ext cx="272056" cy="25713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rPr>
                    <a:t>A</a:t>
                  </a:r>
                  <a:endParaRPr kumimoji="0" lang="en-IN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+mn-ea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" name="TextBox 59">
                  <a:extLst>
                    <a:ext uri="{FF2B5EF4-FFF2-40B4-BE49-F238E27FC236}">
                      <a16:creationId xmlns:a16="http://schemas.microsoft.com/office/drawing/2014/main" id="{E9EA7ACD-BDC8-4968-A18B-3D97C0314D05}"/>
                    </a:ext>
                  </a:extLst>
                </p:cNvPr>
                <p:cNvSpPr txBox="1"/>
                <p:nvPr/>
              </p:nvSpPr>
              <p:spPr>
                <a:xfrm>
                  <a:off x="6388438" y="715659"/>
                  <a:ext cx="333375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Symbol" panose="05050102010706020507" pitchFamily="18" charset="2"/>
                      <a:ea typeface="+mn-ea"/>
                      <a:cs typeface="Times New Roman" panose="02020603050405020304" pitchFamily="18" charset="0"/>
                    </a:rPr>
                    <a:t></a:t>
                  </a: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729DABD1-E2E7-425E-9181-8D6CEE1F5D39}"/>
                  </a:ext>
                </a:extLst>
              </p:cNvPr>
              <p:cNvGrpSpPr/>
              <p:nvPr/>
            </p:nvGrpSpPr>
            <p:grpSpPr>
              <a:xfrm rot="10800000">
                <a:off x="7509394" y="2141341"/>
                <a:ext cx="333375" cy="535998"/>
                <a:chOff x="6388438" y="548993"/>
                <a:chExt cx="333375" cy="535998"/>
              </a:xfrm>
            </p:grpSpPr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E40D562F-72CB-4C85-8DC6-2AD18AC6F7EA}"/>
                    </a:ext>
                  </a:extLst>
                </p:cNvPr>
                <p:cNvSpPr/>
                <p:nvPr/>
              </p:nvSpPr>
              <p:spPr>
                <a:xfrm>
                  <a:off x="6437057" y="548993"/>
                  <a:ext cx="272056" cy="25713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rPr>
                    <a:t>A</a:t>
                  </a:r>
                  <a:endParaRPr kumimoji="0" lang="en-IN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+mn-ea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" name="TextBox 57">
                  <a:extLst>
                    <a:ext uri="{FF2B5EF4-FFF2-40B4-BE49-F238E27FC236}">
                      <a16:creationId xmlns:a16="http://schemas.microsoft.com/office/drawing/2014/main" id="{223AF330-D076-404A-9D73-2F8C0A5A1C14}"/>
                    </a:ext>
                  </a:extLst>
                </p:cNvPr>
                <p:cNvSpPr txBox="1"/>
                <p:nvPr/>
              </p:nvSpPr>
              <p:spPr>
                <a:xfrm>
                  <a:off x="6388438" y="715659"/>
                  <a:ext cx="333375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Symbol" panose="05050102010706020507" pitchFamily="18" charset="2"/>
                      <a:ea typeface="+mn-ea"/>
                      <a:cs typeface="Times New Roman" panose="02020603050405020304" pitchFamily="18" charset="0"/>
                    </a:rPr>
                    <a:t></a:t>
                  </a: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82671838-6B13-47DF-8B88-D5905A703D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554" t="13158" r="19904" b="32321"/>
            <a:stretch/>
          </p:blipFill>
          <p:spPr>
            <a:xfrm>
              <a:off x="6666086" y="3424998"/>
              <a:ext cx="912368" cy="1056348"/>
            </a:xfrm>
            <a:prstGeom prst="rect">
              <a:avLst/>
            </a:prstGeom>
          </p:spPr>
        </p:pic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E26E8E5-2FF1-405C-A194-28D6E02E6C4A}"/>
              </a:ext>
            </a:extLst>
          </p:cNvPr>
          <p:cNvSpPr txBox="1"/>
          <p:nvPr/>
        </p:nvSpPr>
        <p:spPr>
          <a:xfrm>
            <a:off x="1049277" y="2620218"/>
            <a:ext cx="855372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Ace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5" name="Arrow: Right 4">
            <a:extLst>
              <a:ext uri="{FF2B5EF4-FFF2-40B4-BE49-F238E27FC236}">
                <a16:creationId xmlns:a16="http://schemas.microsoft.com/office/drawing/2014/main" id="{909D514F-293F-4783-9A88-6D93A60D5569}"/>
              </a:ext>
            </a:extLst>
          </p:cNvPr>
          <p:cNvSpPr/>
          <p:nvPr/>
        </p:nvSpPr>
        <p:spPr>
          <a:xfrm>
            <a:off x="1879256" y="2753296"/>
            <a:ext cx="606665" cy="255844"/>
          </a:xfrm>
          <a:prstGeom prst="rightArrow">
            <a:avLst>
              <a:gd name="adj1" fmla="val 35463"/>
              <a:gd name="adj2" fmla="val 45072"/>
            </a:avLst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4E053652-D104-4185-B36A-C7423018062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6948" r="15370" b="75028"/>
          <a:stretch/>
        </p:blipFill>
        <p:spPr>
          <a:xfrm>
            <a:off x="8940955" y="1776803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8E2CF25A-04FF-45B9-844D-61C8380D20B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630" t="22" r="7688" b="75006"/>
          <a:stretch/>
        </p:blipFill>
        <p:spPr>
          <a:xfrm>
            <a:off x="7165021" y="1797417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AEC57E74-03B7-40B0-AAF6-EBC50866EF8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312" t="22" r="6" b="75006"/>
          <a:stretch/>
        </p:blipFill>
        <p:spPr>
          <a:xfrm>
            <a:off x="5389087" y="1776803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5" name="TextBox 64">
            <a:extLst>
              <a:ext uri="{FF2B5EF4-FFF2-40B4-BE49-F238E27FC236}">
                <a16:creationId xmlns:a16="http://schemas.microsoft.com/office/drawing/2014/main" id="{77EB2CCF-0050-4389-84AB-6839E4343B28}"/>
              </a:ext>
            </a:extLst>
          </p:cNvPr>
          <p:cNvSpPr txBox="1"/>
          <p:nvPr/>
        </p:nvSpPr>
        <p:spPr>
          <a:xfrm>
            <a:off x="5731098" y="958630"/>
            <a:ext cx="389243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Picture cards / Face card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" name="Left Brace 5">
            <a:extLst>
              <a:ext uri="{FF2B5EF4-FFF2-40B4-BE49-F238E27FC236}">
                <a16:creationId xmlns:a16="http://schemas.microsoft.com/office/drawing/2014/main" id="{26206D74-2908-484E-8B3A-614B483C77CE}"/>
              </a:ext>
            </a:extLst>
          </p:cNvPr>
          <p:cNvSpPr/>
          <p:nvPr/>
        </p:nvSpPr>
        <p:spPr>
          <a:xfrm rot="16200000" flipH="1">
            <a:off x="7799959" y="-997386"/>
            <a:ext cx="278124" cy="5375482"/>
          </a:xfrm>
          <a:prstGeom prst="leftBrace">
            <a:avLst>
              <a:gd name="adj1" fmla="val 25753"/>
              <a:gd name="adj2" fmla="val 50000"/>
            </a:avLst>
          </a:prstGeom>
          <a:ln w="28575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D2C71DA3-80E2-4148-B38E-C42A19B0E1D1}"/>
              </a:ext>
            </a:extLst>
          </p:cNvPr>
          <p:cNvSpPr txBox="1"/>
          <p:nvPr/>
        </p:nvSpPr>
        <p:spPr>
          <a:xfrm>
            <a:off x="9395601" y="958630"/>
            <a:ext cx="8781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2800" b="1">
                <a:solidFill>
                  <a:srgbClr val="002060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Symbol" panose="05050102010706020507" pitchFamily="18" charset="2"/>
              </a:rPr>
              <a:t>(12)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D214C3E-5B24-4B89-A2E4-3BA76ACE4B0E}"/>
              </a:ext>
            </a:extLst>
          </p:cNvPr>
          <p:cNvSpPr txBox="1"/>
          <p:nvPr/>
        </p:nvSpPr>
        <p:spPr>
          <a:xfrm>
            <a:off x="5735401" y="4007749"/>
            <a:ext cx="855372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King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045D977-C5D8-4292-8D94-98AB378D7A93}"/>
              </a:ext>
            </a:extLst>
          </p:cNvPr>
          <p:cNvSpPr txBox="1"/>
          <p:nvPr/>
        </p:nvSpPr>
        <p:spPr>
          <a:xfrm>
            <a:off x="7369771" y="4007749"/>
            <a:ext cx="11385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Queen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3AE4988-A0FA-4B6F-96BC-4FE5467E3A2F}"/>
              </a:ext>
            </a:extLst>
          </p:cNvPr>
          <p:cNvSpPr txBox="1"/>
          <p:nvPr/>
        </p:nvSpPr>
        <p:spPr>
          <a:xfrm>
            <a:off x="9145705" y="4007749"/>
            <a:ext cx="11385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Jack</a:t>
            </a:r>
          </a:p>
        </p:txBody>
      </p:sp>
    </p:spTree>
    <p:extLst>
      <p:ext uri="{BB962C8B-B14F-4D97-AF65-F5344CB8AC3E}">
        <p14:creationId xmlns:p14="http://schemas.microsoft.com/office/powerpoint/2010/main" val="3832064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5" grpId="0" animBg="1"/>
      <p:bldP spid="65" grpId="0"/>
      <p:bldP spid="6" grpId="0" animBg="1"/>
      <p:bldP spid="67" grpId="0"/>
      <p:bldP spid="23" grpId="0"/>
      <p:bldP spid="24" grpId="0"/>
      <p:bldP spid="2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70EC16F3-97F2-3603-9171-C0D0A4915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1E66AA-0ED9-C3F6-5474-B23E9A3383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Types of 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D572F10-357E-4100-B05B-E633E72D926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Finite Sample Space</a:t>
                </a:r>
              </a:p>
              <a:p>
                <a:pPr lvl="1"/>
                <a:r>
                  <a:rPr lang="en-US" dirty="0"/>
                  <a:t>A sample space containing </a:t>
                </a:r>
                <a:r>
                  <a:rPr lang="en-US" b="1" dirty="0">
                    <a:solidFill>
                      <a:srgbClr val="0070C0"/>
                    </a:solidFill>
                  </a:rPr>
                  <a:t>finite number of outcomes</a:t>
                </a:r>
                <a:r>
                  <a:rPr lang="en-US" dirty="0"/>
                  <a:t> is called finite sample space.</a:t>
                </a:r>
              </a:p>
              <a:p>
                <a:pPr lvl="1"/>
                <a:r>
                  <a:rPr lang="en-US" dirty="0"/>
                  <a:t>Example: Tossing Two Coins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HH</m:t>
                          </m:r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HT</m:t>
                          </m:r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TH</m:t>
                          </m:r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TT</m:t>
                          </m:r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1"/>
                <a:r>
                  <a:rPr lang="en-US" dirty="0"/>
                  <a:t>Number of outcomes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=4</m:t>
                    </m:r>
                  </m:oMath>
                </a14:m>
                <a:r>
                  <a:rPr lang="en-US" dirty="0"/>
                  <a:t> (Finite)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D572F10-357E-4100-B05B-E633E72D926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C05462A7-4078-DAEB-1944-662D9C063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7480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F8AEEAD-27D4-56B1-2450-F68FBFE2B9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EB0736-AA62-1683-222A-40AFA051F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Types of 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A02CD6F-9A11-F153-B39B-2AFF36FA9CE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Infinite Sample Space</a:t>
                </a:r>
              </a:p>
              <a:p>
                <a:pPr lvl="1"/>
                <a:r>
                  <a:rPr lang="en-US" dirty="0"/>
                  <a:t>A sample space containing </a:t>
                </a:r>
                <a:r>
                  <a:rPr lang="en-US" b="1" dirty="0">
                    <a:solidFill>
                      <a:srgbClr val="0070C0"/>
                    </a:solidFill>
                  </a:rPr>
                  <a:t>infinite number of outcomes</a:t>
                </a:r>
                <a:r>
                  <a:rPr lang="en-US" dirty="0"/>
                  <a:t> is called finite sample space.</a:t>
                </a:r>
              </a:p>
              <a:p>
                <a:r>
                  <a:rPr lang="en-IN" dirty="0"/>
                  <a:t>Example 1: Toss a coin repeatedly until the first Head occurs.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n-IN" i="0"/>
                            <m:t>  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TH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n-IN" i="0"/>
                            <m:t>  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TTH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n-IN" i="0"/>
                            <m:t>  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TTTH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n-IN" i="0"/>
                            <m:t>  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TTTTH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n-IN" i="0"/>
                            <m:t>…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0"/>
                <a:r>
                  <a:rPr lang="en-IN" dirty="0"/>
                  <a:t>Possible outcomes:</a:t>
                </a:r>
              </a:p>
              <a:p>
                <a:pPr lvl="1"/>
                <a:r>
                  <a:rPr lang="en-IN" dirty="0"/>
                  <a:t>H (Head on the first toss) </a:t>
                </a:r>
              </a:p>
              <a:p>
                <a:pPr lvl="1"/>
                <a:r>
                  <a:rPr lang="en-IN" dirty="0"/>
                  <a:t>TH (Tail then Head) </a:t>
                </a:r>
              </a:p>
              <a:p>
                <a:pPr lvl="1"/>
                <a:r>
                  <a:rPr lang="en-IN" dirty="0"/>
                  <a:t>TTH (Two Tails then Head)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A02CD6F-9A11-F153-B39B-2AFF36FA9CE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  <a:blipFill>
                <a:blip r:embed="rId2"/>
                <a:stretch>
                  <a:fillRect l="-971" r="-1074" b="-23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348E998F-148C-F59B-1ABC-CEE5D3451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7695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60E6728-0C54-2FEE-65D9-CCC687B49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CDC3A4-85CE-C9CC-0177-837A70AA5D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Types of 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91D768-AACA-E0C1-757E-ABB704752E6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pPr lvl="0"/>
                <a:r>
                  <a:rPr lang="en-IN" dirty="0"/>
                  <a:t>Possible outcomes:</a:t>
                </a:r>
              </a:p>
              <a:p>
                <a:pPr lvl="1"/>
                <a:r>
                  <a:rPr lang="en-IN" dirty="0"/>
                  <a:t>H (Head on the first toss) </a:t>
                </a:r>
              </a:p>
              <a:p>
                <a:pPr lvl="1"/>
                <a:r>
                  <a:rPr lang="en-IN" dirty="0"/>
                  <a:t>TH (Tail then Head) </a:t>
                </a:r>
              </a:p>
              <a:p>
                <a:pPr lvl="1"/>
                <a:r>
                  <a:rPr lang="en-IN" dirty="0"/>
                  <a:t>TTH (Two Tails then Head)</a:t>
                </a:r>
              </a:p>
              <a:p>
                <a:pPr lvl="1"/>
                <a:r>
                  <a:rPr lang="en-IN" dirty="0"/>
                  <a:t>TTTH (Three Tails then Head) and so on ⋯</a:t>
                </a:r>
              </a:p>
              <a:p>
                <a:pPr marL="271463" lvl="1" indent="0" algn="ctr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IN" i="0"/>
                          <m:t>  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IN" i="0"/>
                          <m:t>  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IN" i="0"/>
                          <m:t>  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TTTH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IN" i="0"/>
                          <m:t>  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TTTTH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IN" i="0"/>
                          <m:t>… </m:t>
                        </m:r>
                      </m:e>
                    </m:d>
                  </m:oMath>
                </a14:m>
                <a:r>
                  <a:rPr lang="en-IN" dirty="0"/>
                  <a:t> </a:t>
                </a:r>
              </a:p>
              <a:p>
                <a:pPr lvl="0"/>
                <a:r>
                  <a:rPr lang="en-IN" dirty="0"/>
                  <a:t>The outcomes continue forever.</a:t>
                </a:r>
              </a:p>
              <a:p>
                <a:r>
                  <a:rPr lang="en-IN" dirty="0"/>
                  <a:t>Hence,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is infinite.</a:t>
                </a:r>
                <a:endParaRPr lang="en-US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91D768-AACA-E0C1-757E-ABB704752E6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8F86D0B8-0786-D23E-CF51-E18058589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4534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FEBF8DB-F617-EACD-F7C6-1CD68544BC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163D52-DD84-170D-A32C-AB694BCFE5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Types of 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EBC09D3-4A31-5E84-080E-E923E01E313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IN" dirty="0"/>
                  <a:t>Example </a:t>
                </a:r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dirty="0"/>
                  <a:t>: Suppose buses arrive randomly within the next 20 minutes.</a:t>
                </a:r>
              </a:p>
              <a:p>
                <a:pPr lvl="0"/>
                <a:r>
                  <a:rPr lang="en-IN" dirty="0"/>
                  <a:t>Sample Space: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∈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ℝ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:0≤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≤20 </m:t>
                        </m:r>
                      </m:e>
                    </m:d>
                  </m:oMath>
                </a14:m>
                <a:endParaRPr lang="en-IN" dirty="0"/>
              </a:p>
              <a:p>
                <a:pPr lvl="0"/>
                <a:r>
                  <a:rPr lang="en-IN" dirty="0"/>
                  <a:t>The waiting time could be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IN" dirty="0"/>
                  <a:t> min 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5.1</m:t>
                    </m:r>
                  </m:oMath>
                </a14:m>
                <a:r>
                  <a:rPr lang="en-IN" dirty="0"/>
                  <a:t> min 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5.12</m:t>
                    </m:r>
                  </m:oMath>
                </a14:m>
                <a:r>
                  <a:rPr lang="en-IN" dirty="0"/>
                  <a:t> min 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5.123456</m:t>
                    </m:r>
                  </m:oMath>
                </a14:m>
                <a:r>
                  <a:rPr lang="en-IN" dirty="0"/>
                  <a:t> min or any real number between </a:t>
                </a:r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IN" dirty="0"/>
                  <a:t>.</a:t>
                </a:r>
              </a:p>
              <a:p>
                <a:r>
                  <a:rPr lang="en-IN" dirty="0"/>
                  <a:t>Hence,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is infinite.</a:t>
                </a:r>
                <a:endParaRPr lang="en-US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EBC09D3-4A31-5E84-080E-E923E01E313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5AE5AE2A-880F-5D2F-0073-59B4112BA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219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A4FAE5-1AB1-1CD0-DB33-2F6B573AAA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4BC3CBB9-F563-4030-D2B9-D0641B8F31D3}"/>
              </a:ext>
            </a:extLst>
          </p:cNvPr>
          <p:cNvSpPr txBox="1">
            <a:spLocks/>
          </p:cNvSpPr>
          <p:nvPr/>
        </p:nvSpPr>
        <p:spPr>
          <a:xfrm>
            <a:off x="131177" y="869082"/>
            <a:ext cx="11929643" cy="105496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 coin is tossed twice. The outcome of each toss is recorded. Write the sample space for the experiment.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72C3CBF-3C1F-EFC5-92D1-F5CC40170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 ⇝ Example 1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B1780978-E934-657C-7DDE-91D580149A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96211" y="2081930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211" y="2081930"/>
                <a:ext cx="39238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1B2483A4-5095-B62A-F1A3-72549D9B802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44147" y="2081930"/>
                <a:ext cx="3705778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dPr>
                      <m:e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HH</m:t>
                        </m:r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HT</m:t>
                        </m:r>
                        <m:r>
                          <a:rPr kumimoji="0" lang="en-IN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TH</m:t>
                        </m:r>
                        <m:r>
                          <a:rPr kumimoji="0" lang="en-IN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TT</m:t>
                        </m:r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 </m:t>
                        </m:r>
                      </m:e>
                    </m:d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>
                      <a:solidFill>
                        <a:srgbClr val="0070C0"/>
                      </a:solidFill>
                    </a:uFill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45515931-156D-0A82-06C6-286B91A994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4147" y="2081930"/>
                <a:ext cx="370577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0DC6959C-45A5-16E1-4675-A858C8112DF2}"/>
              </a:ext>
            </a:extLst>
          </p:cNvPr>
          <p:cNvSpPr/>
          <p:nvPr/>
        </p:nvSpPr>
        <p:spPr>
          <a:xfrm>
            <a:off x="131181" y="2081930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graphicFrame>
        <p:nvGraphicFramePr>
          <p:cNvPr id="4" name="Table 10">
            <a:extLst>
              <a:ext uri="{FF2B5EF4-FFF2-40B4-BE49-F238E27FC236}">
                <a16:creationId xmlns:a16="http://schemas.microsoft.com/office/drawing/2014/main" id="{559D4DEC-55EC-7309-BD4F-44CCB78CE5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753272"/>
              </p:ext>
            </p:extLst>
          </p:nvPr>
        </p:nvGraphicFramePr>
        <p:xfrm>
          <a:off x="7708951" y="2394500"/>
          <a:ext cx="4351868" cy="3780000"/>
        </p:xfrm>
        <a:graphic>
          <a:graphicData uri="http://schemas.openxmlformats.org/drawingml/2006/table">
            <a:tbl>
              <a:tblPr firstRow="1">
                <a:tableStyleId>{10A1B5D5-9B99-4C35-A422-299274C87663}</a:tableStyleId>
              </a:tblPr>
              <a:tblGrid>
                <a:gridCol w="2175934">
                  <a:extLst>
                    <a:ext uri="{9D8B030D-6E8A-4147-A177-3AD203B41FA5}">
                      <a16:colId xmlns:a16="http://schemas.microsoft.com/office/drawing/2014/main" val="2352154845"/>
                    </a:ext>
                  </a:extLst>
                </a:gridCol>
                <a:gridCol w="2175934">
                  <a:extLst>
                    <a:ext uri="{9D8B030D-6E8A-4147-A177-3AD203B41FA5}">
                      <a16:colId xmlns:a16="http://schemas.microsoft.com/office/drawing/2014/main" val="3387804877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/>
                      <a:r>
                        <a:rPr lang="en-IN" sz="2800" dirty="0"/>
                        <a:t>Toss 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2800" dirty="0"/>
                        <a:t>Toss 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8262752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382387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9322798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0561815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2644088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7A0FCFAC-6B35-5EF7-0E4F-7BF3D3FC87BF}"/>
              </a:ext>
            </a:extLst>
          </p:cNvPr>
          <p:cNvSpPr txBox="1"/>
          <p:nvPr/>
        </p:nvSpPr>
        <p:spPr>
          <a:xfrm>
            <a:off x="8454509" y="3256387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D929F5B-E29F-1F4C-76D9-8D04F9D78880}"/>
              </a:ext>
            </a:extLst>
          </p:cNvPr>
          <p:cNvSpPr txBox="1"/>
          <p:nvPr/>
        </p:nvSpPr>
        <p:spPr>
          <a:xfrm>
            <a:off x="10550009" y="3256387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87936EA-0056-5538-38A4-9B6A29CE64D4}"/>
              </a:ext>
            </a:extLst>
          </p:cNvPr>
          <p:cNvSpPr txBox="1"/>
          <p:nvPr/>
        </p:nvSpPr>
        <p:spPr>
          <a:xfrm>
            <a:off x="8454509" y="4025983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151634A-0541-9DF8-8B62-E3E3B468AE8B}"/>
              </a:ext>
            </a:extLst>
          </p:cNvPr>
          <p:cNvSpPr txBox="1"/>
          <p:nvPr/>
        </p:nvSpPr>
        <p:spPr>
          <a:xfrm>
            <a:off x="10550009" y="4025434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D15D9B9-D9DB-AF7A-97BC-2DC3582E614B}"/>
              </a:ext>
            </a:extLst>
          </p:cNvPr>
          <p:cNvSpPr txBox="1"/>
          <p:nvPr/>
        </p:nvSpPr>
        <p:spPr>
          <a:xfrm>
            <a:off x="8454509" y="4795579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8539C56C-24A5-F18B-76A6-DF10788FDB61}"/>
              </a:ext>
            </a:extLst>
          </p:cNvPr>
          <p:cNvSpPr txBox="1"/>
          <p:nvPr/>
        </p:nvSpPr>
        <p:spPr>
          <a:xfrm>
            <a:off x="10550009" y="4794481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DB27B51-20F9-5429-2C17-FAC4484882EC}"/>
              </a:ext>
            </a:extLst>
          </p:cNvPr>
          <p:cNvSpPr txBox="1"/>
          <p:nvPr/>
        </p:nvSpPr>
        <p:spPr>
          <a:xfrm>
            <a:off x="8454509" y="5565175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920F815B-509E-6785-2292-E9D80C211911}"/>
              </a:ext>
            </a:extLst>
          </p:cNvPr>
          <p:cNvSpPr txBox="1"/>
          <p:nvPr/>
        </p:nvSpPr>
        <p:spPr>
          <a:xfrm>
            <a:off x="10550009" y="5563528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BE97E1F9-3CBC-96C6-A9B8-7E87EFAECCC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02398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HH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2398" y="2081930"/>
                <a:ext cx="78719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Content Placeholder 2">
                <a:extLst>
                  <a:ext uri="{FF2B5EF4-FFF2-40B4-BE49-F238E27FC236}">
                    <a16:creationId xmlns:a16="http://schemas.microsoft.com/office/drawing/2014/main" id="{BAAA0A88-4FBD-114E-47F8-F0C0D27B86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91674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HT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4" name="Content Placeholder 2">
                <a:extLst>
                  <a:ext uri="{FF2B5EF4-FFF2-40B4-BE49-F238E27FC236}">
                    <a16:creationId xmlns:a16="http://schemas.microsoft.com/office/drawing/2014/main" id="{07460ACE-9541-49E5-850E-A166765B43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1674" y="2081930"/>
                <a:ext cx="78719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Content Placeholder 2">
                <a:extLst>
                  <a:ext uri="{FF2B5EF4-FFF2-40B4-BE49-F238E27FC236}">
                    <a16:creationId xmlns:a16="http://schemas.microsoft.com/office/drawing/2014/main" id="{3ADED25A-0B4F-2AD0-D032-8E866B5BE2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80949" y="208248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TH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5" name="Content Placeholder 2">
                <a:extLst>
                  <a:ext uri="{FF2B5EF4-FFF2-40B4-BE49-F238E27FC236}">
                    <a16:creationId xmlns:a16="http://schemas.microsoft.com/office/drawing/2014/main" id="{D239C608-4719-4A39-8107-14BB72086B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0949" y="2082480"/>
                <a:ext cx="78719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Content Placeholder 2">
                <a:extLst>
                  <a:ext uri="{FF2B5EF4-FFF2-40B4-BE49-F238E27FC236}">
                    <a16:creationId xmlns:a16="http://schemas.microsoft.com/office/drawing/2014/main" id="{6F7ABA73-7866-E410-D910-4BA4E9A70F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95348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TT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6" name="Content Placeholder 2">
                <a:extLst>
                  <a:ext uri="{FF2B5EF4-FFF2-40B4-BE49-F238E27FC236}">
                    <a16:creationId xmlns:a16="http://schemas.microsoft.com/office/drawing/2014/main" id="{B0DEAE9A-CDCA-4AF2-B55F-D6211F8283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5348" y="2081930"/>
                <a:ext cx="78719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32534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9" grpId="0" build="p"/>
      <p:bldP spid="48" grpId="0" build="p"/>
      <p:bldP spid="51" grpId="0" build="p"/>
      <p:bldP spid="57" grpId="0" build="p"/>
      <p:bldP spid="58" grpId="0" build="p"/>
      <p:bldP spid="69" grpId="0" build="p"/>
      <p:bldP spid="70" grpId="0" build="p"/>
      <p:bldP spid="71" grpId="0" build="p"/>
      <p:bldP spid="72" grpId="0" build="p"/>
      <p:bldP spid="73" grpId="0" build="p"/>
      <p:bldP spid="74" grpId="0" build="p"/>
      <p:bldP spid="75" grpId="0" build="p"/>
      <p:bldP spid="76" grpId="0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8745A0-B549-D997-C986-2A3AB3522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6001F6C4-E30E-5E8E-293D-ED135285E4C3}"/>
              </a:ext>
            </a:extLst>
          </p:cNvPr>
          <p:cNvSpPr txBox="1">
            <a:spLocks/>
          </p:cNvSpPr>
          <p:nvPr/>
        </p:nvSpPr>
        <p:spPr>
          <a:xfrm>
            <a:off x="131177" y="869082"/>
            <a:ext cx="11929643" cy="12002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Find the sample space associated with the experiment of rolling a pair of dice once. Also, find the number of elements of this sample space.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E28EC5-91A0-2120-BA30-3A2BC7852C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1⇝ Example 11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86211601-CC7E-5C03-3E38-7BB728CFDA5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96674" y="3746544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674" y="3746544"/>
                <a:ext cx="39238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C4D0122F-5592-8459-9D19-417AAA100221}"/>
              </a:ext>
            </a:extLst>
          </p:cNvPr>
          <p:cNvSpPr/>
          <p:nvPr/>
        </p:nvSpPr>
        <p:spPr>
          <a:xfrm>
            <a:off x="131181" y="2220371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F3D01FFE-2FFD-EFC0-0529-5B94BBE7F66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2315274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2315274"/>
                <a:ext cx="766467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5949F8F4-E280-01CC-25A4-254662F285E9}"/>
              </a:ext>
            </a:extLst>
          </p:cNvPr>
          <p:cNvSpPr txBox="1">
            <a:spLocks/>
          </p:cNvSpPr>
          <p:nvPr/>
        </p:nvSpPr>
        <p:spPr>
          <a:xfrm>
            <a:off x="1696209" y="6030329"/>
            <a:ext cx="5568191" cy="53296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 typeface="Wingdings 3" panose="05040102010807070707" pitchFamily="18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Number of elements in sample space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>
                <a:solidFill>
                  <a:srgbClr val="0070C0"/>
                </a:solidFill>
              </a:uFill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Content Placeholder 2">
                <a:extLst>
                  <a:ext uri="{FF2B5EF4-FFF2-40B4-BE49-F238E27FC236}">
                    <a16:creationId xmlns:a16="http://schemas.microsoft.com/office/drawing/2014/main" id="{F782073E-2F1B-F118-214F-76E36DAF070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025007" y="6047262"/>
                <a:ext cx="3140323" cy="53296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=6×6=</m:t>
                      </m:r>
                      <m:sSup>
                        <m:sSup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  <m:sup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p>
                      </m:sSup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=36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8" name="Content Placeholder 2">
                <a:extLst>
                  <a:ext uri="{FF2B5EF4-FFF2-40B4-BE49-F238E27FC236}">
                    <a16:creationId xmlns:a16="http://schemas.microsoft.com/office/drawing/2014/main" id="{8ACB5E63-862E-4163-AA13-12002EDC9A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5007" y="6047262"/>
                <a:ext cx="3140323" cy="53296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359A40F4-EE49-5974-364F-79DE6343FB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2893347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1F89A554-E2B8-4CED-B289-CA336FD15D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2893347"/>
                <a:ext cx="766467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58C41CBE-3ADE-4D6F-308E-4CDDF3F949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3471420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2D4EBDC6-784A-4AE6-9E78-54C1F02AB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3471420"/>
                <a:ext cx="766467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Content Placeholder 2">
                <a:extLst>
                  <a:ext uri="{FF2B5EF4-FFF2-40B4-BE49-F238E27FC236}">
                    <a16:creationId xmlns:a16="http://schemas.microsoft.com/office/drawing/2014/main" id="{64DA7878-2CA9-D77F-2295-038DAF81F16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049493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8" name="Content Placeholder 2">
                <a:extLst>
                  <a:ext uri="{FF2B5EF4-FFF2-40B4-BE49-F238E27FC236}">
                    <a16:creationId xmlns:a16="http://schemas.microsoft.com/office/drawing/2014/main" id="{CC54FF6A-58C1-4E24-95FC-C541A5AD5D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049493"/>
                <a:ext cx="766467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Content Placeholder 2">
                <a:extLst>
                  <a:ext uri="{FF2B5EF4-FFF2-40B4-BE49-F238E27FC236}">
                    <a16:creationId xmlns:a16="http://schemas.microsoft.com/office/drawing/2014/main" id="{6A59DA0F-68CC-DF5F-3D7C-A3A6951A1D9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627566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2" name="Content Placeholder 2">
                <a:extLst>
                  <a:ext uri="{FF2B5EF4-FFF2-40B4-BE49-F238E27FC236}">
                    <a16:creationId xmlns:a16="http://schemas.microsoft.com/office/drawing/2014/main" id="{DBF87C0D-54F3-48FD-8145-95C3433AFC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627566"/>
                <a:ext cx="766467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Content Placeholder 2">
                <a:extLst>
                  <a:ext uri="{FF2B5EF4-FFF2-40B4-BE49-F238E27FC236}">
                    <a16:creationId xmlns:a16="http://schemas.microsoft.com/office/drawing/2014/main" id="{A5ED86E3-FCB0-313A-2191-B9BB375D14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5205639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3" name="Content Placeholder 2">
                <a:extLst>
                  <a:ext uri="{FF2B5EF4-FFF2-40B4-BE49-F238E27FC236}">
                    <a16:creationId xmlns:a16="http://schemas.microsoft.com/office/drawing/2014/main" id="{435070D4-8589-4C89-B816-785D10AD4F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5205639"/>
                <a:ext cx="766467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Left Brace 2">
            <a:extLst>
              <a:ext uri="{FF2B5EF4-FFF2-40B4-BE49-F238E27FC236}">
                <a16:creationId xmlns:a16="http://schemas.microsoft.com/office/drawing/2014/main" id="{FE31DC6A-1AE7-4CA7-6CA6-41439D63F42C}"/>
              </a:ext>
            </a:extLst>
          </p:cNvPr>
          <p:cNvSpPr/>
          <p:nvPr/>
        </p:nvSpPr>
        <p:spPr>
          <a:xfrm>
            <a:off x="2533318" y="2321808"/>
            <a:ext cx="392386" cy="3456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Content Placeholder 2">
                <a:extLst>
                  <a:ext uri="{FF2B5EF4-FFF2-40B4-BE49-F238E27FC236}">
                    <a16:creationId xmlns:a16="http://schemas.microsoft.com/office/drawing/2014/main" id="{473170C4-91AD-4983-9838-9FD7DFCE8D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47016" y="3750610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5" name="Content Placeholder 2">
                <a:extLst>
                  <a:ext uri="{FF2B5EF4-FFF2-40B4-BE49-F238E27FC236}">
                    <a16:creationId xmlns:a16="http://schemas.microsoft.com/office/drawing/2014/main" id="{D2CF34DB-F445-469F-BE68-0DC55DF679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7016" y="3750610"/>
                <a:ext cx="39238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6" name="Left Brace 65">
            <a:extLst>
              <a:ext uri="{FF2B5EF4-FFF2-40B4-BE49-F238E27FC236}">
                <a16:creationId xmlns:a16="http://schemas.microsoft.com/office/drawing/2014/main" id="{F3AC6909-6052-8A40-6933-4F0E51B8E6E2}"/>
              </a:ext>
            </a:extLst>
          </p:cNvPr>
          <p:cNvSpPr/>
          <p:nvPr/>
        </p:nvSpPr>
        <p:spPr>
          <a:xfrm flipH="1">
            <a:off x="10256051" y="2321808"/>
            <a:ext cx="392386" cy="3456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762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3" grpId="0" build="p"/>
      <p:bldP spid="68" grpId="0" build="p"/>
      <p:bldP spid="78" grpId="0" build="p"/>
      <p:bldP spid="51" grpId="0" build="p"/>
      <p:bldP spid="57" grpId="0" build="p"/>
      <p:bldP spid="58" grpId="0" build="p"/>
      <p:bldP spid="62" grpId="0" build="p"/>
      <p:bldP spid="63" grpId="0" build="p"/>
      <p:bldP spid="3" grpId="0" animBg="1"/>
      <p:bldP spid="65" grpId="0" build="p"/>
      <p:bldP spid="6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7AF0B-5C2E-987C-20E8-6C94FA733F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41C27D1-8364-29AB-0F76-902FCA7DC817}"/>
                  </a:ext>
                </a:extLst>
              </p:cNvPr>
              <p:cNvSpPr txBox="1"/>
              <p:nvPr/>
            </p:nvSpPr>
            <p:spPr>
              <a:xfrm>
                <a:off x="2178307" y="2730880"/>
                <a:ext cx="7835386" cy="14679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5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5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</m:e>
                            </m:mr>
                            <m:mr>
                              <m:e/>
                            </m:mr>
                          </m: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48CF3FA-1508-4014-9099-194A9359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8307" y="2730880"/>
                <a:ext cx="7835386" cy="1467966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21DF5A4-3206-7965-B785-553306A9DAE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7" y="869081"/>
                <a:ext cx="11929643" cy="1656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coin is tossed. If it shows head, we draw a ball from a bag which contains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blue and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white balls; if it shows tail, we throw a die. Describe the sample space of this experiment.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7" y="869081"/>
                <a:ext cx="11929643" cy="1656000"/>
              </a:xfrm>
              <a:prstGeom prst="rect">
                <a:avLst/>
              </a:prstGeom>
              <a:blipFill>
                <a:blip r:embed="rId3"/>
                <a:stretch>
                  <a:fillRect l="-1074" r="-1074" b="-1033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AF343DD-BDCD-65CA-9F01-EF26CD5257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1⇝ Example 13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F382470-9CD1-8040-1488-EDC4C3BFEF3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03777" y="3203253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3777" y="3203253"/>
                <a:ext cx="392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2C632888-26BD-0EC0-8D02-3EB99D5C0D16}"/>
              </a:ext>
            </a:extLst>
          </p:cNvPr>
          <p:cNvSpPr/>
          <p:nvPr/>
        </p:nvSpPr>
        <p:spPr>
          <a:xfrm>
            <a:off x="131181" y="2734480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87574E18-C3D6-609F-5F79-6D8AA3017D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3773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7731" y="2902498"/>
                <a:ext cx="95110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976963D3-ECEC-F259-CD2A-25A10480A3E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2457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83017878-4F48-4AD9-8B63-8C5B2A9FE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4576" y="2902498"/>
                <a:ext cx="95110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71CD25BF-6BE2-0477-1C94-3205B1588C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71142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1821314F-4EBA-4FDF-80F1-5407BA894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11421" y="2902498"/>
                <a:ext cx="95110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1FE246D4-0458-ACEA-7DE3-315FD0A49F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9826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9D3E467-E4EE-4825-9266-843516EF6E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8266" y="2902498"/>
                <a:ext cx="95110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9E843D5E-9B73-3EFF-A18E-E0756651B07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8511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15BAE7E3-32AE-40B1-91CF-C5746B9E65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5111" y="2902498"/>
                <a:ext cx="95110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1CA6AF75-2F72-5EFD-25E0-E7408BA1F03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7195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96287DB9-74C6-482B-BA33-72CE5EBF6A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1956" y="2902498"/>
                <a:ext cx="9511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C8D6CF4D-6357-10DD-1276-3782EA67C58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58803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4B3B8309-0389-49FC-95DA-55E2C6B62C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8803" y="2902498"/>
                <a:ext cx="95110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D95082BA-7F72-4ABE-9D12-4C8FE97D18C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20697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6F9046AB-6D67-4DA1-B281-FAE9C5B47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0697" y="3508412"/>
                <a:ext cx="78603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73BA4864-01EF-236A-BAD4-45CDD207A9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246221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E6C044F6-014C-4601-A82C-65954BC410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46221" y="3508412"/>
                <a:ext cx="7860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CF585EE4-B2B9-4076-0F23-6AD58910484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71745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370F0FC0-310C-4A8C-91BA-2D08AF0F71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1745" y="3508412"/>
                <a:ext cx="7860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9CF9C330-1066-C74E-E5FB-DAE1CD8F3C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97269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C2C5EAA-6372-41A9-A7C1-9FC860763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269" y="3508412"/>
                <a:ext cx="7860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31BD6C2C-1F50-B08C-1508-73DA19FA13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22793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7EEF1985-952A-4CFD-B151-A17D0EFD9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793" y="3508412"/>
                <a:ext cx="7860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F92A5FD5-9F5D-953A-D7DD-81CFC71008A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48319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67AE011F-FA55-409C-BE34-C5EFE0CC7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8319" y="3508412"/>
                <a:ext cx="7860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D0B5356B-B12F-554F-6E5E-6CC4E76DB281}"/>
              </a:ext>
            </a:extLst>
          </p:cNvPr>
          <p:cNvCxnSpPr>
            <a:cxnSpLocks/>
          </p:cNvCxnSpPr>
          <p:nvPr/>
        </p:nvCxnSpPr>
        <p:spPr>
          <a:xfrm>
            <a:off x="2737731" y="1425674"/>
            <a:ext cx="2291554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CB6A59BA-2F58-4EB5-E4DE-A1E3940B58D9}"/>
              </a:ext>
            </a:extLst>
          </p:cNvPr>
          <p:cNvCxnSpPr>
            <a:cxnSpLocks/>
          </p:cNvCxnSpPr>
          <p:nvPr/>
        </p:nvCxnSpPr>
        <p:spPr>
          <a:xfrm>
            <a:off x="5651694" y="1425674"/>
            <a:ext cx="6248142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17DB1611-628A-DED7-005B-47C64D23EE8A}"/>
              </a:ext>
            </a:extLst>
          </p:cNvPr>
          <p:cNvCxnSpPr>
            <a:cxnSpLocks/>
          </p:cNvCxnSpPr>
          <p:nvPr/>
        </p:nvCxnSpPr>
        <p:spPr>
          <a:xfrm>
            <a:off x="258932" y="1941583"/>
            <a:ext cx="2291554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161D8F7D-B11D-979F-7D39-E6DE48EFD905}"/>
              </a:ext>
            </a:extLst>
          </p:cNvPr>
          <p:cNvCxnSpPr>
            <a:cxnSpLocks/>
          </p:cNvCxnSpPr>
          <p:nvPr/>
        </p:nvCxnSpPr>
        <p:spPr>
          <a:xfrm>
            <a:off x="2858381" y="1941583"/>
            <a:ext cx="1937947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10826A1-C9AC-D440-8733-1EACE5FF3DD3}"/>
              </a:ext>
            </a:extLst>
          </p:cNvPr>
          <p:cNvCxnSpPr>
            <a:cxnSpLocks/>
          </p:cNvCxnSpPr>
          <p:nvPr/>
        </p:nvCxnSpPr>
        <p:spPr>
          <a:xfrm>
            <a:off x="5452800" y="1941583"/>
            <a:ext cx="1570865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49504886-FDA9-6BBA-42A6-4625C60999DE}"/>
              </a:ext>
            </a:extLst>
          </p:cNvPr>
          <p:cNvCxnSpPr>
            <a:cxnSpLocks/>
            <a:stCxn id="4" idx="3"/>
            <a:endCxn id="40" idx="1"/>
          </p:cNvCxnSpPr>
          <p:nvPr/>
        </p:nvCxnSpPr>
        <p:spPr>
          <a:xfrm flipV="1">
            <a:off x="8270122" y="4915356"/>
            <a:ext cx="716878" cy="254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18AC8A1E-F496-379C-D529-8C0DD8D8E296}"/>
              </a:ext>
            </a:extLst>
          </p:cNvPr>
          <p:cNvCxnSpPr>
            <a:cxnSpLocks/>
            <a:endCxn id="4" idx="1"/>
          </p:cNvCxnSpPr>
          <p:nvPr/>
        </p:nvCxnSpPr>
        <p:spPr>
          <a:xfrm flipV="1">
            <a:off x="6674260" y="4915610"/>
            <a:ext cx="724499" cy="602874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5A051E8-EB70-31FE-746E-5BEC1E1D7C0E}"/>
              </a:ext>
            </a:extLst>
          </p:cNvPr>
          <p:cNvCxnSpPr>
            <a:cxnSpLocks/>
            <a:stCxn id="53" idx="3"/>
          </p:cNvCxnSpPr>
          <p:nvPr/>
        </p:nvCxnSpPr>
        <p:spPr>
          <a:xfrm flipV="1">
            <a:off x="8270122" y="6121355"/>
            <a:ext cx="739763" cy="1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B156858F-BDD5-1D3A-4DD8-068375A48B05}"/>
              </a:ext>
            </a:extLst>
          </p:cNvPr>
          <p:cNvSpPr/>
          <p:nvPr/>
        </p:nvSpPr>
        <p:spPr>
          <a:xfrm>
            <a:off x="8987000" y="4444497"/>
            <a:ext cx="3073820" cy="941717"/>
          </a:xfrm>
          <a:prstGeom prst="roundRect">
            <a:avLst>
              <a:gd name="adj" fmla="val 50000"/>
            </a:avLst>
          </a:prstGeom>
          <a:solidFill>
            <a:srgbClr val="F2F2F2"/>
          </a:solidFill>
          <a:ln w="28575">
            <a:solidFill>
              <a:srgbClr val="009788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8352" tIns="38352" rIns="38352" bIns="38352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 Math" panose="02040503050406030204" pitchFamily="18" charset="0"/>
              <a:ea typeface="Cambria Math" panose="02040503050406030204" pitchFamily="18" charset="0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1FC68CE1-263F-B2FE-4471-EC8DF556BFD4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16668" t="25169" r="53477" b="21678"/>
          <a:stretch/>
        </p:blipFill>
        <p:spPr>
          <a:xfrm>
            <a:off x="7398759" y="4479288"/>
            <a:ext cx="871363" cy="872643"/>
          </a:xfrm>
          <a:prstGeom prst="rect">
            <a:avLst/>
          </a:prstGeom>
        </p:spPr>
      </p:pic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2E79396B-4922-BE23-0A2D-0B5A5EE9B94F}"/>
              </a:ext>
            </a:extLst>
          </p:cNvPr>
          <p:cNvCxnSpPr>
            <a:cxnSpLocks/>
            <a:endCxn id="53" idx="1"/>
          </p:cNvCxnSpPr>
          <p:nvPr/>
        </p:nvCxnSpPr>
        <p:spPr>
          <a:xfrm>
            <a:off x="6674260" y="5518481"/>
            <a:ext cx="724499" cy="602875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" name="Picture 52">
            <a:extLst>
              <a:ext uri="{FF2B5EF4-FFF2-40B4-BE49-F238E27FC236}">
                <a16:creationId xmlns:a16="http://schemas.microsoft.com/office/drawing/2014/main" id="{FD236AE6-65EE-BF57-B949-0D2C0171E894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48395" t="25169" r="21750" b="21678"/>
          <a:stretch/>
        </p:blipFill>
        <p:spPr>
          <a:xfrm>
            <a:off x="7398759" y="5685034"/>
            <a:ext cx="871363" cy="872643"/>
          </a:xfrm>
          <a:prstGeom prst="rect">
            <a:avLst/>
          </a:prstGeom>
        </p:spPr>
      </p:pic>
      <p:sp>
        <p:nvSpPr>
          <p:cNvPr id="48" name="Oval 47">
            <a:extLst>
              <a:ext uri="{FF2B5EF4-FFF2-40B4-BE49-F238E27FC236}">
                <a16:creationId xmlns:a16="http://schemas.microsoft.com/office/drawing/2014/main" id="{E21B66FA-F3D8-53D0-4423-9196699CF94A}"/>
              </a:ext>
            </a:extLst>
          </p:cNvPr>
          <p:cNvSpPr>
            <a:spLocks noChangeAspect="1"/>
          </p:cNvSpPr>
          <p:nvPr/>
        </p:nvSpPr>
        <p:spPr>
          <a:xfrm>
            <a:off x="9768623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B1DEBE47-C47B-A031-3724-7F2C15434523}"/>
              </a:ext>
            </a:extLst>
          </p:cNvPr>
          <p:cNvSpPr>
            <a:spLocks noChangeAspect="1"/>
          </p:cNvSpPr>
          <p:nvPr/>
        </p:nvSpPr>
        <p:spPr>
          <a:xfrm>
            <a:off x="10296306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723600AD-34CA-6AD6-24A4-25747D336C80}"/>
              </a:ext>
            </a:extLst>
          </p:cNvPr>
          <p:cNvSpPr>
            <a:spLocks noChangeAspect="1"/>
          </p:cNvSpPr>
          <p:nvPr/>
        </p:nvSpPr>
        <p:spPr>
          <a:xfrm>
            <a:off x="10823988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067EDD14-AF7C-841A-3BA6-42E7DA6F6F8A}"/>
              </a:ext>
            </a:extLst>
          </p:cNvPr>
          <p:cNvSpPr>
            <a:spLocks noChangeAspect="1"/>
          </p:cNvSpPr>
          <p:nvPr/>
        </p:nvSpPr>
        <p:spPr>
          <a:xfrm>
            <a:off x="9504786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D4B1A8D3-45C6-4D60-86B1-29522E8DC44D}"/>
              </a:ext>
            </a:extLst>
          </p:cNvPr>
          <p:cNvSpPr>
            <a:spLocks noChangeAspect="1"/>
          </p:cNvSpPr>
          <p:nvPr/>
        </p:nvSpPr>
        <p:spPr>
          <a:xfrm>
            <a:off x="10035587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D1B034A3-C33D-871C-46A4-2DB3802A7D04}"/>
              </a:ext>
            </a:extLst>
          </p:cNvPr>
          <p:cNvSpPr>
            <a:spLocks noChangeAspect="1"/>
          </p:cNvSpPr>
          <p:nvPr/>
        </p:nvSpPr>
        <p:spPr>
          <a:xfrm>
            <a:off x="10566388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EB09A374-EDB9-1A16-93A3-07EAD01FFB93}"/>
              </a:ext>
            </a:extLst>
          </p:cNvPr>
          <p:cNvSpPr>
            <a:spLocks noChangeAspect="1"/>
          </p:cNvSpPr>
          <p:nvPr/>
        </p:nvSpPr>
        <p:spPr>
          <a:xfrm>
            <a:off x="11097190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9" name="Rectangle: Rounded Corners 78">
            <a:extLst>
              <a:ext uri="{FF2B5EF4-FFF2-40B4-BE49-F238E27FC236}">
                <a16:creationId xmlns:a16="http://schemas.microsoft.com/office/drawing/2014/main" id="{69A08647-374F-6206-833E-1573DA58D728}"/>
              </a:ext>
            </a:extLst>
          </p:cNvPr>
          <p:cNvSpPr/>
          <p:nvPr/>
        </p:nvSpPr>
        <p:spPr>
          <a:xfrm>
            <a:off x="8987000" y="5737688"/>
            <a:ext cx="3073820" cy="707525"/>
          </a:xfrm>
          <a:prstGeom prst="roundRect">
            <a:avLst>
              <a:gd name="adj" fmla="val 50000"/>
            </a:avLst>
          </a:prstGeom>
          <a:solidFill>
            <a:srgbClr val="F2F2F2"/>
          </a:solidFill>
          <a:ln w="28575">
            <a:solidFill>
              <a:srgbClr val="009788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8352" tIns="38352" rIns="38352" bIns="38352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 Math" panose="02040503050406030204" pitchFamily="18" charset="0"/>
              <a:ea typeface="Cambria Math" panose="02040503050406030204" pitchFamily="18" charset="0"/>
              <a:cs typeface="+mn-cs"/>
            </a:endParaRPr>
          </a:p>
        </p:txBody>
      </p:sp>
      <p:pic>
        <p:nvPicPr>
          <p:cNvPr id="82" name="Picture 81">
            <a:extLst>
              <a:ext uri="{FF2B5EF4-FFF2-40B4-BE49-F238E27FC236}">
                <a16:creationId xmlns:a16="http://schemas.microsoft.com/office/drawing/2014/main" id="{765DCF6A-0AF9-E73E-469A-C041EB51611E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2" b="52986"/>
          <a:stretch/>
        </p:blipFill>
        <p:spPr bwMode="auto">
          <a:xfrm>
            <a:off x="9142872" y="5861238"/>
            <a:ext cx="1370244" cy="460425"/>
          </a:xfrm>
          <a:prstGeom prst="rect">
            <a:avLst/>
          </a:prstGeom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535DA314-601C-AEDC-89F8-9D896C798719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" t="53021" r="12" b="-73"/>
          <a:stretch/>
        </p:blipFill>
        <p:spPr bwMode="auto">
          <a:xfrm>
            <a:off x="10529672" y="5861238"/>
            <a:ext cx="1370164" cy="460425"/>
          </a:xfrm>
          <a:prstGeom prst="rect">
            <a:avLst/>
          </a:prstGeom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1689672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00"/>
                            </p:stCondLst>
                            <p:childTnLst>
                              <p:par>
                                <p:cTn id="1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00"/>
                            </p:stCondLst>
                            <p:childTnLst>
                              <p:par>
                                <p:cTn id="1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00"/>
                            </p:stCondLst>
                            <p:childTnLst>
                              <p:par>
                                <p:cTn id="14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500"/>
                            </p:stCondLst>
                            <p:childTnLst>
                              <p:par>
                                <p:cTn id="14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2000"/>
                            </p:stCondLst>
                            <p:childTnLst>
                              <p:par>
                                <p:cTn id="14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build="p"/>
      <p:bldP spid="5" grpId="0" build="p"/>
      <p:bldP spid="73" grpId="0" build="p"/>
      <p:bldP spid="22" grpId="0" build="p"/>
      <p:bldP spid="23" grpId="0" build="p"/>
      <p:bldP spid="24" grpId="0" build="p"/>
      <p:bldP spid="25" grpId="0" build="p"/>
      <p:bldP spid="26" grpId="0" build="p"/>
      <p:bldP spid="27" grpId="0" build="p"/>
      <p:bldP spid="28" grpId="0" build="p"/>
      <p:bldP spid="29" grpId="0" build="p"/>
      <p:bldP spid="30" grpId="0" build="p"/>
      <p:bldP spid="31" grpId="0" build="p"/>
      <p:bldP spid="32" grpId="0" build="p"/>
      <p:bldP spid="33" grpId="0" build="p"/>
      <p:bldP spid="40" grpId="0" animBg="1"/>
      <p:bldP spid="48" grpId="0" animBg="1"/>
      <p:bldP spid="66" grpId="0" animBg="1"/>
      <p:bldP spid="68" grpId="0" animBg="1"/>
      <p:bldP spid="74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Random Experiments </a:t>
            </a:r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F85B7F9-F0C4-E4E6-AA76-1EAB000470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 lvl="0"/>
            <a:r>
              <a:rPr lang="en-US" b="1" u="sng" dirty="0"/>
              <a:t>Experiment </a:t>
            </a:r>
            <a:r>
              <a:rPr lang="en-US" b="1" u="sng" dirty="0">
                <a:solidFill>
                  <a:srgbClr val="FF0000"/>
                </a:solidFill>
              </a:rPr>
              <a:t>with</a:t>
            </a:r>
            <a:r>
              <a:rPr lang="en-US" b="1" u="sng" dirty="0"/>
              <a:t> Replacement</a:t>
            </a:r>
          </a:p>
          <a:p>
            <a:pPr lvl="1"/>
            <a:r>
              <a:rPr lang="en-US" dirty="0"/>
              <a:t>An experiment is said to be with replacement if, after each selection, the selected object is returned to the original collection before the next selection.</a:t>
            </a:r>
          </a:p>
          <a:p>
            <a:pPr lvl="1"/>
            <a:r>
              <a:rPr lang="en-US" dirty="0"/>
              <a:t>In simple words,</a:t>
            </a:r>
          </a:p>
          <a:p>
            <a:pPr lvl="2"/>
            <a:r>
              <a:rPr lang="en-US" dirty="0"/>
              <a:t>You select an item from a collection, put it back, and then select again. </a:t>
            </a:r>
          </a:p>
          <a:p>
            <a:pPr lvl="2"/>
            <a:r>
              <a:rPr lang="en-US" dirty="0"/>
              <a:t>Each selection is independent, and the size and composition of the collection remain the same throughout the experiment.</a:t>
            </a:r>
          </a:p>
        </p:txBody>
      </p:sp>
    </p:spTree>
    <p:extLst>
      <p:ext uri="{BB962C8B-B14F-4D97-AF65-F5344CB8AC3E}">
        <p14:creationId xmlns:p14="http://schemas.microsoft.com/office/powerpoint/2010/main" val="837737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7283E074-1A00-BC25-D872-2F459E9E0C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CBEBA9-572E-3A86-E4E6-1ED69980F4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Random Experiments 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95383CA-3EBB-FFD3-D889-D321F9795F1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 1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A bag contains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red balls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blue balls.</a:t>
                </a:r>
                <a:endParaRPr lang="en-IN" dirty="0"/>
              </a:p>
              <a:p>
                <a:pPr lvl="1"/>
                <a:r>
                  <a:rPr lang="en-US" dirty="0"/>
                  <a:t>One ball is selected and replaced before selecting the next ball.</a:t>
                </a:r>
                <a:endParaRPr lang="en-IN" dirty="0"/>
              </a:p>
              <a:p>
                <a:pPr lvl="1"/>
                <a:r>
                  <a:rPr lang="en-US" dirty="0"/>
                  <a:t>Since the first ball is returned, the composition of the bag remains unchanged.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 2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IN" dirty="0"/>
                  <a:t>A card is drawn from a deck of </a:t>
                </a:r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lang="en-IN" dirty="0"/>
                  <a:t> cards, noted, and </a:t>
                </a:r>
                <a:r>
                  <a:rPr lang="en-IN" b="1" dirty="0"/>
                  <a:t>returned</a:t>
                </a:r>
                <a:r>
                  <a:rPr lang="en-IN" dirty="0"/>
                  <a:t> to the deck. The deck is then shuffled before drawing the next card.</a:t>
                </a:r>
              </a:p>
              <a:p>
                <a:pPr lvl="1"/>
                <a:r>
                  <a:rPr lang="en-IN" dirty="0"/>
                  <a:t>Since the card is replaced, there are </a:t>
                </a:r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lang="en-IN" dirty="0"/>
                  <a:t> cards available in each draw.</a:t>
                </a:r>
              </a:p>
              <a:p>
                <a:pPr lvl="1"/>
                <a:r>
                  <a:rPr lang="en-IN" dirty="0"/>
                  <a:t>It is possible to draw the same card again.</a:t>
                </a:r>
                <a:endParaRPr lang="en-US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95383CA-3EBB-FFD3-D889-D321F9795F1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 b="-286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9577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9A6ABC94-1315-76D6-ED53-7457729EA7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C18448-4F22-D425-6217-F52950A53C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Random Experiments </a:t>
            </a:r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B67F4D1-B256-1DB6-B617-6D3C494C5EB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 lvl="0"/>
            <a:r>
              <a:rPr lang="en-US" b="1" u="sng" dirty="0"/>
              <a:t>Experiment </a:t>
            </a:r>
            <a:r>
              <a:rPr lang="en-US" b="1" u="sng" dirty="0">
                <a:solidFill>
                  <a:srgbClr val="FF0000"/>
                </a:solidFill>
              </a:rPr>
              <a:t>without</a:t>
            </a:r>
            <a:r>
              <a:rPr lang="en-US" b="1" u="sng" dirty="0"/>
              <a:t> Replacement</a:t>
            </a:r>
          </a:p>
          <a:p>
            <a:pPr lvl="1"/>
            <a:r>
              <a:rPr lang="en-US" dirty="0"/>
              <a:t>An experiment is said to be without replacement if the selected object is not returned to the original collection before the next selection.</a:t>
            </a:r>
            <a:endParaRPr lang="en-IN" dirty="0"/>
          </a:p>
          <a:p>
            <a:pPr lvl="1"/>
            <a:r>
              <a:rPr lang="en-IN" dirty="0"/>
              <a:t>In simple words:</a:t>
            </a:r>
          </a:p>
          <a:p>
            <a:pPr lvl="2"/>
            <a:r>
              <a:rPr lang="en-IN" dirty="0"/>
              <a:t>You select an item from a collection and </a:t>
            </a:r>
            <a:r>
              <a:rPr lang="en-IN" b="1" dirty="0"/>
              <a:t>do not put it back</a:t>
            </a:r>
            <a:r>
              <a:rPr lang="en-IN" dirty="0"/>
              <a:t> before selecting again. </a:t>
            </a:r>
          </a:p>
          <a:p>
            <a:pPr lvl="2"/>
            <a:r>
              <a:rPr lang="en-IN" dirty="0"/>
              <a:t>Each selection is dependent, and the size and composition of the collection change after every selection.</a:t>
            </a:r>
          </a:p>
        </p:txBody>
      </p:sp>
    </p:spTree>
    <p:extLst>
      <p:ext uri="{BB962C8B-B14F-4D97-AF65-F5344CB8AC3E}">
        <p14:creationId xmlns:p14="http://schemas.microsoft.com/office/powerpoint/2010/main" val="1109762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CCB6D5FC-8DAF-FDDB-32A4-39284B32B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83AB09-BB79-83CE-2C8E-2A5DD5859B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Random Experiments 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22D177B-05AC-110B-D3B0-DB71F7C18C6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 </a:t>
                </a:r>
              </a:p>
              <a:p>
                <a:pPr lvl="1"/>
                <a:r>
                  <a:rPr lang="en-IN" dirty="0"/>
                  <a:t>A bag contains: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IN" dirty="0"/>
                  <a:t> Red 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dirty="0"/>
                  <a:t> Blue </a:t>
                </a:r>
              </a:p>
              <a:p>
                <a:pPr lvl="1"/>
                <a:r>
                  <a:rPr lang="en-IN" dirty="0"/>
                  <a:t>One ball is drawn and </a:t>
                </a:r>
                <a:r>
                  <a:rPr lang="en-IN" b="1" dirty="0"/>
                  <a:t>kept aside</a:t>
                </a:r>
                <a:r>
                  <a:rPr lang="en-IN" dirty="0"/>
                  <a:t>.</a:t>
                </a:r>
              </a:p>
              <a:p>
                <a:pPr lvl="1"/>
                <a:r>
                  <a:rPr lang="en-IN" dirty="0"/>
                  <a:t>If a red ball was drawn first, the bag now contains: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dirty="0"/>
                  <a:t> Red 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IN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dirty="0"/>
                  <a:t> Blue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22D177B-05AC-110B-D3B0-DB71F7C18C6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65662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264A41-0118-3F02-118C-D450D8B381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ECC2FAA-C2B6-96F3-4ADB-C5EAC35C5297}"/>
                  </a:ext>
                </a:extLst>
              </p:cNvPr>
              <p:cNvSpPr txBox="1"/>
              <p:nvPr/>
            </p:nvSpPr>
            <p:spPr>
              <a:xfrm>
                <a:off x="2155760" y="3976976"/>
                <a:ext cx="5340093" cy="261770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/>
                            </m:mr>
                            <m:mr>
                              <m:e/>
                            </m:mr>
                          </m:m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48CF3FA-1508-4014-9099-194A9359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60" y="3976976"/>
                <a:ext cx="5340093" cy="261770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DB78DA5-3060-EAAB-9AA2-041794C02E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 ⇝ Example 16 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BF685E12-921F-1162-D452-24E41E9135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63378" y="5024218"/>
                <a:ext cx="49238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S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3378" y="5024218"/>
                <a:ext cx="49238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98B688A0-C403-9E25-5192-2256BE08E6B0}"/>
              </a:ext>
            </a:extLst>
          </p:cNvPr>
          <p:cNvSpPr/>
          <p:nvPr/>
        </p:nvSpPr>
        <p:spPr>
          <a:xfrm>
            <a:off x="131181" y="3402957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9A792F0D-6961-5BBD-945E-AA15D8AE79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6F9046AB-6D67-4DA1-B281-FAE9C5B47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5349297"/>
                <a:ext cx="7860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30575122-AC83-2AC5-D991-59AF89710E1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E6C044F6-014C-4601-A82C-65954BC410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5349297"/>
                <a:ext cx="7860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11E0A454-1D98-BAE6-8950-B4A7C8C598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370F0FC0-310C-4A8C-91BA-2D08AF0F71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5349297"/>
                <a:ext cx="7860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6A4C8EA5-0AE3-C55A-CA74-DB01ED55C1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C2C5EAA-6372-41A9-A7C1-9FC860763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5349297"/>
                <a:ext cx="7860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ACB5ACAC-9DC1-E3C6-8981-3BEED1209AA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7EEF1985-952A-4CFD-B151-A17D0EFD9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5958627"/>
                <a:ext cx="7860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B3092F9B-9CF5-7D64-CF01-98744423064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67AE011F-FA55-409C-BE34-C5EFE0CC7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5958627"/>
                <a:ext cx="7860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Content Placeholder 2">
                <a:extLst>
                  <a:ext uri="{FF2B5EF4-FFF2-40B4-BE49-F238E27FC236}">
                    <a16:creationId xmlns:a16="http://schemas.microsoft.com/office/drawing/2014/main" id="{40371E7A-B2B5-52FA-1DEE-AFF2E334E0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Content Placeholder 2">
                <a:extLst>
                  <a:ext uri="{FF2B5EF4-FFF2-40B4-BE49-F238E27FC236}">
                    <a16:creationId xmlns:a16="http://schemas.microsoft.com/office/drawing/2014/main" id="{61966B71-D17D-4B3F-96A2-C6020B72BB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4130637"/>
                <a:ext cx="7860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Content Placeholder 2">
                <a:extLst>
                  <a:ext uri="{FF2B5EF4-FFF2-40B4-BE49-F238E27FC236}">
                    <a16:creationId xmlns:a16="http://schemas.microsoft.com/office/drawing/2014/main" id="{D99CBF38-CB5B-6060-A539-BEF27503C6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Content Placeholder 2">
                <a:extLst>
                  <a:ext uri="{FF2B5EF4-FFF2-40B4-BE49-F238E27FC236}">
                    <a16:creationId xmlns:a16="http://schemas.microsoft.com/office/drawing/2014/main" id="{8F10C6EF-E644-4336-9227-056E6A713A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4130637"/>
                <a:ext cx="7860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id="{EE460C84-0304-BC13-CB5E-0DDF2461430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id="{5F5C2CE8-A38A-4B46-9C01-017A0C6B6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4130637"/>
                <a:ext cx="78603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6B6262C9-0862-24B8-4A60-0DB7D96A502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CFDF62F1-6506-441B-8056-99FA1751A1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4130637"/>
                <a:ext cx="7860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F99C6151-6EEB-83D4-FC80-111910FA4EC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45B2D316-FC11-409A-9DBF-1F472C2E21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4739967"/>
                <a:ext cx="7860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Content Placeholder 2">
                <a:extLst>
                  <a:ext uri="{FF2B5EF4-FFF2-40B4-BE49-F238E27FC236}">
                    <a16:creationId xmlns:a16="http://schemas.microsoft.com/office/drawing/2014/main" id="{1884122B-CF77-CBAA-BB75-8A3C3833887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Content Placeholder 2">
                <a:extLst>
                  <a:ext uri="{FF2B5EF4-FFF2-40B4-BE49-F238E27FC236}">
                    <a16:creationId xmlns:a16="http://schemas.microsoft.com/office/drawing/2014/main" id="{B276B422-0847-409E-BD52-B29E999712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4739967"/>
                <a:ext cx="7860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B688ABAB-BE3B-CCE7-5A59-7838DB9C6D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576A19CB-18B1-4057-B855-9556F24B38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4739967"/>
                <a:ext cx="7860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Content Placeholder 2">
                <a:extLst>
                  <a:ext uri="{FF2B5EF4-FFF2-40B4-BE49-F238E27FC236}">
                    <a16:creationId xmlns:a16="http://schemas.microsoft.com/office/drawing/2014/main" id="{93DDDFE8-8E9F-0AFC-1D13-E888065083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Content Placeholder 2">
                <a:extLst>
                  <a:ext uri="{FF2B5EF4-FFF2-40B4-BE49-F238E27FC236}">
                    <a16:creationId xmlns:a16="http://schemas.microsoft.com/office/drawing/2014/main" id="{1DD9510D-1ACE-4E14-8D9D-4E525E1DBF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4739967"/>
                <a:ext cx="7860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Content Placeholder 2">
                <a:extLst>
                  <a:ext uri="{FF2B5EF4-FFF2-40B4-BE49-F238E27FC236}">
                    <a16:creationId xmlns:a16="http://schemas.microsoft.com/office/drawing/2014/main" id="{334AD129-A224-EEB2-FA09-E3315E1494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Content Placeholder 2">
                <a:extLst>
                  <a:ext uri="{FF2B5EF4-FFF2-40B4-BE49-F238E27FC236}">
                    <a16:creationId xmlns:a16="http://schemas.microsoft.com/office/drawing/2014/main" id="{2BD3666E-5198-4549-A2FD-D5B96AAEF8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5958627"/>
                <a:ext cx="7860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4FA09653-3C8A-8E4A-D201-EF56F06BB6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DD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B2F2EB46-6D3B-4659-BA42-395027CC56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5958627"/>
                <a:ext cx="7860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3CBB02EC-F496-5978-A206-93E80AB2E282}"/>
              </a:ext>
            </a:extLst>
          </p:cNvPr>
          <p:cNvSpPr txBox="1">
            <a:spLocks/>
          </p:cNvSpPr>
          <p:nvPr/>
        </p:nvSpPr>
        <p:spPr>
          <a:xfrm>
            <a:off x="131177" y="869079"/>
            <a:ext cx="11929643" cy="237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The letters A, B, C and D are written separately on four slips of paper. The slips are put in a box and mixed thoroughly. A person draws two slips from the box, one after the other. Describe the sample space for the experiment in following cases:</a:t>
            </a: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 With replacement	(2)  Without replacement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B0640C2-E95E-B192-B943-81D980892E21}"/>
                  </a:ext>
                </a:extLst>
              </p:cNvPr>
              <p:cNvSpPr txBox="1"/>
              <p:nvPr/>
            </p:nvSpPr>
            <p:spPr>
              <a:xfrm>
                <a:off x="8112610" y="3926177"/>
                <a:ext cx="4106379" cy="261770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/>
                            </m:mr>
                            <m:mr>
                              <m:e/>
                            </m:mr>
                          </m:m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0C58009-A413-4968-9A19-3BB3FBAD2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2610" y="3926177"/>
                <a:ext cx="4106379" cy="261770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3C5E2FC0-5417-088D-2844-8CBBAFA1E0C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59904" y="4973419"/>
                <a:ext cx="66765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S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3A8B58C1-C74C-4B58-8FFD-2EC88E29E2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9904" y="4973419"/>
                <a:ext cx="66765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54E4F347-BADD-4E28-D278-F365AC39A29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61389551-59A3-4F73-BC9B-5D1840F8BD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5298498"/>
                <a:ext cx="78603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EBDDE695-94A3-2EB1-B355-DC45421005F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FCBDC482-0F7C-4C60-BFA8-05D21D3C21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5298498"/>
                <a:ext cx="7860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Content Placeholder 2">
                <a:extLst>
                  <a:ext uri="{FF2B5EF4-FFF2-40B4-BE49-F238E27FC236}">
                    <a16:creationId xmlns:a16="http://schemas.microsoft.com/office/drawing/2014/main" id="{D7E9E2B5-B26E-1E37-9BA8-5D067F5A41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Content Placeholder 2">
                <a:extLst>
                  <a:ext uri="{FF2B5EF4-FFF2-40B4-BE49-F238E27FC236}">
                    <a16:creationId xmlns:a16="http://schemas.microsoft.com/office/drawing/2014/main" id="{0609076F-7D49-4B82-8349-4FF71B737B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5298498"/>
                <a:ext cx="786035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Content Placeholder 2">
                <a:extLst>
                  <a:ext uri="{FF2B5EF4-FFF2-40B4-BE49-F238E27FC236}">
                    <a16:creationId xmlns:a16="http://schemas.microsoft.com/office/drawing/2014/main" id="{5B702FF7-A4E4-7AA7-44C7-644217FB9D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4" name="Content Placeholder 2">
                <a:extLst>
                  <a:ext uri="{FF2B5EF4-FFF2-40B4-BE49-F238E27FC236}">
                    <a16:creationId xmlns:a16="http://schemas.microsoft.com/office/drawing/2014/main" id="{3AC2AA60-E712-41F7-9942-956F7B8DB5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5907828"/>
                <a:ext cx="7860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Content Placeholder 2">
                <a:extLst>
                  <a:ext uri="{FF2B5EF4-FFF2-40B4-BE49-F238E27FC236}">
                    <a16:creationId xmlns:a16="http://schemas.microsoft.com/office/drawing/2014/main" id="{D3CB4276-2875-295F-D30C-EC264F6978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5" name="Content Placeholder 2">
                <a:extLst>
                  <a:ext uri="{FF2B5EF4-FFF2-40B4-BE49-F238E27FC236}">
                    <a16:creationId xmlns:a16="http://schemas.microsoft.com/office/drawing/2014/main" id="{4BEF15A4-5082-4553-8D24-656DE0E655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5907828"/>
                <a:ext cx="7860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Content Placeholder 2">
                <a:extLst>
                  <a:ext uri="{FF2B5EF4-FFF2-40B4-BE49-F238E27FC236}">
                    <a16:creationId xmlns:a16="http://schemas.microsoft.com/office/drawing/2014/main" id="{C87A86FC-C273-BD29-520A-D8F64DC5C63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6" name="Content Placeholder 2">
                <a:extLst>
                  <a:ext uri="{FF2B5EF4-FFF2-40B4-BE49-F238E27FC236}">
                    <a16:creationId xmlns:a16="http://schemas.microsoft.com/office/drawing/2014/main" id="{40CCB59A-6586-45D2-801D-80E3F01F1F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4079838"/>
                <a:ext cx="7860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Content Placeholder 2">
                <a:extLst>
                  <a:ext uri="{FF2B5EF4-FFF2-40B4-BE49-F238E27FC236}">
                    <a16:creationId xmlns:a16="http://schemas.microsoft.com/office/drawing/2014/main" id="{D62E40A0-4F9B-D8B4-9263-683AC9B09D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7" name="Content Placeholder 2">
                <a:extLst>
                  <a:ext uri="{FF2B5EF4-FFF2-40B4-BE49-F238E27FC236}">
                    <a16:creationId xmlns:a16="http://schemas.microsoft.com/office/drawing/2014/main" id="{79624AF5-A66E-41C5-9473-9D0C05D412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4079838"/>
                <a:ext cx="7860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Content Placeholder 2">
                <a:extLst>
                  <a:ext uri="{FF2B5EF4-FFF2-40B4-BE49-F238E27FC236}">
                    <a16:creationId xmlns:a16="http://schemas.microsoft.com/office/drawing/2014/main" id="{4D9C781C-F7CF-356A-A37C-324E6FB463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8" name="Content Placeholder 2">
                <a:extLst>
                  <a:ext uri="{FF2B5EF4-FFF2-40B4-BE49-F238E27FC236}">
                    <a16:creationId xmlns:a16="http://schemas.microsoft.com/office/drawing/2014/main" id="{36EDA61F-B165-4098-BA05-D2581DC9B9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4079838"/>
                <a:ext cx="7860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B751C8F6-F47F-5AA4-27EC-51390A638BA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02B51395-0985-4234-8A59-D8607769D0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4689168"/>
                <a:ext cx="7860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D004C36B-6B3E-5103-E01A-1217F6294C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B353FA0C-276C-445E-969F-29A2BF2FD3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4689168"/>
                <a:ext cx="7860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5EC93899-B745-C03F-3859-56958F5086D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FA6AFFDF-1A89-4950-BF86-FE99689CC7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4689168"/>
                <a:ext cx="7860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DE784CBF-18E8-C582-BC02-D80801BD88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8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DC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90E3F68D-1C0C-4611-9128-D1C4AB3D76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8" y="5907828"/>
                <a:ext cx="7860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A9EB10E9-945E-FC2E-B1C6-483DEE5DFFE7}"/>
              </a:ext>
            </a:extLst>
          </p:cNvPr>
          <p:cNvCxnSpPr>
            <a:cxnSpLocks/>
          </p:cNvCxnSpPr>
          <p:nvPr/>
        </p:nvCxnSpPr>
        <p:spPr>
          <a:xfrm>
            <a:off x="7458076" y="3330407"/>
            <a:ext cx="0" cy="315144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9C85643-1152-53C8-6858-DA133FE6D752}"/>
              </a:ext>
            </a:extLst>
          </p:cNvPr>
          <p:cNvSpPr txBox="1"/>
          <p:nvPr/>
        </p:nvSpPr>
        <p:spPr>
          <a:xfrm>
            <a:off x="1625601" y="3398740"/>
            <a:ext cx="326133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With replacement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7B9CA6BE-B56C-618F-A7AD-68CFF429F888}"/>
              </a:ext>
            </a:extLst>
          </p:cNvPr>
          <p:cNvSpPr txBox="1"/>
          <p:nvPr/>
        </p:nvSpPr>
        <p:spPr>
          <a:xfrm>
            <a:off x="7559903" y="3398740"/>
            <a:ext cx="398332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Without replacement</a:t>
            </a:r>
          </a:p>
        </p:txBody>
      </p:sp>
    </p:spTree>
    <p:extLst>
      <p:ext uri="{BB962C8B-B14F-4D97-AF65-F5344CB8AC3E}">
        <p14:creationId xmlns:p14="http://schemas.microsoft.com/office/powerpoint/2010/main" val="3839271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5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"/>
                            </p:stCondLst>
                            <p:childTnLst>
                              <p:par>
                                <p:cTn id="10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50"/>
                            </p:stCondLst>
                            <p:childTnLst>
                              <p:par>
                                <p:cTn id="11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250"/>
                            </p:stCondLst>
                            <p:childTnLst>
                              <p:par>
                                <p:cTn id="1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build="p"/>
      <p:bldP spid="5" grpId="0" build="p"/>
      <p:bldP spid="50" grpId="0" animBg="1"/>
      <p:bldP spid="28" grpId="0" build="p"/>
      <p:bldP spid="29" grpId="0" build="p"/>
      <p:bldP spid="30" grpId="0" build="p"/>
      <p:bldP spid="31" grpId="0" build="p"/>
      <p:bldP spid="32" grpId="0" build="p"/>
      <p:bldP spid="33" grpId="0" build="p"/>
      <p:bldP spid="37" grpId="0" build="p"/>
      <p:bldP spid="38" grpId="0" build="p"/>
      <p:bldP spid="39" grpId="0" build="p"/>
      <p:bldP spid="40" grpId="0" build="p"/>
      <p:bldP spid="41" grpId="0" build="p"/>
      <p:bldP spid="42" grpId="0" build="p"/>
      <p:bldP spid="34" grpId="0" build="p"/>
      <p:bldP spid="35" grpId="0" build="p"/>
      <p:bldP spid="36" grpId="0" build="p"/>
      <p:bldP spid="49" grpId="0" build="p"/>
      <p:bldP spid="24" grpId="0" build="p"/>
      <p:bldP spid="25" grpId="0" build="p"/>
      <p:bldP spid="26" grpId="0" build="p"/>
      <p:bldP spid="27" grpId="0" build="p"/>
      <p:bldP spid="43" grpId="0" build="p"/>
      <p:bldP spid="44" grpId="0" build="p"/>
      <p:bldP spid="45" grpId="0" build="p"/>
      <p:bldP spid="46" grpId="0" build="p"/>
      <p:bldP spid="47" grpId="0" build="p"/>
      <p:bldP spid="48" grpId="0" build="p"/>
      <p:bldP spid="51" grpId="0" build="p"/>
      <p:bldP spid="52" grpId="0" build="p"/>
      <p:bldP spid="53" grpId="0" build="p"/>
      <p:bldP spid="54" grpId="0" build="p"/>
      <p:bldP spid="56" grpId="0"/>
      <p:bldP spid="5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929645" cy="173917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12000"/>
                  </a:lnSpc>
                  <a:spcBef>
                    <a:spcPts val="8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box contains six balls numbered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1, 2, 3, 4, 5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and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r>
                  <a:rPr kumimoji="0" lang="en-US" sz="2800" b="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Two balls are drawn successively </a:t>
                </a: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without replacement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 and the order of drawing is recorded. Write the sample space in </a:t>
                </a: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set-builder form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1739174"/>
              </a:xfrm>
              <a:prstGeom prst="rect">
                <a:avLst/>
              </a:prstGeom>
              <a:blipFill>
                <a:blip r:embed="rId2"/>
                <a:stretch>
                  <a:fillRect l="-1074" r="-1074" b="-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1⇝ Example 18</a:t>
            </a:r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AAEB098-0260-0E44-87D1-D4E9023B7236}"/>
              </a:ext>
            </a:extLst>
          </p:cNvPr>
          <p:cNvSpPr txBox="1">
            <a:spLocks/>
          </p:cNvSpPr>
          <p:nvPr/>
        </p:nvSpPr>
        <p:spPr>
          <a:xfrm>
            <a:off x="131176" y="26880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81A83946-C440-82EE-1B0A-C5D011F0CD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478113" y="3707306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81A83946-C440-82EE-1B0A-C5D011F0CD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8113" y="3707306"/>
                <a:ext cx="392386" cy="43088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7E9E0E7-0FA6-B574-B57A-41CB106C0AE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2764822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7E9E0E7-0FA6-B574-B57A-41CB106C0A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2764822"/>
                <a:ext cx="5940000" cy="446276"/>
              </a:xfrm>
              <a:prstGeom prst="rect">
                <a:avLst/>
              </a:prstGeom>
              <a:blipFill>
                <a:blip r:embed="rId4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EE64491D-398C-5E9B-11E7-9F95CDD3E6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3150798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EE64491D-398C-5E9B-11E7-9F95CDD3E6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3150798"/>
                <a:ext cx="5940000" cy="446276"/>
              </a:xfrm>
              <a:prstGeom prst="rect">
                <a:avLst/>
              </a:prstGeom>
              <a:blipFill>
                <a:blip r:embed="rId5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9D9E5C68-7838-6DB1-6C93-F90819D2510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3536774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9D9E5C68-7838-6DB1-6C93-F90819D251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3536774"/>
                <a:ext cx="5940000" cy="446276"/>
              </a:xfrm>
              <a:prstGeom prst="rect">
                <a:avLst/>
              </a:prstGeom>
              <a:blipFill>
                <a:blip r:embed="rId6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2">
                <a:extLst>
                  <a:ext uri="{FF2B5EF4-FFF2-40B4-BE49-F238E27FC236}">
                    <a16:creationId xmlns:a16="http://schemas.microsoft.com/office/drawing/2014/main" id="{87AFC498-3166-25DE-40D9-DF782C0D9E5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3922750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Content Placeholder 2">
                <a:extLst>
                  <a:ext uri="{FF2B5EF4-FFF2-40B4-BE49-F238E27FC236}">
                    <a16:creationId xmlns:a16="http://schemas.microsoft.com/office/drawing/2014/main" id="{87AFC498-3166-25DE-40D9-DF782C0D9E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3922750"/>
                <a:ext cx="5940000" cy="446276"/>
              </a:xfrm>
              <a:prstGeom prst="rect">
                <a:avLst/>
              </a:prstGeom>
              <a:blipFill>
                <a:blip r:embed="rId7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BD1D1637-4DE2-6F3B-C2E4-19592576FB0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4308726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BD1D1637-4DE2-6F3B-C2E4-19592576FB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4308726"/>
                <a:ext cx="5940000" cy="446276"/>
              </a:xfrm>
              <a:prstGeom prst="rect">
                <a:avLst/>
              </a:prstGeom>
              <a:blipFill>
                <a:blip r:embed="rId8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FD4B56FA-C31F-D0F9-FD14-55F95B4904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86883" y="4694700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FD4B56FA-C31F-D0F9-FD14-55F95B490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883" y="4694700"/>
                <a:ext cx="5940000" cy="446276"/>
              </a:xfrm>
              <a:prstGeom prst="rect">
                <a:avLst/>
              </a:prstGeom>
              <a:blipFill>
                <a:blip r:embed="rId9"/>
                <a:stretch>
                  <a:fillRect r="-2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Left Brace 27">
            <a:extLst>
              <a:ext uri="{FF2B5EF4-FFF2-40B4-BE49-F238E27FC236}">
                <a16:creationId xmlns:a16="http://schemas.microsoft.com/office/drawing/2014/main" id="{432F3F8C-45F0-68BA-6DD6-B34CCABE891A}"/>
              </a:ext>
            </a:extLst>
          </p:cNvPr>
          <p:cNvSpPr/>
          <p:nvPr/>
        </p:nvSpPr>
        <p:spPr>
          <a:xfrm>
            <a:off x="3114790" y="2779275"/>
            <a:ext cx="288000" cy="2340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F62BB84C-E914-9322-A81B-C0C7D9F20C3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25100" y="3707306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F62BB84C-E914-9322-A81B-C0C7D9F20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5100" y="3707306"/>
                <a:ext cx="392386" cy="43088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Left Brace 29">
            <a:extLst>
              <a:ext uri="{FF2B5EF4-FFF2-40B4-BE49-F238E27FC236}">
                <a16:creationId xmlns:a16="http://schemas.microsoft.com/office/drawing/2014/main" id="{C671C545-6DE0-B50B-256F-88E4F30369F5}"/>
              </a:ext>
            </a:extLst>
          </p:cNvPr>
          <p:cNvSpPr/>
          <p:nvPr/>
        </p:nvSpPr>
        <p:spPr>
          <a:xfrm flipH="1">
            <a:off x="9387805" y="2779275"/>
            <a:ext cx="288000" cy="2340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AB9F8A33-982F-F495-E505-D8688EA7BE77}"/>
              </a:ext>
            </a:extLst>
          </p:cNvPr>
          <p:cNvCxnSpPr>
            <a:cxnSpLocks/>
          </p:cNvCxnSpPr>
          <p:nvPr/>
        </p:nvCxnSpPr>
        <p:spPr>
          <a:xfrm>
            <a:off x="3507176" y="2893978"/>
            <a:ext cx="5880629" cy="2225297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892FC959-25FB-E64D-0AA3-464002A74A11}"/>
              </a:ext>
            </a:extLst>
          </p:cNvPr>
          <p:cNvSpPr txBox="1">
            <a:spLocks/>
          </p:cNvSpPr>
          <p:nvPr/>
        </p:nvSpPr>
        <p:spPr>
          <a:xfrm>
            <a:off x="9675805" y="3290552"/>
            <a:ext cx="1545592" cy="138499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 typeface="Wingdings 3" panose="05040102010807070707" pitchFamily="18" charset="2"/>
              <a:buNone/>
              <a:tabLst/>
              <a:defRPr/>
            </a:pPr>
            <a:r>
              <a:rPr kumimoji="0" lang="en-US" sz="2800" b="1" i="0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>
                  <a:solidFill>
                    <a:srgbClr val="0070C0"/>
                  </a:solidFill>
                </a:uFill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Listing</a:t>
            </a:r>
            <a:r>
              <a:rPr kumimoji="0" lang="en-US" sz="2800" b="1" i="0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>
                  <a:solidFill>
                    <a:srgbClr val="0070C0"/>
                  </a:solidFill>
                </a:uFill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 or Roster Form</a:t>
            </a:r>
            <a:endParaRPr kumimoji="0" lang="en-US" sz="2800" b="1" i="0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>
                <a:solidFill>
                  <a:srgbClr val="0070C0"/>
                </a:solidFill>
              </a:uFill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70F90300-CCDE-56B9-EAA2-0C4CE55CA070}"/>
              </a:ext>
            </a:extLst>
          </p:cNvPr>
          <p:cNvSpPr txBox="1">
            <a:spLocks/>
          </p:cNvSpPr>
          <p:nvPr/>
        </p:nvSpPr>
        <p:spPr>
          <a:xfrm>
            <a:off x="131176" y="5228033"/>
            <a:ext cx="2252101" cy="138499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 typeface="Wingdings 3" panose="05040102010807070707" pitchFamily="18" charset="2"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>
                  <a:solidFill>
                    <a:srgbClr val="0070C0"/>
                  </a:solidFill>
                </a:uFill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Set – Builder form of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>
                  <a:solidFill>
                    <a:srgbClr val="0070C0"/>
                  </a:solidFill>
                </a:uFill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 Sample Space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>
                <a:solidFill>
                  <a:srgbClr val="0070C0"/>
                </a:solidFill>
              </a:uFill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2FF320A0-4352-105A-4D8D-42EBF0200B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47016" y="6017688"/>
                <a:ext cx="544526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b</m:t>
                              </m:r>
                            </m:e>
                          </m:d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:1≤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≤6,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US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2FF320A0-4352-105A-4D8D-42EBF0200B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16" y="6017688"/>
                <a:ext cx="544526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C55B03CF-6E92-F41B-CBED-DDC97BE90BB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47016" y="5370102"/>
                <a:ext cx="6536468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b</m:t>
                              </m:r>
                            </m:e>
                          </m:d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: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∈</m:t>
                          </m:r>
                          <m:d>
                            <m:dPr>
                              <m:begChr m:val="{"/>
                              <m:endChr m:val="}"/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1, 2, 3, 4, 5, 6 </m:t>
                              </m:r>
                            </m:e>
                          </m:d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US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C55B03CF-6E92-F41B-CBED-DDC97BE90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16" y="5370102"/>
                <a:ext cx="653646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61A9172-93B8-A5C0-8223-8322FA70888B}"/>
              </a:ext>
            </a:extLst>
          </p:cNvPr>
          <p:cNvSpPr txBox="1">
            <a:spLocks/>
          </p:cNvSpPr>
          <p:nvPr/>
        </p:nvSpPr>
        <p:spPr>
          <a:xfrm>
            <a:off x="8759009" y="5391803"/>
            <a:ext cx="772796" cy="523220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 typeface="Wingdings 3" panose="05040102010807070707" pitchFamily="18" charset="2"/>
              <a:buNone/>
              <a:tabLst/>
              <a:defRPr/>
            </a:pPr>
            <a:r>
              <a:rPr kumimoji="0" lang="en-US" sz="2800" b="1" i="0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>
                  <a:solidFill>
                    <a:srgbClr val="0070C0"/>
                  </a:solidFill>
                </a:uFill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or</a:t>
            </a:r>
          </a:p>
        </p:txBody>
      </p:sp>
    </p:spTree>
    <p:extLst>
      <p:ext uri="{BB962C8B-B14F-4D97-AF65-F5344CB8AC3E}">
        <p14:creationId xmlns:p14="http://schemas.microsoft.com/office/powerpoint/2010/main" val="1478200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21" grpId="0"/>
      <p:bldP spid="26" grpId="0"/>
      <p:bldP spid="27" grpId="0"/>
      <p:bldP spid="28" grpId="0" animBg="1"/>
      <p:bldP spid="29" grpId="0"/>
      <p:bldP spid="30" grpId="0" animBg="1"/>
      <p:bldP spid="38" grpId="0" build="allAtOnce"/>
      <p:bldP spid="39" grpId="0" build="allAtOnce"/>
      <p:bldP spid="40" grpId="0" build="allAtOnce"/>
      <p:bldP spid="41" grpId="0" build="allAtOnce"/>
      <p:bldP spid="42" grpId="0" build="allAtOnce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8D0C014-5298-3A06-C0C7-800DA6699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67EB9B-D4CA-4D07-5A40-D87F2D24E4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Summary</a:t>
            </a:r>
            <a:endParaRPr lang="en-US" dirty="0"/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F67CEC86-20EC-4061-CFD3-6AC51E630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889789"/>
              </p:ext>
            </p:extLst>
          </p:nvPr>
        </p:nvGraphicFramePr>
        <p:xfrm>
          <a:off x="259533" y="1049922"/>
          <a:ext cx="11672934" cy="4297680"/>
        </p:xfrm>
        <a:graphic>
          <a:graphicData uri="http://schemas.openxmlformats.org/drawingml/2006/table">
            <a:tbl>
              <a:tblPr firstRow="1" firstCol="1" bandRow="1">
                <a:tableStyleId>{10A1B5D5-9B99-4C35-A422-299274C87663}</a:tableStyleId>
              </a:tblPr>
              <a:tblGrid>
                <a:gridCol w="5966169">
                  <a:extLst>
                    <a:ext uri="{9D8B030D-6E8A-4147-A177-3AD203B41FA5}">
                      <a16:colId xmlns:a16="http://schemas.microsoft.com/office/drawing/2014/main" val="2547301257"/>
                    </a:ext>
                  </a:extLst>
                </a:gridCol>
                <a:gridCol w="5706765">
                  <a:extLst>
                    <a:ext uri="{9D8B030D-6E8A-4147-A177-3AD203B41FA5}">
                      <a16:colId xmlns:a16="http://schemas.microsoft.com/office/drawing/2014/main" val="3457936607"/>
                    </a:ext>
                  </a:extLst>
                </a:gridCol>
              </a:tblGrid>
              <a:tr h="64008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dirty="0">
                          <a:effectLst/>
                        </a:rPr>
                        <a:t>With Replacement</a:t>
                      </a:r>
                      <a:endParaRPr lang="en-IN" sz="2400" b="1" dirty="0">
                        <a:solidFill>
                          <a:srgbClr val="C0000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dirty="0">
                          <a:effectLst/>
                        </a:rPr>
                        <a:t>Without Replacement</a:t>
                      </a:r>
                      <a:endParaRPr lang="en-IN" sz="2400" b="1" dirty="0">
                        <a:solidFill>
                          <a:srgbClr val="C0000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284119"/>
                  </a:ext>
                </a:extLst>
              </a:tr>
              <a:tr h="73152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Select → Replace → Select Again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Select → Do Not Replace → Select Again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4448670"/>
                  </a:ext>
                </a:extLst>
              </a:tr>
              <a:tr h="73152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Same item may be selected again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Same item cannot be selected again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5177688"/>
                  </a:ext>
                </a:extLst>
              </a:tr>
              <a:tr h="73152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Collection (Sample Space) remains unchanged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Collection (Sample Space) changes after each selection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8260909"/>
                  </a:ext>
                </a:extLst>
              </a:tr>
              <a:tr h="73152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>
                          <a:solidFill>
                            <a:srgbClr val="002060"/>
                          </a:solidFill>
                          <a:effectLst/>
                        </a:rPr>
                        <a:t>Selections are independent</a:t>
                      </a:r>
                      <a:endParaRPr lang="en-IN" sz="2400" b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Selections are dependent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8456208"/>
                  </a:ext>
                </a:extLst>
              </a:tr>
              <a:tr h="73152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>
                          <a:solidFill>
                            <a:srgbClr val="002060"/>
                          </a:solidFill>
                          <a:effectLst/>
                        </a:rPr>
                        <a:t>Probabilities remain the same</a:t>
                      </a:r>
                      <a:endParaRPr lang="en-IN" sz="2400" b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1200"/>
                        </a:spcBef>
                        <a:buNone/>
                        <a:tabLst>
                          <a:tab pos="615950" algn="l"/>
                        </a:tabLst>
                      </a:pPr>
                      <a:r>
                        <a:rPr lang="en-US" sz="2400" b="0" dirty="0">
                          <a:solidFill>
                            <a:srgbClr val="002060"/>
                          </a:solidFill>
                          <a:effectLst/>
                        </a:rPr>
                        <a:t>Probabilities change after each selection</a:t>
                      </a:r>
                      <a:endParaRPr lang="en-IN" sz="2400" b="0" dirty="0">
                        <a:solidFill>
                          <a:srgbClr val="002060"/>
                        </a:solidFill>
                        <a:effectLst/>
                        <a:latin typeface="Cambria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6447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693488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Event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dirty="0"/>
                  <a:t>Any </a:t>
                </a:r>
                <a:r>
                  <a:rPr lang="en-US" b="1" dirty="0">
                    <a:solidFill>
                      <a:srgbClr val="0070C0"/>
                    </a:solidFill>
                  </a:rPr>
                  <a:t>subset of a sample space</a:t>
                </a:r>
                <a:r>
                  <a:rPr lang="en-US" b="1" dirty="0"/>
                  <a:t> </a:t>
                </a:r>
                <a:r>
                  <a:rPr lang="en-US" dirty="0"/>
                  <a:t>is known as an event.</a:t>
                </a:r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GB" dirty="0"/>
              </a:p>
              <a:p>
                <a:pPr lvl="1"/>
                <a:r>
                  <a:rPr lang="en-GB" dirty="0"/>
                  <a:t>In experiment of Rolling a six-sided die and observing the number (or dots) that appear on top.</a:t>
                </a:r>
              </a:p>
              <a:p>
                <a:pPr marL="630238" lvl="1" indent="0">
                  <a:buNone/>
                </a:pPr>
                <a:r>
                  <a:rPr lang="en-GB" dirty="0"/>
                  <a:t>A sample space of an experiment is 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even number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non-prime number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: number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dirty="0"/>
                  <a:t>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D</m:t>
                    </m:r>
                  </m:oMath>
                </a14:m>
                <a:r>
                  <a:rPr lang="en-GB" dirty="0"/>
                  <a:t> : number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dirty="0"/>
                  <a:t> appears on top.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 b="-286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6D204EB-F9B5-4015-B377-E6748B0B557D}"/>
                  </a:ext>
                </a:extLst>
              </p:cNvPr>
              <p:cNvSpPr txBox="1"/>
              <p:nvPr/>
            </p:nvSpPr>
            <p:spPr>
              <a:xfrm>
                <a:off x="7457355" y="3296157"/>
                <a:ext cx="4515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6D204EB-F9B5-4015-B377-E6748B0B5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3296157"/>
                <a:ext cx="4515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7E8746D-7086-49E1-8FAC-3D4913251C89}"/>
                  </a:ext>
                </a:extLst>
              </p:cNvPr>
              <p:cNvSpPr txBox="1"/>
              <p:nvPr/>
            </p:nvSpPr>
            <p:spPr>
              <a:xfrm>
                <a:off x="7457355" y="3959965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7E8746D-7086-49E1-8FAC-3D4913251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3959965"/>
                <a:ext cx="4416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96955EE-D7CB-49A7-A470-14039A461953}"/>
                  </a:ext>
                </a:extLst>
              </p:cNvPr>
              <p:cNvSpPr txBox="1"/>
              <p:nvPr/>
            </p:nvSpPr>
            <p:spPr>
              <a:xfrm>
                <a:off x="7457355" y="4616906"/>
                <a:ext cx="4416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96955EE-D7CB-49A7-A470-14039A4619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4616906"/>
                <a:ext cx="44168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D33F60-D6EB-4306-9BBB-6F9C1D66552E}"/>
                  </a:ext>
                </a:extLst>
              </p:cNvPr>
              <p:cNvSpPr txBox="1"/>
              <p:nvPr/>
            </p:nvSpPr>
            <p:spPr>
              <a:xfrm>
                <a:off x="7457355" y="5273847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D33F60-D6EB-4306-9BBB-6F9C1D6655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5273847"/>
                <a:ext cx="4416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031C965-3DFA-412D-BB3A-778F3DCB81B1}"/>
                  </a:ext>
                </a:extLst>
              </p:cNvPr>
              <p:cNvSpPr txBox="1"/>
              <p:nvPr/>
            </p:nvSpPr>
            <p:spPr>
              <a:xfrm>
                <a:off x="7457355" y="5930790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031C965-3DFA-412D-BB3A-778F3DCB8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5930790"/>
                <a:ext cx="44168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006EC6A-ED14-4B85-A99E-6D4C388CEE66}"/>
                  </a:ext>
                </a:extLst>
              </p:cNvPr>
              <p:cNvSpPr txBox="1"/>
              <p:nvPr/>
            </p:nvSpPr>
            <p:spPr>
              <a:xfrm>
                <a:off x="7797121" y="3959965"/>
                <a:ext cx="24461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2, 4, 6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006EC6A-ED14-4B85-A99E-6D4C388CEE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21" y="3959965"/>
                <a:ext cx="244617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08B2960-B7BB-4C2E-BA29-5D749516F39F}"/>
                  </a:ext>
                </a:extLst>
              </p:cNvPr>
              <p:cNvSpPr txBox="1"/>
              <p:nvPr/>
            </p:nvSpPr>
            <p:spPr>
              <a:xfrm>
                <a:off x="7797119" y="4616906"/>
                <a:ext cx="22599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08B2960-B7BB-4C2E-BA29-5D749516F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4616906"/>
                <a:ext cx="22599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6353910-0F52-4AC3-882B-AB995360B3EE}"/>
                  </a:ext>
                </a:extLst>
              </p:cNvPr>
              <p:cNvSpPr txBox="1"/>
              <p:nvPr/>
            </p:nvSpPr>
            <p:spPr>
              <a:xfrm>
                <a:off x="7797119" y="5273847"/>
                <a:ext cx="7824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6353910-0F52-4AC3-882B-AB995360B3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5273847"/>
                <a:ext cx="78246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FE61FDB-CBE2-477A-ABB5-6AC83B7B5106}"/>
                  </a:ext>
                </a:extLst>
              </p:cNvPr>
              <p:cNvSpPr txBox="1"/>
              <p:nvPr/>
            </p:nvSpPr>
            <p:spPr>
              <a:xfrm>
                <a:off x="7797119" y="5930790"/>
                <a:ext cx="32237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FE61FDB-CBE2-477A-ABB5-6AC83B7B5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5930790"/>
                <a:ext cx="32237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4AFCEA9-72E0-4FFE-AF82-96E76CD19388}"/>
                  </a:ext>
                </a:extLst>
              </p:cNvPr>
              <p:cNvSpPr txBox="1"/>
              <p:nvPr/>
            </p:nvSpPr>
            <p:spPr>
              <a:xfrm>
                <a:off x="10969409" y="5930790"/>
                <a:ext cx="7824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4AFCEA9-72E0-4FFE-AF82-96E76CD193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69409" y="5930790"/>
                <a:ext cx="78246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A35E8FE-7346-46D7-993F-B26B722E821E}"/>
                  </a:ext>
                </a:extLst>
              </p:cNvPr>
              <p:cNvSpPr txBox="1"/>
              <p:nvPr/>
            </p:nvSpPr>
            <p:spPr>
              <a:xfrm>
                <a:off x="7797119" y="3296157"/>
                <a:ext cx="3539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.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A35E8FE-7346-46D7-993F-B26B722E82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3296157"/>
                <a:ext cx="353982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43695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7" grpId="0"/>
      <p:bldP spid="9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893880"/>
              </a:xfrm>
            </p:spPr>
            <p:txBody>
              <a:bodyPr/>
              <a:lstStyle/>
              <a:p>
                <a:pPr lvl="0"/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Impossible (Null) Event</a:t>
                </a:r>
              </a:p>
              <a:p>
                <a:pPr lvl="1"/>
                <a:r>
                  <a:rPr lang="en-US" dirty="0"/>
                  <a:t>An impossible event is an event that can </a:t>
                </a:r>
                <a:r>
                  <a:rPr lang="en-US" b="1" dirty="0">
                    <a:solidFill>
                      <a:srgbClr val="0070C0"/>
                    </a:solidFill>
                  </a:rPr>
                  <a:t>never occur</a:t>
                </a:r>
                <a:r>
                  <a:rPr lang="en-US" dirty="0"/>
                  <a:t>.</a:t>
                </a:r>
                <a:endParaRPr lang="en-US" b="1" dirty="0"/>
              </a:p>
              <a:p>
                <a:pPr lvl="1"/>
                <a:r>
                  <a:rPr lang="en-US" dirty="0"/>
                  <a:t>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is known as impossible event 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𝛟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In </a:t>
                </a:r>
                <a:r>
                  <a:rPr lang="en-IN" dirty="0"/>
                  <a:t>previous</a:t>
                </a:r>
                <a:r>
                  <a:rPr lang="en-US" dirty="0"/>
                  <a:t> example,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lang="en-US" dirty="0"/>
                  <a:t> therefore it is impossible event.</a:t>
                </a:r>
              </a:p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Sure (Certain) Event</a:t>
                </a:r>
              </a:p>
              <a:p>
                <a:pPr lvl="1"/>
                <a:r>
                  <a:rPr lang="en-US" dirty="0"/>
                  <a:t>A certain event is an event that </a:t>
                </a:r>
                <a:r>
                  <a:rPr lang="en-US" b="1" dirty="0">
                    <a:solidFill>
                      <a:srgbClr val="0070C0"/>
                    </a:solidFill>
                  </a:rPr>
                  <a:t>always occurs</a:t>
                </a:r>
                <a:r>
                  <a:rPr lang="en-US" b="1" dirty="0"/>
                  <a:t>.</a:t>
                </a:r>
              </a:p>
              <a:p>
                <a:pPr lvl="1"/>
                <a:r>
                  <a:rPr lang="en-US" dirty="0"/>
                  <a:t>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is known as sure event 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𝐒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In </a:t>
                </a:r>
                <a:r>
                  <a:rPr lang="en-IN" dirty="0"/>
                  <a:t>previous</a:t>
                </a:r>
                <a:r>
                  <a:rPr lang="en-US" dirty="0"/>
                  <a:t> example,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therefore it is sure event.</a:t>
                </a:r>
                <a:endParaRPr lang="en-IN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893880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</p:spTree>
    <p:extLst>
      <p:ext uri="{BB962C8B-B14F-4D97-AF65-F5344CB8AC3E}">
        <p14:creationId xmlns:p14="http://schemas.microsoft.com/office/powerpoint/2010/main" val="687689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/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Simple (Elementary) Event</a:t>
                </a:r>
              </a:p>
              <a:p>
                <a:pPr lvl="1"/>
                <a:r>
                  <a:rPr lang="en-US" dirty="0"/>
                  <a:t>If an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has </a:t>
                </a:r>
                <a:r>
                  <a:rPr lang="en-US" b="1" dirty="0">
                    <a:solidFill>
                      <a:srgbClr val="FF0000"/>
                    </a:solidFill>
                  </a:rPr>
                  <a:t>only one</a:t>
                </a:r>
                <a:r>
                  <a:rPr lang="en-US" dirty="0"/>
                  <a:t> sample point of a sample space, then it is known as a simple (or elementary) event.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US" dirty="0"/>
              </a:p>
              <a:p>
                <a:pPr lvl="2"/>
                <a:r>
                  <a:rPr lang="en-GB" dirty="0"/>
                  <a:t>For experiment of tossing two coins, a sample space is</a:t>
                </a:r>
              </a:p>
              <a:p>
                <a:pPr marL="89535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</m:t>
                          </m:r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895350" lvl="2" indent="0" algn="l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i="1" dirty="0">
                        <a:latin typeface="Cambria Math" panose="02040503050406030204" pitchFamily="18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i="1" dirty="0">
                        <a:latin typeface="Cambria Math" panose="02040503050406030204" pitchFamily="18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i="0" dirty="0">
                    <a:latin typeface="+mj-lt"/>
                  </a:rPr>
                  <a:t> &amp; 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are simple events.</a:t>
                </a:r>
                <a:endParaRPr lang="en-US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</p:spTree>
    <p:extLst>
      <p:ext uri="{BB962C8B-B14F-4D97-AF65-F5344CB8AC3E}">
        <p14:creationId xmlns:p14="http://schemas.microsoft.com/office/powerpoint/2010/main" val="280659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Compound Event</a:t>
                </a:r>
              </a:p>
              <a:p>
                <a:pPr lvl="1"/>
                <a:r>
                  <a:rPr lang="en-US" dirty="0"/>
                  <a:t>If an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has </a:t>
                </a:r>
                <a:r>
                  <a:rPr lang="en-US" b="1" dirty="0">
                    <a:solidFill>
                      <a:srgbClr val="0070C0"/>
                    </a:solidFill>
                  </a:rPr>
                  <a:t>more than one</a:t>
                </a:r>
                <a:r>
                  <a:rPr lang="en-US" dirty="0">
                    <a:solidFill>
                      <a:srgbClr val="0070C0"/>
                    </a:solidFill>
                  </a:rPr>
                  <a:t> </a:t>
                </a:r>
                <a:r>
                  <a:rPr lang="en-US" dirty="0"/>
                  <a:t>sample point of a sample space, then it is known as a compound event.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US" dirty="0"/>
              </a:p>
              <a:p>
                <a:pPr lvl="2"/>
                <a:r>
                  <a:rPr lang="en-GB" dirty="0"/>
                  <a:t>For experiment of tossing a coin thrice, a sample space is</a:t>
                </a:r>
              </a:p>
              <a:p>
                <a:pPr marL="89535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HHH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TTT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8953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Exactly one head appeared</a:t>
                </a:r>
              </a:p>
              <a:p>
                <a:pPr marL="8953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At least two tails appeared</a:t>
                </a:r>
              </a:p>
              <a:p>
                <a:pPr marL="895350" lvl="2" indent="0">
                  <a:buNone/>
                </a:pPr>
                <a:r>
                  <a:rPr lang="en-GB" dirty="0"/>
                  <a:t>Here,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are </a:t>
                </a:r>
                <a:r>
                  <a:rPr lang="en-IN" dirty="0"/>
                  <a:t>compound events.</a:t>
                </a:r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 b="-74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/>
              <p:nvPr/>
            </p:nvSpPr>
            <p:spPr>
              <a:xfrm>
                <a:off x="6617606" y="4445012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7606" y="4445012"/>
                <a:ext cx="4644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/>
              <p:nvPr/>
            </p:nvSpPr>
            <p:spPr>
              <a:xfrm>
                <a:off x="6617607" y="5120475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7607" y="5120475"/>
                <a:ext cx="4644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/>
              <p:nvPr/>
            </p:nvSpPr>
            <p:spPr>
              <a:xfrm>
                <a:off x="7008445" y="5120475"/>
                <a:ext cx="42691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8445" y="5120475"/>
                <a:ext cx="426915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/>
              <p:nvPr/>
            </p:nvSpPr>
            <p:spPr>
              <a:xfrm>
                <a:off x="7008445" y="4445012"/>
                <a:ext cx="3551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8445" y="4445012"/>
                <a:ext cx="35519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C3790FB-2A64-4C01-8489-FECC0009BA74}"/>
              </a:ext>
            </a:extLst>
          </p:cNvPr>
          <p:cNvCxnSpPr/>
          <p:nvPr/>
        </p:nvCxnSpPr>
        <p:spPr>
          <a:xfrm>
            <a:off x="4804180" y="4322323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DB925D3-7D87-44BC-8C00-22B1BD87D771}"/>
              </a:ext>
            </a:extLst>
          </p:cNvPr>
          <p:cNvCxnSpPr/>
          <p:nvPr/>
        </p:nvCxnSpPr>
        <p:spPr>
          <a:xfrm>
            <a:off x="6592612" y="4322323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071D781-4588-44F6-83E4-E48469AF6A3A}"/>
              </a:ext>
            </a:extLst>
          </p:cNvPr>
          <p:cNvCxnSpPr/>
          <p:nvPr/>
        </p:nvCxnSpPr>
        <p:spPr>
          <a:xfrm>
            <a:off x="7494312" y="4322323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8968CC97-6D8D-4CE6-8127-B1801B27ADAF}"/>
              </a:ext>
            </a:extLst>
          </p:cNvPr>
          <p:cNvCxnSpPr/>
          <p:nvPr/>
        </p:nvCxnSpPr>
        <p:spPr>
          <a:xfrm>
            <a:off x="8361087" y="4322323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3681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7" grpId="0"/>
      <p:bldP spid="10" grpId="0"/>
      <p:bldP spid="1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Complementary Event</a:t>
                </a:r>
              </a:p>
              <a:p>
                <a:pPr lvl="1"/>
                <a:r>
                  <a:rPr lang="en-US" dirty="0"/>
                  <a:t>The complement of an event </a:t>
                </a:r>
                <a14:m>
                  <m:oMath xmlns:m="http://schemas.openxmlformats.org/officeDocument/2006/math">
                    <m:r>
                      <a:rPr lang="en-IN" b="1"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consists of all outcomes in the sample space that are not in </a:t>
                </a:r>
                <a14:m>
                  <m:oMath xmlns:m="http://schemas.openxmlformats.org/officeDocument/2006/math">
                    <m:r>
                      <a:rPr lang="en-IN" b="1"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Notation: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b="1" i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or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acc>
                          <m:accPr>
                            <m:chr m:val="̅"/>
                            <m:ctrlPr>
                              <a:rPr lang="en-IN" b="1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</m:acc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Note that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It is also known as the event “</a:t>
                </a:r>
                <a:r>
                  <a:rPr lang="en-US" b="1" dirty="0">
                    <a:solidFill>
                      <a:srgbClr val="FF0000"/>
                    </a:solidFill>
                  </a:rPr>
                  <a:t>not </a:t>
                </a:r>
                <a14:m>
                  <m:oMath xmlns:m="http://schemas.openxmlformats.org/officeDocument/2006/math">
                    <m:r>
                      <a:rPr lang="en-IN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dirty="0"/>
                  <a:t>”.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9697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marL="0" lvl="0" indent="0">
                  <a:buNone/>
                </a:pP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Complementary Event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example,</a:t>
                </a:r>
              </a:p>
              <a:p>
                <a:pPr lvl="1"/>
                <a:r>
                  <a:rPr lang="en-US" dirty="0"/>
                  <a:t>F</a:t>
                </a:r>
                <a:r>
                  <a:rPr lang="en-GB" dirty="0"/>
                  <a:t>or experiment of tossing a coin thrice, a sample space is</a:t>
                </a:r>
              </a:p>
              <a:p>
                <a:pPr marL="1162050" lvl="2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HHH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HHT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HTH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HTT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THH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THT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TTH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TTT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11620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Exactly one head appeared</a:t>
                </a:r>
              </a:p>
              <a:p>
                <a:pPr marL="1162050" lvl="2" indent="0">
                  <a:buNone/>
                </a:pPr>
                <a:endParaRPr lang="en-US" dirty="0"/>
              </a:p>
              <a:p>
                <a:pPr marL="1162050" lvl="2" indent="0">
                  <a:buNone/>
                </a:pPr>
                <a:r>
                  <a:rPr lang="en-US" dirty="0"/>
                  <a:t>The complementary event corresponds to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is as follow:</a:t>
                </a:r>
                <a:endParaRPr lang="en-US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/>
              <p:nvPr/>
            </p:nvSpPr>
            <p:spPr>
              <a:xfrm>
                <a:off x="1340756" y="3957447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756" y="3957447"/>
                <a:ext cx="4644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/>
              <p:nvPr/>
            </p:nvSpPr>
            <p:spPr>
              <a:xfrm>
                <a:off x="1340757" y="5233383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757" y="5233383"/>
                <a:ext cx="4644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/>
              <p:nvPr/>
            </p:nvSpPr>
            <p:spPr>
              <a:xfrm>
                <a:off x="1731595" y="5233383"/>
                <a:ext cx="63456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1595" y="5233383"/>
                <a:ext cx="634560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/>
              <p:nvPr/>
            </p:nvSpPr>
            <p:spPr>
              <a:xfrm>
                <a:off x="1731595" y="3957447"/>
                <a:ext cx="3551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1595" y="3957447"/>
                <a:ext cx="35519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259E6FD-072B-44B0-9F2E-860021B86368}"/>
              </a:ext>
            </a:extLst>
          </p:cNvPr>
          <p:cNvCxnSpPr/>
          <p:nvPr/>
        </p:nvCxnSpPr>
        <p:spPr>
          <a:xfrm>
            <a:off x="514101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7D2A7AB-371E-403E-9F44-26B9ED1F7EA1}"/>
              </a:ext>
            </a:extLst>
          </p:cNvPr>
          <p:cNvCxnSpPr/>
          <p:nvPr/>
        </p:nvCxnSpPr>
        <p:spPr>
          <a:xfrm>
            <a:off x="693933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8B16660-8413-4177-B097-A0DD89BF32C1}"/>
              </a:ext>
            </a:extLst>
          </p:cNvPr>
          <p:cNvCxnSpPr/>
          <p:nvPr/>
        </p:nvCxnSpPr>
        <p:spPr>
          <a:xfrm>
            <a:off x="784611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7E0CD9B-4BB8-0DDA-AF8B-BDC422954319}"/>
                  </a:ext>
                </a:extLst>
              </p:cNvPr>
              <p:cNvSpPr txBox="1"/>
              <p:nvPr/>
            </p:nvSpPr>
            <p:spPr>
              <a:xfrm>
                <a:off x="6939332" y="5233383"/>
                <a:ext cx="16128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7E0CD9B-4BB8-0DDA-AF8B-BDC422954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9332" y="5233383"/>
                <a:ext cx="161285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92913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10" grpId="0"/>
      <p:bldP spid="11" grpId="0"/>
      <p:bldP spid="3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E02B-8B06-41EF-1927-B8C8A8A44E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87ED3736-7AC0-24FA-1FD1-BC7AC40C9D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29645" cy="297894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Consider the experiment of rolling an </a:t>
                </a: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unbiased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die. Write each event defined below and determine its type (impossible, sure, simple, or compound):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an even number.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G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number greater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H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number less than or equal to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2978946"/>
              </a:xfrm>
              <a:prstGeom prst="rect">
                <a:avLst/>
              </a:prstGeom>
              <a:blipFill>
                <a:blip r:embed="rId3"/>
                <a:stretch>
                  <a:fillRect l="-1074" t="-2249" r="-1074" b="-633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8544D5F-0420-FD14-7031-03C877FC43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 ⇝ Example 20 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01B36CA-C18C-6483-ADFB-022B1F851F2A}"/>
              </a:ext>
            </a:extLst>
          </p:cNvPr>
          <p:cNvSpPr txBox="1">
            <a:spLocks/>
          </p:cNvSpPr>
          <p:nvPr/>
        </p:nvSpPr>
        <p:spPr>
          <a:xfrm>
            <a:off x="131178" y="399733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BCD07E3-73EB-4D4C-70F9-CE88BD305202}"/>
                  </a:ext>
                </a:extLst>
              </p:cNvPr>
              <p:cNvSpPr txBox="1"/>
              <p:nvPr/>
            </p:nvSpPr>
            <p:spPr>
              <a:xfrm>
                <a:off x="1594218" y="4523159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52860FE-7852-4914-973D-C1C837EC2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523159"/>
                <a:ext cx="86783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7A7F06E-2562-93C5-5361-F1BB8C02D10D}"/>
                  </a:ext>
                </a:extLst>
              </p:cNvPr>
              <p:cNvSpPr txBox="1"/>
              <p:nvPr/>
            </p:nvSpPr>
            <p:spPr>
              <a:xfrm>
                <a:off x="1594218" y="5048981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C52E7DC-7F9D-4C34-8328-5E77FF5DAD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048981"/>
                <a:ext cx="86783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1EA41D-A324-39A0-73AE-1A7F40754B45}"/>
                  </a:ext>
                </a:extLst>
              </p:cNvPr>
              <p:cNvSpPr txBox="1"/>
              <p:nvPr/>
            </p:nvSpPr>
            <p:spPr>
              <a:xfrm>
                <a:off x="1594218" y="5574803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G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04202F8D-62DF-44CE-BBB3-97801EB1D2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574803"/>
                <a:ext cx="86783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085E00A-E855-52CB-7C1D-4500E26C86CA}"/>
                  </a:ext>
                </a:extLst>
              </p:cNvPr>
              <p:cNvSpPr txBox="1"/>
              <p:nvPr/>
            </p:nvSpPr>
            <p:spPr>
              <a:xfrm>
                <a:off x="1594219" y="6100627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36962C-D1EC-462B-BE48-8F945CF757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9" y="6100627"/>
                <a:ext cx="86783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360EACF0-39B0-7EB6-FC6F-134FA132AADB}"/>
              </a:ext>
            </a:extLst>
          </p:cNvPr>
          <p:cNvSpPr txBox="1"/>
          <p:nvPr/>
        </p:nvSpPr>
        <p:spPr>
          <a:xfrm>
            <a:off x="6167969" y="4522292"/>
            <a:ext cx="224771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Simple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D4F775D-B66F-859C-EFBE-B9DC81C492D3}"/>
              </a:ext>
            </a:extLst>
          </p:cNvPr>
          <p:cNvSpPr txBox="1"/>
          <p:nvPr/>
        </p:nvSpPr>
        <p:spPr>
          <a:xfrm>
            <a:off x="6167969" y="5048405"/>
            <a:ext cx="280652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Compound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66BDA76-DB37-E9BD-3B89-A9E9E282B501}"/>
              </a:ext>
            </a:extLst>
          </p:cNvPr>
          <p:cNvSpPr txBox="1"/>
          <p:nvPr/>
        </p:nvSpPr>
        <p:spPr>
          <a:xfrm>
            <a:off x="6167969" y="5571625"/>
            <a:ext cx="280652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Impossible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378134-0BC9-4F7C-E042-B1CB8FC0A170}"/>
              </a:ext>
            </a:extLst>
          </p:cNvPr>
          <p:cNvSpPr txBox="1"/>
          <p:nvPr/>
        </p:nvSpPr>
        <p:spPr>
          <a:xfrm>
            <a:off x="6167969" y="6100627"/>
            <a:ext cx="224771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Sure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A063F43-F183-DB6E-A819-0FC5BC25E20F}"/>
                  </a:ext>
                </a:extLst>
              </p:cNvPr>
              <p:cNvSpPr txBox="1"/>
              <p:nvPr/>
            </p:nvSpPr>
            <p:spPr>
              <a:xfrm>
                <a:off x="1594218" y="3997337"/>
                <a:ext cx="370591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EC1D0-7991-43F9-A931-2753CF8B04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997337"/>
                <a:ext cx="370591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BCABAFF-F790-A32C-EFAC-A46D44279C58}"/>
                  </a:ext>
                </a:extLst>
              </p:cNvPr>
              <p:cNvSpPr txBox="1"/>
              <p:nvPr/>
            </p:nvSpPr>
            <p:spPr>
              <a:xfrm>
                <a:off x="5116175" y="6100627"/>
                <a:ext cx="7554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668DAE1-876C-4B39-A0B6-A27BBD280B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6175" y="6100627"/>
                <a:ext cx="75545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06F1EA-9869-FED1-DDA7-50A462129507}"/>
                  </a:ext>
                </a:extLst>
              </p:cNvPr>
              <p:cNvSpPr txBox="1"/>
              <p:nvPr/>
            </p:nvSpPr>
            <p:spPr>
              <a:xfrm>
                <a:off x="2265020" y="4523160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4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535990F-363E-411D-B4A6-9467291B85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4523160"/>
                <a:ext cx="86783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60B676E-0CC3-D1BD-5D54-260B765BC6F0}"/>
                  </a:ext>
                </a:extLst>
              </p:cNvPr>
              <p:cNvSpPr txBox="1"/>
              <p:nvPr/>
            </p:nvSpPr>
            <p:spPr>
              <a:xfrm>
                <a:off x="2265020" y="5048982"/>
                <a:ext cx="17225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2, 4, 6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FD6E1B1-CA7A-433D-9725-D5E5DB9D9C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5048982"/>
                <a:ext cx="172259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BBAC3DD-1738-2F6F-63E2-F4D2520CD276}"/>
                  </a:ext>
                </a:extLst>
              </p:cNvPr>
              <p:cNvSpPr txBox="1"/>
              <p:nvPr/>
            </p:nvSpPr>
            <p:spPr>
              <a:xfrm>
                <a:off x="2265020" y="5574804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80AB095-21D0-40B5-B6FB-E582D3B9F7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5574804"/>
                <a:ext cx="867836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1D56B7-05A5-F955-A3EA-CB87A39F4F9A}"/>
                  </a:ext>
                </a:extLst>
              </p:cNvPr>
              <p:cNvSpPr txBox="1"/>
              <p:nvPr/>
            </p:nvSpPr>
            <p:spPr>
              <a:xfrm>
                <a:off x="2265019" y="6100627"/>
                <a:ext cx="285115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7C54F9C-37D6-42FD-936B-346A5237D6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9" y="6100627"/>
                <a:ext cx="285115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47221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 animBg="1"/>
      <p:bldP spid="27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2D5E05-0748-F8CB-1F8C-FD1EAE77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E72CBB59-5FE0-0686-FB44-2260BBB55F8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29645" cy="219637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In a random experiment, the total number of events is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128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</a:t>
                </a:r>
                <a:r>
                  <a:rPr kumimoji="0" lang="en-US" sz="2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) Find the number of elements in the sample space.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(ii) How many simple events are possible?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(iii) How many events are neither simple nor impossible?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E72CBB59-5FE0-0686-FB44-2260BBB55F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2196373"/>
              </a:xfrm>
              <a:prstGeom prst="rect">
                <a:avLst/>
              </a:prstGeom>
              <a:blipFill>
                <a:blip r:embed="rId3"/>
                <a:stretch>
                  <a:fillRect l="-1074" b="-470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B9E82A1-C957-1CE4-5B79-B2318649F9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 ⇝ Example 21 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21D9502-3D08-E983-6C01-3F2BBDDA831F}"/>
              </a:ext>
            </a:extLst>
          </p:cNvPr>
          <p:cNvSpPr txBox="1">
            <a:spLocks/>
          </p:cNvSpPr>
          <p:nvPr/>
        </p:nvSpPr>
        <p:spPr>
          <a:xfrm>
            <a:off x="131176" y="328929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F76754F-B78A-9A2E-B4F1-9E857E116546}"/>
                  </a:ext>
                </a:extLst>
              </p:cNvPr>
              <p:cNvSpPr txBox="1"/>
              <p:nvPr/>
            </p:nvSpPr>
            <p:spPr>
              <a:xfrm>
                <a:off x="1594216" y="3245885"/>
                <a:ext cx="10597784" cy="119975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lvl="0">
                  <a:lnSpc>
                    <a:spcPct val="130000"/>
                  </a:lnSpc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We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know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that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if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a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sample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space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has</m:t>
                      </m:r>
                      <m:r>
                        <m:rPr>
                          <m:nor/>
                        </m:rPr>
                        <a:rPr lang="en-US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n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sample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points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,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then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total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</m:ctrlPr>
                        </m:sSupPr>
                        <m:e>
                          <m:r>
                            <a:rPr lang="en-US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2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n</m:t>
                          </m:r>
                        </m:sup>
                      </m:sSup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events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are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possible</m:t>
                      </m:r>
                      <m:r>
                        <m:rPr>
                          <m:nor/>
                        </m:rPr>
                        <a:rPr lang="en-IN" i="0" dirty="0">
                          <a:latin typeface="Roboto Condensed" panose="02000000000000000000" pitchFamily="2" charset="0"/>
                          <a:ea typeface="Roboto Condensed" panose="02000000000000000000" pitchFamily="2" charset="0"/>
                        </a:rPr>
                        <m:t>.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F76754F-B78A-9A2E-B4F1-9E857E1165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245885"/>
                <a:ext cx="10597784" cy="11997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3">
                <a:extLst>
                  <a:ext uri="{FF2B5EF4-FFF2-40B4-BE49-F238E27FC236}">
                    <a16:creationId xmlns:a16="http://schemas.microsoft.com/office/drawing/2014/main" id="{381B7C9B-D8DC-B7B0-08DD-B258588A56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4216" y="4445637"/>
                <a:ext cx="3074531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dirty="0">
                    <a:latin typeface="Roboto Condensed" panose="02000000000000000000" pitchFamily="2" charset="0"/>
                    <a:ea typeface="Roboto Condensed" panose="02000000000000000000" pitchFamily="2" charset="0"/>
                  </a:rPr>
                  <a:t>(</a:t>
                </a:r>
                <a:r>
                  <a:rPr lang="en-US" dirty="0" err="1">
                    <a:latin typeface="Roboto Condensed" panose="02000000000000000000" pitchFamily="2" charset="0"/>
                    <a:ea typeface="Roboto Condensed" panose="02000000000000000000" pitchFamily="2" charset="0"/>
                  </a:rPr>
                  <a:t>i</a:t>
                </a:r>
                <a:r>
                  <a:rPr lang="en-US" dirty="0">
                    <a:latin typeface="Roboto Condensed" panose="02000000000000000000" pitchFamily="2" charset="0"/>
                    <a:ea typeface="Roboto Condensed" panose="02000000000000000000" pitchFamily="2" charset="0"/>
                  </a:rPr>
                  <a:t>) Here,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  <a:ea typeface="Roboto Condensed" panose="02000000000000000000" pitchFamily="2" charset="0"/>
                          </a:rPr>
                        </m:ctrlPr>
                      </m:sSupPr>
                      <m:e>
                        <m:r>
                          <a:rPr lang="en-US" b="0" i="0" smtClean="0">
                            <a:latin typeface="Cambria Math" panose="02040503050406030204" pitchFamily="18" charset="0"/>
                            <a:ea typeface="Roboto Condensed" panose="02000000000000000000" pitchFamily="2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  <a:ea typeface="Roboto Condensed" panose="02000000000000000000" pitchFamily="2" charset="0"/>
                          </a:rPr>
                          <m:t>n</m:t>
                        </m:r>
                      </m:sup>
                    </m:sSup>
                    <m:r>
                      <a:rPr lang="en-US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=128</m:t>
                    </m:r>
                  </m:oMath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3" name="Title 3">
                <a:extLst>
                  <a:ext uri="{FF2B5EF4-FFF2-40B4-BE49-F238E27FC236}">
                    <a16:creationId xmlns:a16="http://schemas.microsoft.com/office/drawing/2014/main" id="{381B7C9B-D8DC-B7B0-08DD-B258588A56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445637"/>
                <a:ext cx="3074531" cy="698231"/>
              </a:xfrm>
              <a:prstGeom prst="rect">
                <a:avLst/>
              </a:prstGeom>
              <a:blipFill>
                <a:blip r:embed="rId5"/>
                <a:stretch>
                  <a:fillRect l="-4167" b="-782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itle 3">
                <a:extLst>
                  <a:ext uri="{FF2B5EF4-FFF2-40B4-BE49-F238E27FC236}">
                    <a16:creationId xmlns:a16="http://schemas.microsoft.com/office/drawing/2014/main" id="{68E67765-C4A1-5151-D069-2281A358ED5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4217" y="5143868"/>
                <a:ext cx="2782702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⇒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</m:ctrlPr>
                        </m:sSupPr>
                        <m:e>
                          <m:r>
                            <a:rPr lang="en-US" b="0" i="0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2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b="0" i="0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n</m:t>
                          </m:r>
                        </m:sup>
                      </m:sSup>
                      <m: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=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</m:ctrlPr>
                        </m:sSupPr>
                        <m:e>
                          <m:r>
                            <a:rPr lang="en-US" b="0" i="0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2</m:t>
                          </m:r>
                        </m:e>
                        <m:sup>
                          <m:r>
                            <a:rPr lang="en-US" b="0" i="0" smtClean="0">
                              <a:latin typeface="Cambria Math" panose="02040503050406030204" pitchFamily="18" charset="0"/>
                              <a:ea typeface="Roboto Condensed" panose="02000000000000000000" pitchFamily="2" charset="0"/>
                            </a:rPr>
                            <m:t>7</m:t>
                          </m:r>
                        </m:sup>
                      </m:sSup>
                    </m:oMath>
                  </m:oMathPara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5" name="Title 3">
                <a:extLst>
                  <a:ext uri="{FF2B5EF4-FFF2-40B4-BE49-F238E27FC236}">
                    <a16:creationId xmlns:a16="http://schemas.microsoft.com/office/drawing/2014/main" id="{68E67765-C4A1-5151-D069-2281A358ED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143868"/>
                <a:ext cx="2782702" cy="69823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itle 3">
                <a:extLst>
                  <a:ext uri="{FF2B5EF4-FFF2-40B4-BE49-F238E27FC236}">
                    <a16:creationId xmlns:a16="http://schemas.microsoft.com/office/drawing/2014/main" id="{083F4B34-F367-F2A7-DCE0-559D9D140F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371136" y="5143867"/>
                <a:ext cx="1667262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n</m:t>
                      </m:r>
                      <m: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=7</m:t>
                      </m:r>
                    </m:oMath>
                  </m:oMathPara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6" name="Title 3">
                <a:extLst>
                  <a:ext uri="{FF2B5EF4-FFF2-40B4-BE49-F238E27FC236}">
                    <a16:creationId xmlns:a16="http://schemas.microsoft.com/office/drawing/2014/main" id="{083F4B34-F367-F2A7-DCE0-559D9D140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1136" y="5143867"/>
                <a:ext cx="1667262" cy="69823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itle 3">
                <a:extLst>
                  <a:ext uri="{FF2B5EF4-FFF2-40B4-BE49-F238E27FC236}">
                    <a16:creationId xmlns:a16="http://schemas.microsoft.com/office/drawing/2014/main" id="{26AEA192-ACAF-2D69-1AC8-BD0DA834CD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4216" y="5842097"/>
                <a:ext cx="5341077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b="0" i="0" dirty="0">
                    <a:latin typeface="+mj-lt"/>
                    <a:ea typeface="Roboto Condensed" panose="02000000000000000000" pitchFamily="2" charset="0"/>
                  </a:rPr>
                  <a:t>(ii) Number of Simple events</a:t>
                </a:r>
                <a14:m>
                  <m:oMath xmlns:m="http://schemas.openxmlformats.org/officeDocument/2006/math">
                    <m:r>
                      <a:rPr lang="en-US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 =7</m:t>
                    </m:r>
                  </m:oMath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7" name="Title 3">
                <a:extLst>
                  <a:ext uri="{FF2B5EF4-FFF2-40B4-BE49-F238E27FC236}">
                    <a16:creationId xmlns:a16="http://schemas.microsoft.com/office/drawing/2014/main" id="{26AEA192-ACAF-2D69-1AC8-BD0DA834CD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42097"/>
                <a:ext cx="5341077" cy="698231"/>
              </a:xfrm>
              <a:prstGeom prst="rect">
                <a:avLst/>
              </a:prstGeom>
              <a:blipFill>
                <a:blip r:embed="rId8"/>
                <a:stretch>
                  <a:fillRect l="-2397" b="-782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Title 3">
            <a:extLst>
              <a:ext uri="{FF2B5EF4-FFF2-40B4-BE49-F238E27FC236}">
                <a16:creationId xmlns:a16="http://schemas.microsoft.com/office/drawing/2014/main" id="{B39BDE93-55E5-8D03-01CF-1F0CEB6AAB7E}"/>
              </a:ext>
            </a:extLst>
          </p:cNvPr>
          <p:cNvSpPr txBox="1">
            <a:spLocks/>
          </p:cNvSpPr>
          <p:nvPr/>
        </p:nvSpPr>
        <p:spPr>
          <a:xfrm>
            <a:off x="6153310" y="4445637"/>
            <a:ext cx="5907511" cy="69823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13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dirty="0">
                <a:latin typeface="Roboto Condensed" panose="02000000000000000000" pitchFamily="2" charset="0"/>
                <a:ea typeface="Roboto Condensed" panose="02000000000000000000" pitchFamily="2" charset="0"/>
              </a:rPr>
              <a:t>(iii) neither simple nor impossible events</a:t>
            </a:r>
            <a:endParaRPr lang="en-IN" dirty="0"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itle 3">
                <a:extLst>
                  <a:ext uri="{FF2B5EF4-FFF2-40B4-BE49-F238E27FC236}">
                    <a16:creationId xmlns:a16="http://schemas.microsoft.com/office/drawing/2014/main" id="{DCE5D00E-C874-98B5-F59C-7FB74E84E5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90023" y="5030096"/>
                <a:ext cx="6570144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=</m:t>
                    </m:r>
                  </m:oMath>
                </a14:m>
                <a:r>
                  <a:rPr lang="en-US" b="0" i="0" dirty="0">
                    <a:latin typeface="+mj-lt"/>
                    <a:ea typeface="Roboto Condensed" panose="02000000000000000000" pitchFamily="2" charset="0"/>
                  </a:rPr>
                  <a:t> Total Events </a:t>
                </a:r>
                <a14:m>
                  <m:oMath xmlns:m="http://schemas.openxmlformats.org/officeDocument/2006/math">
                    <m:r>
                      <a:rPr lang="en-US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−</m:t>
                    </m:r>
                    <m:r>
                      <a:rPr lang="en-IN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 </m:t>
                    </m:r>
                  </m:oMath>
                </a14:m>
                <a:r>
                  <a:rPr lang="en-US" b="0" i="0" dirty="0">
                    <a:latin typeface="+mj-lt"/>
                    <a:ea typeface="Roboto Condensed" panose="02000000000000000000" pitchFamily="2" charset="0"/>
                  </a:rPr>
                  <a:t>Simple</a:t>
                </a:r>
                <a14:m>
                  <m:oMath xmlns:m="http://schemas.openxmlformats.org/officeDocument/2006/math">
                    <m:r>
                      <a:rPr lang="en-US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 −</m:t>
                    </m:r>
                    <m:r>
                      <a:rPr lang="en-IN" b="0" i="0" smtClean="0">
                        <a:latin typeface="Cambria Math" panose="02040503050406030204" pitchFamily="18" charset="0"/>
                        <a:ea typeface="Roboto Condensed" panose="02000000000000000000" pitchFamily="2" charset="0"/>
                      </a:rPr>
                      <m:t> </m:t>
                    </m:r>
                  </m:oMath>
                </a14:m>
                <a:r>
                  <a:rPr lang="en-US" b="0" i="0" dirty="0">
                    <a:latin typeface="+mj-lt"/>
                    <a:ea typeface="Roboto Condensed" panose="02000000000000000000" pitchFamily="2" charset="0"/>
                  </a:rPr>
                  <a:t>Impossible</a:t>
                </a:r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20" name="Title 3">
                <a:extLst>
                  <a:ext uri="{FF2B5EF4-FFF2-40B4-BE49-F238E27FC236}">
                    <a16:creationId xmlns:a16="http://schemas.microsoft.com/office/drawing/2014/main" id="{DCE5D00E-C874-98B5-F59C-7FB74E84E5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90023" y="5030096"/>
                <a:ext cx="6570144" cy="698231"/>
              </a:xfrm>
              <a:prstGeom prst="rect">
                <a:avLst/>
              </a:prstGeom>
              <a:blipFill>
                <a:blip r:embed="rId9"/>
                <a:stretch>
                  <a:fillRect b="-782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itle 3">
                <a:extLst>
                  <a:ext uri="{FF2B5EF4-FFF2-40B4-BE49-F238E27FC236}">
                    <a16:creationId xmlns:a16="http://schemas.microsoft.com/office/drawing/2014/main" id="{1CAC9F5D-1AE9-104E-5678-6D3BC635C1F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90023" y="5575482"/>
                <a:ext cx="2748106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=128−7−1</m:t>
                      </m:r>
                    </m:oMath>
                  </m:oMathPara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21" name="Title 3">
                <a:extLst>
                  <a:ext uri="{FF2B5EF4-FFF2-40B4-BE49-F238E27FC236}">
                    <a16:creationId xmlns:a16="http://schemas.microsoft.com/office/drawing/2014/main" id="{1CAC9F5D-1AE9-104E-5678-6D3BC635C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90023" y="5575482"/>
                <a:ext cx="2748106" cy="69823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itle 3">
                <a:extLst>
                  <a:ext uri="{FF2B5EF4-FFF2-40B4-BE49-F238E27FC236}">
                    <a16:creationId xmlns:a16="http://schemas.microsoft.com/office/drawing/2014/main" id="{B16D8C7A-73E4-2306-1764-AC258D145A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982394" y="5575481"/>
                <a:ext cx="1385486" cy="69823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0" smtClean="0">
                          <a:latin typeface="Cambria Math" panose="02040503050406030204" pitchFamily="18" charset="0"/>
                          <a:ea typeface="Roboto Condensed" panose="02000000000000000000" pitchFamily="2" charset="0"/>
                        </a:rPr>
                        <m:t>=120</m:t>
                      </m:r>
                    </m:oMath>
                  </m:oMathPara>
                </a14:m>
                <a:endParaRPr lang="en-IN" dirty="0">
                  <a:latin typeface="Roboto Condensed" panose="02000000000000000000" pitchFamily="2" charset="0"/>
                  <a:ea typeface="Roboto Condensed" panose="02000000000000000000" pitchFamily="2" charset="0"/>
                </a:endParaRPr>
              </a:p>
            </p:txBody>
          </p:sp>
        </mc:Choice>
        <mc:Fallback xmlns="">
          <p:sp>
            <p:nvSpPr>
              <p:cNvPr id="22" name="Title 3">
                <a:extLst>
                  <a:ext uri="{FF2B5EF4-FFF2-40B4-BE49-F238E27FC236}">
                    <a16:creationId xmlns:a16="http://schemas.microsoft.com/office/drawing/2014/main" id="{B16D8C7A-73E4-2306-1764-AC258D14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2394" y="5575481"/>
                <a:ext cx="1385486" cy="69823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43515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20" grpId="0"/>
      <p:bldP spid="21" grpId="0"/>
      <p:bldP spid="22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>
                  <a:lnSpc>
                    <a:spcPct val="120000"/>
                  </a:lnSpc>
                </a:pP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 Event</a:t>
                </a:r>
                <a:r>
                  <a:rPr lang="en-US" b="1" dirty="0"/>
                  <a:t> </a:t>
                </a:r>
                <a:r>
                  <a:rPr lang="en-US" b="1" dirty="0">
                    <a:solidFill>
                      <a:srgbClr val="7030A0"/>
                    </a:solidFill>
                  </a:rPr>
                  <a:t>[ </a:t>
                </a:r>
                <a:r>
                  <a:rPr lang="en-IN" b="1" dirty="0">
                    <a:solidFill>
                      <a:srgbClr val="7030A0"/>
                    </a:solidFill>
                  </a:rPr>
                  <a:t>Exclusive</a:t>
                </a:r>
                <a:r>
                  <a:rPr lang="en-IN" dirty="0">
                    <a:solidFill>
                      <a:srgbClr val="7030A0"/>
                    </a:solidFill>
                  </a:rPr>
                  <a:t> means </a:t>
                </a:r>
                <a:r>
                  <a:rPr lang="en-IN" b="1" dirty="0">
                    <a:solidFill>
                      <a:srgbClr val="7030A0"/>
                    </a:solidFill>
                  </a:rPr>
                  <a:t>not shared</a:t>
                </a:r>
                <a:r>
                  <a:rPr lang="en-IN" dirty="0">
                    <a:solidFill>
                      <a:srgbClr val="7030A0"/>
                    </a:solidFill>
                  </a:rPr>
                  <a:t> or </a:t>
                </a:r>
                <a:r>
                  <a:rPr lang="en-IN" b="1" dirty="0">
                    <a:solidFill>
                      <a:srgbClr val="7030A0"/>
                    </a:solidFill>
                  </a:rPr>
                  <a:t>kept separate.</a:t>
                </a:r>
                <a:r>
                  <a:rPr lang="en-US" b="1" dirty="0">
                    <a:solidFill>
                      <a:srgbClr val="7030A0"/>
                    </a:solidFill>
                  </a:rPr>
                  <a:t> ]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Two or more events are said to be mutually exclusive if </a:t>
                </a:r>
                <a:r>
                  <a:rPr lang="en-US" b="1" dirty="0">
                    <a:solidFill>
                      <a:srgbClr val="0070C0"/>
                    </a:solidFill>
                  </a:rPr>
                  <a:t>no two events can occur simultaneously</a:t>
                </a:r>
                <a:r>
                  <a:rPr lang="en-US" dirty="0"/>
                  <a:t>. 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In other words, every pair of events has no common outcome.</a:t>
                </a:r>
                <a:endParaRPr lang="en-US" b="1" dirty="0"/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>
                        <a:latin typeface="Cambria Math" panose="02040503050406030204" pitchFamily="18" charset="0"/>
                      </a:rPr>
                      <m:t>…,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/>
                  <a:t>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are known as exhaustive events, if</a:t>
                </a:r>
                <a:endParaRPr lang="en-US" dirty="0"/>
              </a:p>
              <a:p>
                <a:pPr marL="271463" lvl="1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j</m:t>
                          </m:r>
                        </m:sub>
                      </m:sSub>
                      <m:r>
                        <m:rPr>
                          <m:lit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j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t="-318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04791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1FA45B77-5F1E-7628-53EC-B49ECC7CB3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0C4F40-DFB2-EA8B-D82E-6FB3CE7802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42040F3-B088-A313-0F29-8A050550D66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>
                  <a:lnSpc>
                    <a:spcPct val="120000"/>
                  </a:lnSpc>
                </a:pP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 Event</a:t>
                </a:r>
                <a:r>
                  <a:rPr lang="en-US" b="1" dirty="0"/>
                  <a:t> 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  <a:endParaRPr lang="en-IN" dirty="0"/>
              </a:p>
              <a:p>
                <a:pPr lvl="2">
                  <a:lnSpc>
                    <a:spcPct val="120000"/>
                  </a:lnSpc>
                </a:pPr>
                <a:r>
                  <a:rPr lang="en-US" dirty="0"/>
                  <a:t>For experiment of throwing a die, a sample space is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1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</m:oMath>
                </a14:m>
                <a:endParaRPr lang="en-IN" dirty="0"/>
              </a:p>
              <a:p>
                <a:pPr marL="914400" indent="0">
                  <a:lnSpc>
                    <a:spcPct val="120000"/>
                  </a:lnSpc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2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4 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,  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1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3 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,  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 6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dirty="0"/>
                  <a:t> be events.</a:t>
                </a:r>
              </a:p>
              <a:p>
                <a:pPr lvl="2">
                  <a:lnSpc>
                    <a:spcPct val="120000"/>
                  </a:lnSpc>
                </a:pPr>
                <a:r>
                  <a:rPr lang="en-IN" dirty="0"/>
                  <a:t>Now</a:t>
                </a:r>
              </a:p>
              <a:p>
                <a:pPr lvl="3">
                  <a:lnSpc>
                    <a:spcPct val="120000"/>
                  </a:lnSpc>
                </a:pPr>
                <a:endParaRPr lang="en-IN" dirty="0"/>
              </a:p>
              <a:p>
                <a:pPr marL="914400" indent="0">
                  <a:lnSpc>
                    <a:spcPct val="120000"/>
                  </a:lnSpc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42040F3-B088-A313-0F29-8A050550D66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t="-3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1ACB6B-4394-7B21-A7D5-883E27AFDB6C}"/>
                  </a:ext>
                </a:extLst>
              </p:cNvPr>
              <p:cNvSpPr txBox="1"/>
              <p:nvPr/>
            </p:nvSpPr>
            <p:spPr>
              <a:xfrm>
                <a:off x="1071870" y="4475024"/>
                <a:ext cx="10988949" cy="11611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algn="just">
                  <a:lnSpc>
                    <a:spcPct val="130000"/>
                  </a:lnSpc>
                  <a:defRPr/>
                </a:pPr>
                <a:r>
                  <a:rPr lang="en-US" sz="2800" dirty="0">
                    <a:solidFill>
                      <a:srgbClr val="002060"/>
                    </a:solidFill>
                  </a:rPr>
                  <a:t>Since every pair of events has no common outcome, the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are mutually exclusive.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1ACB6B-4394-7B21-A7D5-883E27AFDB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1870" y="4475024"/>
                <a:ext cx="10988949" cy="1161152"/>
              </a:xfrm>
              <a:prstGeom prst="rect">
                <a:avLst/>
              </a:prstGeom>
              <a:blipFill>
                <a:blip r:embed="rId3"/>
                <a:stretch>
                  <a:fillRect l="-1165" r="-1110" b="-1361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4D5E0CC-627B-137E-870E-2E6E933B7D68}"/>
                  </a:ext>
                </a:extLst>
              </p:cNvPr>
              <p:cNvSpPr txBox="1"/>
              <p:nvPr/>
            </p:nvSpPr>
            <p:spPr>
              <a:xfrm>
                <a:off x="1071871" y="3881034"/>
                <a:ext cx="19682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4D5E0CC-627B-137E-870E-2E6E933B7D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1871" y="3881034"/>
                <a:ext cx="196827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F0BAF6CA-FC24-AA5F-3982-2AD83E1300DF}"/>
                  </a:ext>
                </a:extLst>
              </p:cNvPr>
              <p:cNvSpPr txBox="1"/>
              <p:nvPr/>
            </p:nvSpPr>
            <p:spPr>
              <a:xfrm>
                <a:off x="4590041" y="3881034"/>
                <a:ext cx="19682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F0BAF6CA-FC24-AA5F-3982-2AD83E1300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0041" y="3881034"/>
                <a:ext cx="196827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303CDB-9F0A-9B88-5652-40EBC6DA91C9}"/>
                  </a:ext>
                </a:extLst>
              </p:cNvPr>
              <p:cNvSpPr txBox="1"/>
              <p:nvPr/>
            </p:nvSpPr>
            <p:spPr>
              <a:xfrm>
                <a:off x="7798341" y="3881034"/>
                <a:ext cx="19682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303CDB-9F0A-9B88-5652-40EBC6DA91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8341" y="3881034"/>
                <a:ext cx="19682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3248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11" grpId="0"/>
      <p:bldP spid="6" grpId="0"/>
      <p:bldP spid="3" grpId="0"/>
      <p:bldP spid="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2060820" cy="5742809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Mutually Exhaustive Events</a:t>
                </a:r>
                <a:r>
                  <a:rPr lang="en-US" b="1" dirty="0"/>
                  <a:t> </a:t>
                </a:r>
                <a:r>
                  <a:rPr lang="en-US" b="1" dirty="0">
                    <a:solidFill>
                      <a:srgbClr val="7030A0"/>
                    </a:solidFill>
                  </a:rPr>
                  <a:t>[ Exhaustive </a:t>
                </a:r>
                <a:r>
                  <a:rPr lang="en-IN" dirty="0">
                    <a:solidFill>
                      <a:srgbClr val="7030A0"/>
                    </a:solidFill>
                  </a:rPr>
                  <a:t>means </a:t>
                </a:r>
                <a:r>
                  <a:rPr lang="en-IN" b="1" dirty="0">
                    <a:solidFill>
                      <a:srgbClr val="7030A0"/>
                    </a:solidFill>
                  </a:rPr>
                  <a:t>to cover everything completely.</a:t>
                </a:r>
                <a:r>
                  <a:rPr lang="en-US" b="1" dirty="0">
                    <a:solidFill>
                      <a:srgbClr val="7030A0"/>
                    </a:solidFill>
                  </a:rPr>
                  <a:t> ]</a:t>
                </a:r>
              </a:p>
              <a:p>
                <a:pPr lvl="1">
                  <a:spcAft>
                    <a:spcPts val="300"/>
                  </a:spcAft>
                </a:pPr>
                <a:r>
                  <a:rPr lang="en-IN" dirty="0"/>
                  <a:t>Two or more events are called mutually exhaustive if </a:t>
                </a:r>
                <a:r>
                  <a:rPr lang="en-IN" b="1" dirty="0">
                    <a:solidFill>
                      <a:srgbClr val="0070C0"/>
                    </a:solidFill>
                  </a:rPr>
                  <a:t>at least one of them always occurs</a:t>
                </a:r>
                <a:r>
                  <a:rPr lang="en-IN" dirty="0"/>
                  <a:t>. Together, they include </a:t>
                </a:r>
                <a:r>
                  <a:rPr lang="en-IN" b="1" dirty="0">
                    <a:solidFill>
                      <a:srgbClr val="0070C0"/>
                    </a:solidFill>
                  </a:rPr>
                  <a:t>all possible outcomes</a:t>
                </a:r>
                <a:r>
                  <a:rPr lang="en-IN" dirty="0"/>
                  <a:t> of the random experiment.</a:t>
                </a:r>
                <a:endParaRPr lang="en-US" dirty="0"/>
              </a:p>
              <a:p>
                <a:pPr lvl="1">
                  <a:spcAft>
                    <a:spcPts val="300"/>
                  </a:spcAft>
                </a:pPr>
                <a:r>
                  <a:rPr lang="en-US" dirty="0"/>
                  <a:t>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>
                        <a:latin typeface="Cambria Math" panose="02040503050406030204" pitchFamily="18" charset="0"/>
                      </a:rPr>
                      <m:t>…,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/>
                  <a:t>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are known as exhaustive events, if</a:t>
                </a:r>
                <a:endParaRPr lang="en-US" dirty="0"/>
              </a:p>
              <a:p>
                <a:pPr marL="622300" lvl="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⋃"/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𝐢</m:t>
                          </m:r>
                          <m:r>
                            <a:rPr lang="en-IN" b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p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𝐄</m:t>
                              </m:r>
                            </m:e>
                            <m:sub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𝐢</m:t>
                              </m:r>
                            </m:sub>
                          </m:sSub>
                        </m:e>
                      </m:nary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US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</m:sSub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𝟐</m:t>
                          </m:r>
                        </m:sub>
                      </m:sSub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…</m:t>
                      </m:r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b>
                      </m:sSub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</m:oMath>
                  </m:oMathPara>
                </a14:m>
                <a:endParaRPr lang="en-IN" b="1" dirty="0">
                  <a:solidFill>
                    <a:srgbClr val="FF0000"/>
                  </a:solidFill>
                  <a:effectLst/>
                  <a:ea typeface="Calibri" panose="020F0502020204030204" pitchFamily="34" charset="0"/>
                  <a:cs typeface="Shruti" panose="020B0502040204020203" pitchFamily="34" charset="0"/>
                </a:endParaRPr>
              </a:p>
              <a:p>
                <a:pPr marL="273050" indent="-273050"/>
                <a:r>
                  <a:rPr lang="en-US" dirty="0"/>
                  <a:t>The word </a:t>
                </a:r>
                <a:r>
                  <a:rPr lang="en-US" b="1" dirty="0">
                    <a:solidFill>
                      <a:srgbClr val="7030A0"/>
                    </a:solidFill>
                  </a:rPr>
                  <a:t>mutually</a:t>
                </a:r>
                <a:r>
                  <a:rPr lang="en-US" dirty="0"/>
                  <a:t> means </a:t>
                </a:r>
                <a:r>
                  <a:rPr lang="en-US" b="1" dirty="0">
                    <a:solidFill>
                      <a:srgbClr val="7030A0"/>
                    </a:solidFill>
                  </a:rPr>
                  <a:t>with respect to each other</a:t>
                </a:r>
                <a:r>
                  <a:rPr lang="en-US" dirty="0"/>
                  <a:t>.</a:t>
                </a:r>
              </a:p>
              <a:p>
                <a:pPr marL="631825" lvl="1" indent="-273050"/>
                <a:r>
                  <a:rPr lang="en-US" dirty="0"/>
                  <a:t>So, Mutually Exclusive means each event is exclusive with every other event.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2060820" cy="5742809"/>
              </a:xfrm>
              <a:blipFill>
                <a:blip r:embed="rId2"/>
                <a:stretch>
                  <a:fillRect l="-961" r="-10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0816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/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Mutually Exhaustive Events</a:t>
                </a:r>
                <a:r>
                  <a:rPr lang="en-US" b="1" dirty="0"/>
                  <a:t> 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  <a:endParaRPr lang="en-IN" dirty="0"/>
              </a:p>
              <a:p>
                <a:pPr lvl="2"/>
                <a:r>
                  <a:rPr lang="en-GB" dirty="0"/>
                  <a:t>In experiment of rolling a die,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1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b="0" i="1" dirty="0" smtClean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</m:oMath>
                </a14:m>
                <a:r>
                  <a:rPr lang="en-GB" dirty="0"/>
                  <a:t>.</a:t>
                </a:r>
              </a:p>
              <a:p>
                <a:pPr marL="895350" lvl="2" indent="0">
                  <a:buNone/>
                </a:pPr>
                <a:r>
                  <a:rPr lang="en-GB" dirty="0"/>
                  <a:t>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A number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3 </m:t>
                        </m:r>
                      </m:e>
                    </m:d>
                  </m:oMath>
                </a14:m>
                <a:endParaRPr lang="en-GB" dirty="0"/>
              </a:p>
              <a:p>
                <a:pPr marL="14287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A number greater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dirty="0"/>
                  <a:t> but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3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4 </m:t>
                        </m:r>
                      </m:e>
                    </m:d>
                  </m:oMath>
                </a14:m>
                <a:endParaRPr lang="en-GB" dirty="0"/>
              </a:p>
              <a:p>
                <a:pPr marL="14287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: A number greater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GB" i="0" dirty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 5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</m:oMath>
                </a14:m>
                <a:endParaRPr lang="en-GB" dirty="0"/>
              </a:p>
              <a:p>
                <a:pPr marL="895350" lvl="2" indent="0" algn="l">
                  <a:buNone/>
                </a:pPr>
                <a:r>
                  <a:rPr lang="en-GB" dirty="0"/>
                  <a:t>Now, </a:t>
                </a:r>
                <a:endParaRPr lang="en-IN" i="0" dirty="0">
                  <a:latin typeface="Cambria Math" panose="02040503050406030204" pitchFamily="18" charset="0"/>
                </a:endParaRPr>
              </a:p>
              <a:p>
                <a:pPr marL="89535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1, 2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3 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4 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5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lang="en-IN" i="0" dirty="0">
                  <a:latin typeface="Cambria Math" panose="02040503050406030204" pitchFamily="18" charset="0"/>
                </a:endParaRPr>
              </a:p>
              <a:p>
                <a:pPr marL="232410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1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D92E8D-8A0B-454D-82FF-F6BC264696C2}"/>
                  </a:ext>
                </a:extLst>
              </p:cNvPr>
              <p:cNvSpPr txBox="1"/>
              <p:nvPr/>
            </p:nvSpPr>
            <p:spPr>
              <a:xfrm>
                <a:off x="8072438" y="5204101"/>
                <a:ext cx="3700462" cy="11234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ctr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Hence,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exhaustive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D92E8D-8A0B-454D-82FF-F6BC264696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2438" y="5204101"/>
                <a:ext cx="3700462" cy="1123449"/>
              </a:xfrm>
              <a:prstGeom prst="rect">
                <a:avLst/>
              </a:prstGeom>
              <a:blipFill>
                <a:blip r:embed="rId3"/>
                <a:stretch>
                  <a:fillRect l="-2636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32543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913334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 and Exhaustive Events</a:t>
                </a:r>
              </a:p>
              <a:p>
                <a:pPr lvl="1"/>
                <a:r>
                  <a:rPr lang="en-IN" dirty="0"/>
                  <a:t>Two or more events are called mutually exclusive and exhaustive if </a:t>
                </a:r>
                <a:r>
                  <a:rPr lang="en-IN" b="1" dirty="0">
                    <a:solidFill>
                      <a:srgbClr val="0070C0"/>
                    </a:solidFill>
                  </a:rPr>
                  <a:t>they cannot happen together, and one of them must always happen</a:t>
                </a:r>
                <a:r>
                  <a:rPr lang="en-IN" dirty="0"/>
                  <a:t>.</a:t>
                </a:r>
                <a:endParaRPr lang="en-US" b="1" dirty="0"/>
              </a:p>
              <a:p>
                <a:r>
                  <a:rPr lang="en-GB" dirty="0"/>
                  <a:t>Furthermore, if </a:t>
                </a:r>
              </a:p>
              <a:p>
                <a:pPr marL="26670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𝐄</m:t>
                        </m:r>
                      </m:e>
                      <m:sub>
                        <m:r>
                          <a:rPr lang="en-US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𝐢</m:t>
                        </m:r>
                      </m:sub>
                    </m:sSub>
                    <m:r>
                      <a:rPr lang="en-US" b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∩</m:t>
                    </m:r>
                    <m:sSub>
                      <m:sSubPr>
                        <m:ctrlP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𝐄</m:t>
                        </m:r>
                      </m:e>
                      <m:sub>
                        <m: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𝐣</m:t>
                        </m:r>
                      </m:sub>
                    </m:sSub>
                    <m:r>
                      <a:rPr lang="en-IN" b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b="1" i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𝛟</m:t>
                    </m:r>
                  </m:oMath>
                </a14:m>
                <a:r>
                  <a:rPr lang="en-US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</m:t>
                    </m:r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j</m:t>
                    </m:r>
                  </m:oMath>
                </a14:m>
                <a:r>
                  <a:rPr lang="en-US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and</a:t>
                </a:r>
                <a:endParaRPr lang="en-IN" b="1" i="1" dirty="0">
                  <a:solidFill>
                    <a:srgbClr val="FF0000"/>
                  </a:solidFill>
                  <a:effectLst/>
                </a:endParaRPr>
              </a:p>
              <a:p>
                <a:pPr marL="266700" indent="0" algn="ctr">
                  <a:spcAft>
                    <a:spcPts val="1200"/>
                  </a:spcAft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⋃"/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𝐢</m:t>
                          </m:r>
                          <m:r>
                            <a:rPr lang="en-IN" b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p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𝐄</m:t>
                              </m:r>
                            </m:e>
                            <m:sub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𝐢</m:t>
                              </m:r>
                            </m:sub>
                          </m:sSub>
                        </m:e>
                      </m:nary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  <m:r>
                        <a:rPr lang="en-IN" b="1" i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lang="en-GB" dirty="0"/>
              </a:p>
              <a:p>
                <a:pPr marL="266700" indent="0">
                  <a:buNone/>
                </a:pPr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then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are known as mutually exclusive and exhaustive events.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913334"/>
              </a:xfrm>
              <a:blipFill>
                <a:blip r:embed="rId2"/>
                <a:stretch>
                  <a:fillRect l="-971" r="-1074" b="-36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80177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48354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Consider the experiment of rolling a die. The following events are defined: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getting a prime number 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getting an odd number. 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Write the sets representing the events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(2)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(3)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but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(4) 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483540"/>
              </a:xfrm>
              <a:prstGeom prst="rect">
                <a:avLst/>
              </a:prstGeom>
              <a:blipFill>
                <a:blip r:embed="rId2"/>
                <a:stretch>
                  <a:fillRect l="-1074" b="-490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>
                <a:latin typeface="+mn-lt"/>
              </a:rPr>
              <a:t>Method </a:t>
            </a:r>
            <a:r>
              <a:rPr lang="en-GB" dirty="0"/>
              <a:t>1</a:t>
            </a:r>
            <a:r>
              <a:rPr lang="en-GB" dirty="0">
                <a:latin typeface="+mn-lt"/>
              </a:rPr>
              <a:t>⇝ </a:t>
            </a:r>
            <a:r>
              <a:rPr lang="en-GB" dirty="0"/>
              <a:t>Example 28</a:t>
            </a:r>
            <a:endParaRPr lang="en-US" dirty="0">
              <a:latin typeface="+mn-lt"/>
            </a:endParaRPr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48778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862A7DF-5FF3-464C-A2B6-3F7BCD5A890A}"/>
                  </a:ext>
                </a:extLst>
              </p:cNvPr>
              <p:cNvSpPr txBox="1"/>
              <p:nvPr/>
            </p:nvSpPr>
            <p:spPr>
              <a:xfrm>
                <a:off x="5559186" y="3489292"/>
                <a:ext cx="242533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862A7DF-5FF3-464C-A2B6-3F7BCD5A89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9186" y="3489292"/>
                <a:ext cx="2425332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012D79C-50B2-4093-B12E-0D862A483D19}"/>
                  </a:ext>
                </a:extLst>
              </p:cNvPr>
              <p:cNvSpPr txBox="1"/>
              <p:nvPr/>
            </p:nvSpPr>
            <p:spPr>
              <a:xfrm>
                <a:off x="8791117" y="3489292"/>
                <a:ext cx="242533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012D79C-50B2-4093-B12E-0D862A483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1117" y="3489292"/>
                <a:ext cx="2425332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04B86D1-0636-4D1E-ABB5-36A567C1D976}"/>
                  </a:ext>
                </a:extLst>
              </p:cNvPr>
              <p:cNvSpPr txBox="1"/>
              <p:nvPr/>
            </p:nvSpPr>
            <p:spPr>
              <a:xfrm>
                <a:off x="1594217" y="3489292"/>
                <a:ext cx="362548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04B86D1-0636-4D1E-ABB5-36A567C1D9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489292"/>
                <a:ext cx="3625482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8C45FD-E0C5-4D45-BE00-26D6EAD9F22E}"/>
                  </a:ext>
                </a:extLst>
              </p:cNvPr>
              <p:cNvSpPr txBox="1"/>
              <p:nvPr/>
            </p:nvSpPr>
            <p:spPr>
              <a:xfrm>
                <a:off x="1594217" y="4128762"/>
                <a:ext cx="2067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 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IN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8C45FD-E0C5-4D45-BE00-26D6EAD9F2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128762"/>
                <a:ext cx="2067359" cy="523220"/>
              </a:xfrm>
              <a:prstGeom prst="rect">
                <a:avLst/>
              </a:prstGeom>
              <a:blipFill>
                <a:blip r:embed="rId6"/>
                <a:stretch>
                  <a:fillRect l="-6195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9988D2-9566-4A34-B97E-42911E3C7034}"/>
                  </a:ext>
                </a:extLst>
              </p:cNvPr>
              <p:cNvSpPr txBox="1"/>
              <p:nvPr/>
            </p:nvSpPr>
            <p:spPr>
              <a:xfrm>
                <a:off x="2162109" y="4626224"/>
                <a:ext cx="105735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∪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9988D2-9566-4A34-B97E-42911E3C70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109" y="4626224"/>
                <a:ext cx="105735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8C6B501-A9D5-48FD-86CE-26DFE0808489}"/>
                  </a:ext>
                </a:extLst>
              </p:cNvPr>
              <p:cNvSpPr txBox="1"/>
              <p:nvPr/>
            </p:nvSpPr>
            <p:spPr>
              <a:xfrm>
                <a:off x="3071527" y="4626224"/>
                <a:ext cx="24253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8C6B501-A9D5-48FD-86CE-26DFE08084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1527" y="4626224"/>
                <a:ext cx="242533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A5307C7-2149-4E4B-BE04-2F7549C309C0}"/>
                  </a:ext>
                </a:extLst>
              </p:cNvPr>
              <p:cNvSpPr txBox="1"/>
              <p:nvPr/>
            </p:nvSpPr>
            <p:spPr>
              <a:xfrm>
                <a:off x="1594217" y="5477191"/>
                <a:ext cx="216341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 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a:rPr kumimoji="0" lang="en-IN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A5307C7-2149-4E4B-BE04-2F7549C309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477191"/>
                <a:ext cx="2163413" cy="523220"/>
              </a:xfrm>
              <a:prstGeom prst="rect">
                <a:avLst/>
              </a:prstGeom>
              <a:blipFill>
                <a:blip r:embed="rId9"/>
                <a:stretch>
                  <a:fillRect l="-5932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5057DB-3417-40EC-AF70-9BE46E4B6C0A}"/>
                  </a:ext>
                </a:extLst>
              </p:cNvPr>
              <p:cNvSpPr txBox="1"/>
              <p:nvPr/>
            </p:nvSpPr>
            <p:spPr>
              <a:xfrm>
                <a:off x="2162109" y="5990161"/>
                <a:ext cx="10276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5057DB-3417-40EC-AF70-9BE46E4B6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109" y="5990161"/>
                <a:ext cx="10276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6D31B5F-C2AD-4367-A933-ED74276D6D5E}"/>
                  </a:ext>
                </a:extLst>
              </p:cNvPr>
              <p:cNvSpPr txBox="1"/>
              <p:nvPr/>
            </p:nvSpPr>
            <p:spPr>
              <a:xfrm>
                <a:off x="3071527" y="5990161"/>
                <a:ext cx="16423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6D31B5F-C2AD-4367-A933-ED74276D6D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1527" y="5990161"/>
                <a:ext cx="164238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5940E68-2855-40D6-A870-E01F30564564}"/>
                  </a:ext>
                </a:extLst>
              </p:cNvPr>
              <p:cNvSpPr txBox="1"/>
              <p:nvPr/>
            </p:nvSpPr>
            <p:spPr>
              <a:xfrm>
                <a:off x="5588912" y="4123019"/>
                <a:ext cx="24253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 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but not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5940E68-2855-40D6-A870-E01F305645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8912" y="4123019"/>
                <a:ext cx="2425332" cy="523220"/>
              </a:xfrm>
              <a:prstGeom prst="rect">
                <a:avLst/>
              </a:prstGeom>
              <a:blipFill>
                <a:blip r:embed="rId12"/>
                <a:stretch>
                  <a:fillRect l="-5276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7C676B6-87D7-42ED-A197-3B00E59A264F}"/>
                  </a:ext>
                </a:extLst>
              </p:cNvPr>
              <p:cNvSpPr txBox="1"/>
              <p:nvPr/>
            </p:nvSpPr>
            <p:spPr>
              <a:xfrm>
                <a:off x="6142210" y="5988329"/>
                <a:ext cx="1185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7C676B6-87D7-42ED-A197-3B00E59A2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2210" y="5988329"/>
                <a:ext cx="118594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4013EED-AA7B-487D-B8F5-99D6EEF2845A}"/>
                  </a:ext>
                </a:extLst>
              </p:cNvPr>
              <p:cNvSpPr txBox="1"/>
              <p:nvPr/>
            </p:nvSpPr>
            <p:spPr>
              <a:xfrm>
                <a:off x="7184107" y="5988329"/>
                <a:ext cx="11859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4013EED-AA7B-487D-B8F5-99D6EEF28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4107" y="5988329"/>
                <a:ext cx="118595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A9A1FEBA-D677-446B-AF13-5AF2D4A748B4}"/>
              </a:ext>
            </a:extLst>
          </p:cNvPr>
          <p:cNvSpPr txBox="1"/>
          <p:nvPr/>
        </p:nvSpPr>
        <p:spPr>
          <a:xfrm>
            <a:off x="5648066" y="5988329"/>
            <a:ext cx="504456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5FD59C8-8B75-40F8-AAF7-D4DA77DA1AD5}"/>
                  </a:ext>
                </a:extLst>
              </p:cNvPr>
              <p:cNvSpPr txBox="1"/>
              <p:nvPr/>
            </p:nvSpPr>
            <p:spPr>
              <a:xfrm>
                <a:off x="6140648" y="5255308"/>
                <a:ext cx="118595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5FD59C8-8B75-40F8-AAF7-D4DA77DA1A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0648" y="5255308"/>
                <a:ext cx="118595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C9A9B26-F56B-4123-B081-3DDA59D4162A}"/>
                  </a:ext>
                </a:extLst>
              </p:cNvPr>
              <p:cNvSpPr txBox="1"/>
              <p:nvPr/>
            </p:nvSpPr>
            <p:spPr>
              <a:xfrm>
                <a:off x="6129107" y="4627444"/>
                <a:ext cx="2448000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C9A9B26-F56B-4123-B081-3DDA59D416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9107" y="4627444"/>
                <a:ext cx="2448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56452DF-25CD-4474-B57B-BA275B96BDD5}"/>
                  </a:ext>
                </a:extLst>
              </p:cNvPr>
              <p:cNvSpPr txBox="1"/>
              <p:nvPr/>
            </p:nvSpPr>
            <p:spPr>
              <a:xfrm>
                <a:off x="7184107" y="5255308"/>
                <a:ext cx="11859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56452DF-25CD-4474-B57B-BA275B96BD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4107" y="5255308"/>
                <a:ext cx="118595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399E456-C2D2-45C1-824D-B1DC13AEFB9C}"/>
              </a:ext>
            </a:extLst>
          </p:cNvPr>
          <p:cNvCxnSpPr>
            <a:cxnSpLocks/>
          </p:cNvCxnSpPr>
          <p:nvPr/>
        </p:nvCxnSpPr>
        <p:spPr>
          <a:xfrm flipH="1">
            <a:off x="5559186" y="4133700"/>
            <a:ext cx="0" cy="241224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53FB26-D0CD-46AC-8B08-769159FE25EC}"/>
                  </a:ext>
                </a:extLst>
              </p:cNvPr>
              <p:cNvSpPr txBox="1"/>
              <p:nvPr/>
            </p:nvSpPr>
            <p:spPr>
              <a:xfrm>
                <a:off x="8866802" y="4133700"/>
                <a:ext cx="2067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  not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53FB26-D0CD-46AC-8B08-769159FE2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6802" y="4133700"/>
                <a:ext cx="2067359" cy="523220"/>
              </a:xfrm>
              <a:prstGeom prst="rect">
                <a:avLst/>
              </a:prstGeom>
              <a:blipFill>
                <a:blip r:embed="rId18"/>
                <a:stretch>
                  <a:fillRect l="-6195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35F4FFB-0317-4249-B5B3-8ABF6BDB83B4}"/>
                  </a:ext>
                </a:extLst>
              </p:cNvPr>
              <p:cNvSpPr txBox="1"/>
              <p:nvPr/>
            </p:nvSpPr>
            <p:spPr>
              <a:xfrm>
                <a:off x="9407031" y="4626224"/>
                <a:ext cx="50634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35F4FFB-0317-4249-B5B3-8ABF6BDB83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7031" y="4626224"/>
                <a:ext cx="50634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BE4321-2025-4464-B45B-0B86467E93CC}"/>
                  </a:ext>
                </a:extLst>
              </p:cNvPr>
              <p:cNvSpPr txBox="1"/>
              <p:nvPr/>
            </p:nvSpPr>
            <p:spPr>
              <a:xfrm>
                <a:off x="9831612" y="5255308"/>
                <a:ext cx="193592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BE4321-2025-4464-B45B-0B86467E93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1612" y="5255308"/>
                <a:ext cx="193592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40262F2-3721-4A9A-B695-46995E820301}"/>
                  </a:ext>
                </a:extLst>
              </p:cNvPr>
              <p:cNvSpPr txBox="1"/>
              <p:nvPr/>
            </p:nvSpPr>
            <p:spPr>
              <a:xfrm>
                <a:off x="9835051" y="4626224"/>
                <a:ext cx="14211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40262F2-3721-4A9A-B695-46995E8203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5051" y="4626224"/>
                <a:ext cx="142115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8F400288-443F-4E93-ABFB-AC4E807B150F}"/>
              </a:ext>
            </a:extLst>
          </p:cNvPr>
          <p:cNvCxnSpPr>
            <a:cxnSpLocks/>
          </p:cNvCxnSpPr>
          <p:nvPr/>
        </p:nvCxnSpPr>
        <p:spPr>
          <a:xfrm>
            <a:off x="8791117" y="4133700"/>
            <a:ext cx="0" cy="241224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46277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 animBg="1"/>
      <p:bldP spid="33" grpId="0" animBg="1"/>
      <p:bldP spid="34" grpId="0"/>
      <p:bldP spid="35" grpId="0"/>
      <p:bldP spid="37" grpId="0" animBg="1"/>
      <p:bldP spid="38" grpId="0"/>
      <p:bldP spid="39" grpId="0"/>
      <p:bldP spid="40" grpId="0" animBg="1"/>
      <p:bldP spid="41" grpId="0"/>
      <p:bldP spid="42" grpId="0"/>
      <p:bldP spid="43" grpId="0" animBg="1"/>
      <p:bldP spid="48" grpId="0"/>
      <p:bldP spid="51" grpId="0"/>
      <p:bldP spid="52" grpId="0" animBg="1"/>
      <p:bldP spid="53" grpId="0" animBg="1"/>
      <p:bldP spid="36" grpId="0"/>
      <p:bldP spid="49" grpId="0"/>
      <p:bldP spid="50" grpId="0" animBg="1"/>
      <p:bldP spid="54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</a:t>
            </a:r>
            <a:br>
              <a:rPr lang="en-IN" dirty="0"/>
            </a:br>
            <a:r>
              <a:rPr lang="en-GB" dirty="0"/>
              <a:t>Probability of an Event</a:t>
            </a:r>
            <a:endParaRPr lang="en-IN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AF66629-F349-43A0-B5A5-A51D2BBB74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5717608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Equally Likely Outcomes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r>
              <a:rPr lang="en-US" dirty="0"/>
              <a:t>In a random experiment, equally likely outcomes are outcomes for which no outcome has a greater chance of occurring than the others.</a:t>
            </a:r>
          </a:p>
          <a:p>
            <a:pPr lvl="1"/>
            <a:r>
              <a:rPr lang="en-US" dirty="0"/>
              <a:t>In simple words, no outcome is favored over the others.</a:t>
            </a:r>
          </a:p>
          <a:p>
            <a:r>
              <a:rPr lang="en-US" dirty="0"/>
              <a:t>Examples:</a:t>
            </a:r>
          </a:p>
          <a:p>
            <a:pPr lvl="1"/>
            <a:r>
              <a:rPr lang="en-US" dirty="0"/>
              <a:t>In a fair coin toss, Head and Tail are equally likely because neither outcome is favored.</a:t>
            </a:r>
          </a:p>
          <a:p>
            <a:pPr lvl="1"/>
            <a:r>
              <a:rPr lang="en-US" dirty="0"/>
              <a:t>In a fair die roll, each face (1 to 6) is equally likely because no face is favored.</a:t>
            </a:r>
          </a:p>
        </p:txBody>
      </p:sp>
    </p:spTree>
    <p:extLst>
      <p:ext uri="{BB962C8B-B14F-4D97-AF65-F5344CB8AC3E}">
        <p14:creationId xmlns:p14="http://schemas.microsoft.com/office/powerpoint/2010/main" val="2004639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F84EF80-F823-CA9B-E11E-AC09D36837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C98437F-500D-3D7B-0E33-0EB187AC7F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Remark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C61171-774D-AF50-0E08-624201CBD6D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US" b="1" dirty="0"/>
                  <a:t>Why "fair" and "unbiased"?</a:t>
                </a:r>
              </a:p>
              <a:p>
                <a:pPr lvl="1"/>
                <a:r>
                  <a:rPr lang="en-US" dirty="0"/>
                  <a:t>Fair means </a:t>
                </a:r>
                <a:r>
                  <a:rPr lang="en-US" b="1" dirty="0">
                    <a:solidFill>
                      <a:srgbClr val="0070C0"/>
                    </a:solidFill>
                  </a:rPr>
                  <a:t>no outcome is favored</a:t>
                </a:r>
                <a:r>
                  <a:rPr lang="en-US" dirty="0"/>
                  <a:t> over the others.</a:t>
                </a:r>
              </a:p>
              <a:p>
                <a:pPr lvl="1"/>
                <a:r>
                  <a:rPr lang="en-US" dirty="0"/>
                  <a:t>Biased means one or more outcomes have a greater chance of occurring than the others.</a:t>
                </a:r>
              </a:p>
              <a:p>
                <a:pPr lvl="1"/>
                <a:r>
                  <a:rPr lang="en-US" dirty="0"/>
                  <a:t>Unbiased simply means not biased, i.e., fair.</a:t>
                </a:r>
              </a:p>
              <a:p>
                <a:pPr lvl="2"/>
                <a:r>
                  <a:rPr lang="en-US" dirty="0"/>
                  <a:t>Fair coin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Head and Tail are equally likely.</a:t>
                </a:r>
              </a:p>
              <a:p>
                <a:pPr lvl="2"/>
                <a:r>
                  <a:rPr lang="en-US" dirty="0"/>
                  <a:t>Fair (unbiased) die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Each face from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to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 is equally likely.</a:t>
                </a:r>
              </a:p>
              <a:p>
                <a:r>
                  <a:rPr lang="en-US" b="1" dirty="0"/>
                  <a:t>Note:</a:t>
                </a:r>
                <a:r>
                  <a:rPr lang="en-US" dirty="0"/>
                  <a:t> Unless otherwise specified, assume that a coin is fair and a die is fair (unbiased).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C61171-774D-AF50-0E08-624201CBD6D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 b="-74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33348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6771512-E65A-5846-921B-2D56244246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24D40B-3D6E-DCA4-EDFE-B28B7F4A4C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Equally Likely Outcomes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F057CE-9784-9284-A637-EEDB9EA2CB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Since the exact outcome of a random experiment cannot be predicted in advance, we need a way to measure the chance of an event occurring. </a:t>
            </a:r>
          </a:p>
          <a:p>
            <a:r>
              <a:rPr lang="en-US" dirty="0"/>
              <a:t>This measure is called </a:t>
            </a:r>
            <a:r>
              <a:rPr lang="en-US" b="1" dirty="0">
                <a:solidFill>
                  <a:srgbClr val="0070C0"/>
                </a:solidFill>
              </a:rPr>
              <a:t>Probability</a:t>
            </a:r>
            <a:r>
              <a:rPr lang="en-US" dirty="0"/>
              <a:t>.</a:t>
            </a:r>
          </a:p>
          <a:p>
            <a:r>
              <a:rPr lang="en-US" dirty="0"/>
              <a:t>Probability is a numerical measure of the chance that an event will occur in a random experiment.</a:t>
            </a:r>
          </a:p>
          <a:p>
            <a:pPr marL="0" indent="0" algn="ctr">
              <a:buNone/>
            </a:pPr>
            <a:r>
              <a:rPr lang="en-US" b="1" dirty="0"/>
              <a:t>OR</a:t>
            </a:r>
          </a:p>
          <a:p>
            <a:r>
              <a:rPr lang="en-US" dirty="0"/>
              <a:t>Probability is a number that represents how likely an event is to occur in a random experiment.</a:t>
            </a:r>
          </a:p>
        </p:txBody>
      </p:sp>
    </p:spTree>
    <p:extLst>
      <p:ext uri="{BB962C8B-B14F-4D97-AF65-F5344CB8AC3E}">
        <p14:creationId xmlns:p14="http://schemas.microsoft.com/office/powerpoint/2010/main" val="3252127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ACA52152-A0C0-9A99-8F85-9B2A0DD325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EC02B6-353F-9110-29B2-8E7BC298CB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Classical Definition of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F897925-9F3B-6BAA-D5EC-A44059916CB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When all outcomes of a random experiment has a </a:t>
                </a:r>
                <a:r>
                  <a:rPr lang="en-US" b="1" dirty="0">
                    <a:solidFill>
                      <a:srgbClr val="0070C0"/>
                    </a:solidFill>
                  </a:rPr>
                  <a:t>finite sample space</a:t>
                </a:r>
                <a:r>
                  <a:rPr lang="en-US" dirty="0"/>
                  <a:t> and </a:t>
                </a:r>
                <a:r>
                  <a:rPr lang="en-IN" dirty="0"/>
                  <a:t>all outcomes </a:t>
                </a:r>
                <a:r>
                  <a:rPr lang="en-US" dirty="0"/>
                  <a:t>are </a:t>
                </a:r>
                <a:r>
                  <a:rPr lang="en-US" b="1" dirty="0">
                    <a:solidFill>
                      <a:srgbClr val="0070C0"/>
                    </a:solidFill>
                  </a:rPr>
                  <a:t>equally likely</a:t>
                </a:r>
                <a:r>
                  <a:rPr lang="en-US" dirty="0"/>
                  <a:t>, the probability of an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, denoted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</m:d>
                  </m:oMath>
                </a14:m>
                <a:r>
                  <a:rPr lang="en-US" dirty="0"/>
                  <a:t>, is defined as</a:t>
                </a:r>
                <a:r>
                  <a:rPr lang="en-GB" dirty="0"/>
                  <a:t>:</a:t>
                </a:r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i="0" dirty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favourable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outcomes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T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otal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possible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outcomes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</m:den>
                      </m:f>
                    </m:oMath>
                  </m:oMathPara>
                </a14:m>
                <a:endParaRPr lang="en-GB" dirty="0"/>
              </a:p>
              <a:p>
                <a:pPr marL="266700" indent="0" algn="ctr">
                  <a:buNone/>
                </a:pPr>
                <a:r>
                  <a:rPr lang="en-GB" dirty="0"/>
                  <a:t>or</a:t>
                </a:r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GB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𝐄</m:t>
                          </m:r>
                        </m:e>
                      </m:d>
                      <m:r>
                        <a:rPr lang="en-GB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elements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in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US" i="0" dirty="0"/>
                            <m:t>event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dirty="0">
                              <a:latin typeface="Cambria Math" panose="02040503050406030204" pitchFamily="18" charset="0"/>
                            </a:rPr>
                            <m:t>E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elements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/>
                            <m:t>in</m:t>
                          </m:r>
                          <m:r>
                            <m:rPr>
                              <m:nor/>
                            </m:rPr>
                            <a:rPr lang="en-US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US" i="0" dirty="0"/>
                            <m:t>sample</m:t>
                          </m:r>
                          <m:r>
                            <m:rPr>
                              <m:nor/>
                            </m:rPr>
                            <a:rPr lang="en-US" i="0" dirty="0"/>
                            <m:t> </m:t>
                          </m:r>
                          <m:r>
                            <m:rPr>
                              <m:nor/>
                            </m:rPr>
                            <a:rPr lang="en-US" i="0" dirty="0"/>
                            <m:t>space</m:t>
                          </m:r>
                          <m:r>
                            <m:rPr>
                              <m:nor/>
                            </m:rPr>
                            <a:rPr lang="en-IN" i="0" dirty="0"/>
                            <m:t> </m:t>
                          </m:r>
                          <m:r>
                            <m:rPr>
                              <m:sty m:val="p"/>
                            </m:rPr>
                            <a:rPr lang="en-GB" i="1" dirty="0">
                              <a:latin typeface="Cambria Math" panose="02040503050406030204" pitchFamily="18" charset="0"/>
                            </a:rPr>
                            <m:t>S</m:t>
                          </m:r>
                          <m:r>
                            <a:rPr lang="en-IN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GB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GB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𝐄</m:t>
                              </m:r>
                            </m:e>
                          </m:d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GB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𝐒</m:t>
                              </m:r>
                            </m:e>
                          </m:d>
                          <m:r>
                            <a:rPr lang="en-GB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⊆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F897925-9F3B-6BAA-D5EC-A44059916CB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27670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642026"/>
                <a:ext cx="11929641" cy="5811983"/>
              </a:xfrm>
            </p:spPr>
            <p:txBody>
              <a:bodyPr/>
              <a:lstStyle/>
              <a:p>
                <a:pPr>
                  <a:lnSpc>
                    <a:spcPct val="150000"/>
                  </a:lnSpc>
                </a:pPr>
                <a:r>
                  <a:rPr lang="en-US" dirty="0"/>
                  <a:t>A box contains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blue,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2 </m:t>
                    </m:r>
                  </m:oMath>
                </a14:m>
                <a:r>
                  <a:rPr lang="en-US" dirty="0"/>
                  <a:t>white,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4 </m:t>
                    </m:r>
                  </m:oMath>
                </a14:m>
                <a:r>
                  <a:rPr lang="en-US" dirty="0"/>
                  <a:t>red marbles. A marble is drawn at random from the box, what is the probability that it will be white?</a:t>
                </a:r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Number of all possible outcomes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i="0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S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=9</m:t>
                    </m:r>
                  </m:oMath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W</m:t>
                    </m:r>
                  </m:oMath>
                </a14:m>
                <a:r>
                  <a:rPr lang="en-US" dirty="0"/>
                  <a:t> be the event that marble is white</a:t>
                </a:r>
              </a:p>
              <a:p>
                <a:pPr marL="266700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W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642026"/>
                <a:ext cx="11929641" cy="5811983"/>
              </a:xfrm>
              <a:blipFill>
                <a:blip r:embed="rId2"/>
                <a:stretch>
                  <a:fillRect l="-971" r="-1074" b="-10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563CC6C-7933-472A-ADD0-3C06EA6EFF4F}"/>
                  </a:ext>
                </a:extLst>
              </p:cNvPr>
              <p:cNvSpPr txBox="1"/>
              <p:nvPr/>
            </p:nvSpPr>
            <p:spPr>
              <a:xfrm>
                <a:off x="7971985" y="3868472"/>
                <a:ext cx="13566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∴ 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563CC6C-7933-472A-ADD0-3C06EA6EFF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1985" y="3868472"/>
                <a:ext cx="135663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CD04434-F191-4B4E-BBF4-46465B4DC39F}"/>
                  </a:ext>
                </a:extLst>
              </p:cNvPr>
              <p:cNvSpPr txBox="1"/>
              <p:nvPr/>
            </p:nvSpPr>
            <p:spPr>
              <a:xfrm>
                <a:off x="9290518" y="4857910"/>
                <a:ext cx="99082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CD04434-F191-4B4E-BBF4-46465B4DC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18" y="4857910"/>
                <a:ext cx="990826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E8A34B9-E04B-4E3F-B93A-D9CAB8C21FAF}"/>
                  </a:ext>
                </a:extLst>
              </p:cNvPr>
              <p:cNvSpPr txBox="1"/>
              <p:nvPr/>
            </p:nvSpPr>
            <p:spPr>
              <a:xfrm>
                <a:off x="9290518" y="3625838"/>
                <a:ext cx="1497012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W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E8A34B9-E04B-4E3F-B93A-D9CAB8C21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18" y="3625838"/>
                <a:ext cx="1497012" cy="98943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5387797-9EC5-49EA-AA9A-A4363D9197AB}"/>
                  </a:ext>
                </a:extLst>
              </p:cNvPr>
              <p:cNvSpPr txBox="1"/>
              <p:nvPr/>
            </p:nvSpPr>
            <p:spPr>
              <a:xfrm>
                <a:off x="5317983" y="2170670"/>
                <a:ext cx="2443472" cy="52322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defPPr>
                  <a:defRPr lang="en-US"/>
                </a:defPPr>
                <a:lvl1pPr lvl="0" indent="0" algn="just">
                  <a:lnSpc>
                    <a:spcPct val="100000"/>
                  </a:lnSpc>
                  <a:spcBef>
                    <a:spcPts val="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>
                    <a:solidFill>
                      <a:srgbClr val="002060"/>
                    </a:solidFill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3+2+4=9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5387797-9EC5-49EA-AA9A-A4363D919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7983" y="2170670"/>
                <a:ext cx="24434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CB3F2F0-6B91-49C2-9DC4-8E6C1F44141D}"/>
              </a:ext>
            </a:extLst>
          </p:cNvPr>
          <p:cNvCxnSpPr/>
          <p:nvPr/>
        </p:nvCxnSpPr>
        <p:spPr>
          <a:xfrm>
            <a:off x="7521372" y="3170500"/>
            <a:ext cx="0" cy="315153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161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6" grpId="0"/>
      <p:bldP spid="7" grpId="0"/>
      <p:bldP spid="10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8242825-4775-D920-7E95-93FC4643E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991C6F-0FBA-C757-D126-9F08DB344A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Basic Properties of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B241234-47C5-BBDC-E83C-E5D9B08B90D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50000"/>
                  </a:lnSpc>
                </a:pPr>
                <a:r>
                  <a:rPr lang="en-US" dirty="0">
                    <a:effectLst/>
                  </a:rPr>
                  <a:t>For any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/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>
                    <a:effectLst/>
                  </a:rPr>
                  <a:t>, </a:t>
                </a:r>
                <a14:m>
                  <m:oMath xmlns:m="http://schemas.openxmlformats.org/officeDocument/2006/math">
                    <m:r>
                      <a:rPr lang="en-US">
                        <a:effectLst/>
                        <a:latin typeface="Cambria Math" panose="02040503050406030204" pitchFamily="18" charset="0"/>
                      </a:rPr>
                      <m:t>0≤</m:t>
                    </m:r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effectLst/>
                        <a:latin typeface="Cambria Math" panose="02040503050406030204" pitchFamily="18" charset="0"/>
                      </a:rPr>
                      <m:t>≤1</m:t>
                    </m:r>
                  </m:oMath>
                </a14:m>
                <a:r>
                  <a:rPr lang="en-US" dirty="0">
                    <a:effectLst/>
                  </a:rPr>
                  <a:t>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Probability measures the chance of an event occurring.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Probability can be expressed as a fraction, decimal, or percentage.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Therefore,</a:t>
                </a:r>
              </a:p>
              <a:p>
                <a:pPr lvl="2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&lt;0 </m:t>
                    </m:r>
                  </m:oMath>
                </a14:m>
                <a:r>
                  <a:rPr lang="en-US" dirty="0"/>
                  <a:t>is not possible, since a probability cannot be negative.</a:t>
                </a:r>
              </a:p>
              <a:p>
                <a:pPr lvl="2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&gt;1</m:t>
                    </m:r>
                  </m:oMath>
                </a14:m>
                <a:r>
                  <a:rPr lang="en-US" dirty="0"/>
                  <a:t> (or greater than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100%</m:t>
                    </m:r>
                  </m:oMath>
                </a14:m>
                <a:r>
                  <a:rPr lang="en-US" dirty="0"/>
                  <a:t>) is not possible, since no event can be more certain than a certain event.</a:t>
                </a:r>
                <a:endParaRPr lang="en-IN" dirty="0"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B241234-47C5-BBDC-E83C-E5D9B08B90D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07683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22819826-C44F-C44E-E44B-438C12C2A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B4181A2-8F4E-A1DC-0957-B727B71DC3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Basic Properties of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C09BE7A-A2C2-788F-18CF-704D66EDE1B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/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⟺</m:t>
                    </m:r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is an impossible event</a:t>
                </a:r>
                <a:r>
                  <a:rPr lang="en-US" dirty="0"/>
                  <a:t>.</a:t>
                </a:r>
              </a:p>
              <a:p>
                <a:pPr marL="271463" lvl="1" indent="0">
                  <a:buNone/>
                </a:pPr>
                <a:r>
                  <a:rPr lang="en-IN" b="1" u="sng" dirty="0">
                    <a:solidFill>
                      <a:srgbClr val="7030A0"/>
                    </a:solidFill>
                  </a:rPr>
                  <a:t>Reason:</a:t>
                </a:r>
                <a:r>
                  <a:rPr lang="en-IN" dirty="0"/>
                  <a:t> </a:t>
                </a:r>
              </a:p>
              <a:p>
                <a:pPr lvl="1"/>
                <a:r>
                  <a:rPr lang="en-IN" dirty="0"/>
                  <a:t>An impossible event has no favourable outcomes. </a:t>
                </a:r>
              </a:p>
              <a:p>
                <a:pPr marL="622300" lvl="1" indent="0">
                  <a:buNone/>
                </a:pPr>
                <a:r>
                  <a:rPr lang="en-IN" dirty="0"/>
                  <a:t>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i="0" dirty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i="0" dirty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i="0" dirty="0">
                        <a:latin typeface="Cambria Math" panose="02040503050406030204" pitchFamily="18" charset="0"/>
                      </a:rPr>
                      <m:t>)=0</m:t>
                    </m:r>
                  </m:oMath>
                </a14:m>
                <a:r>
                  <a:rPr lang="en-IN" dirty="0"/>
                  <a:t> and 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</m:den>
                      </m:f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C09BE7A-A2C2-788F-18CF-704D66EDE1B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58459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8A09E78-D8EF-8AAC-AAA8-CED53AE94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0348C5-1655-FCD2-FC83-1BBC237069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Basic Properties of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A82D281-080E-C5B7-6266-106AC5A2955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/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⟺</m:t>
                    </m:r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is a sure event</a:t>
                </a:r>
                <a:r>
                  <a:rPr lang="en-US" dirty="0"/>
                  <a:t>.</a:t>
                </a:r>
              </a:p>
              <a:p>
                <a:pPr marL="271463" lvl="1" indent="0">
                  <a:buNone/>
                </a:pPr>
                <a:r>
                  <a:rPr lang="en-IN" b="1" u="sng" dirty="0">
                    <a:solidFill>
                      <a:srgbClr val="7030A0"/>
                    </a:solidFill>
                  </a:rPr>
                  <a:t>Proof (Classical Probability):</a:t>
                </a:r>
                <a:r>
                  <a:rPr lang="en-IN" dirty="0"/>
                  <a:t> </a:t>
                </a:r>
              </a:p>
              <a:p>
                <a:pPr lvl="1"/>
                <a:r>
                  <a:rPr lang="en-US" dirty="0"/>
                  <a:t>A sure event contains all possible outcomes. </a:t>
                </a:r>
                <a:endParaRPr lang="en-IN" dirty="0"/>
              </a:p>
              <a:p>
                <a:pPr marL="622300" lvl="1" indent="0">
                  <a:buNone/>
                </a:pPr>
                <a:r>
                  <a:rPr lang="en-IN" dirty="0"/>
                  <a:t>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i="0" dirty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i="0" dirty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i="0" dirty="0">
                        <a:latin typeface="Cambria Math" panose="02040503050406030204" pitchFamily="18" charset="0"/>
                      </a:rPr>
                      <m:t>)=</m:t>
                    </m:r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en-IN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S</m:t>
                        </m:r>
                      </m:e>
                    </m:d>
                  </m:oMath>
                </a14:m>
                <a:r>
                  <a:rPr lang="en-IN" dirty="0"/>
                  <a:t> and 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  <m: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GB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GB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</m:den>
                      </m:f>
                      <m: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A82D281-080E-C5B7-6266-106AC5A2955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204615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240876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spcBef>
                <a:spcPts val="6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Two unbiased dice are thrown. Find the probability that:</a:t>
            </a:r>
          </a:p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prstClr val="white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The total of the numbers on the dice is greater than 8.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38628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E2B5BCD-2FB7-49EC-A4FA-BDB71C94E139}"/>
                  </a:ext>
                </a:extLst>
              </p:cNvPr>
              <p:cNvSpPr txBox="1"/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0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0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IN" sz="2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6, 6 </m:t>
                                        </m:r>
                                      </m:e>
                                    </m:d>
                                  </m:e>
                                </m:mr>
                              </m:m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E2B5BCD-2FB7-49EC-A4FA-BDB71C94E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/>
              <p:nvPr/>
            </p:nvSpPr>
            <p:spPr>
              <a:xfrm>
                <a:off x="2451058" y="3386286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1058" y="3386286"/>
                <a:ext cx="179537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TextBox 54">
            <a:extLst>
              <a:ext uri="{FF2B5EF4-FFF2-40B4-BE49-F238E27FC236}">
                <a16:creationId xmlns:a16="http://schemas.microsoft.com/office/drawing/2014/main" id="{D3898D9F-0744-4298-8F6B-C318A13799F3}"/>
              </a:ext>
            </a:extLst>
          </p:cNvPr>
          <p:cNvSpPr txBox="1"/>
          <p:nvPr/>
        </p:nvSpPr>
        <p:spPr>
          <a:xfrm>
            <a:off x="1594218" y="3386286"/>
            <a:ext cx="93943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/>
              <p:nvPr/>
            </p:nvSpPr>
            <p:spPr>
              <a:xfrm>
                <a:off x="1594218" y="399532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995328"/>
                <a:ext cx="1463040" cy="523220"/>
              </a:xfrm>
              <a:prstGeom prst="rect">
                <a:avLst/>
              </a:prstGeom>
              <a:blipFill>
                <a:blip r:embed="rId5"/>
                <a:stretch>
                  <a:fillRect l="-8750" t="-10465" r="-500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/>
              <p:nvPr/>
            </p:nvSpPr>
            <p:spPr>
              <a:xfrm>
                <a:off x="2941421" y="3995328"/>
                <a:ext cx="72863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greater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21" y="3995328"/>
                <a:ext cx="7286312" cy="523220"/>
              </a:xfrm>
              <a:prstGeom prst="rect">
                <a:avLst/>
              </a:prstGeom>
              <a:blipFill>
                <a:blip r:embed="rId6"/>
                <a:stretch>
                  <a:fillRect l="-175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B31C1F2E-4647-41B1-B9FD-DB0F562C3074}"/>
                  </a:ext>
                </a:extLst>
              </p:cNvPr>
              <p:cNvSpPr txBox="1"/>
              <p:nvPr/>
            </p:nvSpPr>
            <p:spPr>
              <a:xfrm>
                <a:off x="10328380" y="3995328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B31C1F2E-4647-41B1-B9FD-DB0F562C30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8380" y="3995328"/>
                <a:ext cx="17953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A4A1F4A2-27F7-4E67-BA3A-006AE70165A2}"/>
              </a:ext>
            </a:extLst>
          </p:cNvPr>
          <p:cNvSpPr/>
          <p:nvPr/>
        </p:nvSpPr>
        <p:spPr>
          <a:xfrm>
            <a:off x="8360868" y="5321300"/>
            <a:ext cx="3524727" cy="1244358"/>
          </a:xfrm>
          <a:custGeom>
            <a:avLst/>
            <a:gdLst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487307 w 3524727"/>
              <a:gd name="connsiteY5" fmla="*/ 327078 h 1294004"/>
              <a:gd name="connsiteX6" fmla="*/ 3491068 w 3524727"/>
              <a:gd name="connsiteY6" fmla="*/ 327837 h 1294004"/>
              <a:gd name="connsiteX7" fmla="*/ 3524726 w 3524727"/>
              <a:gd name="connsiteY7" fmla="*/ 378615 h 1294004"/>
              <a:gd name="connsiteX8" fmla="*/ 3524726 w 3524727"/>
              <a:gd name="connsiteY8" fmla="*/ 599046 h 1294004"/>
              <a:gd name="connsiteX9" fmla="*/ 3491068 w 3524727"/>
              <a:gd name="connsiteY9" fmla="*/ 649825 h 1294004"/>
              <a:gd name="connsiteX10" fmla="*/ 3487333 w 3524727"/>
              <a:gd name="connsiteY10" fmla="*/ 650579 h 1294004"/>
              <a:gd name="connsiteX11" fmla="*/ 3491069 w 3524727"/>
              <a:gd name="connsiteY11" fmla="*/ 651333 h 1294004"/>
              <a:gd name="connsiteX12" fmla="*/ 3524727 w 3524727"/>
              <a:gd name="connsiteY12" fmla="*/ 702111 h 1294004"/>
              <a:gd name="connsiteX13" fmla="*/ 3524727 w 3524727"/>
              <a:gd name="connsiteY13" fmla="*/ 922542 h 1294004"/>
              <a:gd name="connsiteX14" fmla="*/ 3508586 w 3524727"/>
              <a:gd name="connsiteY14" fmla="*/ 961510 h 1294004"/>
              <a:gd name="connsiteX15" fmla="*/ 3495248 w 3524727"/>
              <a:gd name="connsiteY15" fmla="*/ 970503 h 1294004"/>
              <a:gd name="connsiteX16" fmla="*/ 3508586 w 3524727"/>
              <a:gd name="connsiteY16" fmla="*/ 979496 h 1294004"/>
              <a:gd name="connsiteX17" fmla="*/ 3524727 w 3524727"/>
              <a:gd name="connsiteY17" fmla="*/ 1018464 h 1294004"/>
              <a:gd name="connsiteX18" fmla="*/ 3524727 w 3524727"/>
              <a:gd name="connsiteY18" fmla="*/ 1238895 h 1294004"/>
              <a:gd name="connsiteX19" fmla="*/ 3469618 w 3524727"/>
              <a:gd name="connsiteY19" fmla="*/ 1294004 h 1294004"/>
              <a:gd name="connsiteX20" fmla="*/ 55109 w 3524727"/>
              <a:gd name="connsiteY20" fmla="*/ 1294004 h 1294004"/>
              <a:gd name="connsiteX21" fmla="*/ 0 w 3524727"/>
              <a:gd name="connsiteY21" fmla="*/ 1238895 h 1294004"/>
              <a:gd name="connsiteX22" fmla="*/ 0 w 3524727"/>
              <a:gd name="connsiteY22" fmla="*/ 1018464 h 1294004"/>
              <a:gd name="connsiteX23" fmla="*/ 55109 w 3524727"/>
              <a:gd name="connsiteY23" fmla="*/ 963355 h 1294004"/>
              <a:gd name="connsiteX24" fmla="*/ 879939 w 3524727"/>
              <a:gd name="connsiteY24" fmla="*/ 963355 h 1294004"/>
              <a:gd name="connsiteX25" fmla="*/ 877202 w 3524727"/>
              <a:gd name="connsiteY25" fmla="*/ 961510 h 1294004"/>
              <a:gd name="connsiteX26" fmla="*/ 861061 w 3524727"/>
              <a:gd name="connsiteY26" fmla="*/ 922542 h 1294004"/>
              <a:gd name="connsiteX27" fmla="*/ 861061 w 3524727"/>
              <a:gd name="connsiteY27" fmla="*/ 702111 h 1294004"/>
              <a:gd name="connsiteX28" fmla="*/ 916170 w 3524727"/>
              <a:gd name="connsiteY28" fmla="*/ 647002 h 1294004"/>
              <a:gd name="connsiteX29" fmla="*/ 1797311 w 3524727"/>
              <a:gd name="connsiteY29" fmla="*/ 647002 h 1294004"/>
              <a:gd name="connsiteX30" fmla="*/ 1783980 w 3524727"/>
              <a:gd name="connsiteY30" fmla="*/ 638014 h 1294004"/>
              <a:gd name="connsiteX31" fmla="*/ 1767839 w 3524727"/>
              <a:gd name="connsiteY31" fmla="*/ 599046 h 1294004"/>
              <a:gd name="connsiteX32" fmla="*/ 1767839 w 3524727"/>
              <a:gd name="connsiteY32" fmla="*/ 378615 h 1294004"/>
              <a:gd name="connsiteX33" fmla="*/ 1822948 w 3524727"/>
              <a:gd name="connsiteY33" fmla="*/ 323506 h 1294004"/>
              <a:gd name="connsiteX34" fmla="*/ 2666482 w 3524727"/>
              <a:gd name="connsiteY34" fmla="*/ 323506 h 1294004"/>
              <a:gd name="connsiteX35" fmla="*/ 2653136 w 3524727"/>
              <a:gd name="connsiteY35" fmla="*/ 314508 h 1294004"/>
              <a:gd name="connsiteX36" fmla="*/ 2636995 w 3524727"/>
              <a:gd name="connsiteY36" fmla="*/ 275540 h 1294004"/>
              <a:gd name="connsiteX37" fmla="*/ 2636995 w 3524727"/>
              <a:gd name="connsiteY37" fmla="*/ 55109 h 1294004"/>
              <a:gd name="connsiteX38" fmla="*/ 2692104 w 3524727"/>
              <a:gd name="connsiteY38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487307 w 3524727"/>
              <a:gd name="connsiteY5" fmla="*/ 327078 h 1294004"/>
              <a:gd name="connsiteX6" fmla="*/ 3524726 w 3524727"/>
              <a:gd name="connsiteY6" fmla="*/ 378615 h 1294004"/>
              <a:gd name="connsiteX7" fmla="*/ 3524726 w 3524727"/>
              <a:gd name="connsiteY7" fmla="*/ 599046 h 1294004"/>
              <a:gd name="connsiteX8" fmla="*/ 3491068 w 3524727"/>
              <a:gd name="connsiteY8" fmla="*/ 649825 h 1294004"/>
              <a:gd name="connsiteX9" fmla="*/ 3487333 w 3524727"/>
              <a:gd name="connsiteY9" fmla="*/ 650579 h 1294004"/>
              <a:gd name="connsiteX10" fmla="*/ 3491069 w 3524727"/>
              <a:gd name="connsiteY10" fmla="*/ 651333 h 1294004"/>
              <a:gd name="connsiteX11" fmla="*/ 3524727 w 3524727"/>
              <a:gd name="connsiteY11" fmla="*/ 702111 h 1294004"/>
              <a:gd name="connsiteX12" fmla="*/ 3524727 w 3524727"/>
              <a:gd name="connsiteY12" fmla="*/ 922542 h 1294004"/>
              <a:gd name="connsiteX13" fmla="*/ 3508586 w 3524727"/>
              <a:gd name="connsiteY13" fmla="*/ 961510 h 1294004"/>
              <a:gd name="connsiteX14" fmla="*/ 3495248 w 3524727"/>
              <a:gd name="connsiteY14" fmla="*/ 970503 h 1294004"/>
              <a:gd name="connsiteX15" fmla="*/ 3508586 w 3524727"/>
              <a:gd name="connsiteY15" fmla="*/ 979496 h 1294004"/>
              <a:gd name="connsiteX16" fmla="*/ 3524727 w 3524727"/>
              <a:gd name="connsiteY16" fmla="*/ 1018464 h 1294004"/>
              <a:gd name="connsiteX17" fmla="*/ 3524727 w 3524727"/>
              <a:gd name="connsiteY17" fmla="*/ 1238895 h 1294004"/>
              <a:gd name="connsiteX18" fmla="*/ 3469618 w 3524727"/>
              <a:gd name="connsiteY18" fmla="*/ 1294004 h 1294004"/>
              <a:gd name="connsiteX19" fmla="*/ 55109 w 3524727"/>
              <a:gd name="connsiteY19" fmla="*/ 1294004 h 1294004"/>
              <a:gd name="connsiteX20" fmla="*/ 0 w 3524727"/>
              <a:gd name="connsiteY20" fmla="*/ 1238895 h 1294004"/>
              <a:gd name="connsiteX21" fmla="*/ 0 w 3524727"/>
              <a:gd name="connsiteY21" fmla="*/ 1018464 h 1294004"/>
              <a:gd name="connsiteX22" fmla="*/ 55109 w 3524727"/>
              <a:gd name="connsiteY22" fmla="*/ 963355 h 1294004"/>
              <a:gd name="connsiteX23" fmla="*/ 879939 w 3524727"/>
              <a:gd name="connsiteY23" fmla="*/ 963355 h 1294004"/>
              <a:gd name="connsiteX24" fmla="*/ 877202 w 3524727"/>
              <a:gd name="connsiteY24" fmla="*/ 961510 h 1294004"/>
              <a:gd name="connsiteX25" fmla="*/ 861061 w 3524727"/>
              <a:gd name="connsiteY25" fmla="*/ 922542 h 1294004"/>
              <a:gd name="connsiteX26" fmla="*/ 861061 w 3524727"/>
              <a:gd name="connsiteY26" fmla="*/ 702111 h 1294004"/>
              <a:gd name="connsiteX27" fmla="*/ 916170 w 3524727"/>
              <a:gd name="connsiteY27" fmla="*/ 647002 h 1294004"/>
              <a:gd name="connsiteX28" fmla="*/ 1797311 w 3524727"/>
              <a:gd name="connsiteY28" fmla="*/ 647002 h 1294004"/>
              <a:gd name="connsiteX29" fmla="*/ 1783980 w 3524727"/>
              <a:gd name="connsiteY29" fmla="*/ 638014 h 1294004"/>
              <a:gd name="connsiteX30" fmla="*/ 1767839 w 3524727"/>
              <a:gd name="connsiteY30" fmla="*/ 599046 h 1294004"/>
              <a:gd name="connsiteX31" fmla="*/ 1767839 w 3524727"/>
              <a:gd name="connsiteY31" fmla="*/ 378615 h 1294004"/>
              <a:gd name="connsiteX32" fmla="*/ 1822948 w 3524727"/>
              <a:gd name="connsiteY32" fmla="*/ 323506 h 1294004"/>
              <a:gd name="connsiteX33" fmla="*/ 2666482 w 3524727"/>
              <a:gd name="connsiteY33" fmla="*/ 323506 h 1294004"/>
              <a:gd name="connsiteX34" fmla="*/ 2653136 w 3524727"/>
              <a:gd name="connsiteY34" fmla="*/ 314508 h 1294004"/>
              <a:gd name="connsiteX35" fmla="*/ 2636995 w 3524727"/>
              <a:gd name="connsiteY35" fmla="*/ 275540 h 1294004"/>
              <a:gd name="connsiteX36" fmla="*/ 2636995 w 3524727"/>
              <a:gd name="connsiteY36" fmla="*/ 55109 h 1294004"/>
              <a:gd name="connsiteX37" fmla="*/ 2692104 w 3524727"/>
              <a:gd name="connsiteY3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524726 w 3524727"/>
              <a:gd name="connsiteY5" fmla="*/ 378615 h 1294004"/>
              <a:gd name="connsiteX6" fmla="*/ 3524726 w 3524727"/>
              <a:gd name="connsiteY6" fmla="*/ 599046 h 1294004"/>
              <a:gd name="connsiteX7" fmla="*/ 3491068 w 3524727"/>
              <a:gd name="connsiteY7" fmla="*/ 649825 h 1294004"/>
              <a:gd name="connsiteX8" fmla="*/ 3487333 w 3524727"/>
              <a:gd name="connsiteY8" fmla="*/ 650579 h 1294004"/>
              <a:gd name="connsiteX9" fmla="*/ 3491069 w 3524727"/>
              <a:gd name="connsiteY9" fmla="*/ 651333 h 1294004"/>
              <a:gd name="connsiteX10" fmla="*/ 3524727 w 3524727"/>
              <a:gd name="connsiteY10" fmla="*/ 702111 h 1294004"/>
              <a:gd name="connsiteX11" fmla="*/ 3524727 w 3524727"/>
              <a:gd name="connsiteY11" fmla="*/ 922542 h 1294004"/>
              <a:gd name="connsiteX12" fmla="*/ 3508586 w 3524727"/>
              <a:gd name="connsiteY12" fmla="*/ 961510 h 1294004"/>
              <a:gd name="connsiteX13" fmla="*/ 3495248 w 3524727"/>
              <a:gd name="connsiteY13" fmla="*/ 970503 h 1294004"/>
              <a:gd name="connsiteX14" fmla="*/ 3508586 w 3524727"/>
              <a:gd name="connsiteY14" fmla="*/ 979496 h 1294004"/>
              <a:gd name="connsiteX15" fmla="*/ 3524727 w 3524727"/>
              <a:gd name="connsiteY15" fmla="*/ 1018464 h 1294004"/>
              <a:gd name="connsiteX16" fmla="*/ 3524727 w 3524727"/>
              <a:gd name="connsiteY16" fmla="*/ 1238895 h 1294004"/>
              <a:gd name="connsiteX17" fmla="*/ 3469618 w 3524727"/>
              <a:gd name="connsiteY17" fmla="*/ 1294004 h 1294004"/>
              <a:gd name="connsiteX18" fmla="*/ 55109 w 3524727"/>
              <a:gd name="connsiteY18" fmla="*/ 1294004 h 1294004"/>
              <a:gd name="connsiteX19" fmla="*/ 0 w 3524727"/>
              <a:gd name="connsiteY19" fmla="*/ 1238895 h 1294004"/>
              <a:gd name="connsiteX20" fmla="*/ 0 w 3524727"/>
              <a:gd name="connsiteY20" fmla="*/ 1018464 h 1294004"/>
              <a:gd name="connsiteX21" fmla="*/ 55109 w 3524727"/>
              <a:gd name="connsiteY21" fmla="*/ 963355 h 1294004"/>
              <a:gd name="connsiteX22" fmla="*/ 879939 w 3524727"/>
              <a:gd name="connsiteY22" fmla="*/ 963355 h 1294004"/>
              <a:gd name="connsiteX23" fmla="*/ 877202 w 3524727"/>
              <a:gd name="connsiteY23" fmla="*/ 961510 h 1294004"/>
              <a:gd name="connsiteX24" fmla="*/ 861061 w 3524727"/>
              <a:gd name="connsiteY24" fmla="*/ 922542 h 1294004"/>
              <a:gd name="connsiteX25" fmla="*/ 861061 w 3524727"/>
              <a:gd name="connsiteY25" fmla="*/ 702111 h 1294004"/>
              <a:gd name="connsiteX26" fmla="*/ 916170 w 3524727"/>
              <a:gd name="connsiteY26" fmla="*/ 647002 h 1294004"/>
              <a:gd name="connsiteX27" fmla="*/ 1797311 w 3524727"/>
              <a:gd name="connsiteY27" fmla="*/ 647002 h 1294004"/>
              <a:gd name="connsiteX28" fmla="*/ 1783980 w 3524727"/>
              <a:gd name="connsiteY28" fmla="*/ 638014 h 1294004"/>
              <a:gd name="connsiteX29" fmla="*/ 1767839 w 3524727"/>
              <a:gd name="connsiteY29" fmla="*/ 599046 h 1294004"/>
              <a:gd name="connsiteX30" fmla="*/ 1767839 w 3524727"/>
              <a:gd name="connsiteY30" fmla="*/ 378615 h 1294004"/>
              <a:gd name="connsiteX31" fmla="*/ 1822948 w 3524727"/>
              <a:gd name="connsiteY31" fmla="*/ 323506 h 1294004"/>
              <a:gd name="connsiteX32" fmla="*/ 2666482 w 3524727"/>
              <a:gd name="connsiteY32" fmla="*/ 323506 h 1294004"/>
              <a:gd name="connsiteX33" fmla="*/ 2653136 w 3524727"/>
              <a:gd name="connsiteY33" fmla="*/ 314508 h 1294004"/>
              <a:gd name="connsiteX34" fmla="*/ 2636995 w 3524727"/>
              <a:gd name="connsiteY34" fmla="*/ 275540 h 1294004"/>
              <a:gd name="connsiteX35" fmla="*/ 2636995 w 3524727"/>
              <a:gd name="connsiteY35" fmla="*/ 55109 h 1294004"/>
              <a:gd name="connsiteX36" fmla="*/ 2692104 w 3524727"/>
              <a:gd name="connsiteY36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487333 w 3524727"/>
              <a:gd name="connsiteY7" fmla="*/ 650579 h 1294004"/>
              <a:gd name="connsiteX8" fmla="*/ 3491069 w 3524727"/>
              <a:gd name="connsiteY8" fmla="*/ 651333 h 1294004"/>
              <a:gd name="connsiteX9" fmla="*/ 3524727 w 3524727"/>
              <a:gd name="connsiteY9" fmla="*/ 702111 h 1294004"/>
              <a:gd name="connsiteX10" fmla="*/ 3524727 w 3524727"/>
              <a:gd name="connsiteY10" fmla="*/ 922542 h 1294004"/>
              <a:gd name="connsiteX11" fmla="*/ 3508586 w 3524727"/>
              <a:gd name="connsiteY11" fmla="*/ 961510 h 1294004"/>
              <a:gd name="connsiteX12" fmla="*/ 3495248 w 3524727"/>
              <a:gd name="connsiteY12" fmla="*/ 970503 h 1294004"/>
              <a:gd name="connsiteX13" fmla="*/ 3508586 w 3524727"/>
              <a:gd name="connsiteY13" fmla="*/ 979496 h 1294004"/>
              <a:gd name="connsiteX14" fmla="*/ 3524727 w 3524727"/>
              <a:gd name="connsiteY14" fmla="*/ 1018464 h 1294004"/>
              <a:gd name="connsiteX15" fmla="*/ 3524727 w 3524727"/>
              <a:gd name="connsiteY15" fmla="*/ 1238895 h 1294004"/>
              <a:gd name="connsiteX16" fmla="*/ 3469618 w 3524727"/>
              <a:gd name="connsiteY16" fmla="*/ 1294004 h 1294004"/>
              <a:gd name="connsiteX17" fmla="*/ 55109 w 3524727"/>
              <a:gd name="connsiteY17" fmla="*/ 1294004 h 1294004"/>
              <a:gd name="connsiteX18" fmla="*/ 0 w 3524727"/>
              <a:gd name="connsiteY18" fmla="*/ 1238895 h 1294004"/>
              <a:gd name="connsiteX19" fmla="*/ 0 w 3524727"/>
              <a:gd name="connsiteY19" fmla="*/ 1018464 h 1294004"/>
              <a:gd name="connsiteX20" fmla="*/ 55109 w 3524727"/>
              <a:gd name="connsiteY20" fmla="*/ 963355 h 1294004"/>
              <a:gd name="connsiteX21" fmla="*/ 879939 w 3524727"/>
              <a:gd name="connsiteY21" fmla="*/ 963355 h 1294004"/>
              <a:gd name="connsiteX22" fmla="*/ 877202 w 3524727"/>
              <a:gd name="connsiteY22" fmla="*/ 961510 h 1294004"/>
              <a:gd name="connsiteX23" fmla="*/ 861061 w 3524727"/>
              <a:gd name="connsiteY23" fmla="*/ 922542 h 1294004"/>
              <a:gd name="connsiteX24" fmla="*/ 861061 w 3524727"/>
              <a:gd name="connsiteY24" fmla="*/ 702111 h 1294004"/>
              <a:gd name="connsiteX25" fmla="*/ 916170 w 3524727"/>
              <a:gd name="connsiteY25" fmla="*/ 647002 h 1294004"/>
              <a:gd name="connsiteX26" fmla="*/ 1797311 w 3524727"/>
              <a:gd name="connsiteY26" fmla="*/ 647002 h 1294004"/>
              <a:gd name="connsiteX27" fmla="*/ 1783980 w 3524727"/>
              <a:gd name="connsiteY27" fmla="*/ 638014 h 1294004"/>
              <a:gd name="connsiteX28" fmla="*/ 1767839 w 3524727"/>
              <a:gd name="connsiteY28" fmla="*/ 599046 h 1294004"/>
              <a:gd name="connsiteX29" fmla="*/ 1767839 w 3524727"/>
              <a:gd name="connsiteY29" fmla="*/ 378615 h 1294004"/>
              <a:gd name="connsiteX30" fmla="*/ 1822948 w 3524727"/>
              <a:gd name="connsiteY30" fmla="*/ 323506 h 1294004"/>
              <a:gd name="connsiteX31" fmla="*/ 2666482 w 3524727"/>
              <a:gd name="connsiteY31" fmla="*/ 323506 h 1294004"/>
              <a:gd name="connsiteX32" fmla="*/ 2653136 w 3524727"/>
              <a:gd name="connsiteY32" fmla="*/ 314508 h 1294004"/>
              <a:gd name="connsiteX33" fmla="*/ 2636995 w 3524727"/>
              <a:gd name="connsiteY33" fmla="*/ 275540 h 1294004"/>
              <a:gd name="connsiteX34" fmla="*/ 2636995 w 3524727"/>
              <a:gd name="connsiteY34" fmla="*/ 55109 h 1294004"/>
              <a:gd name="connsiteX35" fmla="*/ 2692104 w 3524727"/>
              <a:gd name="connsiteY3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487333 w 3524727"/>
              <a:gd name="connsiteY7" fmla="*/ 650579 h 1294004"/>
              <a:gd name="connsiteX8" fmla="*/ 3524727 w 3524727"/>
              <a:gd name="connsiteY8" fmla="*/ 702111 h 1294004"/>
              <a:gd name="connsiteX9" fmla="*/ 3524727 w 3524727"/>
              <a:gd name="connsiteY9" fmla="*/ 922542 h 1294004"/>
              <a:gd name="connsiteX10" fmla="*/ 3508586 w 3524727"/>
              <a:gd name="connsiteY10" fmla="*/ 961510 h 1294004"/>
              <a:gd name="connsiteX11" fmla="*/ 3495248 w 3524727"/>
              <a:gd name="connsiteY11" fmla="*/ 970503 h 1294004"/>
              <a:gd name="connsiteX12" fmla="*/ 3508586 w 3524727"/>
              <a:gd name="connsiteY12" fmla="*/ 979496 h 1294004"/>
              <a:gd name="connsiteX13" fmla="*/ 3524727 w 3524727"/>
              <a:gd name="connsiteY13" fmla="*/ 1018464 h 1294004"/>
              <a:gd name="connsiteX14" fmla="*/ 3524727 w 3524727"/>
              <a:gd name="connsiteY14" fmla="*/ 1238895 h 1294004"/>
              <a:gd name="connsiteX15" fmla="*/ 3469618 w 3524727"/>
              <a:gd name="connsiteY15" fmla="*/ 1294004 h 1294004"/>
              <a:gd name="connsiteX16" fmla="*/ 55109 w 3524727"/>
              <a:gd name="connsiteY16" fmla="*/ 1294004 h 1294004"/>
              <a:gd name="connsiteX17" fmla="*/ 0 w 3524727"/>
              <a:gd name="connsiteY17" fmla="*/ 1238895 h 1294004"/>
              <a:gd name="connsiteX18" fmla="*/ 0 w 3524727"/>
              <a:gd name="connsiteY18" fmla="*/ 1018464 h 1294004"/>
              <a:gd name="connsiteX19" fmla="*/ 55109 w 3524727"/>
              <a:gd name="connsiteY19" fmla="*/ 963355 h 1294004"/>
              <a:gd name="connsiteX20" fmla="*/ 879939 w 3524727"/>
              <a:gd name="connsiteY20" fmla="*/ 963355 h 1294004"/>
              <a:gd name="connsiteX21" fmla="*/ 877202 w 3524727"/>
              <a:gd name="connsiteY21" fmla="*/ 961510 h 1294004"/>
              <a:gd name="connsiteX22" fmla="*/ 861061 w 3524727"/>
              <a:gd name="connsiteY22" fmla="*/ 922542 h 1294004"/>
              <a:gd name="connsiteX23" fmla="*/ 861061 w 3524727"/>
              <a:gd name="connsiteY23" fmla="*/ 702111 h 1294004"/>
              <a:gd name="connsiteX24" fmla="*/ 916170 w 3524727"/>
              <a:gd name="connsiteY24" fmla="*/ 647002 h 1294004"/>
              <a:gd name="connsiteX25" fmla="*/ 1797311 w 3524727"/>
              <a:gd name="connsiteY25" fmla="*/ 647002 h 1294004"/>
              <a:gd name="connsiteX26" fmla="*/ 1783980 w 3524727"/>
              <a:gd name="connsiteY26" fmla="*/ 638014 h 1294004"/>
              <a:gd name="connsiteX27" fmla="*/ 1767839 w 3524727"/>
              <a:gd name="connsiteY27" fmla="*/ 599046 h 1294004"/>
              <a:gd name="connsiteX28" fmla="*/ 1767839 w 3524727"/>
              <a:gd name="connsiteY28" fmla="*/ 378615 h 1294004"/>
              <a:gd name="connsiteX29" fmla="*/ 1822948 w 3524727"/>
              <a:gd name="connsiteY29" fmla="*/ 323506 h 1294004"/>
              <a:gd name="connsiteX30" fmla="*/ 2666482 w 3524727"/>
              <a:gd name="connsiteY30" fmla="*/ 323506 h 1294004"/>
              <a:gd name="connsiteX31" fmla="*/ 2653136 w 3524727"/>
              <a:gd name="connsiteY31" fmla="*/ 314508 h 1294004"/>
              <a:gd name="connsiteX32" fmla="*/ 2636995 w 3524727"/>
              <a:gd name="connsiteY32" fmla="*/ 275540 h 1294004"/>
              <a:gd name="connsiteX33" fmla="*/ 2636995 w 3524727"/>
              <a:gd name="connsiteY33" fmla="*/ 55109 h 1294004"/>
              <a:gd name="connsiteX34" fmla="*/ 2692104 w 3524727"/>
              <a:gd name="connsiteY34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524727 w 3524727"/>
              <a:gd name="connsiteY7" fmla="*/ 702111 h 1294004"/>
              <a:gd name="connsiteX8" fmla="*/ 3524727 w 3524727"/>
              <a:gd name="connsiteY8" fmla="*/ 922542 h 1294004"/>
              <a:gd name="connsiteX9" fmla="*/ 3508586 w 3524727"/>
              <a:gd name="connsiteY9" fmla="*/ 961510 h 1294004"/>
              <a:gd name="connsiteX10" fmla="*/ 3495248 w 3524727"/>
              <a:gd name="connsiteY10" fmla="*/ 970503 h 1294004"/>
              <a:gd name="connsiteX11" fmla="*/ 3508586 w 3524727"/>
              <a:gd name="connsiteY11" fmla="*/ 979496 h 1294004"/>
              <a:gd name="connsiteX12" fmla="*/ 3524727 w 3524727"/>
              <a:gd name="connsiteY12" fmla="*/ 1018464 h 1294004"/>
              <a:gd name="connsiteX13" fmla="*/ 3524727 w 3524727"/>
              <a:gd name="connsiteY13" fmla="*/ 1238895 h 1294004"/>
              <a:gd name="connsiteX14" fmla="*/ 3469618 w 3524727"/>
              <a:gd name="connsiteY14" fmla="*/ 1294004 h 1294004"/>
              <a:gd name="connsiteX15" fmla="*/ 55109 w 3524727"/>
              <a:gd name="connsiteY15" fmla="*/ 1294004 h 1294004"/>
              <a:gd name="connsiteX16" fmla="*/ 0 w 3524727"/>
              <a:gd name="connsiteY16" fmla="*/ 1238895 h 1294004"/>
              <a:gd name="connsiteX17" fmla="*/ 0 w 3524727"/>
              <a:gd name="connsiteY17" fmla="*/ 1018464 h 1294004"/>
              <a:gd name="connsiteX18" fmla="*/ 55109 w 3524727"/>
              <a:gd name="connsiteY18" fmla="*/ 963355 h 1294004"/>
              <a:gd name="connsiteX19" fmla="*/ 879939 w 3524727"/>
              <a:gd name="connsiteY19" fmla="*/ 963355 h 1294004"/>
              <a:gd name="connsiteX20" fmla="*/ 877202 w 3524727"/>
              <a:gd name="connsiteY20" fmla="*/ 961510 h 1294004"/>
              <a:gd name="connsiteX21" fmla="*/ 861061 w 3524727"/>
              <a:gd name="connsiteY21" fmla="*/ 922542 h 1294004"/>
              <a:gd name="connsiteX22" fmla="*/ 861061 w 3524727"/>
              <a:gd name="connsiteY22" fmla="*/ 702111 h 1294004"/>
              <a:gd name="connsiteX23" fmla="*/ 916170 w 3524727"/>
              <a:gd name="connsiteY23" fmla="*/ 647002 h 1294004"/>
              <a:gd name="connsiteX24" fmla="*/ 1797311 w 3524727"/>
              <a:gd name="connsiteY24" fmla="*/ 647002 h 1294004"/>
              <a:gd name="connsiteX25" fmla="*/ 1783980 w 3524727"/>
              <a:gd name="connsiteY25" fmla="*/ 638014 h 1294004"/>
              <a:gd name="connsiteX26" fmla="*/ 1767839 w 3524727"/>
              <a:gd name="connsiteY26" fmla="*/ 599046 h 1294004"/>
              <a:gd name="connsiteX27" fmla="*/ 1767839 w 3524727"/>
              <a:gd name="connsiteY27" fmla="*/ 378615 h 1294004"/>
              <a:gd name="connsiteX28" fmla="*/ 1822948 w 3524727"/>
              <a:gd name="connsiteY28" fmla="*/ 323506 h 1294004"/>
              <a:gd name="connsiteX29" fmla="*/ 2666482 w 3524727"/>
              <a:gd name="connsiteY29" fmla="*/ 323506 h 1294004"/>
              <a:gd name="connsiteX30" fmla="*/ 2653136 w 3524727"/>
              <a:gd name="connsiteY30" fmla="*/ 314508 h 1294004"/>
              <a:gd name="connsiteX31" fmla="*/ 2636995 w 3524727"/>
              <a:gd name="connsiteY31" fmla="*/ 275540 h 1294004"/>
              <a:gd name="connsiteX32" fmla="*/ 2636995 w 3524727"/>
              <a:gd name="connsiteY32" fmla="*/ 55109 h 1294004"/>
              <a:gd name="connsiteX33" fmla="*/ 2692104 w 3524727"/>
              <a:gd name="connsiteY3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61510 h 1294004"/>
              <a:gd name="connsiteX9" fmla="*/ 3495248 w 3524727"/>
              <a:gd name="connsiteY9" fmla="*/ 970503 h 1294004"/>
              <a:gd name="connsiteX10" fmla="*/ 3508586 w 3524727"/>
              <a:gd name="connsiteY10" fmla="*/ 979496 h 1294004"/>
              <a:gd name="connsiteX11" fmla="*/ 3524727 w 3524727"/>
              <a:gd name="connsiteY11" fmla="*/ 1018464 h 1294004"/>
              <a:gd name="connsiteX12" fmla="*/ 3524727 w 3524727"/>
              <a:gd name="connsiteY12" fmla="*/ 1238895 h 1294004"/>
              <a:gd name="connsiteX13" fmla="*/ 3469618 w 3524727"/>
              <a:gd name="connsiteY13" fmla="*/ 1294004 h 1294004"/>
              <a:gd name="connsiteX14" fmla="*/ 55109 w 3524727"/>
              <a:gd name="connsiteY14" fmla="*/ 1294004 h 1294004"/>
              <a:gd name="connsiteX15" fmla="*/ 0 w 3524727"/>
              <a:gd name="connsiteY15" fmla="*/ 1238895 h 1294004"/>
              <a:gd name="connsiteX16" fmla="*/ 0 w 3524727"/>
              <a:gd name="connsiteY16" fmla="*/ 1018464 h 1294004"/>
              <a:gd name="connsiteX17" fmla="*/ 55109 w 3524727"/>
              <a:gd name="connsiteY17" fmla="*/ 963355 h 1294004"/>
              <a:gd name="connsiteX18" fmla="*/ 879939 w 3524727"/>
              <a:gd name="connsiteY18" fmla="*/ 963355 h 1294004"/>
              <a:gd name="connsiteX19" fmla="*/ 877202 w 3524727"/>
              <a:gd name="connsiteY19" fmla="*/ 961510 h 1294004"/>
              <a:gd name="connsiteX20" fmla="*/ 861061 w 3524727"/>
              <a:gd name="connsiteY20" fmla="*/ 922542 h 1294004"/>
              <a:gd name="connsiteX21" fmla="*/ 861061 w 3524727"/>
              <a:gd name="connsiteY21" fmla="*/ 702111 h 1294004"/>
              <a:gd name="connsiteX22" fmla="*/ 916170 w 3524727"/>
              <a:gd name="connsiteY22" fmla="*/ 647002 h 1294004"/>
              <a:gd name="connsiteX23" fmla="*/ 1797311 w 3524727"/>
              <a:gd name="connsiteY23" fmla="*/ 647002 h 1294004"/>
              <a:gd name="connsiteX24" fmla="*/ 1783980 w 3524727"/>
              <a:gd name="connsiteY24" fmla="*/ 638014 h 1294004"/>
              <a:gd name="connsiteX25" fmla="*/ 1767839 w 3524727"/>
              <a:gd name="connsiteY25" fmla="*/ 599046 h 1294004"/>
              <a:gd name="connsiteX26" fmla="*/ 1767839 w 3524727"/>
              <a:gd name="connsiteY26" fmla="*/ 378615 h 1294004"/>
              <a:gd name="connsiteX27" fmla="*/ 1822948 w 3524727"/>
              <a:gd name="connsiteY27" fmla="*/ 323506 h 1294004"/>
              <a:gd name="connsiteX28" fmla="*/ 2666482 w 3524727"/>
              <a:gd name="connsiteY28" fmla="*/ 323506 h 1294004"/>
              <a:gd name="connsiteX29" fmla="*/ 2653136 w 3524727"/>
              <a:gd name="connsiteY29" fmla="*/ 314508 h 1294004"/>
              <a:gd name="connsiteX30" fmla="*/ 2636995 w 3524727"/>
              <a:gd name="connsiteY30" fmla="*/ 275540 h 1294004"/>
              <a:gd name="connsiteX31" fmla="*/ 2636995 w 3524727"/>
              <a:gd name="connsiteY31" fmla="*/ 55109 h 1294004"/>
              <a:gd name="connsiteX32" fmla="*/ 2692104 w 3524727"/>
              <a:gd name="connsiteY32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61510 h 1294004"/>
              <a:gd name="connsiteX9" fmla="*/ 3508586 w 3524727"/>
              <a:gd name="connsiteY9" fmla="*/ 979496 h 1294004"/>
              <a:gd name="connsiteX10" fmla="*/ 3524727 w 3524727"/>
              <a:gd name="connsiteY10" fmla="*/ 1018464 h 1294004"/>
              <a:gd name="connsiteX11" fmla="*/ 3524727 w 3524727"/>
              <a:gd name="connsiteY11" fmla="*/ 1238895 h 1294004"/>
              <a:gd name="connsiteX12" fmla="*/ 3469618 w 3524727"/>
              <a:gd name="connsiteY12" fmla="*/ 1294004 h 1294004"/>
              <a:gd name="connsiteX13" fmla="*/ 55109 w 3524727"/>
              <a:gd name="connsiteY13" fmla="*/ 1294004 h 1294004"/>
              <a:gd name="connsiteX14" fmla="*/ 0 w 3524727"/>
              <a:gd name="connsiteY14" fmla="*/ 1238895 h 1294004"/>
              <a:gd name="connsiteX15" fmla="*/ 0 w 3524727"/>
              <a:gd name="connsiteY15" fmla="*/ 1018464 h 1294004"/>
              <a:gd name="connsiteX16" fmla="*/ 55109 w 3524727"/>
              <a:gd name="connsiteY16" fmla="*/ 963355 h 1294004"/>
              <a:gd name="connsiteX17" fmla="*/ 879939 w 3524727"/>
              <a:gd name="connsiteY17" fmla="*/ 963355 h 1294004"/>
              <a:gd name="connsiteX18" fmla="*/ 877202 w 3524727"/>
              <a:gd name="connsiteY18" fmla="*/ 961510 h 1294004"/>
              <a:gd name="connsiteX19" fmla="*/ 861061 w 3524727"/>
              <a:gd name="connsiteY19" fmla="*/ 922542 h 1294004"/>
              <a:gd name="connsiteX20" fmla="*/ 861061 w 3524727"/>
              <a:gd name="connsiteY20" fmla="*/ 702111 h 1294004"/>
              <a:gd name="connsiteX21" fmla="*/ 916170 w 3524727"/>
              <a:gd name="connsiteY21" fmla="*/ 647002 h 1294004"/>
              <a:gd name="connsiteX22" fmla="*/ 1797311 w 3524727"/>
              <a:gd name="connsiteY22" fmla="*/ 647002 h 1294004"/>
              <a:gd name="connsiteX23" fmla="*/ 1783980 w 3524727"/>
              <a:gd name="connsiteY23" fmla="*/ 638014 h 1294004"/>
              <a:gd name="connsiteX24" fmla="*/ 1767839 w 3524727"/>
              <a:gd name="connsiteY24" fmla="*/ 599046 h 1294004"/>
              <a:gd name="connsiteX25" fmla="*/ 1767839 w 3524727"/>
              <a:gd name="connsiteY25" fmla="*/ 378615 h 1294004"/>
              <a:gd name="connsiteX26" fmla="*/ 1822948 w 3524727"/>
              <a:gd name="connsiteY26" fmla="*/ 323506 h 1294004"/>
              <a:gd name="connsiteX27" fmla="*/ 2666482 w 3524727"/>
              <a:gd name="connsiteY27" fmla="*/ 323506 h 1294004"/>
              <a:gd name="connsiteX28" fmla="*/ 2653136 w 3524727"/>
              <a:gd name="connsiteY28" fmla="*/ 314508 h 1294004"/>
              <a:gd name="connsiteX29" fmla="*/ 2636995 w 3524727"/>
              <a:gd name="connsiteY29" fmla="*/ 275540 h 1294004"/>
              <a:gd name="connsiteX30" fmla="*/ 2636995 w 3524727"/>
              <a:gd name="connsiteY30" fmla="*/ 55109 h 1294004"/>
              <a:gd name="connsiteX31" fmla="*/ 2692104 w 3524727"/>
              <a:gd name="connsiteY31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79496 h 1294004"/>
              <a:gd name="connsiteX9" fmla="*/ 3524727 w 3524727"/>
              <a:gd name="connsiteY9" fmla="*/ 1018464 h 1294004"/>
              <a:gd name="connsiteX10" fmla="*/ 3524727 w 3524727"/>
              <a:gd name="connsiteY10" fmla="*/ 1238895 h 1294004"/>
              <a:gd name="connsiteX11" fmla="*/ 3469618 w 3524727"/>
              <a:gd name="connsiteY11" fmla="*/ 1294004 h 1294004"/>
              <a:gd name="connsiteX12" fmla="*/ 55109 w 3524727"/>
              <a:gd name="connsiteY12" fmla="*/ 1294004 h 1294004"/>
              <a:gd name="connsiteX13" fmla="*/ 0 w 3524727"/>
              <a:gd name="connsiteY13" fmla="*/ 1238895 h 1294004"/>
              <a:gd name="connsiteX14" fmla="*/ 0 w 3524727"/>
              <a:gd name="connsiteY14" fmla="*/ 1018464 h 1294004"/>
              <a:gd name="connsiteX15" fmla="*/ 55109 w 3524727"/>
              <a:gd name="connsiteY15" fmla="*/ 963355 h 1294004"/>
              <a:gd name="connsiteX16" fmla="*/ 879939 w 3524727"/>
              <a:gd name="connsiteY16" fmla="*/ 963355 h 1294004"/>
              <a:gd name="connsiteX17" fmla="*/ 877202 w 3524727"/>
              <a:gd name="connsiteY17" fmla="*/ 961510 h 1294004"/>
              <a:gd name="connsiteX18" fmla="*/ 861061 w 3524727"/>
              <a:gd name="connsiteY18" fmla="*/ 922542 h 1294004"/>
              <a:gd name="connsiteX19" fmla="*/ 861061 w 3524727"/>
              <a:gd name="connsiteY19" fmla="*/ 702111 h 1294004"/>
              <a:gd name="connsiteX20" fmla="*/ 916170 w 3524727"/>
              <a:gd name="connsiteY20" fmla="*/ 647002 h 1294004"/>
              <a:gd name="connsiteX21" fmla="*/ 1797311 w 3524727"/>
              <a:gd name="connsiteY21" fmla="*/ 647002 h 1294004"/>
              <a:gd name="connsiteX22" fmla="*/ 1783980 w 3524727"/>
              <a:gd name="connsiteY22" fmla="*/ 638014 h 1294004"/>
              <a:gd name="connsiteX23" fmla="*/ 1767839 w 3524727"/>
              <a:gd name="connsiteY23" fmla="*/ 599046 h 1294004"/>
              <a:gd name="connsiteX24" fmla="*/ 1767839 w 3524727"/>
              <a:gd name="connsiteY24" fmla="*/ 378615 h 1294004"/>
              <a:gd name="connsiteX25" fmla="*/ 1822948 w 3524727"/>
              <a:gd name="connsiteY25" fmla="*/ 323506 h 1294004"/>
              <a:gd name="connsiteX26" fmla="*/ 2666482 w 3524727"/>
              <a:gd name="connsiteY26" fmla="*/ 323506 h 1294004"/>
              <a:gd name="connsiteX27" fmla="*/ 2653136 w 3524727"/>
              <a:gd name="connsiteY27" fmla="*/ 314508 h 1294004"/>
              <a:gd name="connsiteX28" fmla="*/ 2636995 w 3524727"/>
              <a:gd name="connsiteY28" fmla="*/ 275540 h 1294004"/>
              <a:gd name="connsiteX29" fmla="*/ 2636995 w 3524727"/>
              <a:gd name="connsiteY29" fmla="*/ 55109 h 1294004"/>
              <a:gd name="connsiteX30" fmla="*/ 2692104 w 3524727"/>
              <a:gd name="connsiteY30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66482 w 3524727"/>
              <a:gd name="connsiteY25" fmla="*/ 323506 h 1294004"/>
              <a:gd name="connsiteX26" fmla="*/ 2653136 w 3524727"/>
              <a:gd name="connsiteY26" fmla="*/ 314508 h 1294004"/>
              <a:gd name="connsiteX27" fmla="*/ 2636995 w 3524727"/>
              <a:gd name="connsiteY27" fmla="*/ 275540 h 1294004"/>
              <a:gd name="connsiteX28" fmla="*/ 2636995 w 3524727"/>
              <a:gd name="connsiteY28" fmla="*/ 55109 h 1294004"/>
              <a:gd name="connsiteX29" fmla="*/ 2692104 w 3524727"/>
              <a:gd name="connsiteY29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53136 w 3524727"/>
              <a:gd name="connsiteY25" fmla="*/ 314508 h 1294004"/>
              <a:gd name="connsiteX26" fmla="*/ 2636995 w 3524727"/>
              <a:gd name="connsiteY26" fmla="*/ 275540 h 1294004"/>
              <a:gd name="connsiteX27" fmla="*/ 2636995 w 3524727"/>
              <a:gd name="connsiteY27" fmla="*/ 55109 h 1294004"/>
              <a:gd name="connsiteX28" fmla="*/ 2692104 w 3524727"/>
              <a:gd name="connsiteY28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36995 w 3524727"/>
              <a:gd name="connsiteY25" fmla="*/ 275540 h 1294004"/>
              <a:gd name="connsiteX26" fmla="*/ 2636995 w 3524727"/>
              <a:gd name="connsiteY26" fmla="*/ 55109 h 1294004"/>
              <a:gd name="connsiteX27" fmla="*/ 2692104 w 3524727"/>
              <a:gd name="connsiteY2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36995 w 3524727"/>
              <a:gd name="connsiteY25" fmla="*/ 323165 h 1294004"/>
              <a:gd name="connsiteX26" fmla="*/ 2636995 w 3524727"/>
              <a:gd name="connsiteY26" fmla="*/ 55109 h 1294004"/>
              <a:gd name="connsiteX27" fmla="*/ 2692104 w 3524727"/>
              <a:gd name="connsiteY2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67839 w 3524727"/>
              <a:gd name="connsiteY21" fmla="*/ 599046 h 1294004"/>
              <a:gd name="connsiteX22" fmla="*/ 1767839 w 3524727"/>
              <a:gd name="connsiteY22" fmla="*/ 378615 h 1294004"/>
              <a:gd name="connsiteX23" fmla="*/ 1822948 w 3524727"/>
              <a:gd name="connsiteY23" fmla="*/ 323506 h 1294004"/>
              <a:gd name="connsiteX24" fmla="*/ 2636995 w 3524727"/>
              <a:gd name="connsiteY24" fmla="*/ 323165 h 1294004"/>
              <a:gd name="connsiteX25" fmla="*/ 2636995 w 3524727"/>
              <a:gd name="connsiteY25" fmla="*/ 55109 h 1294004"/>
              <a:gd name="connsiteX26" fmla="*/ 2692104 w 3524727"/>
              <a:gd name="connsiteY26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67839 w 3524727"/>
              <a:gd name="connsiteY20" fmla="*/ 599046 h 1294004"/>
              <a:gd name="connsiteX21" fmla="*/ 1767839 w 3524727"/>
              <a:gd name="connsiteY21" fmla="*/ 378615 h 1294004"/>
              <a:gd name="connsiteX22" fmla="*/ 1822948 w 3524727"/>
              <a:gd name="connsiteY22" fmla="*/ 323506 h 1294004"/>
              <a:gd name="connsiteX23" fmla="*/ 2636995 w 3524727"/>
              <a:gd name="connsiteY23" fmla="*/ 323165 h 1294004"/>
              <a:gd name="connsiteX24" fmla="*/ 2636995 w 3524727"/>
              <a:gd name="connsiteY24" fmla="*/ 55109 h 1294004"/>
              <a:gd name="connsiteX25" fmla="*/ 2692104 w 3524727"/>
              <a:gd name="connsiteY2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70220 w 3524727"/>
              <a:gd name="connsiteY20" fmla="*/ 649052 h 1294004"/>
              <a:gd name="connsiteX21" fmla="*/ 1767839 w 3524727"/>
              <a:gd name="connsiteY21" fmla="*/ 378615 h 1294004"/>
              <a:gd name="connsiteX22" fmla="*/ 1822948 w 3524727"/>
              <a:gd name="connsiteY22" fmla="*/ 323506 h 1294004"/>
              <a:gd name="connsiteX23" fmla="*/ 2636995 w 3524727"/>
              <a:gd name="connsiteY23" fmla="*/ 323165 h 1294004"/>
              <a:gd name="connsiteX24" fmla="*/ 2636995 w 3524727"/>
              <a:gd name="connsiteY24" fmla="*/ 55109 h 1294004"/>
              <a:gd name="connsiteX25" fmla="*/ 2692104 w 3524727"/>
              <a:gd name="connsiteY2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61061 w 3524727"/>
              <a:gd name="connsiteY16" fmla="*/ 922542 h 1294004"/>
              <a:gd name="connsiteX17" fmla="*/ 861061 w 3524727"/>
              <a:gd name="connsiteY17" fmla="*/ 702111 h 1294004"/>
              <a:gd name="connsiteX18" fmla="*/ 916170 w 3524727"/>
              <a:gd name="connsiteY18" fmla="*/ 647002 h 1294004"/>
              <a:gd name="connsiteX19" fmla="*/ 1770220 w 3524727"/>
              <a:gd name="connsiteY19" fmla="*/ 649052 h 1294004"/>
              <a:gd name="connsiteX20" fmla="*/ 1767839 w 3524727"/>
              <a:gd name="connsiteY20" fmla="*/ 378615 h 1294004"/>
              <a:gd name="connsiteX21" fmla="*/ 1822948 w 3524727"/>
              <a:gd name="connsiteY21" fmla="*/ 323506 h 1294004"/>
              <a:gd name="connsiteX22" fmla="*/ 2636995 w 3524727"/>
              <a:gd name="connsiteY22" fmla="*/ 323165 h 1294004"/>
              <a:gd name="connsiteX23" fmla="*/ 2636995 w 3524727"/>
              <a:gd name="connsiteY23" fmla="*/ 55109 h 1294004"/>
              <a:gd name="connsiteX24" fmla="*/ 2692104 w 3524727"/>
              <a:gd name="connsiteY24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1061 w 3524727"/>
              <a:gd name="connsiteY15" fmla="*/ 922542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72548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55879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77310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58260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65404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524727" h="1294004">
                <a:moveTo>
                  <a:pt x="2692104" y="0"/>
                </a:moveTo>
                <a:lnTo>
                  <a:pt x="3469617" y="0"/>
                </a:lnTo>
                <a:cubicBezTo>
                  <a:pt x="3500053" y="0"/>
                  <a:pt x="3524726" y="24673"/>
                  <a:pt x="3524726" y="55109"/>
                </a:cubicBezTo>
                <a:lnTo>
                  <a:pt x="3524726" y="275540"/>
                </a:lnTo>
                <a:lnTo>
                  <a:pt x="3524726" y="378615"/>
                </a:lnTo>
                <a:lnTo>
                  <a:pt x="3524726" y="599046"/>
                </a:lnTo>
                <a:cubicBezTo>
                  <a:pt x="3524726" y="652962"/>
                  <a:pt x="3524727" y="648195"/>
                  <a:pt x="3524727" y="702111"/>
                </a:cubicBezTo>
                <a:lnTo>
                  <a:pt x="3524727" y="922542"/>
                </a:lnTo>
                <a:lnTo>
                  <a:pt x="3524727" y="1018464"/>
                </a:lnTo>
                <a:lnTo>
                  <a:pt x="3524727" y="1238895"/>
                </a:lnTo>
                <a:cubicBezTo>
                  <a:pt x="3524727" y="1269331"/>
                  <a:pt x="3500054" y="1294004"/>
                  <a:pt x="3469618" y="1294004"/>
                </a:cubicBezTo>
                <a:lnTo>
                  <a:pt x="55109" y="1294004"/>
                </a:lnTo>
                <a:cubicBezTo>
                  <a:pt x="24673" y="1294004"/>
                  <a:pt x="0" y="1269331"/>
                  <a:pt x="0" y="1238895"/>
                </a:cubicBezTo>
                <a:lnTo>
                  <a:pt x="0" y="1018464"/>
                </a:lnTo>
                <a:cubicBezTo>
                  <a:pt x="0" y="988028"/>
                  <a:pt x="24673" y="963355"/>
                  <a:pt x="55109" y="963355"/>
                </a:cubicBezTo>
                <a:lnTo>
                  <a:pt x="863442" y="965404"/>
                </a:lnTo>
                <a:cubicBezTo>
                  <a:pt x="862648" y="875258"/>
                  <a:pt x="861855" y="792257"/>
                  <a:pt x="861061" y="702111"/>
                </a:cubicBezTo>
                <a:cubicBezTo>
                  <a:pt x="861061" y="671675"/>
                  <a:pt x="885734" y="647002"/>
                  <a:pt x="916170" y="647002"/>
                </a:cubicBezTo>
                <a:lnTo>
                  <a:pt x="1770220" y="649052"/>
                </a:lnTo>
                <a:cubicBezTo>
                  <a:pt x="1769426" y="558906"/>
                  <a:pt x="1768633" y="468761"/>
                  <a:pt x="1767839" y="378615"/>
                </a:cubicBezTo>
                <a:cubicBezTo>
                  <a:pt x="1767839" y="348179"/>
                  <a:pt x="1792512" y="323506"/>
                  <a:pt x="1822948" y="323506"/>
                </a:cubicBezTo>
                <a:lnTo>
                  <a:pt x="2636995" y="323165"/>
                </a:lnTo>
                <a:lnTo>
                  <a:pt x="2636995" y="55109"/>
                </a:lnTo>
                <a:cubicBezTo>
                  <a:pt x="2636995" y="24673"/>
                  <a:pt x="2661668" y="0"/>
                  <a:pt x="2692104" y="0"/>
                </a:cubicBezTo>
                <a:close/>
              </a:path>
            </a:pathLst>
          </a:cu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/>
              <p:nvPr/>
            </p:nvSpPr>
            <p:spPr>
              <a:xfrm>
                <a:off x="2128345" y="4751656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4751656"/>
                <a:ext cx="91122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/>
              <p:nvPr/>
            </p:nvSpPr>
            <p:spPr>
              <a:xfrm>
                <a:off x="2928488" y="451854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4518548"/>
                <a:ext cx="1502185" cy="98943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0493CFD-6FE8-4B7E-AE77-17AE5B2C1C05}"/>
                  </a:ext>
                </a:extLst>
              </p:cNvPr>
              <p:cNvSpPr txBox="1"/>
              <p:nvPr/>
            </p:nvSpPr>
            <p:spPr>
              <a:xfrm>
                <a:off x="9881746" y="399532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0493CFD-6FE8-4B7E-AE77-17AE5B2C1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1746" y="3995328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/>
              <p:nvPr/>
            </p:nvSpPr>
            <p:spPr>
              <a:xfrm>
                <a:off x="1594218" y="4751656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751656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D73BC83D-CDF6-4267-B444-6E5A99B0ADFC}"/>
                  </a:ext>
                </a:extLst>
              </p:cNvPr>
              <p:cNvSpPr txBox="1"/>
              <p:nvPr/>
            </p:nvSpPr>
            <p:spPr>
              <a:xfrm>
                <a:off x="2928488" y="5607346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D73BC83D-CDF6-4267-B444-6E5A99B0AD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5607346"/>
                <a:ext cx="1186311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70CBEFC3-C831-4555-AF07-97F4EA248995}"/>
                  </a:ext>
                </a:extLst>
              </p:cNvPr>
              <p:cNvSpPr txBox="1"/>
              <p:nvPr/>
            </p:nvSpPr>
            <p:spPr>
              <a:xfrm>
                <a:off x="4021037" y="5607346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18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70CBEFC3-C831-4555-AF07-97F4EA2489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1037" y="5607346"/>
                <a:ext cx="1186311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3">
            <a:extLst>
              <a:ext uri="{FF2B5EF4-FFF2-40B4-BE49-F238E27FC236}">
                <a16:creationId xmlns:a16="http://schemas.microsoft.com/office/drawing/2014/main" id="{53CF3C9D-5561-4DE2-BE2F-51023D93A27B}"/>
              </a:ext>
            </a:extLst>
          </p:cNvPr>
          <p:cNvSpPr txBox="1"/>
          <p:nvPr/>
        </p:nvSpPr>
        <p:spPr>
          <a:xfrm>
            <a:off x="131177" y="2085157"/>
            <a:ext cx="674206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The total of the numbers on the dice is 13.</a:t>
            </a:r>
          </a:p>
        </p:txBody>
      </p:sp>
      <p:sp>
        <p:nvSpPr>
          <p:cNvPr id="73" name="2">
            <a:extLst>
              <a:ext uri="{FF2B5EF4-FFF2-40B4-BE49-F238E27FC236}">
                <a16:creationId xmlns:a16="http://schemas.microsoft.com/office/drawing/2014/main" id="{9B3CC78B-1EF7-4BC5-94C7-4ADE45071CE5}"/>
              </a:ext>
            </a:extLst>
          </p:cNvPr>
          <p:cNvSpPr txBox="1"/>
          <p:nvPr/>
        </p:nvSpPr>
        <p:spPr>
          <a:xfrm>
            <a:off x="131176" y="2666099"/>
            <a:ext cx="114512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Total of numbers on the dice is any number from 2 to 12, both inclusive.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65043" y="1417983"/>
            <a:ext cx="4121426" cy="13252"/>
          </a:xfrm>
          <a:prstGeom prst="line">
            <a:avLst/>
          </a:prstGeom>
          <a:ln w="28575" cap="rnd">
            <a:solidFill>
              <a:srgbClr val="FFFF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2876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" dur="2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1" grpId="1"/>
      <p:bldP spid="54" grpId="0" animBg="1"/>
      <p:bldP spid="55" grpId="0" animBg="1"/>
      <p:bldP spid="57" grpId="0" animBg="1"/>
      <p:bldP spid="58" grpId="0" animBg="1"/>
      <p:bldP spid="59" grpId="0" animBg="1"/>
      <p:bldP spid="64" grpId="0" animBg="1"/>
      <p:bldP spid="64" grpId="1" animBg="1"/>
      <p:bldP spid="65" grpId="0" animBg="1"/>
      <p:bldP spid="66" grpId="0" animBg="1"/>
      <p:bldP spid="68" grpId="0" animBg="1"/>
      <p:bldP spid="69" grpId="0" animBg="1"/>
      <p:bldP spid="70" grpId="0" animBg="1"/>
      <p:bldP spid="71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/>
              <p:nvPr/>
            </p:nvSpPr>
            <p:spPr>
              <a:xfrm>
                <a:off x="10396630" y="735239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630" y="735239"/>
                <a:ext cx="179537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/>
              <p:nvPr/>
            </p:nvSpPr>
            <p:spPr>
              <a:xfrm>
                <a:off x="1594218" y="1321516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321516"/>
                <a:ext cx="1463040" cy="523220"/>
              </a:xfrm>
              <a:prstGeom prst="rect">
                <a:avLst/>
              </a:prstGeom>
              <a:blipFill>
                <a:blip r:embed="rId3"/>
                <a:stretch>
                  <a:fillRect l="-8750" t="-10465" r="-50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/>
              <p:nvPr/>
            </p:nvSpPr>
            <p:spPr>
              <a:xfrm>
                <a:off x="2941421" y="1321516"/>
                <a:ext cx="56539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21" y="1321516"/>
                <a:ext cx="5653939" cy="523220"/>
              </a:xfrm>
              <a:prstGeom prst="rect">
                <a:avLst/>
              </a:prstGeom>
              <a:blipFill>
                <a:blip r:embed="rId4"/>
                <a:stretch>
                  <a:fillRect l="-226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/>
              <p:nvPr/>
            </p:nvSpPr>
            <p:spPr>
              <a:xfrm>
                <a:off x="2128345" y="1887917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1887917"/>
                <a:ext cx="91122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/>
              <p:nvPr/>
            </p:nvSpPr>
            <p:spPr>
              <a:xfrm>
                <a:off x="2928489" y="1887917"/>
                <a:ext cx="81619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9" y="1887917"/>
                <a:ext cx="81619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/>
              <p:nvPr/>
            </p:nvSpPr>
            <p:spPr>
              <a:xfrm>
                <a:off x="1594218" y="188791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887917"/>
                <a:ext cx="5341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1996F2-E976-467E-82B6-74BBD947D64C}"/>
                  </a:ext>
                </a:extLst>
              </p:cNvPr>
              <p:cNvSpPr txBox="1"/>
              <p:nvPr/>
            </p:nvSpPr>
            <p:spPr>
              <a:xfrm>
                <a:off x="8889905" y="1325525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1996F2-E976-467E-82B6-74BBD947D6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9905" y="1325525"/>
                <a:ext cx="179537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415BF4-38D5-4CDA-A70B-3F49800B927A}"/>
                  </a:ext>
                </a:extLst>
              </p:cNvPr>
              <p:cNvSpPr txBox="1"/>
              <p:nvPr/>
            </p:nvSpPr>
            <p:spPr>
              <a:xfrm>
                <a:off x="8355778" y="1325525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415BF4-38D5-4CDA-A70B-3F49800B9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5778" y="1325525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B5A0942-2208-463A-9E9D-22A9D995512D}"/>
                  </a:ext>
                </a:extLst>
              </p:cNvPr>
              <p:cNvSpPr txBox="1"/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0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0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IN" sz="2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6, 6 </m:t>
                                        </m:r>
                                      </m:e>
                                    </m:d>
                                  </m:e>
                                </m:mr>
                              </m:m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B5A0942-2208-463A-9E9D-22A9D99551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0A43A-61E6-40E0-8C68-9611FE42CEDC}"/>
                  </a:ext>
                </a:extLst>
              </p:cNvPr>
              <p:cNvSpPr txBox="1"/>
              <p:nvPr/>
            </p:nvSpPr>
            <p:spPr>
              <a:xfrm>
                <a:off x="1594218" y="3116847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0A43A-61E6-40E0-8C68-9611FE42CE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116847"/>
                <a:ext cx="1463040" cy="523220"/>
              </a:xfrm>
              <a:prstGeom prst="rect">
                <a:avLst/>
              </a:prstGeom>
              <a:blipFill>
                <a:blip r:embed="rId13"/>
                <a:stretch>
                  <a:fillRect l="-8750" t="-10465" r="-375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D265BF6-369A-4E2F-A0C8-1B88D30F8F0B}"/>
                  </a:ext>
                </a:extLst>
              </p:cNvPr>
              <p:cNvSpPr txBox="1"/>
              <p:nvPr/>
            </p:nvSpPr>
            <p:spPr>
              <a:xfrm>
                <a:off x="2941419" y="3127511"/>
                <a:ext cx="8928847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any number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 both inclusive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D265BF6-369A-4E2F-A0C8-1B88D30F8F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19" y="3127511"/>
                <a:ext cx="8928847" cy="954107"/>
              </a:xfrm>
              <a:prstGeom prst="rect">
                <a:avLst/>
              </a:prstGeom>
              <a:blipFill>
                <a:blip r:embed="rId14"/>
                <a:stretch>
                  <a:fillRect l="-1434" t="-6369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F2DBF7A-A8A7-46D5-BF9F-3FF5B9116A4E}"/>
                  </a:ext>
                </a:extLst>
              </p:cNvPr>
              <p:cNvSpPr txBox="1"/>
              <p:nvPr/>
            </p:nvSpPr>
            <p:spPr>
              <a:xfrm>
                <a:off x="2043736" y="4029448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F2DBF7A-A8A7-46D5-BF9F-3FF5B9116A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3736" y="4029448"/>
                <a:ext cx="179537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8FCD86-E5BD-4D39-857F-6C4342115AD9}"/>
                  </a:ext>
                </a:extLst>
              </p:cNvPr>
              <p:cNvSpPr txBox="1"/>
              <p:nvPr/>
            </p:nvSpPr>
            <p:spPr>
              <a:xfrm>
                <a:off x="2128345" y="4848600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8FCD86-E5BD-4D39-857F-6C4342115A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4848600"/>
                <a:ext cx="91122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08DF69C-0D0D-4675-93B3-49CCD7F8A729}"/>
                  </a:ext>
                </a:extLst>
              </p:cNvPr>
              <p:cNvSpPr txBox="1"/>
              <p:nvPr/>
            </p:nvSpPr>
            <p:spPr>
              <a:xfrm>
                <a:off x="2928488" y="4587581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08DF69C-0D0D-4675-93B3-49CCD7F8A7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4587581"/>
                <a:ext cx="1502185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6E3232-3BD0-4AF9-B16C-7B3AEEBD938B}"/>
                  </a:ext>
                </a:extLst>
              </p:cNvPr>
              <p:cNvSpPr txBox="1"/>
              <p:nvPr/>
            </p:nvSpPr>
            <p:spPr>
              <a:xfrm>
                <a:off x="1597102" y="402944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6E3232-3BD0-4AF9-B16C-7B3AEEBD93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7102" y="4029448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39CD388C-B89F-4979-8907-65244DD8831B}"/>
                  </a:ext>
                </a:extLst>
              </p:cNvPr>
              <p:cNvSpPr txBox="1"/>
              <p:nvPr/>
            </p:nvSpPr>
            <p:spPr>
              <a:xfrm>
                <a:off x="1594218" y="484860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39CD388C-B89F-4979-8907-65244DD88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848600"/>
                <a:ext cx="53412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21484B2-C1CA-42F4-AF08-DECDCAAB1144}"/>
                  </a:ext>
                </a:extLst>
              </p:cNvPr>
              <p:cNvSpPr txBox="1"/>
              <p:nvPr/>
            </p:nvSpPr>
            <p:spPr>
              <a:xfrm>
                <a:off x="2928488" y="5675031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21484B2-C1CA-42F4-AF08-DECDCAAB1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5675031"/>
                <a:ext cx="1186311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A70897A-6E7B-4A43-90BC-9BB5E357EE7B}"/>
                  </a:ext>
                </a:extLst>
              </p:cNvPr>
              <p:cNvSpPr txBox="1"/>
              <p:nvPr/>
            </p:nvSpPr>
            <p:spPr>
              <a:xfrm>
                <a:off x="4021037" y="5864313"/>
                <a:ext cx="88624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A70897A-6E7B-4A43-90BC-9BB5E357EE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1037" y="5864313"/>
                <a:ext cx="88624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3">
            <a:extLst>
              <a:ext uri="{FF2B5EF4-FFF2-40B4-BE49-F238E27FC236}">
                <a16:creationId xmlns:a16="http://schemas.microsoft.com/office/drawing/2014/main" id="{2C035E39-A21E-481A-9384-C33C1386A305}"/>
              </a:ext>
            </a:extLst>
          </p:cNvPr>
          <p:cNvSpPr txBox="1"/>
          <p:nvPr/>
        </p:nvSpPr>
        <p:spPr>
          <a:xfrm>
            <a:off x="1165163" y="2596273"/>
            <a:ext cx="114671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Total of numbers on the dice is any number from 2 to 12, both inclusive.</a:t>
            </a:r>
          </a:p>
        </p:txBody>
      </p:sp>
      <p:sp>
        <p:nvSpPr>
          <p:cNvPr id="22" name="2">
            <a:extLst>
              <a:ext uri="{FF2B5EF4-FFF2-40B4-BE49-F238E27FC236}">
                <a16:creationId xmlns:a16="http://schemas.microsoft.com/office/drawing/2014/main" id="{61C6E7C5-A88B-45EF-AAE6-7EDB67DCFFAF}"/>
              </a:ext>
            </a:extLst>
          </p:cNvPr>
          <p:cNvSpPr txBox="1"/>
          <p:nvPr/>
        </p:nvSpPr>
        <p:spPr>
          <a:xfrm>
            <a:off x="1165162" y="805547"/>
            <a:ext cx="6853075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The total of the numbers on the dice is 13.</a:t>
            </a:r>
          </a:p>
        </p:txBody>
      </p:sp>
    </p:spTree>
    <p:extLst>
      <p:ext uri="{BB962C8B-B14F-4D97-AF65-F5344CB8AC3E}">
        <p14:creationId xmlns:p14="http://schemas.microsoft.com/office/powerpoint/2010/main" val="311000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 animBg="1"/>
      <p:bldP spid="65" grpId="0" animBg="1"/>
      <p:bldP spid="66" grpId="0" animBg="1"/>
      <p:bldP spid="69" grpId="0" animBg="1"/>
      <p:bldP spid="31" grpId="0" animBg="1"/>
      <p:bldP spid="32" grpId="0" animBg="1"/>
      <p:bldP spid="33" grpId="0"/>
      <p:bldP spid="33" grpId="1"/>
      <p:bldP spid="34" grpId="0" animBg="1"/>
      <p:bldP spid="35" grpId="0" animBg="1"/>
      <p:bldP spid="36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DAB7A81-ED15-1AAF-EDCD-E83EE816C5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A297C4-4CF4-54C6-1696-E9BB00CE3B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95D8BA8-8776-37B8-B1FC-A029AE0FF88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30000"/>
                  </a:lnSpc>
                </a:pPr>
                <a:r>
                  <a:rPr lang="en-IN" b="1" dirty="0"/>
                  <a:t>Complement of an Event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IN" b="1" i="0" smtClean="0"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IN" b="1" i="0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endParaRPr lang="en-IN" b="1" dirty="0"/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The probability that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does </a:t>
                </a:r>
                <a:r>
                  <a:rPr lang="en-US" b="1" dirty="0"/>
                  <a:t>not</a:t>
                </a:r>
                <a:r>
                  <a:rPr lang="en-US" dirty="0"/>
                  <a:t> occur is denoted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lvl="1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US" dirty="0"/>
              </a:p>
              <a:p>
                <a:pPr lvl="2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i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m:rPr>
                        <m:nor/>
                      </m:rP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b="0" i="0" dirty="0">
                        <a:solidFill>
                          <a:srgbClr val="FF0000"/>
                        </a:solidFill>
                      </a:rPr>
                      <m:t>or</m:t>
                    </m:r>
                    <m:r>
                      <a:rPr lang="en-IN" b="0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i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>
                  <a:lnSpc>
                    <a:spcPct val="130000"/>
                  </a:lnSpc>
                </a:pPr>
                <a:r>
                  <a:rPr lang="en-US" b="1" dirty="0"/>
                  <a:t>Mutually Exclusive Events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𝛟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If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cannot happen at the same time (they have no common outcomes), their intersection is phi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 lvl="1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95D8BA8-8776-37B8-B1FC-A029AE0FF8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8449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239EB4F-22D8-F661-BEF3-712D4D9057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6F8142-B6CD-83B0-7D71-CD97A73D87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158AF9-EC54-F8FB-BE7E-3E63435E017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17124"/>
                <a:ext cx="11929641" cy="5636886"/>
              </a:xfrm>
            </p:spPr>
            <p:txBody>
              <a:bodyPr/>
              <a:lstStyle/>
              <a:p>
                <a:pPr lvl="0"/>
                <a:r>
                  <a:rPr lang="en-IN" b="1" dirty="0"/>
                  <a:t>Mutually Exhaustive Events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𝐒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effectLst/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effectLst/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IN" b="0" dirty="0">
                  <a:effectLst/>
                </a:endParaRPr>
              </a:p>
              <a:p>
                <a:pPr lvl="2"/>
                <a:r>
                  <a:rPr lang="en-US" dirty="0"/>
                  <a:t>At least one must occur</a:t>
                </a:r>
              </a:p>
              <a:p>
                <a:pPr lvl="2"/>
                <a:r>
                  <a:rPr lang="en-US" dirty="0"/>
                  <a:t>Together they cover the entire sample space</a:t>
                </a:r>
                <a:endParaRPr lang="en-IN" dirty="0"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158AF9-EC54-F8FB-BE7E-3E63435E017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17124"/>
                <a:ext cx="11929641" cy="5636886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8639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3AA57D-93A1-4522-13FF-EDD0E5B22B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AI Recruitment Dataset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BB59EA8-7E30-189D-2EF1-A9664CE4E4D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r>
              <a:rPr lang="en-US" dirty="0"/>
              <a:t>A technology company is hiring AI engineers. Every candidate may possess the following programming skills:</a:t>
            </a:r>
          </a:p>
          <a:p>
            <a:pPr lvl="1"/>
            <a:r>
              <a:rPr lang="en-US" dirty="0"/>
              <a:t>A: Knows Python</a:t>
            </a:r>
          </a:p>
          <a:p>
            <a:pPr lvl="1"/>
            <a:r>
              <a:rPr lang="en-US" dirty="0"/>
              <a:t>B: Knows Java</a:t>
            </a:r>
          </a:p>
          <a:p>
            <a:r>
              <a:rPr lang="en-US" dirty="0"/>
              <a:t>A candidate is selected at random from all applicants.</a:t>
            </a:r>
          </a:p>
          <a:p>
            <a:r>
              <a:rPr lang="en-US" dirty="0"/>
              <a:t>We will answer different probability questions based on this single scenario.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09783851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64ECCA-083B-B56F-FE9C-CA158C55D7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4C883A-965C-AABA-DB9D-DB121662E7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B5D193C-AC04-8957-7BB8-9B6E5D97D16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863600"/>
                <a:ext cx="11928475" cy="5206460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rgbClr val="0070C0"/>
                    </a:solidFill>
                  </a:rPr>
                  <a:t>at least one of the two</a:t>
                </a:r>
                <a:r>
                  <a:rPr lang="en-US" dirty="0"/>
                  <a:t> programming languages?</a:t>
                </a:r>
              </a:p>
              <a:p>
                <a:r>
                  <a:rPr lang="en-US" dirty="0"/>
                  <a:t>This means the candidate knows</a:t>
                </a:r>
              </a:p>
              <a:p>
                <a:pPr lvl="1"/>
                <a:r>
                  <a:rPr lang="en-US" dirty="0"/>
                  <a:t>Python only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400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or</a:t>
                </a:r>
              </a:p>
              <a:p>
                <a:pPr lvl="1"/>
                <a:r>
                  <a:rPr lang="en-US" dirty="0"/>
                  <a:t>Java only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400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or</a:t>
                </a:r>
                <a:endParaRPr lang="en-US" b="1" dirty="0"/>
              </a:p>
              <a:p>
                <a:pPr lvl="1"/>
                <a:r>
                  <a:rPr lang="en-US" dirty="0"/>
                  <a:t>Both Python and Java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4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4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sz="24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US" b="1" dirty="0"/>
              </a:p>
              <a:p>
                <a:r>
                  <a:rPr lang="en-US" dirty="0"/>
                  <a:t>Hence, the required event is </a:t>
                </a:r>
              </a:p>
              <a:p>
                <a:pPr marL="0" indent="0" algn="ctr">
                  <a:buNone/>
                </a:pP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US" b="1" i="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a:rPr lang="en-US" b="1" i="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B5D193C-AC04-8957-7BB8-9B6E5D97D16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863600"/>
                <a:ext cx="11928475" cy="5206460"/>
              </a:xfrm>
              <a:blipFill>
                <a:blip r:embed="rId2"/>
                <a:stretch>
                  <a:fillRect l="-919" r="-1021" b="-701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74443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1C63EE7-1319-1108-CD3A-3991B0C411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val 4">
            <a:extLst>
              <a:ext uri="{FF2B5EF4-FFF2-40B4-BE49-F238E27FC236}">
                <a16:creationId xmlns:a16="http://schemas.microsoft.com/office/drawing/2014/main" id="{6133A96A-4B9E-E6E2-7C32-87ECDBE3E097}"/>
              </a:ext>
            </a:extLst>
          </p:cNvPr>
          <p:cNvSpPr/>
          <p:nvPr/>
        </p:nvSpPr>
        <p:spPr>
          <a:xfrm>
            <a:off x="4424423" y="4507927"/>
            <a:ext cx="1782000" cy="1782000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1E6E6AD-1049-2AAE-4C46-6AA7722EFCB8}"/>
              </a:ext>
            </a:extLst>
          </p:cNvPr>
          <p:cNvSpPr/>
          <p:nvPr/>
        </p:nvSpPr>
        <p:spPr>
          <a:xfrm>
            <a:off x="5488954" y="4528043"/>
            <a:ext cx="1782000" cy="1782000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5D78A0-3EF3-9350-BAA2-337D0CC898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69EAE1C-260D-740C-2265-EBF14C0E3E3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</p:spPr>
            <p:txBody>
              <a:bodyPr/>
              <a:lstStyle/>
              <a:p>
                <a:pPr lvl="0"/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u="sng" dirty="0"/>
                  <a:t>"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(Union) </a:t>
                </a:r>
              </a:p>
              <a:p>
                <a:pPr lvl="1"/>
                <a:r>
                  <a:rPr lang="en-US" dirty="0"/>
                  <a:t>This is the probability that either event A occurs or event B occurs (or both).</a:t>
                </a:r>
              </a:p>
              <a:p>
                <a:pPr marL="671513" lvl="2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US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FF0000"/>
                  </a:solidFill>
                </a:endParaRPr>
              </a:p>
              <a:p>
                <a:pPr lvl="2"/>
                <a:r>
                  <a:rPr lang="en-US" b="1" dirty="0"/>
                  <a:t>Reason:</a:t>
                </a:r>
                <a:r>
                  <a:rPr lang="en-US" dirty="0"/>
                  <a:t>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 are added, the common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is counted twice. 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 is subtracted once to obtain the correct probability..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69EAE1C-260D-740C-2265-EBF14C0E3E3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6287454B-74B9-C7AB-D0A8-60949190B8F6}"/>
              </a:ext>
            </a:extLst>
          </p:cNvPr>
          <p:cNvGrpSpPr/>
          <p:nvPr/>
        </p:nvGrpSpPr>
        <p:grpSpPr>
          <a:xfrm>
            <a:off x="4177538" y="3976593"/>
            <a:ext cx="3826472" cy="2549848"/>
            <a:chOff x="4177538" y="3976593"/>
            <a:chExt cx="3826472" cy="254984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A9A40187-1E44-2EDB-7306-AB7FBB8E10C6}"/>
                </a:ext>
              </a:extLst>
            </p:cNvPr>
            <p:cNvSpPr/>
            <p:nvPr/>
          </p:nvSpPr>
          <p:spPr>
            <a:xfrm>
              <a:off x="4177539" y="4145752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167EC40-74EF-68E4-3088-00038CE02358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8CE106F-2D34-C669-8C33-A31BF507CAE7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7FE53F9B-907E-8877-4AB1-F89AC6BEB71E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7FE53F9B-907E-8877-4AB1-F89AC6BEB7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3C4CFB34-E814-B8D0-1B94-67F403036A53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3C4CFB34-E814-B8D0-1B94-67F403036A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247D99B7-8475-813C-D6B8-CCF57A4D8A70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247D99B7-8475-813C-D6B8-CCF57A4D8A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255438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 animBg="1"/>
      <p:bldP spid="4" grpId="0" uiExpand="1" build="p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C19F4016-DD9A-2BBA-9720-6F259FE66E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268B84-4DD7-BBF6-4E06-EDED9D226D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A5E825D-7EB2-33B9-F6EA-DC33E605B36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177913"/>
              </a:xfrm>
            </p:spPr>
            <p:txBody>
              <a:bodyPr/>
              <a:lstStyle/>
              <a:p>
                <a:pPr lvl="0"/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u="sng" dirty="0"/>
                  <a:t>"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(Special Case) 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mutually exclusive,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i="0" dirty="0">
                  <a:latin typeface="Cambria Math" panose="02040503050406030204" pitchFamily="18" charset="0"/>
                </a:endParaRPr>
              </a:p>
              <a:p>
                <a:pPr marL="271463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A5E825D-7EB2-33B9-F6EA-DC33E605B36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177913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8039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BFE16A-D573-284E-D8F2-23CD5D362F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5FCDF8-DBE5-ABB7-A5CC-FC1B99AD55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4776626-521D-04AC-8CEE-0D3FC64E2F8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2156568"/>
                <a:ext cx="11928475" cy="2544864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candidate knows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Python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but does not know Java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US" dirty="0"/>
                  <a:t>?</a:t>
                </a:r>
              </a:p>
              <a:p>
                <a:r>
                  <a:rPr lang="en-US" dirty="0"/>
                  <a:t>Hence, the required event is</a:t>
                </a:r>
              </a:p>
              <a:p>
                <a:pPr marL="0" indent="0" algn="ctr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a:rPr lang="en-US" b="1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US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US" b="1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′</m:t>
                    </m:r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4776626-521D-04AC-8CEE-0D3FC64E2F8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2156568"/>
                <a:ext cx="11928475" cy="2544864"/>
              </a:xfrm>
              <a:blipFill>
                <a:blip r:embed="rId2"/>
                <a:stretch>
                  <a:fillRect l="-919" r="-1021" b="-2387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5805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744D43D-9CCB-76A1-00B9-84BA36D8B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4E385D6-971D-871F-7457-BAA4B75479E6}"/>
              </a:ext>
            </a:extLst>
          </p:cNvPr>
          <p:cNvSpPr/>
          <p:nvPr/>
        </p:nvSpPr>
        <p:spPr>
          <a:xfrm>
            <a:off x="4302028" y="4326547"/>
            <a:ext cx="1468652" cy="1800796"/>
          </a:xfrm>
          <a:custGeom>
            <a:avLst/>
            <a:gdLst>
              <a:gd name="csX0" fmla="*/ 891000 w 1434656"/>
              <a:gd name="csY0" fmla="*/ 0 h 1782000"/>
              <a:gd name="csX1" fmla="*/ 1389167 w 1434656"/>
              <a:gd name="csY1" fmla="*/ 152169 h 1782000"/>
              <a:gd name="csX2" fmla="*/ 1434656 w 1434656"/>
              <a:gd name="csY2" fmla="*/ 189701 h 1782000"/>
              <a:gd name="csX3" fmla="*/ 1325499 w 1434656"/>
              <a:gd name="csY3" fmla="*/ 279764 h 1782000"/>
              <a:gd name="csX4" fmla="*/ 1064531 w 1434656"/>
              <a:gd name="csY4" fmla="*/ 909796 h 1782000"/>
              <a:gd name="csX5" fmla="*/ 1325499 w 1434656"/>
              <a:gd name="csY5" fmla="*/ 1539828 h 1782000"/>
              <a:gd name="csX6" fmla="*/ 1411875 w 1434656"/>
              <a:gd name="csY6" fmla="*/ 1611095 h 1782000"/>
              <a:gd name="csX7" fmla="*/ 1389167 w 1434656"/>
              <a:gd name="csY7" fmla="*/ 1629831 h 1782000"/>
              <a:gd name="csX8" fmla="*/ 891000 w 1434656"/>
              <a:gd name="csY8" fmla="*/ 1782000 h 1782000"/>
              <a:gd name="csX9" fmla="*/ 0 w 1434656"/>
              <a:gd name="csY9" fmla="*/ 891000 h 1782000"/>
              <a:gd name="csX10" fmla="*/ 891000 w 1434656"/>
              <a:gd name="csY10" fmla="*/ 0 h 178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34656" h="1782000">
                <a:moveTo>
                  <a:pt x="891000" y="0"/>
                </a:moveTo>
                <a:cubicBezTo>
                  <a:pt x="1075532" y="0"/>
                  <a:pt x="1246962" y="56098"/>
                  <a:pt x="1389167" y="152169"/>
                </a:cubicBezTo>
                <a:lnTo>
                  <a:pt x="1434656" y="189701"/>
                </a:lnTo>
                <a:lnTo>
                  <a:pt x="1325499" y="279764"/>
                </a:lnTo>
                <a:cubicBezTo>
                  <a:pt x="1164260" y="441003"/>
                  <a:pt x="1064531" y="663753"/>
                  <a:pt x="1064531" y="909796"/>
                </a:cubicBezTo>
                <a:cubicBezTo>
                  <a:pt x="1064531" y="1155839"/>
                  <a:pt x="1164260" y="1378589"/>
                  <a:pt x="1325499" y="1539828"/>
                </a:cubicBezTo>
                <a:lnTo>
                  <a:pt x="1411875" y="1611095"/>
                </a:lnTo>
                <a:lnTo>
                  <a:pt x="1389167" y="1629831"/>
                </a:lnTo>
                <a:cubicBezTo>
                  <a:pt x="1246962" y="1725903"/>
                  <a:pt x="1075532" y="1782000"/>
                  <a:pt x="891000" y="1782000"/>
                </a:cubicBezTo>
                <a:cubicBezTo>
                  <a:pt x="398914" y="1782000"/>
                  <a:pt x="0" y="1383086"/>
                  <a:pt x="0" y="891000"/>
                </a:cubicBezTo>
                <a:cubicBezTo>
                  <a:pt x="0" y="398914"/>
                  <a:pt x="398914" y="0"/>
                  <a:pt x="89100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F06925D8-88DC-301A-6344-3293A39E2FEB}"/>
              </a:ext>
            </a:extLst>
          </p:cNvPr>
          <p:cNvSpPr/>
          <p:nvPr/>
        </p:nvSpPr>
        <p:spPr>
          <a:xfrm>
            <a:off x="4302028" y="4355071"/>
            <a:ext cx="1782000" cy="1782000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AF1BBD2-9A28-BED5-0BC4-697B901491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AEEC40C-37D0-1707-6B8C-542C6A84D2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30657"/>
            <a:ext cx="11929641" cy="1360790"/>
          </a:xfrm>
        </p:spPr>
        <p:txBody>
          <a:bodyPr/>
          <a:lstStyle/>
          <a:p>
            <a:pPr lvl="0"/>
            <a:r>
              <a:rPr lang="en-US" b="1" u="sng" dirty="0">
                <a:solidFill>
                  <a:schemeClr val="accent6">
                    <a:lumMod val="75000"/>
                  </a:schemeClr>
                </a:solidFill>
              </a:rPr>
              <a:t>Probability of "Only One" Event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 </a:t>
            </a:r>
            <a:r>
              <a:rPr lang="en-US" b="1" dirty="0">
                <a:solidFill>
                  <a:srgbClr val="0070C0"/>
                </a:solidFill>
              </a:rPr>
              <a:t>(Difference) </a:t>
            </a:r>
          </a:p>
          <a:p>
            <a:pPr lvl="1"/>
            <a:r>
              <a:rPr lang="en-US" b="1" dirty="0"/>
              <a:t>Only Event A occurs:</a:t>
            </a:r>
            <a:r>
              <a:rPr lang="en-US" dirty="0"/>
              <a:t> That is, event A occurs but event B does not occur.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4FFBD-4FFA-2E7E-CDD8-B19133ABD988}"/>
              </a:ext>
            </a:extLst>
          </p:cNvPr>
          <p:cNvGrpSpPr/>
          <p:nvPr/>
        </p:nvGrpSpPr>
        <p:grpSpPr>
          <a:xfrm>
            <a:off x="4055143" y="3813349"/>
            <a:ext cx="3826472" cy="2481754"/>
            <a:chOff x="4177538" y="3976593"/>
            <a:chExt cx="3826472" cy="248175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57BC0027-92FF-1B38-EA22-EE358D54D22A}"/>
                </a:ext>
              </a:extLst>
            </p:cNvPr>
            <p:cNvSpPr/>
            <p:nvPr/>
          </p:nvSpPr>
          <p:spPr>
            <a:xfrm>
              <a:off x="4190306" y="4077658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0DB54BF3-C2DB-D4E4-A48B-3815A404C924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6A10FE71-9D83-ACFD-0D54-BF7CC656FA5E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B4CDF5C0-3A50-D385-C913-D1536B852CA0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B4CDF5C0-3A50-D385-C913-D1536B852C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32D9DB14-3F99-04DB-7A97-1D8E71B9257A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32D9DB14-3F99-04DB-7A97-1D8E71B925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08CFFA0F-C1DD-CFB9-48B6-660868185DA7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08CFFA0F-C1DD-CFB9-48B6-660868185D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4D54BA7-4EB4-BD0A-C072-7CAA742E0996}"/>
                  </a:ext>
                </a:extLst>
              </p:cNvPr>
              <p:cNvSpPr txBox="1"/>
              <p:nvPr/>
            </p:nvSpPr>
            <p:spPr>
              <a:xfrm>
                <a:off x="3056617" y="2017952"/>
                <a:ext cx="39211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4D54BA7-4EB4-BD0A-C072-7CAA742E09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6617" y="2017952"/>
                <a:ext cx="392111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323C62E-D443-F51B-6DC1-5B7BCDC53873}"/>
                  </a:ext>
                </a:extLst>
              </p:cNvPr>
              <p:cNvSpPr txBox="1"/>
              <p:nvPr/>
            </p:nvSpPr>
            <p:spPr>
              <a:xfrm>
                <a:off x="6435258" y="2017952"/>
                <a:ext cx="34679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323C62E-D443-F51B-6DC1-5B7BCDC538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5258" y="2017952"/>
                <a:ext cx="346791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BBAE4EB-20E7-7F5E-7736-E91B0A774022}"/>
                  </a:ext>
                </a:extLst>
              </p:cNvPr>
              <p:cNvSpPr txBox="1"/>
              <p:nvPr/>
            </p:nvSpPr>
            <p:spPr>
              <a:xfrm>
                <a:off x="699280" y="2561712"/>
                <a:ext cx="11361540" cy="11611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30000"/>
                  </a:lnSpc>
                </a:pPr>
                <a:r>
                  <a:rPr lang="en-US" sz="2800" b="1" dirty="0">
                    <a:solidFill>
                      <a:srgbClr val="002060"/>
                    </a:solidFill>
                  </a:rPr>
                  <a:t>Reason: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probability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includes the common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 Since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should not occur, we subtract the common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BBAE4EB-20E7-7F5E-7736-E91B0A7740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80" y="2561712"/>
                <a:ext cx="11361540" cy="1161152"/>
              </a:xfrm>
              <a:prstGeom prst="rect">
                <a:avLst/>
              </a:prstGeom>
              <a:blipFill>
                <a:blip r:embed="rId7"/>
                <a:stretch>
                  <a:fillRect l="-1127" b="-1361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78962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1" grpId="0" animBg="1"/>
      <p:bldP spid="21" grpId="1" animBg="1"/>
      <p:bldP spid="14" grpId="0"/>
      <p:bldP spid="16" grpId="0"/>
      <p:bldP spid="17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F1BB1E2-BBC4-7960-AE7B-C04397FB3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4CDB92D-F900-C3F0-B231-6485064A6D36}"/>
              </a:ext>
            </a:extLst>
          </p:cNvPr>
          <p:cNvSpPr/>
          <p:nvPr/>
        </p:nvSpPr>
        <p:spPr>
          <a:xfrm flipH="1">
            <a:off x="5680953" y="4345343"/>
            <a:ext cx="1468652" cy="1800796"/>
          </a:xfrm>
          <a:custGeom>
            <a:avLst/>
            <a:gdLst>
              <a:gd name="csX0" fmla="*/ 891000 w 1434656"/>
              <a:gd name="csY0" fmla="*/ 0 h 1782000"/>
              <a:gd name="csX1" fmla="*/ 1389167 w 1434656"/>
              <a:gd name="csY1" fmla="*/ 152169 h 1782000"/>
              <a:gd name="csX2" fmla="*/ 1434656 w 1434656"/>
              <a:gd name="csY2" fmla="*/ 189701 h 1782000"/>
              <a:gd name="csX3" fmla="*/ 1325499 w 1434656"/>
              <a:gd name="csY3" fmla="*/ 279764 h 1782000"/>
              <a:gd name="csX4" fmla="*/ 1064531 w 1434656"/>
              <a:gd name="csY4" fmla="*/ 909796 h 1782000"/>
              <a:gd name="csX5" fmla="*/ 1325499 w 1434656"/>
              <a:gd name="csY5" fmla="*/ 1539828 h 1782000"/>
              <a:gd name="csX6" fmla="*/ 1411875 w 1434656"/>
              <a:gd name="csY6" fmla="*/ 1611095 h 1782000"/>
              <a:gd name="csX7" fmla="*/ 1389167 w 1434656"/>
              <a:gd name="csY7" fmla="*/ 1629831 h 1782000"/>
              <a:gd name="csX8" fmla="*/ 891000 w 1434656"/>
              <a:gd name="csY8" fmla="*/ 1782000 h 1782000"/>
              <a:gd name="csX9" fmla="*/ 0 w 1434656"/>
              <a:gd name="csY9" fmla="*/ 891000 h 1782000"/>
              <a:gd name="csX10" fmla="*/ 891000 w 1434656"/>
              <a:gd name="csY10" fmla="*/ 0 h 178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34656" h="1782000">
                <a:moveTo>
                  <a:pt x="891000" y="0"/>
                </a:moveTo>
                <a:cubicBezTo>
                  <a:pt x="1075532" y="0"/>
                  <a:pt x="1246962" y="56098"/>
                  <a:pt x="1389167" y="152169"/>
                </a:cubicBezTo>
                <a:lnTo>
                  <a:pt x="1434656" y="189701"/>
                </a:lnTo>
                <a:lnTo>
                  <a:pt x="1325499" y="279764"/>
                </a:lnTo>
                <a:cubicBezTo>
                  <a:pt x="1164260" y="441003"/>
                  <a:pt x="1064531" y="663753"/>
                  <a:pt x="1064531" y="909796"/>
                </a:cubicBezTo>
                <a:cubicBezTo>
                  <a:pt x="1064531" y="1155839"/>
                  <a:pt x="1164260" y="1378589"/>
                  <a:pt x="1325499" y="1539828"/>
                </a:cubicBezTo>
                <a:lnTo>
                  <a:pt x="1411875" y="1611095"/>
                </a:lnTo>
                <a:lnTo>
                  <a:pt x="1389167" y="1629831"/>
                </a:lnTo>
                <a:cubicBezTo>
                  <a:pt x="1246962" y="1725903"/>
                  <a:pt x="1075532" y="1782000"/>
                  <a:pt x="891000" y="1782000"/>
                </a:cubicBezTo>
                <a:cubicBezTo>
                  <a:pt x="398914" y="1782000"/>
                  <a:pt x="0" y="1383086"/>
                  <a:pt x="0" y="891000"/>
                </a:cubicBezTo>
                <a:cubicBezTo>
                  <a:pt x="0" y="398914"/>
                  <a:pt x="398914" y="0"/>
                  <a:pt x="89100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B49C544A-5A17-3FA5-36D7-0CA4C051D0D0}"/>
              </a:ext>
            </a:extLst>
          </p:cNvPr>
          <p:cNvSpPr/>
          <p:nvPr/>
        </p:nvSpPr>
        <p:spPr>
          <a:xfrm>
            <a:off x="5365513" y="4354741"/>
            <a:ext cx="1782000" cy="1782000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6896D67-4A0E-BBFD-1E18-34BC9D1991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F44B3A-8BC9-BDCD-7B15-CDEB0DE602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30657"/>
            <a:ext cx="11929641" cy="1360790"/>
          </a:xfrm>
        </p:spPr>
        <p:txBody>
          <a:bodyPr/>
          <a:lstStyle/>
          <a:p>
            <a:pPr lvl="0"/>
            <a:r>
              <a:rPr lang="en-US" b="1" u="sng" dirty="0">
                <a:solidFill>
                  <a:schemeClr val="accent6">
                    <a:lumMod val="75000"/>
                  </a:schemeClr>
                </a:solidFill>
              </a:rPr>
              <a:t>Probability of "Only One" Event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 </a:t>
            </a:r>
            <a:r>
              <a:rPr lang="en-US" b="1" dirty="0">
                <a:solidFill>
                  <a:srgbClr val="0070C0"/>
                </a:solidFill>
              </a:rPr>
              <a:t>(Difference) </a:t>
            </a:r>
          </a:p>
          <a:p>
            <a:pPr lvl="1"/>
            <a:r>
              <a:rPr lang="en-US" b="1" dirty="0"/>
              <a:t>Only Event B occurs:</a:t>
            </a:r>
            <a:r>
              <a:rPr lang="en-US" dirty="0"/>
              <a:t> That is, event B occurs but event A does not occur.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65D2D95-6E0E-5250-9E75-C4BF12F7D5C2}"/>
              </a:ext>
            </a:extLst>
          </p:cNvPr>
          <p:cNvGrpSpPr/>
          <p:nvPr/>
        </p:nvGrpSpPr>
        <p:grpSpPr>
          <a:xfrm>
            <a:off x="4055143" y="3813349"/>
            <a:ext cx="3826472" cy="2481754"/>
            <a:chOff x="4177538" y="3976593"/>
            <a:chExt cx="3826472" cy="248175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229E80D-5B0D-B05D-9583-A66905EB4751}"/>
                </a:ext>
              </a:extLst>
            </p:cNvPr>
            <p:cNvSpPr/>
            <p:nvPr/>
          </p:nvSpPr>
          <p:spPr>
            <a:xfrm>
              <a:off x="4190306" y="4077658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3572F8E5-8AA1-E491-5743-5A2E6A2DDF1D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64A81EB3-BDB0-AA5B-9658-821F4DE4E405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8C164CBE-9A2B-39C0-7B3D-56AFAD7F12C2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8C164CBE-9A2B-39C0-7B3D-56AFAD7F12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8A489E80-057A-76B2-4E67-8500D08F9784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8A489E80-057A-76B2-4E67-8500D08F97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DCDAF46F-C035-8C3B-C724-905715064655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DCDAF46F-C035-8C3B-C724-9057150646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5B6E5BF-CB59-417D-7C44-9D442EFCB429}"/>
                  </a:ext>
                </a:extLst>
              </p:cNvPr>
              <p:cNvSpPr txBox="1"/>
              <p:nvPr/>
            </p:nvSpPr>
            <p:spPr>
              <a:xfrm>
                <a:off x="3056617" y="2017952"/>
                <a:ext cx="39211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5B6E5BF-CB59-417D-7C44-9D442EFCB4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6617" y="2017952"/>
                <a:ext cx="392111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32D3564-ED2C-4599-84F6-D181D0D55AB4}"/>
                  </a:ext>
                </a:extLst>
              </p:cNvPr>
              <p:cNvSpPr txBox="1"/>
              <p:nvPr/>
            </p:nvSpPr>
            <p:spPr>
              <a:xfrm>
                <a:off x="6435258" y="2017952"/>
                <a:ext cx="34679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32D3564-ED2C-4599-84F6-D181D0D55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5258" y="2017952"/>
                <a:ext cx="346791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7E9242A-9E5D-5109-A3EB-D0626F55C542}"/>
                  </a:ext>
                </a:extLst>
              </p:cNvPr>
              <p:cNvSpPr txBox="1"/>
              <p:nvPr/>
            </p:nvSpPr>
            <p:spPr>
              <a:xfrm>
                <a:off x="699280" y="2561712"/>
                <a:ext cx="11361540" cy="11611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30000"/>
                  </a:lnSpc>
                </a:pPr>
                <a:r>
                  <a:rPr lang="en-US" sz="2800" b="1" dirty="0">
                    <a:solidFill>
                      <a:srgbClr val="002060"/>
                    </a:solidFill>
                  </a:rPr>
                  <a:t>Reason: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probability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includes the common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 Since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should not occur, we subtract the common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7E9242A-9E5D-5109-A3EB-D0626F55C5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80" y="2561712"/>
                <a:ext cx="11361540" cy="1161152"/>
              </a:xfrm>
              <a:prstGeom prst="rect">
                <a:avLst/>
              </a:prstGeom>
              <a:blipFill>
                <a:blip r:embed="rId7"/>
                <a:stretch>
                  <a:fillRect l="-1127" b="-1361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45295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1" grpId="0" animBg="1"/>
      <p:bldP spid="21" grpId="1" animBg="1"/>
      <p:bldP spid="14" grpId="0"/>
      <p:bldP spid="16" grpId="0"/>
      <p:bldP spid="17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:a16="http://schemas.microsoft.com/office/drawing/2014/main" id="{E06F35C9-379F-3E6A-03FC-ABA971746AE0}"/>
              </a:ext>
            </a:extLst>
          </p:cNvPr>
          <p:cNvGrpSpPr/>
          <p:nvPr/>
        </p:nvGrpSpPr>
        <p:grpSpPr>
          <a:xfrm>
            <a:off x="1717125" y="291506"/>
            <a:ext cx="8757750" cy="6274988"/>
            <a:chOff x="1736475" y="377905"/>
            <a:chExt cx="8757750" cy="6274988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6D2A383-87D7-EF0B-2FE2-125C3DCEF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412484" y="870348"/>
              <a:ext cx="5367032" cy="5782545"/>
            </a:xfrm>
            <a:prstGeom prst="rect">
              <a:avLst/>
            </a:prstGeom>
          </p:spPr>
        </p:pic>
        <p:cxnSp>
          <p:nvCxnSpPr>
            <p:cNvPr id="3" name="Straight Arrow Connector 2">
              <a:extLst>
                <a:ext uri="{FF2B5EF4-FFF2-40B4-BE49-F238E27FC236}">
                  <a16:creationId xmlns:a16="http://schemas.microsoft.com/office/drawing/2014/main" id="{768FA04D-7C8D-E88B-D6DC-6C8DD5C46E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09734" y="2548985"/>
              <a:ext cx="671208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A738C92-9298-DFED-E618-CBDCF0339DEE}"/>
                    </a:ext>
                  </a:extLst>
                </p:cNvPr>
                <p:cNvSpPr txBox="1"/>
                <p:nvPr/>
              </p:nvSpPr>
              <p:spPr>
                <a:xfrm>
                  <a:off x="1736475" y="2280692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A738C92-9298-DFED-E618-CBDCF0339D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36475" y="2280692"/>
                  <a:ext cx="1142495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1F6ADC99-4F25-22EC-C5D3-56FFB5D7EB14}"/>
                </a:ext>
              </a:extLst>
            </p:cNvPr>
            <p:cNvCxnSpPr>
              <a:cxnSpLocks/>
            </p:cNvCxnSpPr>
            <p:nvPr/>
          </p:nvCxnSpPr>
          <p:spPr>
            <a:xfrm>
              <a:off x="8680522" y="2558713"/>
              <a:ext cx="671208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139EEB7F-1033-0FA5-69B9-623A7560C052}"/>
                    </a:ext>
                  </a:extLst>
                </p:cNvPr>
                <p:cNvSpPr txBox="1"/>
                <p:nvPr/>
              </p:nvSpPr>
              <p:spPr>
                <a:xfrm>
                  <a:off x="9351730" y="2282955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139EEB7F-1033-0FA5-69B9-623A7560C0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51730" y="2282955"/>
                  <a:ext cx="1142495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9379C1DA-F6FB-54DC-FB6A-B5B01B8B53D8}"/>
                </a:ext>
              </a:extLst>
            </p:cNvPr>
            <p:cNvCxnSpPr>
              <a:cxnSpLocks/>
            </p:cNvCxnSpPr>
            <p:nvPr/>
          </p:nvCxnSpPr>
          <p:spPr>
            <a:xfrm>
              <a:off x="7028099" y="5490195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57817C3-9307-5EEA-2907-78112AC0FD2C}"/>
                    </a:ext>
                  </a:extLst>
                </p:cNvPr>
                <p:cNvSpPr txBox="1"/>
                <p:nvPr/>
              </p:nvSpPr>
              <p:spPr>
                <a:xfrm>
                  <a:off x="7592808" y="5912865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57817C3-9307-5EEA-2907-78112AC0F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92808" y="5912865"/>
                  <a:ext cx="114249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E1C2CACC-12FC-5DBE-FF69-83AC56150BA9}"/>
                </a:ext>
              </a:extLst>
            </p:cNvPr>
            <p:cNvCxnSpPr>
              <a:cxnSpLocks/>
            </p:cNvCxnSpPr>
            <p:nvPr/>
          </p:nvCxnSpPr>
          <p:spPr>
            <a:xfrm>
              <a:off x="7669822" y="3892976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36BB6939-8DBB-2DB1-31FA-FE620A11E7A7}"/>
                    </a:ext>
                  </a:extLst>
                </p:cNvPr>
                <p:cNvSpPr txBox="1"/>
                <p:nvPr/>
              </p:nvSpPr>
              <p:spPr>
                <a:xfrm>
                  <a:off x="8167666" y="4309586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36BB6939-8DBB-2DB1-31FA-FE620A11E7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67666" y="4309586"/>
                  <a:ext cx="1859833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943D133E-2707-3F1F-A01E-5AF9BABC88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33251" y="3886634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6B7CF0A9-6C02-C79C-BA85-46D068719B9F}"/>
                    </a:ext>
                  </a:extLst>
                </p:cNvPr>
                <p:cNvSpPr txBox="1"/>
                <p:nvPr/>
              </p:nvSpPr>
              <p:spPr>
                <a:xfrm>
                  <a:off x="2345456" y="4338818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6B7CF0A9-6C02-C79C-BA85-46D068719B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45456" y="4338818"/>
                  <a:ext cx="1859833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C2B4F2F0-559F-1CAA-12A4-036C5A491638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870348"/>
              <a:ext cx="0" cy="724434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TextBox 16">
                  <a:extLst>
                    <a:ext uri="{FF2B5EF4-FFF2-40B4-BE49-F238E27FC236}">
                      <a16:creationId xmlns:a16="http://schemas.microsoft.com/office/drawing/2014/main" id="{25C9E0C4-810C-AAE7-4B7E-41921FC482D5}"/>
                    </a:ext>
                  </a:extLst>
                </p:cNvPr>
                <p:cNvSpPr txBox="1"/>
                <p:nvPr/>
              </p:nvSpPr>
              <p:spPr>
                <a:xfrm>
                  <a:off x="5166083" y="377905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7" name="TextBox 16">
                  <a:extLst>
                    <a:ext uri="{FF2B5EF4-FFF2-40B4-BE49-F238E27FC236}">
                      <a16:creationId xmlns:a16="http://schemas.microsoft.com/office/drawing/2014/main" id="{25C9E0C4-810C-AAE7-4B7E-41921FC482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66083" y="377905"/>
                  <a:ext cx="1859833" cy="49244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6925570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1375D-ADF3-A3A1-8DDE-C039578A26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324152-84D1-C6CA-2054-4CB3F2D97C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96978B1-706B-278E-3102-0F0CB5B1399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2221690"/>
                <a:ext cx="11928475" cy="2414620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rgbClr val="0070C0"/>
                    </a:solidFill>
                  </a:rPr>
                  <a:t>at least one of the three</a:t>
                </a:r>
                <a:r>
                  <a:rPr lang="en-US" dirty="0"/>
                  <a:t> programming languages?</a:t>
                </a:r>
              </a:p>
              <a:p>
                <a:r>
                  <a:rPr lang="en-US" dirty="0"/>
                  <a:t>Hence, the required event is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</m:oMath>
                  </m:oMathPara>
                </a14:m>
                <a:endParaRPr lang="en-US" b="1" dirty="0">
                  <a:solidFill>
                    <a:schemeClr val="accent6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96978B1-706B-278E-3102-0F0CB5B1399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2221690"/>
                <a:ext cx="11928475" cy="2414620"/>
              </a:xfrm>
              <a:blipFill>
                <a:blip r:embed="rId2"/>
                <a:stretch>
                  <a:fillRect l="-919" r="-1021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87418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AE19AA1-B48D-9B56-ECC8-C8A2DCE28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75BA7585-3EA6-1C80-2428-93E1916A720E}"/>
              </a:ext>
            </a:extLst>
          </p:cNvPr>
          <p:cNvSpPr/>
          <p:nvPr/>
        </p:nvSpPr>
        <p:spPr>
          <a:xfrm>
            <a:off x="5205150" y="4507044"/>
            <a:ext cx="1605656" cy="1627238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81EA395F-7694-262B-E3C8-B1AEC606897A}"/>
              </a:ext>
            </a:extLst>
          </p:cNvPr>
          <p:cNvSpPr/>
          <p:nvPr/>
        </p:nvSpPr>
        <p:spPr>
          <a:xfrm>
            <a:off x="5702198" y="3685975"/>
            <a:ext cx="1605656" cy="1627238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1D76E1D-2625-58F4-7BA1-A72BE0CC33DF}"/>
              </a:ext>
            </a:extLst>
          </p:cNvPr>
          <p:cNvSpPr/>
          <p:nvPr/>
        </p:nvSpPr>
        <p:spPr>
          <a:xfrm>
            <a:off x="4712750" y="3698289"/>
            <a:ext cx="1605656" cy="1627238"/>
          </a:xfrm>
          <a:prstGeom prst="ellipse">
            <a:avLst/>
          </a:pr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prstClr val="white"/>
              </a:solidFill>
              <a:latin typeface="Roboto Condensed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46BC735-1A58-8A5B-B435-4BB2900D07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CBCEE8-685E-1696-13B6-EDC6F1A6C90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79757" cy="3072858"/>
              </a:xfrm>
            </p:spPr>
            <p:txBody>
              <a:bodyPr/>
              <a:lstStyle/>
              <a:p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u="sng" dirty="0"/>
                  <a:t>" Event Occurring</a:t>
                </a:r>
              </a:p>
              <a:p>
                <a:pPr lvl="1"/>
                <a:r>
                  <a:rPr lang="en-US" dirty="0"/>
                  <a:t>This is the probability that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occurs, either individually or in any combination.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b="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</a:endParaRPr>
              </a:p>
              <a:p>
                <a:pPr marL="94107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CBCEE8-685E-1696-13B6-EDC6F1A6C90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79757" cy="3072858"/>
              </a:xfrm>
              <a:blipFill>
                <a:blip r:embed="rId2"/>
                <a:stretch>
                  <a:fillRect l="-967" r="-10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13261DA4-53BF-0AC5-8293-53372FC48667}"/>
              </a:ext>
            </a:extLst>
          </p:cNvPr>
          <p:cNvGrpSpPr/>
          <p:nvPr/>
        </p:nvGrpSpPr>
        <p:grpSpPr>
          <a:xfrm>
            <a:off x="4267638" y="3072261"/>
            <a:ext cx="3656721" cy="3337368"/>
            <a:chOff x="4187233" y="2984712"/>
            <a:chExt cx="3656721" cy="333736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DE127BD-68DA-7F58-D354-24D51C8E82EF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B99B4B5C-BAAB-756D-E31A-DCF99D41E8A5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B99B4B5C-BAAB-756D-E31A-DCF99D41E8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7261E14-6DAF-C709-50D6-24FD0567BE6B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7261E14-6DAF-C709-50D6-24FD0567BE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453C87B-5A2D-4E19-55C8-08A79D93EB4E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453C87B-5A2D-4E19-55C8-08A79D93E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8D5EF0EF-CE8D-A8BF-FE58-DC26E8DB1153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8D5EF0EF-CE8D-A8BF-FE58-DC26E8DB11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D290C07D-8949-B5B1-0290-1C45BF0BDFC7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FA4637-B151-F2D8-31D4-38BC74F1BE00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2F1B5B3F-4661-4EA7-035A-5A45572A3FB0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9851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6" grpId="0" animBg="1"/>
      <p:bldP spid="15" grpId="0" animBg="1"/>
      <p:bldP spid="4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7658EC1-BD63-E712-79A5-99BE0A55E5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7202D5-832B-61BF-C4FF-E70B6C339E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B67C64B-34B9-784B-B18F-7829AE661E8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689598"/>
              </a:xfrm>
            </p:spPr>
            <p:txBody>
              <a:bodyPr/>
              <a:lstStyle/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4107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b="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b="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1"/>
                <a:r>
                  <a:rPr lang="en-IN" b="1" dirty="0"/>
                  <a:t>Reason:</a:t>
                </a:r>
                <a:endParaRPr lang="en-IN" dirty="0"/>
              </a:p>
              <a:p>
                <a:pPr lvl="2"/>
                <a:r>
                  <a:rPr lang="en-IN" dirty="0"/>
                  <a:t>Add individual probabilities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</m:d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2"/>
                <a:r>
                  <a:rPr lang="en-US" dirty="0"/>
                  <a:t>Subtract the </a:t>
                </a:r>
                <a:r>
                  <a:rPr lang="en-US" dirty="0">
                    <a:solidFill>
                      <a:srgbClr val="FF0000"/>
                    </a:solidFill>
                  </a:rPr>
                  <a:t>double overlaps</a:t>
                </a:r>
                <a:r>
                  <a:rPr lang="en-US" dirty="0"/>
                  <a:t> because they were counted twice.</a:t>
                </a:r>
              </a:p>
              <a:p>
                <a:pPr lvl="2"/>
                <a:r>
                  <a:rPr lang="en-US" dirty="0"/>
                  <a:t>Add back the triple overlap </a:t>
                </a: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r>
                  <a:rPr lang="en-US" dirty="0"/>
                  <a:t> because step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 removed it entirely.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B67C64B-34B9-784B-B18F-7829AE661E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689598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31191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4EA2A-ABA2-081F-7F68-5701A08DEC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8D2EDB-56DA-8E54-7D43-D5BFAF5E79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BFD26ED-02D8-6BDD-247E-17B7D3CE2ED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797668"/>
                <a:ext cx="11928475" cy="5739319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two of the three</a:t>
                </a:r>
                <a:r>
                  <a:rPr lang="en-US" dirty="0">
                    <a:solidFill>
                      <a:schemeClr val="accent6">
                        <a:lumMod val="75000"/>
                      </a:schemeClr>
                    </a:solidFill>
                  </a:rPr>
                  <a:t> </a:t>
                </a:r>
                <a:r>
                  <a:rPr lang="en-US" dirty="0"/>
                  <a:t>programming languages?</a:t>
                </a:r>
              </a:p>
              <a:p>
                <a:r>
                  <a:rPr lang="en-US" dirty="0"/>
                  <a:t>This means the candidate knows</a:t>
                </a:r>
              </a:p>
              <a:p>
                <a:pPr lvl="1"/>
                <a:r>
                  <a:rPr lang="en-US" dirty="0"/>
                  <a:t>Python and Java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0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Python and SQL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Java and SQL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Python, Java and SQL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US" dirty="0"/>
              </a:p>
              <a:p>
                <a:r>
                  <a:rPr lang="en-US" dirty="0"/>
                  <a:t>Hence, the required event is </a:t>
                </a:r>
                <a:endParaRPr lang="en-US" i="0" dirty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</m:oMath>
                  </m:oMathPara>
                </a14:m>
                <a:endParaRPr lang="en-US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BFD26ED-02D8-6BDD-247E-17B7D3CE2ED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797668"/>
                <a:ext cx="11928475" cy="5739319"/>
              </a:xfrm>
              <a:blipFill>
                <a:blip r:embed="rId2"/>
                <a:stretch>
                  <a:fillRect l="-919" r="-1021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8920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AB57DF6-E3D0-3F2B-2F55-476AF4BAB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EFA1A7FD-51E7-5C0F-7F7C-0425FD5A5E61}"/>
              </a:ext>
            </a:extLst>
          </p:cNvPr>
          <p:cNvSpPr/>
          <p:nvPr/>
        </p:nvSpPr>
        <p:spPr>
          <a:xfrm>
            <a:off x="5611132" y="4418202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C9E40AC-B16C-2EA9-FD99-9F9C89B00388}"/>
              </a:ext>
            </a:extLst>
          </p:cNvPr>
          <p:cNvSpPr/>
          <p:nvPr/>
        </p:nvSpPr>
        <p:spPr>
          <a:xfrm>
            <a:off x="5109598" y="4479240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5883947-8188-6AFA-BC0E-44A38BE9765F}"/>
              </a:ext>
            </a:extLst>
          </p:cNvPr>
          <p:cNvSpPr/>
          <p:nvPr/>
        </p:nvSpPr>
        <p:spPr>
          <a:xfrm>
            <a:off x="5923352" y="4480227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577E12D-60CC-E073-20C9-C0B491B87623}"/>
              </a:ext>
            </a:extLst>
          </p:cNvPr>
          <p:cNvSpPr/>
          <p:nvPr/>
        </p:nvSpPr>
        <p:spPr>
          <a:xfrm>
            <a:off x="5604034" y="3763160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9A6C11-5105-2172-82AF-017986A318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64EEE81-349C-2CB5-821F-CBA556BA993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</p:spPr>
            <p:txBody>
              <a:bodyPr/>
              <a:lstStyle/>
              <a:p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At Least Two</a:t>
                </a:r>
                <a:r>
                  <a:rPr lang="en-US" b="1" u="sng" dirty="0"/>
                  <a:t>" Occurring</a:t>
                </a:r>
              </a:p>
              <a:p>
                <a:pPr lvl="1"/>
                <a:r>
                  <a:rPr lang="en-US" i="0" dirty="0">
                    <a:latin typeface="+mj-lt"/>
                  </a:rPr>
                  <a:t>This is the probability that at least two of the 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i="0" dirty="0">
                    <a:latin typeface="+mj-lt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i="0" dirty="0">
                    <a:latin typeface="+mj-lt"/>
                  </a:rPr>
                  <a:t> occur</a:t>
                </a:r>
                <a:r>
                  <a:rPr lang="en-US" dirty="0">
                    <a:latin typeface="Cambria Math" panose="02040503050406030204" pitchFamily="18" charset="0"/>
                  </a:rPr>
                  <a:t>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b="1" i="1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</m:e>
                    </m:d>
                    <m: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</a:endParaRPr>
              </a:p>
              <a:p>
                <a:pPr marL="93345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US" dirty="0">
                  <a:solidFill>
                    <a:srgbClr val="002060"/>
                  </a:solidFill>
                </a:endParaRP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64EEE81-349C-2CB5-821F-CBA556BA993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2A4209FA-A311-6F76-0CC1-8C0D46351C4A}"/>
              </a:ext>
            </a:extLst>
          </p:cNvPr>
          <p:cNvGrpSpPr/>
          <p:nvPr/>
        </p:nvGrpSpPr>
        <p:grpSpPr>
          <a:xfrm>
            <a:off x="4187233" y="2984712"/>
            <a:ext cx="3656721" cy="3337368"/>
            <a:chOff x="4187233" y="2984712"/>
            <a:chExt cx="3656721" cy="33373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CD37901-2F45-1156-20A3-9F665937A85F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8AA75D4A-38CB-DEF3-B203-A2BB54529E7C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8AA75D4A-38CB-DEF3-B203-A2BB54529E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B263130-6342-B34A-A4DC-B942DC33F82C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B263130-6342-B34A-A4DC-B942DC33F8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072BF0A-3928-A52D-666A-88A07A54072B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072BF0A-3928-A52D-666A-88A07A5407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24DA892-E076-C8CF-00EF-A0F4DFAA6376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24DA892-E076-C8CF-00EF-A0F4DFAA63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7A91205-740E-6F2B-1355-20CBE69D2275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2119D6EE-C4F3-F734-EB67-49BCA92E1C72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CAE4C706-A9D0-06C0-F441-9A80E32A48E3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34474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  <p:bldP spid="4" grpId="0" uiExpand="1" build="p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9B0E651-1017-37CD-6887-A146B23A5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2BB2C3-FEF9-3898-AD41-A6088BC37C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A3F9DA3-853A-F9C3-64BB-6BECEBCA5F8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IN" b="1" dirty="0"/>
              </a:p>
              <a:p>
                <a:pPr marL="93345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b="0" i="0" dirty="0" smtClean="0"/>
                      <m:t>Reason</m:t>
                    </m:r>
                    <m:r>
                      <m:rPr>
                        <m:nor/>
                      </m:rPr>
                      <a:rPr lang="en-US" b="0" i="0" dirty="0"/>
                      <m:t>:</m:t>
                    </m:r>
                  </m:oMath>
                </a14:m>
                <a:endParaRPr lang="en-US" dirty="0"/>
              </a:p>
              <a:p>
                <a:pPr lvl="2"/>
                <a:r>
                  <a:rPr lang="en-US" dirty="0"/>
                  <a:t>Add the probabilities of the </a:t>
                </a:r>
                <a:r>
                  <a:rPr lang="en-US" b="1" dirty="0">
                    <a:solidFill>
                      <a:srgbClr val="0070C0"/>
                    </a:solidFill>
                  </a:rPr>
                  <a:t>three pairwise intersections</a:t>
                </a:r>
                <a:r>
                  <a:rPr lang="en-US" dirty="0"/>
                  <a:t>.</a:t>
                </a:r>
              </a:p>
              <a:p>
                <a:pPr lvl="2"/>
                <a:r>
                  <a:rPr lang="en-US" dirty="0"/>
                  <a:t>The common region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is counted three times.</a:t>
                </a:r>
              </a:p>
              <a:p>
                <a:pPr lvl="2"/>
                <a:r>
                  <a:rPr lang="en-US" dirty="0"/>
                  <a:t>It should be counted only once, so </a:t>
                </a:r>
                <a:r>
                  <a:rPr lang="en-US" dirty="0">
                    <a:solidFill>
                      <a:srgbClr val="FF0000"/>
                    </a:solidFill>
                  </a:rPr>
                  <a:t>subtract it twice</a:t>
                </a:r>
                <a:r>
                  <a:rPr lang="en-US" dirty="0"/>
                  <a:t>.	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A3F9DA3-853A-F9C3-64BB-6BECEBCA5F8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29217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A2C2B4-BBB5-5531-C191-8F6F19DD8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5B48BE-DBDB-CE44-3C2F-B943C9A17C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90420DA-E545-1A74-A7FC-DC303D434C8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885217"/>
                <a:ext cx="11928475" cy="5175115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two of the three</a:t>
                </a:r>
                <a:r>
                  <a:rPr lang="en-US" dirty="0"/>
                  <a:t> programming languages?</a:t>
                </a:r>
              </a:p>
              <a:p>
                <a:r>
                  <a:rPr lang="en-US" dirty="0"/>
                  <a:t>This means the candidate knows</a:t>
                </a:r>
              </a:p>
              <a:p>
                <a:pPr lvl="1"/>
                <a:r>
                  <a:rPr lang="en-US" dirty="0"/>
                  <a:t>Python and Java only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p>
                            <m:r>
                              <a:rPr lang="en-US" b="1" i="0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Python and SQL only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′∩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Java and SQL only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r>
                  <a:rPr lang="en-US" dirty="0"/>
                  <a:t>Hence, the required event is</a:t>
                </a:r>
              </a:p>
              <a:p>
                <a:pPr marL="0" indent="0" algn="ctr"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b="1" i="1" dirty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 dirty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p>
                            <m:r>
                              <a:rPr lang="en-US" b="1" i="0" dirty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′∩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r>
                  <a:rPr lang="en-US" dirty="0"/>
                  <a:t>	​ </a:t>
                </a:r>
                <a:endParaRPr lang="en-US" i="0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90420DA-E545-1A74-A7FC-DC303D434C8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885217"/>
                <a:ext cx="11928475" cy="5175115"/>
              </a:xfrm>
              <a:blipFill>
                <a:blip r:embed="rId2"/>
                <a:stretch>
                  <a:fillRect l="-919" r="-1021" b="-1293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521828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C1474F8-6F8A-61DA-181E-FB74A167D4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0CE18084-85BC-BA8F-677D-1D60172B4A54}"/>
              </a:ext>
            </a:extLst>
          </p:cNvPr>
          <p:cNvSpPr/>
          <p:nvPr/>
        </p:nvSpPr>
        <p:spPr>
          <a:xfrm>
            <a:off x="5614445" y="4616326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9CBFD85-1107-CEE5-3F81-6EE59A8661FD}"/>
              </a:ext>
            </a:extLst>
          </p:cNvPr>
          <p:cNvSpPr/>
          <p:nvPr/>
        </p:nvSpPr>
        <p:spPr>
          <a:xfrm>
            <a:off x="5112911" y="4677364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93AF9EC-5C65-C3DF-F8AB-1A92E8E0DF39}"/>
              </a:ext>
            </a:extLst>
          </p:cNvPr>
          <p:cNvSpPr/>
          <p:nvPr/>
        </p:nvSpPr>
        <p:spPr>
          <a:xfrm>
            <a:off x="5926665" y="4678351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AAB60DC6-D93E-16BE-73E5-04C8459D622E}"/>
              </a:ext>
            </a:extLst>
          </p:cNvPr>
          <p:cNvSpPr/>
          <p:nvPr/>
        </p:nvSpPr>
        <p:spPr>
          <a:xfrm>
            <a:off x="5607347" y="3961284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2F46AE-082D-18C9-2373-394F1B147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361A28-411C-A4B6-0970-5BAA70243A5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</p:spPr>
            <p:txBody>
              <a:bodyPr/>
              <a:lstStyle/>
              <a:p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Exactly Two</a:t>
                </a:r>
                <a:r>
                  <a:rPr lang="en-US" b="1" u="sng" dirty="0"/>
                  <a:t>" Occurring</a:t>
                </a:r>
              </a:p>
              <a:p>
                <a:pPr lvl="1"/>
                <a:r>
                  <a:rPr lang="en-US" dirty="0"/>
                  <a:t>This is the probability that exactly two of the 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occur..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b="1" i="1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𝐂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𝐀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990600" indent="0"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361A28-411C-A4B6-0970-5BAA70243A5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65865399-A0C2-C707-A496-CAFC172C1EF7}"/>
              </a:ext>
            </a:extLst>
          </p:cNvPr>
          <p:cNvGrpSpPr/>
          <p:nvPr/>
        </p:nvGrpSpPr>
        <p:grpSpPr>
          <a:xfrm>
            <a:off x="4187233" y="3422187"/>
            <a:ext cx="3908125" cy="3094446"/>
            <a:chOff x="4187233" y="3227634"/>
            <a:chExt cx="3908125" cy="309444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D7DD564-7573-F37C-4A15-C38DF5167B39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7271612-D7F5-3E24-36D5-6B89C3B3D3D5}"/>
                    </a:ext>
                  </a:extLst>
                </p:cNvPr>
                <p:cNvSpPr txBox="1"/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7271612-D7F5-3E24-36D5-6B89C3B3D3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9042EA7-23F3-2D77-5EA4-6A7B7D68421E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9042EA7-23F3-2D77-5EA4-6A7B7D6842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55BCE0DF-B1C7-2426-4696-B032D93D543D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55BCE0DF-B1C7-2426-4696-B032D93D54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5E345091-A1E2-EB9C-CB09-6829FAECDCEB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5E345091-A1E2-EB9C-CB09-6829FAECDC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2B9EE7C-FD85-44EA-B698-48079D4FABDA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CA781C8-8F7E-9F24-FFC7-67688B08914C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2E3DA2F0-261E-4BA6-5D67-0286666CDDAF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6008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9" grpId="1" animBg="1"/>
      <p:bldP spid="18" grpId="0" animBg="1"/>
      <p:bldP spid="17" grpId="0" animBg="1"/>
      <p:bldP spid="3" grpId="0" animBg="1"/>
      <p:bldP spid="4" grpId="0" uiExpand="1" build="p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FF9D677-0AF4-DDD3-D180-DF99F4C938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4C08D-3334-B838-B184-291C8D249A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96DB4B3-EEED-8B49-2522-BB6B0CDD706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</p:spPr>
            <p:txBody>
              <a:bodyPr/>
              <a:lstStyle/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990600" indent="0"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b="0" i="0" dirty="0" smtClean="0"/>
                      <m:t>Reason</m:t>
                    </m:r>
                    <m:r>
                      <m:rPr>
                        <m:nor/>
                      </m:rPr>
                      <a:rPr lang="en-US" b="0" i="0" dirty="0"/>
                      <m:t>:</m:t>
                    </m:r>
                    <m:r>
                      <m:rPr>
                        <m:nor/>
                      </m:rPr>
                      <a:rPr lang="en-US" i="0" dirty="0"/>
                      <m:t> </m:t>
                    </m:r>
                  </m:oMath>
                </a14:m>
                <a:endParaRPr lang="en-IN" dirty="0"/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each include the region where all three events occur.</a:t>
                </a:r>
              </a:p>
              <a:p>
                <a:pPr lvl="2"/>
                <a:r>
                  <a:rPr lang="en-US" dirty="0"/>
                  <a:t>Therefore, the common region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is counted three times.</a:t>
                </a:r>
              </a:p>
              <a:p>
                <a:pPr lvl="2"/>
                <a:r>
                  <a:rPr lang="en-US" dirty="0"/>
                  <a:t>Since "exactly two" does not include the case where all three events occur, we remove it three times.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96DB4B3-EEED-8B49-2522-BB6B0CDD706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  <a:blipFill>
                <a:blip r:embed="rId2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39621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8E54E5-C9D4-C33C-B2B1-E2EDA5188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04ED3D-E9B8-FCF0-A650-D03A0D483B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EF62C74-A0E1-C8B0-B510-17189463C55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885217"/>
                <a:ext cx="11928475" cy="5087566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one of the three </a:t>
                </a:r>
                <a:r>
                  <a:rPr lang="en-US" dirty="0"/>
                  <a:t>programming languages?</a:t>
                </a:r>
              </a:p>
              <a:p>
                <a:r>
                  <a:rPr lang="en-US" dirty="0"/>
                  <a:t>This means the candidate knows</a:t>
                </a:r>
              </a:p>
              <a:p>
                <a:pPr lvl="1"/>
                <a:r>
                  <a:rPr lang="en-US" dirty="0"/>
                  <a:t>Only Python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Only Java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or</a:t>
                </a:r>
              </a:p>
              <a:p>
                <a:pPr lvl="1"/>
                <a:r>
                  <a:rPr lang="en-US" dirty="0"/>
                  <a:t>Only SQL 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2400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US" sz="2400" b="1" i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p>
                            <m:r>
                              <a:rPr lang="en-US" sz="2400" b="1" dirty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sz="2400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US" dirty="0"/>
              </a:p>
              <a:p>
                <a:r>
                  <a:rPr lang="en-US" dirty="0"/>
                  <a:t>Hence, the required event is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ctrlPr>
                            <a:rPr lang="en-US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US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US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</m:oMath>
                  </m:oMathPara>
                </a14:m>
                <a:endParaRPr lang="en-US" b="1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EF62C74-A0E1-C8B0-B510-17189463C55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885217"/>
                <a:ext cx="11928475" cy="5087566"/>
              </a:xfrm>
              <a:blipFill>
                <a:blip r:embed="rId2"/>
                <a:stretch>
                  <a:fillRect l="-919" r="-1021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62373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68F134E-D1EE-9B83-74CA-12A9A33BC4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CAAA9FE-E22E-297B-09A5-B63DBEDCFE63}"/>
              </a:ext>
            </a:extLst>
          </p:cNvPr>
          <p:cNvSpPr/>
          <p:nvPr/>
        </p:nvSpPr>
        <p:spPr>
          <a:xfrm>
            <a:off x="5109598" y="5277511"/>
            <a:ext cx="1627240" cy="995236"/>
          </a:xfrm>
          <a:custGeom>
            <a:avLst/>
            <a:gdLst>
              <a:gd name="csX0" fmla="*/ 817067 w 1627240"/>
              <a:gd name="csY0" fmla="*/ 0 h 995236"/>
              <a:gd name="csX1" fmla="*/ 860120 w 1627240"/>
              <a:gd name="csY1" fmla="*/ 35522 h 995236"/>
              <a:gd name="csX2" fmla="*/ 1315023 w 1627240"/>
              <a:gd name="csY2" fmla="*/ 174475 h 995236"/>
              <a:gd name="csX3" fmla="*/ 1556969 w 1627240"/>
              <a:gd name="csY3" fmla="*/ 137896 h 995236"/>
              <a:gd name="csX4" fmla="*/ 1623797 w 1627240"/>
              <a:gd name="csY4" fmla="*/ 113437 h 995236"/>
              <a:gd name="csX5" fmla="*/ 1627240 w 1627240"/>
              <a:gd name="csY5" fmla="*/ 181617 h 995236"/>
              <a:gd name="csX6" fmla="*/ 813620 w 1627240"/>
              <a:gd name="csY6" fmla="*/ 995236 h 995236"/>
              <a:gd name="csX7" fmla="*/ 0 w 1627240"/>
              <a:gd name="csY7" fmla="*/ 181617 h 995236"/>
              <a:gd name="csX8" fmla="*/ 3312 w 1627240"/>
              <a:gd name="csY8" fmla="*/ 116022 h 995236"/>
              <a:gd name="csX9" fmla="*/ 72837 w 1627240"/>
              <a:gd name="csY9" fmla="*/ 141467 h 995236"/>
              <a:gd name="csX10" fmla="*/ 314783 w 1627240"/>
              <a:gd name="csY10" fmla="*/ 178046 h 995236"/>
              <a:gd name="csX11" fmla="*/ 769686 w 1627240"/>
              <a:gd name="csY11" fmla="*/ 39093 h 995236"/>
              <a:gd name="csX12" fmla="*/ 817067 w 1627240"/>
              <a:gd name="csY12" fmla="*/ 0 h 9952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627240" h="995236">
                <a:moveTo>
                  <a:pt x="817067" y="0"/>
                </a:moveTo>
                <a:lnTo>
                  <a:pt x="860120" y="35522"/>
                </a:lnTo>
                <a:cubicBezTo>
                  <a:pt x="989975" y="123250"/>
                  <a:pt x="1146517" y="174475"/>
                  <a:pt x="1315023" y="174475"/>
                </a:cubicBezTo>
                <a:cubicBezTo>
                  <a:pt x="1399276" y="174475"/>
                  <a:pt x="1480538" y="161669"/>
                  <a:pt x="1556969" y="137896"/>
                </a:cubicBezTo>
                <a:lnTo>
                  <a:pt x="1623797" y="113437"/>
                </a:lnTo>
                <a:lnTo>
                  <a:pt x="1627240" y="181617"/>
                </a:lnTo>
                <a:cubicBezTo>
                  <a:pt x="1627240" y="630966"/>
                  <a:pt x="1262970" y="995236"/>
                  <a:pt x="813620" y="995236"/>
                </a:cubicBezTo>
                <a:cubicBezTo>
                  <a:pt x="364270" y="995236"/>
                  <a:pt x="0" y="630966"/>
                  <a:pt x="0" y="181617"/>
                </a:cubicBezTo>
                <a:lnTo>
                  <a:pt x="3312" y="116022"/>
                </a:lnTo>
                <a:lnTo>
                  <a:pt x="72837" y="141467"/>
                </a:lnTo>
                <a:cubicBezTo>
                  <a:pt x="149268" y="165240"/>
                  <a:pt x="230530" y="178046"/>
                  <a:pt x="314783" y="178046"/>
                </a:cubicBezTo>
                <a:cubicBezTo>
                  <a:pt x="483289" y="178046"/>
                  <a:pt x="639831" y="126821"/>
                  <a:pt x="769686" y="39093"/>
                </a:cubicBezTo>
                <a:lnTo>
                  <a:pt x="817067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B3368F9-C70E-0CB9-1B3C-AA6B24C71609}"/>
              </a:ext>
            </a:extLst>
          </p:cNvPr>
          <p:cNvSpPr/>
          <p:nvPr/>
        </p:nvSpPr>
        <p:spPr>
          <a:xfrm>
            <a:off x="5922337" y="3824748"/>
            <a:ext cx="1315904" cy="1566200"/>
          </a:xfrm>
          <a:custGeom>
            <a:avLst/>
            <a:gdLst>
              <a:gd name="csX0" fmla="*/ 502284 w 1315904"/>
              <a:gd name="csY0" fmla="*/ 0 h 1566200"/>
              <a:gd name="csX1" fmla="*/ 1315904 w 1315904"/>
              <a:gd name="csY1" fmla="*/ 813619 h 1566200"/>
              <a:gd name="csX2" fmla="*/ 818982 w 1315904"/>
              <a:gd name="csY2" fmla="*/ 1563300 h 1566200"/>
              <a:gd name="csX3" fmla="*/ 811058 w 1315904"/>
              <a:gd name="csY3" fmla="*/ 1566200 h 1566200"/>
              <a:gd name="csX4" fmla="*/ 810300 w 1315904"/>
              <a:gd name="csY4" fmla="*/ 1551192 h 1566200"/>
              <a:gd name="csX5" fmla="*/ 317579 w 1315904"/>
              <a:gd name="csY5" fmla="*/ 884699 h 1566200"/>
              <a:gd name="csX6" fmla="*/ 312352 w 1315904"/>
              <a:gd name="csY6" fmla="*/ 882786 h 1566200"/>
              <a:gd name="csX7" fmla="*/ 315664 w 1315904"/>
              <a:gd name="csY7" fmla="*/ 817190 h 1566200"/>
              <a:gd name="csX8" fmla="*/ 77360 w 1315904"/>
              <a:gd name="csY8" fmla="*/ 241875 h 1566200"/>
              <a:gd name="csX9" fmla="*/ 0 w 1315904"/>
              <a:gd name="csY9" fmla="*/ 178047 h 1566200"/>
              <a:gd name="csX10" fmla="*/ 47381 w 1315904"/>
              <a:gd name="csY10" fmla="*/ 138953 h 1566200"/>
              <a:gd name="csX11" fmla="*/ 502284 w 1315904"/>
              <a:gd name="csY11" fmla="*/ 0 h 1566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5904" h="1566200">
                <a:moveTo>
                  <a:pt x="502284" y="0"/>
                </a:moveTo>
                <a:cubicBezTo>
                  <a:pt x="951634" y="0"/>
                  <a:pt x="1315904" y="364270"/>
                  <a:pt x="1315904" y="813619"/>
                </a:cubicBezTo>
                <a:cubicBezTo>
                  <a:pt x="1315904" y="1150631"/>
                  <a:pt x="1111002" y="1439786"/>
                  <a:pt x="818982" y="1563300"/>
                </a:cubicBezTo>
                <a:lnTo>
                  <a:pt x="811058" y="1566200"/>
                </a:lnTo>
                <a:lnTo>
                  <a:pt x="810300" y="1551192"/>
                </a:lnTo>
                <a:cubicBezTo>
                  <a:pt x="779746" y="1250326"/>
                  <a:pt x="585264" y="997921"/>
                  <a:pt x="317579" y="884699"/>
                </a:cubicBezTo>
                <a:lnTo>
                  <a:pt x="312352" y="882786"/>
                </a:lnTo>
                <a:lnTo>
                  <a:pt x="315664" y="817190"/>
                </a:lnTo>
                <a:cubicBezTo>
                  <a:pt x="315664" y="592516"/>
                  <a:pt x="224597" y="389111"/>
                  <a:pt x="77360" y="241875"/>
                </a:cubicBezTo>
                <a:lnTo>
                  <a:pt x="0" y="178047"/>
                </a:lnTo>
                <a:lnTo>
                  <a:pt x="47381" y="138953"/>
                </a:lnTo>
                <a:cubicBezTo>
                  <a:pt x="177236" y="51226"/>
                  <a:pt x="333778" y="0"/>
                  <a:pt x="50228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EA3B73FF-7E96-B400-8E4F-D14A26F46D3B}"/>
              </a:ext>
            </a:extLst>
          </p:cNvPr>
          <p:cNvSpPr/>
          <p:nvPr/>
        </p:nvSpPr>
        <p:spPr>
          <a:xfrm>
            <a:off x="4610761" y="3828319"/>
            <a:ext cx="1311576" cy="1565214"/>
          </a:xfrm>
          <a:custGeom>
            <a:avLst/>
            <a:gdLst>
              <a:gd name="csX0" fmla="*/ 813620 w 1311576"/>
              <a:gd name="csY0" fmla="*/ 0 h 1565214"/>
              <a:gd name="csX1" fmla="*/ 1268523 w 1311576"/>
              <a:gd name="csY1" fmla="*/ 138953 h 1565214"/>
              <a:gd name="csX2" fmla="*/ 1311576 w 1311576"/>
              <a:gd name="csY2" fmla="*/ 174476 h 1565214"/>
              <a:gd name="csX3" fmla="*/ 1238544 w 1311576"/>
              <a:gd name="csY3" fmla="*/ 234733 h 1565214"/>
              <a:gd name="csX4" fmla="*/ 1000240 w 1311576"/>
              <a:gd name="csY4" fmla="*/ 810048 h 1565214"/>
              <a:gd name="csX5" fmla="*/ 1003683 w 1311576"/>
              <a:gd name="csY5" fmla="*/ 878228 h 1565214"/>
              <a:gd name="csX6" fmla="*/ 995759 w 1311576"/>
              <a:gd name="csY6" fmla="*/ 881128 h 1565214"/>
              <a:gd name="csX7" fmla="*/ 503038 w 1311576"/>
              <a:gd name="csY7" fmla="*/ 1547621 h 1565214"/>
              <a:gd name="csX8" fmla="*/ 502149 w 1311576"/>
              <a:gd name="csY8" fmla="*/ 1565214 h 1565214"/>
              <a:gd name="csX9" fmla="*/ 496922 w 1311576"/>
              <a:gd name="csY9" fmla="*/ 1563300 h 1565214"/>
              <a:gd name="csX10" fmla="*/ 0 w 1311576"/>
              <a:gd name="csY10" fmla="*/ 813619 h 1565214"/>
              <a:gd name="csX11" fmla="*/ 813620 w 1311576"/>
              <a:gd name="csY11" fmla="*/ 0 h 15652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1576" h="1565214">
                <a:moveTo>
                  <a:pt x="813620" y="0"/>
                </a:moveTo>
                <a:cubicBezTo>
                  <a:pt x="982126" y="0"/>
                  <a:pt x="1138668" y="51226"/>
                  <a:pt x="1268523" y="138953"/>
                </a:cubicBezTo>
                <a:lnTo>
                  <a:pt x="1311576" y="174476"/>
                </a:lnTo>
                <a:lnTo>
                  <a:pt x="1238544" y="234733"/>
                </a:lnTo>
                <a:cubicBezTo>
                  <a:pt x="1091308" y="381969"/>
                  <a:pt x="1000240" y="585374"/>
                  <a:pt x="1000240" y="810048"/>
                </a:cubicBezTo>
                <a:lnTo>
                  <a:pt x="1003683" y="878228"/>
                </a:lnTo>
                <a:lnTo>
                  <a:pt x="995759" y="881128"/>
                </a:lnTo>
                <a:cubicBezTo>
                  <a:pt x="728074" y="994350"/>
                  <a:pt x="533592" y="1246755"/>
                  <a:pt x="503038" y="1547621"/>
                </a:cubicBezTo>
                <a:lnTo>
                  <a:pt x="502149" y="1565214"/>
                </a:lnTo>
                <a:lnTo>
                  <a:pt x="496922" y="1563300"/>
                </a:lnTo>
                <a:cubicBezTo>
                  <a:pt x="204902" y="1439786"/>
                  <a:pt x="0" y="1150631"/>
                  <a:pt x="0" y="813619"/>
                </a:cubicBezTo>
                <a:cubicBezTo>
                  <a:pt x="0" y="364270"/>
                  <a:pt x="364270" y="0"/>
                  <a:pt x="81362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1F139D-0290-F74B-BB35-CEA59E0A6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FC9E26F-5A9D-3177-578B-9981F5D64CF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</p:spPr>
            <p:txBody>
              <a:bodyPr/>
              <a:lstStyle/>
              <a:p>
                <a:r>
                  <a:rPr lang="en-US" b="1" u="sng" dirty="0"/>
                  <a:t>Probability of "</a:t>
                </a:r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Exactly One</a:t>
                </a:r>
                <a:r>
                  <a:rPr lang="en-US" b="1" u="sng" dirty="0"/>
                  <a:t>" Occurring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This is the probability that exactly one of the 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occurs.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b="1" i="1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𝐂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𝐀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𝐂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𝐀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b="1" i="1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</m:e>
                              <m:sup>
                                <m:r>
                                  <a:rPr lang="en-US" b="1" i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898525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9144000" indent="0">
                  <a:lnSpc>
                    <a:spcPct val="114000"/>
                  </a:lnSpc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FC9E26F-5A9D-3177-578B-9981F5D64CF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314C84D4-F0B2-ACD0-631B-66F40583FED9}"/>
              </a:ext>
            </a:extLst>
          </p:cNvPr>
          <p:cNvGrpSpPr/>
          <p:nvPr/>
        </p:nvGrpSpPr>
        <p:grpSpPr>
          <a:xfrm>
            <a:off x="4187233" y="3505548"/>
            <a:ext cx="3908125" cy="3040268"/>
            <a:chOff x="4187233" y="3281812"/>
            <a:chExt cx="3908125" cy="30402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828C07B-77B0-5AAA-61A1-882EA5B9F3E0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5EF2715C-45EE-510B-1EE7-D429637CA96C}"/>
                    </a:ext>
                  </a:extLst>
                </p:cNvPr>
                <p:cNvSpPr txBox="1"/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5EF2715C-45EE-510B-1EE7-D429637CA9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71B174BA-B6C8-0D39-82B6-43884A0D33E8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71B174BA-B6C8-0D39-82B6-43884A0D33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4E451077-57F1-CC97-2B7D-3AA330EA546A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4E451077-57F1-CC97-2B7D-3AA330EA54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6456DD4D-C0BB-CE27-D766-860FEE6DCE73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6456DD4D-C0BB-CE27-D766-860FEE6DCE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597F333-5DE9-57E6-8050-7E0E5A751ED8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A2E788D0-96F9-B57D-9AE0-7F71721009B0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A790DBD-41F0-445D-BAA3-9A20C6FB5CAB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6326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4" grpId="0" animBg="1"/>
      <p:bldP spid="13" grpId="0" animBg="1"/>
      <p:bldP spid="4" grpId="0" uiExpand="1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1651AC59-7A57-1ADB-F40E-F0299F569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FA141887-8F5D-5DBB-463E-69BDB6318528}"/>
              </a:ext>
            </a:extLst>
          </p:cNvPr>
          <p:cNvSpPr/>
          <p:nvPr/>
        </p:nvSpPr>
        <p:spPr>
          <a:xfrm>
            <a:off x="889451" y="2430419"/>
            <a:ext cx="1294110" cy="791552"/>
          </a:xfrm>
          <a:custGeom>
            <a:avLst/>
            <a:gdLst>
              <a:gd name="connsiteX0" fmla="*/ 636804 w 1294110"/>
              <a:gd name="connsiteY0" fmla="*/ 0 h 791552"/>
              <a:gd name="connsiteX1" fmla="*/ 657514 w 1294110"/>
              <a:gd name="connsiteY1" fmla="*/ 17113 h 791552"/>
              <a:gd name="connsiteX2" fmla="*/ 1019289 w 1294110"/>
              <a:gd name="connsiteY2" fmla="*/ 127781 h 791552"/>
              <a:gd name="connsiteX3" fmla="*/ 1271152 w 1294110"/>
              <a:gd name="connsiteY3" fmla="*/ 76858 h 791552"/>
              <a:gd name="connsiteX4" fmla="*/ 1286554 w 1294110"/>
              <a:gd name="connsiteY4" fmla="*/ 68486 h 791552"/>
              <a:gd name="connsiteX5" fmla="*/ 1294110 w 1294110"/>
              <a:gd name="connsiteY5" fmla="*/ 143552 h 791552"/>
              <a:gd name="connsiteX6" fmla="*/ 647055 w 1294110"/>
              <a:gd name="connsiteY6" fmla="*/ 791552 h 791552"/>
              <a:gd name="connsiteX7" fmla="*/ 0 w 1294110"/>
              <a:gd name="connsiteY7" fmla="*/ 143552 h 791552"/>
              <a:gd name="connsiteX8" fmla="*/ 6584 w 1294110"/>
              <a:gd name="connsiteY8" fmla="*/ 78142 h 791552"/>
              <a:gd name="connsiteX9" fmla="*/ 123914 w 1294110"/>
              <a:gd name="connsiteY9" fmla="*/ 114616 h 791552"/>
              <a:gd name="connsiteX10" fmla="*/ 254318 w 1294110"/>
              <a:gd name="connsiteY10" fmla="*/ 127781 h 791552"/>
              <a:gd name="connsiteX11" fmla="*/ 616093 w 1294110"/>
              <a:gd name="connsiteY11" fmla="*/ 17113 h 791552"/>
              <a:gd name="connsiteX12" fmla="*/ 636804 w 1294110"/>
              <a:gd name="connsiteY12" fmla="*/ 0 h 791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94110" h="791552">
                <a:moveTo>
                  <a:pt x="636804" y="0"/>
                </a:moveTo>
                <a:lnTo>
                  <a:pt x="657514" y="17113"/>
                </a:lnTo>
                <a:cubicBezTo>
                  <a:pt x="760785" y="86983"/>
                  <a:pt x="885279" y="127781"/>
                  <a:pt x="1019289" y="127781"/>
                </a:cubicBezTo>
                <a:cubicBezTo>
                  <a:pt x="1108629" y="127781"/>
                  <a:pt x="1193740" y="109649"/>
                  <a:pt x="1271152" y="76858"/>
                </a:cubicBezTo>
                <a:lnTo>
                  <a:pt x="1286554" y="68486"/>
                </a:lnTo>
                <a:lnTo>
                  <a:pt x="1294110" y="143552"/>
                </a:lnTo>
                <a:cubicBezTo>
                  <a:pt x="1294110" y="501433"/>
                  <a:pt x="1004414" y="791552"/>
                  <a:pt x="647055" y="791552"/>
                </a:cubicBezTo>
                <a:cubicBezTo>
                  <a:pt x="289696" y="791552"/>
                  <a:pt x="0" y="501433"/>
                  <a:pt x="0" y="143552"/>
                </a:cubicBezTo>
                <a:lnTo>
                  <a:pt x="6584" y="78142"/>
                </a:lnTo>
                <a:lnTo>
                  <a:pt x="123914" y="114616"/>
                </a:lnTo>
                <a:cubicBezTo>
                  <a:pt x="166035" y="123248"/>
                  <a:pt x="209648" y="127781"/>
                  <a:pt x="254318" y="127781"/>
                </a:cubicBezTo>
                <a:cubicBezTo>
                  <a:pt x="388328" y="127781"/>
                  <a:pt x="512822" y="86983"/>
                  <a:pt x="616093" y="17113"/>
                </a:cubicBezTo>
                <a:lnTo>
                  <a:pt x="636804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3D9E77A-2C39-48D6-69E5-637055F84850}"/>
              </a:ext>
            </a:extLst>
          </p:cNvPr>
          <p:cNvSpPr/>
          <p:nvPr/>
        </p:nvSpPr>
        <p:spPr>
          <a:xfrm rot="14137462">
            <a:off x="1501138" y="2043653"/>
            <a:ext cx="630220" cy="572934"/>
          </a:xfrm>
          <a:custGeom>
            <a:avLst/>
            <a:gdLst>
              <a:gd name="connsiteX0" fmla="*/ 373206 w 630220"/>
              <a:gd name="connsiteY0" fmla="*/ 0 h 572934"/>
              <a:gd name="connsiteX1" fmla="*/ 378796 w 630220"/>
              <a:gd name="connsiteY1" fmla="*/ 55529 h 572934"/>
              <a:gd name="connsiteX2" fmla="*/ 555168 w 630220"/>
              <a:gd name="connsiteY2" fmla="*/ 383139 h 572934"/>
              <a:gd name="connsiteX3" fmla="*/ 630220 w 630220"/>
              <a:gd name="connsiteY3" fmla="*/ 445153 h 572934"/>
              <a:gd name="connsiteX4" fmla="*/ 609509 w 630220"/>
              <a:gd name="connsiteY4" fmla="*/ 462266 h 572934"/>
              <a:gd name="connsiteX5" fmla="*/ 247734 w 630220"/>
              <a:gd name="connsiteY5" fmla="*/ 572934 h 572934"/>
              <a:gd name="connsiteX6" fmla="*/ 117330 w 630220"/>
              <a:gd name="connsiteY6" fmla="*/ 559769 h 572934"/>
              <a:gd name="connsiteX7" fmla="*/ 0 w 630220"/>
              <a:gd name="connsiteY7" fmla="*/ 523295 h 572934"/>
              <a:gd name="connsiteX8" fmla="*/ 6562 w 630220"/>
              <a:gd name="connsiteY8" fmla="*/ 458110 h 572934"/>
              <a:gd name="connsiteX9" fmla="*/ 278696 w 630220"/>
              <a:gd name="connsiteY9" fmla="*/ 51373 h 572934"/>
              <a:gd name="connsiteX10" fmla="*/ 373206 w 630220"/>
              <a:gd name="connsiteY10" fmla="*/ 0 h 572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30220" h="572934">
                <a:moveTo>
                  <a:pt x="373206" y="0"/>
                </a:moveTo>
                <a:lnTo>
                  <a:pt x="378796" y="55529"/>
                </a:lnTo>
                <a:cubicBezTo>
                  <a:pt x="404654" y="182079"/>
                  <a:pt x="467347" y="295191"/>
                  <a:pt x="555168" y="383139"/>
                </a:cubicBezTo>
                <a:lnTo>
                  <a:pt x="630220" y="445153"/>
                </a:lnTo>
                <a:lnTo>
                  <a:pt x="609509" y="462266"/>
                </a:lnTo>
                <a:cubicBezTo>
                  <a:pt x="506238" y="532136"/>
                  <a:pt x="381744" y="572934"/>
                  <a:pt x="247734" y="572934"/>
                </a:cubicBezTo>
                <a:cubicBezTo>
                  <a:pt x="203064" y="572934"/>
                  <a:pt x="159451" y="568401"/>
                  <a:pt x="117330" y="559769"/>
                </a:cubicBezTo>
                <a:lnTo>
                  <a:pt x="0" y="523295"/>
                </a:lnTo>
                <a:lnTo>
                  <a:pt x="6562" y="458110"/>
                </a:lnTo>
                <a:cubicBezTo>
                  <a:pt x="41039" y="289377"/>
                  <a:pt x="141002" y="144533"/>
                  <a:pt x="278696" y="51373"/>
                </a:cubicBezTo>
                <a:lnTo>
                  <a:pt x="373206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EF037596-5145-FA9A-89D4-EC2C838FE99E}"/>
              </a:ext>
            </a:extLst>
          </p:cNvPr>
          <p:cNvSpPr/>
          <p:nvPr/>
        </p:nvSpPr>
        <p:spPr>
          <a:xfrm rot="14370652">
            <a:off x="1505340" y="1372353"/>
            <a:ext cx="1294110" cy="791552"/>
          </a:xfrm>
          <a:custGeom>
            <a:avLst/>
            <a:gdLst>
              <a:gd name="connsiteX0" fmla="*/ 636804 w 1294110"/>
              <a:gd name="connsiteY0" fmla="*/ 0 h 791552"/>
              <a:gd name="connsiteX1" fmla="*/ 657514 w 1294110"/>
              <a:gd name="connsiteY1" fmla="*/ 17113 h 791552"/>
              <a:gd name="connsiteX2" fmla="*/ 1019289 w 1294110"/>
              <a:gd name="connsiteY2" fmla="*/ 127781 h 791552"/>
              <a:gd name="connsiteX3" fmla="*/ 1271152 w 1294110"/>
              <a:gd name="connsiteY3" fmla="*/ 76858 h 791552"/>
              <a:gd name="connsiteX4" fmla="*/ 1286554 w 1294110"/>
              <a:gd name="connsiteY4" fmla="*/ 68486 h 791552"/>
              <a:gd name="connsiteX5" fmla="*/ 1294110 w 1294110"/>
              <a:gd name="connsiteY5" fmla="*/ 143552 h 791552"/>
              <a:gd name="connsiteX6" fmla="*/ 647055 w 1294110"/>
              <a:gd name="connsiteY6" fmla="*/ 791552 h 791552"/>
              <a:gd name="connsiteX7" fmla="*/ 0 w 1294110"/>
              <a:gd name="connsiteY7" fmla="*/ 143552 h 791552"/>
              <a:gd name="connsiteX8" fmla="*/ 6584 w 1294110"/>
              <a:gd name="connsiteY8" fmla="*/ 78142 h 791552"/>
              <a:gd name="connsiteX9" fmla="*/ 123914 w 1294110"/>
              <a:gd name="connsiteY9" fmla="*/ 114616 h 791552"/>
              <a:gd name="connsiteX10" fmla="*/ 254318 w 1294110"/>
              <a:gd name="connsiteY10" fmla="*/ 127781 h 791552"/>
              <a:gd name="connsiteX11" fmla="*/ 616093 w 1294110"/>
              <a:gd name="connsiteY11" fmla="*/ 17113 h 791552"/>
              <a:gd name="connsiteX12" fmla="*/ 636804 w 1294110"/>
              <a:gd name="connsiteY12" fmla="*/ 0 h 791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94110" h="791552">
                <a:moveTo>
                  <a:pt x="636804" y="0"/>
                </a:moveTo>
                <a:lnTo>
                  <a:pt x="657514" y="17113"/>
                </a:lnTo>
                <a:cubicBezTo>
                  <a:pt x="760785" y="86983"/>
                  <a:pt x="885279" y="127781"/>
                  <a:pt x="1019289" y="127781"/>
                </a:cubicBezTo>
                <a:cubicBezTo>
                  <a:pt x="1108629" y="127781"/>
                  <a:pt x="1193740" y="109649"/>
                  <a:pt x="1271152" y="76858"/>
                </a:cubicBezTo>
                <a:lnTo>
                  <a:pt x="1286554" y="68486"/>
                </a:lnTo>
                <a:lnTo>
                  <a:pt x="1294110" y="143552"/>
                </a:lnTo>
                <a:cubicBezTo>
                  <a:pt x="1294110" y="501433"/>
                  <a:pt x="1004414" y="791552"/>
                  <a:pt x="647055" y="791552"/>
                </a:cubicBezTo>
                <a:cubicBezTo>
                  <a:pt x="289696" y="791552"/>
                  <a:pt x="0" y="501433"/>
                  <a:pt x="0" y="143552"/>
                </a:cubicBezTo>
                <a:lnTo>
                  <a:pt x="6584" y="78142"/>
                </a:lnTo>
                <a:lnTo>
                  <a:pt x="123914" y="114616"/>
                </a:lnTo>
                <a:cubicBezTo>
                  <a:pt x="166035" y="123248"/>
                  <a:pt x="209648" y="127781"/>
                  <a:pt x="254318" y="127781"/>
                </a:cubicBezTo>
                <a:cubicBezTo>
                  <a:pt x="388328" y="127781"/>
                  <a:pt x="512822" y="86983"/>
                  <a:pt x="616093" y="17113"/>
                </a:cubicBezTo>
                <a:lnTo>
                  <a:pt x="636804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F71C16B2-770A-E5EF-37C4-483E912A3F68}"/>
              </a:ext>
            </a:extLst>
          </p:cNvPr>
          <p:cNvSpPr/>
          <p:nvPr/>
        </p:nvSpPr>
        <p:spPr>
          <a:xfrm>
            <a:off x="9428679" y="2483164"/>
            <a:ext cx="1627240" cy="995236"/>
          </a:xfrm>
          <a:custGeom>
            <a:avLst/>
            <a:gdLst>
              <a:gd name="csX0" fmla="*/ 817067 w 1627240"/>
              <a:gd name="csY0" fmla="*/ 0 h 995236"/>
              <a:gd name="csX1" fmla="*/ 860120 w 1627240"/>
              <a:gd name="csY1" fmla="*/ 35522 h 995236"/>
              <a:gd name="csX2" fmla="*/ 1315023 w 1627240"/>
              <a:gd name="csY2" fmla="*/ 174475 h 995236"/>
              <a:gd name="csX3" fmla="*/ 1556969 w 1627240"/>
              <a:gd name="csY3" fmla="*/ 137896 h 995236"/>
              <a:gd name="csX4" fmla="*/ 1623797 w 1627240"/>
              <a:gd name="csY4" fmla="*/ 113437 h 995236"/>
              <a:gd name="csX5" fmla="*/ 1627240 w 1627240"/>
              <a:gd name="csY5" fmla="*/ 181617 h 995236"/>
              <a:gd name="csX6" fmla="*/ 813620 w 1627240"/>
              <a:gd name="csY6" fmla="*/ 995236 h 995236"/>
              <a:gd name="csX7" fmla="*/ 0 w 1627240"/>
              <a:gd name="csY7" fmla="*/ 181617 h 995236"/>
              <a:gd name="csX8" fmla="*/ 3312 w 1627240"/>
              <a:gd name="csY8" fmla="*/ 116022 h 995236"/>
              <a:gd name="csX9" fmla="*/ 72837 w 1627240"/>
              <a:gd name="csY9" fmla="*/ 141467 h 995236"/>
              <a:gd name="csX10" fmla="*/ 314783 w 1627240"/>
              <a:gd name="csY10" fmla="*/ 178046 h 995236"/>
              <a:gd name="csX11" fmla="*/ 769686 w 1627240"/>
              <a:gd name="csY11" fmla="*/ 39093 h 995236"/>
              <a:gd name="csX12" fmla="*/ 817067 w 1627240"/>
              <a:gd name="csY12" fmla="*/ 0 h 9952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627240" h="995236">
                <a:moveTo>
                  <a:pt x="817067" y="0"/>
                </a:moveTo>
                <a:lnTo>
                  <a:pt x="860120" y="35522"/>
                </a:lnTo>
                <a:cubicBezTo>
                  <a:pt x="989975" y="123250"/>
                  <a:pt x="1146517" y="174475"/>
                  <a:pt x="1315023" y="174475"/>
                </a:cubicBezTo>
                <a:cubicBezTo>
                  <a:pt x="1399276" y="174475"/>
                  <a:pt x="1480538" y="161669"/>
                  <a:pt x="1556969" y="137896"/>
                </a:cubicBezTo>
                <a:lnTo>
                  <a:pt x="1623797" y="113437"/>
                </a:lnTo>
                <a:lnTo>
                  <a:pt x="1627240" y="181617"/>
                </a:lnTo>
                <a:cubicBezTo>
                  <a:pt x="1627240" y="630966"/>
                  <a:pt x="1262970" y="995236"/>
                  <a:pt x="813620" y="995236"/>
                </a:cubicBezTo>
                <a:cubicBezTo>
                  <a:pt x="364270" y="995236"/>
                  <a:pt x="0" y="630966"/>
                  <a:pt x="0" y="181617"/>
                </a:cubicBezTo>
                <a:lnTo>
                  <a:pt x="3312" y="116022"/>
                </a:lnTo>
                <a:lnTo>
                  <a:pt x="72837" y="141467"/>
                </a:lnTo>
                <a:cubicBezTo>
                  <a:pt x="149268" y="165240"/>
                  <a:pt x="230530" y="178046"/>
                  <a:pt x="314783" y="178046"/>
                </a:cubicBezTo>
                <a:cubicBezTo>
                  <a:pt x="483289" y="178046"/>
                  <a:pt x="639831" y="126821"/>
                  <a:pt x="769686" y="39093"/>
                </a:cubicBezTo>
                <a:lnTo>
                  <a:pt x="817067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DDC06EA-5690-1E5C-8055-F51EA3F61879}"/>
              </a:ext>
            </a:extLst>
          </p:cNvPr>
          <p:cNvSpPr/>
          <p:nvPr/>
        </p:nvSpPr>
        <p:spPr>
          <a:xfrm>
            <a:off x="10241418" y="1030401"/>
            <a:ext cx="1315904" cy="1566200"/>
          </a:xfrm>
          <a:custGeom>
            <a:avLst/>
            <a:gdLst>
              <a:gd name="csX0" fmla="*/ 502284 w 1315904"/>
              <a:gd name="csY0" fmla="*/ 0 h 1566200"/>
              <a:gd name="csX1" fmla="*/ 1315904 w 1315904"/>
              <a:gd name="csY1" fmla="*/ 813619 h 1566200"/>
              <a:gd name="csX2" fmla="*/ 818982 w 1315904"/>
              <a:gd name="csY2" fmla="*/ 1563300 h 1566200"/>
              <a:gd name="csX3" fmla="*/ 811058 w 1315904"/>
              <a:gd name="csY3" fmla="*/ 1566200 h 1566200"/>
              <a:gd name="csX4" fmla="*/ 810300 w 1315904"/>
              <a:gd name="csY4" fmla="*/ 1551192 h 1566200"/>
              <a:gd name="csX5" fmla="*/ 317579 w 1315904"/>
              <a:gd name="csY5" fmla="*/ 884699 h 1566200"/>
              <a:gd name="csX6" fmla="*/ 312352 w 1315904"/>
              <a:gd name="csY6" fmla="*/ 882786 h 1566200"/>
              <a:gd name="csX7" fmla="*/ 315664 w 1315904"/>
              <a:gd name="csY7" fmla="*/ 817190 h 1566200"/>
              <a:gd name="csX8" fmla="*/ 77360 w 1315904"/>
              <a:gd name="csY8" fmla="*/ 241875 h 1566200"/>
              <a:gd name="csX9" fmla="*/ 0 w 1315904"/>
              <a:gd name="csY9" fmla="*/ 178047 h 1566200"/>
              <a:gd name="csX10" fmla="*/ 47381 w 1315904"/>
              <a:gd name="csY10" fmla="*/ 138953 h 1566200"/>
              <a:gd name="csX11" fmla="*/ 502284 w 1315904"/>
              <a:gd name="csY11" fmla="*/ 0 h 1566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5904" h="1566200">
                <a:moveTo>
                  <a:pt x="502284" y="0"/>
                </a:moveTo>
                <a:cubicBezTo>
                  <a:pt x="951634" y="0"/>
                  <a:pt x="1315904" y="364270"/>
                  <a:pt x="1315904" y="813619"/>
                </a:cubicBezTo>
                <a:cubicBezTo>
                  <a:pt x="1315904" y="1150631"/>
                  <a:pt x="1111002" y="1439786"/>
                  <a:pt x="818982" y="1563300"/>
                </a:cubicBezTo>
                <a:lnTo>
                  <a:pt x="811058" y="1566200"/>
                </a:lnTo>
                <a:lnTo>
                  <a:pt x="810300" y="1551192"/>
                </a:lnTo>
                <a:cubicBezTo>
                  <a:pt x="779746" y="1250326"/>
                  <a:pt x="585264" y="997921"/>
                  <a:pt x="317579" y="884699"/>
                </a:cubicBezTo>
                <a:lnTo>
                  <a:pt x="312352" y="882786"/>
                </a:lnTo>
                <a:lnTo>
                  <a:pt x="315664" y="817190"/>
                </a:lnTo>
                <a:cubicBezTo>
                  <a:pt x="315664" y="592516"/>
                  <a:pt x="224597" y="389111"/>
                  <a:pt x="77360" y="241875"/>
                </a:cubicBezTo>
                <a:lnTo>
                  <a:pt x="0" y="178047"/>
                </a:lnTo>
                <a:lnTo>
                  <a:pt x="47381" y="138953"/>
                </a:lnTo>
                <a:cubicBezTo>
                  <a:pt x="177236" y="51226"/>
                  <a:pt x="333778" y="0"/>
                  <a:pt x="50228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F57F8537-ADC5-5C30-F37D-274FE02236A7}"/>
              </a:ext>
            </a:extLst>
          </p:cNvPr>
          <p:cNvSpPr/>
          <p:nvPr/>
        </p:nvSpPr>
        <p:spPr>
          <a:xfrm>
            <a:off x="8929842" y="1033972"/>
            <a:ext cx="1311576" cy="1565214"/>
          </a:xfrm>
          <a:custGeom>
            <a:avLst/>
            <a:gdLst>
              <a:gd name="csX0" fmla="*/ 813620 w 1311576"/>
              <a:gd name="csY0" fmla="*/ 0 h 1565214"/>
              <a:gd name="csX1" fmla="*/ 1268523 w 1311576"/>
              <a:gd name="csY1" fmla="*/ 138953 h 1565214"/>
              <a:gd name="csX2" fmla="*/ 1311576 w 1311576"/>
              <a:gd name="csY2" fmla="*/ 174476 h 1565214"/>
              <a:gd name="csX3" fmla="*/ 1238544 w 1311576"/>
              <a:gd name="csY3" fmla="*/ 234733 h 1565214"/>
              <a:gd name="csX4" fmla="*/ 1000240 w 1311576"/>
              <a:gd name="csY4" fmla="*/ 810048 h 1565214"/>
              <a:gd name="csX5" fmla="*/ 1003683 w 1311576"/>
              <a:gd name="csY5" fmla="*/ 878228 h 1565214"/>
              <a:gd name="csX6" fmla="*/ 995759 w 1311576"/>
              <a:gd name="csY6" fmla="*/ 881128 h 1565214"/>
              <a:gd name="csX7" fmla="*/ 503038 w 1311576"/>
              <a:gd name="csY7" fmla="*/ 1547621 h 1565214"/>
              <a:gd name="csX8" fmla="*/ 502149 w 1311576"/>
              <a:gd name="csY8" fmla="*/ 1565214 h 1565214"/>
              <a:gd name="csX9" fmla="*/ 496922 w 1311576"/>
              <a:gd name="csY9" fmla="*/ 1563300 h 1565214"/>
              <a:gd name="csX10" fmla="*/ 0 w 1311576"/>
              <a:gd name="csY10" fmla="*/ 813619 h 1565214"/>
              <a:gd name="csX11" fmla="*/ 813620 w 1311576"/>
              <a:gd name="csY11" fmla="*/ 0 h 15652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1576" h="1565214">
                <a:moveTo>
                  <a:pt x="813620" y="0"/>
                </a:moveTo>
                <a:cubicBezTo>
                  <a:pt x="982126" y="0"/>
                  <a:pt x="1138668" y="51226"/>
                  <a:pt x="1268523" y="138953"/>
                </a:cubicBezTo>
                <a:lnTo>
                  <a:pt x="1311576" y="174476"/>
                </a:lnTo>
                <a:lnTo>
                  <a:pt x="1238544" y="234733"/>
                </a:lnTo>
                <a:cubicBezTo>
                  <a:pt x="1091308" y="381969"/>
                  <a:pt x="1000240" y="585374"/>
                  <a:pt x="1000240" y="810048"/>
                </a:cubicBezTo>
                <a:lnTo>
                  <a:pt x="1003683" y="878228"/>
                </a:lnTo>
                <a:lnTo>
                  <a:pt x="995759" y="881128"/>
                </a:lnTo>
                <a:cubicBezTo>
                  <a:pt x="728074" y="994350"/>
                  <a:pt x="533592" y="1246755"/>
                  <a:pt x="503038" y="1547621"/>
                </a:cubicBezTo>
                <a:lnTo>
                  <a:pt x="502149" y="1565214"/>
                </a:lnTo>
                <a:lnTo>
                  <a:pt x="496922" y="1563300"/>
                </a:lnTo>
                <a:cubicBezTo>
                  <a:pt x="204902" y="1439786"/>
                  <a:pt x="0" y="1150631"/>
                  <a:pt x="0" y="813619"/>
                </a:cubicBezTo>
                <a:cubicBezTo>
                  <a:pt x="0" y="364270"/>
                  <a:pt x="364270" y="0"/>
                  <a:pt x="81362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A2582E-0931-20C8-2C03-497FB7DBD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9A97867-305D-F292-052F-32EAB5B44964}"/>
              </a:ext>
            </a:extLst>
          </p:cNvPr>
          <p:cNvGrpSpPr/>
          <p:nvPr/>
        </p:nvGrpSpPr>
        <p:grpSpPr>
          <a:xfrm>
            <a:off x="8506314" y="711201"/>
            <a:ext cx="3908125" cy="3040268"/>
            <a:chOff x="4187233" y="3281812"/>
            <a:chExt cx="3908125" cy="30402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37E324D-577A-8D6A-FD99-E0FA4B1DC5DA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AEA641EB-E13A-161D-E4A7-0E879DFFFAE0}"/>
                    </a:ext>
                  </a:extLst>
                </p:cNvPr>
                <p:cNvSpPr txBox="1"/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AEA641EB-E13A-161D-E4A7-0E879DFFFA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08C989A3-CA5C-71F3-1D5C-13D467075B46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08C989A3-CA5C-71F3-1D5C-13D467075B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853AFA9-E2EF-7E8F-247D-C3DCE6DA20E8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853AFA9-E2EF-7E8F-247D-C3DCE6DA20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D317A580-5E76-88D9-7005-A8CF45EBAEEC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D317A580-5E76-88D9-7005-A8CF45EBAE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701B325-9330-2AF8-DC01-FB960FA8F2B9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1E2704B-99CF-ADEB-2014-39B9A7A8C578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9EFB4E8C-A51D-BDB7-4BC6-27CAB0027470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D549DC9-7DEF-DB3F-9ECF-3DAA4D8F7770}"/>
              </a:ext>
            </a:extLst>
          </p:cNvPr>
          <p:cNvSpPr/>
          <p:nvPr/>
        </p:nvSpPr>
        <p:spPr>
          <a:xfrm rot="14512664">
            <a:off x="1170497" y="1501631"/>
            <a:ext cx="649750" cy="582589"/>
          </a:xfrm>
          <a:custGeom>
            <a:avLst/>
            <a:gdLst>
              <a:gd name="connsiteX0" fmla="*/ 257985 w 649750"/>
              <a:gd name="connsiteY0" fmla="*/ 0 h 582589"/>
              <a:gd name="connsiteX1" fmla="*/ 262114 w 649750"/>
              <a:gd name="connsiteY1" fmla="*/ 1283 h 582589"/>
              <a:gd name="connsiteX2" fmla="*/ 644160 w 649750"/>
              <a:gd name="connsiteY2" fmla="*/ 467765 h 582589"/>
              <a:gd name="connsiteX3" fmla="*/ 649750 w 649750"/>
              <a:gd name="connsiteY3" fmla="*/ 523294 h 582589"/>
              <a:gd name="connsiteX4" fmla="*/ 634348 w 649750"/>
              <a:gd name="connsiteY4" fmla="*/ 531666 h 582589"/>
              <a:gd name="connsiteX5" fmla="*/ 382485 w 649750"/>
              <a:gd name="connsiteY5" fmla="*/ 582589 h 582589"/>
              <a:gd name="connsiteX6" fmla="*/ 20710 w 649750"/>
              <a:gd name="connsiteY6" fmla="*/ 471921 h 582589"/>
              <a:gd name="connsiteX7" fmla="*/ 0 w 649750"/>
              <a:gd name="connsiteY7" fmla="*/ 454808 h 582589"/>
              <a:gd name="connsiteX8" fmla="*/ 75051 w 649750"/>
              <a:gd name="connsiteY8" fmla="*/ 392794 h 582589"/>
              <a:gd name="connsiteX9" fmla="*/ 251423 w 649750"/>
              <a:gd name="connsiteY9" fmla="*/ 65184 h 582589"/>
              <a:gd name="connsiteX10" fmla="*/ 257985 w 649750"/>
              <a:gd name="connsiteY10" fmla="*/ 0 h 582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49750" h="582589">
                <a:moveTo>
                  <a:pt x="257985" y="0"/>
                </a:moveTo>
                <a:lnTo>
                  <a:pt x="262114" y="1283"/>
                </a:lnTo>
                <a:cubicBezTo>
                  <a:pt x="455646" y="83260"/>
                  <a:pt x="601063" y="256849"/>
                  <a:pt x="644160" y="467765"/>
                </a:cubicBezTo>
                <a:lnTo>
                  <a:pt x="649750" y="523294"/>
                </a:lnTo>
                <a:lnTo>
                  <a:pt x="634348" y="531666"/>
                </a:lnTo>
                <a:cubicBezTo>
                  <a:pt x="556936" y="564457"/>
                  <a:pt x="471825" y="582589"/>
                  <a:pt x="382485" y="582589"/>
                </a:cubicBezTo>
                <a:cubicBezTo>
                  <a:pt x="248475" y="582589"/>
                  <a:pt x="123981" y="541791"/>
                  <a:pt x="20710" y="471921"/>
                </a:cubicBezTo>
                <a:lnTo>
                  <a:pt x="0" y="454808"/>
                </a:lnTo>
                <a:lnTo>
                  <a:pt x="75051" y="392794"/>
                </a:lnTo>
                <a:cubicBezTo>
                  <a:pt x="162872" y="304846"/>
                  <a:pt x="225565" y="191734"/>
                  <a:pt x="251423" y="65184"/>
                </a:cubicBezTo>
                <a:lnTo>
                  <a:pt x="257985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B5CAEF91-C666-3342-724D-F608276C23BF}"/>
              </a:ext>
            </a:extLst>
          </p:cNvPr>
          <p:cNvSpPr/>
          <p:nvPr/>
        </p:nvSpPr>
        <p:spPr>
          <a:xfrm>
            <a:off x="926957" y="1978798"/>
            <a:ext cx="630220" cy="572934"/>
          </a:xfrm>
          <a:custGeom>
            <a:avLst/>
            <a:gdLst>
              <a:gd name="connsiteX0" fmla="*/ 373206 w 630220"/>
              <a:gd name="connsiteY0" fmla="*/ 0 h 572934"/>
              <a:gd name="connsiteX1" fmla="*/ 378796 w 630220"/>
              <a:gd name="connsiteY1" fmla="*/ 55529 h 572934"/>
              <a:gd name="connsiteX2" fmla="*/ 555168 w 630220"/>
              <a:gd name="connsiteY2" fmla="*/ 383139 h 572934"/>
              <a:gd name="connsiteX3" fmla="*/ 630220 w 630220"/>
              <a:gd name="connsiteY3" fmla="*/ 445153 h 572934"/>
              <a:gd name="connsiteX4" fmla="*/ 609509 w 630220"/>
              <a:gd name="connsiteY4" fmla="*/ 462266 h 572934"/>
              <a:gd name="connsiteX5" fmla="*/ 247734 w 630220"/>
              <a:gd name="connsiteY5" fmla="*/ 572934 h 572934"/>
              <a:gd name="connsiteX6" fmla="*/ 117330 w 630220"/>
              <a:gd name="connsiteY6" fmla="*/ 559769 h 572934"/>
              <a:gd name="connsiteX7" fmla="*/ 0 w 630220"/>
              <a:gd name="connsiteY7" fmla="*/ 523295 h 572934"/>
              <a:gd name="connsiteX8" fmla="*/ 6562 w 630220"/>
              <a:gd name="connsiteY8" fmla="*/ 458110 h 572934"/>
              <a:gd name="connsiteX9" fmla="*/ 278696 w 630220"/>
              <a:gd name="connsiteY9" fmla="*/ 51373 h 572934"/>
              <a:gd name="connsiteX10" fmla="*/ 373206 w 630220"/>
              <a:gd name="connsiteY10" fmla="*/ 0 h 572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30220" h="572934">
                <a:moveTo>
                  <a:pt x="373206" y="0"/>
                </a:moveTo>
                <a:lnTo>
                  <a:pt x="378796" y="55529"/>
                </a:lnTo>
                <a:cubicBezTo>
                  <a:pt x="404654" y="182079"/>
                  <a:pt x="467347" y="295191"/>
                  <a:pt x="555168" y="383139"/>
                </a:cubicBezTo>
                <a:lnTo>
                  <a:pt x="630220" y="445153"/>
                </a:lnTo>
                <a:lnTo>
                  <a:pt x="609509" y="462266"/>
                </a:lnTo>
                <a:cubicBezTo>
                  <a:pt x="506238" y="532136"/>
                  <a:pt x="381744" y="572934"/>
                  <a:pt x="247734" y="572934"/>
                </a:cubicBezTo>
                <a:cubicBezTo>
                  <a:pt x="203064" y="572934"/>
                  <a:pt x="159451" y="568401"/>
                  <a:pt x="117330" y="559769"/>
                </a:cubicBezTo>
                <a:lnTo>
                  <a:pt x="0" y="523295"/>
                </a:lnTo>
                <a:lnTo>
                  <a:pt x="6562" y="458110"/>
                </a:lnTo>
                <a:cubicBezTo>
                  <a:pt x="41039" y="289377"/>
                  <a:pt x="141002" y="144533"/>
                  <a:pt x="278696" y="51373"/>
                </a:cubicBezTo>
                <a:lnTo>
                  <a:pt x="373206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C3FC3C8C-32A4-8FED-C7E1-9ED76AD25FD9}"/>
              </a:ext>
            </a:extLst>
          </p:cNvPr>
          <p:cNvSpPr/>
          <p:nvPr/>
        </p:nvSpPr>
        <p:spPr>
          <a:xfrm>
            <a:off x="1247278" y="1933659"/>
            <a:ext cx="514999" cy="504448"/>
          </a:xfrm>
          <a:custGeom>
            <a:avLst/>
            <a:gdLst>
              <a:gd name="connsiteX0" fmla="*/ 267265 w 514999"/>
              <a:gd name="connsiteY0" fmla="*/ 0 h 504448"/>
              <a:gd name="connsiteX1" fmla="*/ 397669 w 514999"/>
              <a:gd name="connsiteY1" fmla="*/ 13165 h 504448"/>
              <a:gd name="connsiteX2" fmla="*/ 514999 w 514999"/>
              <a:gd name="connsiteY2" fmla="*/ 49640 h 504448"/>
              <a:gd name="connsiteX3" fmla="*/ 508437 w 514999"/>
              <a:gd name="connsiteY3" fmla="*/ 114824 h 504448"/>
              <a:gd name="connsiteX4" fmla="*/ 332065 w 514999"/>
              <a:gd name="connsiteY4" fmla="*/ 442434 h 504448"/>
              <a:gd name="connsiteX5" fmla="*/ 257014 w 514999"/>
              <a:gd name="connsiteY5" fmla="*/ 504448 h 504448"/>
              <a:gd name="connsiteX6" fmla="*/ 181962 w 514999"/>
              <a:gd name="connsiteY6" fmla="*/ 442434 h 504448"/>
              <a:gd name="connsiteX7" fmla="*/ 5590 w 514999"/>
              <a:gd name="connsiteY7" fmla="*/ 114824 h 504448"/>
              <a:gd name="connsiteX8" fmla="*/ 0 w 514999"/>
              <a:gd name="connsiteY8" fmla="*/ 59295 h 504448"/>
              <a:gd name="connsiteX9" fmla="*/ 15402 w 514999"/>
              <a:gd name="connsiteY9" fmla="*/ 50923 h 504448"/>
              <a:gd name="connsiteX10" fmla="*/ 267265 w 514999"/>
              <a:gd name="connsiteY10" fmla="*/ 0 h 504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14999" h="504448">
                <a:moveTo>
                  <a:pt x="267265" y="0"/>
                </a:moveTo>
                <a:cubicBezTo>
                  <a:pt x="311935" y="0"/>
                  <a:pt x="355548" y="4533"/>
                  <a:pt x="397669" y="13165"/>
                </a:cubicBezTo>
                <a:lnTo>
                  <a:pt x="514999" y="49640"/>
                </a:lnTo>
                <a:lnTo>
                  <a:pt x="508437" y="114824"/>
                </a:lnTo>
                <a:cubicBezTo>
                  <a:pt x="482579" y="241374"/>
                  <a:pt x="419886" y="354486"/>
                  <a:pt x="332065" y="442434"/>
                </a:cubicBezTo>
                <a:lnTo>
                  <a:pt x="257014" y="504448"/>
                </a:lnTo>
                <a:lnTo>
                  <a:pt x="181962" y="442434"/>
                </a:lnTo>
                <a:cubicBezTo>
                  <a:pt x="94141" y="354486"/>
                  <a:pt x="31448" y="241374"/>
                  <a:pt x="5590" y="114824"/>
                </a:cubicBezTo>
                <a:lnTo>
                  <a:pt x="0" y="59295"/>
                </a:lnTo>
                <a:lnTo>
                  <a:pt x="15402" y="50923"/>
                </a:lnTo>
                <a:cubicBezTo>
                  <a:pt x="92814" y="18133"/>
                  <a:pt x="177925" y="0"/>
                  <a:pt x="267265" y="0"/>
                </a:cubicBez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03CB629-947B-A840-22A0-4616E9580735}"/>
              </a:ext>
            </a:extLst>
          </p:cNvPr>
          <p:cNvSpPr/>
          <p:nvPr/>
        </p:nvSpPr>
        <p:spPr>
          <a:xfrm rot="7091787">
            <a:off x="270450" y="1384968"/>
            <a:ext cx="1294110" cy="791552"/>
          </a:xfrm>
          <a:custGeom>
            <a:avLst/>
            <a:gdLst>
              <a:gd name="connsiteX0" fmla="*/ 636804 w 1294110"/>
              <a:gd name="connsiteY0" fmla="*/ 0 h 791552"/>
              <a:gd name="connsiteX1" fmla="*/ 657514 w 1294110"/>
              <a:gd name="connsiteY1" fmla="*/ 17113 h 791552"/>
              <a:gd name="connsiteX2" fmla="*/ 1019289 w 1294110"/>
              <a:gd name="connsiteY2" fmla="*/ 127781 h 791552"/>
              <a:gd name="connsiteX3" fmla="*/ 1271152 w 1294110"/>
              <a:gd name="connsiteY3" fmla="*/ 76858 h 791552"/>
              <a:gd name="connsiteX4" fmla="*/ 1286554 w 1294110"/>
              <a:gd name="connsiteY4" fmla="*/ 68486 h 791552"/>
              <a:gd name="connsiteX5" fmla="*/ 1294110 w 1294110"/>
              <a:gd name="connsiteY5" fmla="*/ 143552 h 791552"/>
              <a:gd name="connsiteX6" fmla="*/ 647055 w 1294110"/>
              <a:gd name="connsiteY6" fmla="*/ 791552 h 791552"/>
              <a:gd name="connsiteX7" fmla="*/ 0 w 1294110"/>
              <a:gd name="connsiteY7" fmla="*/ 143552 h 791552"/>
              <a:gd name="connsiteX8" fmla="*/ 6584 w 1294110"/>
              <a:gd name="connsiteY8" fmla="*/ 78142 h 791552"/>
              <a:gd name="connsiteX9" fmla="*/ 123914 w 1294110"/>
              <a:gd name="connsiteY9" fmla="*/ 114616 h 791552"/>
              <a:gd name="connsiteX10" fmla="*/ 254318 w 1294110"/>
              <a:gd name="connsiteY10" fmla="*/ 127781 h 791552"/>
              <a:gd name="connsiteX11" fmla="*/ 616093 w 1294110"/>
              <a:gd name="connsiteY11" fmla="*/ 17113 h 791552"/>
              <a:gd name="connsiteX12" fmla="*/ 636804 w 1294110"/>
              <a:gd name="connsiteY12" fmla="*/ 0 h 791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94110" h="791552">
                <a:moveTo>
                  <a:pt x="636804" y="0"/>
                </a:moveTo>
                <a:lnTo>
                  <a:pt x="657514" y="17113"/>
                </a:lnTo>
                <a:cubicBezTo>
                  <a:pt x="760785" y="86983"/>
                  <a:pt x="885279" y="127781"/>
                  <a:pt x="1019289" y="127781"/>
                </a:cubicBezTo>
                <a:cubicBezTo>
                  <a:pt x="1108629" y="127781"/>
                  <a:pt x="1193740" y="109649"/>
                  <a:pt x="1271152" y="76858"/>
                </a:cubicBezTo>
                <a:lnTo>
                  <a:pt x="1286554" y="68486"/>
                </a:lnTo>
                <a:lnTo>
                  <a:pt x="1294110" y="143552"/>
                </a:lnTo>
                <a:cubicBezTo>
                  <a:pt x="1294110" y="501433"/>
                  <a:pt x="1004414" y="791552"/>
                  <a:pt x="647055" y="791552"/>
                </a:cubicBezTo>
                <a:cubicBezTo>
                  <a:pt x="289696" y="791552"/>
                  <a:pt x="0" y="501433"/>
                  <a:pt x="0" y="143552"/>
                </a:cubicBezTo>
                <a:lnTo>
                  <a:pt x="6584" y="78142"/>
                </a:lnTo>
                <a:lnTo>
                  <a:pt x="123914" y="114616"/>
                </a:lnTo>
                <a:cubicBezTo>
                  <a:pt x="166035" y="123248"/>
                  <a:pt x="209648" y="127781"/>
                  <a:pt x="254318" y="127781"/>
                </a:cubicBezTo>
                <a:cubicBezTo>
                  <a:pt x="388328" y="127781"/>
                  <a:pt x="512822" y="86983"/>
                  <a:pt x="616093" y="17113"/>
                </a:cubicBezTo>
                <a:lnTo>
                  <a:pt x="636804" y="0"/>
                </a:lnTo>
                <a:close/>
              </a:path>
            </a:pathLst>
          </a:cu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A42BBEF6-C6E0-69E2-9957-126CB040C2D7}"/>
              </a:ext>
            </a:extLst>
          </p:cNvPr>
          <p:cNvSpPr/>
          <p:nvPr/>
        </p:nvSpPr>
        <p:spPr>
          <a:xfrm>
            <a:off x="889451" y="1919503"/>
            <a:ext cx="1294110" cy="1296000"/>
          </a:xfrm>
          <a:prstGeom prst="ellipse">
            <a:avLst/>
          </a:prstGeom>
          <a:noFill/>
          <a:ln w="38100">
            <a:solidFill>
              <a:srgbClr val="1D6FA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1D6FA9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DE78F29-7724-8757-0CEA-7F5B73C39C29}"/>
              </a:ext>
            </a:extLst>
          </p:cNvPr>
          <p:cNvSpPr/>
          <p:nvPr/>
        </p:nvSpPr>
        <p:spPr>
          <a:xfrm>
            <a:off x="151336" y="1089771"/>
            <a:ext cx="2748637" cy="2510028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6A941B3-9A32-14C9-BA30-7A9AEEA57E53}"/>
                  </a:ext>
                </a:extLst>
              </p:cNvPr>
              <p:cNvSpPr txBox="1"/>
              <p:nvPr/>
            </p:nvSpPr>
            <p:spPr>
              <a:xfrm>
                <a:off x="2508947" y="632010"/>
                <a:ext cx="414065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IN" sz="2600" b="1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6A941B3-9A32-14C9-BA30-7A9AEEA57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8947" y="632010"/>
                <a:ext cx="414065" cy="49244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A2C8706-FC44-6297-1460-F14D41F738E2}"/>
                  </a:ext>
                </a:extLst>
              </p:cNvPr>
              <p:cNvSpPr txBox="1"/>
              <p:nvPr/>
            </p:nvSpPr>
            <p:spPr>
              <a:xfrm>
                <a:off x="198233" y="1257984"/>
                <a:ext cx="414065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</m:oMath>
                  </m:oMathPara>
                </a14:m>
                <a:endParaRPr lang="en-IN" sz="2600" b="1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A2C8706-FC44-6297-1460-F14D41F738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233" y="1257984"/>
                <a:ext cx="414065" cy="49244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2E5D3DF-7360-103A-A36D-144474DB8DF3}"/>
                  </a:ext>
                </a:extLst>
              </p:cNvPr>
              <p:cNvSpPr txBox="1"/>
              <p:nvPr/>
            </p:nvSpPr>
            <p:spPr>
              <a:xfrm>
                <a:off x="2440211" y="1255569"/>
                <a:ext cx="414065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E50045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</m:oMath>
                  </m:oMathPara>
                </a14:m>
                <a:endParaRPr lang="en-IN" sz="2600" b="1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2E5D3DF-7360-103A-A36D-144474DB8D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0211" y="1255569"/>
                <a:ext cx="414065" cy="49244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Oval 26">
            <a:extLst>
              <a:ext uri="{FF2B5EF4-FFF2-40B4-BE49-F238E27FC236}">
                <a16:creationId xmlns:a16="http://schemas.microsoft.com/office/drawing/2014/main" id="{E1B28BBF-8F65-E583-6155-FA29B3040CE6}"/>
              </a:ext>
            </a:extLst>
          </p:cNvPr>
          <p:cNvSpPr/>
          <p:nvPr/>
        </p:nvSpPr>
        <p:spPr>
          <a:xfrm>
            <a:off x="496714" y="1255732"/>
            <a:ext cx="1294110" cy="1296000"/>
          </a:xfrm>
          <a:prstGeom prst="ellipse">
            <a:avLst/>
          </a:pr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FDDCBCB8-82CC-55CA-B403-4BEDDE1A094B}"/>
              </a:ext>
            </a:extLst>
          </p:cNvPr>
          <p:cNvSpPr/>
          <p:nvPr/>
        </p:nvSpPr>
        <p:spPr>
          <a:xfrm>
            <a:off x="1261685" y="1255732"/>
            <a:ext cx="1294110" cy="1296000"/>
          </a:xfrm>
          <a:prstGeom prst="ellipse">
            <a:avLst/>
          </a:prstGeom>
          <a:noFill/>
          <a:ln w="38100">
            <a:solidFill>
              <a:srgbClr val="E5004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CF97665-A439-100B-29B7-529CFC6AAD4E}"/>
                  </a:ext>
                </a:extLst>
              </p:cNvPr>
              <p:cNvSpPr txBox="1"/>
              <p:nvPr/>
            </p:nvSpPr>
            <p:spPr>
              <a:xfrm>
                <a:off x="1318623" y="3161430"/>
                <a:ext cx="414065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1D6FA9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</m:oMath>
                  </m:oMathPara>
                </a14:m>
                <a:endParaRPr lang="en-IN" sz="2600" b="1" dirty="0">
                  <a:solidFill>
                    <a:srgbClr val="1D6FA9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CF97665-A439-100B-29B7-529CFC6AA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8623" y="3161430"/>
                <a:ext cx="414065" cy="49244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C68711D-0ECA-CD64-61E7-330D72863CD0}"/>
                  </a:ext>
                </a:extLst>
              </p:cNvPr>
              <p:cNvSpPr txBox="1"/>
              <p:nvPr/>
            </p:nvSpPr>
            <p:spPr>
              <a:xfrm>
                <a:off x="1513612" y="3974805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C68711D-0ECA-CD64-61E7-330D72863C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3612" y="3974805"/>
                <a:ext cx="96467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F22524D-5287-B46D-D2B1-4EA488ECAC12}"/>
                  </a:ext>
                </a:extLst>
              </p:cNvPr>
              <p:cNvSpPr txBox="1"/>
              <p:nvPr/>
            </p:nvSpPr>
            <p:spPr>
              <a:xfrm>
                <a:off x="2266484" y="3974805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F22524D-5287-B46D-D2B1-4EA488ECAC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6484" y="3974805"/>
                <a:ext cx="198423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AEBEC0B5-BFA7-5070-96DA-341BC74FDECB}"/>
                  </a:ext>
                </a:extLst>
              </p:cNvPr>
              <p:cNvSpPr txBox="1"/>
              <p:nvPr/>
            </p:nvSpPr>
            <p:spPr>
              <a:xfrm>
                <a:off x="6435236" y="3974805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AEBEC0B5-BFA7-5070-96DA-341BC74FDE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5236" y="3974805"/>
                <a:ext cx="198423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B6FFFD1-A365-9238-256C-E93D1A35C02F}"/>
                  </a:ext>
                </a:extLst>
              </p:cNvPr>
              <p:cNvSpPr txBox="1"/>
              <p:nvPr/>
            </p:nvSpPr>
            <p:spPr>
              <a:xfrm>
                <a:off x="4017164" y="3974805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B6FFFD1-A365-9238-256C-E93D1A35C0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164" y="3974805"/>
                <a:ext cx="257445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18D1C2A-FB58-3381-17B5-5837A363917B}"/>
                  </a:ext>
                </a:extLst>
              </p:cNvPr>
              <p:cNvSpPr txBox="1"/>
              <p:nvPr/>
            </p:nvSpPr>
            <p:spPr>
              <a:xfrm>
                <a:off x="151431" y="3974805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18D1C2A-FB58-3381-17B5-5837A3639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431" y="3974805"/>
                <a:ext cx="1681212" cy="523220"/>
              </a:xfrm>
              <a:prstGeom prst="rect">
                <a:avLst/>
              </a:prstGeom>
              <a:blipFill>
                <a:blip r:embed="rId14"/>
                <a:stretch>
                  <a:fillRect l="-760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6F2231-18E5-F19E-3EEB-FAB469602F27}"/>
                  </a:ext>
                </a:extLst>
              </p:cNvPr>
              <p:cNvSpPr txBox="1"/>
              <p:nvPr/>
            </p:nvSpPr>
            <p:spPr>
              <a:xfrm>
                <a:off x="1513612" y="4749306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6F2231-18E5-F19E-3EEB-FAB469602F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3612" y="4749306"/>
                <a:ext cx="96467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08AD367-6F71-5118-EFB8-A5A73A2F9D9B}"/>
                  </a:ext>
                </a:extLst>
              </p:cNvPr>
              <p:cNvSpPr txBox="1"/>
              <p:nvPr/>
            </p:nvSpPr>
            <p:spPr>
              <a:xfrm>
                <a:off x="2266484" y="4749306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08AD367-6F71-5118-EFB8-A5A73A2F9D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6484" y="4749306"/>
                <a:ext cx="198423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A77ECEC4-6777-8264-8C2F-2A7F2B867A0D}"/>
                  </a:ext>
                </a:extLst>
              </p:cNvPr>
              <p:cNvSpPr txBox="1"/>
              <p:nvPr/>
            </p:nvSpPr>
            <p:spPr>
              <a:xfrm>
                <a:off x="6435236" y="4749306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A77ECEC4-6777-8264-8C2F-2A7F2B867A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5236" y="4749306"/>
                <a:ext cx="198423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BC6880E-7BAA-2191-52D1-9F1D7E94A01C}"/>
                  </a:ext>
                </a:extLst>
              </p:cNvPr>
              <p:cNvSpPr txBox="1"/>
              <p:nvPr/>
            </p:nvSpPr>
            <p:spPr>
              <a:xfrm>
                <a:off x="4017164" y="4749306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BC6880E-7BAA-2191-52D1-9F1D7E94A0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164" y="4749306"/>
                <a:ext cx="257445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4D98F6D-E6E4-10E6-E5E0-E2FE56C981B4}"/>
                  </a:ext>
                </a:extLst>
              </p:cNvPr>
              <p:cNvSpPr txBox="1"/>
              <p:nvPr/>
            </p:nvSpPr>
            <p:spPr>
              <a:xfrm>
                <a:off x="151431" y="4749306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4D98F6D-E6E4-10E6-E5E0-E2FE56C981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431" y="4749306"/>
                <a:ext cx="1681212" cy="523220"/>
              </a:xfrm>
              <a:prstGeom prst="rect">
                <a:avLst/>
              </a:prstGeom>
              <a:blipFill>
                <a:blip r:embed="rId19"/>
                <a:stretch>
                  <a:fillRect l="-760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830ABDD-B3E2-0933-64E4-DF73EF0E4C18}"/>
                  </a:ext>
                </a:extLst>
              </p:cNvPr>
              <p:cNvSpPr txBox="1"/>
              <p:nvPr/>
            </p:nvSpPr>
            <p:spPr>
              <a:xfrm>
                <a:off x="1513517" y="5488899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830ABDD-B3E2-0933-64E4-DF73EF0E4C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3517" y="5488899"/>
                <a:ext cx="96467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538BEB7-A273-CFC4-0DD7-4F6DD52197C7}"/>
                  </a:ext>
                </a:extLst>
              </p:cNvPr>
              <p:cNvSpPr txBox="1"/>
              <p:nvPr/>
            </p:nvSpPr>
            <p:spPr>
              <a:xfrm>
                <a:off x="2266389" y="5488899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538BEB7-A273-CFC4-0DD7-4F6DD52197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6389" y="5488899"/>
                <a:ext cx="198423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BFD1645-B3E7-4636-9C28-CFD3348E4F42}"/>
                  </a:ext>
                </a:extLst>
              </p:cNvPr>
              <p:cNvSpPr txBox="1"/>
              <p:nvPr/>
            </p:nvSpPr>
            <p:spPr>
              <a:xfrm>
                <a:off x="6435141" y="5488899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BFD1645-B3E7-4636-9C28-CFD3348E4F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5141" y="5488899"/>
                <a:ext cx="198423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3E6C45AE-DE38-CEA8-278A-EEDA72A46547}"/>
                  </a:ext>
                </a:extLst>
              </p:cNvPr>
              <p:cNvSpPr txBox="1"/>
              <p:nvPr/>
            </p:nvSpPr>
            <p:spPr>
              <a:xfrm>
                <a:off x="4017069" y="5488899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3E6C45AE-DE38-CEA8-278A-EEDA72A465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069" y="5488899"/>
                <a:ext cx="257445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EF3D5B8-2A0D-4D84-B563-DD2838FDC8E8}"/>
                  </a:ext>
                </a:extLst>
              </p:cNvPr>
              <p:cNvSpPr txBox="1"/>
              <p:nvPr/>
            </p:nvSpPr>
            <p:spPr>
              <a:xfrm>
                <a:off x="151336" y="5488899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EF3D5B8-2A0D-4D84-B563-DD2838FDC8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336" y="5488899"/>
                <a:ext cx="1681212" cy="523220"/>
              </a:xfrm>
              <a:prstGeom prst="rect">
                <a:avLst/>
              </a:prstGeom>
              <a:blipFill>
                <a:blip r:embed="rId24"/>
                <a:stretch>
                  <a:fillRect l="-760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032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1" grpId="0" animBg="1"/>
      <p:bldP spid="41" grpId="1" animBg="1"/>
      <p:bldP spid="40" grpId="0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20" grpId="0" animBg="1"/>
      <p:bldP spid="20" grpId="1" animBg="1"/>
      <p:bldP spid="20" grpId="2" animBg="1"/>
      <p:bldP spid="20" grpId="3" animBg="1"/>
      <p:bldP spid="20" grpId="4" animBg="1"/>
      <p:bldP spid="20" grpId="5" animBg="1"/>
      <p:bldP spid="20" grpId="6" animBg="1"/>
      <p:bldP spid="20" grpId="7" animBg="1"/>
      <p:bldP spid="21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3" grpId="0"/>
      <p:bldP spid="44" grpId="0"/>
      <p:bldP spid="45" grpId="0"/>
      <p:bldP spid="46" grpId="0"/>
      <p:bldP spid="47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2D69C7A-671A-084F-BA6B-1E6799907A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5CEEAD-D95A-08A0-5D3F-D97706FBAB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20154D7-88EB-F183-991D-A32172C57E40}"/>
                  </a:ext>
                </a:extLst>
              </p:cNvPr>
              <p:cNvSpPr txBox="1"/>
              <p:nvPr/>
            </p:nvSpPr>
            <p:spPr>
              <a:xfrm>
                <a:off x="1502470" y="783680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20154D7-88EB-F183-991D-A32172C57E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2470" y="783680"/>
                <a:ext cx="96467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683F2DE-377B-7D5E-4755-61A7B6562CA7}"/>
                  </a:ext>
                </a:extLst>
              </p:cNvPr>
              <p:cNvSpPr txBox="1"/>
              <p:nvPr/>
            </p:nvSpPr>
            <p:spPr>
              <a:xfrm>
                <a:off x="2255342" y="783680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683F2DE-377B-7D5E-4755-61A7B6562C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5342" y="783680"/>
                <a:ext cx="1984231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70D1132-681E-52F4-55A7-2033C1667863}"/>
                  </a:ext>
                </a:extLst>
              </p:cNvPr>
              <p:cNvSpPr txBox="1"/>
              <p:nvPr/>
            </p:nvSpPr>
            <p:spPr>
              <a:xfrm>
                <a:off x="6424094" y="783680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70D1132-681E-52F4-55A7-2033C16678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4094" y="783680"/>
                <a:ext cx="198423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69C07C6-B498-8029-2767-27AEF7CE2EA8}"/>
                  </a:ext>
                </a:extLst>
              </p:cNvPr>
              <p:cNvSpPr txBox="1"/>
              <p:nvPr/>
            </p:nvSpPr>
            <p:spPr>
              <a:xfrm>
                <a:off x="4006022" y="783680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69C07C6-B498-8029-2767-27AEF7CE2E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6022" y="783680"/>
                <a:ext cx="257445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6B1CEF2-2C28-6C8A-9253-D99A4B645A5F}"/>
                  </a:ext>
                </a:extLst>
              </p:cNvPr>
              <p:cNvSpPr txBox="1"/>
              <p:nvPr/>
            </p:nvSpPr>
            <p:spPr>
              <a:xfrm>
                <a:off x="140289" y="783680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6B1CEF2-2C28-6C8A-9253-D99A4B645A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0289" y="783680"/>
                <a:ext cx="1681212" cy="523220"/>
              </a:xfrm>
              <a:prstGeom prst="rect">
                <a:avLst/>
              </a:prstGeom>
              <a:blipFill>
                <a:blip r:embed="rId6"/>
                <a:stretch>
                  <a:fillRect l="-7246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C6CCF78-6679-7501-4EEC-68156CB9B6FC}"/>
                  </a:ext>
                </a:extLst>
              </p:cNvPr>
              <p:cNvSpPr txBox="1"/>
              <p:nvPr/>
            </p:nvSpPr>
            <p:spPr>
              <a:xfrm>
                <a:off x="1502470" y="1352757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C6CCF78-6679-7501-4EEC-68156CB9B6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2470" y="1352757"/>
                <a:ext cx="96467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4CDDC01-A3AB-BFF7-811D-6FC8C25F76E0}"/>
                  </a:ext>
                </a:extLst>
              </p:cNvPr>
              <p:cNvSpPr txBox="1"/>
              <p:nvPr/>
            </p:nvSpPr>
            <p:spPr>
              <a:xfrm>
                <a:off x="2255342" y="1352757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4CDDC01-A3AB-BFF7-811D-6FC8C25F7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5342" y="1352757"/>
                <a:ext cx="198423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A965F1D-038A-9FF4-CBF2-6F8BE889DDC8}"/>
                  </a:ext>
                </a:extLst>
              </p:cNvPr>
              <p:cNvSpPr txBox="1"/>
              <p:nvPr/>
            </p:nvSpPr>
            <p:spPr>
              <a:xfrm>
                <a:off x="6424094" y="1352757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A965F1D-038A-9FF4-CBF2-6F8BE889D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4094" y="1352757"/>
                <a:ext cx="198423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286C7F6-D65F-CD49-B977-E57317D1813A}"/>
                  </a:ext>
                </a:extLst>
              </p:cNvPr>
              <p:cNvSpPr txBox="1"/>
              <p:nvPr/>
            </p:nvSpPr>
            <p:spPr>
              <a:xfrm>
                <a:off x="4006022" y="1352757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286C7F6-D65F-CD49-B977-E57317D181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6022" y="1352757"/>
                <a:ext cx="25744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60D8956-C339-E87B-B6C1-60C74A23871E}"/>
                  </a:ext>
                </a:extLst>
              </p:cNvPr>
              <p:cNvSpPr txBox="1"/>
              <p:nvPr/>
            </p:nvSpPr>
            <p:spPr>
              <a:xfrm>
                <a:off x="140289" y="1352757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60D8956-C339-E87B-B6C1-60C74A238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0289" y="1352757"/>
                <a:ext cx="1681212" cy="523220"/>
              </a:xfrm>
              <a:prstGeom prst="rect">
                <a:avLst/>
              </a:prstGeom>
              <a:blipFill>
                <a:blip r:embed="rId11"/>
                <a:stretch>
                  <a:fillRect l="-7246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3242520-8660-91FE-F8FB-A83D017751FB}"/>
                  </a:ext>
                </a:extLst>
              </p:cNvPr>
              <p:cNvSpPr txBox="1"/>
              <p:nvPr/>
            </p:nvSpPr>
            <p:spPr>
              <a:xfrm>
                <a:off x="1502375" y="1924137"/>
                <a:ext cx="964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3242520-8660-91FE-F8FB-A83D01775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2375" y="1924137"/>
                <a:ext cx="96467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B2BAA7D-2B01-6E08-06A1-FB0EED04FED7}"/>
                  </a:ext>
                </a:extLst>
              </p:cNvPr>
              <p:cNvSpPr txBox="1"/>
              <p:nvPr/>
            </p:nvSpPr>
            <p:spPr>
              <a:xfrm>
                <a:off x="2255247" y="1924137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B2BAA7D-2B01-6E08-06A1-FB0EED04FE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5247" y="1924137"/>
                <a:ext cx="198423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7F5B6A-5CFD-4F21-7D08-228B6364B8E0}"/>
                  </a:ext>
                </a:extLst>
              </p:cNvPr>
              <p:cNvSpPr txBox="1"/>
              <p:nvPr/>
            </p:nvSpPr>
            <p:spPr>
              <a:xfrm>
                <a:off x="6423999" y="1924137"/>
                <a:ext cx="198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7F5B6A-5CFD-4F21-7D08-228B6364B8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3999" y="1924137"/>
                <a:ext cx="198423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385A325-F004-2A74-3246-AF3839D1A691}"/>
                  </a:ext>
                </a:extLst>
              </p:cNvPr>
              <p:cNvSpPr txBox="1"/>
              <p:nvPr/>
            </p:nvSpPr>
            <p:spPr>
              <a:xfrm>
                <a:off x="4005927" y="1924137"/>
                <a:ext cx="25744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∩</m:t>
                          </m:r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385A325-F004-2A74-3246-AF3839D1A6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5927" y="1924137"/>
                <a:ext cx="257445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E42C46-338F-D426-8591-4D61B8FC47C9}"/>
                  </a:ext>
                </a:extLst>
              </p:cNvPr>
              <p:cNvSpPr txBox="1"/>
              <p:nvPr/>
            </p:nvSpPr>
            <p:spPr>
              <a:xfrm>
                <a:off x="140194" y="1924137"/>
                <a:ext cx="16812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E42C46-338F-D426-8591-4D61B8FC4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0194" y="1924137"/>
                <a:ext cx="1681212" cy="523220"/>
              </a:xfrm>
              <a:prstGeom prst="rect">
                <a:avLst/>
              </a:prstGeom>
              <a:blipFill>
                <a:blip r:embed="rId16"/>
                <a:stretch>
                  <a:fillRect l="-760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TextBox 49">
            <a:extLst>
              <a:ext uri="{FF2B5EF4-FFF2-40B4-BE49-F238E27FC236}">
                <a16:creationId xmlns:a16="http://schemas.microsoft.com/office/drawing/2014/main" id="{A2E03BBD-C862-88E6-A8CD-35E608228BF2}"/>
              </a:ext>
            </a:extLst>
          </p:cNvPr>
          <p:cNvSpPr txBox="1"/>
          <p:nvPr/>
        </p:nvSpPr>
        <p:spPr>
          <a:xfrm>
            <a:off x="135061" y="2561420"/>
            <a:ext cx="42567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Adding all these three…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82E16BF-22D1-5AB2-D52C-59B238A240FE}"/>
                  </a:ext>
                </a:extLst>
              </p:cNvPr>
              <p:cNvSpPr txBox="1"/>
              <p:nvPr/>
            </p:nvSpPr>
            <p:spPr>
              <a:xfrm>
                <a:off x="112419" y="3208974"/>
                <a:ext cx="83661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𝐁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𝐂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∪ 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𝐂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∪ 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𝐁</m:t>
                                  </m:r>
                                </m:e>
                                <m:sup>
                                  <m:r>
                                    <a:rPr lang="en-US" sz="2800" b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US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82E16BF-22D1-5AB2-D52C-59B238A240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419" y="3208974"/>
                <a:ext cx="836612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64A7BB4C-49C8-E9DE-5E19-3DCF81BD8639}"/>
                  </a:ext>
                </a:extLst>
              </p:cNvPr>
              <p:cNvSpPr txBox="1"/>
              <p:nvPr/>
            </p:nvSpPr>
            <p:spPr>
              <a:xfrm>
                <a:off x="135061" y="3887424"/>
                <a:ext cx="12056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64A7BB4C-49C8-E9DE-5E19-3DCF81BD86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61" y="3887424"/>
                <a:ext cx="1205693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8378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2" grpId="0"/>
      <p:bldP spid="66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316E4-6CA2-DE85-E89B-8A13FEFDA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17EAE2-A6FB-7E6D-9C6A-F0B8A9914C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F645468-6C4D-7FF5-CD7E-692F2523D60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2" y="2156568"/>
                <a:ext cx="11928475" cy="2544864"/>
              </a:xfr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US" dirty="0"/>
                  <a:t>What is the probability that the selected candidate knows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neither Python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nor Java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1" i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dirty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US" dirty="0"/>
                  <a:t>? </a:t>
                </a:r>
              </a:p>
              <a:p>
                <a:r>
                  <a:rPr lang="en-US" dirty="0"/>
                  <a:t>Hence, the required event is</a:t>
                </a:r>
              </a:p>
              <a:p>
                <a:pPr marL="0" indent="0" algn="ctr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US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US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′</m:t>
                    </m:r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F645468-6C4D-7FF5-CD7E-692F2523D60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2" y="2156568"/>
                <a:ext cx="11928475" cy="2544864"/>
              </a:xfrm>
              <a:blipFill>
                <a:blip r:embed="rId2"/>
                <a:stretch>
                  <a:fillRect l="-919" r="-1021" b="-2387"/>
                </a:stretch>
              </a:blip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65175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11BB7382-007A-8C43-96E4-24EA16EAEB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338E0636-DD34-2CBE-0401-C08DFCE2C0BF}"/>
              </a:ext>
            </a:extLst>
          </p:cNvPr>
          <p:cNvSpPr/>
          <p:nvPr/>
        </p:nvSpPr>
        <p:spPr>
          <a:xfrm>
            <a:off x="8461124" y="3429000"/>
            <a:ext cx="3372418" cy="2380689"/>
          </a:xfrm>
          <a:custGeom>
            <a:avLst/>
            <a:gdLst>
              <a:gd name="csX0" fmla="*/ 1139363 w 3372418"/>
              <a:gd name="csY0" fmla="*/ 382291 h 2380689"/>
              <a:gd name="csX1" fmla="*/ 248363 w 3372418"/>
              <a:gd name="csY1" fmla="*/ 1273291 h 2380689"/>
              <a:gd name="csX2" fmla="*/ 1139363 w 3372418"/>
              <a:gd name="csY2" fmla="*/ 2164291 h 2380689"/>
              <a:gd name="csX3" fmla="*/ 1637530 w 3372418"/>
              <a:gd name="csY3" fmla="*/ 2012123 h 2380689"/>
              <a:gd name="csX4" fmla="*/ 1660238 w 3372418"/>
              <a:gd name="csY4" fmla="*/ 1993386 h 2380689"/>
              <a:gd name="csX5" fmla="*/ 1705727 w 3372418"/>
              <a:gd name="csY5" fmla="*/ 2030919 h 2380689"/>
              <a:gd name="csX6" fmla="*/ 2203894 w 3372418"/>
              <a:gd name="csY6" fmla="*/ 2183087 h 2380689"/>
              <a:gd name="csX7" fmla="*/ 3094894 w 3372418"/>
              <a:gd name="csY7" fmla="*/ 1292087 h 2380689"/>
              <a:gd name="csX8" fmla="*/ 2203894 w 3372418"/>
              <a:gd name="csY8" fmla="*/ 401087 h 2380689"/>
              <a:gd name="csX9" fmla="*/ 1705727 w 3372418"/>
              <a:gd name="csY9" fmla="*/ 553256 h 2380689"/>
              <a:gd name="csX10" fmla="*/ 1683019 w 3372418"/>
              <a:gd name="csY10" fmla="*/ 571992 h 2380689"/>
              <a:gd name="csX11" fmla="*/ 1637530 w 3372418"/>
              <a:gd name="csY11" fmla="*/ 534460 h 2380689"/>
              <a:gd name="csX12" fmla="*/ 1139363 w 3372418"/>
              <a:gd name="csY12" fmla="*/ 382291 h 2380689"/>
              <a:gd name="csX13" fmla="*/ 0 w 3372418"/>
              <a:gd name="csY13" fmla="*/ 0 h 2380689"/>
              <a:gd name="csX14" fmla="*/ 3372418 w 3372418"/>
              <a:gd name="csY14" fmla="*/ 0 h 2380689"/>
              <a:gd name="csX15" fmla="*/ 3372418 w 3372418"/>
              <a:gd name="csY15" fmla="*/ 2380689 h 2380689"/>
              <a:gd name="csX16" fmla="*/ 0 w 3372418"/>
              <a:gd name="csY16" fmla="*/ 2380689 h 238068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2418" h="2380689">
                <a:moveTo>
                  <a:pt x="1139363" y="382291"/>
                </a:moveTo>
                <a:cubicBezTo>
                  <a:pt x="647277" y="382291"/>
                  <a:pt x="248363" y="781205"/>
                  <a:pt x="248363" y="1273291"/>
                </a:cubicBezTo>
                <a:cubicBezTo>
                  <a:pt x="248363" y="1765377"/>
                  <a:pt x="647277" y="2164291"/>
                  <a:pt x="1139363" y="2164291"/>
                </a:cubicBezTo>
                <a:cubicBezTo>
                  <a:pt x="1323895" y="2164291"/>
                  <a:pt x="1495325" y="2108194"/>
                  <a:pt x="1637530" y="2012123"/>
                </a:cubicBezTo>
                <a:lnTo>
                  <a:pt x="1660238" y="1993386"/>
                </a:lnTo>
                <a:lnTo>
                  <a:pt x="1705727" y="2030919"/>
                </a:lnTo>
                <a:cubicBezTo>
                  <a:pt x="1847932" y="2126990"/>
                  <a:pt x="2019362" y="2183087"/>
                  <a:pt x="2203894" y="2183087"/>
                </a:cubicBezTo>
                <a:cubicBezTo>
                  <a:pt x="2695980" y="2183087"/>
                  <a:pt x="3094894" y="1784173"/>
                  <a:pt x="3094894" y="1292087"/>
                </a:cubicBezTo>
                <a:cubicBezTo>
                  <a:pt x="3094894" y="800001"/>
                  <a:pt x="2695980" y="401087"/>
                  <a:pt x="2203894" y="401087"/>
                </a:cubicBezTo>
                <a:cubicBezTo>
                  <a:pt x="2019362" y="401087"/>
                  <a:pt x="1847932" y="457184"/>
                  <a:pt x="1705727" y="553256"/>
                </a:cubicBezTo>
                <a:lnTo>
                  <a:pt x="1683019" y="571992"/>
                </a:lnTo>
                <a:lnTo>
                  <a:pt x="1637530" y="534460"/>
                </a:lnTo>
                <a:cubicBezTo>
                  <a:pt x="1495325" y="438388"/>
                  <a:pt x="1323895" y="382291"/>
                  <a:pt x="1139363" y="382291"/>
                </a:cubicBezTo>
                <a:close/>
                <a:moveTo>
                  <a:pt x="0" y="0"/>
                </a:moveTo>
                <a:lnTo>
                  <a:pt x="3372418" y="0"/>
                </a:lnTo>
                <a:lnTo>
                  <a:pt x="3372418" y="2380689"/>
                </a:lnTo>
                <a:lnTo>
                  <a:pt x="0" y="2380689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4828A8C-2D99-5FEF-2330-D813654A48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4F2FD25-12A3-7C9E-6275-D8BEDCA4354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825786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Probability that None of the events occurs</a:t>
                </a:r>
              </a:p>
              <a:p>
                <a:pPr lvl="1"/>
                <a:r>
                  <a:rPr lang="en-US" dirty="0"/>
                  <a:t>Neither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nor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occurs. It represents the region outside both circles in the Venn diagram.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IN" dirty="0">
                    <a:solidFill>
                      <a:srgbClr val="002060"/>
                    </a:solidFill>
                  </a:rPr>
                  <a:t>We know that,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b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b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 b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 b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 b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m:rPr>
                                <m:sty m:val="p"/>
                              </m:rPr>
                              <a:rPr lang="en-US" b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</m:e>
                      <m:sup>
                        <m:r>
                          <a:rPr lang="en-US" b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IN" i="0" dirty="0">
                    <a:solidFill>
                      <a:srgbClr val="FF0000"/>
                    </a:solidFill>
                  </a:rPr>
                  <a:t>                                </a:t>
                </a:r>
                <a:r>
                  <a:rPr lang="en-IN" dirty="0"/>
                  <a:t>[ De’Morgan’s Law ] </a:t>
                </a:r>
                <a:endParaRPr lang="en-IN" i="0" dirty="0">
                  <a:solidFill>
                    <a:srgbClr val="FF0000"/>
                  </a:solidFill>
                </a:endParaRPr>
              </a:p>
              <a:p>
                <a:pPr lvl="1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p>
                            <m:r>
                              <a:rPr lang="en-US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sSup>
                      <m:sSupPr>
                        <m:ctrlPr>
                          <a:rPr lang="en-US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m:rPr>
                                <m:sty m:val="p"/>
                              </m:rP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</m:e>
                      <m:sup>
                        <m: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endParaRPr lang="en-IN" dirty="0"/>
              </a:p>
              <a:p>
                <a:pPr marL="2335213" lvl="5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2335213" lvl="1" indent="-87313" algn="l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b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b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US" b="1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US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b="1" dirty="0"/>
              </a:p>
              <a:p>
                <a:pPr lvl="1"/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d>
                      <m:dPr>
                        <m:ctrlPr>
                          <a:rPr lang="en-US" b="1" i="1" dirty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dirty="0" smtClean="0">
                            <a:solidFill>
                              <a:srgbClr val="7030A0"/>
                            </a:solidFill>
                          </a:rPr>
                          <m:t>N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one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occur</m:t>
                        </m:r>
                        <m:r>
                          <m:rPr>
                            <m:nor/>
                          </m:rPr>
                          <a:rPr lang="en-IN" b="0" i="0" dirty="0" smtClean="0">
                            <a:solidFill>
                              <a:srgbClr val="7030A0"/>
                            </a:solidFill>
                          </a:rPr>
                          <m:t>s</m:t>
                        </m:r>
                      </m:e>
                    </m:d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d>
                      <m:dPr>
                        <m:ctrlPr>
                          <a:rPr lang="en-US" b="1" i="1" dirty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dirty="0" smtClean="0">
                            <a:solidFill>
                              <a:srgbClr val="7030A0"/>
                            </a:solidFill>
                          </a:rPr>
                          <m:t>A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t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least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one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occurs</m:t>
                        </m:r>
                      </m:e>
                    </m:d>
                  </m:oMath>
                </a14:m>
                <a:endParaRPr lang="en-US" b="1" i="1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4F2FD25-12A3-7C9E-6275-D8BEDCA4354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82578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" name="Group 15">
            <a:extLst>
              <a:ext uri="{FF2B5EF4-FFF2-40B4-BE49-F238E27FC236}">
                <a16:creationId xmlns:a16="http://schemas.microsoft.com/office/drawing/2014/main" id="{0C6BE8DF-3FC2-643B-59B3-83238293F220}"/>
              </a:ext>
            </a:extLst>
          </p:cNvPr>
          <p:cNvGrpSpPr/>
          <p:nvPr/>
        </p:nvGrpSpPr>
        <p:grpSpPr>
          <a:xfrm>
            <a:off x="8467812" y="3259841"/>
            <a:ext cx="3826472" cy="2549848"/>
            <a:chOff x="8234348" y="2857912"/>
            <a:chExt cx="3826472" cy="254984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DB1EC33-CD92-FBEB-6783-9C1502A01576}"/>
                </a:ext>
              </a:extLst>
            </p:cNvPr>
            <p:cNvSpPr/>
            <p:nvPr/>
          </p:nvSpPr>
          <p:spPr>
            <a:xfrm>
              <a:off x="8234349" y="3027071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97A7CE7-B6F7-3742-E112-354C2C1E9125}"/>
                </a:ext>
              </a:extLst>
            </p:cNvPr>
            <p:cNvSpPr/>
            <p:nvPr/>
          </p:nvSpPr>
          <p:spPr>
            <a:xfrm>
              <a:off x="8481233" y="3389906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3C6C119-EC5F-19B1-E580-6B171AE862EA}"/>
                </a:ext>
              </a:extLst>
            </p:cNvPr>
            <p:cNvSpPr/>
            <p:nvPr/>
          </p:nvSpPr>
          <p:spPr>
            <a:xfrm>
              <a:off x="9545764" y="3408702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5F33B43-9E10-6A94-AD16-2B958D897D37}"/>
                    </a:ext>
                  </a:extLst>
                </p:cNvPr>
                <p:cNvSpPr txBox="1"/>
                <p:nvPr/>
              </p:nvSpPr>
              <p:spPr>
                <a:xfrm>
                  <a:off x="8234348" y="320414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5F33B43-9E10-6A94-AD16-2B958D897D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34348" y="3204146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F1ECF5E9-2C8C-F67A-96B3-D514FB1E5C83}"/>
                    </a:ext>
                  </a:extLst>
                </p:cNvPr>
                <p:cNvSpPr txBox="1"/>
                <p:nvPr/>
              </p:nvSpPr>
              <p:spPr>
                <a:xfrm>
                  <a:off x="10941185" y="320414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F1ECF5E9-2C8C-F67A-96B3-D514FB1E5C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941185" y="3204146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414BB4D4-36BF-3407-A414-67F255DC84AC}"/>
                    </a:ext>
                  </a:extLst>
                </p:cNvPr>
                <p:cNvSpPr txBox="1"/>
                <p:nvPr/>
              </p:nvSpPr>
              <p:spPr>
                <a:xfrm>
                  <a:off x="11489955" y="2857912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414BB4D4-36BF-3407-A414-67F255DC84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89955" y="2857912"/>
                  <a:ext cx="57086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092118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3DBDAAC-EFE9-4E82-866E-A7DA2ACB9FFF}"/>
                  </a:ext>
                </a:extLst>
              </p:cNvPr>
              <p:cNvSpPr txBox="1"/>
              <p:nvPr/>
            </p:nvSpPr>
            <p:spPr>
              <a:xfrm>
                <a:off x="6368680" y="2252959"/>
                <a:ext cx="12486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black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3DBDAAC-EFE9-4E82-866E-A7DA2ACB9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80" y="2252959"/>
                <a:ext cx="1248605" cy="523220"/>
              </a:xfrm>
              <a:prstGeom prst="rect">
                <a:avLst/>
              </a:prstGeom>
              <a:blipFill>
                <a:blip r:embed="rId2"/>
                <a:stretch>
                  <a:fillRect t="-11765" r="-731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 urn contains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green,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red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black balls. If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balls are drawn at random, find the probability that at least one is green.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326C4A5-BD7F-4FDC-B2F6-117DF8436364}"/>
              </a:ext>
            </a:extLst>
          </p:cNvPr>
          <p:cNvSpPr txBox="1"/>
          <p:nvPr/>
        </p:nvSpPr>
        <p:spPr>
          <a:xfrm>
            <a:off x="1594218" y="2248479"/>
            <a:ext cx="17374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Total </a:t>
            </a:r>
            <a:r>
              <a:rPr kumimoji="0" lang="gu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balls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B58280A-E88E-4B36-B3DD-98613307A996}"/>
                  </a:ext>
                </a:extLst>
              </p:cNvPr>
              <p:cNvSpPr txBox="1"/>
              <p:nvPr/>
            </p:nvSpPr>
            <p:spPr>
              <a:xfrm>
                <a:off x="1594215" y="2851849"/>
                <a:ext cx="77174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draw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balls out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B58280A-E88E-4B36-B3DD-98613307A9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851849"/>
                <a:ext cx="7717425" cy="523220"/>
              </a:xfrm>
              <a:prstGeom prst="rect">
                <a:avLst/>
              </a:prstGeom>
              <a:blipFill>
                <a:blip r:embed="rId4"/>
                <a:stretch>
                  <a:fillRect l="-1659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B3DCDF6-B095-4543-B32A-ED412A37F6EE}"/>
                  </a:ext>
                </a:extLst>
              </p:cNvPr>
              <p:cNvSpPr txBox="1"/>
              <p:nvPr/>
            </p:nvSpPr>
            <p:spPr>
              <a:xfrm>
                <a:off x="9145992" y="2854172"/>
                <a:ext cx="86334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B3DCDF6-B095-4543-B32A-ED412A37F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5992" y="2854172"/>
                <a:ext cx="86334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9205C40-C797-4796-9C84-207C70F15F93}"/>
                  </a:ext>
                </a:extLst>
              </p:cNvPr>
              <p:cNvSpPr txBox="1"/>
              <p:nvPr/>
            </p:nvSpPr>
            <p:spPr>
              <a:xfrm>
                <a:off x="7581358" y="2252959"/>
                <a:ext cx="96638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9205C40-C797-4796-9C84-207C70F15F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1358" y="2252959"/>
                <a:ext cx="96638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3F3E53F-7679-4FDC-8FEC-215D034FAA07}"/>
                  </a:ext>
                </a:extLst>
              </p:cNvPr>
              <p:cNvSpPr txBox="1"/>
              <p:nvPr/>
            </p:nvSpPr>
            <p:spPr>
              <a:xfrm>
                <a:off x="10935973" y="2851849"/>
                <a:ext cx="119252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969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3F3E53F-7679-4FDC-8FEC-215D034FA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35973" y="2851849"/>
                <a:ext cx="11925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FEC7D4B-9C30-4939-BB6B-1CC9CE3A25B4}"/>
                  </a:ext>
                </a:extLst>
              </p:cNvPr>
              <p:cNvSpPr txBox="1"/>
              <p:nvPr/>
            </p:nvSpPr>
            <p:spPr>
              <a:xfrm>
                <a:off x="9869025" y="2851849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gu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FEC7D4B-9C30-4939-BB6B-1CC9CE3A25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9025" y="2851849"/>
                <a:ext cx="124993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70C184-D94C-4818-BFE1-5F17CE82EB05}"/>
                  </a:ext>
                </a:extLst>
              </p:cNvPr>
              <p:cNvSpPr txBox="1"/>
              <p:nvPr/>
            </p:nvSpPr>
            <p:spPr>
              <a:xfrm>
                <a:off x="3517880" y="2252959"/>
                <a:ext cx="13459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green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70C184-D94C-4818-BFE1-5F17CE82E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7880" y="2252959"/>
                <a:ext cx="1345947" cy="523220"/>
              </a:xfrm>
              <a:prstGeom prst="rect">
                <a:avLst/>
              </a:prstGeom>
              <a:blipFill>
                <a:blip r:embed="rId9"/>
                <a:stretch>
                  <a:fillRect t="-11765" r="-497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7B6C86F-1A91-4F69-86ED-8A9D451664E9}"/>
                  </a:ext>
                </a:extLst>
              </p:cNvPr>
              <p:cNvSpPr txBox="1"/>
              <p:nvPr/>
            </p:nvSpPr>
            <p:spPr>
              <a:xfrm>
                <a:off x="5101984" y="2252959"/>
                <a:ext cx="10285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red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7B6C86F-1A91-4F69-86ED-8A9D451664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01984" y="2252959"/>
                <a:ext cx="1028539" cy="523220"/>
              </a:xfrm>
              <a:prstGeom prst="rect">
                <a:avLst/>
              </a:prstGeom>
              <a:blipFill>
                <a:blip r:embed="rId10"/>
                <a:stretch>
                  <a:fillRect t="-11765" r="-591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ACE6C5-9A33-4DF9-8A18-2B9994E5ECEA}"/>
                  </a:ext>
                </a:extLst>
              </p:cNvPr>
              <p:cNvSpPr txBox="1"/>
              <p:nvPr/>
            </p:nvSpPr>
            <p:spPr>
              <a:xfrm>
                <a:off x="3143318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ACE6C5-9A33-4DF9-8A18-2B9994E5EC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3318" y="2252959"/>
                <a:ext cx="49590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9F02AD66-56F1-435F-A1E1-7A640CFE5DA0}"/>
                  </a:ext>
                </a:extLst>
              </p:cNvPr>
              <p:cNvSpPr txBox="1"/>
              <p:nvPr/>
            </p:nvSpPr>
            <p:spPr>
              <a:xfrm>
                <a:off x="4734953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9F02AD66-56F1-435F-A1E1-7A640CFE5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953" y="2252959"/>
                <a:ext cx="49590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A364C2A-97F3-4EE2-A183-848B7B1B017A}"/>
                  </a:ext>
                </a:extLst>
              </p:cNvPr>
              <p:cNvSpPr txBox="1"/>
              <p:nvPr/>
            </p:nvSpPr>
            <p:spPr>
              <a:xfrm>
                <a:off x="5985323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A364C2A-97F3-4EE2-A183-848B7B1B0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5323" y="2252959"/>
                <a:ext cx="49590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589CEA7D-B7D1-40FF-9DAF-B380EF64058F}"/>
                  </a:ext>
                </a:extLst>
              </p:cNvPr>
              <p:cNvSpPr txBox="1"/>
              <p:nvPr/>
            </p:nvSpPr>
            <p:spPr>
              <a:xfrm>
                <a:off x="1593061" y="3899426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gu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589CEA7D-B7D1-40FF-9DAF-B380EF640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061" y="3899426"/>
                <a:ext cx="1463040" cy="523220"/>
              </a:xfrm>
              <a:prstGeom prst="rect">
                <a:avLst/>
              </a:prstGeom>
              <a:blipFill>
                <a:blip r:embed="rId14"/>
                <a:stretch>
                  <a:fillRect l="-8333" t="-10588" r="-458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641A9EB2-FCCA-4888-B183-F74C1ABC9664}"/>
              </a:ext>
            </a:extLst>
          </p:cNvPr>
          <p:cNvSpPr txBox="1"/>
          <p:nvPr/>
        </p:nvSpPr>
        <p:spPr>
          <a:xfrm>
            <a:off x="2822098" y="3898198"/>
            <a:ext cx="373110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  <a:r>
              <a:rPr kumimoji="0" lang="gu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 green ball is drawn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7F47E76-8D55-45B3-ABEB-1C8390A3F9A7}"/>
                  </a:ext>
                </a:extLst>
              </p:cNvPr>
              <p:cNvSpPr txBox="1"/>
              <p:nvPr/>
            </p:nvSpPr>
            <p:spPr>
              <a:xfrm>
                <a:off x="1689450" y="6021263"/>
                <a:ext cx="86334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7F47E76-8D55-45B3-ABEB-1C8390A3F9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9450" y="6021263"/>
                <a:ext cx="86334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F34CE30-7186-4C8E-BE1E-62E82581EA50}"/>
                  </a:ext>
                </a:extLst>
              </p:cNvPr>
              <p:cNvSpPr txBox="1"/>
              <p:nvPr/>
            </p:nvSpPr>
            <p:spPr>
              <a:xfrm>
                <a:off x="3611474" y="6018940"/>
                <a:ext cx="119252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F34CE30-7186-4C8E-BE1E-62E82581E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74" y="6018940"/>
                <a:ext cx="11925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C0A96B1-3BAD-412E-BF10-2DB439009C56}"/>
                  </a:ext>
                </a:extLst>
              </p:cNvPr>
              <p:cNvSpPr txBox="1"/>
              <p:nvPr/>
            </p:nvSpPr>
            <p:spPr>
              <a:xfrm>
                <a:off x="2438096" y="6018940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gu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C0A96B1-3BAD-412E-BF10-2DB439009C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8096" y="6018940"/>
                <a:ext cx="124993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853775D2-3DDC-479E-8D06-468092153361}"/>
              </a:ext>
            </a:extLst>
          </p:cNvPr>
          <p:cNvSpPr/>
          <p:nvPr/>
        </p:nvSpPr>
        <p:spPr>
          <a:xfrm>
            <a:off x="5188323" y="2248477"/>
            <a:ext cx="2393035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971911F-EB83-4BDC-ABA5-6F944041FA82}"/>
              </a:ext>
            </a:extLst>
          </p:cNvPr>
          <p:cNvSpPr txBox="1"/>
          <p:nvPr/>
        </p:nvSpPr>
        <p:spPr>
          <a:xfrm>
            <a:off x="1593061" y="4463090"/>
            <a:ext cx="7536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8AC7277-403F-411F-8345-1E96D2DC54EA}"/>
                  </a:ext>
                </a:extLst>
              </p:cNvPr>
              <p:cNvSpPr txBox="1"/>
              <p:nvPr/>
            </p:nvSpPr>
            <p:spPr>
              <a:xfrm>
                <a:off x="1593061" y="4961611"/>
                <a:ext cx="15525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gu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E</m:t>
                        </m:r>
                      </m:e>
                      <m:sup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8AC7277-403F-411F-8345-1E96D2DC54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061" y="4961611"/>
                <a:ext cx="1552500" cy="523220"/>
              </a:xfrm>
              <a:prstGeom prst="rect">
                <a:avLst/>
              </a:prstGeom>
              <a:blipFill>
                <a:blip r:embed="rId18"/>
                <a:stretch>
                  <a:fillRect l="-7843" t="-10465" r="-588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BD24E7CA-821C-4715-9828-BD850B8A08B7}"/>
              </a:ext>
            </a:extLst>
          </p:cNvPr>
          <p:cNvSpPr txBox="1"/>
          <p:nvPr/>
        </p:nvSpPr>
        <p:spPr>
          <a:xfrm>
            <a:off x="2963518" y="4959183"/>
            <a:ext cx="511368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at least one green ball is drawn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5419CE7-F428-4607-A5D8-83025F9B15A2}"/>
              </a:ext>
            </a:extLst>
          </p:cNvPr>
          <p:cNvSpPr txBox="1"/>
          <p:nvPr/>
        </p:nvSpPr>
        <p:spPr>
          <a:xfrm>
            <a:off x="1593061" y="3429000"/>
            <a:ext cx="7536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Let,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156EA53-5D5B-4E57-85F4-81958A4F40DA}"/>
              </a:ext>
            </a:extLst>
          </p:cNvPr>
          <p:cNvSpPr txBox="1"/>
          <p:nvPr/>
        </p:nvSpPr>
        <p:spPr>
          <a:xfrm>
            <a:off x="1593061" y="5488433"/>
            <a:ext cx="1096755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34BD818-947E-49DC-B209-C1A0A6523655}"/>
                  </a:ext>
                </a:extLst>
              </p:cNvPr>
              <p:cNvSpPr txBox="1"/>
              <p:nvPr/>
            </p:nvSpPr>
            <p:spPr>
              <a:xfrm>
                <a:off x="7981906" y="360817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  <m:sup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34BD818-947E-49DC-B209-C1A0A65236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1906" y="3608178"/>
                <a:ext cx="90057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781902C-8040-4B39-A352-7BD761C5D60B}"/>
                  </a:ext>
                </a:extLst>
              </p:cNvPr>
              <p:cNvSpPr txBox="1"/>
              <p:nvPr/>
            </p:nvSpPr>
            <p:spPr>
              <a:xfrm>
                <a:off x="7535272" y="360817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781902C-8040-4B39-A352-7BD761C5D6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35272" y="3608178"/>
                <a:ext cx="53412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E115074-55FF-4549-ACAC-20300B339923}"/>
                  </a:ext>
                </a:extLst>
              </p:cNvPr>
              <p:cNvSpPr txBox="1"/>
              <p:nvPr/>
            </p:nvSpPr>
            <p:spPr>
              <a:xfrm>
                <a:off x="8818107" y="3608178"/>
                <a:ext cx="23324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E115074-55FF-4549-ACAC-20300B3399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3608178"/>
                <a:ext cx="233243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5D416B-C7DB-44FC-B6DF-C5973D2B3FC6}"/>
                  </a:ext>
                </a:extLst>
              </p:cNvPr>
              <p:cNvSpPr txBox="1"/>
              <p:nvPr/>
            </p:nvSpPr>
            <p:spPr>
              <a:xfrm>
                <a:off x="8818107" y="4190525"/>
                <a:ext cx="2332437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5D416B-C7DB-44FC-B6DF-C5973D2B3F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4190525"/>
                <a:ext cx="2332437" cy="989438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25548-45C4-480C-A519-0C011AC2F705}"/>
                  </a:ext>
                </a:extLst>
              </p:cNvPr>
              <p:cNvSpPr txBox="1"/>
              <p:nvPr/>
            </p:nvSpPr>
            <p:spPr>
              <a:xfrm>
                <a:off x="8818107" y="5299150"/>
                <a:ext cx="2332437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286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969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25548-45C4-480C-A519-0C011AC2F7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5299150"/>
                <a:ext cx="2332437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3B4E3FB-F53A-4BEC-9D34-D0B117818CFF}"/>
                  </a:ext>
                </a:extLst>
              </p:cNvPr>
              <p:cNvSpPr txBox="1"/>
              <p:nvPr/>
            </p:nvSpPr>
            <p:spPr>
              <a:xfrm>
                <a:off x="10780515" y="5299150"/>
                <a:ext cx="138603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683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969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3B4E3FB-F53A-4BEC-9D34-D0B117818C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515" y="5299150"/>
                <a:ext cx="1386030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7526161" y="3362525"/>
            <a:ext cx="0" cy="3179635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377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" grpId="0" animBg="1"/>
      <p:bldP spid="23" grpId="0"/>
      <p:bldP spid="33" grpId="0"/>
      <p:bldP spid="34" grpId="0"/>
      <p:bldP spid="35" grpId="0"/>
      <p:bldP spid="36" grpId="0"/>
      <p:bldP spid="50" grpId="0"/>
      <p:bldP spid="38" grpId="0"/>
      <p:bldP spid="39" grpId="0"/>
      <p:bldP spid="40" grpId="0"/>
      <p:bldP spid="41" grpId="0"/>
      <p:bldP spid="44" grpId="0"/>
      <p:bldP spid="47" grpId="0" animBg="1"/>
      <p:bldP spid="48" grpId="0" animBg="1"/>
      <p:bldP spid="49" grpId="0"/>
      <p:bldP spid="51" grpId="0"/>
      <p:bldP spid="52" grpId="0"/>
      <p:bldP spid="6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7" grpId="0" animBg="1"/>
      <p:bldP spid="42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116375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6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two mutually exclusive events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</m:d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=0.30,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=0.45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 Find the probability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∪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1163753"/>
              </a:xfrm>
              <a:prstGeom prst="rect">
                <a:avLst/>
              </a:prstGeom>
              <a:blipFill>
                <a:blip r:embed="rId2"/>
                <a:stretch>
                  <a:fillRect l="-1074" t="-1047" r="-1074" b="-733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218567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0846F01-7E87-4E07-BAA3-01B7131FF28E}"/>
              </a:ext>
            </a:extLst>
          </p:cNvPr>
          <p:cNvSpPr txBox="1"/>
          <p:nvPr/>
        </p:nvSpPr>
        <p:spPr>
          <a:xfrm>
            <a:off x="1594218" y="2185673"/>
            <a:ext cx="215206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9FC683F-5A63-4A5F-A8AC-BE07500555BC}"/>
                  </a:ext>
                </a:extLst>
              </p:cNvPr>
              <p:cNvSpPr txBox="1"/>
              <p:nvPr/>
            </p:nvSpPr>
            <p:spPr>
              <a:xfrm>
                <a:off x="1594217" y="2722420"/>
                <a:ext cx="7278849" cy="523220"/>
              </a:xfrm>
              <a:prstGeom prst="rect">
                <a:avLst/>
              </a:prstGeom>
              <a:noFill/>
            </p:spPr>
            <p:txBody>
              <a:bodyPr wrap="square" anchor="t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Also,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two mutually exclusive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9FC683F-5A63-4A5F-A8AC-BE07500555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722420"/>
                <a:ext cx="7278849" cy="523220"/>
              </a:xfrm>
              <a:prstGeom prst="rect">
                <a:avLst/>
              </a:prstGeom>
              <a:blipFill>
                <a:blip r:embed="rId3"/>
                <a:stretch>
                  <a:fillRect l="-1759" t="-12941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9143807-461E-47F7-8A16-0B7F73CD2A37}"/>
                  </a:ext>
                </a:extLst>
              </p:cNvPr>
              <p:cNvSpPr txBox="1"/>
              <p:nvPr/>
            </p:nvSpPr>
            <p:spPr>
              <a:xfrm>
                <a:off x="8429556" y="272241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9143807-461E-47F7-8A16-0B7F73CD2A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29556" y="2722419"/>
                <a:ext cx="53412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81EC877-6698-42F9-8DA9-E2C048B1592B}"/>
                  </a:ext>
                </a:extLst>
              </p:cNvPr>
              <p:cNvSpPr txBox="1"/>
              <p:nvPr/>
            </p:nvSpPr>
            <p:spPr>
              <a:xfrm>
                <a:off x="8963683" y="2722419"/>
                <a:ext cx="10582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81EC877-6698-42F9-8DA9-E2C048B159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63683" y="2722419"/>
                <a:ext cx="10582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B50AA5A-AE75-4F3C-B3C8-77698F7751DC}"/>
                  </a:ext>
                </a:extLst>
              </p:cNvPr>
              <p:cNvSpPr txBox="1"/>
              <p:nvPr/>
            </p:nvSpPr>
            <p:spPr>
              <a:xfrm>
                <a:off x="9936170" y="2722419"/>
                <a:ext cx="78536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B50AA5A-AE75-4F3C-B3C8-77698F775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6170" y="2722419"/>
                <a:ext cx="78536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987D36-B8B6-46DF-8FAE-E8C9727013A5}"/>
                  </a:ext>
                </a:extLst>
              </p:cNvPr>
              <p:cNvSpPr txBox="1"/>
              <p:nvPr/>
            </p:nvSpPr>
            <p:spPr>
              <a:xfrm>
                <a:off x="3403186" y="2199199"/>
                <a:ext cx="208321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=0.30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987D36-B8B6-46DF-8FAE-E8C9727013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3186" y="2199199"/>
                <a:ext cx="208321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FA1E75C-709F-4A78-92CC-C1F39AD3F658}"/>
                  </a:ext>
                </a:extLst>
              </p:cNvPr>
              <p:cNvSpPr txBox="1"/>
              <p:nvPr/>
            </p:nvSpPr>
            <p:spPr>
              <a:xfrm>
                <a:off x="5747355" y="2199199"/>
                <a:ext cx="208321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=0.45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FA1E75C-709F-4A78-92CC-C1F39AD3F6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7355" y="2199199"/>
                <a:ext cx="208321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C8C41ABA-0F29-431D-9106-11200C5A28FD}"/>
              </a:ext>
            </a:extLst>
          </p:cNvPr>
          <p:cNvSpPr txBox="1"/>
          <p:nvPr/>
        </p:nvSpPr>
        <p:spPr>
          <a:xfrm>
            <a:off x="1594218" y="3435034"/>
            <a:ext cx="93126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8E84EB0-FB6D-4DEA-BA08-544DEC26DE8A}"/>
                  </a:ext>
                </a:extLst>
              </p:cNvPr>
              <p:cNvSpPr txBox="1"/>
              <p:nvPr/>
            </p:nvSpPr>
            <p:spPr>
              <a:xfrm>
                <a:off x="2525486" y="3429000"/>
                <a:ext cx="10582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A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8E84EB0-FB6D-4DEA-BA08-544DEC26DE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486" y="3429000"/>
                <a:ext cx="105821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BD507FE-FB21-427D-9D1C-3FCDB600155C}"/>
                  </a:ext>
                </a:extLst>
              </p:cNvPr>
              <p:cNvSpPr txBox="1"/>
              <p:nvPr/>
            </p:nvSpPr>
            <p:spPr>
              <a:xfrm>
                <a:off x="3456754" y="3429000"/>
                <a:ext cx="19512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BD507FE-FB21-427D-9D1C-3FCDB60015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3429000"/>
                <a:ext cx="195126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1246CC-296A-49C1-95DC-47141909894E}"/>
                  </a:ext>
                </a:extLst>
              </p:cNvPr>
              <p:cNvSpPr txBox="1"/>
              <p:nvPr/>
            </p:nvSpPr>
            <p:spPr>
              <a:xfrm>
                <a:off x="3456754" y="3965747"/>
                <a:ext cx="19512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1246CC-296A-49C1-95DC-4714190989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3965747"/>
                <a:ext cx="195126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7CE035-44E3-4349-9A1A-6CB105224DA9}"/>
                  </a:ext>
                </a:extLst>
              </p:cNvPr>
              <p:cNvSpPr txBox="1"/>
              <p:nvPr/>
            </p:nvSpPr>
            <p:spPr>
              <a:xfrm>
                <a:off x="3456754" y="4502494"/>
                <a:ext cx="12207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7CE035-44E3-4349-9A1A-6CB105224D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4502494"/>
                <a:ext cx="122079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B6252998-403B-4923-BA73-742B94FB330C}"/>
              </a:ext>
            </a:extLst>
          </p:cNvPr>
          <p:cNvCxnSpPr>
            <a:cxnSpLocks/>
          </p:cNvCxnSpPr>
          <p:nvPr/>
        </p:nvCxnSpPr>
        <p:spPr>
          <a:xfrm>
            <a:off x="5571854" y="3429000"/>
            <a:ext cx="0" cy="3116943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E07B08F-46A1-4B49-8D53-9397F595398B}"/>
              </a:ext>
            </a:extLst>
          </p:cNvPr>
          <p:cNvSpPr/>
          <p:nvPr/>
        </p:nvSpPr>
        <p:spPr>
          <a:xfrm>
            <a:off x="3456754" y="4488316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B6B2C48-BD7B-4720-A736-1A86E09F7EC8}"/>
                  </a:ext>
                </a:extLst>
              </p:cNvPr>
              <p:cNvSpPr txBox="1"/>
              <p:nvPr/>
            </p:nvSpPr>
            <p:spPr>
              <a:xfrm>
                <a:off x="2525486" y="5719149"/>
                <a:ext cx="15913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  <m: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B6B2C48-BD7B-4720-A736-1A86E09F7E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486" y="5719149"/>
                <a:ext cx="15913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FDC1580-5C67-47C7-8A12-FE795E39A03C}"/>
                  </a:ext>
                </a:extLst>
              </p:cNvPr>
              <p:cNvSpPr txBox="1"/>
              <p:nvPr/>
            </p:nvSpPr>
            <p:spPr>
              <a:xfrm>
                <a:off x="3980542" y="5719149"/>
                <a:ext cx="69700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FDC1580-5C67-47C7-8A12-FE795E39A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0542" y="5719149"/>
                <a:ext cx="69700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878A94A-2BA6-4146-A456-183EBBDBAFB4}"/>
              </a:ext>
            </a:extLst>
          </p:cNvPr>
          <p:cNvSpPr/>
          <p:nvPr/>
        </p:nvSpPr>
        <p:spPr>
          <a:xfrm>
            <a:off x="8948449" y="2735946"/>
            <a:ext cx="1773089" cy="523220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5D57236-C392-40DF-871B-923FBA5375A8}"/>
                  </a:ext>
                </a:extLst>
              </p:cNvPr>
              <p:cNvSpPr txBox="1"/>
              <p:nvPr/>
            </p:nvSpPr>
            <p:spPr>
              <a:xfrm>
                <a:off x="5833578" y="3429000"/>
                <a:ext cx="159297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  <m: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5D57236-C392-40DF-871B-923FBA5375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3578" y="3429000"/>
                <a:ext cx="159297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CAA6D1C-79DB-4CEA-A74E-A23591D4AADC}"/>
                  </a:ext>
                </a:extLst>
              </p:cNvPr>
              <p:cNvSpPr txBox="1"/>
              <p:nvPr/>
            </p:nvSpPr>
            <p:spPr>
              <a:xfrm>
                <a:off x="7469131" y="3429000"/>
                <a:ext cx="41789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CAA6D1C-79DB-4CEA-A74E-A23591D4AA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1" y="3429000"/>
                <a:ext cx="417894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084A8-5BBB-4445-8F32-755E927323AB}"/>
                  </a:ext>
                </a:extLst>
              </p:cNvPr>
              <p:cNvSpPr txBox="1"/>
              <p:nvPr/>
            </p:nvSpPr>
            <p:spPr>
              <a:xfrm>
                <a:off x="7469131" y="3982127"/>
                <a:ext cx="303531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0.45−0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084A8-5BBB-4445-8F32-755E927323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1" y="3982127"/>
                <a:ext cx="303531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3326494-4502-4FF2-B7CA-CFBEFA1CBD7A}"/>
                  </a:ext>
                </a:extLst>
              </p:cNvPr>
              <p:cNvSpPr txBox="1"/>
              <p:nvPr/>
            </p:nvSpPr>
            <p:spPr>
              <a:xfrm>
                <a:off x="7469130" y="4535254"/>
                <a:ext cx="1340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3326494-4502-4FF2-B7CA-CFBEFA1CB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0" y="4535254"/>
                <a:ext cx="134094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B6102DD0-14E1-413F-AD7C-642092BCF2CC}"/>
              </a:ext>
            </a:extLst>
          </p:cNvPr>
          <p:cNvSpPr/>
          <p:nvPr/>
        </p:nvSpPr>
        <p:spPr>
          <a:xfrm>
            <a:off x="2525486" y="5703751"/>
            <a:ext cx="2152062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D5553A6-7262-4D52-AA85-7C1E50DD1888}"/>
                  </a:ext>
                </a:extLst>
              </p:cNvPr>
              <p:cNvSpPr txBox="1"/>
              <p:nvPr/>
            </p:nvSpPr>
            <p:spPr>
              <a:xfrm>
                <a:off x="5735691" y="5118288"/>
                <a:ext cx="17334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A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  <m: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B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D5553A6-7262-4D52-AA85-7C1E50DD18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5691" y="5118288"/>
                <a:ext cx="17334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B05972C-BBEF-445F-BD3F-EB8D882C2567}"/>
                  </a:ext>
                </a:extLst>
              </p:cNvPr>
              <p:cNvSpPr txBox="1"/>
              <p:nvPr/>
            </p:nvSpPr>
            <p:spPr>
              <a:xfrm>
                <a:off x="7471336" y="5118288"/>
                <a:ext cx="25276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B05972C-BBEF-445F-BD3F-EB8D882C25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336" y="5118288"/>
                <a:ext cx="252761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94A66F5-7889-42FD-86FA-898E5DA15093}"/>
              </a:ext>
            </a:extLst>
          </p:cNvPr>
          <p:cNvSpPr/>
          <p:nvPr/>
        </p:nvSpPr>
        <p:spPr>
          <a:xfrm>
            <a:off x="7489840" y="4539885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E306EB8-7655-4E27-BE50-01C2EA2CBBA3}"/>
                  </a:ext>
                </a:extLst>
              </p:cNvPr>
              <p:cNvSpPr txBox="1"/>
              <p:nvPr/>
            </p:nvSpPr>
            <p:spPr>
              <a:xfrm>
                <a:off x="7471336" y="5598466"/>
                <a:ext cx="18920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E306EB8-7655-4E27-BE50-01C2EA2CBB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336" y="5598466"/>
                <a:ext cx="189205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6CD2C90-F558-492B-A08A-550D15F71BAD}"/>
                  </a:ext>
                </a:extLst>
              </p:cNvPr>
              <p:cNvSpPr txBox="1"/>
              <p:nvPr/>
            </p:nvSpPr>
            <p:spPr>
              <a:xfrm>
                <a:off x="7469130" y="6078644"/>
                <a:ext cx="12660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0.25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6CD2C90-F558-492B-A08A-550D15F71B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0" y="6078644"/>
                <a:ext cx="1266012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0815A49A-E0EA-474B-A503-62DCE91D0519}"/>
              </a:ext>
            </a:extLst>
          </p:cNvPr>
          <p:cNvSpPr/>
          <p:nvPr/>
        </p:nvSpPr>
        <p:spPr>
          <a:xfrm>
            <a:off x="7489840" y="6065788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7075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 animBg="1"/>
      <p:bldP spid="32" grpId="0" animBg="1"/>
      <p:bldP spid="15" grpId="0" animBg="1"/>
      <p:bldP spid="16" grpId="0" animBg="1"/>
      <p:bldP spid="17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8" grpId="0" animBg="1"/>
      <p:bldP spid="3" grpId="0" animBg="1"/>
      <p:bldP spid="31" grpId="0" animBg="1"/>
      <p:bldP spid="35" grpId="0" animBg="1"/>
      <p:bldP spid="9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878B2C50-1D6B-FF4A-88CD-4DCE1362F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ECBD00AE-4A2E-5C9F-8B53-E548DAAEB2A5}"/>
              </a:ext>
            </a:extLst>
          </p:cNvPr>
          <p:cNvGrpSpPr/>
          <p:nvPr/>
        </p:nvGrpSpPr>
        <p:grpSpPr>
          <a:xfrm>
            <a:off x="8467811" y="3429000"/>
            <a:ext cx="3372418" cy="2380688"/>
            <a:chOff x="8467811" y="3429000"/>
            <a:chExt cx="3372418" cy="2380688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C4467B-DD83-2E61-60FB-9CF703B449B2}"/>
                </a:ext>
              </a:extLst>
            </p:cNvPr>
            <p:cNvSpPr/>
            <p:nvPr/>
          </p:nvSpPr>
          <p:spPr>
            <a:xfrm>
              <a:off x="8714698" y="3810631"/>
              <a:ext cx="1429021" cy="1763204"/>
            </a:xfrm>
            <a:custGeom>
              <a:avLst/>
              <a:gdLst>
                <a:gd name="csX0" fmla="*/ 891000 w 1429021"/>
                <a:gd name="csY0" fmla="*/ 0 h 1763204"/>
                <a:gd name="csX1" fmla="*/ 1389167 w 1429021"/>
                <a:gd name="csY1" fmla="*/ 150564 h 1763204"/>
                <a:gd name="csX2" fmla="*/ 1429021 w 1429021"/>
                <a:gd name="csY2" fmla="*/ 183100 h 1763204"/>
                <a:gd name="csX3" fmla="*/ 1325499 w 1429021"/>
                <a:gd name="csY3" fmla="*/ 267613 h 1763204"/>
                <a:gd name="csX4" fmla="*/ 1064531 w 1429021"/>
                <a:gd name="csY4" fmla="*/ 891000 h 1763204"/>
                <a:gd name="csX5" fmla="*/ 1325499 w 1429021"/>
                <a:gd name="csY5" fmla="*/ 1514387 h 1763204"/>
                <a:gd name="csX6" fmla="*/ 1417510 w 1429021"/>
                <a:gd name="csY6" fmla="*/ 1589502 h 1763204"/>
                <a:gd name="csX7" fmla="*/ 1389167 w 1429021"/>
                <a:gd name="csY7" fmla="*/ 1612640 h 1763204"/>
                <a:gd name="csX8" fmla="*/ 891000 w 1429021"/>
                <a:gd name="csY8" fmla="*/ 1763204 h 1763204"/>
                <a:gd name="csX9" fmla="*/ 0 w 1429021"/>
                <a:gd name="csY9" fmla="*/ 881602 h 1763204"/>
                <a:gd name="csX10" fmla="*/ 891000 w 1429021"/>
                <a:gd name="csY10" fmla="*/ 0 h 1763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29021" h="1763204">
                  <a:moveTo>
                    <a:pt x="891000" y="0"/>
                  </a:moveTo>
                  <a:cubicBezTo>
                    <a:pt x="1075532" y="0"/>
                    <a:pt x="1246962" y="55506"/>
                    <a:pt x="1389167" y="150564"/>
                  </a:cubicBezTo>
                  <a:lnTo>
                    <a:pt x="1429021" y="183100"/>
                  </a:lnTo>
                  <a:lnTo>
                    <a:pt x="1325499" y="267613"/>
                  </a:lnTo>
                  <a:cubicBezTo>
                    <a:pt x="1164259" y="427152"/>
                    <a:pt x="1064531" y="647553"/>
                    <a:pt x="1064531" y="891000"/>
                  </a:cubicBezTo>
                  <a:cubicBezTo>
                    <a:pt x="1064531" y="1134448"/>
                    <a:pt x="1164259" y="1354848"/>
                    <a:pt x="1325499" y="1514387"/>
                  </a:cubicBezTo>
                  <a:lnTo>
                    <a:pt x="1417510" y="1589502"/>
                  </a:lnTo>
                  <a:lnTo>
                    <a:pt x="1389167" y="1612640"/>
                  </a:lnTo>
                  <a:cubicBezTo>
                    <a:pt x="1246962" y="1707699"/>
                    <a:pt x="1075532" y="1763204"/>
                    <a:pt x="891000" y="1763204"/>
                  </a:cubicBezTo>
                  <a:cubicBezTo>
                    <a:pt x="398914" y="1763204"/>
                    <a:pt x="0" y="1368497"/>
                    <a:pt x="0" y="881602"/>
                  </a:cubicBezTo>
                  <a:cubicBezTo>
                    <a:pt x="0" y="394707"/>
                    <a:pt x="398914" y="0"/>
                    <a:pt x="891000" y="0"/>
                  </a:cubicBezTo>
                  <a:close/>
                </a:path>
              </a:pathLst>
            </a:custGeom>
            <a:pattFill prst="trellis">
              <a:fgClr>
                <a:schemeClr val="tx1">
                  <a:lumMod val="50000"/>
                  <a:lumOff val="50000"/>
                </a:schemeClr>
              </a:fgClr>
              <a:bgClr>
                <a:schemeClr val="bg1"/>
              </a:bgClr>
            </a:pattFill>
            <a:ln w="381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IN" dirty="0">
                <a:solidFill>
                  <a:prstClr val="white"/>
                </a:solidFill>
                <a:latin typeface="Roboto Condensed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D439DFA-E02B-7A6C-8EFF-7B4B0A452D6B}"/>
                </a:ext>
              </a:extLst>
            </p:cNvPr>
            <p:cNvSpPr/>
            <p:nvPr/>
          </p:nvSpPr>
          <p:spPr>
            <a:xfrm>
              <a:off x="10132208" y="3820029"/>
              <a:ext cx="1429021" cy="1763204"/>
            </a:xfrm>
            <a:custGeom>
              <a:avLst/>
              <a:gdLst>
                <a:gd name="csX0" fmla="*/ 538021 w 1429021"/>
                <a:gd name="csY0" fmla="*/ 0 h 1763204"/>
                <a:gd name="csX1" fmla="*/ 1429021 w 1429021"/>
                <a:gd name="csY1" fmla="*/ 881602 h 1763204"/>
                <a:gd name="csX2" fmla="*/ 538021 w 1429021"/>
                <a:gd name="csY2" fmla="*/ 1763204 h 1763204"/>
                <a:gd name="csX3" fmla="*/ 39854 w 1429021"/>
                <a:gd name="csY3" fmla="*/ 1612640 h 1763204"/>
                <a:gd name="csX4" fmla="*/ 0 w 1429021"/>
                <a:gd name="csY4" fmla="*/ 1580104 h 1763204"/>
                <a:gd name="csX5" fmla="*/ 103522 w 1429021"/>
                <a:gd name="csY5" fmla="*/ 1495591 h 1763204"/>
                <a:gd name="csX6" fmla="*/ 364490 w 1429021"/>
                <a:gd name="csY6" fmla="*/ 872204 h 1763204"/>
                <a:gd name="csX7" fmla="*/ 103522 w 1429021"/>
                <a:gd name="csY7" fmla="*/ 248817 h 1763204"/>
                <a:gd name="csX8" fmla="*/ 11511 w 1429021"/>
                <a:gd name="csY8" fmla="*/ 173702 h 1763204"/>
                <a:gd name="csX9" fmla="*/ 39854 w 1429021"/>
                <a:gd name="csY9" fmla="*/ 150564 h 1763204"/>
                <a:gd name="csX10" fmla="*/ 538021 w 1429021"/>
                <a:gd name="csY10" fmla="*/ 0 h 1763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29021" h="1763204">
                  <a:moveTo>
                    <a:pt x="538021" y="0"/>
                  </a:moveTo>
                  <a:cubicBezTo>
                    <a:pt x="1030107" y="0"/>
                    <a:pt x="1429021" y="394707"/>
                    <a:pt x="1429021" y="881602"/>
                  </a:cubicBezTo>
                  <a:cubicBezTo>
                    <a:pt x="1429021" y="1368497"/>
                    <a:pt x="1030107" y="1763204"/>
                    <a:pt x="538021" y="1763204"/>
                  </a:cubicBezTo>
                  <a:cubicBezTo>
                    <a:pt x="353489" y="1763204"/>
                    <a:pt x="182059" y="1707699"/>
                    <a:pt x="39854" y="1612640"/>
                  </a:cubicBezTo>
                  <a:lnTo>
                    <a:pt x="0" y="1580104"/>
                  </a:lnTo>
                  <a:lnTo>
                    <a:pt x="103522" y="1495591"/>
                  </a:lnTo>
                  <a:cubicBezTo>
                    <a:pt x="264761" y="1336052"/>
                    <a:pt x="364490" y="1115652"/>
                    <a:pt x="364490" y="872204"/>
                  </a:cubicBezTo>
                  <a:cubicBezTo>
                    <a:pt x="364490" y="628757"/>
                    <a:pt x="264761" y="408356"/>
                    <a:pt x="103522" y="248817"/>
                  </a:cubicBezTo>
                  <a:lnTo>
                    <a:pt x="11511" y="173702"/>
                  </a:lnTo>
                  <a:lnTo>
                    <a:pt x="39854" y="150564"/>
                  </a:lnTo>
                  <a:cubicBezTo>
                    <a:pt x="182059" y="55506"/>
                    <a:pt x="353489" y="0"/>
                    <a:pt x="538021" y="0"/>
                  </a:cubicBezTo>
                  <a:close/>
                </a:path>
              </a:pathLst>
            </a:custGeom>
            <a:pattFill prst="trellis">
              <a:fgClr>
                <a:schemeClr val="tx1">
                  <a:lumMod val="50000"/>
                  <a:lumOff val="50000"/>
                </a:schemeClr>
              </a:fgClr>
              <a:bgClr>
                <a:schemeClr val="bg1"/>
              </a:bgClr>
            </a:pattFill>
            <a:ln w="381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IN">
                <a:solidFill>
                  <a:prstClr val="white"/>
                </a:solidFill>
                <a:latin typeface="Roboto Condensed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D471A30-F899-FF7D-1BF6-FA5B6AA78BD5}"/>
                </a:ext>
              </a:extLst>
            </p:cNvPr>
            <p:cNvSpPr/>
            <p:nvPr/>
          </p:nvSpPr>
          <p:spPr>
            <a:xfrm>
              <a:off x="8467811" y="3429000"/>
              <a:ext cx="3372418" cy="2380688"/>
            </a:xfrm>
            <a:custGeom>
              <a:avLst/>
              <a:gdLst>
                <a:gd name="csX0" fmla="*/ 0 w 3372418"/>
                <a:gd name="csY0" fmla="*/ 0 h 2380689"/>
                <a:gd name="csX1" fmla="*/ 3372418 w 3372418"/>
                <a:gd name="csY1" fmla="*/ 0 h 2380689"/>
                <a:gd name="csX2" fmla="*/ 3372418 w 3372418"/>
                <a:gd name="csY2" fmla="*/ 2380689 h 2380689"/>
                <a:gd name="csX3" fmla="*/ 0 w 3372418"/>
                <a:gd name="csY3" fmla="*/ 2380689 h 2380689"/>
                <a:gd name="csX4" fmla="*/ 0 w 3372418"/>
                <a:gd name="csY4" fmla="*/ 0 h 2380689"/>
                <a:gd name="csX5" fmla="*/ 1137886 w 3372418"/>
                <a:gd name="csY5" fmla="*/ 393128 h 2380689"/>
                <a:gd name="csX6" fmla="*/ 246886 w 3372418"/>
                <a:gd name="csY6" fmla="*/ 1274730 h 2380689"/>
                <a:gd name="csX7" fmla="*/ 1137886 w 3372418"/>
                <a:gd name="csY7" fmla="*/ 2156332 h 2380689"/>
                <a:gd name="csX8" fmla="*/ 1636053 w 3372418"/>
                <a:gd name="csY8" fmla="*/ 2005768 h 2380689"/>
                <a:gd name="csX9" fmla="*/ 1664396 w 3372418"/>
                <a:gd name="csY9" fmla="*/ 1982630 h 2380689"/>
                <a:gd name="csX10" fmla="*/ 1704250 w 3372418"/>
                <a:gd name="csY10" fmla="*/ 2015166 h 2380689"/>
                <a:gd name="csX11" fmla="*/ 2202417 w 3372418"/>
                <a:gd name="csY11" fmla="*/ 2165730 h 2380689"/>
                <a:gd name="csX12" fmla="*/ 3093417 w 3372418"/>
                <a:gd name="csY12" fmla="*/ 1284128 h 2380689"/>
                <a:gd name="csX13" fmla="*/ 2202417 w 3372418"/>
                <a:gd name="csY13" fmla="*/ 402526 h 2380689"/>
                <a:gd name="csX14" fmla="*/ 1704250 w 3372418"/>
                <a:gd name="csY14" fmla="*/ 553090 h 2380689"/>
                <a:gd name="csX15" fmla="*/ 1675907 w 3372418"/>
                <a:gd name="csY15" fmla="*/ 576228 h 2380689"/>
                <a:gd name="csX16" fmla="*/ 1636053 w 3372418"/>
                <a:gd name="csY16" fmla="*/ 543692 h 2380689"/>
                <a:gd name="csX17" fmla="*/ 1137886 w 3372418"/>
                <a:gd name="csY17" fmla="*/ 393128 h 238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72418" h="2380689">
                  <a:moveTo>
                    <a:pt x="0" y="0"/>
                  </a:moveTo>
                  <a:lnTo>
                    <a:pt x="3372418" y="0"/>
                  </a:lnTo>
                  <a:lnTo>
                    <a:pt x="3372418" y="2380689"/>
                  </a:lnTo>
                  <a:lnTo>
                    <a:pt x="0" y="2380689"/>
                  </a:lnTo>
                  <a:lnTo>
                    <a:pt x="0" y="0"/>
                  </a:lnTo>
                  <a:close/>
                  <a:moveTo>
                    <a:pt x="1137886" y="393128"/>
                  </a:moveTo>
                  <a:cubicBezTo>
                    <a:pt x="645800" y="393128"/>
                    <a:pt x="246886" y="787835"/>
                    <a:pt x="246886" y="1274730"/>
                  </a:cubicBezTo>
                  <a:cubicBezTo>
                    <a:pt x="246886" y="1761625"/>
                    <a:pt x="645800" y="2156332"/>
                    <a:pt x="1137886" y="2156332"/>
                  </a:cubicBezTo>
                  <a:cubicBezTo>
                    <a:pt x="1322418" y="2156332"/>
                    <a:pt x="1493848" y="2100827"/>
                    <a:pt x="1636053" y="2005768"/>
                  </a:cubicBezTo>
                  <a:lnTo>
                    <a:pt x="1664396" y="1982630"/>
                  </a:lnTo>
                  <a:lnTo>
                    <a:pt x="1704250" y="2015166"/>
                  </a:lnTo>
                  <a:cubicBezTo>
                    <a:pt x="1846455" y="2110225"/>
                    <a:pt x="2017885" y="2165730"/>
                    <a:pt x="2202417" y="2165730"/>
                  </a:cubicBezTo>
                  <a:cubicBezTo>
                    <a:pt x="2694503" y="2165730"/>
                    <a:pt x="3093417" y="1771023"/>
                    <a:pt x="3093417" y="1284128"/>
                  </a:cubicBezTo>
                  <a:cubicBezTo>
                    <a:pt x="3093417" y="797233"/>
                    <a:pt x="2694503" y="402526"/>
                    <a:pt x="2202417" y="402526"/>
                  </a:cubicBezTo>
                  <a:cubicBezTo>
                    <a:pt x="2017885" y="402526"/>
                    <a:pt x="1846455" y="458032"/>
                    <a:pt x="1704250" y="553090"/>
                  </a:cubicBezTo>
                  <a:lnTo>
                    <a:pt x="1675907" y="576228"/>
                  </a:lnTo>
                  <a:lnTo>
                    <a:pt x="1636053" y="543692"/>
                  </a:lnTo>
                  <a:cubicBezTo>
                    <a:pt x="1493848" y="448634"/>
                    <a:pt x="1322418" y="393128"/>
                    <a:pt x="1137886" y="393128"/>
                  </a:cubicBezTo>
                  <a:close/>
                </a:path>
              </a:pathLst>
            </a:custGeom>
            <a:pattFill prst="trellis">
              <a:fgClr>
                <a:schemeClr val="tx1">
                  <a:lumMod val="50000"/>
                  <a:lumOff val="50000"/>
                </a:schemeClr>
              </a:fgClr>
              <a:bgClr>
                <a:schemeClr val="bg1"/>
              </a:bgClr>
            </a:pattFill>
            <a:ln w="381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IN">
                <a:solidFill>
                  <a:prstClr val="white"/>
                </a:solidFill>
                <a:latin typeface="Roboto Condensed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AB1B1B5-020C-0018-C7C8-50E32ED044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14DA4D3-09A8-83E7-9196-F942704F972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29997"/>
                <a:ext cx="11929641" cy="4405547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Probability that both events do not occur together</a:t>
                </a:r>
              </a:p>
              <a:p>
                <a:pPr lvl="1"/>
                <a:r>
                  <a:rPr lang="en-US" dirty="0"/>
                  <a:t>This is the probability that at least one of the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does not occur.</a:t>
                </a:r>
                <a:endParaRPr lang="en-IN" dirty="0"/>
              </a:p>
              <a:p>
                <a:pPr lvl="1"/>
                <a:r>
                  <a:rPr lang="en-IN" dirty="0"/>
                  <a:t>We know that,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1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1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</m:e>
                      <m:sup>
                        <m:r>
                          <a:rPr lang="en-US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IN" dirty="0">
                    <a:solidFill>
                      <a:srgbClr val="FF0000"/>
                    </a:solidFill>
                  </a:rPr>
                  <a:t>                                </a:t>
                </a:r>
                <a:r>
                  <a:rPr lang="en-IN" dirty="0"/>
                  <a:t>[ De’Morgan’s Law ] </a:t>
                </a:r>
                <a:endParaRPr lang="en-IN" dirty="0">
                  <a:solidFill>
                    <a:srgbClr val="FF0000"/>
                  </a:solidFill>
                </a:endParaRP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b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b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 b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 dirty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 dirty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 dirty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 dirty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 dirty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</m:d>
                      </m:e>
                      <m:sup>
                        <m:r>
                          <a:rPr lang="en-US" b="1" i="0" dirty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endParaRPr lang="en-IN" b="1" dirty="0">
                  <a:latin typeface="Cambria Math" panose="02040503050406030204" pitchFamily="18" charset="0"/>
                </a:endParaRPr>
              </a:p>
              <a:p>
                <a:pPr marL="2236788" lvl="1" indent="-1965325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224790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b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b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US" b="1" i="1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1"/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d>
                      <m:dPr>
                        <m:ctrlPr>
                          <a:rPr lang="en-US" b="1" i="1" dirty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dirty="0" smtClean="0">
                            <a:solidFill>
                              <a:srgbClr val="7030A0"/>
                            </a:solidFill>
                          </a:rPr>
                          <m:t>N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ot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all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occur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together</m:t>
                        </m:r>
                      </m:e>
                    </m:d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d>
                      <m:dPr>
                        <m:ctrlPr>
                          <a:rPr lang="en-US" b="1" i="1" dirty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all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occur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b="0" i="0" dirty="0">
                            <a:solidFill>
                              <a:srgbClr val="7030A0"/>
                            </a:solidFill>
                          </a:rPr>
                          <m:t>together</m:t>
                        </m:r>
                      </m:e>
                    </m:d>
                  </m:oMath>
                </a14:m>
                <a:endParaRPr lang="en-US" b="1" i="1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14DA4D3-09A8-83E7-9196-F942704F972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29997"/>
                <a:ext cx="11929641" cy="4405547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F8EC61EF-87EC-0568-6B81-4D56ACD05C1E}"/>
              </a:ext>
            </a:extLst>
          </p:cNvPr>
          <p:cNvGrpSpPr/>
          <p:nvPr/>
        </p:nvGrpSpPr>
        <p:grpSpPr>
          <a:xfrm>
            <a:off x="8467812" y="3259841"/>
            <a:ext cx="3826472" cy="2549848"/>
            <a:chOff x="8467812" y="3259841"/>
            <a:chExt cx="3826472" cy="254984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259A997-11D5-0613-0C53-818FC6AA58A4}"/>
                </a:ext>
              </a:extLst>
            </p:cNvPr>
            <p:cNvSpPr/>
            <p:nvPr/>
          </p:nvSpPr>
          <p:spPr>
            <a:xfrm>
              <a:off x="8467813" y="3429000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09F5B612-4412-33A2-0331-9B5F06D63ED8}"/>
                </a:ext>
              </a:extLst>
            </p:cNvPr>
            <p:cNvSpPr/>
            <p:nvPr/>
          </p:nvSpPr>
          <p:spPr>
            <a:xfrm>
              <a:off x="8714697" y="3791835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E48FE14D-5EE9-9392-4F06-049595CF6D55}"/>
                </a:ext>
              </a:extLst>
            </p:cNvPr>
            <p:cNvSpPr/>
            <p:nvPr/>
          </p:nvSpPr>
          <p:spPr>
            <a:xfrm>
              <a:off x="9779228" y="3810631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7D9FD848-FBD5-0CE9-ED81-24650E062A53}"/>
                    </a:ext>
                  </a:extLst>
                </p:cNvPr>
                <p:cNvSpPr txBox="1"/>
                <p:nvPr/>
              </p:nvSpPr>
              <p:spPr>
                <a:xfrm>
                  <a:off x="8467812" y="360607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7D9FD848-FBD5-0CE9-ED81-24650E062A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7812" y="3606075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F0E2007-EA5B-F36F-809B-82DB3774E5B3}"/>
                    </a:ext>
                  </a:extLst>
                </p:cNvPr>
                <p:cNvSpPr txBox="1"/>
                <p:nvPr/>
              </p:nvSpPr>
              <p:spPr>
                <a:xfrm>
                  <a:off x="11174649" y="360607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F0E2007-EA5B-F36F-809B-82DB3774E5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174649" y="360607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FDABFF6D-D798-A111-2E45-A6FC06750018}"/>
                    </a:ext>
                  </a:extLst>
                </p:cNvPr>
                <p:cNvSpPr txBox="1"/>
                <p:nvPr/>
              </p:nvSpPr>
              <p:spPr>
                <a:xfrm>
                  <a:off x="11723419" y="3259841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FDABFF6D-D798-A111-2E45-A6FC067500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723419" y="3259841"/>
                  <a:ext cx="57086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146530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8B0E26-221F-A643-20C0-F05B5BE0F1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90DC961-CFDB-FBC9-D4FD-123962B7CCD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Meaning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b="1" i="0" smtClean="0">
                        <a:latin typeface="Cambria Math" panose="02040503050406030204" pitchFamily="18" charset="0"/>
                      </a:rPr>
                      <m:t>∪</m:t>
                    </m:r>
                    <m:r>
                      <a:rPr lang="en-IN" b="1" i="0" smtClean="0"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b="1" i="0" smtClean="0">
                        <a:latin typeface="Cambria Math" panose="02040503050406030204" pitchFamily="18" charset="0"/>
                      </a:rPr>
                      <m:t>′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90DC961-CFDB-FBC9-D4FD-123962B7CCD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9402" b="-18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7B30F39-9BFC-A935-67FF-6EB45EFC1C8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4204667"/>
              </a:xfrm>
            </p:spPr>
            <p:txBody>
              <a:bodyPr/>
              <a:lstStyle/>
              <a:p>
                <a:r>
                  <a:rPr lang="en-US" dirty="0"/>
                  <a:t>It tells us that at least one of the following three situations happens: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does not happen,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lvl="1"/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does not happen,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lvl="1"/>
                <a:r>
                  <a:rPr lang="en-US" dirty="0"/>
                  <a:t>Neither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nor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occurs.</a:t>
                </a:r>
              </a:p>
              <a:p>
                <a:pPr lvl="2"/>
                <a:r>
                  <a:rPr lang="en-US" dirty="0"/>
                  <a:t>It does not mean “nothing happens”</a:t>
                </a:r>
              </a:p>
              <a:p>
                <a:pPr lvl="2"/>
                <a:r>
                  <a:rPr lang="en-US" dirty="0"/>
                  <a:t>It means “At least one event is absent”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7B30F39-9BFC-A935-67FF-6EB45EFC1C8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4204667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71580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93633EF-77E9-7577-7DAD-F6A9F0398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531FD9-9A36-72BB-3E2E-E572296FC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6023CB3-49FC-2334-823A-01AC4E5361A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709053"/>
              </a:xfrm>
            </p:spPr>
            <p:txBody>
              <a:bodyPr/>
              <a:lstStyle/>
              <a:p>
                <a:r>
                  <a:rPr lang="en-US" b="1" dirty="0"/>
                  <a:t>None of the events occur</a:t>
                </a:r>
              </a:p>
              <a:p>
                <a:pPr lvl="1"/>
                <a:r>
                  <a:rPr lang="en-US" dirty="0"/>
                  <a:t>Calculating "nothing happening" directly can sometimes be difficult. This formula gives you a shortcut:</a:t>
                </a:r>
              </a:p>
              <a:p>
                <a:pPr lvl="1"/>
                <a:r>
                  <a:rPr lang="en-US" dirty="0"/>
                  <a:t>If you know the chance that </a:t>
                </a:r>
                <a:r>
                  <a:rPr lang="en-US" b="1" dirty="0"/>
                  <a:t>something</a:t>
                </a:r>
                <a:r>
                  <a:rPr lang="en-US" dirty="0"/>
                  <a:t> (anything) happened, you can simply subtract that from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 to find the chance that </a:t>
                </a:r>
                <a:r>
                  <a:rPr lang="en-US" b="1" dirty="0"/>
                  <a:t>nothing</a:t>
                </a:r>
                <a:r>
                  <a:rPr lang="en-US" dirty="0"/>
                  <a:t> happened.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IN" b="1" dirty="0"/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i="0" dirty="0"/>
                          <m:t>none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occur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i="0" dirty="0"/>
                          <m:t>at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least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one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occurs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6023CB3-49FC-2334-823A-01AC4E5361A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70905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1689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5C9810E-571E-AA3A-9B28-E00BCBB36C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3257F1-BA3D-483E-A044-5CDC747AF0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504E0F9-6ED2-734D-6E9B-5856AF43586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8"/>
                <a:ext cx="11929641" cy="5436678"/>
              </a:xfrm>
            </p:spPr>
            <p:txBody>
              <a:bodyPr/>
              <a:lstStyle/>
              <a:p>
                <a:r>
                  <a:rPr lang="en-US" b="1" dirty="0"/>
                  <a:t>Events do not occur together (Not all 3 simultaneously):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IN" b="1" dirty="0"/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i="0" dirty="0"/>
                          <m:t>not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all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three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occur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together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i="0" dirty="0"/>
                          <m:t>all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three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occur</m:t>
                        </m:r>
                        <m:r>
                          <m:rPr>
                            <m:nor/>
                          </m:rPr>
                          <a:rPr lang="en-US" i="0" dirty="0"/>
                          <m:t> </m:t>
                        </m:r>
                        <m:r>
                          <m:rPr>
                            <m:nor/>
                          </m:rPr>
                          <a:rPr lang="en-US" i="0" dirty="0"/>
                          <m:t>together</m:t>
                        </m:r>
                      </m:e>
                    </m:d>
                  </m:oMath>
                </a14:m>
                <a:endParaRPr lang="en-IN" dirty="0"/>
              </a:p>
              <a:p>
                <a:pPr lvl="2" algn="l"/>
                <a:r>
                  <a:rPr lang="en-US" dirty="0"/>
                  <a:t>This does </a:t>
                </a:r>
                <a:r>
                  <a:rPr lang="en-US" b="1" dirty="0"/>
                  <a:t>not</a:t>
                </a:r>
                <a:r>
                  <a:rPr lang="en-US" dirty="0"/>
                  <a:t> mean that no event occurs</a:t>
                </a:r>
              </a:p>
              <a:p>
                <a:pPr lvl="2" algn="l"/>
                <a:r>
                  <a:rPr lang="en-US" dirty="0"/>
                  <a:t>This does </a:t>
                </a:r>
                <a:r>
                  <a:rPr lang="en-US" b="1" dirty="0"/>
                  <a:t>not</a:t>
                </a:r>
                <a:r>
                  <a:rPr lang="en-US" dirty="0"/>
                  <a:t> mean all events fail</a:t>
                </a:r>
              </a:p>
              <a:p>
                <a:pPr lvl="2"/>
                <a:r>
                  <a:rPr lang="en-US" dirty="0"/>
                  <a:t>It only means: The situation where A, B and C all happen at the same time is excluded.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504E0F9-6ED2-734D-6E9B-5856AF43586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8"/>
                <a:ext cx="11929641" cy="543667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28768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929645" cy="235182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Aft>
                    <a:spcPts val="100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6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If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drawn from a pack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well-shuffled cards, find the probability of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2351824"/>
              </a:xfrm>
              <a:prstGeom prst="rect">
                <a:avLst/>
              </a:prstGeom>
              <a:blipFill>
                <a:blip r:embed="rId2"/>
                <a:stretch>
                  <a:fillRect l="-1074" t="-5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3742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B0B417A-E574-46DE-BF51-0FC21763CD8F}"/>
                  </a:ext>
                </a:extLst>
              </p:cNvPr>
              <p:cNvSpPr txBox="1"/>
              <p:nvPr/>
            </p:nvSpPr>
            <p:spPr>
              <a:xfrm>
                <a:off x="184516" y="1460447"/>
                <a:ext cx="155538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 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 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B0B417A-E574-46DE-BF51-0FC21763CD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516" y="1460447"/>
                <a:ext cx="1555384" cy="523220"/>
              </a:xfrm>
              <a:prstGeom prst="rect">
                <a:avLst/>
              </a:prstGeom>
              <a:blipFill>
                <a:blip r:embed="rId3"/>
                <a:stretch>
                  <a:fillRect l="-7843" t="-11765" r="-862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BE96D2-7B01-447E-BE6D-1D4BCDC424A2}"/>
                  </a:ext>
                </a:extLst>
              </p:cNvPr>
              <p:cNvSpPr txBox="1"/>
              <p:nvPr/>
            </p:nvSpPr>
            <p:spPr>
              <a:xfrm>
                <a:off x="2601281" y="1460447"/>
                <a:ext cx="425671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 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a king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BE96D2-7B01-447E-BE6D-1D4BCDC424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1281" y="1460447"/>
                <a:ext cx="4256719" cy="523220"/>
              </a:xfrm>
              <a:prstGeom prst="rect">
                <a:avLst/>
              </a:prstGeom>
              <a:blipFill>
                <a:blip r:embed="rId4"/>
                <a:stretch>
                  <a:fillRect l="-300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D4F175-943E-4AAE-A5C7-4632D338ADE8}"/>
                  </a:ext>
                </a:extLst>
              </p:cNvPr>
              <p:cNvSpPr txBox="1"/>
              <p:nvPr/>
            </p:nvSpPr>
            <p:spPr>
              <a:xfrm>
                <a:off x="7210733" y="1460447"/>
                <a:ext cx="453689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 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tens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jacks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D4F175-943E-4AAE-A5C7-4632D338AD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0733" y="1460447"/>
                <a:ext cx="4536892" cy="523220"/>
              </a:xfrm>
              <a:prstGeom prst="rect">
                <a:avLst/>
              </a:prstGeom>
              <a:blipFill>
                <a:blip r:embed="rId5"/>
                <a:stretch>
                  <a:fillRect l="-2823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E42B532-9D5F-4065-905D-3F02539940F2}"/>
                  </a:ext>
                </a:extLst>
              </p:cNvPr>
              <p:cNvSpPr txBox="1"/>
              <p:nvPr/>
            </p:nvSpPr>
            <p:spPr>
              <a:xfrm>
                <a:off x="197395" y="1965197"/>
                <a:ext cx="653559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 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of any one suit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of another</a:t>
                </a: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E42B532-9D5F-4065-905D-3F02539940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395" y="1965197"/>
                <a:ext cx="6535598" cy="523220"/>
              </a:xfrm>
              <a:prstGeom prst="rect">
                <a:avLst/>
              </a:prstGeom>
              <a:blipFill>
                <a:blip r:embed="rId6"/>
                <a:stretch>
                  <a:fillRect l="-1866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BBE37DB2-9DFF-4E19-A6E7-1A9A75C9BF5F}"/>
              </a:ext>
            </a:extLst>
          </p:cNvPr>
          <p:cNvSpPr txBox="1"/>
          <p:nvPr/>
        </p:nvSpPr>
        <p:spPr>
          <a:xfrm>
            <a:off x="204626" y="2434606"/>
            <a:ext cx="525220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(5)  at least one ace is obtained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D65BACF-A52E-411B-91BC-0DA78BD2203F}"/>
                  </a:ext>
                </a:extLst>
              </p:cNvPr>
              <p:cNvSpPr txBox="1"/>
              <p:nvPr/>
            </p:nvSpPr>
            <p:spPr>
              <a:xfrm>
                <a:off x="1594216" y="3376303"/>
                <a:ext cx="97358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choose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from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52−</m:t>
                    </m:r>
                    <m:r>
                      <m:rPr>
                        <m:sty m:val="p"/>
                      </m:rP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card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deck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D65BACF-A52E-411B-91BC-0DA78BD22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376303"/>
                <a:ext cx="9735820" cy="523220"/>
              </a:xfrm>
              <a:prstGeom prst="rect">
                <a:avLst/>
              </a:prstGeom>
              <a:blipFill>
                <a:blip r:embed="rId7"/>
                <a:stretch>
                  <a:fillRect l="-1315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2040850" y="388091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3880911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7A375B0-4EF1-4491-B645-175669ED2C3E}"/>
                  </a:ext>
                </a:extLst>
              </p:cNvPr>
              <p:cNvSpPr txBox="1"/>
              <p:nvPr/>
            </p:nvSpPr>
            <p:spPr>
              <a:xfrm>
                <a:off x="2834234" y="3880911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7A375B0-4EF1-4491-B645-175669ED2C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4234" y="3880911"/>
                <a:ext cx="1249939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4084173" y="3880911"/>
                <a:ext cx="20002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4173" y="3880911"/>
                <a:ext cx="200025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12316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4" grpId="0"/>
      <p:bldP spid="28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(Continue)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47315" y="84323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617135" y="150823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7135" y="1508235"/>
                <a:ext cx="1463040" cy="523220"/>
              </a:xfrm>
              <a:prstGeom prst="rect">
                <a:avLst/>
              </a:prstGeom>
              <a:blipFill>
                <a:blip r:embed="rId2"/>
                <a:stretch>
                  <a:fillRect l="-8333" t="-10465" r="-5417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2964338" y="1508235"/>
                <a:ext cx="31037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are drawn</a:t>
                </a: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4338" y="1508235"/>
                <a:ext cx="3103779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2077126" y="3388703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7126" y="3388703"/>
                <a:ext cx="90057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1630492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492" y="3388703"/>
                <a:ext cx="534127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617135" y="2168108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2234034" y="2191204"/>
                <a:ext cx="4692990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are drawn from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4 cards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4034" y="2191204"/>
                <a:ext cx="4692990" cy="954107"/>
              </a:xfrm>
              <a:prstGeom prst="rect">
                <a:avLst/>
              </a:prstGeom>
              <a:blipFill>
                <a:blip r:embed="rId6"/>
                <a:stretch>
                  <a:fillRect l="-2597" t="-5096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5646230" y="2221117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6516473" y="2191205"/>
                <a:ext cx="5529133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other card from remaining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48 cards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6473" y="2191205"/>
                <a:ext cx="5529133" cy="954107"/>
              </a:xfrm>
              <a:prstGeom prst="rect">
                <a:avLst/>
              </a:prstGeom>
              <a:blipFill>
                <a:blip r:embed="rId7"/>
                <a:stretch>
                  <a:fillRect l="-2315" t="-5096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2870510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0510" y="3388703"/>
                <a:ext cx="5341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3261653" y="3388703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1653" y="3388703"/>
                <a:ext cx="72013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3863590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3590" y="3388703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4265740" y="3388703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740" y="3388703"/>
                <a:ext cx="88045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/>
              <p:nvPr/>
            </p:nvSpPr>
            <p:spPr>
              <a:xfrm>
                <a:off x="2879685" y="400632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685" y="4006320"/>
                <a:ext cx="534127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/>
              <p:nvPr/>
            </p:nvSpPr>
            <p:spPr>
              <a:xfrm>
                <a:off x="3378015" y="4006320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8015" y="4006320"/>
                <a:ext cx="475608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/>
              <p:nvPr/>
            </p:nvSpPr>
            <p:spPr>
              <a:xfrm>
                <a:off x="3763894" y="400632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3894" y="4006320"/>
                <a:ext cx="53412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/>
              <p:nvPr/>
            </p:nvSpPr>
            <p:spPr>
              <a:xfrm>
                <a:off x="4213362" y="4006320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13362" y="4006320"/>
                <a:ext cx="55632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2859695" y="4642155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9695" y="4642155"/>
                <a:ext cx="56664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3332233" y="4642155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2233" y="4642155"/>
                <a:ext cx="59708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2053805" y="567037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3805" y="5670377"/>
                <a:ext cx="90057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1607171" y="567037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171" y="5670377"/>
                <a:ext cx="53412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2879685" y="543726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685" y="5437268"/>
                <a:ext cx="1502185" cy="989438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4267928" y="5437269"/>
                <a:ext cx="2390433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7928" y="5437269"/>
                <a:ext cx="2390433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6270546" y="5450522"/>
                <a:ext cx="171327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54145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0546" y="5450522"/>
                <a:ext cx="1713271" cy="90178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24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8241985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41985" y="1203499"/>
                <a:ext cx="4089581" cy="369332"/>
              </a:xfrm>
              <a:prstGeom prst="rect">
                <a:avLst/>
              </a:prstGeom>
              <a:blipFill rotWithShape="0">
                <a:blip r:embed="rId25"/>
                <a:stretch>
                  <a:fillRect l="-1192" t="-6557" r="-894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B924D8A8-CA35-A678-B1E0-62EB9F005F81}"/>
              </a:ext>
            </a:extLst>
          </p:cNvPr>
          <p:cNvSpPr txBox="1"/>
          <p:nvPr/>
        </p:nvSpPr>
        <p:spPr>
          <a:xfrm>
            <a:off x="1607171" y="847854"/>
            <a:ext cx="401654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4 Aces</a:t>
            </a:r>
          </a:p>
        </p:txBody>
      </p:sp>
    </p:spTree>
    <p:extLst>
      <p:ext uri="{BB962C8B-B14F-4D97-AF65-F5344CB8AC3E}">
        <p14:creationId xmlns:p14="http://schemas.microsoft.com/office/powerpoint/2010/main" val="2839634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/>
      <p:bldP spid="41" grpId="0" animBg="1"/>
      <p:bldP spid="42" grpId="0"/>
      <p:bldP spid="43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60" grpId="0" animBg="1"/>
      <p:bldP spid="3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BE96D2-7B01-447E-BE6D-1D4BCDC424A2}"/>
                  </a:ext>
                </a:extLst>
              </p:cNvPr>
              <p:cNvSpPr txBox="1"/>
              <p:nvPr/>
            </p:nvSpPr>
            <p:spPr>
              <a:xfrm>
                <a:off x="114362" y="859213"/>
                <a:ext cx="401654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 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𝟒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and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𝟏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a king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BE96D2-7B01-447E-BE6D-1D4BCDC424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62" y="859213"/>
                <a:ext cx="4016548" cy="523220"/>
              </a:xfrm>
              <a:prstGeom prst="rect">
                <a:avLst/>
              </a:prstGeom>
              <a:blipFill>
                <a:blip r:embed="rId2"/>
                <a:stretch>
                  <a:fillRect l="-318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6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34873" y="153044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873" y="1530445"/>
                <a:ext cx="1463040" cy="523220"/>
              </a:xfrm>
              <a:prstGeom prst="rect">
                <a:avLst/>
              </a:prstGeom>
              <a:blipFill>
                <a:blip r:embed="rId7"/>
                <a:stretch>
                  <a:fillRect l="-8333" t="-10465" r="-541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1482076" y="1530445"/>
                <a:ext cx="51196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king is drawn</a:t>
                </a: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2076" y="1530445"/>
                <a:ext cx="5119696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1336878" y="2798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6878" y="2798137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890244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244" y="2798137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63581" y="2063991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887488" y="2073784"/>
                <a:ext cx="30145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from 4 cards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488" y="2073784"/>
                <a:ext cx="3014521" cy="523220"/>
              </a:xfrm>
              <a:prstGeom prst="rect">
                <a:avLst/>
              </a:prstGeom>
              <a:blipFill>
                <a:blip r:embed="rId11"/>
                <a:stretch>
                  <a:fillRect t="-10465" r="-81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3835858" y="2072833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4454309" y="2083244"/>
                <a:ext cx="298603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king from 4 cards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4309" y="2083244"/>
                <a:ext cx="2986030" cy="523220"/>
              </a:xfrm>
              <a:prstGeom prst="rect">
                <a:avLst/>
              </a:prstGeom>
              <a:blipFill>
                <a:blip r:embed="rId12"/>
                <a:stretch>
                  <a:fillRect t="-10465" r="-265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2130262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0262" y="2798137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2536013" y="2798137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6013" y="2798137"/>
                <a:ext cx="72013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3180537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537" y="2798137"/>
                <a:ext cx="534127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3540100" y="2798137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0100" y="2798137"/>
                <a:ext cx="8804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/>
              <p:nvPr/>
            </p:nvSpPr>
            <p:spPr>
              <a:xfrm>
                <a:off x="2130262" y="332806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0262" y="3328067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/>
              <p:nvPr/>
            </p:nvSpPr>
            <p:spPr>
              <a:xfrm>
                <a:off x="2622739" y="3328558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2739" y="3328558"/>
                <a:ext cx="475608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/>
              <p:nvPr/>
            </p:nvSpPr>
            <p:spPr>
              <a:xfrm>
                <a:off x="3048082" y="332855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8082" y="3328558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/>
              <p:nvPr/>
            </p:nvSpPr>
            <p:spPr>
              <a:xfrm>
                <a:off x="3458086" y="3328558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8086" y="3328558"/>
                <a:ext cx="55632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2135112" y="3853984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5112" y="3853984"/>
                <a:ext cx="56664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2525352" y="3853984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352" y="3853984"/>
                <a:ext cx="59708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1373451" y="4762741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3451" y="4762741"/>
                <a:ext cx="90057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883473" y="477255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473" y="4772554"/>
                <a:ext cx="53412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2199331" y="4534952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9331" y="4534952"/>
                <a:ext cx="1502185" cy="989438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3513571" y="4570018"/>
                <a:ext cx="2232516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571" y="4570018"/>
                <a:ext cx="2232516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5499331" y="4568116"/>
                <a:ext cx="184994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649740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331" y="4568116"/>
                <a:ext cx="1849940" cy="90178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/>
              <p:cNvSpPr/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Rectangle 6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  <a:blipFill rotWithShape="0">
                <a:blip r:embed="rId28"/>
                <a:stretch>
                  <a:fillRect l="-1341" t="-6557" r="-745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501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/>
      <p:bldP spid="41" grpId="0" animBg="1"/>
      <p:bldP spid="42" grpId="0"/>
      <p:bldP spid="43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7" grpId="0" animBg="1"/>
      <p:bldP spid="6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D4F175-943E-4AAE-A5C7-4632D338ADE8}"/>
                  </a:ext>
                </a:extLst>
              </p:cNvPr>
              <p:cNvSpPr txBox="1"/>
              <p:nvPr/>
            </p:nvSpPr>
            <p:spPr>
              <a:xfrm>
                <a:off x="107480" y="779605"/>
                <a:ext cx="453689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 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𝟑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tens and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𝟐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jacks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D4F175-943E-4AAE-A5C7-4632D338AD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80" y="779605"/>
                <a:ext cx="4536892" cy="523220"/>
              </a:xfrm>
              <a:prstGeom prst="rect">
                <a:avLst/>
              </a:prstGeom>
              <a:blipFill>
                <a:blip r:embed="rId2"/>
                <a:stretch>
                  <a:fillRect l="-2823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6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93FDA52-C52A-40A5-B431-EEC655F98F80}"/>
                  </a:ext>
                </a:extLst>
              </p:cNvPr>
              <p:cNvSpPr txBox="1"/>
              <p:nvPr/>
            </p:nvSpPr>
            <p:spPr>
              <a:xfrm>
                <a:off x="118528" y="1371229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93FDA52-C52A-40A5-B431-EEC655F98F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28" y="1371229"/>
                <a:ext cx="1463040" cy="523220"/>
              </a:xfrm>
              <a:prstGeom prst="rect">
                <a:avLst/>
              </a:prstGeom>
              <a:blipFill>
                <a:blip r:embed="rId7"/>
                <a:stretch>
                  <a:fillRect l="-8333" t="-10465" r="-416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36FB875-5DB7-4F5B-93D9-947050DB3DA7}"/>
                  </a:ext>
                </a:extLst>
              </p:cNvPr>
              <p:cNvSpPr txBox="1"/>
              <p:nvPr/>
            </p:nvSpPr>
            <p:spPr>
              <a:xfrm>
                <a:off x="1465730" y="1371229"/>
                <a:ext cx="426930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tens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jacks are drawn</a:t>
                </a: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36FB875-5DB7-4F5B-93D9-947050DB3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730" y="1371229"/>
                <a:ext cx="4269305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9E5C605-8CA9-4F8D-9F52-D340EE5C3F39}"/>
                  </a:ext>
                </a:extLst>
              </p:cNvPr>
              <p:cNvSpPr txBox="1"/>
              <p:nvPr/>
            </p:nvSpPr>
            <p:spPr>
              <a:xfrm>
                <a:off x="565162" y="263190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9E5C605-8CA9-4F8D-9F52-D340EE5C3F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5162" y="2631908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BC271876-4EF6-47CC-A1C9-7A96A40F6164}"/>
                  </a:ext>
                </a:extLst>
              </p:cNvPr>
              <p:cNvSpPr txBox="1"/>
              <p:nvPr/>
            </p:nvSpPr>
            <p:spPr>
              <a:xfrm>
                <a:off x="118528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BC271876-4EF6-47CC-A1C9-7A96A40F61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28" y="2631908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E3279C5-F458-45DB-9677-3CE8615619C1}"/>
                  </a:ext>
                </a:extLst>
              </p:cNvPr>
              <p:cNvSpPr txBox="1"/>
              <p:nvPr/>
            </p:nvSpPr>
            <p:spPr>
              <a:xfrm>
                <a:off x="1358546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E3279C5-F458-45DB-9677-3CE8615619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8546" y="2631908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A85D837-F45B-4862-8F42-8CEF470A97FD}"/>
                  </a:ext>
                </a:extLst>
              </p:cNvPr>
              <p:cNvSpPr txBox="1"/>
              <p:nvPr/>
            </p:nvSpPr>
            <p:spPr>
              <a:xfrm>
                <a:off x="1764297" y="2631908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A85D837-F45B-4862-8F42-8CEF470A9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4297" y="2631908"/>
                <a:ext cx="72013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E674C50-6FC7-45AB-A72B-BC633C9397AD}"/>
                  </a:ext>
                </a:extLst>
              </p:cNvPr>
              <p:cNvSpPr txBox="1"/>
              <p:nvPr/>
            </p:nvSpPr>
            <p:spPr>
              <a:xfrm>
                <a:off x="2408821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E674C50-6FC7-45AB-A72B-BC633C9397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8821" y="2631908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CC5E5E3B-96A9-4E4D-A4B6-47A2DC4BDA08}"/>
                  </a:ext>
                </a:extLst>
              </p:cNvPr>
              <p:cNvSpPr txBox="1"/>
              <p:nvPr/>
            </p:nvSpPr>
            <p:spPr>
              <a:xfrm>
                <a:off x="2768384" y="2631908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CC5E5E3B-96A9-4E4D-A4B6-47A2DC4BDA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8384" y="2631908"/>
                <a:ext cx="8804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0CC6C418-5118-493D-AD88-0BB5891CEC22}"/>
                  </a:ext>
                </a:extLst>
              </p:cNvPr>
              <p:cNvSpPr txBox="1"/>
              <p:nvPr/>
            </p:nvSpPr>
            <p:spPr>
              <a:xfrm>
                <a:off x="1358546" y="3178235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0CC6C418-5118-493D-AD88-0BB5891CEC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8546" y="3178235"/>
                <a:ext cx="534127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0B4B242-4A17-4791-87A2-B2EF11D00494}"/>
                  </a:ext>
                </a:extLst>
              </p:cNvPr>
              <p:cNvSpPr txBox="1"/>
              <p:nvPr/>
            </p:nvSpPr>
            <p:spPr>
              <a:xfrm>
                <a:off x="1851023" y="3182648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0B4B242-4A17-4791-87A2-B2EF11D004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1023" y="3182648"/>
                <a:ext cx="475608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B033483-1C56-414E-BE4B-57EAC2FE8834}"/>
                  </a:ext>
                </a:extLst>
              </p:cNvPr>
              <p:cNvSpPr txBox="1"/>
              <p:nvPr/>
            </p:nvSpPr>
            <p:spPr>
              <a:xfrm>
                <a:off x="2274356" y="318264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B033483-1C56-414E-BE4B-57EAC2FE88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4356" y="3182648"/>
                <a:ext cx="53412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96A9552-378C-4316-9658-660B0080E68E}"/>
                  </a:ext>
                </a:extLst>
              </p:cNvPr>
              <p:cNvSpPr txBox="1"/>
              <p:nvPr/>
            </p:nvSpPr>
            <p:spPr>
              <a:xfrm>
                <a:off x="2686370" y="3182648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96A9552-378C-4316-9658-660B0080E6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6370" y="3182648"/>
                <a:ext cx="55632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B9C60D-BF9D-4C25-B087-697CCFFCC8A9}"/>
                  </a:ext>
                </a:extLst>
              </p:cNvPr>
              <p:cNvSpPr txBox="1"/>
              <p:nvPr/>
            </p:nvSpPr>
            <p:spPr>
              <a:xfrm>
                <a:off x="1363396" y="3724562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B9C60D-BF9D-4C25-B087-697CCFFCC8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3396" y="3724562"/>
                <a:ext cx="56664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84BBE20-9DA8-47A8-9034-BE9A505C52E5}"/>
                  </a:ext>
                </a:extLst>
              </p:cNvPr>
              <p:cNvSpPr txBox="1"/>
              <p:nvPr/>
            </p:nvSpPr>
            <p:spPr>
              <a:xfrm>
                <a:off x="1856876" y="3724562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84BBE20-9DA8-47A8-9034-BE9A505C52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6876" y="3724562"/>
                <a:ext cx="59708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198F7A63-7D74-4AD3-8CB1-73A8CD6A0B67}"/>
                  </a:ext>
                </a:extLst>
              </p:cNvPr>
              <p:cNvSpPr txBox="1"/>
              <p:nvPr/>
            </p:nvSpPr>
            <p:spPr>
              <a:xfrm>
                <a:off x="554114" y="4704293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198F7A63-7D74-4AD3-8CB1-73A8CD6A0B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114" y="4704293"/>
                <a:ext cx="90057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9EF6A0D6-3079-406E-9D8A-1F760664F2ED}"/>
                  </a:ext>
                </a:extLst>
              </p:cNvPr>
              <p:cNvSpPr txBox="1"/>
              <p:nvPr/>
            </p:nvSpPr>
            <p:spPr>
              <a:xfrm>
                <a:off x="107480" y="470429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9EF6A0D6-3079-406E-9D8A-1F760664F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80" y="4704293"/>
                <a:ext cx="534127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9275B4C-E3E9-4F28-A6EC-50B66D9A7E2F}"/>
                  </a:ext>
                </a:extLst>
              </p:cNvPr>
              <p:cNvSpPr txBox="1"/>
              <p:nvPr/>
            </p:nvSpPr>
            <p:spPr>
              <a:xfrm>
                <a:off x="1379994" y="4471184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9275B4C-E3E9-4F28-A6EC-50B66D9A7E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9994" y="4471184"/>
                <a:ext cx="1502185" cy="989438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9134BBE5-C811-444B-9E84-448DFED95A65}"/>
                  </a:ext>
                </a:extLst>
              </p:cNvPr>
              <p:cNvSpPr txBox="1"/>
              <p:nvPr/>
            </p:nvSpPr>
            <p:spPr>
              <a:xfrm>
                <a:off x="2694234" y="4515011"/>
                <a:ext cx="2232516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24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9134BBE5-C811-444B-9E84-448DFED95A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4234" y="4515011"/>
                <a:ext cx="2232516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E01B844-907C-4D82-9323-5A335A9B111F}"/>
                  </a:ext>
                </a:extLst>
              </p:cNvPr>
              <p:cNvSpPr txBox="1"/>
              <p:nvPr/>
            </p:nvSpPr>
            <p:spPr>
              <a:xfrm>
                <a:off x="4766720" y="4515011"/>
                <a:ext cx="184994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108290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E01B844-907C-4D82-9323-5A335A9B11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6720" y="4515011"/>
                <a:ext cx="1849940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/>
              <p:cNvSpPr/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Rectangle 6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  <a:blipFill rotWithShape="0">
                <a:blip r:embed="rId26"/>
                <a:stretch>
                  <a:fillRect l="-1341" t="-6557" r="-745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47173" y="1929035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871080" y="1938828"/>
                <a:ext cx="30145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tens from 4 cards</a:t>
                </a: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080" y="1938828"/>
                <a:ext cx="3014521" cy="523220"/>
              </a:xfrm>
              <a:prstGeom prst="rect">
                <a:avLst/>
              </a:prstGeom>
              <a:blipFill>
                <a:blip r:embed="rId27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TextBox 64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3819450" y="1937877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4437900" y="1948288"/>
                <a:ext cx="310903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jacks from 4 cards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7900" y="1948288"/>
                <a:ext cx="3109033" cy="523220"/>
              </a:xfrm>
              <a:prstGeom prst="rect">
                <a:avLst/>
              </a:prstGeom>
              <a:blipFill>
                <a:blip r:embed="rId28"/>
                <a:stretch>
                  <a:fillRect t="-10588" r="-313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16835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59" grpId="0" animBg="1"/>
      <p:bldP spid="60" grpId="0" animBg="1"/>
      <p:bldP spid="61" grpId="0" animBg="1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7" grpId="0" animBg="1"/>
      <p:bldP spid="78" grpId="0" animBg="1"/>
      <p:bldP spid="79" grpId="0" animBg="1"/>
      <p:bldP spid="80" grpId="0" animBg="1"/>
      <p:bldP spid="81" grpId="0" animBg="1"/>
      <p:bldP spid="63" grpId="0" animBg="1"/>
      <p:bldP spid="64" grpId="0" animBg="1"/>
      <p:bldP spid="65" grpId="0"/>
      <p:bldP spid="82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E43A969D-E02C-40A8-B22D-814F036F79FA}"/>
                  </a:ext>
                </a:extLst>
              </p:cNvPr>
              <p:cNvSpPr txBox="1"/>
              <p:nvPr/>
            </p:nvSpPr>
            <p:spPr>
              <a:xfrm>
                <a:off x="64077" y="781690"/>
                <a:ext cx="770380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 b="1">
                    <a:solidFill>
                      <a:schemeClr val="bg1"/>
                    </a:solidFill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 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𝟑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of any one suit and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𝟐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of another</a:t>
                </a: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E43A969D-E02C-40A8-B22D-814F036F79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77" y="781690"/>
                <a:ext cx="7703807" cy="523220"/>
              </a:xfrm>
              <a:prstGeom prst="rect">
                <a:avLst/>
              </a:prstGeom>
              <a:blipFill>
                <a:blip r:embed="rId2"/>
                <a:stretch>
                  <a:fillRect l="-1663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4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11496" y="1414221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496" y="1414221"/>
                <a:ext cx="1463040" cy="523220"/>
              </a:xfrm>
              <a:prstGeom prst="rect">
                <a:avLst/>
              </a:prstGeom>
              <a:blipFill>
                <a:blip r:embed="rId5"/>
                <a:stretch>
                  <a:fillRect l="-8333" t="-10465" r="-458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1458697" y="1414221"/>
                <a:ext cx="5813964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of any one suit and </a:t>
                </a:r>
                <a:b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</a:b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of a different suit are drawn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8697" y="1414221"/>
                <a:ext cx="5813964" cy="954107"/>
              </a:xfrm>
              <a:prstGeom prst="rect">
                <a:avLst/>
              </a:prstGeom>
              <a:blipFill>
                <a:blip r:embed="rId6"/>
                <a:stretch>
                  <a:fillRect t="-5732" r="-2201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552923" y="2687671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23" y="2687671"/>
                <a:ext cx="90057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106289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89" y="2687671"/>
                <a:ext cx="5341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1339653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653" y="2687671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1752057" y="2687671"/>
                <a:ext cx="90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057" y="2687671"/>
                <a:ext cx="90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2534870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4870" y="2687671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2843266" y="2687671"/>
                <a:ext cx="72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3266" y="2687671"/>
                <a:ext cx="72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1339653" y="3270547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653" y="3270547"/>
                <a:ext cx="56664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1844637" y="3270547"/>
                <a:ext cx="13804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267696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4637" y="3270547"/>
                <a:ext cx="138046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517927" y="446495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27" y="4464952"/>
                <a:ext cx="90057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71293" y="446495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93" y="4464952"/>
                <a:ext cx="5341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1354128" y="4231843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4128" y="4231843"/>
                <a:ext cx="1502185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2776546" y="4275670"/>
                <a:ext cx="2390433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267696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6546" y="4275670"/>
                <a:ext cx="2390433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4848787" y="4275670"/>
                <a:ext cx="193653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429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4165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8787" y="4275670"/>
                <a:ext cx="1936531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97F7703D-02DF-49A3-B217-1AA527D182F7}"/>
                  </a:ext>
                </a:extLst>
              </p:cNvPr>
              <p:cNvSpPr txBox="1"/>
              <p:nvPr/>
            </p:nvSpPr>
            <p:spPr>
              <a:xfrm>
                <a:off x="3391807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97F7703D-02DF-49A3-B217-1AA527D182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1807" y="2687671"/>
                <a:ext cx="53412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3EDB1FA-D16A-4887-ACE3-36A6588CDEA6}"/>
                  </a:ext>
                </a:extLst>
              </p:cNvPr>
              <p:cNvSpPr txBox="1"/>
              <p:nvPr/>
            </p:nvSpPr>
            <p:spPr>
              <a:xfrm>
                <a:off x="3787740" y="2687671"/>
                <a:ext cx="90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3EDB1FA-D16A-4887-ACE3-36A6588CDE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7740" y="2687671"/>
                <a:ext cx="90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E578BA82-76B1-45C9-B8F9-EB272983C1E5}"/>
                  </a:ext>
                </a:extLst>
              </p:cNvPr>
              <p:cNvSpPr txBox="1"/>
              <p:nvPr/>
            </p:nvSpPr>
            <p:spPr>
              <a:xfrm>
                <a:off x="4503443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E578BA82-76B1-45C9-B8F9-EB272983C1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3443" y="2687671"/>
                <a:ext cx="534127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5AA5929D-B118-4FAF-940A-FBB12F0B0371}"/>
                  </a:ext>
                </a:extLst>
              </p:cNvPr>
              <p:cNvSpPr txBox="1"/>
              <p:nvPr/>
            </p:nvSpPr>
            <p:spPr>
              <a:xfrm>
                <a:off x="4845683" y="2687671"/>
                <a:ext cx="72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5AA5929D-B118-4FAF-940A-FBB12F0B03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5683" y="2687671"/>
                <a:ext cx="72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E729E19-EC77-4321-865D-D9B104260837}"/>
                  </a:ext>
                </a:extLst>
              </p:cNvPr>
              <p:cNvSpPr txBox="1"/>
              <p:nvPr/>
            </p:nvSpPr>
            <p:spPr>
              <a:xfrm>
                <a:off x="11138609" y="2094889"/>
                <a:ext cx="52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E729E19-EC77-4321-865D-D9B1042608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8609" y="2094889"/>
                <a:ext cx="522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TextBox 52">
            <a:extLst>
              <a:ext uri="{FF2B5EF4-FFF2-40B4-BE49-F238E27FC236}">
                <a16:creationId xmlns:a16="http://schemas.microsoft.com/office/drawing/2014/main" id="{6B9B3471-C7C2-423A-A176-4DA896B4C98F}"/>
              </a:ext>
            </a:extLst>
          </p:cNvPr>
          <p:cNvSpPr txBox="1"/>
          <p:nvPr/>
        </p:nvSpPr>
        <p:spPr>
          <a:xfrm>
            <a:off x="8676957" y="2094889"/>
            <a:ext cx="278691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Choices of suits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" panose="05000000000000000000" pitchFamily="2" charset="2"/>
              </a:rPr>
              <a:t>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CECEEAF-F4A7-42BF-8D50-77B9D918836B}"/>
              </a:ext>
            </a:extLst>
          </p:cNvPr>
          <p:cNvSpPr txBox="1"/>
          <p:nvPr/>
        </p:nvSpPr>
        <p:spPr>
          <a:xfrm>
            <a:off x="8677197" y="3391434"/>
            <a:ext cx="2600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Remaining suits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" panose="05000000000000000000" pitchFamily="2" charset="2"/>
              </a:rPr>
              <a:t>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3539AF9-A26C-4F86-9214-1B12D4E95933}"/>
                  </a:ext>
                </a:extLst>
              </p:cNvPr>
              <p:cNvSpPr txBox="1"/>
              <p:nvPr/>
            </p:nvSpPr>
            <p:spPr>
              <a:xfrm>
                <a:off x="11138609" y="3391434"/>
                <a:ext cx="52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3539AF9-A26C-4F86-9214-1B12D4E959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8609" y="3391434"/>
                <a:ext cx="522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DEE88A4-21B7-4FA6-A665-441BAC3A0C21}"/>
              </a:ext>
            </a:extLst>
          </p:cNvPr>
          <p:cNvCxnSpPr>
            <a:cxnSpLocks/>
          </p:cNvCxnSpPr>
          <p:nvPr/>
        </p:nvCxnSpPr>
        <p:spPr>
          <a:xfrm>
            <a:off x="1574536" y="1883466"/>
            <a:ext cx="4744567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71C43A-EFE5-4CD9-9A08-33B294E4699B}"/>
              </a:ext>
            </a:extLst>
          </p:cNvPr>
          <p:cNvCxnSpPr>
            <a:cxnSpLocks/>
          </p:cNvCxnSpPr>
          <p:nvPr/>
        </p:nvCxnSpPr>
        <p:spPr>
          <a:xfrm>
            <a:off x="1574536" y="2312975"/>
            <a:ext cx="3991147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49BA849-AF07-455B-A052-F0B420414DE1}"/>
                  </a:ext>
                </a:extLst>
              </p:cNvPr>
              <p:cNvSpPr txBox="1"/>
              <p:nvPr/>
            </p:nvSpPr>
            <p:spPr>
              <a:xfrm>
                <a:off x="8833221" y="2532336"/>
                <a:ext cx="1869890" cy="83099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21212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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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21212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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</m:t>
                      </m:r>
                    </m:oMath>
                  </m:oMathPara>
                </a14:m>
                <a:endParaRPr kumimoji="0" lang="en-IN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49BA849-AF07-455B-A052-F0B420414D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3221" y="2532336"/>
                <a:ext cx="1869890" cy="83099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Multiplication Sign 7">
            <a:extLst>
              <a:ext uri="{FF2B5EF4-FFF2-40B4-BE49-F238E27FC236}">
                <a16:creationId xmlns:a16="http://schemas.microsoft.com/office/drawing/2014/main" id="{DCEAF10F-0A93-47C1-AAD5-D1A5280800DB}"/>
              </a:ext>
            </a:extLst>
          </p:cNvPr>
          <p:cNvSpPr/>
          <p:nvPr/>
        </p:nvSpPr>
        <p:spPr>
          <a:xfrm>
            <a:off x="9323063" y="2717805"/>
            <a:ext cx="576870" cy="576870"/>
          </a:xfrm>
          <a:prstGeom prst="mathMultiply">
            <a:avLst>
              <a:gd name="adj1" fmla="val 14434"/>
            </a:avLst>
          </a:prstGeom>
          <a:solidFill>
            <a:srgbClr val="00B0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CDF13A6A-9D8B-485F-836E-F336182F3609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7078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36" grpId="0" animBg="1"/>
      <p:bldP spid="37" grpId="0" animBg="1"/>
      <p:bldP spid="42" grpId="0"/>
      <p:bldP spid="43" grpId="0"/>
      <p:bldP spid="45" grpId="0"/>
      <p:bldP spid="46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64" grpId="0"/>
      <p:bldP spid="65" grpId="0"/>
      <p:bldP spid="82" grpId="0"/>
      <p:bldP spid="83" grpId="0"/>
      <p:bldP spid="44" grpId="0"/>
      <p:bldP spid="53" grpId="0" animBg="1"/>
      <p:bldP spid="59" grpId="0" animBg="1"/>
      <p:bldP spid="60" grpId="0"/>
      <p:bldP spid="67" grpId="0"/>
      <p:bldP spid="8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extBox 62">
            <a:extLst>
              <a:ext uri="{FF2B5EF4-FFF2-40B4-BE49-F238E27FC236}">
                <a16:creationId xmlns:a16="http://schemas.microsoft.com/office/drawing/2014/main" id="{EE46124B-F2B1-4EDA-A9D5-9DBE9C43460A}"/>
              </a:ext>
            </a:extLst>
          </p:cNvPr>
          <p:cNvSpPr txBox="1"/>
          <p:nvPr/>
        </p:nvSpPr>
        <p:spPr>
          <a:xfrm>
            <a:off x="85525" y="801214"/>
            <a:ext cx="5316207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(5)  at least one ace is obtained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3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10858" y="134796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" y="1347968"/>
                <a:ext cx="1463040" cy="523220"/>
              </a:xfrm>
              <a:prstGeom prst="rect">
                <a:avLst/>
              </a:prstGeom>
              <a:blipFill>
                <a:blip r:embed="rId4"/>
                <a:stretch>
                  <a:fillRect l="-8333" t="-10465" r="-333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CB221158-D64F-4F48-8FD9-22ECFABF3344}"/>
              </a:ext>
            </a:extLst>
          </p:cNvPr>
          <p:cNvSpPr txBox="1"/>
          <p:nvPr/>
        </p:nvSpPr>
        <p:spPr>
          <a:xfrm>
            <a:off x="1339895" y="1346740"/>
            <a:ext cx="57278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at least one ace is drawn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553165" y="5137116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165" y="5137116"/>
                <a:ext cx="9005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106531" y="5137116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31" y="5137116"/>
                <a:ext cx="5341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1339895" y="4904007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895" y="4904007"/>
                <a:ext cx="1502185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2716289" y="4947834"/>
                <a:ext cx="21600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886656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6289" y="4947834"/>
                <a:ext cx="2160000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4876289" y="4947834"/>
                <a:ext cx="18224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18472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54145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6289" y="4947834"/>
                <a:ext cx="1822400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09AC665-1455-496F-9BE8-D023F1FD9CA2}"/>
                  </a:ext>
                </a:extLst>
              </p:cNvPr>
              <p:cNvSpPr txBox="1"/>
              <p:nvPr/>
            </p:nvSpPr>
            <p:spPr>
              <a:xfrm>
                <a:off x="1269179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09AC665-1455-496F-9BE8-D023F1FD9C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9179" y="2798163"/>
                <a:ext cx="2051240" cy="52809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84B81B1-9874-4768-954E-B49C3A27DF0A}"/>
                  </a:ext>
                </a:extLst>
              </p:cNvPr>
              <p:cNvSpPr txBox="1"/>
              <p:nvPr/>
            </p:nvSpPr>
            <p:spPr>
              <a:xfrm>
                <a:off x="110858" y="2798163"/>
                <a:ext cx="13166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84B81B1-9874-4768-954E-B49C3A27DF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" y="2798163"/>
                <a:ext cx="131662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C9CA5D1-FE89-4F6C-B133-ED7E6500013B}"/>
                  </a:ext>
                </a:extLst>
              </p:cNvPr>
              <p:cNvSpPr txBox="1"/>
              <p:nvPr/>
            </p:nvSpPr>
            <p:spPr>
              <a:xfrm>
                <a:off x="1442249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C9CA5D1-FE89-4F6C-B133-ED7E650001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42249" y="2798163"/>
                <a:ext cx="729320" cy="52809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A147C89-0D4A-4FA8-A9EC-C03B064D49FB}"/>
                  </a:ext>
                </a:extLst>
              </p:cNvPr>
              <p:cNvSpPr txBox="1"/>
              <p:nvPr/>
            </p:nvSpPr>
            <p:spPr>
              <a:xfrm>
                <a:off x="2050728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A147C89-0D4A-4FA8-A9EC-C03B064D49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0728" y="2798163"/>
                <a:ext cx="484456" cy="5280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735545F-3581-4097-AE73-CE10AFDE1B16}"/>
                  </a:ext>
                </a:extLst>
              </p:cNvPr>
              <p:cNvSpPr txBox="1"/>
              <p:nvPr/>
            </p:nvSpPr>
            <p:spPr>
              <a:xfrm>
                <a:off x="2387847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735545F-3581-4097-AE73-CE10AFDE1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7847" y="2798163"/>
                <a:ext cx="828000" cy="5280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D6A28217-F02C-4662-B568-E99314171D59}"/>
              </a:ext>
            </a:extLst>
          </p:cNvPr>
          <p:cNvCxnSpPr>
            <a:cxnSpLocks/>
          </p:cNvCxnSpPr>
          <p:nvPr/>
        </p:nvCxnSpPr>
        <p:spPr>
          <a:xfrm>
            <a:off x="1514690" y="1838210"/>
            <a:ext cx="216212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3ABF5A9E-067B-45C6-8868-EC2A8B832E09}"/>
              </a:ext>
            </a:extLst>
          </p:cNvPr>
          <p:cNvSpPr txBox="1"/>
          <p:nvPr/>
        </p:nvSpPr>
        <p:spPr>
          <a:xfrm>
            <a:off x="568905" y="1905664"/>
            <a:ext cx="7256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9DBD911-2B7C-449E-B038-8FE91EC1FC34}"/>
                  </a:ext>
                </a:extLst>
              </p:cNvPr>
              <p:cNvSpPr txBox="1"/>
              <p:nvPr/>
            </p:nvSpPr>
            <p:spPr>
              <a:xfrm>
                <a:off x="1287009" y="1905664"/>
                <a:ext cx="308941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contains</a:t>
                </a: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9DBD911-2B7C-449E-B038-8FE91EC1FC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7009" y="1905664"/>
                <a:ext cx="3089413" cy="523220"/>
              </a:xfrm>
              <a:prstGeom prst="rect">
                <a:avLst/>
              </a:prstGeom>
              <a:blipFill>
                <a:blip r:embed="rId15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037D7E-57CB-4916-BDC2-923660F04F24}"/>
                  </a:ext>
                </a:extLst>
              </p:cNvPr>
              <p:cNvSpPr txBox="1"/>
              <p:nvPr/>
            </p:nvSpPr>
            <p:spPr>
              <a:xfrm>
                <a:off x="3738726" y="1905664"/>
                <a:ext cx="98375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037D7E-57CB-4916-BDC2-923660F04F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8726" y="1905664"/>
                <a:ext cx="983756" cy="523220"/>
              </a:xfrm>
              <a:prstGeom prst="rect">
                <a:avLst/>
              </a:prstGeom>
              <a:blipFill>
                <a:blip r:embed="rId16"/>
                <a:stretch>
                  <a:fillRect t="-11765" r="-987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TextBox 60">
            <a:extLst>
              <a:ext uri="{FF2B5EF4-FFF2-40B4-BE49-F238E27FC236}">
                <a16:creationId xmlns:a16="http://schemas.microsoft.com/office/drawing/2014/main" id="{94C540B7-72D1-4AB5-B939-83F35D824D70}"/>
              </a:ext>
            </a:extLst>
          </p:cNvPr>
          <p:cNvSpPr txBox="1"/>
          <p:nvPr/>
        </p:nvSpPr>
        <p:spPr>
          <a:xfrm>
            <a:off x="4778920" y="1905664"/>
            <a:ext cx="5796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6884ED5-75B5-4480-B390-6D2C8EA43A98}"/>
                  </a:ext>
                </a:extLst>
              </p:cNvPr>
              <p:cNvSpPr txBox="1"/>
              <p:nvPr/>
            </p:nvSpPr>
            <p:spPr>
              <a:xfrm>
                <a:off x="5308990" y="1905664"/>
                <a:ext cx="123489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6884ED5-75B5-4480-B390-6D2C8EA43A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8990" y="1905664"/>
                <a:ext cx="1234899" cy="523220"/>
              </a:xfrm>
              <a:prstGeom prst="rect">
                <a:avLst/>
              </a:prstGeom>
              <a:blipFill>
                <a:blip r:embed="rId17"/>
                <a:stretch>
                  <a:fillRect t="-11765" r="-3960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9" name="TextBox 68">
            <a:extLst>
              <a:ext uri="{FF2B5EF4-FFF2-40B4-BE49-F238E27FC236}">
                <a16:creationId xmlns:a16="http://schemas.microsoft.com/office/drawing/2014/main" id="{4E4859EB-E697-41A5-926D-43904C9888EE}"/>
              </a:ext>
            </a:extLst>
          </p:cNvPr>
          <p:cNvSpPr txBox="1"/>
          <p:nvPr/>
        </p:nvSpPr>
        <p:spPr>
          <a:xfrm>
            <a:off x="6482227" y="1905664"/>
            <a:ext cx="5019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360CABA7-2F2E-4816-9DAD-B5E88FEA7F97}"/>
                  </a:ext>
                </a:extLst>
              </p:cNvPr>
              <p:cNvSpPr txBox="1"/>
              <p:nvPr/>
            </p:nvSpPr>
            <p:spPr>
              <a:xfrm>
                <a:off x="7012298" y="1905664"/>
                <a:ext cx="120799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360CABA7-2F2E-4816-9DAD-B5E88FEA7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2298" y="1905664"/>
                <a:ext cx="1207992" cy="523220"/>
              </a:xfrm>
              <a:prstGeom prst="rect">
                <a:avLst/>
              </a:prstGeom>
              <a:blipFill>
                <a:blip r:embed="rId18"/>
                <a:stretch>
                  <a:fillRect t="-11765" r="-5556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1BE5D75-5A65-4BB4-8FA5-4CE47B01D85C}"/>
                  </a:ext>
                </a:extLst>
              </p:cNvPr>
              <p:cNvSpPr txBox="1"/>
              <p:nvPr/>
            </p:nvSpPr>
            <p:spPr>
              <a:xfrm>
                <a:off x="3274328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1BE5D75-5A65-4BB4-8FA5-4CE47B01D8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4328" y="2798163"/>
                <a:ext cx="484456" cy="52809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FA62B04-25F8-46AC-93FD-54EC833713E1}"/>
                  </a:ext>
                </a:extLst>
              </p:cNvPr>
              <p:cNvSpPr txBox="1"/>
              <p:nvPr/>
            </p:nvSpPr>
            <p:spPr>
              <a:xfrm>
                <a:off x="3742438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FA62B04-25F8-46AC-93FD-54EC833713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2438" y="2798163"/>
                <a:ext cx="2051240" cy="52809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080742B-B812-480F-A8BA-D01FE530007B}"/>
                  </a:ext>
                </a:extLst>
              </p:cNvPr>
              <p:cNvSpPr txBox="1"/>
              <p:nvPr/>
            </p:nvSpPr>
            <p:spPr>
              <a:xfrm>
                <a:off x="3919092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080742B-B812-480F-A8BA-D01FE53000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9092" y="2798163"/>
                <a:ext cx="729320" cy="52809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4788ACA-A777-4074-B5D7-0DCACC3E7EC7}"/>
                  </a:ext>
                </a:extLst>
              </p:cNvPr>
              <p:cNvSpPr txBox="1"/>
              <p:nvPr/>
            </p:nvSpPr>
            <p:spPr>
              <a:xfrm>
                <a:off x="4527571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4788ACA-A777-4074-B5D7-0DCACC3E7E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7571" y="2798163"/>
                <a:ext cx="484456" cy="52809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84EC4D2E-40B1-449F-867B-D7606D0ED3F3}"/>
                  </a:ext>
                </a:extLst>
              </p:cNvPr>
              <p:cNvSpPr txBox="1"/>
              <p:nvPr/>
            </p:nvSpPr>
            <p:spPr>
              <a:xfrm>
                <a:off x="4864690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84EC4D2E-40B1-449F-867B-D7606D0ED3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4690" y="2798163"/>
                <a:ext cx="828000" cy="52809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F1C3BC4-C728-420E-9AAE-B5304FF23D34}"/>
                  </a:ext>
                </a:extLst>
              </p:cNvPr>
              <p:cNvSpPr txBox="1"/>
              <p:nvPr/>
            </p:nvSpPr>
            <p:spPr>
              <a:xfrm>
                <a:off x="5747587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F1C3BC4-C728-420E-9AAE-B5304FF23D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7587" y="2798163"/>
                <a:ext cx="484456" cy="52809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B494371-9894-4934-810B-7FA6B311006E}"/>
                  </a:ext>
                </a:extLst>
              </p:cNvPr>
              <p:cNvSpPr txBox="1"/>
              <p:nvPr/>
            </p:nvSpPr>
            <p:spPr>
              <a:xfrm>
                <a:off x="6212443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B494371-9894-4934-810B-7FA6B3110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2443" y="2798163"/>
                <a:ext cx="2051240" cy="52809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628545C-A6BD-4CCF-BE98-9A9296ABABD3}"/>
                  </a:ext>
                </a:extLst>
              </p:cNvPr>
              <p:cNvSpPr txBox="1"/>
              <p:nvPr/>
            </p:nvSpPr>
            <p:spPr>
              <a:xfrm>
                <a:off x="6383682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628545C-A6BD-4CCF-BE98-9A9296ABAB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3682" y="2798163"/>
                <a:ext cx="729320" cy="52809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08D740B1-322F-40C8-BD4E-434D5BFE3727}"/>
                  </a:ext>
                </a:extLst>
              </p:cNvPr>
              <p:cNvSpPr txBox="1"/>
              <p:nvPr/>
            </p:nvSpPr>
            <p:spPr>
              <a:xfrm>
                <a:off x="6992161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08D740B1-322F-40C8-BD4E-434D5BFE37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161" y="2798163"/>
                <a:ext cx="484456" cy="52809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E65E1EF3-81F3-4B8B-A479-688F3D23F308}"/>
                  </a:ext>
                </a:extLst>
              </p:cNvPr>
              <p:cNvSpPr txBox="1"/>
              <p:nvPr/>
            </p:nvSpPr>
            <p:spPr>
              <a:xfrm>
                <a:off x="7329280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E65E1EF3-81F3-4B8B-A479-688F3D23F3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9280" y="2798163"/>
                <a:ext cx="828000" cy="52809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5ED3F070-8C60-4A52-9161-2E246E7FFBAF}"/>
                  </a:ext>
                </a:extLst>
              </p:cNvPr>
              <p:cNvSpPr txBox="1"/>
              <p:nvPr/>
            </p:nvSpPr>
            <p:spPr>
              <a:xfrm>
                <a:off x="859473" y="3412394"/>
                <a:ext cx="526022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5ED3F070-8C60-4A52-9161-2E246E7FFB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473" y="3412394"/>
                <a:ext cx="526022" cy="52809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8AA7284-DFE7-435E-A510-0F058E158EA0}"/>
                  </a:ext>
                </a:extLst>
              </p:cNvPr>
              <p:cNvSpPr txBox="1"/>
              <p:nvPr/>
            </p:nvSpPr>
            <p:spPr>
              <a:xfrm>
                <a:off x="1317489" y="3414830"/>
                <a:ext cx="11745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778320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8AA7284-DFE7-435E-A510-0F058E158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489" y="3414830"/>
                <a:ext cx="1174578" cy="523220"/>
              </a:xfrm>
              <a:prstGeom prst="rect">
                <a:avLst/>
              </a:prstGeom>
              <a:blipFill>
                <a:blip r:embed="rId30"/>
                <a:stretch>
                  <a:fillRect r="-569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B570CFF-64CB-4657-BCCA-97761C30526F}"/>
                  </a:ext>
                </a:extLst>
              </p:cNvPr>
              <p:cNvSpPr txBox="1"/>
              <p:nvPr/>
            </p:nvSpPr>
            <p:spPr>
              <a:xfrm>
                <a:off x="3095058" y="3412394"/>
                <a:ext cx="1415071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103776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B570CFF-64CB-4657-BCCA-97761C305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5058" y="3412394"/>
                <a:ext cx="1415071" cy="52809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23377BB-A363-4F60-96C8-CEDE3FB8EB92}"/>
                  </a:ext>
                </a:extLst>
              </p:cNvPr>
              <p:cNvSpPr txBox="1"/>
              <p:nvPr/>
            </p:nvSpPr>
            <p:spPr>
              <a:xfrm>
                <a:off x="4804808" y="3412394"/>
                <a:ext cx="1174578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4512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23377BB-A363-4F60-96C8-CEDE3FB8EB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4808" y="3412394"/>
                <a:ext cx="1174578" cy="52809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3CC2059-F835-4998-A553-733A0F45546F}"/>
                  </a:ext>
                </a:extLst>
              </p:cNvPr>
              <p:cNvSpPr txBox="1"/>
              <p:nvPr/>
            </p:nvSpPr>
            <p:spPr>
              <a:xfrm>
                <a:off x="2660136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3CC2059-F835-4998-A553-733A0F4554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0136" y="3412394"/>
                <a:ext cx="484456" cy="52809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A83D467-25D8-473D-92F7-6140FA9C8E1B}"/>
                  </a:ext>
                </a:extLst>
              </p:cNvPr>
              <p:cNvSpPr txBox="1"/>
              <p:nvPr/>
            </p:nvSpPr>
            <p:spPr>
              <a:xfrm>
                <a:off x="4430469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A83D467-25D8-473D-92F7-6140FA9C8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0469" y="3412394"/>
                <a:ext cx="484456" cy="52809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B49BFAF7-FE34-4342-A665-30A564CC12BC}"/>
                  </a:ext>
                </a:extLst>
              </p:cNvPr>
              <p:cNvSpPr txBox="1"/>
              <p:nvPr/>
            </p:nvSpPr>
            <p:spPr>
              <a:xfrm>
                <a:off x="859473" y="3982457"/>
                <a:ext cx="526022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B49BFAF7-FE34-4342-A665-30A564CC12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473" y="3982457"/>
                <a:ext cx="526022" cy="52809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CA8FF068-1997-4080-8644-19C1609A02A2}"/>
                  </a:ext>
                </a:extLst>
              </p:cNvPr>
              <p:cNvSpPr txBox="1"/>
              <p:nvPr/>
            </p:nvSpPr>
            <p:spPr>
              <a:xfrm>
                <a:off x="1317489" y="3982516"/>
                <a:ext cx="144506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886656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CA8FF068-1997-4080-8644-19C1609A02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489" y="3982516"/>
                <a:ext cx="144506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6F15D6F5-FBCB-405C-81EE-C4C3B5B81A62}"/>
              </a:ext>
            </a:extLst>
          </p:cNvPr>
          <p:cNvCxnSpPr>
            <a:cxnSpLocks/>
          </p:cNvCxnSpPr>
          <p:nvPr/>
        </p:nvCxnSpPr>
        <p:spPr>
          <a:xfrm>
            <a:off x="3785784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642FC05D-E668-4472-99E3-65EFC28FE664}"/>
              </a:ext>
            </a:extLst>
          </p:cNvPr>
          <p:cNvCxnSpPr>
            <a:cxnSpLocks/>
          </p:cNvCxnSpPr>
          <p:nvPr/>
        </p:nvCxnSpPr>
        <p:spPr>
          <a:xfrm>
            <a:off x="5424337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692D9436-D5B4-4392-9D89-9B98F5CC0809}"/>
              </a:ext>
            </a:extLst>
          </p:cNvPr>
          <p:cNvCxnSpPr>
            <a:cxnSpLocks/>
          </p:cNvCxnSpPr>
          <p:nvPr/>
        </p:nvCxnSpPr>
        <p:spPr>
          <a:xfrm>
            <a:off x="7123612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36FA9C48-2E4A-4315-9B0F-E13517236B46}"/>
              </a:ext>
            </a:extLst>
          </p:cNvPr>
          <p:cNvSpPr txBox="1"/>
          <p:nvPr/>
        </p:nvSpPr>
        <p:spPr>
          <a:xfrm>
            <a:off x="8185534" y="1905664"/>
            <a:ext cx="5088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920C017-02F4-4B09-A85F-ABA6F8562601}"/>
                  </a:ext>
                </a:extLst>
              </p:cNvPr>
              <p:cNvSpPr txBox="1"/>
              <p:nvPr/>
            </p:nvSpPr>
            <p:spPr>
              <a:xfrm>
                <a:off x="8715604" y="1905664"/>
                <a:ext cx="114721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920C017-02F4-4B09-A85F-ABA6F85626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5604" y="1905664"/>
                <a:ext cx="1147219" cy="523220"/>
              </a:xfrm>
              <a:prstGeom prst="rect">
                <a:avLst/>
              </a:prstGeom>
              <a:blipFill>
                <a:blip r:embed="rId37"/>
                <a:stretch>
                  <a:fillRect t="-11765" r="-7979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11D79110-4FAE-4B52-B64B-B022DAEA86C6}"/>
              </a:ext>
            </a:extLst>
          </p:cNvPr>
          <p:cNvCxnSpPr>
            <a:cxnSpLocks/>
          </p:cNvCxnSpPr>
          <p:nvPr/>
        </p:nvCxnSpPr>
        <p:spPr>
          <a:xfrm>
            <a:off x="8837513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492F9903-82D2-4A4F-A2FB-F7BDD5853B2D}"/>
                  </a:ext>
                </a:extLst>
              </p:cNvPr>
              <p:cNvSpPr txBox="1"/>
              <p:nvPr/>
            </p:nvSpPr>
            <p:spPr>
              <a:xfrm>
                <a:off x="8167520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492F9903-82D2-4A4F-A2FB-F7BDD5853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520" y="2798163"/>
                <a:ext cx="484456" cy="528093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15E963AD-FFA3-41E7-9372-5422F9C3FECA}"/>
                  </a:ext>
                </a:extLst>
              </p:cNvPr>
              <p:cNvSpPr txBox="1"/>
              <p:nvPr/>
            </p:nvSpPr>
            <p:spPr>
              <a:xfrm>
                <a:off x="8632376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15E963AD-FFA3-41E7-9372-5422F9C3F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32376" y="2798163"/>
                <a:ext cx="2051240" cy="528093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575C538-522A-49F1-9CE1-F7C73C42F198}"/>
                  </a:ext>
                </a:extLst>
              </p:cNvPr>
              <p:cNvSpPr txBox="1"/>
              <p:nvPr/>
            </p:nvSpPr>
            <p:spPr>
              <a:xfrm>
                <a:off x="8803615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575C538-522A-49F1-9CE1-F7C73C42F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03615" y="2798163"/>
                <a:ext cx="729320" cy="528093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F955A08-B5CF-4B92-ADAF-C46C3B46245A}"/>
                  </a:ext>
                </a:extLst>
              </p:cNvPr>
              <p:cNvSpPr txBox="1"/>
              <p:nvPr/>
            </p:nvSpPr>
            <p:spPr>
              <a:xfrm>
                <a:off x="9412094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F955A08-B5CF-4B92-ADAF-C46C3B462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12094" y="2798163"/>
                <a:ext cx="484456" cy="528093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A71ADB3B-17E1-4D14-AD0E-7D892416FCFF}"/>
                  </a:ext>
                </a:extLst>
              </p:cNvPr>
              <p:cNvSpPr txBox="1"/>
              <p:nvPr/>
            </p:nvSpPr>
            <p:spPr>
              <a:xfrm>
                <a:off x="9749213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A71ADB3B-17E1-4D14-AD0E-7D892416FC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9213" y="2798163"/>
                <a:ext cx="828000" cy="528093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C6A9B27-C799-4EEC-AC53-9FFB6EAB0C20}"/>
                  </a:ext>
                </a:extLst>
              </p:cNvPr>
              <p:cNvSpPr txBox="1"/>
              <p:nvPr/>
            </p:nvSpPr>
            <p:spPr>
              <a:xfrm>
                <a:off x="6044622" y="3412394"/>
                <a:ext cx="1174578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C6A9B27-C799-4EEC-AC53-9FFB6EAB0C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622" y="3412394"/>
                <a:ext cx="1174578" cy="528093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659E5767-6672-4C1E-9102-8077E8FA5810}"/>
                  </a:ext>
                </a:extLst>
              </p:cNvPr>
              <p:cNvSpPr txBox="1"/>
              <p:nvPr/>
            </p:nvSpPr>
            <p:spPr>
              <a:xfrm>
                <a:off x="5914149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659E5767-6672-4C1E-9102-8077E8FA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4149" y="3412394"/>
                <a:ext cx="484456" cy="528093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5" name="Rectangle: Rounded Corners 124">
            <a:extLst>
              <a:ext uri="{FF2B5EF4-FFF2-40B4-BE49-F238E27FC236}">
                <a16:creationId xmlns:a16="http://schemas.microsoft.com/office/drawing/2014/main" id="{86767169-0CB0-4E12-A444-458BE3FC0984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445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500"/>
                            </p:stCondLst>
                            <p:childTnLst>
                              <p:par>
                                <p:cTn id="7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00"/>
                            </p:stCondLst>
                            <p:childTnLst>
                              <p:par>
                                <p:cTn id="7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"/>
                            </p:stCondLst>
                            <p:childTnLst>
                              <p:par>
                                <p:cTn id="8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34" grpId="0"/>
      <p:bldP spid="38" grpId="0"/>
      <p:bldP spid="39" grpId="0"/>
      <p:bldP spid="40" grpId="0"/>
      <p:bldP spid="41" grpId="0"/>
      <p:bldP spid="48" grpId="0"/>
      <p:bldP spid="49" grpId="0"/>
      <p:bldP spid="50" grpId="0"/>
      <p:bldP spid="61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9" grpId="0"/>
      <p:bldP spid="110" grpId="0"/>
      <p:bldP spid="112" grpId="0"/>
      <p:bldP spid="113" grpId="0"/>
      <p:bldP spid="114" grpId="0"/>
      <p:bldP spid="115" grpId="0"/>
      <p:bldP spid="116" grpId="0"/>
      <p:bldP spid="123" grpId="0"/>
      <p:bldP spid="124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224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Consider a poker hand of five cards. Find the probability of getting four of a kind (i.e., four cards of the same face value) assuming the five cards are chosen random.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/>
              <p:nvPr/>
            </p:nvSpPr>
            <p:spPr>
              <a:xfrm>
                <a:off x="1594216" y="2296677"/>
                <a:ext cx="6739044" cy="12003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cards </a:t>
                </a:r>
                <a14:m>
                  <m:oMath xmlns:m="http://schemas.openxmlformats.org/officeDocument/2006/math">
                    <m:r>
                      <a:rPr kumimoji="0" lang="en-IN" sz="24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=52</m:t>
                    </m:r>
                  </m:oMath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>
                      <a:lumMod val="90000"/>
                      <a:lumOff val="10000"/>
                    </a:srgbClr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Face value </a:t>
                </a:r>
                <a14:m>
                  <m:oMath xmlns:m="http://schemas.openxmlformats.org/officeDocument/2006/math">
                    <m:r>
                      <a:rPr kumimoji="0" lang="fr-FR" sz="24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r>
                  <a:rPr kumimoji="0" lang="fr-FR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(A, 2, 3, …, 10, J, Q, K)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each face value, there are 4 suits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(♠ ♥ ♦ ♣)</a:t>
                </a:r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296677"/>
                <a:ext cx="6739044" cy="1200329"/>
              </a:xfrm>
              <a:prstGeom prst="rect">
                <a:avLst/>
              </a:prstGeom>
              <a:blipFill>
                <a:blip r:embed="rId2"/>
                <a:stretch>
                  <a:fillRect l="-1448" t="-3553" b="-1116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4308C970-8F68-3F5C-7897-2FE40977E26E}"/>
                  </a:ext>
                </a:extLst>
              </p:cNvPr>
              <p:cNvSpPr txBox="1"/>
              <p:nvPr/>
            </p:nvSpPr>
            <p:spPr>
              <a:xfrm>
                <a:off x="1594216" y="3701844"/>
                <a:ext cx="1059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choose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from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52−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 deck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4308C970-8F68-3F5C-7897-2FE40977E2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01844"/>
                <a:ext cx="10597784" cy="523220"/>
              </a:xfrm>
              <a:prstGeom prst="rect">
                <a:avLst/>
              </a:prstGeom>
              <a:blipFill>
                <a:blip r:embed="rId3"/>
                <a:stretch>
                  <a:fillRect l="-120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2D00C30-FD96-C721-CF8B-AF7D1DD5D7B1}"/>
                  </a:ext>
                </a:extLst>
              </p:cNvPr>
              <p:cNvSpPr txBox="1"/>
              <p:nvPr/>
            </p:nvSpPr>
            <p:spPr>
              <a:xfrm>
                <a:off x="4367508" y="4351833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2D00C30-FD96-C721-CF8B-AF7D1DD5D7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7508" y="4351833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7D16716-07DD-E890-2F6C-12A5BF7E065E}"/>
                  </a:ext>
                </a:extLst>
              </p:cNvPr>
              <p:cNvSpPr txBox="1"/>
              <p:nvPr/>
            </p:nvSpPr>
            <p:spPr>
              <a:xfrm>
                <a:off x="5160892" y="4351833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7D16716-07DD-E890-2F6C-12A5BF7E06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0892" y="4351833"/>
                <a:ext cx="12499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F4E3742-0E15-D6E4-4A59-C57AEEDF8917}"/>
                  </a:ext>
                </a:extLst>
              </p:cNvPr>
              <p:cNvSpPr txBox="1"/>
              <p:nvPr/>
            </p:nvSpPr>
            <p:spPr>
              <a:xfrm>
                <a:off x="6333010" y="4351833"/>
                <a:ext cx="20002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F4E3742-0E15-D6E4-4A59-C57AEEDF89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3010" y="4351833"/>
                <a:ext cx="20002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86DA434-8071-3430-7EA0-A75A9FB6EC1A}"/>
                  </a:ext>
                </a:extLst>
              </p:cNvPr>
              <p:cNvSpPr txBox="1"/>
              <p:nvPr/>
            </p:nvSpPr>
            <p:spPr>
              <a:xfrm>
                <a:off x="1594216" y="5235603"/>
                <a:ext cx="48166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face values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86DA434-8071-3430-7EA0-A75A9FB6E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235603"/>
                <a:ext cx="4816615" cy="523220"/>
              </a:xfrm>
              <a:prstGeom prst="rect">
                <a:avLst/>
              </a:prstGeom>
              <a:blipFill>
                <a:blip r:embed="rId7"/>
                <a:stretch>
                  <a:fillRect l="-265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2758DA2-EF65-F85B-4922-85CDF12B64B7}"/>
                  </a:ext>
                </a:extLst>
              </p:cNvPr>
              <p:cNvSpPr txBox="1"/>
              <p:nvPr/>
            </p:nvSpPr>
            <p:spPr>
              <a:xfrm>
                <a:off x="4822490" y="5459919"/>
                <a:ext cx="251064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13</m:t>
                      </m:r>
                    </m:oMath>
                  </m:oMathPara>
                </a14:m>
                <a:endParaRPr kumimoji="0" lang="ar-AE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2758DA2-EF65-F85B-4922-85CDF12B64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2490" y="5459919"/>
                <a:ext cx="2510645" cy="106048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76554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0D205-5D5F-F242-AA47-18CC0A3DC4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5BF15C-4875-030C-0ACD-00B16A5354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951D844-A73B-F03B-C076-F084CCF47AF5}"/>
                  </a:ext>
                </a:extLst>
              </p:cNvPr>
              <p:cNvSpPr txBox="1"/>
              <p:nvPr/>
            </p:nvSpPr>
            <p:spPr>
              <a:xfrm>
                <a:off x="115611" y="828973"/>
                <a:ext cx="48166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face values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951D844-A73B-F03B-C076-F084CCF47A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1" y="828973"/>
                <a:ext cx="4816615" cy="523220"/>
              </a:xfrm>
              <a:prstGeom prst="rect">
                <a:avLst/>
              </a:prstGeom>
              <a:blipFill>
                <a:blip r:embed="rId2"/>
                <a:stretch>
                  <a:fillRect l="-265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B9ADAD-BF82-0FF7-041A-D4A53AAB7DFB}"/>
                  </a:ext>
                </a:extLst>
              </p:cNvPr>
              <p:cNvSpPr txBox="1"/>
              <p:nvPr/>
            </p:nvSpPr>
            <p:spPr>
              <a:xfrm>
                <a:off x="4840678" y="1218719"/>
                <a:ext cx="251064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13</m:t>
                      </m:r>
                    </m:oMath>
                  </m:oMathPara>
                </a14:m>
                <a:endParaRPr kumimoji="0" lang="ar-AE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B9ADAD-BF82-0FF7-041A-D4A53AAB7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0678" y="1218719"/>
                <a:ext cx="2510645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B57EA755-0329-21E7-BB30-91C59D60B510}"/>
              </a:ext>
            </a:extLst>
          </p:cNvPr>
          <p:cNvSpPr txBox="1"/>
          <p:nvPr/>
        </p:nvSpPr>
        <p:spPr>
          <a:xfrm>
            <a:off x="115610" y="2338088"/>
            <a:ext cx="101762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For one face value, exactly 4 cards exist and all four must be chosen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78F1E17-9D94-EA5A-7FA6-B323041E58B8}"/>
                  </a:ext>
                </a:extLst>
              </p:cNvPr>
              <p:cNvSpPr txBox="1"/>
              <p:nvPr/>
            </p:nvSpPr>
            <p:spPr>
              <a:xfrm>
                <a:off x="4835707" y="2979080"/>
                <a:ext cx="252058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ar-AE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78F1E17-9D94-EA5A-7FA6-B323041E58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5707" y="2979080"/>
                <a:ext cx="2520587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6AD6B640-35BA-E650-8E30-5D05ED7B396A}"/>
              </a:ext>
            </a:extLst>
          </p:cNvPr>
          <p:cNvSpPr txBox="1"/>
          <p:nvPr/>
        </p:nvSpPr>
        <p:spPr>
          <a:xfrm>
            <a:off x="115610" y="4157335"/>
            <a:ext cx="101762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Fifth card must be different.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2542B7E-4429-CB76-295A-FE54F201B934}"/>
                  </a:ext>
                </a:extLst>
              </p:cNvPr>
              <p:cNvSpPr txBox="1"/>
              <p:nvPr/>
            </p:nvSpPr>
            <p:spPr>
              <a:xfrm>
                <a:off x="3257642" y="4798327"/>
                <a:ext cx="47384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Remaining cards: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48</m:t>
                    </m:r>
                  </m:oMath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2542B7E-4429-CB76-295A-FE54F201B9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7642" y="4798327"/>
                <a:ext cx="4738493" cy="523220"/>
              </a:xfrm>
              <a:prstGeom prst="rect">
                <a:avLst/>
              </a:prstGeom>
              <a:blipFill>
                <a:blip r:embed="rId5"/>
                <a:stretch>
                  <a:fillRect l="-2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22B828E-AA99-0E5B-9512-44D93A3F2484}"/>
                  </a:ext>
                </a:extLst>
              </p:cNvPr>
              <p:cNvSpPr txBox="1"/>
              <p:nvPr/>
            </p:nvSpPr>
            <p:spPr>
              <a:xfrm>
                <a:off x="4835707" y="5439319"/>
                <a:ext cx="252058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8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ar-AE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22B828E-AA99-0E5B-9512-44D93A3F24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5707" y="5439319"/>
                <a:ext cx="2520587" cy="106048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05774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3" grpId="0"/>
      <p:bldP spid="5" grpId="0"/>
      <p:bldP spid="12" grpId="0"/>
      <p:bldP spid="13" grpId="0"/>
      <p:bldP spid="14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F6F40-9544-2273-8DC1-B2F582297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587943-D1D9-7AE6-EC51-F7BB0981E0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C77261B-62BB-8BCF-205F-9C91D751B57C}"/>
                  </a:ext>
                </a:extLst>
              </p:cNvPr>
              <p:cNvSpPr txBox="1"/>
              <p:nvPr/>
            </p:nvSpPr>
            <p:spPr>
              <a:xfrm>
                <a:off x="115610" y="78992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C77261B-62BB-8BCF-205F-9C91D751B5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0" y="789928"/>
                <a:ext cx="1463040" cy="523220"/>
              </a:xfrm>
              <a:prstGeom prst="rect">
                <a:avLst/>
              </a:prstGeom>
              <a:blipFill>
                <a:blip r:embed="rId2"/>
                <a:stretch>
                  <a:fillRect l="-8750" t="-11765" r="-3750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C71FEF28-F174-AC67-1FCC-CD6C42F4B159}"/>
              </a:ext>
            </a:extLst>
          </p:cNvPr>
          <p:cNvSpPr txBox="1"/>
          <p:nvPr/>
        </p:nvSpPr>
        <p:spPr>
          <a:xfrm>
            <a:off x="1462813" y="789928"/>
            <a:ext cx="7842693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four out of the five cards have the same face value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3B8E90B-0B02-E369-89E7-41DDDC7C9FC2}"/>
                  </a:ext>
                </a:extLst>
              </p:cNvPr>
              <p:cNvSpPr txBox="1"/>
              <p:nvPr/>
            </p:nvSpPr>
            <p:spPr>
              <a:xfrm>
                <a:off x="3843140" y="1506919"/>
                <a:ext cx="5913701" cy="106048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den>
                          </m:f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8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3B8E90B-0B02-E369-89E7-41DDDC7C9F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3140" y="1506919"/>
                <a:ext cx="5913701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428B46-B33C-3FD1-9248-8ABEE52E3C7A}"/>
                  </a:ext>
                </a:extLst>
              </p:cNvPr>
              <p:cNvSpPr txBox="1"/>
              <p:nvPr/>
            </p:nvSpPr>
            <p:spPr>
              <a:xfrm>
                <a:off x="4577041" y="2905780"/>
                <a:ext cx="12195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624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428B46-B33C-3FD1-9248-8ABEE52E3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041" y="2905780"/>
                <a:ext cx="121952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99C7635-EEF1-0D31-55E2-74D81D506F6E}"/>
                  </a:ext>
                </a:extLst>
              </p:cNvPr>
              <p:cNvSpPr txBox="1"/>
              <p:nvPr/>
            </p:nvSpPr>
            <p:spPr>
              <a:xfrm>
                <a:off x="562244" y="4028989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99C7635-EEF1-0D31-55E2-74D81D506F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244" y="4028989"/>
                <a:ext cx="9005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40555EA-BDE2-F58F-5EC3-B7CA0D67C88C}"/>
                  </a:ext>
                </a:extLst>
              </p:cNvPr>
              <p:cNvSpPr txBox="1"/>
              <p:nvPr/>
            </p:nvSpPr>
            <p:spPr>
              <a:xfrm>
                <a:off x="115610" y="402898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40555EA-BDE2-F58F-5EC3-B7CA0D67C8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0" y="4028989"/>
                <a:ext cx="5341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2916B7C-97A8-932C-53DA-3C4349D995C6}"/>
                  </a:ext>
                </a:extLst>
              </p:cNvPr>
              <p:cNvSpPr txBox="1"/>
              <p:nvPr/>
            </p:nvSpPr>
            <p:spPr>
              <a:xfrm>
                <a:off x="1348974" y="3795880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2916B7C-97A8-932C-53DA-3C4349D995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8974" y="3795880"/>
                <a:ext cx="1502185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D46DBE0-9F51-DAC6-18F2-41FA8F3599DE}"/>
                  </a:ext>
                </a:extLst>
              </p:cNvPr>
              <p:cNvSpPr txBox="1"/>
              <p:nvPr/>
            </p:nvSpPr>
            <p:spPr>
              <a:xfrm>
                <a:off x="2725368" y="3839707"/>
                <a:ext cx="21600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624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D46DBE0-9F51-DAC6-18F2-41FA8F3599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5368" y="3839707"/>
                <a:ext cx="2160000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A13382F-80B5-3343-FA98-267CEA946F9F}"/>
                  </a:ext>
                </a:extLst>
              </p:cNvPr>
              <p:cNvSpPr txBox="1"/>
              <p:nvPr/>
            </p:nvSpPr>
            <p:spPr>
              <a:xfrm>
                <a:off x="4885368" y="3839707"/>
                <a:ext cx="18224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4165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A13382F-80B5-3343-FA98-267CEA946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85368" y="3839707"/>
                <a:ext cx="1822400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2184260-7CE7-E200-9A45-3F05C3A14069}"/>
                  </a:ext>
                </a:extLst>
              </p14:cNvPr>
              <p14:cNvContentPartPr/>
              <p14:nvPr/>
            </p14:nvContentPartPr>
            <p14:xfrm>
              <a:off x="3897720" y="5555520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2184260-7CE7-E200-9A45-3F05C3A1406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888360" y="554616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9877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16" grpId="0"/>
      <p:bldP spid="17" grpId="0" animBg="1"/>
      <p:bldP spid="18" grpId="0" animBg="1"/>
      <p:bldP spid="19" grpId="0" animBg="1"/>
      <p:bldP spid="20" grpId="0" animBg="1"/>
      <p:bldP spid="21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 integer is chosen at random from the first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positive integers. What is the probability that the integer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?</a:t>
                </a:r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blipFill>
                <a:blip r:embed="rId2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17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/>
              <p:nvPr/>
            </p:nvSpPr>
            <p:spPr>
              <a:xfrm>
                <a:off x="1594215" y="2248477"/>
                <a:ext cx="42668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integers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248477"/>
                <a:ext cx="4266835" cy="523220"/>
              </a:xfrm>
              <a:prstGeom prst="rect">
                <a:avLst/>
              </a:prstGeom>
              <a:blipFill>
                <a:blip r:embed="rId3"/>
                <a:stretch>
                  <a:fillRect l="-3004" t="-11628" r="-157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1C11A8F-DC44-48A4-8F1F-83D3E17670A0}"/>
                  </a:ext>
                </a:extLst>
              </p:cNvPr>
              <p:cNvSpPr txBox="1"/>
              <p:nvPr/>
            </p:nvSpPr>
            <p:spPr>
              <a:xfrm>
                <a:off x="1592773" y="2762186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1C11A8F-DC44-48A4-8F1F-83D3E17670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73" y="2762186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C7F9C32-AD9A-4647-8A9C-30E1C24A27CD}"/>
                  </a:ext>
                </a:extLst>
              </p:cNvPr>
              <p:cNvSpPr txBox="1"/>
              <p:nvPr/>
            </p:nvSpPr>
            <p:spPr>
              <a:xfrm>
                <a:off x="2383190" y="2758236"/>
                <a:ext cx="11665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C7F9C32-AD9A-4647-8A9C-30E1C24A27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3190" y="2758236"/>
                <a:ext cx="116653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9A05E71A-AFC5-4430-8D7C-E80194FB2B12}"/>
                  </a:ext>
                </a:extLst>
              </p:cNvPr>
              <p:cNvSpPr txBox="1"/>
              <p:nvPr/>
            </p:nvSpPr>
            <p:spPr>
              <a:xfrm>
                <a:off x="1594218" y="3289304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9A05E71A-AFC5-4430-8D7C-E80194FB2B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289304"/>
                <a:ext cx="653080" cy="523220"/>
              </a:xfrm>
              <a:prstGeom prst="rect">
                <a:avLst/>
              </a:prstGeom>
              <a:blipFill>
                <a:blip r:embed="rId6"/>
                <a:stretch>
                  <a:fillRect t="-11765" r="-467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4DA4023-4F8E-48BC-8D99-701CEDF2A832}"/>
                  </a:ext>
                </a:extLst>
              </p:cNvPr>
              <p:cNvSpPr txBox="1"/>
              <p:nvPr/>
            </p:nvSpPr>
            <p:spPr>
              <a:xfrm>
                <a:off x="2113868" y="3289018"/>
                <a:ext cx="3514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4DA4023-4F8E-48BC-8D99-701CEDF2A8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3868" y="3289018"/>
                <a:ext cx="3514949" cy="523220"/>
              </a:xfrm>
              <a:prstGeom prst="rect">
                <a:avLst/>
              </a:prstGeom>
              <a:blipFill>
                <a:blip r:embed="rId7"/>
                <a:stretch>
                  <a:fillRect l="-3646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5BD57E2-C3E3-4CFB-9D3B-54FC8D393048}"/>
                  </a:ext>
                </a:extLst>
              </p:cNvPr>
              <p:cNvSpPr txBox="1"/>
              <p:nvPr/>
            </p:nvSpPr>
            <p:spPr>
              <a:xfrm>
                <a:off x="2040850" y="462996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5BD57E2-C3E3-4CFB-9D3B-54FC8D3930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4629962"/>
                <a:ext cx="90057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5E33BD1B-A76B-407E-8622-005C53568820}"/>
                  </a:ext>
                </a:extLst>
              </p:cNvPr>
              <p:cNvSpPr txBox="1"/>
              <p:nvPr/>
            </p:nvSpPr>
            <p:spPr>
              <a:xfrm>
                <a:off x="1594216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5E33BD1B-A76B-407E-8622-005C535688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629962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18CAA0D-B8BA-48CA-89DF-09865F6519E0}"/>
                  </a:ext>
                </a:extLst>
              </p:cNvPr>
              <p:cNvSpPr txBox="1"/>
              <p:nvPr/>
            </p:nvSpPr>
            <p:spPr>
              <a:xfrm>
                <a:off x="2831711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18CAA0D-B8BA-48CA-89DF-09865F6519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1711" y="4629962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6E1D30E8-1B2E-4501-84C7-61402E8E419A}"/>
                  </a:ext>
                </a:extLst>
              </p:cNvPr>
              <p:cNvSpPr txBox="1"/>
              <p:nvPr/>
            </p:nvSpPr>
            <p:spPr>
              <a:xfrm>
                <a:off x="6178665" y="4629962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6E1D30E8-1B2E-4501-84C7-61402E8E41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5" y="4629962"/>
                <a:ext cx="98503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D9EB35-26E8-40E1-AFA7-BBCAAFCBB1CB}"/>
                  </a:ext>
                </a:extLst>
              </p:cNvPr>
              <p:cNvSpPr txBox="1"/>
              <p:nvPr/>
            </p:nvSpPr>
            <p:spPr>
              <a:xfrm>
                <a:off x="4456520" y="4629962"/>
                <a:ext cx="18265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.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D9EB35-26E8-40E1-AFA7-BBCAAFCBB1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520" y="4629962"/>
                <a:ext cx="182656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B897876-09F9-415C-9D54-B15A4345CD69}"/>
                  </a:ext>
                </a:extLst>
              </p:cNvPr>
              <p:cNvSpPr txBox="1"/>
              <p:nvPr/>
            </p:nvSpPr>
            <p:spPr>
              <a:xfrm>
                <a:off x="3256127" y="4366075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6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B897876-09F9-415C-9D54-B15A4345CD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127" y="4366075"/>
                <a:ext cx="1304812" cy="10509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18335E4-B10B-4650-BE79-AD44042D1482}"/>
                  </a:ext>
                </a:extLst>
              </p:cNvPr>
              <p:cNvSpPr txBox="1"/>
              <p:nvPr/>
            </p:nvSpPr>
            <p:spPr>
              <a:xfrm>
                <a:off x="1594218" y="3806625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18335E4-B10B-4650-BE79-AD44042D1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806625"/>
                <a:ext cx="653080" cy="523220"/>
              </a:xfrm>
              <a:prstGeom prst="rect">
                <a:avLst/>
              </a:prstGeom>
              <a:blipFill>
                <a:blip r:embed="rId14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57A542-0F4C-4ED9-B36C-DFA0DF7AB251}"/>
                  </a:ext>
                </a:extLst>
              </p:cNvPr>
              <p:cNvSpPr txBox="1"/>
              <p:nvPr/>
            </p:nvSpPr>
            <p:spPr>
              <a:xfrm>
                <a:off x="2113868" y="3806339"/>
                <a:ext cx="3514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57A542-0F4C-4ED9-B36C-DFA0DF7AB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3868" y="3806339"/>
                <a:ext cx="3514949" cy="523220"/>
              </a:xfrm>
              <a:prstGeom prst="rect">
                <a:avLst/>
              </a:prstGeom>
              <a:blipFill>
                <a:blip r:embed="rId15"/>
                <a:stretch>
                  <a:fillRect l="-3646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A6FFE17-141F-4625-8534-310BB2B376E1}"/>
                  </a:ext>
                </a:extLst>
              </p:cNvPr>
              <p:cNvSpPr txBox="1"/>
              <p:nvPr/>
            </p:nvSpPr>
            <p:spPr>
              <a:xfrm>
                <a:off x="2040850" y="5836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A6FFE17-141F-4625-8534-310BB2B376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5836137"/>
                <a:ext cx="90057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7557392-6218-46FC-9C1C-1AC05227048F}"/>
                  </a:ext>
                </a:extLst>
              </p:cNvPr>
              <p:cNvSpPr txBox="1"/>
              <p:nvPr/>
            </p:nvSpPr>
            <p:spPr>
              <a:xfrm>
                <a:off x="1594216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7557392-6218-46FC-9C1C-1AC052270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36137"/>
                <a:ext cx="53412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1718AAB-153A-4E47-87C2-F80B99786B06}"/>
                  </a:ext>
                </a:extLst>
              </p:cNvPr>
              <p:cNvSpPr txBox="1"/>
              <p:nvPr/>
            </p:nvSpPr>
            <p:spPr>
              <a:xfrm>
                <a:off x="2831711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1718AAB-153A-4E47-87C2-F80B99786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1711" y="5836137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F8F87FC-33B8-40DF-9CB0-89A3E3DACFC1}"/>
                  </a:ext>
                </a:extLst>
              </p:cNvPr>
              <p:cNvSpPr txBox="1"/>
              <p:nvPr/>
            </p:nvSpPr>
            <p:spPr>
              <a:xfrm>
                <a:off x="5761332" y="5836137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F8F87FC-33B8-40DF-9CB0-89A3E3DACF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1332" y="5836137"/>
                <a:ext cx="985034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1E42060-DB8F-44A0-9E54-E33D5A333BA7}"/>
                  </a:ext>
                </a:extLst>
              </p:cNvPr>
              <p:cNvSpPr txBox="1"/>
              <p:nvPr/>
            </p:nvSpPr>
            <p:spPr>
              <a:xfrm>
                <a:off x="4456520" y="5836137"/>
                <a:ext cx="13048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1E42060-DB8F-44A0-9E54-E33D5A333B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520" y="5836137"/>
                <a:ext cx="130481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6DD0885E-FE0C-400E-807F-36E5E7B0AB7A}"/>
                  </a:ext>
                </a:extLst>
              </p:cNvPr>
              <p:cNvSpPr txBox="1"/>
              <p:nvPr/>
            </p:nvSpPr>
            <p:spPr>
              <a:xfrm>
                <a:off x="3256127" y="5541473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8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6DD0885E-FE0C-400E-807F-36E5E7B0AB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127" y="5541473"/>
                <a:ext cx="1304812" cy="105099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BA261CE-94CB-4838-A96B-C453A567DB2D}"/>
                  </a:ext>
                </a:extLst>
              </p:cNvPr>
              <p:cNvSpPr txBox="1"/>
              <p:nvPr/>
            </p:nvSpPr>
            <p:spPr>
              <a:xfrm>
                <a:off x="6395909" y="2248477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BA261CE-94CB-4838-A96B-C453A567D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5909" y="2248477"/>
                <a:ext cx="153557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71849A1A-624E-40E5-8A53-F2EB9E485E1F}"/>
                  </a:ext>
                </a:extLst>
              </p:cNvPr>
              <p:cNvSpPr txBox="1"/>
              <p:nvPr/>
            </p:nvSpPr>
            <p:spPr>
              <a:xfrm>
                <a:off x="7802182" y="2248477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71849A1A-624E-40E5-8A53-F2EB9E485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2182" y="2248477"/>
                <a:ext cx="42318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BED6F6C-4B2E-4175-ADD6-2E48CA4B1529}"/>
                  </a:ext>
                </a:extLst>
              </p:cNvPr>
              <p:cNvSpPr txBox="1"/>
              <p:nvPr/>
            </p:nvSpPr>
            <p:spPr>
              <a:xfrm>
                <a:off x="8160982" y="2248477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BED6F6C-4B2E-4175-ADD6-2E48CA4B15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0982" y="2248477"/>
                <a:ext cx="423181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/>
              <p:nvPr/>
            </p:nvSpPr>
            <p:spPr>
              <a:xfrm>
                <a:off x="7856715" y="462996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6715" y="4629962"/>
                <a:ext cx="90057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EC3A8222-1DA4-42FE-ADC9-3B30CE275232}"/>
                  </a:ext>
                </a:extLst>
              </p:cNvPr>
              <p:cNvSpPr txBox="1"/>
              <p:nvPr/>
            </p:nvSpPr>
            <p:spPr>
              <a:xfrm>
                <a:off x="7345080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EC3A8222-1DA4-42FE-ADC9-3B30CE2752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5080" y="4629962"/>
                <a:ext cx="53412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1B0F73C-5EE9-43C3-B194-E714A3049647}"/>
                  </a:ext>
                </a:extLst>
              </p:cNvPr>
              <p:cNvSpPr txBox="1"/>
              <p:nvPr/>
            </p:nvSpPr>
            <p:spPr>
              <a:xfrm>
                <a:off x="8643445" y="4396853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1B0F73C-5EE9-43C3-B194-E714A30496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3445" y="4396853"/>
                <a:ext cx="1502185" cy="989438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/>
              <p:nvPr/>
            </p:nvSpPr>
            <p:spPr>
              <a:xfrm>
                <a:off x="10019839" y="4440680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9839" y="4440680"/>
                <a:ext cx="1330332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/>
              <p:nvPr/>
            </p:nvSpPr>
            <p:spPr>
              <a:xfrm>
                <a:off x="7856715" y="5836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6715" y="5836137"/>
                <a:ext cx="900571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82D78E3-0AAA-470E-994E-153E64AEA905}"/>
                  </a:ext>
                </a:extLst>
              </p:cNvPr>
              <p:cNvSpPr txBox="1"/>
              <p:nvPr/>
            </p:nvSpPr>
            <p:spPr>
              <a:xfrm>
                <a:off x="7345080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82D78E3-0AAA-470E-994E-153E64AEA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5080" y="5836137"/>
                <a:ext cx="534127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91E4FF5-00CB-44D6-8785-94051AEA46A1}"/>
                  </a:ext>
                </a:extLst>
              </p:cNvPr>
              <p:cNvSpPr txBox="1"/>
              <p:nvPr/>
            </p:nvSpPr>
            <p:spPr>
              <a:xfrm>
                <a:off x="8643445" y="560302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91E4FF5-00CB-44D6-8785-94051AEA46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3445" y="5603028"/>
                <a:ext cx="1502185" cy="989438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/>
              <p:nvPr/>
            </p:nvSpPr>
            <p:spPr>
              <a:xfrm>
                <a:off x="10019839" y="564685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9839" y="5646855"/>
                <a:ext cx="1330332" cy="90178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80951C9-C76A-4DFB-ACDC-58E9058FFA9A}"/>
                  </a:ext>
                </a:extLst>
              </p:cNvPr>
              <p:cNvSpPr txBox="1"/>
              <p:nvPr/>
            </p:nvSpPr>
            <p:spPr>
              <a:xfrm>
                <a:off x="8163723" y="2248477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80951C9-C76A-4DFB-ACDC-58E9058FFA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3723" y="2248477"/>
                <a:ext cx="384963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915478" y="1987826"/>
            <a:ext cx="4121426" cy="13252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11EC358-C49A-204B-B248-2DB7C5B0838B}"/>
                  </a:ext>
                </a:extLst>
              </p14:cNvPr>
              <p14:cNvContentPartPr/>
              <p14:nvPr/>
            </p14:nvContentPartPr>
            <p14:xfrm>
              <a:off x="9413640" y="4688640"/>
              <a:ext cx="63360" cy="385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11EC358-C49A-204B-B248-2DB7C5B0838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9404280" y="4679280"/>
                <a:ext cx="82080" cy="57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22378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9" grpId="0"/>
      <p:bldP spid="40" grpId="0"/>
      <p:bldP spid="42" grpId="0"/>
      <p:bldP spid="49" grpId="0" animBg="1"/>
      <p:bldP spid="51" grpId="0" animBg="1"/>
      <p:bldP spid="52" grpId="0" animBg="1"/>
      <p:bldP spid="53" grpId="0" animBg="1"/>
      <p:bldP spid="54" grpId="0"/>
      <p:bldP spid="55" grpId="0"/>
      <p:bldP spid="56" grpId="0"/>
      <p:bldP spid="57" grpId="0"/>
      <p:bldP spid="29" grpId="0" animBg="1"/>
      <p:bldP spid="30" grpId="0" animBg="1"/>
      <p:bldP spid="31" grpId="0" animBg="1"/>
      <p:bldP spid="32" grpId="0" animBg="1"/>
      <p:bldP spid="33" grpId="0"/>
      <p:bldP spid="34" grpId="0"/>
      <p:bldP spid="35" grpId="0"/>
      <p:bldP spid="36" grpId="0"/>
      <p:bldP spid="37" grpId="0" animBg="1"/>
      <p:bldP spid="38" grpId="0" animBg="1"/>
      <p:bldP spid="43" grpId="0" animBg="1"/>
      <p:bldP spid="43" grpId="1"/>
      <p:bldP spid="44" grpId="0" animBg="1"/>
      <p:bldP spid="45" grpId="0" animBg="1"/>
      <p:bldP spid="46" grpId="0" animBg="1"/>
      <p:bldP spid="47" grpId="0" animBg="1"/>
      <p:bldP spid="48" grpId="0" animBg="1"/>
      <p:bldP spid="50" grpId="0" animBg="1"/>
      <p:bldP spid="65" grpId="0" animBg="1"/>
      <p:bldP spid="66" grpId="0" animBg="1"/>
      <p:bldP spid="67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17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/>
              <p:nvPr/>
            </p:nvSpPr>
            <p:spPr>
              <a:xfrm>
                <a:off x="3488339" y="974709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8339" y="974709"/>
                <a:ext cx="900571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/>
              <p:nvPr/>
            </p:nvSpPr>
            <p:spPr>
              <a:xfrm>
                <a:off x="4327732" y="785427"/>
                <a:ext cx="140542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US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7732" y="785427"/>
                <a:ext cx="1405422" cy="90178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/>
              <p:nvPr/>
            </p:nvSpPr>
            <p:spPr>
              <a:xfrm>
                <a:off x="5697078" y="962264"/>
                <a:ext cx="154063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7078" y="962264"/>
                <a:ext cx="154063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/>
              <p:nvPr/>
            </p:nvSpPr>
            <p:spPr>
              <a:xfrm>
                <a:off x="7130569" y="759110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0569" y="759110"/>
                <a:ext cx="1330332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/>
              <p:nvPr/>
            </p:nvSpPr>
            <p:spPr>
              <a:xfrm>
                <a:off x="128220" y="2494562"/>
                <a:ext cx="170856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Let</a:t>
                </a:r>
                <a:r>
                  <a:rPr kumimoji="0" lang="en-IN" sz="2800" b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220" y="2494562"/>
                <a:ext cx="1708565" cy="523220"/>
              </a:xfrm>
              <a:prstGeom prst="rect">
                <a:avLst/>
              </a:prstGeom>
              <a:blipFill>
                <a:blip r:embed="rId6"/>
                <a:stretch>
                  <a:fillRect l="-7143" t="-10465" r="-6786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E5192E5B-DFE9-41D0-A004-AC8A7ADE6420}"/>
                  </a:ext>
                </a:extLst>
              </p:cNvPr>
              <p:cNvSpPr txBox="1"/>
              <p:nvPr/>
            </p:nvSpPr>
            <p:spPr>
              <a:xfrm>
                <a:off x="1792602" y="2494564"/>
                <a:ext cx="555646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both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E5192E5B-DFE9-41D0-A004-AC8A7ADE64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2602" y="2494564"/>
                <a:ext cx="5556466" cy="523220"/>
              </a:xfrm>
              <a:prstGeom prst="rect">
                <a:avLst/>
              </a:prstGeom>
              <a:blipFill>
                <a:blip r:embed="rId7"/>
                <a:stretch>
                  <a:fillRect l="-219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TextBox 66">
            <a:extLst>
              <a:ext uri="{FF2B5EF4-FFF2-40B4-BE49-F238E27FC236}">
                <a16:creationId xmlns:a16="http://schemas.microsoft.com/office/drawing/2014/main" id="{D0BA8895-88D2-48AA-B78E-96AB878DB1D6}"/>
              </a:ext>
            </a:extLst>
          </p:cNvPr>
          <p:cNvSpPr txBox="1"/>
          <p:nvPr/>
        </p:nvSpPr>
        <p:spPr>
          <a:xfrm>
            <a:off x="160755" y="3050215"/>
            <a:ext cx="75856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191129E-A6CC-40EE-AAE3-2AD5BB9CA4C9}"/>
                  </a:ext>
                </a:extLst>
              </p:cNvPr>
              <p:cNvSpPr txBox="1"/>
              <p:nvPr/>
            </p:nvSpPr>
            <p:spPr>
              <a:xfrm>
                <a:off x="781996" y="3050216"/>
                <a:ext cx="558228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[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lcm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, </m:t>
                        </m:r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8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]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191129E-A6CC-40EE-AAE3-2AD5BB9CA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996" y="3050216"/>
                <a:ext cx="5582289" cy="523220"/>
              </a:xfrm>
              <a:prstGeom prst="rect">
                <a:avLst/>
              </a:prstGeom>
              <a:blipFill>
                <a:blip r:embed="rId8"/>
                <a:stretch>
                  <a:fillRect l="-2183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/>
              <p:nvPr/>
            </p:nvSpPr>
            <p:spPr>
              <a:xfrm>
                <a:off x="591169" y="3915014"/>
                <a:ext cx="153505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169" y="3915014"/>
                <a:ext cx="153505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74ABD6E-B370-4908-82B7-37D246993D14}"/>
                  </a:ext>
                </a:extLst>
              </p:cNvPr>
              <p:cNvSpPr txBox="1"/>
              <p:nvPr/>
            </p:nvSpPr>
            <p:spPr>
              <a:xfrm>
                <a:off x="163671" y="391501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74ABD6E-B370-4908-82B7-37D246993D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71" y="3915014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2FE4C38-D5ED-44A2-8248-B87A4BAE4910}"/>
                  </a:ext>
                </a:extLst>
              </p:cNvPr>
              <p:cNvSpPr txBox="1"/>
              <p:nvPr/>
            </p:nvSpPr>
            <p:spPr>
              <a:xfrm>
                <a:off x="1944701" y="391501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2FE4C38-D5ED-44A2-8248-B87A4BAE49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701" y="3915014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/>
              <p:nvPr/>
            </p:nvSpPr>
            <p:spPr>
              <a:xfrm>
                <a:off x="4748120" y="3915014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8120" y="3915014"/>
                <a:ext cx="98503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/>
              <p:nvPr/>
            </p:nvSpPr>
            <p:spPr>
              <a:xfrm>
                <a:off x="3295960" y="3915014"/>
                <a:ext cx="18265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.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5960" y="3915014"/>
                <a:ext cx="182656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3A4B8AEC-27D0-4BF4-B193-75EC93F6C6CE}"/>
                  </a:ext>
                </a:extLst>
              </p:cNvPr>
              <p:cNvSpPr txBox="1"/>
              <p:nvPr/>
            </p:nvSpPr>
            <p:spPr>
              <a:xfrm>
                <a:off x="2278167" y="3651128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24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3A4B8AEC-27D0-4BF4-B193-75EC93F6C6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8167" y="3651128"/>
                <a:ext cx="1304812" cy="10509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617315" y="5223494"/>
                <a:ext cx="163844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315" y="5223494"/>
                <a:ext cx="163844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/>
              <p:nvPr/>
            </p:nvSpPr>
            <p:spPr>
              <a:xfrm>
                <a:off x="164318" y="525736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18" y="5257360"/>
                <a:ext cx="5341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2047165" y="4990385"/>
                <a:ext cx="1997112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7165" y="4990385"/>
                <a:ext cx="1997112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/>
              <p:nvPr/>
            </p:nvSpPr>
            <p:spPr>
              <a:xfrm>
                <a:off x="3968731" y="5068078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8731" y="5068078"/>
                <a:ext cx="1330332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F4ADD4-6729-4093-BBB0-5CBF2FECE99D}"/>
                  </a:ext>
                </a:extLst>
              </p:cNvPr>
              <p:cNvSpPr txBox="1"/>
              <p:nvPr/>
            </p:nvSpPr>
            <p:spPr>
              <a:xfrm>
                <a:off x="1482990" y="962264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F4ADD4-6729-4093-BBB0-5CBF2FECE9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2990" y="962264"/>
                <a:ext cx="863234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631080D-BE0A-4161-90F5-4CB53491739F}"/>
                  </a:ext>
                </a:extLst>
              </p:cNvPr>
              <p:cNvSpPr txBox="1"/>
              <p:nvPr/>
            </p:nvSpPr>
            <p:spPr>
              <a:xfrm>
                <a:off x="2205533" y="964389"/>
                <a:ext cx="13432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</a:t>
                </a: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631080D-BE0A-4161-90F5-4CB534917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533" y="964389"/>
                <a:ext cx="1343220" cy="523220"/>
              </a:xfrm>
              <a:prstGeom prst="rect">
                <a:avLst/>
              </a:prstGeom>
              <a:blipFill>
                <a:blip r:embed="rId20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/>
          <p:cNvSpPr txBox="1"/>
          <p:nvPr/>
        </p:nvSpPr>
        <p:spPr>
          <a:xfrm>
            <a:off x="128220" y="970872"/>
            <a:ext cx="27432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 have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1904390" y="1778224"/>
                <a:ext cx="38871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IN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𝐏</m:t>
                      </m:r>
                      <m:d>
                        <m:dPr>
                          <m:ctrlPr>
                            <a:rPr kumimoji="0" lang="en-GB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𝐀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390" y="1778224"/>
                <a:ext cx="388713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160755" y="1772650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55" y="1772650"/>
                <a:ext cx="153557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1558188" y="1784060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8188" y="1784060"/>
                <a:ext cx="42318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8304868" y="3724320"/>
                <a:ext cx="38871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4868" y="3724320"/>
                <a:ext cx="3887132" cy="523220"/>
              </a:xfrm>
              <a:prstGeom prst="rect">
                <a:avLst/>
              </a:prstGeom>
              <a:blipFill rotWithShape="0"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6537054" y="3724320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7054" y="3724320"/>
                <a:ext cx="1535579" cy="523220"/>
              </a:xfrm>
              <a:prstGeom prst="rect">
                <a:avLst/>
              </a:prstGeom>
              <a:blipFill rotWithShape="0"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7943327" y="3724320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3327" y="3724320"/>
                <a:ext cx="423181" cy="523220"/>
              </a:xfrm>
              <a:prstGeom prst="rect">
                <a:avLst/>
              </a:prstGeom>
              <a:blipFill rotWithShape="0"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/>
              <p:nvPr/>
            </p:nvSpPr>
            <p:spPr>
              <a:xfrm>
                <a:off x="7958173" y="4392147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8173" y="4392147"/>
                <a:ext cx="1330332" cy="90178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/>
              <p:nvPr/>
            </p:nvSpPr>
            <p:spPr>
              <a:xfrm>
                <a:off x="9161058" y="4392147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61058" y="4392147"/>
                <a:ext cx="1330332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/>
              <p:nvPr/>
            </p:nvSpPr>
            <p:spPr>
              <a:xfrm>
                <a:off x="10471184" y="4392147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1184" y="4392147"/>
                <a:ext cx="1330332" cy="901785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/>
              <p:nvPr/>
            </p:nvSpPr>
            <p:spPr>
              <a:xfrm>
                <a:off x="7958173" y="5518970"/>
                <a:ext cx="1005455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8173" y="5518970"/>
                <a:ext cx="1005455" cy="901785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8221452" y="2011062"/>
                <a:ext cx="1638442" cy="52322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1452" y="2011062"/>
                <a:ext cx="1638442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9651302" y="1777953"/>
                <a:ext cx="1997112" cy="9894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51302" y="1777953"/>
                <a:ext cx="1997112" cy="989438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6013528" y="3817567"/>
            <a:ext cx="0" cy="2515139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492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67" grpId="0"/>
      <p:bldP spid="68" grpId="0"/>
      <p:bldP spid="69" grpId="0" animBg="1"/>
      <p:bldP spid="70" grpId="0" animBg="1"/>
      <p:bldP spid="71" grpId="0"/>
      <p:bldP spid="72" grpId="0"/>
      <p:bldP spid="73" grpId="0"/>
      <p:bldP spid="74" grpId="0"/>
      <p:bldP spid="75" grpId="0" animBg="1"/>
      <p:bldP spid="76" grpId="0" animBg="1"/>
      <p:bldP spid="77" grpId="0" animBg="1"/>
      <p:bldP spid="78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 animBg="1"/>
      <p:bldP spid="42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 10">
            <a:extLst>
              <a:ext uri="{FF2B5EF4-FFF2-40B4-BE49-F238E27FC236}">
                <a16:creationId xmlns:a16="http://schemas.microsoft.com/office/drawing/2014/main" id="{BA7294AA-E6C5-41C1-B532-88AC16486AAA}"/>
              </a:ext>
            </a:extLst>
          </p:cNvPr>
          <p:cNvGraphicFramePr>
            <a:graphicFrameLocks noGrp="1"/>
          </p:cNvGraphicFramePr>
          <p:nvPr/>
        </p:nvGraphicFramePr>
        <p:xfrm>
          <a:off x="1689466" y="2681765"/>
          <a:ext cx="4618421" cy="2448000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306421">
                  <a:extLst>
                    <a:ext uri="{9D8B030D-6E8A-4147-A177-3AD203B41FA5}">
                      <a16:colId xmlns:a16="http://schemas.microsoft.com/office/drawing/2014/main" val="3207154094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val="1971944706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val="157226433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758617350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7206059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4314181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518612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001348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65728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basket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apples and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oranges of which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apples and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oranges are bad. If a person takes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at random, what is the probability that either both are apples or both are good?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57288"/>
              </a:xfrm>
              <a:prstGeom prst="rect">
                <a:avLst/>
              </a:prstGeom>
              <a:blipFill>
                <a:blip r:embed="rId2"/>
                <a:stretch>
                  <a:fillRect l="-1074" r="-1074" b="-992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8176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2DB7561-9A87-421C-8825-F8CFCEB7DB05}"/>
              </a:ext>
            </a:extLst>
          </p:cNvPr>
          <p:cNvSpPr txBox="1"/>
          <p:nvPr/>
        </p:nvSpPr>
        <p:spPr>
          <a:xfrm>
            <a:off x="1719990" y="334201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Apples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0B5E069-2DED-4CFC-B96B-99CF0D5098BB}"/>
              </a:ext>
            </a:extLst>
          </p:cNvPr>
          <p:cNvSpPr txBox="1"/>
          <p:nvPr/>
        </p:nvSpPr>
        <p:spPr>
          <a:xfrm>
            <a:off x="1594216" y="3954690"/>
            <a:ext cx="145722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Oranges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B397B6E-EA5E-4ED2-9F5D-2F477A7A6420}"/>
                  </a:ext>
                </a:extLst>
              </p:cNvPr>
              <p:cNvSpPr txBox="1"/>
              <p:nvPr/>
            </p:nvSpPr>
            <p:spPr>
              <a:xfrm>
                <a:off x="1556116" y="5356250"/>
                <a:ext cx="52311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Ways to choose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fruits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30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:</a:t>
                </a: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B397B6E-EA5E-4ED2-9F5D-2F477A7A64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6116" y="5356250"/>
                <a:ext cx="5231108" cy="523220"/>
              </a:xfrm>
              <a:prstGeom prst="rect">
                <a:avLst/>
              </a:prstGeom>
              <a:blipFill>
                <a:blip r:embed="rId3"/>
                <a:stretch>
                  <a:fillRect l="-2331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102DCFCD-EF39-4F7A-AE26-D9A477F644A6}"/>
                  </a:ext>
                </a:extLst>
              </p:cNvPr>
              <p:cNvSpPr txBox="1"/>
              <p:nvPr/>
            </p:nvSpPr>
            <p:spPr>
              <a:xfrm>
                <a:off x="1594216" y="594378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102DCFCD-EF39-4F7A-AE26-D9A477F644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943787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A0988970-2DEE-4529-B1E6-12DF77FE9979}"/>
                  </a:ext>
                </a:extLst>
              </p:cNvPr>
              <p:cNvSpPr txBox="1"/>
              <p:nvPr/>
            </p:nvSpPr>
            <p:spPr>
              <a:xfrm>
                <a:off x="2422525" y="594378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30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A0988970-2DEE-4529-B1E6-12DF77FE99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2525" y="5943787"/>
                <a:ext cx="12499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D41260E-DF05-4916-AAF7-6CEC57E63221}"/>
                  </a:ext>
                </a:extLst>
              </p:cNvPr>
              <p:cNvSpPr txBox="1"/>
              <p:nvPr/>
            </p:nvSpPr>
            <p:spPr>
              <a:xfrm>
                <a:off x="3637539" y="5943787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D41260E-DF05-4916-AAF7-6CEC57E632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7539" y="5943787"/>
                <a:ext cx="115462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TextBox 82">
            <a:extLst>
              <a:ext uri="{FF2B5EF4-FFF2-40B4-BE49-F238E27FC236}">
                <a16:creationId xmlns:a16="http://schemas.microsoft.com/office/drawing/2014/main" id="{C18F06B3-FE1D-4C42-807E-D66E88BC977F}"/>
              </a:ext>
            </a:extLst>
          </p:cNvPr>
          <p:cNvSpPr txBox="1"/>
          <p:nvPr/>
        </p:nvSpPr>
        <p:spPr>
          <a:xfrm>
            <a:off x="2976834" y="273876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0F0D7F4-522D-4E57-9BBC-6CBB91C131A5}"/>
              </a:ext>
            </a:extLst>
          </p:cNvPr>
          <p:cNvSpPr txBox="1"/>
          <p:nvPr/>
        </p:nvSpPr>
        <p:spPr>
          <a:xfrm>
            <a:off x="4142416" y="273876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Good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E0576BD5-FFD0-407A-8894-8C3E7927587E}"/>
                  </a:ext>
                </a:extLst>
              </p:cNvPr>
              <p:cNvSpPr txBox="1"/>
              <p:nvPr/>
            </p:nvSpPr>
            <p:spPr>
              <a:xfrm>
                <a:off x="5511955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E0576BD5-FFD0-407A-8894-8C3E792758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5" y="3340861"/>
                <a:ext cx="70945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E79986F-1758-43AE-831D-23298070F292}"/>
                  </a:ext>
                </a:extLst>
              </p:cNvPr>
              <p:cNvSpPr txBox="1"/>
              <p:nvPr/>
            </p:nvSpPr>
            <p:spPr>
              <a:xfrm>
                <a:off x="3250529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E79986F-1758-43AE-831D-23298070F2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3340861"/>
                <a:ext cx="70945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528FEF0-03EC-47D8-8768-68734C6F4B9F}"/>
                  </a:ext>
                </a:extLst>
              </p:cNvPr>
              <p:cNvSpPr txBox="1"/>
              <p:nvPr/>
            </p:nvSpPr>
            <p:spPr>
              <a:xfrm>
                <a:off x="4416111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528FEF0-03EC-47D8-8768-68734C6F4B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3340861"/>
                <a:ext cx="70945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C79CB996-462A-47EE-9174-436D4BBD17CC}"/>
                  </a:ext>
                </a:extLst>
              </p:cNvPr>
              <p:cNvSpPr txBox="1"/>
              <p:nvPr/>
            </p:nvSpPr>
            <p:spPr>
              <a:xfrm>
                <a:off x="5511955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C79CB996-462A-47EE-9174-436D4BBD17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5" y="3954690"/>
                <a:ext cx="70945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1FE14EAD-8D02-43A9-95FF-1246478EAF30}"/>
                  </a:ext>
                </a:extLst>
              </p:cNvPr>
              <p:cNvSpPr txBox="1"/>
              <p:nvPr/>
            </p:nvSpPr>
            <p:spPr>
              <a:xfrm>
                <a:off x="3250529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1FE14EAD-8D02-43A9-95FF-1246478EAF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3954690"/>
                <a:ext cx="70945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20CBBAAE-D0D8-4F16-912A-0C9B4E926AC5}"/>
                  </a:ext>
                </a:extLst>
              </p:cNvPr>
              <p:cNvSpPr txBox="1"/>
              <p:nvPr/>
            </p:nvSpPr>
            <p:spPr>
              <a:xfrm>
                <a:off x="4416111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20CBBAAE-D0D8-4F16-912A-0C9B4E926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3954690"/>
                <a:ext cx="70945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E7D077F-83C0-4661-ADB7-1FC914E47245}"/>
                  </a:ext>
                </a:extLst>
              </p:cNvPr>
              <p:cNvSpPr txBox="1"/>
              <p:nvPr/>
            </p:nvSpPr>
            <p:spPr>
              <a:xfrm>
                <a:off x="3250529" y="456613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E7D077F-83C0-4661-ADB7-1FC914E472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4566139"/>
                <a:ext cx="7094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C629518-95DB-4ABE-B09B-FA58F73F0209}"/>
                  </a:ext>
                </a:extLst>
              </p:cNvPr>
              <p:cNvSpPr txBox="1"/>
              <p:nvPr/>
            </p:nvSpPr>
            <p:spPr>
              <a:xfrm>
                <a:off x="4416111" y="456851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C629518-95DB-4ABE-B09B-FA58F73F0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4568519"/>
                <a:ext cx="7094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AAE082F-E5DE-450A-A45F-55BC684DD670}"/>
                  </a:ext>
                </a:extLst>
              </p:cNvPr>
              <p:cNvSpPr txBox="1"/>
              <p:nvPr/>
            </p:nvSpPr>
            <p:spPr>
              <a:xfrm>
                <a:off x="5511954" y="456851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AAE082F-E5DE-450A-A45F-55BC684DD6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4" y="4568519"/>
                <a:ext cx="7094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E7CFEDE0-9E27-4D23-9633-F2319DB793D8}"/>
                  </a:ext>
                </a:extLst>
              </p:cNvPr>
              <p:cNvSpPr txBox="1"/>
              <p:nvPr/>
            </p:nvSpPr>
            <p:spPr>
              <a:xfrm>
                <a:off x="6580661" y="2744952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E7CFEDE0-9E27-4D23-9633-F2319DB79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0661" y="2744952"/>
                <a:ext cx="653080" cy="523220"/>
              </a:xfrm>
              <a:prstGeom prst="rect">
                <a:avLst/>
              </a:prstGeom>
              <a:blipFill>
                <a:blip r:embed="rId16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TextBox 94">
            <a:extLst>
              <a:ext uri="{FF2B5EF4-FFF2-40B4-BE49-F238E27FC236}">
                <a16:creationId xmlns:a16="http://schemas.microsoft.com/office/drawing/2014/main" id="{1708CA5B-4479-4371-AA2D-862FA12E5684}"/>
              </a:ext>
            </a:extLst>
          </p:cNvPr>
          <p:cNvSpPr txBox="1"/>
          <p:nvPr/>
        </p:nvSpPr>
        <p:spPr>
          <a:xfrm>
            <a:off x="7100311" y="2744666"/>
            <a:ext cx="35149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apples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EDA4923C-D898-4E1A-A853-BF61BCFCEF85}"/>
                  </a:ext>
                </a:extLst>
              </p:cNvPr>
              <p:cNvSpPr txBox="1"/>
              <p:nvPr/>
            </p:nvSpPr>
            <p:spPr>
              <a:xfrm>
                <a:off x="6580661" y="3262273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EDA4923C-D898-4E1A-A853-BF61BCFCEF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0661" y="3262273"/>
                <a:ext cx="653080" cy="523220"/>
              </a:xfrm>
              <a:prstGeom prst="rect">
                <a:avLst/>
              </a:prstGeom>
              <a:blipFill>
                <a:blip r:embed="rId17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TextBox 96">
            <a:extLst>
              <a:ext uri="{FF2B5EF4-FFF2-40B4-BE49-F238E27FC236}">
                <a16:creationId xmlns:a16="http://schemas.microsoft.com/office/drawing/2014/main" id="{982BCC15-0F6F-4101-9957-AF9E0D6CC7C2}"/>
              </a:ext>
            </a:extLst>
          </p:cNvPr>
          <p:cNvSpPr txBox="1"/>
          <p:nvPr/>
        </p:nvSpPr>
        <p:spPr>
          <a:xfrm>
            <a:off x="7100311" y="3261987"/>
            <a:ext cx="35149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good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A84445E-C1BA-4411-A53E-EA97CA4D0AC8}"/>
                  </a:ext>
                </a:extLst>
              </p:cNvPr>
              <p:cNvSpPr txBox="1"/>
              <p:nvPr/>
            </p:nvSpPr>
            <p:spPr>
              <a:xfrm>
                <a:off x="6578994" y="481071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A84445E-C1BA-4411-A53E-EA97CA4D0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8994" y="4810717"/>
                <a:ext cx="86323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6247CAB-FE09-42A8-92AF-724C0251D5BB}"/>
                  </a:ext>
                </a:extLst>
              </p:cNvPr>
              <p:cNvSpPr txBox="1"/>
              <p:nvPr/>
            </p:nvSpPr>
            <p:spPr>
              <a:xfrm>
                <a:off x="7328745" y="481071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6247CAB-FE09-42A8-92AF-724C0251D5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8745" y="4810717"/>
                <a:ext cx="12499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B5B3AF1-5623-44A4-8F3E-077A71A488AF}"/>
                  </a:ext>
                </a:extLst>
              </p:cNvPr>
              <p:cNvSpPr txBox="1"/>
              <p:nvPr/>
            </p:nvSpPr>
            <p:spPr>
              <a:xfrm>
                <a:off x="8458271" y="4810717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190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B5B3AF1-5623-44A4-8F3E-077A71A488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8271" y="4810717"/>
                <a:ext cx="115462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C6A4AB81-81EC-4C30-AF1F-5BB6B2377ECD}"/>
                  </a:ext>
                </a:extLst>
              </p:cNvPr>
              <p:cNvSpPr txBox="1"/>
              <p:nvPr/>
            </p:nvSpPr>
            <p:spPr>
              <a:xfrm>
                <a:off x="6578994" y="5880494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C6A4AB81-81EC-4C30-AF1F-5BB6B2377E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8994" y="5880494"/>
                <a:ext cx="8632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E18B293E-3BC9-457B-A968-1767F0409C51}"/>
                  </a:ext>
                </a:extLst>
              </p:cNvPr>
              <p:cNvSpPr txBox="1"/>
              <p:nvPr/>
            </p:nvSpPr>
            <p:spPr>
              <a:xfrm>
                <a:off x="7342338" y="5880494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E18B293E-3BC9-457B-A968-1767F0409C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2338" y="5880494"/>
                <a:ext cx="124993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6BAAFE5F-195D-4C3A-80E9-280D45EA1984}"/>
                  </a:ext>
                </a:extLst>
              </p:cNvPr>
              <p:cNvSpPr txBox="1"/>
              <p:nvPr/>
            </p:nvSpPr>
            <p:spPr>
              <a:xfrm>
                <a:off x="8458271" y="5880494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231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6BAAFE5F-195D-4C3A-80E9-280D45EA19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8271" y="5880494"/>
                <a:ext cx="115462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AC4400A9-9D16-4BC0-AD5B-4C81A2290488}"/>
                  </a:ext>
                </a:extLst>
              </p:cNvPr>
              <p:cNvSpPr txBox="1"/>
              <p:nvPr/>
            </p:nvSpPr>
            <p:spPr>
              <a:xfrm>
                <a:off x="6574549" y="3864081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AC4400A9-9D16-4BC0-AD5B-4C81A22904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4549" y="3864081"/>
                <a:ext cx="1535579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1D56564-A5DC-4EDE-A083-0F3882DF2600}"/>
                  </a:ext>
                </a:extLst>
              </p:cNvPr>
              <p:cNvSpPr txBox="1"/>
              <p:nvPr/>
            </p:nvSpPr>
            <p:spPr>
              <a:xfrm>
                <a:off x="7980822" y="3864081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1D56564-A5DC-4EDE-A083-0F3882DF26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0822" y="3864081"/>
                <a:ext cx="42318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05A78CD4-6419-4078-A5DE-39BB3EBB001B}"/>
                  </a:ext>
                </a:extLst>
              </p:cNvPr>
              <p:cNvSpPr txBox="1"/>
              <p:nvPr/>
            </p:nvSpPr>
            <p:spPr>
              <a:xfrm>
                <a:off x="8339622" y="3864081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05A78CD4-6419-4078-A5DE-39BB3EBB00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39622" y="3864081"/>
                <a:ext cx="423181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17941F0D-2C71-4EB0-B955-6B4337201549}"/>
                  </a:ext>
                </a:extLst>
              </p:cNvPr>
              <p:cNvSpPr txBox="1"/>
              <p:nvPr/>
            </p:nvSpPr>
            <p:spPr>
              <a:xfrm>
                <a:off x="8342363" y="3864081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17941F0D-2C71-4EB0-B955-6B43372015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2363" y="3864081"/>
                <a:ext cx="384963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DF753F28-D129-4829-AB74-B71098E22ABE}"/>
              </a:ext>
            </a:extLst>
          </p:cNvPr>
          <p:cNvCxnSpPr>
            <a:cxnSpLocks/>
          </p:cNvCxnSpPr>
          <p:nvPr/>
        </p:nvCxnSpPr>
        <p:spPr>
          <a:xfrm>
            <a:off x="6505969" y="2681765"/>
            <a:ext cx="0" cy="3838731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5513B1AB-742E-4911-A113-FC73724341D6}"/>
                  </a:ext>
                </a:extLst>
              </p:cNvPr>
              <p:cNvSpPr txBox="1"/>
              <p:nvPr/>
            </p:nvSpPr>
            <p:spPr>
              <a:xfrm>
                <a:off x="9937019" y="481300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5513B1AB-742E-4911-A113-FC73724341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019" y="4813007"/>
                <a:ext cx="900571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77B9C682-13DB-4C63-8526-FE83B574FD99}"/>
                  </a:ext>
                </a:extLst>
              </p:cNvPr>
              <p:cNvSpPr txBox="1"/>
              <p:nvPr/>
            </p:nvSpPr>
            <p:spPr>
              <a:xfrm>
                <a:off x="9531312" y="481071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77B9C682-13DB-4C63-8526-FE83B574FD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312" y="4810717"/>
                <a:ext cx="534127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3D2464F4-B01F-4646-AA2D-D9023718823B}"/>
                  </a:ext>
                </a:extLst>
              </p:cNvPr>
              <p:cNvSpPr txBox="1"/>
              <p:nvPr/>
            </p:nvSpPr>
            <p:spPr>
              <a:xfrm>
                <a:off x="10730489" y="458017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3D2464F4-B01F-4646-AA2D-D902371882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0489" y="4580175"/>
                <a:ext cx="1330332" cy="901785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36E61D6-A4C4-471F-A7FE-EF5A6E422950}"/>
                  </a:ext>
                </a:extLst>
              </p:cNvPr>
              <p:cNvSpPr txBox="1"/>
              <p:nvPr/>
            </p:nvSpPr>
            <p:spPr>
              <a:xfrm>
                <a:off x="9937019" y="5880494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36E61D6-A4C4-471F-A7FE-EF5A6E4229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019" y="5880494"/>
                <a:ext cx="900571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E45D24F-82DD-4F7F-B134-5CDDF7D5B093}"/>
                  </a:ext>
                </a:extLst>
              </p:cNvPr>
              <p:cNvSpPr txBox="1"/>
              <p:nvPr/>
            </p:nvSpPr>
            <p:spPr>
              <a:xfrm>
                <a:off x="9531312" y="588049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E45D24F-82DD-4F7F-B134-5CDDF7D5B0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312" y="5880494"/>
                <a:ext cx="53412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1BB33860-0780-490E-B829-06E324F947D3}"/>
                  </a:ext>
                </a:extLst>
              </p:cNvPr>
              <p:cNvSpPr txBox="1"/>
              <p:nvPr/>
            </p:nvSpPr>
            <p:spPr>
              <a:xfrm>
                <a:off x="10730489" y="5691212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1BB33860-0780-490E-B829-06E324F947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0489" y="5691212"/>
                <a:ext cx="1330332" cy="901785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8899CCC1-1DA4-42B8-B3FA-728A9AC5A4FB}"/>
              </a:ext>
            </a:extLst>
          </p:cNvPr>
          <p:cNvSpPr/>
          <p:nvPr/>
        </p:nvSpPr>
        <p:spPr>
          <a:xfrm>
            <a:off x="5521047" y="3384931"/>
            <a:ext cx="700362" cy="435081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15" name="Rectangle: Rounded Corners 114">
            <a:extLst>
              <a:ext uri="{FF2B5EF4-FFF2-40B4-BE49-F238E27FC236}">
                <a16:creationId xmlns:a16="http://schemas.microsoft.com/office/drawing/2014/main" id="{6DD8604B-B0CC-4A4F-B2D3-67F9B7D36729}"/>
              </a:ext>
            </a:extLst>
          </p:cNvPr>
          <p:cNvSpPr/>
          <p:nvPr/>
        </p:nvSpPr>
        <p:spPr>
          <a:xfrm>
            <a:off x="4422112" y="4623783"/>
            <a:ext cx="700362" cy="435081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36658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78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 animBg="1"/>
      <p:bldP spid="95" grpId="0" animBg="1"/>
      <p:bldP spid="96" grpId="0" animBg="1"/>
      <p:bldP spid="97" grpId="0" animBg="1"/>
      <p:bldP spid="98" grpId="0"/>
      <p:bldP spid="99" grpId="0"/>
      <p:bldP spid="100" grpId="0"/>
      <p:bldP spid="101" grpId="0"/>
      <p:bldP spid="102" grpId="0"/>
      <p:bldP spid="103" grpId="0"/>
      <p:bldP spid="104" grpId="0" animBg="1"/>
      <p:bldP spid="105" grpId="0" animBg="1"/>
      <p:bldP spid="106" grpId="0" animBg="1"/>
      <p:bldP spid="106" grpId="1"/>
      <p:bldP spid="107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21" grpId="0" animBg="1"/>
      <p:bldP spid="21" grpId="1" animBg="1"/>
      <p:bldP spid="115" grpId="0" animBg="1"/>
      <p:bldP spid="115" grpId="1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/>
              <p:nvPr/>
            </p:nvSpPr>
            <p:spPr>
              <a:xfrm>
                <a:off x="457988" y="3454265"/>
                <a:ext cx="119252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3454265"/>
                <a:ext cx="1192528" cy="523220"/>
              </a:xfrm>
              <a:prstGeom prst="rect">
                <a:avLst/>
              </a:prstGeom>
              <a:blipFill>
                <a:blip r:embed="rId2"/>
                <a:stretch>
                  <a:fillRect t="-11765" r="-10204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TextBox 63">
            <a:extLst>
              <a:ext uri="{FF2B5EF4-FFF2-40B4-BE49-F238E27FC236}">
                <a16:creationId xmlns:a16="http://schemas.microsoft.com/office/drawing/2014/main" id="{E5192E5B-DFE9-41D0-A004-AC8A7ADE6420}"/>
              </a:ext>
            </a:extLst>
          </p:cNvPr>
          <p:cNvSpPr txBox="1"/>
          <p:nvPr/>
        </p:nvSpPr>
        <p:spPr>
          <a:xfrm>
            <a:off x="1606334" y="3454267"/>
            <a:ext cx="410127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good apples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/>
              <p:nvPr/>
            </p:nvSpPr>
            <p:spPr>
              <a:xfrm>
                <a:off x="457988" y="4204167"/>
                <a:ext cx="153505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4204167"/>
                <a:ext cx="153505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/>
              <p:nvPr/>
            </p:nvSpPr>
            <p:spPr>
              <a:xfrm>
                <a:off x="3005996" y="4204167"/>
                <a:ext cx="11121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05996" y="4204167"/>
                <a:ext cx="111214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/>
              <p:nvPr/>
            </p:nvSpPr>
            <p:spPr>
              <a:xfrm>
                <a:off x="1883912" y="4204167"/>
                <a:ext cx="1290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3912" y="4204167"/>
                <a:ext cx="129053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910985" y="5141771"/>
                <a:ext cx="163844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0985" y="5141771"/>
                <a:ext cx="163844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/>
              <p:nvPr/>
            </p:nvSpPr>
            <p:spPr>
              <a:xfrm>
                <a:off x="457988" y="51417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5141771"/>
                <a:ext cx="5341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/>
              <p:nvPr/>
            </p:nvSpPr>
            <p:spPr>
              <a:xfrm>
                <a:off x="2309371" y="4911138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9371" y="4911138"/>
                <a:ext cx="1330332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71ADF38-9BFE-4DD6-9747-43B3610DC3A2}"/>
                  </a:ext>
                </a:extLst>
              </p:cNvPr>
              <p:cNvSpPr txBox="1"/>
              <p:nvPr/>
            </p:nvSpPr>
            <p:spPr>
              <a:xfrm>
                <a:off x="3434623" y="100300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71ADF38-9BFE-4DD6-9747-43B3610DC3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4623" y="1003008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4CD42AF-FC01-45C8-BB8E-BFC81D80D745}"/>
                  </a:ext>
                </a:extLst>
              </p:cNvPr>
              <p:cNvSpPr txBox="1"/>
              <p:nvPr/>
            </p:nvSpPr>
            <p:spPr>
              <a:xfrm>
                <a:off x="4228093" y="804042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4CD42AF-FC01-45C8-BB8E-BFC81D80D7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8093" y="804042"/>
                <a:ext cx="1330332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575C17-7738-43A5-934D-E367C146DCE6}"/>
                  </a:ext>
                </a:extLst>
              </p:cNvPr>
              <p:cNvSpPr txBox="1"/>
              <p:nvPr/>
            </p:nvSpPr>
            <p:spPr>
              <a:xfrm>
                <a:off x="5469470" y="986760"/>
                <a:ext cx="152425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575C17-7738-43A5-934D-E367C146DC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9470" y="986760"/>
                <a:ext cx="152425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3F549D3-88F2-4351-8E57-9104E5EC9EEB}"/>
                  </a:ext>
                </a:extLst>
              </p:cNvPr>
              <p:cNvSpPr txBox="1"/>
              <p:nvPr/>
            </p:nvSpPr>
            <p:spPr>
              <a:xfrm>
                <a:off x="6886626" y="797478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3F549D3-88F2-4351-8E57-9104E5EC9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6626" y="797478"/>
                <a:ext cx="1330332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6E8A021-EC7F-49B8-A73E-324283156F11}"/>
                  </a:ext>
                </a:extLst>
              </p:cNvPr>
              <p:cNvSpPr txBox="1"/>
              <p:nvPr/>
            </p:nvSpPr>
            <p:spPr>
              <a:xfrm>
                <a:off x="1652641" y="1007682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6E8A021-EC7F-49B8-A73E-324283156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2641" y="1007682"/>
                <a:ext cx="86323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F0ACF4C-2DC8-4511-9892-B5DA2443795E}"/>
                  </a:ext>
                </a:extLst>
              </p:cNvPr>
              <p:cNvSpPr txBox="1"/>
              <p:nvPr/>
            </p:nvSpPr>
            <p:spPr>
              <a:xfrm>
                <a:off x="2363477" y="1007682"/>
                <a:ext cx="1395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435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</a:t>
                </a: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F0ACF4C-2DC8-4511-9892-B5DA244379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3477" y="1007682"/>
                <a:ext cx="1395725" cy="523220"/>
              </a:xfrm>
              <a:prstGeom prst="rect">
                <a:avLst/>
              </a:prstGeom>
              <a:blipFill>
                <a:blip r:embed="rId14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50" name="Table 10">
            <a:extLst>
              <a:ext uri="{FF2B5EF4-FFF2-40B4-BE49-F238E27FC236}">
                <a16:creationId xmlns:a16="http://schemas.microsoft.com/office/drawing/2014/main" id="{FE8DB707-7421-4435-B5DF-064CC00067A6}"/>
              </a:ext>
            </a:extLst>
          </p:cNvPr>
          <p:cNvGraphicFramePr>
            <a:graphicFrameLocks noGrp="1"/>
          </p:cNvGraphicFramePr>
          <p:nvPr/>
        </p:nvGraphicFramePr>
        <p:xfrm>
          <a:off x="8342363" y="749411"/>
          <a:ext cx="3849637" cy="1835196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088954">
                  <a:extLst>
                    <a:ext uri="{9D8B030D-6E8A-4147-A177-3AD203B41FA5}">
                      <a16:colId xmlns:a16="http://schemas.microsoft.com/office/drawing/2014/main" val="3207154094"/>
                    </a:ext>
                  </a:extLst>
                </a:gridCol>
                <a:gridCol w="990245">
                  <a:extLst>
                    <a:ext uri="{9D8B030D-6E8A-4147-A177-3AD203B41FA5}">
                      <a16:colId xmlns:a16="http://schemas.microsoft.com/office/drawing/2014/main" val="1971944706"/>
                    </a:ext>
                  </a:extLst>
                </a:gridCol>
                <a:gridCol w="990245">
                  <a:extLst>
                    <a:ext uri="{9D8B030D-6E8A-4147-A177-3AD203B41FA5}">
                      <a16:colId xmlns:a16="http://schemas.microsoft.com/office/drawing/2014/main" val="1572264338"/>
                    </a:ext>
                  </a:extLst>
                </a:gridCol>
                <a:gridCol w="780193">
                  <a:extLst>
                    <a:ext uri="{9D8B030D-6E8A-4147-A177-3AD203B41FA5}">
                      <a16:colId xmlns:a16="http://schemas.microsoft.com/office/drawing/2014/main" val="2758617350"/>
                    </a:ext>
                  </a:extLst>
                </a:gridCol>
              </a:tblGrid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7206059"/>
                  </a:ext>
                </a:extLst>
              </a:tr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4314181"/>
                  </a:ext>
                </a:extLst>
              </a:tr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5186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0013488"/>
                  </a:ext>
                </a:extLst>
              </a:tr>
            </a:tbl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090D9964-8CF6-4B12-9B6A-D2675CA893E6}"/>
              </a:ext>
            </a:extLst>
          </p:cNvPr>
          <p:cNvSpPr txBox="1"/>
          <p:nvPr/>
        </p:nvSpPr>
        <p:spPr>
          <a:xfrm>
            <a:off x="8370104" y="1261804"/>
            <a:ext cx="103871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Apples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0C2C14A-BE4E-4226-81DC-8A7D2AD47DE8}"/>
              </a:ext>
            </a:extLst>
          </p:cNvPr>
          <p:cNvSpPr txBox="1"/>
          <p:nvPr/>
        </p:nvSpPr>
        <p:spPr>
          <a:xfrm>
            <a:off x="8261718" y="1779558"/>
            <a:ext cx="120431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Oranges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F82E117-48C6-44AA-9C60-568178355B0C}"/>
              </a:ext>
            </a:extLst>
          </p:cNvPr>
          <p:cNvSpPr txBox="1"/>
          <p:nvPr/>
        </p:nvSpPr>
        <p:spPr>
          <a:xfrm>
            <a:off x="9479437" y="772547"/>
            <a:ext cx="858441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Bad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6E5D93B-CCFF-4E00-A161-EFF36DD090AC}"/>
              </a:ext>
            </a:extLst>
          </p:cNvPr>
          <p:cNvSpPr txBox="1"/>
          <p:nvPr/>
        </p:nvSpPr>
        <p:spPr>
          <a:xfrm>
            <a:off x="10464003" y="772547"/>
            <a:ext cx="858441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Good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8495760-C095-47CA-B349-70BF3C0CCC77}"/>
                  </a:ext>
                </a:extLst>
              </p:cNvPr>
              <p:cNvSpPr txBox="1"/>
              <p:nvPr/>
            </p:nvSpPr>
            <p:spPr>
              <a:xfrm>
                <a:off x="11444784" y="126180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8495760-C095-47CA-B349-70BF3C0CCC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4784" y="1261804"/>
                <a:ext cx="709455" cy="430887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1F19DEF6-D701-437F-937A-70253C2BE448}"/>
                  </a:ext>
                </a:extLst>
              </p:cNvPr>
              <p:cNvSpPr txBox="1"/>
              <p:nvPr/>
            </p:nvSpPr>
            <p:spPr>
              <a:xfrm>
                <a:off x="9553930" y="128965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1F19DEF6-D701-437F-937A-70253C2BE4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1289653"/>
                <a:ext cx="709455" cy="430887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86A88C5-BA46-436B-A785-A48AA19BB2A8}"/>
                  </a:ext>
                </a:extLst>
              </p:cNvPr>
              <p:cNvSpPr txBox="1"/>
              <p:nvPr/>
            </p:nvSpPr>
            <p:spPr>
              <a:xfrm>
                <a:off x="10538496" y="128965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15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86A88C5-BA46-436B-A785-A48AA19BB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1289653"/>
                <a:ext cx="709455" cy="430887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83780AD-4668-4320-84FD-B7A7FA738429}"/>
                  </a:ext>
                </a:extLst>
              </p:cNvPr>
              <p:cNvSpPr txBox="1"/>
              <p:nvPr/>
            </p:nvSpPr>
            <p:spPr>
              <a:xfrm>
                <a:off x="11444784" y="1779559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en-US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83780AD-4668-4320-84FD-B7A7FA7384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4784" y="1779559"/>
                <a:ext cx="709455" cy="43088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CDFF921-865C-4EFB-896F-651BE4D881CD}"/>
                  </a:ext>
                </a:extLst>
              </p:cNvPr>
              <p:cNvSpPr txBox="1"/>
              <p:nvPr/>
            </p:nvSpPr>
            <p:spPr>
              <a:xfrm>
                <a:off x="9553930" y="178136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CDFF921-865C-4EFB-896F-651BE4D881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1781364"/>
                <a:ext cx="709455" cy="43088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2E17059-AA58-4DF5-8CAF-F493EE8231ED}"/>
                  </a:ext>
                </a:extLst>
              </p:cNvPr>
              <p:cNvSpPr txBox="1"/>
              <p:nvPr/>
            </p:nvSpPr>
            <p:spPr>
              <a:xfrm>
                <a:off x="10538496" y="1779557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2E17059-AA58-4DF5-8CAF-F493EE823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1779557"/>
                <a:ext cx="709455" cy="430887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18E9ABE-900C-4147-AD43-57EA08D7011C}"/>
                  </a:ext>
                </a:extLst>
              </p:cNvPr>
              <p:cNvSpPr txBox="1"/>
              <p:nvPr/>
            </p:nvSpPr>
            <p:spPr>
              <a:xfrm>
                <a:off x="9553930" y="2292188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18E9ABE-900C-4147-AD43-57EA08D70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2292188"/>
                <a:ext cx="709455" cy="430887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2B22EB55-FF26-46F9-9CE0-31F9EE849C68}"/>
                  </a:ext>
                </a:extLst>
              </p:cNvPr>
              <p:cNvSpPr txBox="1"/>
              <p:nvPr/>
            </p:nvSpPr>
            <p:spPr>
              <a:xfrm>
                <a:off x="10538496" y="228461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22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2B22EB55-FF26-46F9-9CE0-31F9EE849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2284613"/>
                <a:ext cx="709455" cy="430887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42683D65-A15D-4CE8-915F-836BC2E01843}"/>
                  </a:ext>
                </a:extLst>
              </p:cNvPr>
              <p:cNvSpPr txBox="1"/>
              <p:nvPr/>
            </p:nvSpPr>
            <p:spPr>
              <a:xfrm>
                <a:off x="11448569" y="228461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42683D65-A15D-4CE8-915F-836BC2E018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8569" y="2284614"/>
                <a:ext cx="709455" cy="430887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D014A75-1FB8-4D50-B4DB-92AB1DEA1092}"/>
              </a:ext>
            </a:extLst>
          </p:cNvPr>
          <p:cNvSpPr/>
          <p:nvPr/>
        </p:nvSpPr>
        <p:spPr>
          <a:xfrm>
            <a:off x="10598748" y="1319998"/>
            <a:ext cx="577194" cy="358568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8667" y="1016001"/>
            <a:ext cx="14393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 have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8135535" y="3445933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5535" y="3445933"/>
                <a:ext cx="384963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6367721" y="3445933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7721" y="3445933"/>
                <a:ext cx="1535579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7773994" y="3445933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3445933"/>
                <a:ext cx="423181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/>
              <p:nvPr/>
            </p:nvSpPr>
            <p:spPr>
              <a:xfrm>
                <a:off x="7773994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4194191"/>
                <a:ext cx="1330332" cy="90178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/>
              <p:nvPr/>
            </p:nvSpPr>
            <p:spPr>
              <a:xfrm>
                <a:off x="8976879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6879" y="4194191"/>
                <a:ext cx="1330332" cy="90178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/>
              <p:nvPr/>
            </p:nvSpPr>
            <p:spPr>
              <a:xfrm>
                <a:off x="10287005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7005" y="4194191"/>
                <a:ext cx="1330332" cy="90178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/>
              <p:nvPr/>
            </p:nvSpPr>
            <p:spPr>
              <a:xfrm>
                <a:off x="7773994" y="5321014"/>
                <a:ext cx="131018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316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5321014"/>
                <a:ext cx="1310182" cy="901785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2158069" y="1769534"/>
                <a:ext cx="388713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IN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𝐏</m:t>
                      </m:r>
                      <m:d>
                        <m:dPr>
                          <m:ctrlPr>
                            <a:rPr kumimoji="0" lang="en-GB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𝐀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8069" y="1769534"/>
                <a:ext cx="3887131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390255" y="1769534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255" y="1769534"/>
                <a:ext cx="153557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1796528" y="1769534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6528" y="1769534"/>
                <a:ext cx="423181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398252" y="2620662"/>
                <a:ext cx="1638442" cy="52322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252" y="2620662"/>
                <a:ext cx="1638442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1828102" y="2387553"/>
                <a:ext cx="1997112" cy="9894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8102" y="2387553"/>
                <a:ext cx="1997112" cy="989438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6068422" y="3402282"/>
            <a:ext cx="0" cy="3179635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272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69" grpId="0" animBg="1"/>
      <p:bldP spid="72" grpId="0"/>
      <p:bldP spid="73" grpId="0"/>
      <p:bldP spid="75" grpId="0" animBg="1"/>
      <p:bldP spid="76" grpId="0" animBg="1"/>
      <p:bldP spid="78" grpId="0" animBg="1"/>
      <p:bldP spid="86" grpId="0" animBg="1"/>
      <p:bldP spid="86" grpId="1" animBg="1"/>
      <p:bldP spid="40" grpId="0"/>
      <p:bldP spid="41" grpId="0"/>
      <p:bldP spid="42" grpId="0"/>
      <p:bldP spid="43" grpId="0"/>
      <p:bldP spid="44" grpId="0"/>
      <p:bldP spid="45" grpId="0"/>
      <p:bldP spid="46" grpId="0"/>
      <p:bldP spid="67" grpId="0" animBg="1"/>
      <p:bldP spid="68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19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5E95C3B-5201-4265-8BE5-C987B594AD37}"/>
              </a:ext>
            </a:extLst>
          </p:cNvPr>
          <p:cNvSpPr txBox="1"/>
          <p:nvPr/>
        </p:nvSpPr>
        <p:spPr>
          <a:xfrm>
            <a:off x="15942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DD11E37-770D-430F-B968-513B08F6CFCC}"/>
              </a:ext>
            </a:extLst>
          </p:cNvPr>
          <p:cNvSpPr txBox="1"/>
          <p:nvPr/>
        </p:nvSpPr>
        <p:spPr>
          <a:xfrm>
            <a:off x="1594215" y="3872040"/>
            <a:ext cx="270685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Tue,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Wed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DCD8326-7803-44BF-A62A-6B015D807F01}"/>
              </a:ext>
            </a:extLst>
          </p:cNvPr>
          <p:cNvSpPr txBox="1"/>
          <p:nvPr/>
        </p:nvSpPr>
        <p:spPr>
          <a:xfrm>
            <a:off x="1594217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A4378F3-64FA-4EA6-BCDC-6AD7D656369E}"/>
              </a:ext>
            </a:extLst>
          </p:cNvPr>
          <p:cNvSpPr txBox="1"/>
          <p:nvPr/>
        </p:nvSpPr>
        <p:spPr>
          <a:xfrm>
            <a:off x="43944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2406068-ECE0-434D-8627-9EDA703EDD12}"/>
              </a:ext>
            </a:extLst>
          </p:cNvPr>
          <p:cNvSpPr txBox="1"/>
          <p:nvPr/>
        </p:nvSpPr>
        <p:spPr>
          <a:xfrm>
            <a:off x="43944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4538728-3447-4D01-983A-CD081A8ED643}"/>
              </a:ext>
            </a:extLst>
          </p:cNvPr>
          <p:cNvSpPr txBox="1"/>
          <p:nvPr/>
        </p:nvSpPr>
        <p:spPr>
          <a:xfrm>
            <a:off x="4394416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1D23BBB-7989-4446-A940-E6649018EFED}"/>
              </a:ext>
            </a:extLst>
          </p:cNvPr>
          <p:cNvSpPr txBox="1"/>
          <p:nvPr/>
        </p:nvSpPr>
        <p:spPr>
          <a:xfrm>
            <a:off x="7090389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Month July has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days,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2"/>
                <a:stretch>
                  <a:fillRect l="-334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/>
              <p:nvPr/>
            </p:nvSpPr>
            <p:spPr>
              <a:xfrm>
                <a:off x="11234512" y="3468758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34512" y="3468758"/>
                <a:ext cx="7416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/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blipFill>
                <a:blip r:embed="rId4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3C5867A-891A-4259-8FD0-6CDCDB17F2C0}"/>
              </a:ext>
            </a:extLst>
          </p:cNvPr>
          <p:cNvCxnSpPr/>
          <p:nvPr/>
        </p:nvCxnSpPr>
        <p:spPr>
          <a:xfrm flipV="1">
            <a:off x="11121479" y="3482718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7A413899-8207-48BF-B012-C030E1C7F0E6}"/>
              </a:ext>
            </a:extLst>
          </p:cNvPr>
          <p:cNvCxnSpPr>
            <a:cxnSpLocks/>
          </p:cNvCxnSpPr>
          <p:nvPr/>
        </p:nvCxnSpPr>
        <p:spPr>
          <a:xfrm>
            <a:off x="11121479" y="3482718"/>
            <a:ext cx="854707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/>
              <p:nvPr/>
            </p:nvSpPr>
            <p:spPr>
              <a:xfrm>
                <a:off x="10697303" y="3482718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97303" y="3482718"/>
                <a:ext cx="3676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/>
              <p:nvPr/>
            </p:nvSpPr>
            <p:spPr>
              <a:xfrm>
                <a:off x="11306903" y="2954407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06903" y="2954407"/>
                <a:ext cx="3270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/>
              <p:nvPr/>
            </p:nvSpPr>
            <p:spPr>
              <a:xfrm>
                <a:off x="11234512" y="3898013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34512" y="3898013"/>
                <a:ext cx="7416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/>
              <p:nvPr/>
            </p:nvSpPr>
            <p:spPr>
              <a:xfrm>
                <a:off x="10936066" y="3881508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36066" y="3881508"/>
                <a:ext cx="4279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FBC6C321-472A-4FBB-9E49-CA5CE8555AB4}"/>
              </a:ext>
            </a:extLst>
          </p:cNvPr>
          <p:cNvCxnSpPr>
            <a:cxnSpLocks/>
          </p:cNvCxnSpPr>
          <p:nvPr/>
        </p:nvCxnSpPr>
        <p:spPr>
          <a:xfrm>
            <a:off x="11234512" y="4404728"/>
            <a:ext cx="741674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/>
              <p:nvPr/>
            </p:nvSpPr>
            <p:spPr>
              <a:xfrm>
                <a:off x="11460579" y="4390767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0579" y="4390767"/>
                <a:ext cx="2947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/>
              <p:nvPr/>
            </p:nvSpPr>
            <p:spPr>
              <a:xfrm>
                <a:off x="1594216" y="2696508"/>
                <a:ext cx="964029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spcAft>
                    <a:spcPts val="300"/>
                  </a:spcAft>
                  <a:tabLst>
                    <a:tab pos="2057400" algn="l"/>
                  </a:tabLst>
                  <a:defRPr/>
                </a:pP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These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extra days can be: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96508"/>
                <a:ext cx="9640296" cy="523220"/>
              </a:xfrm>
              <a:prstGeom prst="rect">
                <a:avLst/>
              </a:prstGeom>
              <a:blipFill>
                <a:blip r:embed="rId10"/>
                <a:stretch>
                  <a:fillRect l="-132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/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total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blipFill>
                <a:blip r:embed="rId11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/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blipFill>
                <a:blip r:embed="rId12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1611AED6-43A7-46C8-AD57-83F095674FD0}"/>
              </a:ext>
            </a:extLst>
          </p:cNvPr>
          <p:cNvSpPr/>
          <p:nvPr/>
        </p:nvSpPr>
        <p:spPr>
          <a:xfrm>
            <a:off x="1684216" y="3348494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B6B4F5E7-A8A3-4E49-BE13-A04E80EB19F4}"/>
              </a:ext>
            </a:extLst>
          </p:cNvPr>
          <p:cNvSpPr/>
          <p:nvPr/>
        </p:nvSpPr>
        <p:spPr>
          <a:xfrm>
            <a:off x="4484416" y="4482360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/>
              <p:nvPr/>
            </p:nvSpPr>
            <p:spPr>
              <a:xfrm>
                <a:off x="1594217" y="5876442"/>
                <a:ext cx="56638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July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76442"/>
                <a:ext cx="5663833" cy="523220"/>
              </a:xfrm>
              <a:prstGeom prst="rect">
                <a:avLst/>
              </a:prstGeom>
              <a:blipFill>
                <a:blip r:embed="rId13"/>
                <a:stretch>
                  <a:fillRect l="-2260" t="-11628" r="-32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/>
              <p:nvPr/>
            </p:nvSpPr>
            <p:spPr>
              <a:xfrm>
                <a:off x="7185200" y="5667924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5200" y="5667924"/>
                <a:ext cx="979281" cy="94025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DF151772-D2E5-46B7-A404-2564A6BEF0C0}"/>
              </a:ext>
            </a:extLst>
          </p:cNvPr>
          <p:cNvSpPr/>
          <p:nvPr/>
        </p:nvSpPr>
        <p:spPr>
          <a:xfrm>
            <a:off x="7150600" y="3348494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AABC6740-4D9A-4BF9-A128-EC23459AF4E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Find the probability that there will be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the month of July.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AABC6740-4D9A-4BF9-A128-EC23459AF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15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9693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 animBg="1"/>
      <p:bldP spid="54" grpId="1"/>
      <p:bldP spid="55" grpId="0"/>
      <p:bldP spid="59" grpId="0" animBg="1"/>
      <p:bldP spid="59" grpId="1"/>
      <p:bldP spid="60" grpId="0" animBg="1"/>
      <p:bldP spid="60" grpId="1"/>
      <p:bldP spid="61" grpId="0" animBg="1"/>
      <p:bldP spid="61" grpId="1"/>
      <p:bldP spid="62" grpId="0" animBg="1"/>
      <p:bldP spid="62" grpId="1"/>
      <p:bldP spid="64" grpId="0" animBg="1"/>
      <p:bldP spid="64" grpId="1"/>
      <p:bldP spid="72" grpId="0"/>
      <p:bldP spid="73" grpId="0"/>
      <p:bldP spid="74" grpId="0" animBg="1"/>
      <p:bldP spid="75" grpId="0" animBg="1"/>
      <p:bldP spid="76" grpId="0"/>
      <p:bldP spid="77" grpId="0"/>
      <p:bldP spid="118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5E95C3B-5201-4265-8BE5-C987B594AD37}"/>
              </a:ext>
            </a:extLst>
          </p:cNvPr>
          <p:cNvSpPr txBox="1"/>
          <p:nvPr/>
        </p:nvSpPr>
        <p:spPr>
          <a:xfrm>
            <a:off x="15942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DD11E37-770D-430F-B968-513B08F6CFCC}"/>
              </a:ext>
            </a:extLst>
          </p:cNvPr>
          <p:cNvSpPr txBox="1"/>
          <p:nvPr/>
        </p:nvSpPr>
        <p:spPr>
          <a:xfrm>
            <a:off x="15942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DCD8326-7803-44BF-A62A-6B015D807F01}"/>
              </a:ext>
            </a:extLst>
          </p:cNvPr>
          <p:cNvSpPr txBox="1"/>
          <p:nvPr/>
        </p:nvSpPr>
        <p:spPr>
          <a:xfrm>
            <a:off x="1594217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A4378F3-64FA-4EA6-BCDC-6AD7D656369E}"/>
              </a:ext>
            </a:extLst>
          </p:cNvPr>
          <p:cNvSpPr txBox="1"/>
          <p:nvPr/>
        </p:nvSpPr>
        <p:spPr>
          <a:xfrm>
            <a:off x="43944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2406068-ECE0-434D-8627-9EDA703EDD12}"/>
              </a:ext>
            </a:extLst>
          </p:cNvPr>
          <p:cNvSpPr txBox="1"/>
          <p:nvPr/>
        </p:nvSpPr>
        <p:spPr>
          <a:xfrm>
            <a:off x="43944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4538728-3447-4D01-983A-CD081A8ED643}"/>
              </a:ext>
            </a:extLst>
          </p:cNvPr>
          <p:cNvSpPr txBox="1"/>
          <p:nvPr/>
        </p:nvSpPr>
        <p:spPr>
          <a:xfrm>
            <a:off x="4394416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1D23BBB-7989-4446-A940-E6649018EFED}"/>
              </a:ext>
            </a:extLst>
          </p:cNvPr>
          <p:cNvSpPr txBox="1"/>
          <p:nvPr/>
        </p:nvSpPr>
        <p:spPr>
          <a:xfrm>
            <a:off x="7090389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Month June has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days,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2"/>
                <a:stretch>
                  <a:fillRect l="-334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/>
              <p:nvPr/>
            </p:nvSpPr>
            <p:spPr>
              <a:xfrm>
                <a:off x="11208509" y="3527327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08509" y="3527327"/>
                <a:ext cx="7416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/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blipFill>
                <a:blip r:embed="rId4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3C5867A-891A-4259-8FD0-6CDCDB17F2C0}"/>
              </a:ext>
            </a:extLst>
          </p:cNvPr>
          <p:cNvCxnSpPr/>
          <p:nvPr/>
        </p:nvCxnSpPr>
        <p:spPr>
          <a:xfrm flipV="1">
            <a:off x="11095476" y="3541287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7A413899-8207-48BF-B012-C030E1C7F0E6}"/>
              </a:ext>
            </a:extLst>
          </p:cNvPr>
          <p:cNvCxnSpPr>
            <a:cxnSpLocks/>
          </p:cNvCxnSpPr>
          <p:nvPr/>
        </p:nvCxnSpPr>
        <p:spPr>
          <a:xfrm>
            <a:off x="11095476" y="3541287"/>
            <a:ext cx="854707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/>
              <p:nvPr/>
            </p:nvSpPr>
            <p:spPr>
              <a:xfrm>
                <a:off x="10671300" y="3541287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71300" y="3541287"/>
                <a:ext cx="3676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/>
              <p:nvPr/>
            </p:nvSpPr>
            <p:spPr>
              <a:xfrm>
                <a:off x="11280900" y="3012976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80900" y="3012976"/>
                <a:ext cx="3270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/>
              <p:nvPr/>
            </p:nvSpPr>
            <p:spPr>
              <a:xfrm>
                <a:off x="11208509" y="3956582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08509" y="3956582"/>
                <a:ext cx="7416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/>
              <p:nvPr/>
            </p:nvSpPr>
            <p:spPr>
              <a:xfrm>
                <a:off x="10910063" y="3940077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10063" y="3940077"/>
                <a:ext cx="4279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FBC6C321-472A-4FBB-9E49-CA5CE8555AB4}"/>
              </a:ext>
            </a:extLst>
          </p:cNvPr>
          <p:cNvCxnSpPr>
            <a:cxnSpLocks/>
          </p:cNvCxnSpPr>
          <p:nvPr/>
        </p:nvCxnSpPr>
        <p:spPr>
          <a:xfrm>
            <a:off x="11208509" y="4463297"/>
            <a:ext cx="741674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/>
              <p:nvPr/>
            </p:nvSpPr>
            <p:spPr>
              <a:xfrm>
                <a:off x="11434576" y="4449336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4576" y="4449336"/>
                <a:ext cx="2947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/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blipFill>
                <a:blip r:embed="rId10"/>
                <a:stretch>
                  <a:fillRect l="-319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/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total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blipFill>
                <a:blip r:embed="rId11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/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blipFill>
                <a:blip r:embed="rId12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1611AED6-43A7-46C8-AD57-83F095674FD0}"/>
              </a:ext>
            </a:extLst>
          </p:cNvPr>
          <p:cNvSpPr/>
          <p:nvPr/>
        </p:nvSpPr>
        <p:spPr>
          <a:xfrm>
            <a:off x="1984130" y="3352535"/>
            <a:ext cx="1812171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/>
              <p:nvPr/>
            </p:nvSpPr>
            <p:spPr>
              <a:xfrm>
                <a:off x="1594218" y="5876442"/>
                <a:ext cx="57400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June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876442"/>
                <a:ext cx="5740032" cy="523220"/>
              </a:xfrm>
              <a:prstGeom prst="rect">
                <a:avLst/>
              </a:prstGeom>
              <a:blipFill>
                <a:blip r:embed="rId13"/>
                <a:stretch>
                  <a:fillRect l="-2232" t="-11628" r="-74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/>
              <p:nvPr/>
            </p:nvSpPr>
            <p:spPr>
              <a:xfrm>
                <a:off x="7176644" y="5667924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6644" y="5667924"/>
                <a:ext cx="979281" cy="94025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Find the probability that there will be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the month of June.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15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DF151772-D2E5-46B7-A404-2564A6BEF0C0}"/>
              </a:ext>
            </a:extLst>
          </p:cNvPr>
          <p:cNvSpPr/>
          <p:nvPr/>
        </p:nvSpPr>
        <p:spPr>
          <a:xfrm>
            <a:off x="7450515" y="3348494"/>
            <a:ext cx="1812171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2058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 animBg="1"/>
      <p:bldP spid="54" grpId="1"/>
      <p:bldP spid="55" grpId="0"/>
      <p:bldP spid="59" grpId="0" animBg="1"/>
      <p:bldP spid="59" grpId="1"/>
      <p:bldP spid="60" grpId="0" animBg="1"/>
      <p:bldP spid="60" grpId="1"/>
      <p:bldP spid="61" grpId="0" animBg="1"/>
      <p:bldP spid="61" grpId="1"/>
      <p:bldP spid="62" grpId="0" animBg="1"/>
      <p:bldP spid="62" grpId="1"/>
      <p:bldP spid="64" grpId="0" animBg="1"/>
      <p:bldP spid="64" grpId="1"/>
      <p:bldP spid="72" grpId="0"/>
      <p:bldP spid="73" grpId="0"/>
      <p:bldP spid="74" grpId="0" animBg="1"/>
      <p:bldP spid="76" grpId="0"/>
      <p:bldP spid="77" grpId="0"/>
      <p:bldP spid="118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What is the probability that a non-leap year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Sundays?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2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83F9F049-B335-4EC8-9B12-99A6B0ED6B78}"/>
              </a:ext>
            </a:extLst>
          </p:cNvPr>
          <p:cNvSpPr txBox="1"/>
          <p:nvPr/>
        </p:nvSpPr>
        <p:spPr>
          <a:xfrm>
            <a:off x="1594217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Sun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05146D7-A2C1-4EBE-BFC9-56129DBF454B}"/>
              </a:ext>
            </a:extLst>
          </p:cNvPr>
          <p:cNvSpPr txBox="1"/>
          <p:nvPr/>
        </p:nvSpPr>
        <p:spPr>
          <a:xfrm>
            <a:off x="1594217" y="387009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Mon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B631B6F-951F-4771-8683-999B3D67913D}"/>
              </a:ext>
            </a:extLst>
          </p:cNvPr>
          <p:cNvSpPr txBox="1"/>
          <p:nvPr/>
        </p:nvSpPr>
        <p:spPr>
          <a:xfrm>
            <a:off x="1594217" y="4441458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Tue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6BD1E5C-9A66-4A37-843F-A67EC0B62E9D}"/>
              </a:ext>
            </a:extLst>
          </p:cNvPr>
          <p:cNvSpPr txBox="1"/>
          <p:nvPr/>
        </p:nvSpPr>
        <p:spPr>
          <a:xfrm>
            <a:off x="4393586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Wed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8D2258F-2741-437A-A81B-8ED3C1132227}"/>
              </a:ext>
            </a:extLst>
          </p:cNvPr>
          <p:cNvSpPr txBox="1"/>
          <p:nvPr/>
        </p:nvSpPr>
        <p:spPr>
          <a:xfrm>
            <a:off x="4393586" y="3870617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Thu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40799EC-AC9E-4400-8393-6F7F624A70E2}"/>
              </a:ext>
            </a:extLst>
          </p:cNvPr>
          <p:cNvSpPr txBox="1"/>
          <p:nvPr/>
        </p:nvSpPr>
        <p:spPr>
          <a:xfrm>
            <a:off x="4393586" y="4441976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Fri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D074148-F7B5-4C96-BC8C-FAD4E54F806D}"/>
              </a:ext>
            </a:extLst>
          </p:cNvPr>
          <p:cNvSpPr txBox="1"/>
          <p:nvPr/>
        </p:nvSpPr>
        <p:spPr>
          <a:xfrm>
            <a:off x="6979291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Sat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75EC91-B5B3-48F4-87D5-0F0CFD7BC681}"/>
                  </a:ext>
                </a:extLst>
              </p:cNvPr>
              <p:cNvSpPr txBox="1"/>
              <p:nvPr/>
            </p:nvSpPr>
            <p:spPr>
              <a:xfrm>
                <a:off x="1594215" y="2173288"/>
                <a:ext cx="467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non-leap year has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36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days,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75EC91-B5B3-48F4-87D5-0F0CFD7BC6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173288"/>
                <a:ext cx="4671117" cy="523220"/>
              </a:xfrm>
              <a:prstGeom prst="rect">
                <a:avLst/>
              </a:prstGeom>
              <a:blipFill>
                <a:blip r:embed="rId3"/>
                <a:stretch>
                  <a:fillRect l="-2742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AAEF94C-17F2-4F00-B450-AF0F2501E532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AAEF94C-17F2-4F00-B450-AF0F2501E5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D3EA94D-5D21-4EE4-9DC6-667B9416D270}"/>
                  </a:ext>
                </a:extLst>
              </p:cNvPr>
              <p:cNvSpPr txBox="1"/>
              <p:nvPr/>
            </p:nvSpPr>
            <p:spPr>
              <a:xfrm>
                <a:off x="5865107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D3EA94D-5D21-4EE4-9DC6-667B9416D2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5107" y="2175158"/>
                <a:ext cx="6548293" cy="523220"/>
              </a:xfrm>
              <a:prstGeom prst="rect">
                <a:avLst/>
              </a:prstGeom>
              <a:blipFill>
                <a:blip r:embed="rId5"/>
                <a:stretch>
                  <a:fillRect l="-186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383E100B-2C23-4873-89E0-4C6551757AD4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46FABF10-9614-48D6-9DB0-4E382C40ED18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D37FDAF-0E9F-4DC3-9AA4-AF06471B6240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D37FDAF-0E9F-4DC3-9AA4-AF06471B62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B0800FD-B568-4C42-807A-7E2E0849EAA1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B0800FD-B568-4C42-807A-7E2E0849EA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CD1115-0638-4B0F-B457-B951A01E4844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CD1115-0638-4B0F-B457-B951A01E48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8EBFE28-9D9E-48C8-AA3D-2A1BE51DF3FE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8EBFE28-9D9E-48C8-AA3D-2A1BE51DF3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C8EDF1D7-659D-4001-96E1-A5CC79CCDA85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B516D70-1CEE-43DF-99B1-5F22618F093E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B516D70-1CEE-43DF-99B1-5F22618F0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A0CE94D5-7688-480E-B260-D18E9F9D7D67}"/>
                  </a:ext>
                </a:extLst>
              </p:cNvPr>
              <p:cNvSpPr txBox="1"/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A0CE94D5-7688-480E-B260-D18E9F9D7D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95E9C082-E56A-4183-910E-1F0F1124BD79}"/>
                  </a:ext>
                </a:extLst>
              </p:cNvPr>
              <p:cNvSpPr txBox="1"/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95E9C082-E56A-4183-910E-1F0F1124BD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ABC897F-054F-4BE9-AF09-EE0AA3F13FDC}"/>
                  </a:ext>
                </a:extLst>
              </p:cNvPr>
              <p:cNvSpPr txBox="1"/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ABC897F-054F-4BE9-AF09-EE0AA3F13F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44DCF3B0-68B3-45B6-A88C-11121BF8FAA2}"/>
                  </a:ext>
                </a:extLst>
              </p:cNvPr>
              <p:cNvSpPr txBox="1"/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44DCF3B0-68B3-45B6-A88C-11121BF8FA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CAC06192-0B46-4563-A736-15A860923718}"/>
              </a:ext>
            </a:extLst>
          </p:cNvPr>
          <p:cNvCxnSpPr>
            <a:cxnSpLocks/>
          </p:cNvCxnSpPr>
          <p:nvPr/>
        </p:nvCxnSpPr>
        <p:spPr>
          <a:xfrm>
            <a:off x="10835099" y="5362467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809CBA6F-BF57-460F-9954-F0DA3365C22A}"/>
                  </a:ext>
                </a:extLst>
              </p:cNvPr>
              <p:cNvSpPr txBox="1"/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809CBA6F-BF57-460F-9954-F0DA3365C2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D843C875-76E0-4127-B10F-55061D0589E9}"/>
                  </a:ext>
                </a:extLst>
              </p:cNvPr>
              <p:cNvSpPr txBox="1"/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D843C875-76E0-4127-B10F-55061D0589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blipFill>
                <a:blip r:embed="rId16"/>
                <a:stretch>
                  <a:fillRect l="-3297" t="-10465" r="-235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14F4BD6-4AE7-45E0-9AFE-3D83C8272599}"/>
                  </a:ext>
                </a:extLst>
              </p:cNvPr>
              <p:cNvSpPr txBox="1"/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14F4BD6-4AE7-45E0-9AFE-3D83C82725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blipFill>
                <a:blip r:embed="rId17"/>
                <a:stretch>
                  <a:fillRect l="-207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859D26-B041-4258-8BA1-015A4A383FEC}"/>
                  </a:ext>
                </a:extLst>
              </p:cNvPr>
              <p:cNvSpPr txBox="1"/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859D26-B041-4258-8BA1-015A4A383F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blipFill>
                <a:blip r:embed="rId18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14BD9D70-3EFB-46C2-B184-E181E8595745}"/>
              </a:ext>
            </a:extLst>
          </p:cNvPr>
          <p:cNvSpPr/>
          <p:nvPr/>
        </p:nvSpPr>
        <p:spPr>
          <a:xfrm>
            <a:off x="2473989" y="3348902"/>
            <a:ext cx="844752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0E5F39E-26E3-4EC0-BCC8-F46D9AEEF00B}"/>
                  </a:ext>
                </a:extLst>
              </p:cNvPr>
              <p:cNvSpPr txBox="1"/>
              <p:nvPr/>
            </p:nvSpPr>
            <p:spPr>
              <a:xfrm>
                <a:off x="1594217" y="5829997"/>
                <a:ext cx="74459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Sundays in a non-leap year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0E5F39E-26E3-4EC0-BCC8-F46D9AEEF0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29997"/>
                <a:ext cx="7445955" cy="523220"/>
              </a:xfrm>
              <a:prstGeom prst="rect">
                <a:avLst/>
              </a:prstGeom>
              <a:blipFill>
                <a:blip r:embed="rId19"/>
                <a:stretch>
                  <a:fillRect l="-172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D5BA070-E6C5-487C-9467-A9290FB9DE94}"/>
                  </a:ext>
                </a:extLst>
              </p:cNvPr>
              <p:cNvSpPr txBox="1"/>
              <p:nvPr/>
            </p:nvSpPr>
            <p:spPr>
              <a:xfrm>
                <a:off x="8848913" y="5621479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D5BA070-E6C5-487C-9467-A9290FB9DE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8913" y="5621479"/>
                <a:ext cx="979281" cy="94025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68316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 animBg="1"/>
      <p:bldP spid="41" grpId="1"/>
      <p:bldP spid="42" grpId="0"/>
      <p:bldP spid="45" grpId="0" animBg="1"/>
      <p:bldP spid="45" grpId="1"/>
      <p:bldP spid="58" grpId="0" animBg="1"/>
      <p:bldP spid="58" grpId="1"/>
      <p:bldP spid="65" grpId="0" animBg="1"/>
      <p:bldP spid="65" grpId="1"/>
      <p:bldP spid="66" grpId="0" animBg="1"/>
      <p:bldP spid="66" grpId="1"/>
      <p:bldP spid="68" grpId="0" animBg="1"/>
      <p:bldP spid="68" grpId="1"/>
      <p:bldP spid="69" grpId="0" animBg="1"/>
      <p:bldP spid="69" grpId="1"/>
      <p:bldP spid="70" grpId="0" animBg="1"/>
      <p:bldP spid="70" grpId="1"/>
      <p:bldP spid="78" grpId="0" animBg="1"/>
      <p:bldP spid="78" grpId="1"/>
      <p:bldP spid="79" grpId="0" animBg="1"/>
      <p:bldP spid="79" grpId="1"/>
      <p:bldP spid="81" grpId="0" animBg="1"/>
      <p:bldP spid="81" grpId="1"/>
      <p:bldP spid="83" grpId="0"/>
      <p:bldP spid="84" grpId="0"/>
      <p:bldP spid="85" grpId="0" animBg="1"/>
      <p:bldP spid="87" grpId="0"/>
      <p:bldP spid="88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What is the probability that a leap year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Sundays?</a:t>
                </a: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2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E5766293-38C2-487B-9AAA-5E1CC27DD59B}"/>
              </a:ext>
            </a:extLst>
          </p:cNvPr>
          <p:cNvSpPr txBox="1"/>
          <p:nvPr/>
        </p:nvSpPr>
        <p:spPr>
          <a:xfrm>
            <a:off x="1594217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162F5ED-6A3D-417B-895A-7CA525DB237C}"/>
              </a:ext>
            </a:extLst>
          </p:cNvPr>
          <p:cNvSpPr txBox="1"/>
          <p:nvPr/>
        </p:nvSpPr>
        <p:spPr>
          <a:xfrm>
            <a:off x="1594217" y="387009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0C6FE49-27E2-4343-A7D0-E552636F307D}"/>
              </a:ext>
            </a:extLst>
          </p:cNvPr>
          <p:cNvSpPr txBox="1"/>
          <p:nvPr/>
        </p:nvSpPr>
        <p:spPr>
          <a:xfrm>
            <a:off x="1594217" y="4441458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0CE0D23-6FFB-4066-AFE8-7FDEB924E957}"/>
              </a:ext>
            </a:extLst>
          </p:cNvPr>
          <p:cNvSpPr txBox="1"/>
          <p:nvPr/>
        </p:nvSpPr>
        <p:spPr>
          <a:xfrm>
            <a:off x="4393586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594EE42-7707-4E4D-8ED6-3A8F77BB5FC2}"/>
              </a:ext>
            </a:extLst>
          </p:cNvPr>
          <p:cNvSpPr txBox="1"/>
          <p:nvPr/>
        </p:nvSpPr>
        <p:spPr>
          <a:xfrm>
            <a:off x="4393586" y="3870617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AAF0C4B-F004-4499-B193-184FF053E633}"/>
              </a:ext>
            </a:extLst>
          </p:cNvPr>
          <p:cNvSpPr txBox="1"/>
          <p:nvPr/>
        </p:nvSpPr>
        <p:spPr>
          <a:xfrm>
            <a:off x="4393586" y="4441976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045E74A-0CC0-4777-9272-4CE58533466C}"/>
              </a:ext>
            </a:extLst>
          </p:cNvPr>
          <p:cNvSpPr txBox="1"/>
          <p:nvPr/>
        </p:nvSpPr>
        <p:spPr>
          <a:xfrm>
            <a:off x="6979291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leap year has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366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days,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3"/>
                <a:stretch>
                  <a:fillRect l="-3344" t="-11765" r="-63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F28F1A0-8E3F-492C-A53D-7E2AE979178B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F28F1A0-8E3F-492C-A53D-7E2AE97917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72342D0-32E8-4ABF-892E-204B7F31F774}"/>
                  </a:ext>
                </a:extLst>
              </p:cNvPr>
              <p:cNvSpPr txBox="1"/>
              <p:nvPr/>
            </p:nvSpPr>
            <p:spPr>
              <a:xfrm>
                <a:off x="530000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72342D0-32E8-4ABF-892E-204B7F31F7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0001" y="2175158"/>
                <a:ext cx="6548293" cy="523220"/>
              </a:xfrm>
              <a:prstGeom prst="rect">
                <a:avLst/>
              </a:prstGeom>
              <a:blipFill>
                <a:blip r:embed="rId5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2AB9854-9AA6-40D2-B217-8C61464D8368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82CAE4B-CB4A-474D-92F7-8AD2C3AE2F6E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14B0686-3DBC-4A0D-962D-2F16188F61FE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14B0686-3DBC-4A0D-962D-2F16188F61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7E0A83A-C4B2-4BA2-8EE0-E0B3CC81067B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7E0A83A-C4B2-4BA2-8EE0-E0B3CC8106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11A2FF2-30DC-4020-80B7-59A6FD845D05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11A2FF2-30DC-4020-80B7-59A6FD845D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D13A97A-C3C5-4089-9E14-8B5DCC250476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D13A97A-C3C5-4089-9E14-8B5DCC2504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86DE74F9-B52E-48F4-ACA2-5D88A46AA040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3F5A80F-EB25-464F-9757-371329F39009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3F5A80F-EB25-464F-9757-371329F390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46CC01B2-838E-46C4-8B7E-936BFE07E8A4}"/>
                  </a:ext>
                </a:extLst>
              </p:cNvPr>
              <p:cNvSpPr txBox="1"/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46CC01B2-838E-46C4-8B7E-936BFE07E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C65A32B-6B8F-461B-A274-BA46292BC509}"/>
                  </a:ext>
                </a:extLst>
              </p:cNvPr>
              <p:cNvSpPr txBox="1"/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C65A32B-6B8F-461B-A274-BA46292BC5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30F3EA91-842C-4EDC-BAB2-9692FEA01434}"/>
                  </a:ext>
                </a:extLst>
              </p:cNvPr>
              <p:cNvSpPr txBox="1"/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30F3EA91-842C-4EDC-BAB2-9692FEA014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B5FA0652-2FA9-4A52-AE79-D55899B51633}"/>
                  </a:ext>
                </a:extLst>
              </p:cNvPr>
              <p:cNvSpPr txBox="1"/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B5FA0652-2FA9-4A52-AE79-D55899B516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DD7DFCD-47D3-45A6-AA58-3620B1EA8495}"/>
              </a:ext>
            </a:extLst>
          </p:cNvPr>
          <p:cNvCxnSpPr>
            <a:cxnSpLocks/>
          </p:cNvCxnSpPr>
          <p:nvPr/>
        </p:nvCxnSpPr>
        <p:spPr>
          <a:xfrm>
            <a:off x="10835099" y="5362467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4416DE15-07CC-48B1-A37A-5AB6A6D62702}"/>
                  </a:ext>
                </a:extLst>
              </p:cNvPr>
              <p:cNvSpPr txBox="1"/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4416DE15-07CC-48B1-A37A-5AB6A6D627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B92D066-5361-4511-BDD8-3F61CE86B9D2}"/>
                  </a:ext>
                </a:extLst>
              </p:cNvPr>
              <p:cNvSpPr txBox="1"/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B92D066-5361-4511-BDD8-3F61CE86B9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blipFill>
                <a:blip r:embed="rId16"/>
                <a:stretch>
                  <a:fillRect l="-3297" t="-10465" r="-235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AFC3D9F-1A3B-48D1-829E-2959B64E24D0}"/>
                  </a:ext>
                </a:extLst>
              </p:cNvPr>
              <p:cNvSpPr txBox="1"/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AFC3D9F-1A3B-48D1-829E-2959B64E24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blipFill>
                <a:blip r:embed="rId17"/>
                <a:stretch>
                  <a:fillRect l="-207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FE7FBAB7-8FC4-4C65-A369-A43441FB8A5B}"/>
                  </a:ext>
                </a:extLst>
              </p:cNvPr>
              <p:cNvSpPr txBox="1"/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FE7FBAB7-8FC4-4C65-A369-A43441FB8A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blipFill>
                <a:blip r:embed="rId18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6449E5BA-92F7-44FE-A67D-2673AD438F5A}"/>
              </a:ext>
            </a:extLst>
          </p:cNvPr>
          <p:cNvSpPr/>
          <p:nvPr/>
        </p:nvSpPr>
        <p:spPr>
          <a:xfrm>
            <a:off x="1990965" y="3348902"/>
            <a:ext cx="18108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BFE41AF7-8583-4A96-B859-0A06FFB23391}"/>
              </a:ext>
            </a:extLst>
          </p:cNvPr>
          <p:cNvSpPr/>
          <p:nvPr/>
        </p:nvSpPr>
        <p:spPr>
          <a:xfrm>
            <a:off x="7411328" y="3339382"/>
            <a:ext cx="1727926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7ABC1E9D-5057-4280-88C6-297405000DF0}"/>
                  </a:ext>
                </a:extLst>
              </p:cNvPr>
              <p:cNvSpPr txBox="1"/>
              <p:nvPr/>
            </p:nvSpPr>
            <p:spPr>
              <a:xfrm>
                <a:off x="1594217" y="5829997"/>
                <a:ext cx="67623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Sundays in a leap year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7ABC1E9D-5057-4280-88C6-297405000D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29997"/>
                <a:ext cx="6762383" cy="523220"/>
              </a:xfrm>
              <a:prstGeom prst="rect">
                <a:avLst/>
              </a:prstGeom>
              <a:blipFill>
                <a:blip r:embed="rId19"/>
                <a:stretch>
                  <a:fillRect l="-1894" t="-10465" r="-5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6E701FB-02FD-438B-8FFC-2A39B68B96B3}"/>
                  </a:ext>
                </a:extLst>
              </p:cNvPr>
              <p:cNvSpPr txBox="1"/>
              <p:nvPr/>
            </p:nvSpPr>
            <p:spPr>
              <a:xfrm>
                <a:off x="8152019" y="5621479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6E701FB-02FD-438B-8FFC-2A39B68B96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2019" y="5621479"/>
                <a:ext cx="979281" cy="94025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61574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75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 animBg="1"/>
      <p:bldP spid="41" grpId="1"/>
      <p:bldP spid="42" grpId="0"/>
      <p:bldP spid="45" grpId="0" animBg="1"/>
      <p:bldP spid="45" grpId="1"/>
      <p:bldP spid="58" grpId="0" animBg="1"/>
      <p:bldP spid="58" grpId="1"/>
      <p:bldP spid="65" grpId="0" animBg="1"/>
      <p:bldP spid="65" grpId="1"/>
      <p:bldP spid="66" grpId="0" animBg="1"/>
      <p:bldP spid="66" grpId="1"/>
      <p:bldP spid="68" grpId="0" animBg="1"/>
      <p:bldP spid="68" grpId="1"/>
      <p:bldP spid="69" grpId="0" animBg="1"/>
      <p:bldP spid="69" grpId="1"/>
      <p:bldP spid="70" grpId="0" animBg="1"/>
      <p:bldP spid="70" grpId="1"/>
      <p:bldP spid="78" grpId="0" animBg="1"/>
      <p:bldP spid="78" grpId="1"/>
      <p:bldP spid="79" grpId="0" animBg="1"/>
      <p:bldP spid="79" grpId="1"/>
      <p:bldP spid="81" grpId="0" animBg="1"/>
      <p:bldP spid="81" grpId="1"/>
      <p:bldP spid="83" grpId="0"/>
      <p:bldP spid="84" grpId="0"/>
      <p:bldP spid="85" grpId="0" animBg="1"/>
      <p:bldP spid="86" grpId="0" animBg="1"/>
      <p:bldP spid="87" grpId="0"/>
      <p:bldP spid="88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3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Four letters of the word “THURSDAY” are arranged in all possible ways. Find the probability that the word formed is “HURT”.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20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/>
              <p:nvPr/>
            </p:nvSpPr>
            <p:spPr>
              <a:xfrm>
                <a:off x="1594217" y="2173288"/>
                <a:ext cx="6170926" cy="11611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</a:t>
                </a: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arrangement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of any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letters from the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letters in "THURSDAY"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173288"/>
                <a:ext cx="6170926" cy="1161152"/>
              </a:xfrm>
              <a:prstGeom prst="rect">
                <a:avLst/>
              </a:prstGeom>
              <a:blipFill>
                <a:blip r:embed="rId2"/>
                <a:stretch>
                  <a:fillRect l="-2075" b="-142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A525064-30B7-4746-AC3B-C7940AC577E6}"/>
                  </a:ext>
                </a:extLst>
              </p:cNvPr>
              <p:cNvSpPr txBox="1"/>
              <p:nvPr/>
            </p:nvSpPr>
            <p:spPr>
              <a:xfrm>
                <a:off x="8417191" y="2582734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A525064-30B7-4746-AC3B-C7940AC577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7191" y="2582734"/>
                <a:ext cx="86323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C28C07D-D54F-427B-8D17-A3DADD7209C1}"/>
                  </a:ext>
                </a:extLst>
              </p:cNvPr>
              <p:cNvSpPr txBox="1"/>
              <p:nvPr/>
            </p:nvSpPr>
            <p:spPr>
              <a:xfrm>
                <a:off x="9210575" y="2582734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C28C07D-D54F-427B-8D17-A3DADD7209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0575" y="2582734"/>
                <a:ext cx="124993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63BC179-0E2B-4C01-B10C-31278EF60409}"/>
                  </a:ext>
                </a:extLst>
              </p:cNvPr>
              <p:cNvSpPr txBox="1"/>
              <p:nvPr/>
            </p:nvSpPr>
            <p:spPr>
              <a:xfrm>
                <a:off x="10253773" y="2582734"/>
                <a:ext cx="1547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1680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63BC179-0E2B-4C01-B10C-31278EF604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53773" y="2582734"/>
                <a:ext cx="154711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F24379-5A99-4082-AA72-A0110332E40A}"/>
                  </a:ext>
                </a:extLst>
              </p:cNvPr>
              <p:cNvSpPr txBox="1"/>
              <p:nvPr/>
            </p:nvSpPr>
            <p:spPr>
              <a:xfrm>
                <a:off x="7906586" y="2582734"/>
                <a:ext cx="5896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F24379-5A99-4082-AA72-A0110332E4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6586" y="2582734"/>
                <a:ext cx="5896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258E344-76B5-4B68-AB87-F1AE9D0DA5FB}"/>
                  </a:ext>
                </a:extLst>
              </p:cNvPr>
              <p:cNvSpPr txBox="1"/>
              <p:nvPr/>
            </p:nvSpPr>
            <p:spPr>
              <a:xfrm>
                <a:off x="1594217" y="3549883"/>
                <a:ext cx="6003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258E344-76B5-4B68-AB87-F1AE9D0DA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549883"/>
                <a:ext cx="600343" cy="523220"/>
              </a:xfrm>
              <a:prstGeom prst="rect">
                <a:avLst/>
              </a:prstGeom>
              <a:blipFill>
                <a:blip r:embed="rId7"/>
                <a:stretch>
                  <a:fillRect t="-10465" r="-1428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A38DC4C5-421B-444D-9C95-BACB1D0A3DF9}"/>
              </a:ext>
            </a:extLst>
          </p:cNvPr>
          <p:cNvSpPr txBox="1"/>
          <p:nvPr/>
        </p:nvSpPr>
        <p:spPr>
          <a:xfrm>
            <a:off x="2148283" y="3549883"/>
            <a:ext cx="362826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word “HURT” is formed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C1A7ED2-B43D-429E-9075-A93E57653A7F}"/>
                  </a:ext>
                </a:extLst>
              </p:cNvPr>
              <p:cNvSpPr txBox="1"/>
              <p:nvPr/>
            </p:nvSpPr>
            <p:spPr>
              <a:xfrm>
                <a:off x="1594216" y="4195259"/>
                <a:ext cx="6166456" cy="11611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word "HURT" can be formed in exactly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way from the letters in "THURSDAY."</a:t>
                </a: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C1A7ED2-B43D-429E-9075-A93E57653A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195259"/>
                <a:ext cx="6166456" cy="1161152"/>
              </a:xfrm>
              <a:prstGeom prst="rect">
                <a:avLst/>
              </a:prstGeom>
              <a:blipFill>
                <a:blip r:embed="rId8"/>
                <a:stretch>
                  <a:fillRect l="-2077" r="-2077" b="-1361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442CD9F-F5F5-410D-BBB8-B10CA5ACD3A4}"/>
                  </a:ext>
                </a:extLst>
              </p:cNvPr>
              <p:cNvSpPr txBox="1"/>
              <p:nvPr/>
            </p:nvSpPr>
            <p:spPr>
              <a:xfrm>
                <a:off x="8417191" y="4574203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442CD9F-F5F5-410D-BBB8-B10CA5ACD3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7191" y="4574203"/>
                <a:ext cx="86323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B713E8D-5A62-4FBD-8F59-01EB801227DB}"/>
                  </a:ext>
                </a:extLst>
              </p:cNvPr>
              <p:cNvSpPr txBox="1"/>
              <p:nvPr/>
            </p:nvSpPr>
            <p:spPr>
              <a:xfrm>
                <a:off x="7906586" y="4574203"/>
                <a:ext cx="5896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B713E8D-5A62-4FBD-8F59-01EB801227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6586" y="4574203"/>
                <a:ext cx="5896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28C103F-0ECD-4C52-9D27-2F931DBC3CB9}"/>
                  </a:ext>
                </a:extLst>
              </p:cNvPr>
              <p:cNvSpPr txBox="1"/>
              <p:nvPr/>
            </p:nvSpPr>
            <p:spPr>
              <a:xfrm>
                <a:off x="9210575" y="4570584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28C103F-0ECD-4C52-9D27-2F931DBC3C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0575" y="4570584"/>
                <a:ext cx="124993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7BEDF28-E890-4229-9331-9F501D01B4F8}"/>
                  </a:ext>
                </a:extLst>
              </p:cNvPr>
              <p:cNvSpPr txBox="1"/>
              <p:nvPr/>
            </p:nvSpPr>
            <p:spPr>
              <a:xfrm>
                <a:off x="2105851" y="571634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7BEDF28-E890-4229-9331-9F501D01B4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5851" y="5716348"/>
                <a:ext cx="90057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9697A05-E191-4244-A50E-EA66645283CA}"/>
                  </a:ext>
                </a:extLst>
              </p:cNvPr>
              <p:cNvSpPr txBox="1"/>
              <p:nvPr/>
            </p:nvSpPr>
            <p:spPr>
              <a:xfrm>
                <a:off x="1594216" y="571634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9697A05-E191-4244-A50E-EA66645283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716348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25A1E0-08E6-4795-B6E5-445A39A6C29B}"/>
                  </a:ext>
                </a:extLst>
              </p:cNvPr>
              <p:cNvSpPr txBox="1"/>
              <p:nvPr/>
            </p:nvSpPr>
            <p:spPr>
              <a:xfrm>
                <a:off x="2892581" y="5483239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25A1E0-08E6-4795-B6E5-445A39A6C2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2581" y="5483239"/>
                <a:ext cx="1502185" cy="98943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8DB484C-995E-4379-A196-363F66DDE8A0}"/>
                  </a:ext>
                </a:extLst>
              </p:cNvPr>
              <p:cNvSpPr txBox="1"/>
              <p:nvPr/>
            </p:nvSpPr>
            <p:spPr>
              <a:xfrm>
                <a:off x="4268974" y="5527066"/>
                <a:ext cx="1502185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1680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8DB484C-995E-4379-A196-363F66DDE8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8974" y="5527066"/>
                <a:ext cx="1502185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232763" y="2776640"/>
            <a:ext cx="4121426" cy="13252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40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5" grpId="0"/>
      <p:bldP spid="59" grpId="0"/>
      <p:bldP spid="61" grpId="0" animBg="1"/>
      <p:bldP spid="62" grpId="0" animBg="1"/>
      <p:bldP spid="63" grpId="0" animBg="1"/>
      <p:bldP spid="64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Method 3</a:t>
            </a:r>
            <a:br>
              <a:rPr lang="en-US" dirty="0"/>
            </a:br>
            <a:r>
              <a:rPr lang="en-GB" dirty="0"/>
              <a:t>Conditional Probability and</a:t>
            </a:r>
            <a:br>
              <a:rPr lang="en-GB" dirty="0"/>
            </a:br>
            <a:r>
              <a:rPr lang="en-GB" dirty="0"/>
              <a:t>Independent Events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369679C-2DF0-466B-B15C-CBAFD44B60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3719130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723037"/>
            <a:ext cx="11929641" cy="5876173"/>
          </a:xfrm>
        </p:spPr>
        <p:txBody>
          <a:bodyPr/>
          <a:lstStyle/>
          <a:p>
            <a:pPr lvl="0">
              <a:lnSpc>
                <a:spcPct val="120000"/>
              </a:lnSpc>
            </a:pPr>
            <a:r>
              <a:rPr lang="en-US" dirty="0"/>
              <a:t>So far, we have calculated the probability of an event by considering all possible outcomes in the sample space.</a:t>
            </a:r>
          </a:p>
          <a:p>
            <a:pPr lvl="0">
              <a:lnSpc>
                <a:spcPct val="120000"/>
              </a:lnSpc>
            </a:pPr>
            <a:r>
              <a:rPr lang="en-US" dirty="0"/>
              <a:t>However, in many real-life situations, we receive additional information before calculating the probability.</a:t>
            </a:r>
          </a:p>
          <a:p>
            <a:pPr lvl="0">
              <a:lnSpc>
                <a:spcPct val="120000"/>
              </a:lnSpc>
            </a:pPr>
            <a:r>
              <a:rPr lang="en-US" dirty="0"/>
              <a:t>Examples:  	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Probability that a student gets placed 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dirty="0"/>
              <a:t> the student knows programming.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Probability of disease 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dirty="0">
                <a:solidFill>
                  <a:srgbClr val="0070C0"/>
                </a:solidFill>
              </a:rPr>
              <a:t> </a:t>
            </a:r>
            <a:r>
              <a:rPr lang="en-US" dirty="0"/>
              <a:t>a medical test result is positive.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Probability that an email is spam 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dirty="0"/>
              <a:t> it contains suspicious keywords.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3946618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A3923DF-2963-E54B-902B-4BDB245803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2952E8-D130-D7D6-A439-C3B127AF88F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23037"/>
            <a:ext cx="11929641" cy="5876173"/>
          </a:xfrm>
        </p:spPr>
        <p:txBody>
          <a:bodyPr/>
          <a:lstStyle/>
          <a:p>
            <a:pPr lvl="0">
              <a:lnSpc>
                <a:spcPct val="120000"/>
              </a:lnSpc>
            </a:pPr>
            <a:r>
              <a:rPr lang="en-US" dirty="0"/>
              <a:t>In all these situations, some prior information is already known. Therefore, the probability changes according to the given condition.</a:t>
            </a:r>
          </a:p>
          <a:p>
            <a:pPr lvl="0">
              <a:lnSpc>
                <a:spcPct val="120000"/>
              </a:lnSpc>
            </a:pPr>
            <a:r>
              <a:rPr lang="en-US" dirty="0"/>
              <a:t>This new information eliminates some outcomes from the original sample space, leaving us with a smaller (reduced) sample space.</a:t>
            </a:r>
          </a:p>
          <a:p>
            <a:pPr lvl="0">
              <a:lnSpc>
                <a:spcPct val="120000"/>
              </a:lnSpc>
            </a:pPr>
            <a:r>
              <a:rPr lang="en-US" dirty="0"/>
              <a:t>Therefore, the probability must be calculated within this new sample space instead of the original one.</a:t>
            </a:r>
          </a:p>
          <a:p>
            <a:pPr lvl="0">
              <a:lnSpc>
                <a:spcPct val="120000"/>
              </a:lnSpc>
            </a:pPr>
            <a:r>
              <a:rPr lang="en-US" dirty="0"/>
              <a:t>This type of probability is called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Conditional Probability</a:t>
            </a:r>
            <a:r>
              <a:rPr lang="en-US" dirty="0"/>
              <a:t>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BC26EE-7158-70BC-3297-90BD9AF443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1942775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43D06F15-9896-0211-CE20-4F25E2B301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A93E7DA-D90C-7E6C-7515-8AA47AE29DD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Suppose there are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lang="en-US" dirty="0"/>
                  <a:t> students in an auditorium.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students study AI/ML.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students are Hostellers.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students are both AI/ML students and Hostellers.</a:t>
                </a:r>
              </a:p>
              <a:p>
                <a:r>
                  <a:rPr lang="en-US" dirty="0"/>
                  <a:t>Let Event A: The selected student is a Hosteller.</a:t>
                </a:r>
              </a:p>
              <a:p>
                <a:pPr lvl="1"/>
                <a:r>
                  <a:rPr lang="en-US" b="1" u="sng" dirty="0"/>
                  <a:t>Situation 1</a:t>
                </a:r>
                <a:r>
                  <a:rPr lang="en-US" b="1" dirty="0"/>
                  <a:t>: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No Additional Information</a:t>
                </a:r>
              </a:p>
              <a:p>
                <a:pPr lvl="2"/>
                <a:r>
                  <a:rPr lang="en-US" dirty="0"/>
                  <a:t>Question 1: What is the probability that a randomly selected student is a Hosteller?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A93E7DA-D90C-7E6C-7515-8AA47AE29DD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D2F3FAD1-1B25-0FF1-3E74-483D25AEDF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867079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4570E168-3155-4E52-4C07-3BB516989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BF6EDB5-BF47-CED8-16F8-7B3B6B85004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1"/>
                <a:r>
                  <a:rPr lang="en-US" b="1" u="sng" dirty="0"/>
                  <a:t>Situation 1</a:t>
                </a:r>
                <a:r>
                  <a:rPr lang="en-US" b="1" dirty="0"/>
                  <a:t>: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No Additional Information</a:t>
                </a:r>
              </a:p>
              <a:p>
                <a:pPr lvl="2"/>
                <a:r>
                  <a:rPr lang="en-US" dirty="0"/>
                  <a:t>Question 1: What is the probability that a randomly selected student is a Hosteller?</a:t>
                </a:r>
              </a:p>
              <a:p>
                <a:pPr lvl="2"/>
                <a:r>
                  <a:rPr lang="en-US" dirty="0"/>
                  <a:t>Since we know absolutely nothing about the selected student, every student is equally likely to be selected.</a:t>
                </a:r>
              </a:p>
              <a:p>
                <a:pPr lvl="2"/>
                <a:r>
                  <a:rPr lang="en-US" dirty="0"/>
                  <a:t>There are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Hostellers among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lang="en-US" dirty="0"/>
                  <a:t> students.</a:t>
                </a:r>
              </a:p>
              <a:p>
                <a:pPr marL="271463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 dirty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0" dirty="0" smtClean="0">
                              <a:latin typeface="Cambria Math" panose="02040503050406030204" pitchFamily="18" charset="0"/>
                            </a:rPr>
                            <m:t>60</m:t>
                          </m:r>
                        </m:num>
                        <m:den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0" dirty="0" smtClean="0">
                              <a:latin typeface="Cambria Math" panose="02040503050406030204" pitchFamily="18" charset="0"/>
                            </a:rPr>
                            <m:t>180</m:t>
                          </m:r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lvl="1"/>
                <a:r>
                  <a:rPr lang="en-US" dirty="0"/>
                  <a:t>Here, </a:t>
                </a:r>
                <a:r>
                  <a:rPr lang="en-US" b="1" dirty="0">
                    <a:solidFill>
                      <a:srgbClr val="0070C0"/>
                    </a:solidFill>
                  </a:rPr>
                  <a:t>sample space </a:t>
                </a:r>
                <a14:m>
                  <m:oMath xmlns:m="http://schemas.openxmlformats.org/officeDocument/2006/math">
                    <m:r>
                      <a:rPr lang="en-IN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𝐀𝐥𝐥</m:t>
                    </m:r>
                    <m:r>
                      <a:rPr lang="en-IN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𝟏𝟖𝟎</m:t>
                    </m:r>
                  </m:oMath>
                </a14:m>
                <a:r>
                  <a:rPr lang="en-US" b="1" dirty="0">
                    <a:solidFill>
                      <a:srgbClr val="0070C0"/>
                    </a:solidFill>
                  </a:rPr>
                  <a:t> students</a:t>
                </a:r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BF6EDB5-BF47-CED8-16F8-7B3B6B85004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102B5E7-B033-0380-6958-D8FDF5FC9A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54586675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C5EDF9C7-F77C-3CE6-6372-3EE02879EC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13121F9-7850-B387-BAB7-042A872F5C1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1"/>
                <a:r>
                  <a:rPr lang="en-US" b="1" u="sng" dirty="0"/>
                  <a:t>Situation 2: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Additional Information is Given</a:t>
                </a:r>
              </a:p>
              <a:p>
                <a:pPr lvl="2"/>
                <a:r>
                  <a:rPr lang="en-US" dirty="0"/>
                  <a:t>Now suppose someone tells you: The selected student studies AI/ML.</a:t>
                </a:r>
              </a:p>
              <a:p>
                <a:pPr lvl="2"/>
                <a:r>
                  <a:rPr lang="en-US" dirty="0"/>
                  <a:t>Let this information be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2"/>
                <a:r>
                  <a:rPr lang="en-US" dirty="0"/>
                  <a:t>Now ask the same question: </a:t>
                </a:r>
              </a:p>
              <a:p>
                <a:pPr marL="671513" lvl="2" indent="0" algn="ctr">
                  <a:buNone/>
                </a:pPr>
                <a:r>
                  <a:rPr lang="en-US" dirty="0"/>
                  <a:t>What is the probability that the selected student is a Hosteller?</a:t>
                </a:r>
              </a:p>
              <a:p>
                <a:pPr lvl="2"/>
                <a:r>
                  <a:rPr lang="en-US" dirty="0"/>
                  <a:t>Should we still consider all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lang="en-US" dirty="0"/>
                  <a:t> students</a:t>
                </a:r>
              </a:p>
              <a:p>
                <a:pPr lvl="2"/>
                <a:r>
                  <a:rPr lang="en-US" dirty="0">
                    <a:solidFill>
                      <a:srgbClr val="FF0000"/>
                    </a:solidFill>
                  </a:rPr>
                  <a:t>NO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13121F9-7850-B387-BAB7-042A872F5C1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E0AD87A-C65D-D22D-200C-89AE62085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3824237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9A16BFB5-FBB2-BB51-3050-8AF7B8133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4F44C49-E211-096B-FBFA-22BD478880F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1"/>
                <a:r>
                  <a:rPr lang="en-US" b="1" u="sng" dirty="0"/>
                  <a:t>Situation 2:</a:t>
                </a:r>
                <a:r>
                  <a:rPr lang="en-US" dirty="0"/>
                  <a:t> </a:t>
                </a:r>
                <a:r>
                  <a:rPr lang="en-US" b="1" dirty="0">
                    <a:solidFill>
                      <a:srgbClr val="0070C0"/>
                    </a:solidFill>
                  </a:rPr>
                  <a:t>Additional Information is Given</a:t>
                </a:r>
              </a:p>
              <a:p>
                <a:pPr lvl="2"/>
                <a:r>
                  <a:rPr lang="en-US" dirty="0"/>
                  <a:t>Since we already know that the student studies AI/ML, all students from other branches are eliminated.</a:t>
                </a:r>
              </a:p>
              <a:p>
                <a:pPr lvl="2"/>
                <a:r>
                  <a:rPr lang="en-US" dirty="0"/>
                  <a:t>Therefore, the sample space changes.</a:t>
                </a:r>
              </a:p>
              <a:p>
                <a:pPr lvl="3"/>
                <a:r>
                  <a:rPr lang="en-US" dirty="0"/>
                  <a:t>Old Sample Space: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lang="en-US" dirty="0"/>
                  <a:t> students.</a:t>
                </a:r>
              </a:p>
              <a:p>
                <a:pPr lvl="3"/>
                <a:r>
                  <a:rPr lang="en-US" dirty="0"/>
                  <a:t>New Sample Space (Given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): Only the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AI/ML students.</a:t>
                </a:r>
              </a:p>
              <a:p>
                <a:pPr lvl="2"/>
                <a:r>
                  <a:rPr lang="en-US" dirty="0"/>
                  <a:t>Among these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AI/ML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are Hostellers.</a:t>
                </a:r>
              </a:p>
              <a:p>
                <a:pPr marL="671513" lvl="2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0</m:t>
                          </m:r>
                        </m:num>
                        <m:den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80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74F44C49-E211-096B-FBFA-22BD478880F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15AF4DF-D954-93B5-9D7C-6A6B84F4DD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</p:spTree>
    <p:extLst>
      <p:ext uri="{BB962C8B-B14F-4D97-AF65-F5344CB8AC3E}">
        <p14:creationId xmlns:p14="http://schemas.microsoft.com/office/powerpoint/2010/main" val="2523383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967E6DC-9587-EC05-6902-BC568FB0A9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D1C9DC-9D33-67A9-F43C-657452EF79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Conditional Probability?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" name="Content Placeholder 5">
                <a:extLst>
                  <a:ext uri="{FF2B5EF4-FFF2-40B4-BE49-F238E27FC236}">
                    <a16:creationId xmlns:a16="http://schemas.microsoft.com/office/drawing/2014/main" id="{BE7359CC-64AE-59F5-7696-88E5F7362C00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152765696"/>
                  </p:ext>
                </p:extLst>
              </p:nvPr>
            </p:nvGraphicFramePr>
            <p:xfrm>
              <a:off x="131763" y="863600"/>
              <a:ext cx="11928474" cy="213335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5964237">
                      <a:extLst>
                        <a:ext uri="{9D8B030D-6E8A-4147-A177-3AD203B41FA5}">
                          <a16:colId xmlns:a16="http://schemas.microsoft.com/office/drawing/2014/main" val="2850527171"/>
                        </a:ext>
                      </a:extLst>
                    </a:gridCol>
                    <a:gridCol w="5964237">
                      <a:extLst>
                        <a:ext uri="{9D8B030D-6E8A-4147-A177-3AD203B41FA5}">
                          <a16:colId xmlns:a16="http://schemas.microsoft.com/office/drawing/2014/main" val="3214797559"/>
                        </a:ext>
                      </a:extLst>
                    </a:gridCol>
                  </a:tblGrid>
                  <a:tr h="57620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Without Additional Information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Additional Information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80867003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Sample Space </a:t>
                          </a:r>
                          <a14:m>
                            <m:oMath xmlns:m="http://schemas.openxmlformats.org/officeDocument/2006/math"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=180</m:t>
                              </m:r>
                            </m:oMath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Sample Space </a:t>
                          </a:r>
                          <a14:m>
                            <m:oMath xmlns:m="http://schemas.openxmlformats.org/officeDocument/2006/math"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=80</m:t>
                              </m:r>
                            </m:oMath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3527106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</a:rPr>
                                  <m:t>Probability</m:t>
                                </m:r>
                                <m:r>
                                  <a:rPr lang="en-IN" sz="24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60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180</m:t>
                                    </m:r>
                                  </m:den>
                                </m:f>
                                <m:r>
                                  <a:rPr lang="en-IN" sz="24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3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</a:rPr>
                                  <m:t>Probability</m:t>
                                </m:r>
                                <m:r>
                                  <a:rPr lang="en-IN" sz="24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40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80</m:t>
                                    </m:r>
                                  </m:den>
                                </m:f>
                                <m:r>
                                  <a:rPr lang="en-IN" sz="24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2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dirty="0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5461473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" name="Content Placeholder 5">
                <a:extLst>
                  <a:ext uri="{FF2B5EF4-FFF2-40B4-BE49-F238E27FC236}">
                    <a16:creationId xmlns:a16="http://schemas.microsoft.com/office/drawing/2014/main" id="{BE7359CC-64AE-59F5-7696-88E5F7362C00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152765696"/>
                  </p:ext>
                </p:extLst>
              </p:nvPr>
            </p:nvGraphicFramePr>
            <p:xfrm>
              <a:off x="131763" y="863600"/>
              <a:ext cx="11928474" cy="213335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5964237">
                      <a:extLst>
                        <a:ext uri="{9D8B030D-6E8A-4147-A177-3AD203B41FA5}">
                          <a16:colId xmlns:a16="http://schemas.microsoft.com/office/drawing/2014/main" val="2850527171"/>
                        </a:ext>
                      </a:extLst>
                    </a:gridCol>
                    <a:gridCol w="5964237">
                      <a:extLst>
                        <a:ext uri="{9D8B030D-6E8A-4147-A177-3AD203B41FA5}">
                          <a16:colId xmlns:a16="http://schemas.microsoft.com/office/drawing/2014/main" val="3214797559"/>
                        </a:ext>
                      </a:extLst>
                    </a:gridCol>
                  </a:tblGrid>
                  <a:tr h="57620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Without Additional Information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Additional Information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80867003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2" t="-75000" r="-100204" b="-10156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0102" t="-75000" r="-204" b="-10156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3527106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2" t="-175000" r="-100204" b="-156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0102" t="-175000" r="-204" b="-156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5461473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18">
                <a:extLst>
                  <a:ext uri="{FF2B5EF4-FFF2-40B4-BE49-F238E27FC236}">
                    <a16:creationId xmlns:a16="http://schemas.microsoft.com/office/drawing/2014/main" id="{56BE336D-A196-C8CE-AA6D-787189DE75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0596" y="2996950"/>
                <a:ext cx="11929641" cy="324820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8650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89535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573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925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Conclusion</a:t>
                </a:r>
              </a:p>
              <a:p>
                <a:pPr lvl="1"/>
                <a:r>
                  <a:rPr lang="en-US" dirty="0"/>
                  <a:t>The probability changed from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dirty="0" smtClean="0"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dirty="0" smtClean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den>
                    </m:f>
                    <m:r>
                      <a:rPr lang="en-IN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dirty="0" smtClean="0">
                        <a:latin typeface="Cambria Math" panose="02040503050406030204" pitchFamily="18" charset="0"/>
                      </a:rPr>
                      <m:t>to</m:t>
                    </m:r>
                    <m:r>
                      <a:rPr lang="en-IN" dirty="0" smtClean="0"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den>
                    </m:f>
                  </m:oMath>
                </a14:m>
                <a:r>
                  <a:rPr lang="en-US" dirty="0"/>
                  <a:t> ​not because the number of Hostellers changed, but because the </a:t>
                </a:r>
                <a:r>
                  <a:rPr lang="en-US" b="1" dirty="0">
                    <a:solidFill>
                      <a:srgbClr val="0070C0"/>
                    </a:solidFill>
                  </a:rPr>
                  <a:t>sample space changed</a:t>
                </a:r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Hence, Conditional Probability is needed whenever additional information is available, because the sample space is reduced.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18">
                <a:extLst>
                  <a:ext uri="{FF2B5EF4-FFF2-40B4-BE49-F238E27FC236}">
                    <a16:creationId xmlns:a16="http://schemas.microsoft.com/office/drawing/2014/main" id="{56BE336D-A196-C8CE-AA6D-787189DE75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596" y="2996950"/>
                <a:ext cx="11929641" cy="3248207"/>
              </a:xfrm>
              <a:prstGeom prst="rect">
                <a:avLst/>
              </a:prstGeom>
              <a:blipFill>
                <a:blip r:embed="rId3"/>
                <a:stretch>
                  <a:fillRect l="-920" r="-1073" b="-375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98976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4D64DEE-EE3B-8F9B-E760-DBD47657F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678DCD-FD2E-0659-61A9-D62D2B7C6EE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Conditional Probability is the probability of an event after receiving additional information (or knowing that another event has already occurred), calculated using the reduced sample space defined by that information.</a:t>
                </a:r>
              </a:p>
              <a:p>
                <a:pPr lvl="0"/>
                <a:r>
                  <a:rPr lang="en-US" dirty="0"/>
                  <a:t>Conditional Probability is denoted as </a:t>
                </a:r>
                <a14:m>
                  <m:oMath xmlns:m="http://schemas.openxmlformats.org/officeDocument/2006/math"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US" dirty="0"/>
                  <a:t> and read as “conditional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” and defined as follow:</a:t>
                </a:r>
                <a:endParaRPr lang="en-IN" dirty="0"/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b="1" i="1">
                          <a:latin typeface="Cambria Math" panose="02040503050406030204" pitchFamily="18" charset="0"/>
                        </a:rPr>
                        <m:t> </m:t>
                      </m:r>
                      <m:r>
                        <a:rPr lang="en-US" b="1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>
                          <a:latin typeface="Cambria Math" panose="02040503050406030204" pitchFamily="18" charset="0"/>
                        </a:rPr>
                        <m:t>≠</m:t>
                      </m:r>
                      <m:r>
                        <a:rPr lang="en-US" b="1"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678DCD-FD2E-0659-61A9-D62D2B7C6EE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7E8AB59-D1A8-0241-06E0-21261858D4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5021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957B87C9-DD1F-F61F-6BBC-F3B03B342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6CFFEBA-490C-7B3A-4AF2-B15451F4AB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66167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Examples</a:t>
            </a:r>
          </a:p>
          <a:p>
            <a:pPr lvl="1"/>
            <a:r>
              <a:rPr lang="en-US" dirty="0"/>
              <a:t>What is the probability that a patient has a disease, 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dirty="0"/>
              <a:t> the medical test is positive?</a:t>
            </a:r>
          </a:p>
          <a:p>
            <a:pPr lvl="1"/>
            <a:r>
              <a:rPr lang="en-US" dirty="0"/>
              <a:t>What is the probability that an email is spam, 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dirty="0"/>
              <a:t> it contains suspicious keywords?</a:t>
            </a:r>
            <a:endParaRPr lang="en-US" b="1" dirty="0"/>
          </a:p>
          <a:p>
            <a:pPr lvl="0"/>
            <a:r>
              <a:rPr lang="en-US" dirty="0"/>
              <a:t>The phrase </a:t>
            </a:r>
            <a:r>
              <a:rPr lang="en-US" b="1" dirty="0"/>
              <a:t>"</a:t>
            </a:r>
            <a:r>
              <a:rPr lang="en-US" b="1" dirty="0">
                <a:solidFill>
                  <a:srgbClr val="0070C0"/>
                </a:solidFill>
              </a:rPr>
              <a:t>given that</a:t>
            </a:r>
            <a:r>
              <a:rPr lang="en-US" b="1" dirty="0"/>
              <a:t>" </a:t>
            </a:r>
            <a:r>
              <a:rPr lang="en-US" dirty="0"/>
              <a:t>means that:</a:t>
            </a:r>
          </a:p>
          <a:p>
            <a:pPr lvl="1"/>
            <a:r>
              <a:rPr lang="en-US" dirty="0"/>
              <a:t>additional information has been received, or</a:t>
            </a:r>
          </a:p>
          <a:p>
            <a:pPr lvl="1"/>
            <a:r>
              <a:rPr lang="en-US" dirty="0"/>
              <a:t>we already know that a particular event has occurred.</a:t>
            </a:r>
          </a:p>
          <a:p>
            <a:pPr lvl="0"/>
            <a:endParaRPr lang="en-IN" b="1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782850-0820-0780-C53B-0CF898020D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2795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4ED37844-13CF-4554-B728-C3E6F80B1A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3E355A7C-AEE2-24E1-8C78-ABC8B2C9B4C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The phrase </a:t>
                </a:r>
                <a:r>
                  <a:rPr lang="en-US" b="1" dirty="0"/>
                  <a:t>"</a:t>
                </a:r>
                <a:r>
                  <a:rPr lang="en-US" b="1" dirty="0">
                    <a:solidFill>
                      <a:srgbClr val="0070C0"/>
                    </a:solidFill>
                  </a:rPr>
                  <a:t>given that</a:t>
                </a:r>
                <a:r>
                  <a:rPr lang="en-US" b="1" dirty="0"/>
                  <a:t>" </a:t>
                </a:r>
                <a:r>
                  <a:rPr lang="en-US" dirty="0"/>
                  <a:t>means that:</a:t>
                </a:r>
              </a:p>
              <a:p>
                <a:pPr lvl="1"/>
                <a:r>
                  <a:rPr lang="en-US" dirty="0"/>
                  <a:t>additional information has been received, or</a:t>
                </a:r>
              </a:p>
              <a:p>
                <a:pPr lvl="1"/>
                <a:r>
                  <a:rPr lang="en-US" dirty="0"/>
                  <a:t>we already know that a particular event has occurred.</a:t>
                </a:r>
              </a:p>
              <a:p>
                <a:r>
                  <a:rPr lang="en-US" dirty="0"/>
                  <a:t>Once this information is known, the given event becomes the new sample space.</a:t>
                </a:r>
              </a:p>
              <a:p>
                <a:pPr lvl="1"/>
                <a:r>
                  <a:rPr lang="en-US" dirty="0"/>
                  <a:t>Whenever the condition "given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" is known, ignore everything outside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. Then, among the remaining outcomes, count only those that also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3E355A7C-AEE2-24E1-8C78-ABC8B2C9B4C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D339D45C-B058-A558-E9B3-4900654F72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E8CF388-D9F6-2712-9E99-6B08350D5F20}"/>
                  </a:ext>
                </a:extLst>
              </p:cNvPr>
              <p:cNvSpPr txBox="1"/>
              <p:nvPr/>
            </p:nvSpPr>
            <p:spPr>
              <a:xfrm>
                <a:off x="1655324" y="4720258"/>
                <a:ext cx="8432259" cy="16364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∩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</m:d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S</m:t>
                                  </m:r>
                                </m:e>
                              </m:d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</m:d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S</m:t>
                                  </m:r>
                                </m:e>
                              </m:d>
                            </m:den>
                          </m:f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num>
                        <m:den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E8CF388-D9F6-2712-9E99-6B08350D5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5324" y="4720258"/>
                <a:ext cx="8432259" cy="16364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45075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8778"/>
                <a:ext cx="11929641" cy="5812096"/>
              </a:xfrm>
            </p:spPr>
            <p:txBody>
              <a:bodyPr/>
              <a:lstStyle/>
              <a:p>
                <a:r>
                  <a:rPr lang="en-US" dirty="0"/>
                  <a:t>Consider the experiment of tossing three fair coins. To find probability of “getting </a:t>
                </a:r>
                <a:r>
                  <a:rPr lang="en-US" b="1" dirty="0"/>
                  <a:t>at least two heads </a:t>
                </a:r>
                <a:r>
                  <a:rPr lang="en-US" dirty="0"/>
                  <a:t>given that </a:t>
                </a:r>
                <a:r>
                  <a:rPr lang="en-US" b="1" dirty="0"/>
                  <a:t>first coin shows tail</a:t>
                </a:r>
                <a:r>
                  <a:rPr lang="en-US" dirty="0"/>
                  <a:t>” is conditional probability.</a:t>
                </a:r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endParaRPr lang="en-US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: at least two head appear</a:t>
                </a:r>
              </a:p>
              <a:p>
                <a:pPr marL="266700" lvl="1" indent="0">
                  <a:lnSpc>
                    <a:spcPct val="100000"/>
                  </a:lnSpc>
                  <a:buNone/>
                </a:pPr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</m:oMath>
                </a14:m>
                <a:r>
                  <a:rPr lang="en-US" dirty="0"/>
                  <a:t> : first coin shows tail </a:t>
                </a:r>
              </a:p>
              <a:p>
                <a:pPr marL="266700" lvl="1" indent="0">
                  <a:buNone/>
                </a:pPr>
                <a:endParaRPr lang="en-US" sz="1200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8778"/>
                <a:ext cx="11929641" cy="581209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5C767B6-2784-416B-A6B0-52965A49765A}"/>
                  </a:ext>
                </a:extLst>
              </p:cNvPr>
              <p:cNvSpPr txBox="1"/>
              <p:nvPr/>
            </p:nvSpPr>
            <p:spPr>
              <a:xfrm>
                <a:off x="5217584" y="3113616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5C767B6-2784-416B-A6B0-52965A4976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7584" y="3113616"/>
                <a:ext cx="5048250" cy="60741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E1C3402-9234-4EE9-B43B-38E43309EEFD}"/>
                  </a:ext>
                </a:extLst>
              </p:cNvPr>
              <p:cNvSpPr txBox="1"/>
              <p:nvPr/>
            </p:nvSpPr>
            <p:spPr>
              <a:xfrm>
                <a:off x="4489450" y="4196140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E1C3402-9234-4EE9-B43B-38E43309E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9450" y="4196140"/>
                <a:ext cx="5048250" cy="60741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2E6941F-E662-42FF-A5F5-40327543EEC1}"/>
                  </a:ext>
                </a:extLst>
              </p:cNvPr>
              <p:cNvSpPr txBox="1"/>
              <p:nvPr/>
            </p:nvSpPr>
            <p:spPr>
              <a:xfrm>
                <a:off x="408759" y="2590396"/>
                <a:ext cx="24529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2E6941F-E662-42FF-A5F5-40327543EE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759" y="2590396"/>
                <a:ext cx="245297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AEAE62A-CA9F-47BB-AFDC-74376F238BEA}"/>
                  </a:ext>
                </a:extLst>
              </p:cNvPr>
              <p:cNvSpPr txBox="1"/>
              <p:nvPr/>
            </p:nvSpPr>
            <p:spPr>
              <a:xfrm>
                <a:off x="425693" y="3675796"/>
                <a:ext cx="20635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AEAE62A-CA9F-47BB-AFDC-74376F238B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93" y="3675796"/>
                <a:ext cx="206350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E91652F-262C-4A41-BC4A-F7642A4B5E45}"/>
                  </a:ext>
                </a:extLst>
              </p:cNvPr>
              <p:cNvSpPr txBox="1"/>
              <p:nvPr/>
            </p:nvSpPr>
            <p:spPr>
              <a:xfrm>
                <a:off x="408759" y="4761196"/>
                <a:ext cx="21651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E91652F-262C-4A41-BC4A-F7642A4B5E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759" y="4761196"/>
                <a:ext cx="216510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131179" y="5278664"/>
                <a:ext cx="6470361" cy="5860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265176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Here,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has occurred before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5278664"/>
                <a:ext cx="6470361" cy="586058"/>
              </a:xfrm>
              <a:prstGeom prst="rect">
                <a:avLst/>
              </a:prstGeom>
              <a:blipFill>
                <a:blip r:embed="rId9"/>
                <a:stretch>
                  <a:fillRect b="-2916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63976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6" grpId="0"/>
      <p:bldP spid="9" grpId="0" uiExpand="1"/>
      <p:bldP spid="10" grpId="0" uiExpand="1"/>
      <p:bldP spid="11" grpId="0" uiExpand="1"/>
      <p:bldP spid="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2BC1EFC-C2EE-484F-8442-9290B91B55CD}"/>
                  </a:ext>
                </a:extLst>
              </p:cNvPr>
              <p:cNvSpPr txBox="1"/>
              <p:nvPr/>
            </p:nvSpPr>
            <p:spPr>
              <a:xfrm>
                <a:off x="135680" y="742204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2BC1EFC-C2EE-484F-8442-9290B91B55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680" y="742204"/>
                <a:ext cx="5048250" cy="60741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B8F2812-EDD7-4C50-B944-6A07EB55AC0A}"/>
                  </a:ext>
                </a:extLst>
              </p:cNvPr>
              <p:cNvSpPr txBox="1"/>
              <p:nvPr/>
            </p:nvSpPr>
            <p:spPr>
              <a:xfrm>
                <a:off x="5801039" y="784685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B8F2812-EDD7-4C50-B944-6A07EB55A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01039" y="784685"/>
                <a:ext cx="5048250" cy="60741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AB5C232-0BD9-454E-87AC-14E4D27B43AB}"/>
                  </a:ext>
                </a:extLst>
              </p:cNvPr>
              <p:cNvSpPr txBox="1"/>
              <p:nvPr/>
            </p:nvSpPr>
            <p:spPr>
              <a:xfrm>
                <a:off x="6431870" y="2559641"/>
                <a:ext cx="275907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AB5C232-0BD9-454E-87AC-14E4D27B43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1870" y="2559641"/>
                <a:ext cx="275907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16D262-3FB9-4B8B-B3FD-381582E43079}"/>
                  </a:ext>
                </a:extLst>
              </p:cNvPr>
              <p:cNvSpPr txBox="1"/>
              <p:nvPr/>
            </p:nvSpPr>
            <p:spPr>
              <a:xfrm>
                <a:off x="1543891" y="4913406"/>
                <a:ext cx="97209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16D262-3FB9-4B8B-B3FD-381582E430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3891" y="4913406"/>
                <a:ext cx="972095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E50E2E9-5476-4A1F-AAE9-E436FC693B67}"/>
                  </a:ext>
                </a:extLst>
              </p:cNvPr>
              <p:cNvSpPr txBox="1"/>
              <p:nvPr/>
            </p:nvSpPr>
            <p:spPr>
              <a:xfrm>
                <a:off x="136115" y="2559641"/>
                <a:ext cx="1407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E50E2E9-5476-4A1F-AAE9-E436FC693B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115" y="2559641"/>
                <a:ext cx="14077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9613D3-5F9D-47B4-BAEE-6496C8B64749}"/>
                  </a:ext>
                </a:extLst>
              </p:cNvPr>
              <p:cNvSpPr txBox="1"/>
              <p:nvPr/>
            </p:nvSpPr>
            <p:spPr>
              <a:xfrm>
                <a:off x="1496276" y="2326532"/>
                <a:ext cx="2175043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9613D3-5F9D-47B4-BAEE-6496C8B647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6276" y="2326532"/>
                <a:ext cx="2175043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7368A49-F75C-4150-ABB2-3214BC8F23DF}"/>
                  </a:ext>
                </a:extLst>
              </p:cNvPr>
              <p:cNvSpPr txBox="1"/>
              <p:nvPr/>
            </p:nvSpPr>
            <p:spPr>
              <a:xfrm>
                <a:off x="135680" y="1495015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7368A49-F75C-4150-ABB2-3214BC8F23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680" y="1495015"/>
                <a:ext cx="1656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75F693A-2420-40F9-BAFD-9B2734ADE518}"/>
                  </a:ext>
                </a:extLst>
              </p:cNvPr>
              <p:cNvSpPr txBox="1"/>
              <p:nvPr/>
            </p:nvSpPr>
            <p:spPr>
              <a:xfrm>
                <a:off x="2216643" y="1495015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75F693A-2420-40F9-BAFD-9B2734ADE5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6643" y="1495015"/>
                <a:ext cx="1656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F102A2E-735F-409A-B0AA-8859C2C002E2}"/>
                  </a:ext>
                </a:extLst>
              </p:cNvPr>
              <p:cNvSpPr txBox="1"/>
              <p:nvPr/>
            </p:nvSpPr>
            <p:spPr>
              <a:xfrm>
                <a:off x="4355930" y="1495015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F102A2E-735F-409A-B0AA-8859C2C002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5930" y="1495015"/>
                <a:ext cx="1656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A3F467A-04A5-47C8-9A9A-529D2CCF601D}"/>
                  </a:ext>
                </a:extLst>
              </p:cNvPr>
              <p:cNvSpPr txBox="1"/>
              <p:nvPr/>
            </p:nvSpPr>
            <p:spPr>
              <a:xfrm>
                <a:off x="5662418" y="3251920"/>
                <a:ext cx="27350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A3F467A-04A5-47C8-9A9A-529D2CCF60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418" y="3251920"/>
                <a:ext cx="273501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636C98A6-DC2E-43AB-8448-DA8D9D506AA8}"/>
              </a:ext>
            </a:extLst>
          </p:cNvPr>
          <p:cNvCxnSpPr>
            <a:cxnSpLocks/>
          </p:cNvCxnSpPr>
          <p:nvPr/>
        </p:nvCxnSpPr>
        <p:spPr>
          <a:xfrm>
            <a:off x="4790771" y="2200072"/>
            <a:ext cx="0" cy="422500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2350F8FB-D934-C67E-24A5-4F340A731522}"/>
                  </a:ext>
                </a:extLst>
              </p:cNvPr>
              <p:cNvSpPr txBox="1"/>
              <p:nvPr/>
            </p:nvSpPr>
            <p:spPr>
              <a:xfrm>
                <a:off x="1543891" y="3624267"/>
                <a:ext cx="2175043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2350F8FB-D934-C67E-24A5-4F340A7315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3891" y="3624267"/>
                <a:ext cx="2175043" cy="98943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01388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21" grpId="0"/>
      <p:bldP spid="14" grpId="0"/>
      <p:bldP spid="15" grpId="0"/>
      <p:bldP spid="24" grpId="0"/>
      <p:bldP spid="3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219AFE-AA8A-BDFA-2B5B-06F5C02DFF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Conditional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93DA8F0-70AA-C99B-913D-3814032FA2E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>
                  <a:lnSpc>
                    <a:spcPct val="150000"/>
                  </a:lnSpc>
                </a:pPr>
                <a:r>
                  <a:rPr lang="en-IN" dirty="0"/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any three events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dirty="0"/>
                  <a:t> then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∪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∩</m:t>
                          </m:r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/>
              </a:p>
              <a:p>
                <a:pPr>
                  <a:lnSpc>
                    <a:spcPct val="150000"/>
                  </a:lnSpc>
                </a:pPr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any two events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dirty="0"/>
                  <a:t> then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i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93DA8F0-70AA-C99B-913D-3814032FA2E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90109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1"/>
                <a:ext cx="11929645" cy="168646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find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  <m:oMath xmlns:m="http://schemas.openxmlformats.org/officeDocument/2006/math"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and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1"/>
                <a:ext cx="11929645" cy="168646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1094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/>
              <p:nvPr/>
            </p:nvSpPr>
            <p:spPr>
              <a:xfrm>
                <a:off x="134997" y="3295024"/>
                <a:ext cx="655674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997" y="3295024"/>
                <a:ext cx="6556747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C4C4526-D3A3-421F-A237-855F89883808}"/>
                  </a:ext>
                </a:extLst>
              </p:cNvPr>
              <p:cNvSpPr txBox="1"/>
              <p:nvPr/>
            </p:nvSpPr>
            <p:spPr>
              <a:xfrm>
                <a:off x="344083" y="4913370"/>
                <a:ext cx="391507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C4C4526-D3A3-421F-A237-855F898838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083" y="4913370"/>
                <a:ext cx="3915072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DC0F378-DFB3-4B23-8533-4C93F74AFF41}"/>
                  </a:ext>
                </a:extLst>
              </p:cNvPr>
              <p:cNvSpPr txBox="1"/>
              <p:nvPr/>
            </p:nvSpPr>
            <p:spPr>
              <a:xfrm>
                <a:off x="7158096" y="2709855"/>
                <a:ext cx="252777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DC0F378-DFB3-4B23-8533-4C93F74AFF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8096" y="2709855"/>
                <a:ext cx="25277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D7118FD-62D5-4203-B93B-878018B0C778}"/>
                  </a:ext>
                </a:extLst>
              </p:cNvPr>
              <p:cNvSpPr txBox="1"/>
              <p:nvPr/>
            </p:nvSpPr>
            <p:spPr>
              <a:xfrm>
                <a:off x="7210478" y="4650649"/>
                <a:ext cx="227642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D7118FD-62D5-4203-B93B-878018B0C7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0478" y="4650649"/>
                <a:ext cx="227642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1B282EA-96A6-4324-BC04-435DB598E92D}"/>
                  </a:ext>
                </a:extLst>
              </p:cNvPr>
              <p:cNvSpPr txBox="1"/>
              <p:nvPr/>
            </p:nvSpPr>
            <p:spPr>
              <a:xfrm>
                <a:off x="9047822" y="441753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1B282EA-96A6-4324-BC04-435DB598E9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7822" y="4417539"/>
                <a:ext cx="2106382" cy="989438"/>
              </a:xfrm>
              <a:prstGeom prst="rect">
                <a:avLst/>
              </a:prstGeom>
              <a:blipFill>
                <a:blip r:embed="rId7"/>
                <a:stretch>
                  <a:fillRect r="-28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2738213-638B-4C0A-BAFB-0904EE4988C5}"/>
                  </a:ext>
                </a:extLst>
              </p:cNvPr>
              <p:cNvSpPr txBox="1"/>
              <p:nvPr/>
            </p:nvSpPr>
            <p:spPr>
              <a:xfrm>
                <a:off x="9046758" y="4895025"/>
                <a:ext cx="1301920" cy="17039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US" sz="2800" b="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2738213-638B-4C0A-BAFB-0904EE4988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6758" y="4895025"/>
                <a:ext cx="1301920" cy="1703928"/>
              </a:xfrm>
              <a:prstGeom prst="rect">
                <a:avLst/>
              </a:prstGeom>
              <a:blipFill>
                <a:blip r:embed="rId8"/>
                <a:stretch>
                  <a:fillRect r="-32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59F240E-3BC9-43F8-8F56-438A2AEC5625}"/>
                  </a:ext>
                </a:extLst>
              </p:cNvPr>
              <p:cNvSpPr txBox="1"/>
              <p:nvPr/>
            </p:nvSpPr>
            <p:spPr>
              <a:xfrm>
                <a:off x="10521022" y="5057130"/>
                <a:ext cx="1086386" cy="13326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US" sz="2800" b="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59F240E-3BC9-43F8-8F56-438A2AEC56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21022" y="5057130"/>
                <a:ext cx="1086386" cy="13326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BBD8EC7-4A22-4D8C-AC39-89BB77F70D53}"/>
              </a:ext>
            </a:extLst>
          </p:cNvPr>
          <p:cNvCxnSpPr>
            <a:cxnSpLocks/>
          </p:cNvCxnSpPr>
          <p:nvPr/>
        </p:nvCxnSpPr>
        <p:spPr>
          <a:xfrm>
            <a:off x="7153672" y="2709855"/>
            <a:ext cx="0" cy="37526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751A521-8697-483D-9338-72447AEACE93}"/>
                  </a:ext>
                </a:extLst>
              </p:cNvPr>
              <p:cNvSpPr txBox="1"/>
              <p:nvPr/>
            </p:nvSpPr>
            <p:spPr>
              <a:xfrm>
                <a:off x="4156283" y="4916191"/>
                <a:ext cx="117116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751A521-8697-483D-9338-72447AEAC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6283" y="4916191"/>
                <a:ext cx="1171163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FEF29FC-4F30-428C-A2AB-8BFD80F00131}"/>
                  </a:ext>
                </a:extLst>
              </p:cNvPr>
              <p:cNvSpPr txBox="1"/>
              <p:nvPr/>
            </p:nvSpPr>
            <p:spPr>
              <a:xfrm>
                <a:off x="9194696" y="2726789"/>
                <a:ext cx="251591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FEF29FC-4F30-428C-A2AB-8BFD80F001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696" y="2726789"/>
                <a:ext cx="251591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547954-F584-4F25-AA60-5D21188F42B4}"/>
                  </a:ext>
                </a:extLst>
              </p:cNvPr>
              <p:cNvSpPr txBox="1"/>
              <p:nvPr/>
            </p:nvSpPr>
            <p:spPr>
              <a:xfrm>
                <a:off x="9212422" y="3352776"/>
                <a:ext cx="1827490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547954-F584-4F25-AA60-5D21188F42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2422" y="3352776"/>
                <a:ext cx="1827490" cy="89915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A0AF8763-C4E3-4654-A2EC-B7E29B5420EA}"/>
                  </a:ext>
                </a:extLst>
              </p:cNvPr>
              <p:cNvSpPr txBox="1"/>
              <p:nvPr/>
            </p:nvSpPr>
            <p:spPr>
              <a:xfrm>
                <a:off x="10843866" y="3352776"/>
                <a:ext cx="1112222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A0AF8763-C4E3-4654-A2EC-B7E29B542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43866" y="3352776"/>
                <a:ext cx="1112222" cy="89896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/>
              <p:nvPr/>
            </p:nvSpPr>
            <p:spPr>
              <a:xfrm>
                <a:off x="52410" y="4070996"/>
                <a:ext cx="77204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	           </a:t>
                </a:r>
                <a14:m>
                  <m:oMath xmlns:m="http://schemas.openxmlformats.org/officeDocument/2006/math"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′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))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0" y="4070996"/>
                <a:ext cx="77204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5997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2" grpId="0"/>
      <p:bldP spid="35" grpId="0"/>
      <p:bldP spid="36" grpId="0"/>
      <p:bldP spid="37" grpId="0"/>
      <p:bldP spid="38" grpId="0"/>
      <p:bldP spid="44" grpId="0"/>
      <p:bldP spid="47" grpId="0"/>
      <p:bldP spid="49" grpId="0"/>
      <p:bldP spid="50" grpId="0"/>
      <p:bldP spid="23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8FBF5C-04F8-0711-3DB9-1E927DA401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F101C4D1-08C6-3526-64C9-5AC1189FBEB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1"/>
                <a:ext cx="11929645" cy="126093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>
                          <a:latin typeface="+mj-lt"/>
                        </a:rPr>
                        <m:t>find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and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F101C4D1-08C6-3526-64C9-5AC1189FB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1"/>
                <a:ext cx="11929645" cy="126093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921527BF-2C24-6695-43E7-BA4CC58BB8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30D090E-AA40-B66C-3C39-F74EC8DCF57C}"/>
              </a:ext>
            </a:extLst>
          </p:cNvPr>
          <p:cNvSpPr txBox="1">
            <a:spLocks/>
          </p:cNvSpPr>
          <p:nvPr/>
        </p:nvSpPr>
        <p:spPr>
          <a:xfrm>
            <a:off x="131176" y="222306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algn="ctr"/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9A4661F-75F0-1F3F-DF15-3180E3A868C9}"/>
                  </a:ext>
                </a:extLst>
              </p:cNvPr>
              <p:cNvSpPr txBox="1"/>
              <p:nvPr/>
            </p:nvSpPr>
            <p:spPr>
              <a:xfrm>
                <a:off x="8150962" y="2285415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9A4661F-75F0-1F3F-DF15-3180E3A868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2285415"/>
                <a:ext cx="4575906" cy="98943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0DAF186-B214-9DB2-D952-8708FC8C4250}"/>
                  </a:ext>
                </a:extLst>
              </p:cNvPr>
              <p:cNvSpPr txBox="1"/>
              <p:nvPr/>
            </p:nvSpPr>
            <p:spPr>
              <a:xfrm>
                <a:off x="1594216" y="2265646"/>
                <a:ext cx="655674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0DAF186-B214-9DB2-D952-8708FC8C42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265646"/>
                <a:ext cx="655674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FEDB9E5-4C04-B61A-5EFD-399282654106}"/>
                  </a:ext>
                </a:extLst>
              </p:cNvPr>
              <p:cNvSpPr txBox="1"/>
              <p:nvPr/>
            </p:nvSpPr>
            <p:spPr>
              <a:xfrm>
                <a:off x="1594214" y="3005020"/>
                <a:ext cx="5401345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FEDB9E5-4C04-B61A-5EFD-399282654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005020"/>
                <a:ext cx="5401345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FA385A-40F3-E11C-A47C-EF27FBE59D1B}"/>
                  </a:ext>
                </a:extLst>
              </p:cNvPr>
              <p:cNvSpPr txBox="1"/>
              <p:nvPr/>
            </p:nvSpPr>
            <p:spPr>
              <a:xfrm>
                <a:off x="1594214" y="4292561"/>
                <a:ext cx="522222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FA385A-40F3-E11C-A47C-EF27FBE59D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4292561"/>
                <a:ext cx="5222222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DEC8837-9691-7204-4330-CAC8572ACAB9}"/>
                  </a:ext>
                </a:extLst>
              </p:cNvPr>
              <p:cNvSpPr txBox="1"/>
              <p:nvPr/>
            </p:nvSpPr>
            <p:spPr>
              <a:xfrm>
                <a:off x="1594214" y="5582923"/>
                <a:ext cx="4848150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DEC8837-9691-7204-4330-CAC8572ACA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5582923"/>
                <a:ext cx="4848150" cy="9017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2D893B6-8652-4301-C1A7-889F7C15A302}"/>
              </a:ext>
            </a:extLst>
          </p:cNvPr>
          <p:cNvCxnSpPr>
            <a:cxnSpLocks/>
          </p:cNvCxnSpPr>
          <p:nvPr/>
        </p:nvCxnSpPr>
        <p:spPr>
          <a:xfrm>
            <a:off x="7583651" y="2302349"/>
            <a:ext cx="0" cy="41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EDC2AD2-88B5-830D-B215-038ACC771A93}"/>
                  </a:ext>
                </a:extLst>
              </p:cNvPr>
              <p:cNvSpPr txBox="1"/>
              <p:nvPr/>
            </p:nvSpPr>
            <p:spPr>
              <a:xfrm>
                <a:off x="8150962" y="3616693"/>
                <a:ext cx="4575906" cy="127740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EDC2AD2-88B5-830D-B215-038ACC771A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3616693"/>
                <a:ext cx="4575906" cy="127740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8872EF-CB59-B014-97CC-DD81B148E7CE}"/>
                  </a:ext>
                </a:extLst>
              </p:cNvPr>
              <p:cNvSpPr txBox="1"/>
              <p:nvPr/>
            </p:nvSpPr>
            <p:spPr>
              <a:xfrm>
                <a:off x="8150962" y="5152825"/>
                <a:ext cx="4575906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8872EF-CB59-B014-97CC-DD81B148E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5152825"/>
                <a:ext cx="4575906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1349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" grpId="0"/>
      <p:bldP spid="5" grpId="0"/>
      <p:bldP spid="6" grpId="0"/>
      <p:bldP spid="7" grpId="0"/>
      <p:bldP spid="10" grpId="0"/>
      <p:bldP spid="11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C5A166-A8FA-1FDF-94E2-4FF4F1B722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A3573-8750-449E-5BE7-DF66CBC32D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2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F8C42E0-3008-C29F-ED42-85C12D288B63}"/>
                  </a:ext>
                </a:extLst>
              </p:cNvPr>
              <p:cNvSpPr txBox="1"/>
              <p:nvPr/>
            </p:nvSpPr>
            <p:spPr>
              <a:xfrm>
                <a:off x="5766030" y="881043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F8C42E0-3008-C29F-ED42-85C12D288B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881043"/>
                <a:ext cx="4575906" cy="98943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14B32E3-56F1-374E-60ED-1D7C34313054}"/>
                  </a:ext>
                </a:extLst>
              </p:cNvPr>
              <p:cNvSpPr txBox="1"/>
              <p:nvPr/>
            </p:nvSpPr>
            <p:spPr>
              <a:xfrm>
                <a:off x="173646" y="791621"/>
                <a:ext cx="555174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14B32E3-56F1-374E-60ED-1D7C343130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6" y="791621"/>
                <a:ext cx="555174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47AFF40-60F9-05AE-6085-BB7B900005D1}"/>
                  </a:ext>
                </a:extLst>
              </p:cNvPr>
              <p:cNvSpPr txBox="1"/>
              <p:nvPr/>
            </p:nvSpPr>
            <p:spPr>
              <a:xfrm>
                <a:off x="173645" y="1436682"/>
                <a:ext cx="4461485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47AFF40-60F9-05AE-6085-BB7B90000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1436682"/>
                <a:ext cx="4461485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66B6CD2-AD22-1157-C7B3-7EBCCD9614E0}"/>
                  </a:ext>
                </a:extLst>
              </p:cNvPr>
              <p:cNvSpPr txBox="1"/>
              <p:nvPr/>
            </p:nvSpPr>
            <p:spPr>
              <a:xfrm>
                <a:off x="173645" y="3715620"/>
                <a:ext cx="454382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Also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66B6CD2-AD22-1157-C7B3-7EBCCD9614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3715620"/>
                <a:ext cx="454382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DE75B5E-9EA5-3A35-FC9F-F3B2E2C7637E}"/>
              </a:ext>
            </a:extLst>
          </p:cNvPr>
          <p:cNvCxnSpPr>
            <a:cxnSpLocks/>
          </p:cNvCxnSpPr>
          <p:nvPr/>
        </p:nvCxnSpPr>
        <p:spPr>
          <a:xfrm>
            <a:off x="5152179" y="881043"/>
            <a:ext cx="0" cy="41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1BA4EFA-8D51-0703-2C0F-AC4C718EF45E}"/>
                  </a:ext>
                </a:extLst>
              </p:cNvPr>
              <p:cNvSpPr txBox="1"/>
              <p:nvPr/>
            </p:nvSpPr>
            <p:spPr>
              <a:xfrm>
                <a:off x="173645" y="2570152"/>
                <a:ext cx="412063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1BA4EFA-8D51-0703-2C0F-AC4C718EF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2570152"/>
                <a:ext cx="4120632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2A3376B-59A5-7E90-5D3A-782236BFAD5F}"/>
                  </a:ext>
                </a:extLst>
              </p:cNvPr>
              <p:cNvSpPr txBox="1"/>
              <p:nvPr/>
            </p:nvSpPr>
            <p:spPr>
              <a:xfrm>
                <a:off x="173645" y="4471066"/>
                <a:ext cx="38476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2A3376B-59A5-7E90-5D3A-782236BFAD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4471066"/>
                <a:ext cx="3847634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25F1869-49B6-BD9B-2755-E0E5E09B86F8}"/>
                  </a:ext>
                </a:extLst>
              </p:cNvPr>
              <p:cNvSpPr txBox="1"/>
              <p:nvPr/>
            </p:nvSpPr>
            <p:spPr>
              <a:xfrm>
                <a:off x="173645" y="5616897"/>
                <a:ext cx="3847632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25F1869-49B6-BD9B-2755-E0E5E09B8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5616897"/>
                <a:ext cx="384763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B4AFAFF-2AE4-A7A7-4F26-BED98855F452}"/>
                  </a:ext>
                </a:extLst>
              </p:cNvPr>
              <p:cNvSpPr txBox="1"/>
              <p:nvPr/>
            </p:nvSpPr>
            <p:spPr>
              <a:xfrm>
                <a:off x="5766030" y="2482499"/>
                <a:ext cx="4575906" cy="127432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B4AFAFF-2AE4-A7A7-4F26-BED98855F4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2482499"/>
                <a:ext cx="4575906" cy="127432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D91678F-E2B1-2F1B-4C12-3ECE514B7684}"/>
                  </a:ext>
                </a:extLst>
              </p:cNvPr>
              <p:cNvSpPr txBox="1"/>
              <p:nvPr/>
            </p:nvSpPr>
            <p:spPr>
              <a:xfrm>
                <a:off x="5766030" y="4238840"/>
                <a:ext cx="457590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D91678F-E2B1-2F1B-4C12-3ECE514B76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4238840"/>
                <a:ext cx="4575906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35994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" grpId="0"/>
      <p:bldP spid="5" grpId="0"/>
      <p:bldP spid="7" grpId="0"/>
      <p:bldP spid="8" grpId="0"/>
      <p:bldP spid="12" grpId="0"/>
      <p:bldP spid="13" grpId="0"/>
      <p:bldP spid="14" grpId="0"/>
      <p:bldP spid="15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907808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dirty="0"/>
                  <a:t>The Multiplicative Law of Probability is used to determine the probability that </a:t>
                </a:r>
                <a:r>
                  <a:rPr lang="en-US" b="1" dirty="0">
                    <a:solidFill>
                      <a:srgbClr val="0070C0"/>
                    </a:solidFill>
                  </a:rPr>
                  <a:t>both events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b="1" dirty="0">
                    <a:solidFill>
                      <a:srgbClr val="0070C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b="1" dirty="0">
                    <a:solidFill>
                      <a:srgbClr val="0070C0"/>
                    </a:solidFill>
                  </a:rPr>
                  <a:t> occur simultaneously</a:t>
                </a:r>
                <a:r>
                  <a:rPr lang="en-US" dirty="0"/>
                  <a:t>.</a:t>
                </a:r>
              </a:p>
              <a:p>
                <a:pPr>
                  <a:lnSpc>
                    <a:spcPct val="114000"/>
                  </a:lnSpc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 any two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/>
                  <a:t> then</a:t>
                </a:r>
              </a:p>
              <a:p>
                <a:pPr marL="271463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 smtClean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dirty="0"/>
              </a:p>
              <a:p>
                <a:pPr marL="4302125" lvl="1" indent="-84138" algn="l">
                  <a:lnSpc>
                    <a:spcPct val="114000"/>
                  </a:lnSpc>
                  <a:buNone/>
                </a:pPr>
                <a:r>
                  <a:rPr lang="en-US" dirty="0"/>
                  <a:t>  </a:t>
                </a: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; 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≠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dirty="0"/>
              </a:p>
              <a:p>
                <a:pPr lvl="1" indent="-354013" algn="l">
                  <a:lnSpc>
                    <a:spcPct val="114000"/>
                  </a:lnSpc>
                </a:pPr>
                <a:r>
                  <a:rPr lang="en-IN" dirty="0"/>
                  <a:t>Meaning: </a:t>
                </a:r>
              </a:p>
              <a:p>
                <a:pPr lvl="2" indent="-354013" algn="l">
                  <a:lnSpc>
                    <a:spcPct val="114000"/>
                  </a:lnSpc>
                </a:pPr>
                <a:r>
                  <a:rPr lang="en-US" dirty="0"/>
                  <a:t>Probability that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 </a:t>
                </a:r>
              </a:p>
              <a:p>
                <a:pPr marL="546100" lvl="2" indent="0" algn="l">
                  <a:lnSpc>
                    <a:spcPct val="114000"/>
                  </a:lnSpc>
                  <a:buNone/>
                </a:pP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(Probability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occurs)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lang="en-US" dirty="0"/>
                  <a:t> (Probability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occurs after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has occurred)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907808"/>
              </a:xfrm>
              <a:blipFill>
                <a:blip r:embed="rId2"/>
                <a:stretch>
                  <a:fillRect l="-971" t="-619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963921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1A4E528-1A30-D8CB-E6BE-F320FE2C9D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30AB5F-02F5-A538-364E-7B67FD427E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Example - 1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0F5C77E-0B2D-DEC1-D409-169690B5295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US" dirty="0"/>
                  <a:t>Let the events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: A randomly selected student knows Python.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: A randomly selected student knows Java.</a:t>
                </a:r>
              </a:p>
              <a:p>
                <a:r>
                  <a:rPr lang="en-US" dirty="0"/>
                  <a:t>Our objective is to find the probability that a randomly selected student knows both Python and Java.	</a:t>
                </a:r>
              </a:p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Approach : 1</a:t>
                </a: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endParaRPr lang="en-US" b="1" dirty="0"/>
              </a:p>
              <a:p>
                <a:pPr lvl="1"/>
                <a:r>
                  <a:rPr lang="en-US" dirty="0"/>
                  <a:t>Think of the process in two probabilities: </a:t>
                </a:r>
              </a:p>
              <a:p>
                <a:pPr lvl="2"/>
                <a:r>
                  <a:rPr lang="en-US" b="1" u="sng" dirty="0"/>
                  <a:t>Step 1</a:t>
                </a:r>
                <a:r>
                  <a:rPr lang="en-US" dirty="0"/>
                  <a:t>: Find the probability that a randomly selected student knows Python.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1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1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0F5C77E-0B2D-DEC1-D409-169690B5295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94936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11BB2B0-8700-2D69-4F3D-AD31A13841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8CAC7B-3BBC-E4D2-902D-5619FABEFE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Example - 1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6F814BC-43C2-667E-9534-9581F61FE9F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Approach : 1</a:t>
                </a: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endParaRPr lang="en-US" b="1" dirty="0"/>
              </a:p>
              <a:p>
                <a:pPr lvl="1"/>
                <a:r>
                  <a:rPr lang="en-US" dirty="0"/>
                  <a:t>Think of the process in two probabilities: </a:t>
                </a:r>
              </a:p>
              <a:p>
                <a:pPr lvl="2"/>
                <a:r>
                  <a:rPr lang="en-US" b="1" u="sng" dirty="0"/>
                  <a:t>Step 1</a:t>
                </a:r>
                <a:r>
                  <a:rPr lang="en-US" dirty="0"/>
                  <a:t>: Find the probability that a randomly selected student knows Python.</a:t>
                </a:r>
                <a:endParaRPr lang="en-IN" i="1" dirty="0">
                  <a:latin typeface="Cambria Math" panose="02040503050406030204" pitchFamily="18" charset="0"/>
                </a:endParaRPr>
              </a:p>
              <a:p>
                <a:pPr marL="671513" lvl="2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1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1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2"/>
                <a:r>
                  <a:rPr lang="en-US" b="1" u="sng" dirty="0"/>
                  <a:t>Step 2</a:t>
                </a:r>
                <a:r>
                  <a:rPr lang="en-US" dirty="0"/>
                  <a:t>: Among students who know Python, find the probability that a student also knows Java.</a:t>
                </a:r>
              </a:p>
              <a:p>
                <a:pPr marL="671513" lvl="2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2"/>
                <a:r>
                  <a:rPr lang="en-US" dirty="0"/>
                  <a:t>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6F814BC-43C2-667E-9534-9581F61FE9F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67590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9674B458-EF54-933B-DEA5-554EF1877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5345AD-C8D6-1108-ECF2-C18DFE6E0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Example - 1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CFDCB64-E5FE-7695-3DC4-2A4C02E4CBE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chemeClr val="accent6">
                        <a:lumMod val="75000"/>
                      </a:schemeClr>
                    </a:solidFill>
                  </a:rPr>
                  <a:t>Approach : 2</a:t>
                </a: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b="1" dirty="0">
                  <a:solidFill>
                    <a:srgbClr val="0070C0"/>
                  </a:solidFill>
                </a:endParaRPr>
              </a:p>
              <a:p>
                <a:pPr lvl="1"/>
                <a:r>
                  <a:rPr lang="en-US" dirty="0"/>
                  <a:t>Now think in the reverse order.</a:t>
                </a:r>
              </a:p>
              <a:p>
                <a:pPr lvl="2"/>
                <a:r>
                  <a:rPr lang="en-US" b="1" u="sng" dirty="0"/>
                  <a:t>Step 1</a:t>
                </a:r>
                <a:r>
                  <a:rPr lang="en-US" dirty="0"/>
                  <a:t>: Find the probability that a randomly selected student knows Java.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2"/>
                <a:r>
                  <a:rPr lang="en-US" b="1" u="sng" dirty="0"/>
                  <a:t>Step 2</a:t>
                </a:r>
                <a:r>
                  <a:rPr lang="en-US" dirty="0"/>
                  <a:t>: Among students who know Java, find the probability that a student also knows Python.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2"/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CFDCB64-E5FE-7695-3DC4-2A4C02E4CBE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3464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64DC273-664A-5500-406F-80498BD0FE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F12297-F917-F809-6D0B-73CDEFD575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Example - 2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60C93E-F22A-AA78-2822-DE88DCD7945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IN" dirty="0"/>
                  <a:t>Let the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written test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interview</a:t>
                </a:r>
              </a:p>
              <a:p>
                <a:pPr lvl="1"/>
                <a:r>
                  <a:rPr lang="en-US" dirty="0"/>
                  <a:t>Can a student clear the interview without clearing the written test?</a:t>
                </a:r>
              </a:p>
              <a:p>
                <a:pPr lvl="2"/>
                <a:r>
                  <a:rPr lang="en-US" dirty="0"/>
                  <a:t>Answer : No</a:t>
                </a:r>
              </a:p>
              <a:p>
                <a:pPr lvl="2"/>
                <a:r>
                  <a:rPr lang="en-US" dirty="0"/>
                  <a:t>Therefore, the process occurs in two stages.</a:t>
                </a:r>
              </a:p>
              <a:p>
                <a:pPr lvl="3"/>
                <a:r>
                  <a:rPr lang="en-US" b="1" dirty="0"/>
                  <a:t>Stage  1</a:t>
                </a:r>
                <a:r>
                  <a:rPr lang="en-US" dirty="0"/>
                  <a:t>: Student clears the written test.</a:t>
                </a:r>
              </a:p>
              <a:p>
                <a:pPr lvl="3"/>
                <a:r>
                  <a:rPr lang="en-US" b="1" dirty="0"/>
                  <a:t>Stage 2:</a:t>
                </a:r>
                <a:r>
                  <a:rPr lang="en-US" dirty="0"/>
                  <a:t> Among those who cleared the written test, some clear the interview.</a:t>
                </a:r>
              </a:p>
              <a:p>
                <a:pPr marL="1033463" lvl="3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/>
                            <m:t>Written</m:t>
                          </m:r>
                          <m:r>
                            <m:rPr>
                              <m:nor/>
                            </m:rPr>
                            <a:rPr lang="en-IN" i="0"/>
                            <m:t> </m:t>
                          </m:r>
                          <m:r>
                            <m:rPr>
                              <m:nor/>
                            </m:rPr>
                            <a:rPr lang="en-IN" i="0" smtClean="0"/>
                            <m:t>and</m:t>
                          </m:r>
                          <m:r>
                            <m:rPr>
                              <m:nor/>
                            </m:rPr>
                            <a:rPr lang="en-IN" i="0"/>
                            <m:t> </m:t>
                          </m:r>
                          <m:r>
                            <m:rPr>
                              <m:nor/>
                            </m:rPr>
                            <a:rPr lang="en-IN" i="0"/>
                            <m:t>Interview</m:t>
                          </m:r>
                        </m:e>
                      </m:d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 smtClean="0"/>
                            <m:t>Writen</m:t>
                          </m:r>
                        </m:e>
                      </m:d>
                      <m:r>
                        <a:rPr lang="en-IN" smtClean="0"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endChr m:val="|"/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 smtClean="0"/>
                            <m:t>Interview</m:t>
                          </m:r>
                          <m:r>
                            <a:rPr lang="en-IN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i="0" smtClean="0"/>
                        <m:t>Written</m:t>
                      </m:r>
                      <m:r>
                        <a:rPr lang="en-IN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1033463" lvl="3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60C93E-F22A-AA78-2822-DE88DCD7945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11785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3C98F23-3AAB-99D4-CB34-D3689560F1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9A7829-AF50-FF32-65E4-681E89FD4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Example - 2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735E8B3-1349-5CE7-1B81-44FF050CF34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US" dirty="0"/>
                  <a:t>The same event can also be viewed in reverse</a:t>
                </a:r>
              </a:p>
              <a:p>
                <a:pPr lvl="1"/>
                <a:r>
                  <a:rPr lang="en-US" dirty="0"/>
                  <a:t>The event "Written Test and Interview" can also be viewed starting from the students who cleared the interview.</a:t>
                </a:r>
              </a:p>
              <a:p>
                <a:pPr lvl="1"/>
                <a:r>
                  <a:rPr lang="en-US" dirty="0"/>
                  <a:t>Probability that a student clears the interview →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Among those students, what is the probability that they had already cleared the written test? →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Since clearing the written test is a mandatory prerequisite for appearing in the interview,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735E8B3-1349-5CE7-1B81-44FF050CF34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43510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4CB9C85F-3618-AEB5-33AA-6EF78F8B83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677077-09D7-85D6-C9B6-8AD05BBBBF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Important Note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5AE37EAF-0227-4806-B0EB-C0893236CC3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In example - 2,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because every student who clears the interview must have already cleared the written test. </a:t>
                </a:r>
              </a:p>
              <a:p>
                <a:r>
                  <a:rPr lang="en-US" dirty="0"/>
                  <a:t>This is a special case and is </a:t>
                </a:r>
                <a:r>
                  <a:rPr lang="en-US" b="1" dirty="0">
                    <a:solidFill>
                      <a:srgbClr val="0070C0"/>
                    </a:solidFill>
                  </a:rPr>
                  <a:t>not true in general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It equals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only when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cannot occur without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5AE37EAF-0227-4806-B0EB-C0893236CC3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30084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AA33C77-1430-E7E2-F403-FE38FE883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3EDB6E4-C40E-39E0-A321-6DBE3DF354E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marL="263525" indent="-355600"/>
                <a:r>
                  <a:rPr lang="en-GB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be any three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GB" dirty="0"/>
                  <a:t>, then</a:t>
                </a:r>
              </a:p>
              <a:p>
                <a:pPr marL="625475" lvl="1" indent="0" algn="ctr">
                  <a:buNone/>
                </a:pPr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dirty="0"/>
              </a:p>
              <a:p>
                <a:pPr marL="893763" lvl="1" indent="-530225" algn="l"/>
                <a:r>
                  <a:rPr lang="en-US" dirty="0"/>
                  <a:t>Think in three stages:</a:t>
                </a:r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happens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happens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IN" dirty="0"/>
              </a:p>
              <a:p>
                <a:pPr marL="625475" lvl="1" indent="0" algn="ctr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3EDB6E4-C40E-39E0-A321-6DBE3DF354E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C48BE6E2-1298-3E9D-179D-46E865AD30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404666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7547F7D-8B4B-8933-D53B-11B7AB2B14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115C430-F686-33A7-3544-C4500FBD2B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marL="263525" indent="-355600"/>
                <a:r>
                  <a:rPr lang="en-GB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be any three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GB" dirty="0"/>
                  <a:t>, then</a:t>
                </a:r>
              </a:p>
              <a:p>
                <a:pPr marL="625475" lvl="1" indent="0" algn="ctr">
                  <a:buNone/>
                </a:pPr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dirty="0"/>
              </a:p>
              <a:p>
                <a:pPr marL="363538" indent="-358775" algn="l"/>
                <a:r>
                  <a:rPr lang="en-IN" dirty="0"/>
                  <a:t>Example</a:t>
                </a:r>
              </a:p>
              <a:p>
                <a:pPr marL="722313" lvl="1" indent="-358775" algn="l"/>
                <a:r>
                  <a:rPr lang="en-US" dirty="0"/>
                  <a:t>Imagine a company selects candidates through three stages:</a:t>
                </a:r>
              </a:p>
              <a:p>
                <a:pPr marL="998538" lvl="2" indent="-358775" algn="l"/>
                <a:r>
                  <a:rPr lang="en-US" dirty="0"/>
                  <a:t>Written Test</a:t>
                </a:r>
              </a:p>
              <a:p>
                <a:pPr marL="998538" lvl="2" indent="-358775" algn="l"/>
                <a:r>
                  <a:rPr lang="en-US" dirty="0"/>
                  <a:t>Technical Interview</a:t>
                </a:r>
              </a:p>
              <a:p>
                <a:pPr marL="998538" lvl="2" indent="-358775" algn="l"/>
                <a:r>
                  <a:rPr lang="en-US" dirty="0"/>
                  <a:t>HR Interview</a:t>
                </a:r>
              </a:p>
              <a:p>
                <a:pPr marL="722313" lvl="1" indent="-358775" algn="l"/>
                <a:r>
                  <a:rPr lang="en-US" dirty="0"/>
                  <a:t>Only students who clear one stage are allowed to go to the next.</a:t>
                </a:r>
                <a:endParaRPr lang="en-IN" dirty="0"/>
              </a:p>
              <a:p>
                <a:pPr marL="625475" lvl="1" indent="0" algn="ctr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115C430-F686-33A7-3544-C4500FBD2B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C9379D8-2225-D3E6-64AA-85E08FB89E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034514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3C853B5-2C86-EE91-55C6-345020405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946C32D-E628-F253-8F9A-DF7D17A6F7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897416"/>
              </a:xfrm>
            </p:spPr>
            <p:txBody>
              <a:bodyPr/>
              <a:lstStyle/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Let total students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endParaRPr lang="en-US" dirty="0"/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Student clears Written Test</a:t>
                </a:r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Student clears Technical Interview</a:t>
                </a:r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Student clears HR Interview</a:t>
                </a:r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clear the written test</a:t>
                </a:r>
              </a:p>
              <a:p>
                <a:pPr marL="0" indent="0" algn="ctr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First</m:t>
                      </m:r>
                      <m:r>
                        <m:rPr>
                          <m:nor/>
                        </m:rPr>
                        <a:rPr lang="en-IN" b="0" i="0" smtClean="0"/>
                        <m:t> </m:t>
                      </m:r>
                      <m:r>
                        <m:rPr>
                          <m:nor/>
                        </m:rPr>
                        <a:rPr lang="en-IN" b="0" i="0" smtClean="0"/>
                        <m:t>Stage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: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80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clear the technical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Second</m:t>
                      </m:r>
                      <m:r>
                        <m:rPr>
                          <m:nor/>
                        </m:rPr>
                        <a:rPr lang="en-IN" i="0"/>
                        <m:t> </m:t>
                      </m:r>
                      <m:r>
                        <m:rPr>
                          <m:nor/>
                        </m:rPr>
                        <a:rPr lang="en-IN" i="0"/>
                        <m:t>Stage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: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946C32D-E628-F253-8F9A-DF7D17A6F7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897416"/>
              </a:xfrm>
              <a:blipFill>
                <a:blip r:embed="rId2"/>
                <a:stretch>
                  <a:fillRect l="-971" t="-31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5DA4160-702B-7AE6-D588-36065C3F6E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78948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A49E9E9F-7D0E-6002-F560-BA9406CAFB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AE276A7-0267-938F-24ED-CCDC4FEC2A1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648035"/>
              </a:xfrm>
            </p:spPr>
            <p:txBody>
              <a:bodyPr/>
              <a:lstStyle/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clear the technical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i="0"/>
                        <m:t>Second</m:t>
                      </m:r>
                      <m:r>
                        <m:rPr>
                          <m:nor/>
                        </m:rPr>
                        <a:rPr lang="en-IN" i="0"/>
                        <m:t> </m:t>
                      </m:r>
                      <m:r>
                        <m:rPr>
                          <m:nor/>
                        </m:rPr>
                        <a:rPr lang="en-IN" i="0"/>
                        <m:t>Stage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 :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dirty="0"/>
                  <a:t> clear the HR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Third</m:t>
                      </m:r>
                      <m:r>
                        <m:rPr>
                          <m:nor/>
                        </m:rPr>
                        <a:rPr lang="en-IN" i="0"/>
                        <m:t> </m:t>
                      </m:r>
                      <m:r>
                        <m:rPr>
                          <m:nor/>
                        </m:rPr>
                        <a:rPr lang="en-IN" i="0"/>
                        <m:t>Stage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i="0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and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 :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The probability that the candidate gets finally selected is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US" dirty="0">
                  <a:solidFill>
                    <a:srgbClr val="002060"/>
                  </a:solidFill>
                </a:endParaRPr>
              </a:p>
              <a:p>
                <a:pPr marL="4572000" indent="0">
                  <a:lnSpc>
                    <a:spcPct val="13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40</m:t>
                          </m:r>
                        </m:den>
                      </m:f>
                      <m:r>
                        <a:rPr lang="en-IN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20</m:t>
                          </m:r>
                        </m:num>
                        <m:den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i="1">
                          <a:latin typeface="Cambria Math" panose="02040503050406030204" pitchFamily="18" charset="0"/>
                        </a:rPr>
                        <m:t>=20%</m:t>
                      </m:r>
                    </m:oMath>
                  </m:oMathPara>
                </a14:m>
                <a:endParaRPr lang="en-US" dirty="0"/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>
                  <a:solidFill>
                    <a:srgbClr val="002060"/>
                  </a:solidFill>
                </a:endParaRPr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>
                  <a:solidFill>
                    <a:srgbClr val="002060"/>
                  </a:solidFill>
                </a:endParaRPr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AE276A7-0267-938F-24ED-CCDC4FEC2A1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648035"/>
              </a:xfrm>
              <a:blipFill>
                <a:blip r:embed="rId2"/>
                <a:stretch>
                  <a:fillRect l="-971" t="-32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49F8031-7826-229E-A10A-719556F977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234191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AAF87-E413-77F7-54F7-E4B0B92734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5B44ACA-73C1-6678-6F64-D6F9A4DA4E4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</p:spPr>
            <p:txBody>
              <a:bodyPr/>
              <a:lstStyle/>
              <a:p>
                <a:r>
                  <a:rPr lang="en-US" dirty="0"/>
                  <a:t>Two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said to be </a:t>
                </a:r>
                <a:r>
                  <a:rPr lang="en-US" b="1" dirty="0">
                    <a:solidFill>
                      <a:srgbClr val="0070C0"/>
                    </a:solidFill>
                  </a:rPr>
                  <a:t>independent</a:t>
                </a:r>
                <a:r>
                  <a:rPr lang="en-US" dirty="0"/>
                  <a:t> if the occurrence (or non-occurrence) of one event does not affect the probability of the other event.</a:t>
                </a:r>
              </a:p>
              <a:p>
                <a:r>
                  <a:rPr lang="en-US" dirty="0"/>
                  <a:t>In other words, if</a:t>
                </a:r>
              </a:p>
              <a:p>
                <a:pPr lvl="1"/>
                <a:r>
                  <a:rPr lang="en-US" dirty="0"/>
                  <a:t>Knowing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has occurred does not change the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Knowing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has occurred does not change the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.</a:t>
                </a:r>
              </a:p>
              <a:p>
                <a:pPr marL="273050" indent="0">
                  <a:buNone/>
                </a:pPr>
                <a:r>
                  <a:rPr lang="en-US" dirty="0"/>
                  <a:t>then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called independent events.</a:t>
                </a:r>
              </a:p>
              <a:p>
                <a:pPr marL="273050" indent="0">
                  <a:buNone/>
                </a:pPr>
                <a:r>
                  <a:rPr lang="en-US" dirty="0"/>
                  <a:t>i.e.,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IN" i="1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or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IN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 | </m:t>
                            </m:r>
                            <m:r>
                              <a:rPr lang="en-IN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</m:d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b="1" i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IN" b="1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5B44ACA-73C1-6678-6F64-D6F9A4DA4E4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8807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4EB9D2-5AC5-1A4A-E6EB-1F7CA35D66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7A7E79-33F9-A59C-2F58-8823C63F3D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4F8F70C-DF10-85A3-F754-CFC7A043D02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</p:spPr>
            <p:txBody>
              <a:bodyPr/>
              <a:lstStyle/>
              <a:p>
                <a:r>
                  <a:rPr lang="en-US" dirty="0"/>
                  <a:t>Example : Define events: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Coin shows Head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Die shows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lang="en-US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/>
                        <m:t>We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know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that</m:t>
                      </m:r>
                      <m:r>
                        <m:rPr>
                          <m:nor/>
                        </m:rPr>
                        <a:rPr lang="en-IN" i="0" dirty="0"/>
                        <m:t> 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1"/>
                <a:r>
                  <a:rPr lang="en-US" dirty="0"/>
                  <a:t>Given that the coin shows Head, what is the chance the die is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?</a:t>
                </a:r>
              </a:p>
              <a:p>
                <a:pPr marL="271463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/>
                        <m:t>Still</m:t>
                      </m:r>
                      <m:r>
                        <m:rPr>
                          <m:nor/>
                        </m:rPr>
                        <a:rPr lang="en-IN" i="0" dirty="0"/>
                        <m:t> 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4F8F70C-DF10-85A3-F754-CFC7A043D02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10671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5BA715-EBDF-D69D-F18D-C064C24C18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D825A5-DCC1-95AF-8334-CE5BF0ECED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1BD79F2-0BA2-64CA-DBA8-183C4DF2017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</p:spPr>
            <p:txBody>
              <a:bodyPr/>
              <a:lstStyle/>
              <a:p>
                <a:r>
                  <a:rPr lang="en-US" dirty="0"/>
                  <a:t>Two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independent </a:t>
                </a:r>
                <a:r>
                  <a:rPr lang="en-US" b="1" dirty="0">
                    <a:solidFill>
                      <a:srgbClr val="0070C0"/>
                    </a:solidFill>
                  </a:rPr>
                  <a:t>if and only if</a:t>
                </a: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b="0" dirty="0"/>
              </a:p>
              <a:p>
                <a:pPr lvl="1"/>
                <a:r>
                  <a:rPr lang="en-US" i="1" u="sng" dirty="0"/>
                  <a:t>Reason</a:t>
                </a:r>
                <a:r>
                  <a:rPr lang="en-US" dirty="0"/>
                  <a:t>: 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1BD79F2-0BA2-64CA-DBA8-183C4DF2017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8AD0C050-91FB-EAE9-C5B7-851DFF1F8B96}"/>
                  </a:ext>
                </a:extLst>
              </p:cNvPr>
              <p:cNvSpPr txBox="1"/>
              <p:nvPr/>
            </p:nvSpPr>
            <p:spPr>
              <a:xfrm>
                <a:off x="779167" y="2166669"/>
                <a:ext cx="553733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If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are independent</a:t>
                </a:r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8AD0C050-91FB-EAE9-C5B7-851DFF1F8B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167" y="2166669"/>
                <a:ext cx="5537330" cy="523220"/>
              </a:xfrm>
              <a:prstGeom prst="rect">
                <a:avLst/>
              </a:prstGeom>
              <a:blipFill>
                <a:blip r:embed="rId3"/>
                <a:stretch>
                  <a:fillRect l="-2313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60D820-542D-FF24-3100-26BB23FF942E}"/>
                  </a:ext>
                </a:extLst>
              </p:cNvPr>
              <p:cNvSpPr txBox="1"/>
              <p:nvPr/>
            </p:nvSpPr>
            <p:spPr>
              <a:xfrm>
                <a:off x="5642773" y="2166669"/>
                <a:ext cx="301926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60D820-542D-FF24-3100-26BB23FF94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2773" y="2166669"/>
                <a:ext cx="301926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E16CACD-383B-338F-90A2-77050947E506}"/>
                  </a:ext>
                </a:extLst>
              </p:cNvPr>
              <p:cNvSpPr txBox="1"/>
              <p:nvPr/>
            </p:nvSpPr>
            <p:spPr>
              <a:xfrm>
                <a:off x="779167" y="3046184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E16CACD-383B-338F-90A2-77050947E5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167" y="3046184"/>
                <a:ext cx="4575906" cy="98943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3D7252-6164-953C-7B5C-F49E767E58D3}"/>
                  </a:ext>
                </a:extLst>
              </p:cNvPr>
              <p:cNvSpPr txBox="1"/>
              <p:nvPr/>
            </p:nvSpPr>
            <p:spPr>
              <a:xfrm>
                <a:off x="779167" y="4365346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3D7252-6164-953C-7B5C-F49E767E58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167" y="4365346"/>
                <a:ext cx="4575906" cy="98943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163882A-38C0-CAFA-7B71-96B9067F9A00}"/>
                  </a:ext>
                </a:extLst>
              </p:cNvPr>
              <p:cNvSpPr txBox="1"/>
              <p:nvPr/>
            </p:nvSpPr>
            <p:spPr>
              <a:xfrm>
                <a:off x="779167" y="5684508"/>
                <a:ext cx="457590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163882A-38C0-CAFA-7B71-96B9067F9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167" y="5684508"/>
                <a:ext cx="457590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EC9B3B97-2C65-D0F6-69BA-757C099019E3}"/>
              </a:ext>
            </a:extLst>
          </p:cNvPr>
          <p:cNvSpPr txBox="1"/>
          <p:nvPr/>
        </p:nvSpPr>
        <p:spPr>
          <a:xfrm>
            <a:off x="5157203" y="5684508"/>
            <a:ext cx="538610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i="1" dirty="0">
                <a:solidFill>
                  <a:schemeClr val="accent6">
                    <a:lumMod val="75000"/>
                  </a:schemeClr>
                </a:solidFill>
              </a:rPr>
              <a:t>Note</a:t>
            </a:r>
            <a:r>
              <a:rPr lang="en-US" sz="2400" b="1" dirty="0">
                <a:solidFill>
                  <a:schemeClr val="accent6">
                    <a:lumMod val="75000"/>
                  </a:schemeClr>
                </a:solidFill>
              </a:rPr>
              <a:t>:</a:t>
            </a:r>
            <a:r>
              <a:rPr lang="en-US" sz="2400" dirty="0"/>
              <a:t> This result is commonly used to verify whether two events are independent.</a:t>
            </a:r>
            <a:endParaRPr lang="en-IN" sz="1600" dirty="0"/>
          </a:p>
        </p:txBody>
      </p:sp>
    </p:spTree>
    <p:extLst>
      <p:ext uri="{BB962C8B-B14F-4D97-AF65-F5344CB8AC3E}">
        <p14:creationId xmlns:p14="http://schemas.microsoft.com/office/powerpoint/2010/main" val="3473059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2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0995A3-BEDE-A710-5991-9223BA0B61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C3D3F42-04E6-4E26-FDA1-6D8F831B867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4029568"/>
              </a:xfrm>
            </p:spPr>
            <p:txBody>
              <a:bodyPr/>
              <a:lstStyle/>
              <a:p>
                <a:r>
                  <a:rPr lang="en-US" dirty="0"/>
                  <a:t>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are independent if and only if </a:t>
                </a:r>
                <a:endParaRPr lang="en-IN" dirty="0">
                  <a:latin typeface="Cambria Math" panose="02040503050406030204" pitchFamily="18" charset="0"/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r>
                  <a:rPr lang="en-IN" dirty="0"/>
                  <a:t>If </a:t>
                </a:r>
                <a:r>
                  <a:rPr lang="en-US" dirty="0"/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are independent, then</a:t>
                </a:r>
                <a:endParaRPr lang="en-IN" i="1" dirty="0">
                  <a:latin typeface="Cambria Math" panose="02040503050406030204" pitchFamily="18" charset="0"/>
                </a:endParaRPr>
              </a:p>
              <a:p>
                <a:pPr lvl="1"/>
                <a:r>
                  <a:rPr lang="en-US" dirty="0"/>
                  <a:t>The events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are also independent. 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′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The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a:rPr lang="en-IN" i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are also independent. 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i="0" dirty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i="0" dirty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The events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i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also independent. 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i="0" dirty="0">
                            <a:latin typeface="Cambria Math" panose="02040503050406030204" pitchFamily="18" charset="0"/>
                          </a:rPr>
                          <m:t>′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i="0" dirty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US" i="0" dirty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C3D3F42-04E6-4E26-FDA1-6D8F831B867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402956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2328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ECBA44-AC62-F908-BDCE-DBE1E91C7D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5B3E25-06FA-35E3-2FCC-32211B0D5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4CD678-AD6F-A5D5-AD7A-08E6077F173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r>
              <a:rPr lang="en-US" dirty="0"/>
              <a:t>Whenever you are confused, ask:</a:t>
            </a:r>
          </a:p>
          <a:p>
            <a:pPr lvl="1"/>
            <a:r>
              <a:rPr lang="en-US" dirty="0"/>
              <a:t>If Event A happens, does it change the chances of Event B?</a:t>
            </a:r>
          </a:p>
          <a:p>
            <a:pPr lvl="2"/>
            <a:r>
              <a:rPr lang="en-US" dirty="0"/>
              <a:t>No → Independent events</a:t>
            </a:r>
          </a:p>
          <a:p>
            <a:pPr lvl="2"/>
            <a:r>
              <a:rPr lang="en-US" dirty="0"/>
              <a:t>Yes → Dependent events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816638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are known as </a:t>
                </a:r>
                <a:r>
                  <a:rPr lang="en-US" b="1" dirty="0"/>
                  <a:t>mutually independent </a:t>
                </a:r>
                <a:r>
                  <a:rPr lang="en-US" dirty="0"/>
                  <a:t>if</a:t>
                </a:r>
                <a:endParaRPr lang="en-IN" dirty="0"/>
              </a:p>
              <a:p>
                <a:pPr marL="174625" indent="0" algn="l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GB" dirty="0"/>
              </a:p>
              <a:p>
                <a:pPr marL="274638" indent="-274638"/>
                <a:r>
                  <a:rPr lang="en-GB" dirty="0"/>
                  <a:t>If the last condition is not satisfied, the events are said to be </a:t>
                </a:r>
                <a:r>
                  <a:rPr lang="en-GB" b="1" dirty="0"/>
                  <a:t>pairwise independent.</a:t>
                </a:r>
              </a:p>
              <a:p>
                <a:pPr marL="274638" indent="-274638"/>
                <a:r>
                  <a:rPr lang="en-US" b="1" i="1" u="sng" dirty="0"/>
                  <a:t>Note</a:t>
                </a:r>
                <a:r>
                  <a:rPr lang="en-US" b="1" u="sng" dirty="0"/>
                  <a:t>:</a:t>
                </a:r>
                <a:r>
                  <a:rPr lang="en-US" dirty="0"/>
                  <a:t>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are mutually independent, then their complementary events are also mutually independent.</a:t>
                </a:r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Mutually Independent Events</a:t>
            </a:r>
          </a:p>
        </p:txBody>
      </p:sp>
    </p:spTree>
    <p:extLst>
      <p:ext uri="{BB962C8B-B14F-4D97-AF65-F5344CB8AC3E}">
        <p14:creationId xmlns:p14="http://schemas.microsoft.com/office/powerpoint/2010/main" val="2426346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6467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14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If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are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independent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events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,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with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i="0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i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i="0" dirty="0">
                  <a:latin typeface="+mj-lt"/>
                </a:endParaRPr>
              </a:p>
              <a:p>
                <a:pPr algn="l">
                  <a:lnSpc>
                    <a:spcPct val="114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>
                          <a:latin typeface="+mj-lt"/>
                        </a:rPr>
                        <m:t>Find</m:t>
                      </m:r>
                      <m:r>
                        <a:rPr lang="en-US" i="0" dirty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, 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and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4676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7123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DBB86788-4E93-4C45-BD2E-B399F8B13909}"/>
                  </a:ext>
                </a:extLst>
              </p:cNvPr>
              <p:cNvSpPr txBox="1"/>
              <p:nvPr/>
            </p:nvSpPr>
            <p:spPr>
              <a:xfrm>
                <a:off x="1594216" y="2671237"/>
                <a:ext cx="627562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b="1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DBB86788-4E93-4C45-BD2E-B399F8B13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71237"/>
                <a:ext cx="6275620" cy="523220"/>
              </a:xfrm>
              <a:prstGeom prst="rect">
                <a:avLst/>
              </a:prstGeom>
              <a:blipFill rotWithShape="0">
                <a:blip r:embed="rId3"/>
                <a:stretch>
                  <a:fillRect l="-2041" t="-10465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800E8E7-E162-4553-A4DC-112701301B7C}"/>
                  </a:ext>
                </a:extLst>
              </p:cNvPr>
              <p:cNvSpPr txBox="1"/>
              <p:nvPr/>
            </p:nvSpPr>
            <p:spPr>
              <a:xfrm>
                <a:off x="3455036" y="4281609"/>
                <a:ext cx="3566578" cy="106048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800E8E7-E162-4553-A4DC-112701301B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4281609"/>
                <a:ext cx="3566578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E54987FF-390C-4CDB-85CE-1748AE7FF2C2}"/>
              </a:ext>
            </a:extLst>
          </p:cNvPr>
          <p:cNvCxnSpPr>
            <a:cxnSpLocks/>
          </p:cNvCxnSpPr>
          <p:nvPr/>
        </p:nvCxnSpPr>
        <p:spPr>
          <a:xfrm>
            <a:off x="481177" y="1730379"/>
            <a:ext cx="4424652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43EB467-8AF9-4EB2-876D-6176AAEC3E4B}"/>
                  </a:ext>
                </a:extLst>
              </p:cNvPr>
              <p:cNvSpPr txBox="1"/>
              <p:nvPr/>
            </p:nvSpPr>
            <p:spPr>
              <a:xfrm>
                <a:off x="3455036" y="5504483"/>
                <a:ext cx="1175973" cy="9105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59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43EB467-8AF9-4EB2-876D-6176AAEC3E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5504483"/>
                <a:ext cx="1175973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8F0D1E3-1D1A-4D58-B76C-3A65EA68090F}"/>
                  </a:ext>
                </a:extLst>
              </p:cNvPr>
              <p:cNvSpPr txBox="1"/>
              <p:nvPr/>
            </p:nvSpPr>
            <p:spPr>
              <a:xfrm>
                <a:off x="8565572" y="2671237"/>
                <a:ext cx="214609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r>
                  <a:rPr lang="en-GB" b="0" dirty="0">
                    <a:solidFill>
                      <a:srgbClr val="002060"/>
                    </a:solidFill>
                  </a:rPr>
                  <a:t>(2)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8F0D1E3-1D1A-4D58-B76C-3A65EA680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5572" y="2671237"/>
                <a:ext cx="2146093" cy="523220"/>
              </a:xfrm>
              <a:prstGeom prst="rect">
                <a:avLst/>
              </a:prstGeom>
              <a:blipFill>
                <a:blip r:embed="rId6"/>
                <a:stretch>
                  <a:fillRect l="-5682"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08CF7CB-D2F5-4356-83EF-3D1F1B020BF1}"/>
                  </a:ext>
                </a:extLst>
              </p:cNvPr>
              <p:cNvSpPr txBox="1"/>
              <p:nvPr/>
            </p:nvSpPr>
            <p:spPr>
              <a:xfrm>
                <a:off x="10415110" y="2671237"/>
                <a:ext cx="128176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08CF7CB-D2F5-4356-83EF-3D1F1B020B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15110" y="2671237"/>
                <a:ext cx="128176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8F78FBE-9A9A-4E33-A2F6-6EDAC93F0CE7}"/>
                  </a:ext>
                </a:extLst>
              </p:cNvPr>
              <p:cNvSpPr txBox="1"/>
              <p:nvPr/>
            </p:nvSpPr>
            <p:spPr>
              <a:xfrm>
                <a:off x="10382808" y="3473131"/>
                <a:ext cx="961881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8F78FBE-9A9A-4E33-A2F6-6EDAC93F0C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2808" y="3473131"/>
                <a:ext cx="961881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03C8BC-64FA-4A05-A1C6-181383D4507D}"/>
                  </a:ext>
                </a:extLst>
              </p:cNvPr>
              <p:cNvSpPr txBox="1"/>
              <p:nvPr/>
            </p:nvSpPr>
            <p:spPr>
              <a:xfrm>
                <a:off x="8582507" y="4772882"/>
                <a:ext cx="205420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r>
                  <a:rPr lang="en-GB" dirty="0"/>
                  <a:t>(3)</a:t>
                </a:r>
                <a:r>
                  <a:rPr lang="en-GB" b="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03C8BC-64FA-4A05-A1C6-181383D45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2507" y="4772882"/>
                <a:ext cx="2054207" cy="523220"/>
              </a:xfrm>
              <a:prstGeom prst="rect">
                <a:avLst/>
              </a:prstGeom>
              <a:blipFill>
                <a:blip r:embed="rId9"/>
                <a:stretch>
                  <a:fillRect l="-6231" t="-12791" b="-302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CE3D066-B26C-431C-8AF3-197A68CC96BE}"/>
                  </a:ext>
                </a:extLst>
              </p:cNvPr>
              <p:cNvSpPr txBox="1"/>
              <p:nvPr/>
            </p:nvSpPr>
            <p:spPr>
              <a:xfrm>
                <a:off x="10430100" y="4772882"/>
                <a:ext cx="128176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CE3D066-B26C-431C-8AF3-197A68CC96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30100" y="4772882"/>
                <a:ext cx="128176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8C7DB3-C64A-411F-86E9-C48370BAFCC0}"/>
                  </a:ext>
                </a:extLst>
              </p:cNvPr>
              <p:cNvSpPr txBox="1"/>
              <p:nvPr/>
            </p:nvSpPr>
            <p:spPr>
              <a:xfrm>
                <a:off x="10415110" y="5513268"/>
                <a:ext cx="961881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8C7DB3-C64A-411F-86E9-C48370BAF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15110" y="5513268"/>
                <a:ext cx="961881" cy="90178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5A915F0-8326-4310-8E6F-F99F9DB562DD}"/>
                  </a:ext>
                </a:extLst>
              </p:cNvPr>
              <p:cNvSpPr txBox="1"/>
              <p:nvPr/>
            </p:nvSpPr>
            <p:spPr>
              <a:xfrm>
                <a:off x="3455036" y="3473131"/>
                <a:ext cx="290158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5A915F0-8326-4310-8E6F-F99F9DB562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3473131"/>
                <a:ext cx="290158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F2E0A2C-9178-4F54-8FD4-15F3262F45B8}"/>
                  </a:ext>
                </a:extLst>
              </p:cNvPr>
              <p:cNvSpPr txBox="1"/>
              <p:nvPr/>
            </p:nvSpPr>
            <p:spPr>
              <a:xfrm>
                <a:off x="6114190" y="3476423"/>
                <a:ext cx="205466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IN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F2E0A2C-9178-4F54-8FD4-15F3262F45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4190" y="3476423"/>
                <a:ext cx="205466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7C1E2105-65F8-4953-8DE6-0660BEA0721E}"/>
              </a:ext>
            </a:extLst>
          </p:cNvPr>
          <p:cNvCxnSpPr>
            <a:cxnSpLocks/>
          </p:cNvCxnSpPr>
          <p:nvPr/>
        </p:nvCxnSpPr>
        <p:spPr>
          <a:xfrm>
            <a:off x="8288879" y="2671237"/>
            <a:ext cx="0" cy="3831247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847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24" grpId="0"/>
      <p:bldP spid="18" grpId="0"/>
      <p:bldP spid="34" grpId="0"/>
      <p:bldP spid="35" grpId="0"/>
      <p:bldP spid="39" grpId="0"/>
      <p:bldP spid="40" grpId="0"/>
      <p:bldP spid="41" grpId="0"/>
      <p:bldP spid="42" grpId="0"/>
      <p:bldP spid="21" grpId="0"/>
      <p:bldP spid="23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24784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lvl="0">
                  <a:lnSpc>
                    <a:spcPct val="135000"/>
                  </a:lnSpc>
                  <a:buClr>
                    <a:srgbClr val="B84742"/>
                  </a:buClr>
                  <a:defRPr/>
                </a:pPr>
                <a:r>
                  <a:rPr lang="en-US" dirty="0">
                    <a:solidFill>
                      <a:prstClr val="white"/>
                    </a:solidFill>
                  </a:rPr>
                  <a:t>A bag contains </a:t>
                </a:r>
                <a14:m>
                  <m:oMath xmlns:m="http://schemas.openxmlformats.org/officeDocument/2006/math">
                    <m:r>
                      <a:rPr lang="en-US" i="0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>
                    <a:solidFill>
                      <a:prstClr val="white"/>
                    </a:solidFill>
                  </a:rPr>
                  <a:t> red balls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>
                    <a:solidFill>
                      <a:prstClr val="white"/>
                    </a:solidFill>
                  </a:rPr>
                  <a:t> blue balls. Two balls are drawn one after another without replacement. Find the probability that:</a:t>
                </a:r>
              </a:p>
              <a:p>
                <a:pPr lvl="0">
                  <a:lnSpc>
                    <a:spcPct val="135000"/>
                  </a:lnSpc>
                  <a:buClr>
                    <a:srgbClr val="B84742"/>
                  </a:buClr>
                  <a:defRPr/>
                </a:pPr>
                <a:r>
                  <a:rPr lang="en-US" dirty="0">
                    <a:solidFill>
                      <a:prstClr val="white"/>
                    </a:solidFill>
                  </a:rPr>
                  <a:t>(1) The second ball is red, given that the first ball drawn is red.</a:t>
                </a:r>
              </a:p>
              <a:p>
                <a:pPr lvl="0">
                  <a:lnSpc>
                    <a:spcPct val="135000"/>
                  </a:lnSpc>
                  <a:buClr>
                    <a:srgbClr val="B84742"/>
                  </a:buClr>
                  <a:defRPr/>
                </a:pPr>
                <a:r>
                  <a:rPr lang="en-US" dirty="0">
                    <a:solidFill>
                      <a:prstClr val="white"/>
                    </a:solidFill>
                  </a:rPr>
                  <a:t>(2) The second ball is blue, given that the first ball drawn is red.</a:t>
                </a:r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478477"/>
              </a:xfrm>
              <a:prstGeom prst="rect">
                <a:avLst/>
              </a:prstGeom>
              <a:blipFill>
                <a:blip r:embed="rId2"/>
                <a:stretch>
                  <a:fillRect l="-1074" r="-1074" b="-122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48859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E763F25-8149-78DF-CA53-803B668135CF}"/>
                  </a:ext>
                </a:extLst>
              </p:cNvPr>
              <p:cNvSpPr txBox="1"/>
              <p:nvPr/>
            </p:nvSpPr>
            <p:spPr>
              <a:xfrm>
                <a:off x="1594216" y="3488594"/>
                <a:ext cx="94953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:r>
                  <a:rPr lang="en-IN" sz="2800" dirty="0">
                    <a:solidFill>
                      <a:srgbClr val="002060"/>
                    </a:solidFill>
                  </a:rPr>
                  <a:t>Here, Red balls (R)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 Blue balls (B)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Total balls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E763F25-8149-78DF-CA53-803B668135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488594"/>
                <a:ext cx="9495316" cy="523220"/>
              </a:xfrm>
              <a:prstGeom prst="rect">
                <a:avLst/>
              </a:prstGeom>
              <a:blipFill>
                <a:blip r:embed="rId3"/>
                <a:stretch>
                  <a:fillRect l="-134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C365048E-1084-22C9-62F2-C66561931E3D}"/>
              </a:ext>
            </a:extLst>
          </p:cNvPr>
          <p:cNvSpPr txBox="1"/>
          <p:nvPr/>
        </p:nvSpPr>
        <p:spPr>
          <a:xfrm>
            <a:off x="1594216" y="4154093"/>
            <a:ext cx="109583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b="1" dirty="0">
                <a:solidFill>
                  <a:srgbClr val="002060"/>
                </a:solidFill>
              </a:rPr>
              <a:t>(1) Probability that the second ball is red, given that the first ball is red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451DC7-674C-5B3C-1F75-E1916661A93F}"/>
                  </a:ext>
                </a:extLst>
              </p:cNvPr>
              <p:cNvSpPr txBox="1"/>
              <p:nvPr/>
            </p:nvSpPr>
            <p:spPr>
              <a:xfrm>
                <a:off x="2031960" y="4677313"/>
                <a:ext cx="674126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:r>
                  <a:rPr lang="en-US" sz="2800" dirty="0">
                    <a:solidFill>
                      <a:srgbClr val="002060"/>
                    </a:solidFill>
                  </a:rPr>
                  <a:t>We need to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Second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sz="2800" i="0" dirty="0" err="1">
                            <a:solidFill>
                              <a:srgbClr val="002060"/>
                            </a:solidFill>
                          </a:rPr>
                          <m:t>Red</m:t>
                        </m:r>
                      </m:e>
                      <m:e>
                        <m:r>
                          <m:rPr>
                            <m:nor/>
                          </m:rPr>
                          <a:rPr lang="en-US" sz="2800" i="0" dirty="0" err="1">
                            <a:solidFill>
                              <a:srgbClr val="002060"/>
                            </a:solidFill>
                          </a:rPr>
                          <m:t>First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Red</m:t>
                        </m:r>
                      </m:e>
                    </m:d>
                  </m:oMath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451DC7-674C-5B3C-1F75-E1916661A9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1960" y="4677313"/>
                <a:ext cx="6741269" cy="523220"/>
              </a:xfrm>
              <a:prstGeom prst="rect">
                <a:avLst/>
              </a:prstGeom>
              <a:blipFill>
                <a:blip r:embed="rId4"/>
                <a:stretch>
                  <a:fillRect l="-180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TextBox 9">
            <a:extLst>
              <a:ext uri="{FF2B5EF4-FFF2-40B4-BE49-F238E27FC236}">
                <a16:creationId xmlns:a16="http://schemas.microsoft.com/office/drawing/2014/main" id="{F6533F71-8640-3B45-092C-7714FA17628C}"/>
              </a:ext>
            </a:extLst>
          </p:cNvPr>
          <p:cNvSpPr txBox="1"/>
          <p:nvPr/>
        </p:nvSpPr>
        <p:spPr>
          <a:xfrm>
            <a:off x="1594216" y="5290548"/>
            <a:ext cx="61186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dirty="0">
                <a:solidFill>
                  <a:srgbClr val="002060"/>
                </a:solidFill>
              </a:rPr>
              <a:t>Given that the first ball drawn is red.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17BEF8B-D2BF-476A-9B5E-8D5553506388}"/>
              </a:ext>
            </a:extLst>
          </p:cNvPr>
          <p:cNvSpPr txBox="1"/>
          <p:nvPr/>
        </p:nvSpPr>
        <p:spPr>
          <a:xfrm>
            <a:off x="1594216" y="5903783"/>
            <a:ext cx="61186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dirty="0">
                <a:solidFill>
                  <a:srgbClr val="002060"/>
                </a:solidFill>
              </a:rPr>
              <a:t>So, one red ball has already been removed.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490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9" grpId="0"/>
      <p:bldP spid="10" grpId="0"/>
      <p:bldP spid="11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1D0EB6-86B2-5369-4F94-C3CC952504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5C38C0-1E1E-C518-8FC2-724B5D986C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</a:t>
            </a:r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24F0F9E-01F5-62A3-8E15-15477B3274D4}"/>
              </a:ext>
            </a:extLst>
          </p:cNvPr>
          <p:cNvSpPr txBox="1"/>
          <p:nvPr/>
        </p:nvSpPr>
        <p:spPr>
          <a:xfrm>
            <a:off x="136185" y="763949"/>
            <a:ext cx="61186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dirty="0">
                <a:solidFill>
                  <a:srgbClr val="002060"/>
                </a:solidFill>
              </a:rPr>
              <a:t>So, one red ball has already been removed.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D06F2F83-EB53-0697-72C6-C66632DC37FA}"/>
                  </a:ext>
                </a:extLst>
              </p:cNvPr>
              <p:cNvSpPr txBox="1"/>
              <p:nvPr/>
            </p:nvSpPr>
            <p:spPr>
              <a:xfrm>
                <a:off x="136185" y="1407365"/>
                <a:ext cx="797668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:r>
                  <a:rPr lang="en-US" sz="2800" dirty="0">
                    <a:solidFill>
                      <a:srgbClr val="002060"/>
                    </a:solidFill>
                  </a:rPr>
                  <a:t>Remaining balls: Red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Blue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Total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D06F2F83-EB53-0697-72C6-C66632DC37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185" y="1407365"/>
                <a:ext cx="7976683" cy="523220"/>
              </a:xfrm>
              <a:prstGeom prst="rect">
                <a:avLst/>
              </a:prstGeom>
              <a:blipFill>
                <a:blip r:embed="rId2"/>
                <a:stretch>
                  <a:fillRect l="-152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C7B635-7031-74D9-FB52-87D6BBCD6D7C}"/>
                  </a:ext>
                </a:extLst>
              </p:cNvPr>
              <p:cNvSpPr txBox="1"/>
              <p:nvPr/>
            </p:nvSpPr>
            <p:spPr>
              <a:xfrm>
                <a:off x="3881335" y="1994579"/>
                <a:ext cx="5350215" cy="8974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US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Second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err="1">
                              <a:solidFill>
                                <a:srgbClr val="002060"/>
                              </a:solidFill>
                            </a:rPr>
                            <m:t>Red</m:t>
                          </m:r>
                        </m:e>
                        <m:e>
                          <m:r>
                            <m:rPr>
                              <m:nor/>
                            </m:rPr>
                            <a:rPr lang="en-US" sz="2800" i="0" dirty="0" err="1">
                              <a:solidFill>
                                <a:srgbClr val="002060"/>
                              </a:solidFill>
                            </a:rPr>
                            <m:t>First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Red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C7B635-7031-74D9-FB52-87D6BBCD6D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1335" y="1994579"/>
                <a:ext cx="5350215" cy="89742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5CD4C07A-079E-B534-B9B5-8109A8BC2013}"/>
              </a:ext>
            </a:extLst>
          </p:cNvPr>
          <p:cNvSpPr txBox="1"/>
          <p:nvPr/>
        </p:nvSpPr>
        <p:spPr>
          <a:xfrm>
            <a:off x="136185" y="3008305"/>
            <a:ext cx="109583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b="1" dirty="0">
                <a:solidFill>
                  <a:srgbClr val="002060"/>
                </a:solidFill>
              </a:rPr>
              <a:t>(2) Probability that the second ball is blue, given that the first ball is red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2FB8EE4-5078-9FA8-C23A-4F6C26CF07D2}"/>
                  </a:ext>
                </a:extLst>
              </p:cNvPr>
              <p:cNvSpPr txBox="1"/>
              <p:nvPr/>
            </p:nvSpPr>
            <p:spPr>
              <a:xfrm>
                <a:off x="632298" y="3584273"/>
                <a:ext cx="674126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:r>
                  <a:rPr lang="en-US" sz="2800" dirty="0">
                    <a:solidFill>
                      <a:srgbClr val="002060"/>
                    </a:solidFill>
                  </a:rPr>
                  <a:t>We need to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Second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</a:rPr>
                          <m:t>Blue</m:t>
                        </m:r>
                      </m:e>
                      <m:e>
                        <m:r>
                          <m:rPr>
                            <m:nor/>
                          </m:rPr>
                          <a:rPr lang="en-US" sz="2800" i="0" dirty="0" err="1">
                            <a:solidFill>
                              <a:srgbClr val="002060"/>
                            </a:solidFill>
                          </a:rPr>
                          <m:t>First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US" sz="2800" i="0" dirty="0">
                            <a:solidFill>
                              <a:srgbClr val="002060"/>
                            </a:solidFill>
                          </a:rPr>
                          <m:t>Red</m:t>
                        </m:r>
                      </m:e>
                    </m:d>
                  </m:oMath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2FB8EE4-5078-9FA8-C23A-4F6C26CF07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298" y="3584273"/>
                <a:ext cx="6741269" cy="523220"/>
              </a:xfrm>
              <a:prstGeom prst="rect">
                <a:avLst/>
              </a:prstGeom>
              <a:blipFill>
                <a:blip r:embed="rId4"/>
                <a:stretch>
                  <a:fillRect l="-1899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E4918AA3-6DA7-DAAB-0516-AEB9EFB5C707}"/>
              </a:ext>
            </a:extLst>
          </p:cNvPr>
          <p:cNvSpPr txBox="1"/>
          <p:nvPr/>
        </p:nvSpPr>
        <p:spPr>
          <a:xfrm>
            <a:off x="136185" y="4227689"/>
            <a:ext cx="61186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2800" dirty="0">
                <a:solidFill>
                  <a:srgbClr val="002060"/>
                </a:solidFill>
              </a:rPr>
              <a:t>Again, after the first red ball is removed: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1C75A79-7297-9DB2-8F14-0682EF61D4E9}"/>
                  </a:ext>
                </a:extLst>
              </p:cNvPr>
              <p:cNvSpPr txBox="1"/>
              <p:nvPr/>
            </p:nvSpPr>
            <p:spPr>
              <a:xfrm>
                <a:off x="136185" y="4871105"/>
                <a:ext cx="797668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:r>
                  <a:rPr lang="en-US" sz="2800" dirty="0">
                    <a:solidFill>
                      <a:srgbClr val="002060"/>
                    </a:solidFill>
                  </a:rPr>
                  <a:t>Remaining balls: Red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Blue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Total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1C75A79-7297-9DB2-8F14-0682EF61D4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185" y="4871105"/>
                <a:ext cx="7976683" cy="523220"/>
              </a:xfrm>
              <a:prstGeom prst="rect">
                <a:avLst/>
              </a:prstGeom>
              <a:blipFill>
                <a:blip r:embed="rId5"/>
                <a:stretch>
                  <a:fillRect l="-152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ADFAAD8-BAE4-4FDB-FDB2-5DC15BC3F9F7}"/>
                  </a:ext>
                </a:extLst>
              </p:cNvPr>
              <p:cNvSpPr txBox="1"/>
              <p:nvPr/>
            </p:nvSpPr>
            <p:spPr>
              <a:xfrm>
                <a:off x="3881334" y="5447073"/>
                <a:ext cx="5350215" cy="8974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US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Second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</a:rPr>
                            <m:t>Blue</m:t>
                          </m:r>
                        </m:e>
                        <m:e>
                          <m:r>
                            <m:rPr>
                              <m:nor/>
                            </m:rPr>
                            <a:rPr lang="en-US" sz="2800" i="0" dirty="0" err="1">
                              <a:solidFill>
                                <a:srgbClr val="002060"/>
                              </a:solidFill>
                            </a:rPr>
                            <m:t>First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</a:rPr>
                            <m:t>Red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ADFAAD8-BAE4-4FDB-FDB2-5DC15BC3F9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1334" y="5447073"/>
                <a:ext cx="5350215" cy="89742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0365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7" grpId="0"/>
      <p:bldP spid="12" grpId="0"/>
      <p:bldP spid="13" grpId="0"/>
      <p:bldP spid="14" grpId="0"/>
      <p:bldP spid="15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DECA6-8776-F96B-80B4-8AAEF28055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68BA7C1-8262-915F-2F42-D98097DE403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27842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3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person is known to hit the target in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out of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shots, whereas another person is known to hit the target in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out of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shots. What is probability that target will be hit?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68BA7C1-8262-915F-2F42-D98097DE40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78422"/>
              </a:xfrm>
              <a:prstGeom prst="rect">
                <a:avLst/>
              </a:prstGeom>
              <a:blipFill>
                <a:blip r:embed="rId2"/>
                <a:stretch>
                  <a:fillRect l="-1074" r="-1074" b="-619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B4FF989-3A4A-1777-2F26-A4EEFD1168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31DE4961-D33C-866B-953F-EF74F1A067CD}"/>
              </a:ext>
            </a:extLst>
          </p:cNvPr>
          <p:cNvSpPr txBox="1">
            <a:spLocks/>
          </p:cNvSpPr>
          <p:nvPr/>
        </p:nvSpPr>
        <p:spPr>
          <a:xfrm>
            <a:off x="131178" y="230289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DB5C820-C44C-922B-D6B4-DB33E58788ED}"/>
                  </a:ext>
                </a:extLst>
              </p:cNvPr>
              <p:cNvSpPr txBox="1"/>
              <p:nvPr/>
            </p:nvSpPr>
            <p:spPr>
              <a:xfrm>
                <a:off x="1594215" y="2345316"/>
                <a:ext cx="645874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Person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hits the target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DB5C820-C44C-922B-D6B4-DB33E58788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345316"/>
                <a:ext cx="6458740" cy="523220"/>
              </a:xfrm>
              <a:prstGeom prst="rect">
                <a:avLst/>
              </a:prstGeom>
              <a:blipFill>
                <a:blip r:embed="rId3"/>
                <a:stretch>
                  <a:fillRect l="-198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8DEAB98-9BCE-0037-6BCA-2514B1DB727C}"/>
                  </a:ext>
                </a:extLst>
              </p:cNvPr>
              <p:cNvSpPr txBox="1"/>
              <p:nvPr/>
            </p:nvSpPr>
            <p:spPr>
              <a:xfrm>
                <a:off x="1594214" y="3989463"/>
                <a:ext cx="60431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IN" sz="2800" dirty="0">
                    <a:solidFill>
                      <a:srgbClr val="002060"/>
                    </a:solidFill>
                  </a:rPr>
                  <a:t>and 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Person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hits the target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8DEAB98-9BCE-0037-6BCA-2514B1DB72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989463"/>
                <a:ext cx="6043103" cy="523220"/>
              </a:xfrm>
              <a:prstGeom prst="rect">
                <a:avLst/>
              </a:prstGeom>
              <a:blipFill>
                <a:blip r:embed="rId4"/>
                <a:stretch>
                  <a:fillRect l="-211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8A3B108-0A4A-0415-3D5F-7C89366B3A85}"/>
                  </a:ext>
                </a:extLst>
              </p:cNvPr>
              <p:cNvSpPr txBox="1"/>
              <p:nvPr/>
            </p:nvSpPr>
            <p:spPr>
              <a:xfrm>
                <a:off x="1594215" y="2979421"/>
                <a:ext cx="8786303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Person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hits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the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target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in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3 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out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4 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shots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8A3B108-0A4A-0415-3D5F-7C89366B3A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79421"/>
                <a:ext cx="8786303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6961635-56E2-1052-2992-40F04A8D15C5}"/>
                  </a:ext>
                </a:extLst>
              </p:cNvPr>
              <p:cNvSpPr txBox="1"/>
              <p:nvPr/>
            </p:nvSpPr>
            <p:spPr>
              <a:xfrm>
                <a:off x="1594215" y="4713878"/>
                <a:ext cx="8786303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Person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B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hits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the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target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in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2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out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3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shots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6961635-56E2-1052-2992-40F04A8D15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713878"/>
                <a:ext cx="8786303" cy="89915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41D6706D-3FEB-2257-D2D6-749581291C35}"/>
              </a:ext>
            </a:extLst>
          </p:cNvPr>
          <p:cNvSpPr txBox="1"/>
          <p:nvPr/>
        </p:nvSpPr>
        <p:spPr>
          <a:xfrm>
            <a:off x="1594214" y="5676027"/>
            <a:ext cx="900451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Probability that the target will be hit means </a:t>
            </a:r>
            <a:r>
              <a:rPr lang="en-US" sz="2800" b="1" i="0" dirty="0">
                <a:solidFill>
                  <a:srgbClr val="FF0000"/>
                </a:solidFill>
                <a:latin typeface="+mj-lt"/>
              </a:rPr>
              <a:t>at least one</a:t>
            </a:r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 of them hits the target.</a:t>
            </a:r>
            <a:endParaRPr kumimoji="0" lang="en-IN" sz="2800" b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0000"/>
                  <a:lumOff val="10000"/>
                </a:schemeClr>
              </a:solidFill>
              <a:effectLst/>
              <a:uLnTx/>
              <a:uFillTx/>
              <a:latin typeface="Roboto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592028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3" grpId="0"/>
      <p:bldP spid="5" grpId="0"/>
      <p:bldP spid="7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E545C03-B501-4B8C-ADF8-5BF508A35868}"/>
                  </a:ext>
                </a:extLst>
              </p:cNvPr>
              <p:cNvSpPr txBox="1"/>
              <p:nvPr/>
            </p:nvSpPr>
            <p:spPr>
              <a:xfrm>
                <a:off x="166488" y="1349653"/>
                <a:ext cx="71902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E545C03-B501-4B8C-ADF8-5BF508A358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488" y="1349653"/>
                <a:ext cx="719027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4AC945DF-31DE-4695-82B8-3C533BF587F7}"/>
              </a:ext>
            </a:extLst>
          </p:cNvPr>
          <p:cNvSpPr txBox="1"/>
          <p:nvPr/>
        </p:nvSpPr>
        <p:spPr>
          <a:xfrm>
            <a:off x="166487" y="1955860"/>
            <a:ext cx="111043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Since, the probability of one person hitting the target does not affect the other,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50E92AF-B223-45F0-A8B1-0034D6136A9B}"/>
                  </a:ext>
                </a:extLst>
              </p:cNvPr>
              <p:cNvSpPr txBox="1"/>
              <p:nvPr/>
            </p:nvSpPr>
            <p:spPr>
              <a:xfrm>
                <a:off x="1917543" y="4032624"/>
                <a:ext cx="3566578" cy="106048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4 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⋅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3</m:t>
                              </m:r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50E92AF-B223-45F0-A8B1-0034D6136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7543" y="4032624"/>
                <a:ext cx="3566578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D3D9298-BE81-47F2-9ECF-F9FA563340AB}"/>
                  </a:ext>
                </a:extLst>
              </p:cNvPr>
              <p:cNvSpPr txBox="1"/>
              <p:nvPr/>
            </p:nvSpPr>
            <p:spPr>
              <a:xfrm>
                <a:off x="1917543" y="5398188"/>
                <a:ext cx="1175973" cy="9105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12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D3D9298-BE81-47F2-9ECF-F9FA563340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7543" y="5398188"/>
                <a:ext cx="1175973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823AF8D-A078-457A-9CD1-A624F3BC5D5E}"/>
                  </a:ext>
                </a:extLst>
              </p:cNvPr>
              <p:cNvSpPr txBox="1"/>
              <p:nvPr/>
            </p:nvSpPr>
            <p:spPr>
              <a:xfrm>
                <a:off x="166487" y="3204323"/>
                <a:ext cx="649983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21212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823AF8D-A078-457A-9CD1-A624F3BC5D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487" y="3204323"/>
                <a:ext cx="649983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B2ED7C-4629-485B-8D21-D07566DFFEC2}"/>
                  </a:ext>
                </a:extLst>
              </p:cNvPr>
              <p:cNvSpPr txBox="1"/>
              <p:nvPr/>
            </p:nvSpPr>
            <p:spPr>
              <a:xfrm>
                <a:off x="158968" y="2565871"/>
                <a:ext cx="47588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are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independent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events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.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B2ED7C-4629-485B-8D21-D07566DFFE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68" y="2565871"/>
                <a:ext cx="47588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C9597EFD-49A7-B2E2-48B2-8119AC79C94B}"/>
              </a:ext>
            </a:extLst>
          </p:cNvPr>
          <p:cNvSpPr txBox="1"/>
          <p:nvPr/>
        </p:nvSpPr>
        <p:spPr>
          <a:xfrm>
            <a:off x="166487" y="739642"/>
            <a:ext cx="114609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Probability that the target will be hit means </a:t>
            </a:r>
            <a:r>
              <a:rPr lang="en-US" sz="2800" b="1" i="0" dirty="0">
                <a:solidFill>
                  <a:srgbClr val="FF0000"/>
                </a:solidFill>
                <a:latin typeface="+mj-lt"/>
              </a:rPr>
              <a:t>at least one</a:t>
            </a:r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 of them hits the target.</a:t>
            </a:r>
            <a:endParaRPr kumimoji="0" lang="en-IN" sz="2800" b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0000"/>
                  <a:lumOff val="10000"/>
                </a:schemeClr>
              </a:solidFill>
              <a:effectLst/>
              <a:uLnTx/>
              <a:uFillTx/>
              <a:latin typeface="Roboto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4220976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15" grpId="0"/>
      <p:bldP spid="16" grpId="0"/>
      <p:bldP spid="17" grpId="0"/>
      <p:bldP spid="18" grpId="0"/>
      <p:bldP spid="21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510624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00000"/>
              </a:lnSpc>
            </a:pPr>
            <a:r>
              <a:rPr lang="en-US" dirty="0"/>
              <a:t>A market survey was conducted in four cities to find out the preference for brand X soap. The responses are shown below: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D342469-8C84-4EAD-B1BE-4F5A830D0D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3259267"/>
              </p:ext>
            </p:extLst>
          </p:nvPr>
        </p:nvGraphicFramePr>
        <p:xfrm>
          <a:off x="350251" y="1858729"/>
          <a:ext cx="7941518" cy="230400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758428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57" name="TextBox 56">
            <a:extLst>
              <a:ext uri="{FF2B5EF4-FFF2-40B4-BE49-F238E27FC236}">
                <a16:creationId xmlns:a16="http://schemas.microsoft.com/office/drawing/2014/main" id="{1F69D3D2-4BE7-495C-80D9-493C02ABD29E}"/>
              </a:ext>
            </a:extLst>
          </p:cNvPr>
          <p:cNvSpPr txBox="1"/>
          <p:nvPr/>
        </p:nvSpPr>
        <p:spPr>
          <a:xfrm>
            <a:off x="2193808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99D11EA-8535-4E85-A63F-C701F2493245}"/>
              </a:ext>
            </a:extLst>
          </p:cNvPr>
          <p:cNvSpPr txBox="1"/>
          <p:nvPr/>
        </p:nvSpPr>
        <p:spPr>
          <a:xfrm>
            <a:off x="3422980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B2682-B675-4779-A744-D0CDB8E35551}"/>
              </a:ext>
            </a:extLst>
          </p:cNvPr>
          <p:cNvSpPr txBox="1"/>
          <p:nvPr/>
        </p:nvSpPr>
        <p:spPr>
          <a:xfrm>
            <a:off x="4661192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E1D16DF-1CD6-4918-8994-622AD608C02B}"/>
              </a:ext>
            </a:extLst>
          </p:cNvPr>
          <p:cNvSpPr txBox="1"/>
          <p:nvPr/>
        </p:nvSpPr>
        <p:spPr>
          <a:xfrm>
            <a:off x="5871705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FF0BE5-51F9-484B-89AA-9EC0E3C7CE3D}"/>
              </a:ext>
            </a:extLst>
          </p:cNvPr>
          <p:cNvSpPr txBox="1"/>
          <p:nvPr/>
        </p:nvSpPr>
        <p:spPr>
          <a:xfrm>
            <a:off x="7109828" y="2297350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5F102F1-88CF-47C6-9923-573232C0D6E9}"/>
              </a:ext>
            </a:extLst>
          </p:cNvPr>
          <p:cNvSpPr txBox="1"/>
          <p:nvPr/>
        </p:nvSpPr>
        <p:spPr>
          <a:xfrm>
            <a:off x="7109828" y="276195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AF7133B-7AED-41B4-B850-FB033E885593}"/>
              </a:ext>
            </a:extLst>
          </p:cNvPr>
          <p:cNvSpPr txBox="1"/>
          <p:nvPr/>
        </p:nvSpPr>
        <p:spPr>
          <a:xfrm>
            <a:off x="7109828" y="3235689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AAFE973-16C7-4D84-9569-F25C19769E25}"/>
              </a:ext>
            </a:extLst>
          </p:cNvPr>
          <p:cNvSpPr txBox="1"/>
          <p:nvPr/>
        </p:nvSpPr>
        <p:spPr>
          <a:xfrm>
            <a:off x="7109828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6</a:t>
            </a:r>
            <a:endParaRPr 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0368568-3F56-4E52-A5A6-3600816F37AB}"/>
              </a:ext>
            </a:extLst>
          </p:cNvPr>
          <p:cNvSpPr txBox="1"/>
          <p:nvPr/>
        </p:nvSpPr>
        <p:spPr>
          <a:xfrm>
            <a:off x="131177" y="4149302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/>
            </a:pPr>
            <a:r>
              <a:rPr lang="en-US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What is the probability that a consumer preferred brand X, given that he was from Chennai?</a:t>
            </a:r>
            <a:endParaRPr lang="en-IN" sz="28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131177" y="5035045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dirty="0">
              <a:solidFill>
                <a:schemeClr val="bg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2944920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0368568-3F56-4E52-A5A6-3600816F37AB}"/>
              </a:ext>
            </a:extLst>
          </p:cNvPr>
          <p:cNvSpPr txBox="1"/>
          <p:nvPr/>
        </p:nvSpPr>
        <p:spPr>
          <a:xfrm>
            <a:off x="202748" y="3125618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/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What is the probability that a consumer preferred brand X, given that he was from Chennai?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202747" y="6884788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F78A630D-E57B-4B75-9D87-40FB4683EB37}"/>
              </a:ext>
            </a:extLst>
          </p:cNvPr>
          <p:cNvGraphicFramePr>
            <a:graphicFrameLocks noGrp="1"/>
          </p:cNvGraphicFramePr>
          <p:nvPr/>
        </p:nvGraphicFramePr>
        <p:xfrm>
          <a:off x="2029848" y="855291"/>
          <a:ext cx="7630617" cy="21634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89587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87086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70000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007532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578503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DD447B1F-E793-417E-99A6-FE5CF24FB768}"/>
              </a:ext>
            </a:extLst>
          </p:cNvPr>
          <p:cNvSpPr txBox="1"/>
          <p:nvPr/>
        </p:nvSpPr>
        <p:spPr>
          <a:xfrm>
            <a:off x="3809065" y="2589174"/>
            <a:ext cx="106773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E382470-ACDD-42ED-AE10-D84F11F11E14}"/>
              </a:ext>
            </a:extLst>
          </p:cNvPr>
          <p:cNvSpPr txBox="1"/>
          <p:nvPr/>
        </p:nvSpPr>
        <p:spPr>
          <a:xfrm>
            <a:off x="4994327" y="260132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37F7F7E-EE35-4A09-8745-ABFDFFBCACBB}"/>
              </a:ext>
            </a:extLst>
          </p:cNvPr>
          <p:cNvSpPr txBox="1"/>
          <p:nvPr/>
        </p:nvSpPr>
        <p:spPr>
          <a:xfrm>
            <a:off x="6207715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215E840-890A-4A1C-8186-D4FA8F90AE86}"/>
              </a:ext>
            </a:extLst>
          </p:cNvPr>
          <p:cNvSpPr txBox="1"/>
          <p:nvPr/>
        </p:nvSpPr>
        <p:spPr>
          <a:xfrm>
            <a:off x="7413701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62F231-163B-4559-9BB1-22077C891EFD}"/>
              </a:ext>
            </a:extLst>
          </p:cNvPr>
          <p:cNvSpPr txBox="1"/>
          <p:nvPr/>
        </p:nvSpPr>
        <p:spPr>
          <a:xfrm>
            <a:off x="8484221" y="137348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34C3A0B-9082-4909-9D90-81828C1C58CC}"/>
              </a:ext>
            </a:extLst>
          </p:cNvPr>
          <p:cNvSpPr txBox="1"/>
          <p:nvPr/>
        </p:nvSpPr>
        <p:spPr>
          <a:xfrm>
            <a:off x="8450356" y="1744846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9AFD8C1-CC69-48E8-8ED7-C5E07AD8142C}"/>
              </a:ext>
            </a:extLst>
          </p:cNvPr>
          <p:cNvSpPr txBox="1"/>
          <p:nvPr/>
        </p:nvSpPr>
        <p:spPr>
          <a:xfrm>
            <a:off x="8450355" y="2167010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BED8145-5085-448D-A924-F98226305DF8}"/>
              </a:ext>
            </a:extLst>
          </p:cNvPr>
          <p:cNvSpPr txBox="1"/>
          <p:nvPr/>
        </p:nvSpPr>
        <p:spPr>
          <a:xfrm>
            <a:off x="8518088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150D260-974F-4B2E-ABA3-2EDCDF01554E}"/>
              </a:ext>
            </a:extLst>
          </p:cNvPr>
          <p:cNvSpPr txBox="1">
            <a:spLocks/>
          </p:cNvSpPr>
          <p:nvPr/>
        </p:nvSpPr>
        <p:spPr>
          <a:xfrm>
            <a:off x="131176" y="80894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03DEF67-291F-4DD6-A8C0-BBB8B9259418}"/>
                  </a:ext>
                </a:extLst>
              </p:cNvPr>
              <p:cNvSpPr txBox="1"/>
              <p:nvPr/>
            </p:nvSpPr>
            <p:spPr>
              <a:xfrm>
                <a:off x="9945928" y="80894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latin typeface="Cambria Math" panose="02040503050406030204" pitchFamily="18" charset="0"/>
                        </a:rPr>
                        <m:t>n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b="0" i="0" dirty="0" smtClean="0"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03DEF67-291F-4DD6-A8C0-BBB8B92594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5928" y="808947"/>
                <a:ext cx="86323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7A84687-3719-42D3-8228-7AC2F7D6B0D9}"/>
                  </a:ext>
                </a:extLst>
              </p:cNvPr>
              <p:cNvSpPr txBox="1"/>
              <p:nvPr/>
            </p:nvSpPr>
            <p:spPr>
              <a:xfrm>
                <a:off x="10739312" y="80894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7A84687-3719-42D3-8228-7AC2F7D6B0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9312" y="808947"/>
                <a:ext cx="12499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/>
              <p:nvPr/>
            </p:nvSpPr>
            <p:spPr>
              <a:xfrm>
                <a:off x="798359" y="4063693"/>
                <a:ext cx="518495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preferred Brand X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359" y="4063693"/>
                <a:ext cx="5184955" cy="523220"/>
              </a:xfrm>
              <a:prstGeom prst="rect">
                <a:avLst/>
              </a:prstGeom>
              <a:blipFill>
                <a:blip r:embed="rId4"/>
                <a:stretch>
                  <a:fillRect l="-2468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/>
              <p:nvPr/>
            </p:nvSpPr>
            <p:spPr>
              <a:xfrm>
                <a:off x="6387926" y="4063693"/>
                <a:ext cx="539023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is from Chennai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7926" y="4063693"/>
                <a:ext cx="5390236" cy="523220"/>
              </a:xfrm>
              <a:prstGeom prst="rect">
                <a:avLst/>
              </a:prstGeom>
              <a:blipFill>
                <a:blip r:embed="rId5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/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/>
              <p:nvPr/>
            </p:nvSpPr>
            <p:spPr>
              <a:xfrm>
                <a:off x="2853072" y="503026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3072" y="5030269"/>
                <a:ext cx="2106382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/>
              <p:nvPr/>
            </p:nvSpPr>
            <p:spPr>
              <a:xfrm>
                <a:off x="4853259" y="5263378"/>
                <a:ext cx="419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259" y="5263378"/>
                <a:ext cx="4199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6139967" y="951442"/>
            <a:ext cx="1158300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/>
              <p:nvPr/>
            </p:nvSpPr>
            <p:spPr>
              <a:xfrm>
                <a:off x="5289451" y="4902253"/>
                <a:ext cx="1593150" cy="12830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390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9451" y="4902253"/>
                <a:ext cx="1593150" cy="1283044"/>
              </a:xfrm>
              <a:prstGeom prst="rect">
                <a:avLst/>
              </a:prstGeom>
              <a:blipFill>
                <a:blip r:embed="rId9"/>
                <a:stretch>
                  <a:fillRect r="-84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AF681BE5-4C8F-49EA-994D-3126442D747C}"/>
              </a:ext>
            </a:extLst>
          </p:cNvPr>
          <p:cNvSpPr txBox="1"/>
          <p:nvPr/>
        </p:nvSpPr>
        <p:spPr>
          <a:xfrm>
            <a:off x="5852357" y="4991580"/>
            <a:ext cx="6835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dirty="0">
                <a:solidFill>
                  <a:srgbClr val="002060"/>
                </a:solidFill>
                <a:latin typeface="Cambria Math" panose="02040503050406030204" pitchFamily="18" charset="0"/>
              </a:rPr>
              <a:t>60</a:t>
            </a:r>
            <a:endParaRPr lang="en-IN" sz="2800" dirty="0">
              <a:solidFill>
                <a:srgbClr val="002060"/>
              </a:solidFill>
              <a:latin typeface="Cambria Math" panose="020405030504060302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/>
              <p:nvPr/>
            </p:nvSpPr>
            <p:spPr>
              <a:xfrm>
                <a:off x="5412130" y="5562207"/>
                <a:ext cx="147617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2130" y="5562207"/>
                <a:ext cx="147617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/>
              <p:nvPr/>
            </p:nvSpPr>
            <p:spPr>
              <a:xfrm>
                <a:off x="7005280" y="5263378"/>
                <a:ext cx="124173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5280" y="5263378"/>
                <a:ext cx="124173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43EF5739-1940-476B-9C4F-4A10977F5600}"/>
              </a:ext>
            </a:extLst>
          </p:cNvPr>
          <p:cNvSpPr/>
          <p:nvPr/>
        </p:nvSpPr>
        <p:spPr>
          <a:xfrm>
            <a:off x="6387926" y="2665684"/>
            <a:ext cx="666539" cy="397588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6139967" y="1446742"/>
            <a:ext cx="1158300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2349017" y="1437014"/>
            <a:ext cx="1016753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76206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44" grpId="0"/>
      <p:bldP spid="45" grpId="0"/>
      <p:bldP spid="3" grpId="0" animBg="1"/>
      <p:bldP spid="3" grpId="1" animBg="1"/>
      <p:bldP spid="47" grpId="0"/>
      <p:bldP spid="46" grpId="0"/>
      <p:bldP spid="48" grpId="0"/>
      <p:bldP spid="50" grpId="0"/>
      <p:bldP spid="64" grpId="0" animBg="1"/>
      <p:bldP spid="64" grpId="1" animBg="1"/>
      <p:bldP spid="35" grpId="0" animBg="1"/>
      <p:bldP spid="35" grpId="1" animBg="1"/>
      <p:bldP spid="36" grpId="0" animBg="1"/>
      <p:bldP spid="36" grpId="1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202748" y="3117602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150D260-974F-4B2E-ABA3-2EDCDF01554E}"/>
              </a:ext>
            </a:extLst>
          </p:cNvPr>
          <p:cNvSpPr txBox="1">
            <a:spLocks/>
          </p:cNvSpPr>
          <p:nvPr/>
        </p:nvSpPr>
        <p:spPr>
          <a:xfrm>
            <a:off x="131176" y="80894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/>
              <p:nvPr/>
            </p:nvSpPr>
            <p:spPr>
              <a:xfrm>
                <a:off x="6536650" y="4063693"/>
                <a:ext cx="518495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is from Mumbai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6650" y="4063693"/>
                <a:ext cx="5184955" cy="523220"/>
              </a:xfrm>
              <a:prstGeom prst="rect">
                <a:avLst/>
              </a:prstGeom>
              <a:blipFill>
                <a:blip r:embed="rId2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/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  <m: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/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/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/>
              <p:nvPr/>
            </p:nvSpPr>
            <p:spPr>
              <a:xfrm>
                <a:off x="5299178" y="4902253"/>
                <a:ext cx="1593150" cy="12830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390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178" y="4902253"/>
                <a:ext cx="1593150" cy="1283044"/>
              </a:xfrm>
              <a:prstGeom prst="rect">
                <a:avLst/>
              </a:prstGeom>
              <a:blipFill>
                <a:blip r:embed="rId9"/>
                <a:stretch>
                  <a:fillRect r="-83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/>
              <p:nvPr/>
            </p:nvSpPr>
            <p:spPr>
              <a:xfrm>
                <a:off x="5449491" y="5001768"/>
                <a:ext cx="147617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9491" y="5001768"/>
                <a:ext cx="147617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/>
              <p:nvPr/>
            </p:nvSpPr>
            <p:spPr>
              <a:xfrm>
                <a:off x="5465781" y="5560382"/>
                <a:ext cx="147617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5781" y="5560382"/>
                <a:ext cx="147617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/>
              <p:nvPr/>
            </p:nvSpPr>
            <p:spPr>
              <a:xfrm>
                <a:off x="7042641" y="5263378"/>
                <a:ext cx="153137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2641" y="5263378"/>
                <a:ext cx="15313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F78A630D-E57B-4B75-9D87-40FB4683EB37}"/>
              </a:ext>
            </a:extLst>
          </p:cNvPr>
          <p:cNvGraphicFramePr>
            <a:graphicFrameLocks noGrp="1"/>
          </p:cNvGraphicFramePr>
          <p:nvPr/>
        </p:nvGraphicFramePr>
        <p:xfrm>
          <a:off x="2029848" y="855291"/>
          <a:ext cx="7630617" cy="21634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89587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87086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70000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007532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578503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DD447B1F-E793-417E-99A6-FE5CF24FB768}"/>
              </a:ext>
            </a:extLst>
          </p:cNvPr>
          <p:cNvSpPr txBox="1"/>
          <p:nvPr/>
        </p:nvSpPr>
        <p:spPr>
          <a:xfrm>
            <a:off x="3809065" y="2589174"/>
            <a:ext cx="106773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E382470-ACDD-42ED-AE10-D84F11F11E14}"/>
              </a:ext>
            </a:extLst>
          </p:cNvPr>
          <p:cNvSpPr txBox="1"/>
          <p:nvPr/>
        </p:nvSpPr>
        <p:spPr>
          <a:xfrm>
            <a:off x="4994327" y="260132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37F7F7E-EE35-4A09-8745-ABFDFFBCACBB}"/>
              </a:ext>
            </a:extLst>
          </p:cNvPr>
          <p:cNvSpPr txBox="1"/>
          <p:nvPr/>
        </p:nvSpPr>
        <p:spPr>
          <a:xfrm>
            <a:off x="6207715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215E840-890A-4A1C-8186-D4FA8F90AE86}"/>
              </a:ext>
            </a:extLst>
          </p:cNvPr>
          <p:cNvSpPr txBox="1"/>
          <p:nvPr/>
        </p:nvSpPr>
        <p:spPr>
          <a:xfrm>
            <a:off x="7413701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262F231-163B-4559-9BB1-22077C891EFD}"/>
              </a:ext>
            </a:extLst>
          </p:cNvPr>
          <p:cNvSpPr txBox="1"/>
          <p:nvPr/>
        </p:nvSpPr>
        <p:spPr>
          <a:xfrm>
            <a:off x="8484221" y="137348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34C3A0B-9082-4909-9D90-81828C1C58CC}"/>
              </a:ext>
            </a:extLst>
          </p:cNvPr>
          <p:cNvSpPr txBox="1"/>
          <p:nvPr/>
        </p:nvSpPr>
        <p:spPr>
          <a:xfrm>
            <a:off x="8450356" y="1744846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9AFD8C1-CC69-48E8-8ED7-C5E07AD8142C}"/>
              </a:ext>
            </a:extLst>
          </p:cNvPr>
          <p:cNvSpPr txBox="1"/>
          <p:nvPr/>
        </p:nvSpPr>
        <p:spPr>
          <a:xfrm>
            <a:off x="8450355" y="2167010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BED8145-5085-448D-A924-F98226305DF8}"/>
              </a:ext>
            </a:extLst>
          </p:cNvPr>
          <p:cNvSpPr txBox="1"/>
          <p:nvPr/>
        </p:nvSpPr>
        <p:spPr>
          <a:xfrm>
            <a:off x="8518088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467600" y="948267"/>
            <a:ext cx="1134533" cy="4064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1" name="Rounded Rectangle 60"/>
          <p:cNvSpPr/>
          <p:nvPr/>
        </p:nvSpPr>
        <p:spPr>
          <a:xfrm>
            <a:off x="8660296" y="1433444"/>
            <a:ext cx="711200" cy="3556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7" name="Rounded Rectangle 26"/>
          <p:cNvSpPr/>
          <p:nvPr/>
        </p:nvSpPr>
        <p:spPr>
          <a:xfrm>
            <a:off x="2266950" y="1453295"/>
            <a:ext cx="1134533" cy="3454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8" name="Rounded Rectangle 27"/>
          <p:cNvSpPr/>
          <p:nvPr/>
        </p:nvSpPr>
        <p:spPr>
          <a:xfrm>
            <a:off x="7467600" y="1424517"/>
            <a:ext cx="1134533" cy="4064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DA8CB940-CF60-5676-21FC-92FDA4E08A58}"/>
                  </a:ext>
                </a:extLst>
              </p:cNvPr>
              <p:cNvSpPr txBox="1"/>
              <p:nvPr/>
            </p:nvSpPr>
            <p:spPr>
              <a:xfrm>
                <a:off x="777222" y="4063693"/>
                <a:ext cx="518495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preferred Brand X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DA8CB940-CF60-5676-21FC-92FDA4E08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222" y="4063693"/>
                <a:ext cx="5184955" cy="523220"/>
              </a:xfrm>
              <a:prstGeom prst="rect">
                <a:avLst/>
              </a:prstGeom>
              <a:blipFill>
                <a:blip r:embed="rId13"/>
                <a:stretch>
                  <a:fillRect l="-23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64365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3" grpId="0"/>
      <p:bldP spid="44" grpId="0"/>
      <p:bldP spid="45" grpId="0"/>
      <p:bldP spid="47" grpId="0"/>
      <p:bldP spid="46" grpId="0"/>
      <p:bldP spid="48" grpId="0"/>
      <p:bldP spid="50" grpId="0"/>
      <p:bldP spid="4" grpId="0" animBg="1"/>
      <p:bldP spid="61" grpId="0" animBg="1"/>
      <p:bldP spid="27" grpId="0" animBg="1"/>
      <p:bldP spid="27" grpId="1" animBg="1"/>
      <p:bldP spid="28" grpId="0" animBg="1"/>
      <p:bldP spid="28" grpId="1" animBg="1"/>
      <p:bldP spid="3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306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  <a:spcAft>
                    <a:spcPts val="600"/>
                  </a:spcAft>
                </a:pPr>
                <a:r>
                  <a:rPr lang="en-GB" dirty="0">
                    <a:latin typeface="+mj-lt"/>
                  </a:rPr>
                  <a:t>A problem in statistics is given to three students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>
                    <a:latin typeface="+mj-lt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>
                    <a:latin typeface="+mj-lt"/>
                  </a:rPr>
                  <a:t>, whose chances of</a:t>
                </a:r>
                <a:br>
                  <a:rPr lang="en-GB" dirty="0">
                    <a:latin typeface="+mj-lt"/>
                  </a:rPr>
                </a:b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solving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it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independently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are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respective</m:t>
                      </m:r>
                      <m:r>
                        <m:rPr>
                          <m:nor/>
                        </m:rPr>
                        <a:rPr lang="en-IN" b="0" i="0" dirty="0" smtClean="0">
                          <a:latin typeface="+mj-lt"/>
                        </a:rPr>
                        <m:t>y</m:t>
                      </m:r>
                      <m:r>
                        <m:rPr>
                          <m:nor/>
                        </m:rPr>
                        <a:rPr lang="en-IN" b="0" i="0" dirty="0" smtClean="0">
                          <a:latin typeface="+mj-lt"/>
                        </a:rPr>
                        <m:t>.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Find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the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probability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that</m:t>
                      </m:r>
                    </m:oMath>
                  </m:oMathPara>
                </a14:m>
                <a:endParaRPr lang="en-GB" i="0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3060000"/>
              </a:xfrm>
              <a:prstGeom prst="rect">
                <a:avLst/>
              </a:prstGeom>
              <a:blipFill>
                <a:blip r:embed="rId2"/>
                <a:stretch>
                  <a:fillRect l="-1074" t="-1793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403281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9FF0AE0-783F-44E9-A0DF-414688DC2F7A}"/>
                  </a:ext>
                </a:extLst>
              </p:cNvPr>
              <p:cNvSpPr txBox="1"/>
              <p:nvPr/>
            </p:nvSpPr>
            <p:spPr>
              <a:xfrm>
                <a:off x="1594216" y="4107540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9FF0AE0-783F-44E9-A0DF-414688DC2F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107540"/>
                <a:ext cx="6578374" cy="523220"/>
              </a:xfrm>
              <a:prstGeom prst="rect">
                <a:avLst/>
              </a:prstGeom>
              <a:blipFill>
                <a:blip r:embed="rId3"/>
                <a:stretch>
                  <a:fillRect l="-1946" t="-11628" r="-7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FCBE415-EB02-4684-B497-50822478B11C}"/>
                  </a:ext>
                </a:extLst>
              </p:cNvPr>
              <p:cNvSpPr txBox="1"/>
              <p:nvPr/>
            </p:nvSpPr>
            <p:spPr>
              <a:xfrm>
                <a:off x="1594216" y="5001191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FCBE415-EB02-4684-B497-50822478B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001191"/>
                <a:ext cx="6578374" cy="523220"/>
              </a:xfrm>
              <a:prstGeom prst="rect">
                <a:avLst/>
              </a:prstGeom>
              <a:blipFill>
                <a:blip r:embed="rId4"/>
                <a:stretch>
                  <a:fillRect l="-1946" t="-10465" r="-7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FE525F6-D976-4C63-8A63-3D9CC9F687CE}"/>
                  </a:ext>
                </a:extLst>
              </p:cNvPr>
              <p:cNvSpPr txBox="1"/>
              <p:nvPr/>
            </p:nvSpPr>
            <p:spPr>
              <a:xfrm>
                <a:off x="1594216" y="5925099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FE525F6-D976-4C63-8A63-3D9CC9F68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925099"/>
                <a:ext cx="6578374" cy="523220"/>
              </a:xfrm>
              <a:prstGeom prst="rect">
                <a:avLst/>
              </a:prstGeom>
              <a:blipFill>
                <a:blip r:embed="rId5"/>
                <a:stretch>
                  <a:fillRect l="-1946" t="-11628" r="-46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1D0BB95-2D23-4A61-ADD6-60EB3A1CF16A}"/>
                  </a:ext>
                </a:extLst>
              </p:cNvPr>
              <p:cNvSpPr txBox="1"/>
              <p:nvPr/>
            </p:nvSpPr>
            <p:spPr>
              <a:xfrm>
                <a:off x="8106438" y="4107540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1D0BB95-2D23-4A61-ADD6-60EB3A1CF1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4107540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7AA2568-4E58-48E6-9FEE-D95AC81534E2}"/>
                  </a:ext>
                </a:extLst>
              </p:cNvPr>
              <p:cNvSpPr txBox="1"/>
              <p:nvPr/>
            </p:nvSpPr>
            <p:spPr>
              <a:xfrm>
                <a:off x="8899823" y="3919668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7AA2568-4E58-48E6-9FEE-D95AC8153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3919668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5DE991D-980F-464A-BC32-58713F134A9A}"/>
                  </a:ext>
                </a:extLst>
              </p:cNvPr>
              <p:cNvSpPr txBox="1"/>
              <p:nvPr/>
            </p:nvSpPr>
            <p:spPr>
              <a:xfrm>
                <a:off x="8106438" y="500119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5DE991D-980F-464A-BC32-58713F134A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5001191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11C8EAF-390C-4CEA-BE47-3AA65A7626A2}"/>
                  </a:ext>
                </a:extLst>
              </p:cNvPr>
              <p:cNvSpPr txBox="1"/>
              <p:nvPr/>
            </p:nvSpPr>
            <p:spPr>
              <a:xfrm>
                <a:off x="8899823" y="4813319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11C8EAF-390C-4CEA-BE47-3AA65A7626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4813319"/>
                <a:ext cx="985452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DFA9804-8BE0-4D45-95DA-C6DA03D533EA}"/>
                  </a:ext>
                </a:extLst>
              </p:cNvPr>
              <p:cNvSpPr txBox="1"/>
              <p:nvPr/>
            </p:nvSpPr>
            <p:spPr>
              <a:xfrm>
                <a:off x="8106438" y="5925099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DFA9804-8BE0-4D45-95DA-C6DA03D533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5925099"/>
                <a:ext cx="86323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567CEFA0-3C38-4E51-9EF7-E1E0E1795BD6}"/>
                  </a:ext>
                </a:extLst>
              </p:cNvPr>
              <p:cNvSpPr txBox="1"/>
              <p:nvPr/>
            </p:nvSpPr>
            <p:spPr>
              <a:xfrm>
                <a:off x="8899823" y="5737227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567CEFA0-3C38-4E51-9EF7-E1E0E1795B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5737227"/>
                <a:ext cx="985452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2" name="TextBox 61">
            <a:extLst>
              <a:ext uri="{FF2B5EF4-FFF2-40B4-BE49-F238E27FC236}">
                <a16:creationId xmlns:a16="http://schemas.microsoft.com/office/drawing/2014/main" id="{87B00156-85EA-4755-A6AD-E26A8E752C2A}"/>
              </a:ext>
            </a:extLst>
          </p:cNvPr>
          <p:cNvSpPr txBox="1"/>
          <p:nvPr/>
        </p:nvSpPr>
        <p:spPr>
          <a:xfrm>
            <a:off x="127707" y="3336189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1CA8E74-A257-4C3E-A3A6-6AAEA2181791}"/>
              </a:ext>
            </a:extLst>
          </p:cNvPr>
          <p:cNvSpPr txBox="1"/>
          <p:nvPr/>
        </p:nvSpPr>
        <p:spPr>
          <a:xfrm>
            <a:off x="127707" y="2799824"/>
            <a:ext cx="7983360" cy="56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1D94DAD-3B53-4987-93E9-DAB25FEAD82C}"/>
              </a:ext>
            </a:extLst>
          </p:cNvPr>
          <p:cNvSpPr txBox="1"/>
          <p:nvPr/>
        </p:nvSpPr>
        <p:spPr>
          <a:xfrm>
            <a:off x="4076642" y="2269809"/>
            <a:ext cx="7861358" cy="56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(2)  at least two of them are able to solve the problem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0340344-A80C-4770-AF5F-CF7AA10F7C2B}"/>
              </a:ext>
            </a:extLst>
          </p:cNvPr>
          <p:cNvSpPr txBox="1"/>
          <p:nvPr/>
        </p:nvSpPr>
        <p:spPr>
          <a:xfrm>
            <a:off x="127706" y="2269809"/>
            <a:ext cx="3823546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(1)  the problem is solved</a:t>
            </a:r>
          </a:p>
        </p:txBody>
      </p:sp>
    </p:spTree>
    <p:extLst>
      <p:ext uri="{BB962C8B-B14F-4D97-AF65-F5344CB8AC3E}">
        <p14:creationId xmlns:p14="http://schemas.microsoft.com/office/powerpoint/2010/main" val="1178136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3" grpId="0"/>
      <p:bldP spid="34" grpId="0"/>
      <p:bldP spid="40" grpId="0"/>
      <p:bldP spid="41" grpId="0"/>
      <p:bldP spid="42" grpId="0"/>
      <p:bldP spid="43" grpId="0"/>
      <p:bldP spid="49" grpId="0"/>
      <p:bldP spid="50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BEAFFC6-C0CC-4FD7-A3E8-3688BFF2EADF}"/>
                  </a:ext>
                </a:extLst>
              </p:cNvPr>
              <p:cNvSpPr txBox="1"/>
              <p:nvPr/>
            </p:nvSpPr>
            <p:spPr>
              <a:xfrm>
                <a:off x="84907" y="2363609"/>
                <a:ext cx="71640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least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BEAFFC6-C0CC-4FD7-A3E8-3688BFF2E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2363609"/>
                <a:ext cx="716403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FC66A8-6C45-406B-BB5A-DC47652F08ED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FC66A8-6C45-406B-BB5A-DC47652F08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25B1688-EFA6-46AC-84FF-498954F0510E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25B1688-EFA6-46AC-84FF-498954F051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DFAA2C0-9E80-4618-A0BB-E80A4938E585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DFAA2C0-9E80-4618-A0BB-E80A4938E5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EFB57D9-3FCA-4604-8BAA-DD36C45D29F8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EFB57D9-3FCA-4604-8BAA-DD36C45D29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B46665D-F862-43FF-A78E-30F5901B76E0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B46665D-F862-43FF-A78E-30F5901B7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8984280-0AE5-4A8D-8278-12062D8508B0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8984280-0AE5-4A8D-8278-12062D850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7" y="7873580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7337215"/>
            <a:ext cx="762862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4AB866A-063B-48A3-B81C-12F63E487723}"/>
              </a:ext>
            </a:extLst>
          </p:cNvPr>
          <p:cNvSpPr txBox="1"/>
          <p:nvPr/>
        </p:nvSpPr>
        <p:spPr>
          <a:xfrm>
            <a:off x="84907" y="6857999"/>
            <a:ext cx="7628630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(2)  at least two of them are able to solve the problem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2DCC87-AE50-45DF-850C-956B43701CB4}"/>
              </a:ext>
            </a:extLst>
          </p:cNvPr>
          <p:cNvSpPr txBox="1"/>
          <p:nvPr/>
        </p:nvSpPr>
        <p:spPr>
          <a:xfrm>
            <a:off x="84907" y="1820884"/>
            <a:ext cx="382354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+mj-lt"/>
              </a:defRPr>
            </a:lvl1pPr>
          </a:lstStyle>
          <a:p>
            <a:r>
              <a:rPr lang="en-GB" b="1" dirty="0"/>
              <a:t>(1)  the problem is solved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4109E69-7401-4685-9A33-DEEC9A137649}"/>
                  </a:ext>
                </a:extLst>
              </p:cNvPr>
              <p:cNvSpPr txBox="1"/>
              <p:nvPr/>
            </p:nvSpPr>
            <p:spPr>
              <a:xfrm>
                <a:off x="7430727" y="760703"/>
                <a:ext cx="4676366" cy="830091"/>
              </a:xfrm>
              <a:prstGeom prst="rect">
                <a:avLst/>
              </a:prstGeom>
              <a:noFill/>
              <a:ln w="28575">
                <a:solidFill>
                  <a:srgbClr val="C25956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90000"/>
                  </a:lnSpc>
                </a:pPr>
                <a:r>
                  <a:rPr lang="en-GB" sz="2600" dirty="0">
                    <a:solidFill>
                      <a:srgbClr val="002060"/>
                    </a:solidFill>
                  </a:rPr>
                  <a:t>Note that here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 are </a:t>
                </a:r>
                <a:r>
                  <a:rPr lang="en-GB" sz="2600" b="1" dirty="0">
                    <a:solidFill>
                      <a:srgbClr val="FF0000"/>
                    </a:solidFill>
                  </a:rPr>
                  <a:t>mutually </a:t>
                </a:r>
                <a:r>
                  <a:rPr lang="en-IN" sz="2600" b="1" dirty="0">
                    <a:solidFill>
                      <a:srgbClr val="FF0000"/>
                    </a:solidFill>
                  </a:rPr>
                  <a:t>independent</a:t>
                </a:r>
                <a:r>
                  <a:rPr lang="en-IN" sz="2600" dirty="0">
                    <a:solidFill>
                      <a:srgbClr val="002060"/>
                    </a:solidFill>
                  </a:rPr>
                  <a:t> events.</a:t>
                </a: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4109E69-7401-4685-9A33-DEEC9A137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0727" y="760703"/>
                <a:ext cx="4676366" cy="830091"/>
              </a:xfrm>
              <a:prstGeom prst="rect">
                <a:avLst/>
              </a:prstGeom>
              <a:blipFill>
                <a:blip r:embed="rId9"/>
                <a:stretch>
                  <a:fillRect l="-2073" t="-7801" b="-14894"/>
                </a:stretch>
              </a:blipFill>
              <a:ln w="28575">
                <a:solidFill>
                  <a:srgbClr val="C25956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TextBox 66">
            <a:extLst>
              <a:ext uri="{FF2B5EF4-FFF2-40B4-BE49-F238E27FC236}">
                <a16:creationId xmlns:a16="http://schemas.microsoft.com/office/drawing/2014/main" id="{612CE7D0-AA0D-476B-A4C7-917B8EF41A4F}"/>
              </a:ext>
            </a:extLst>
          </p:cNvPr>
          <p:cNvSpPr txBox="1"/>
          <p:nvPr/>
        </p:nvSpPr>
        <p:spPr>
          <a:xfrm>
            <a:off x="4135416" y="1820884"/>
            <a:ext cx="60102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+mj-lt"/>
              </a:defRPr>
            </a:lvl1pPr>
          </a:lstStyle>
          <a:p>
            <a:r>
              <a:rPr lang="en-GB" dirty="0"/>
              <a:t>i.</a:t>
            </a:r>
            <a:r>
              <a:rPr lang="en-GB"/>
              <a:t>e.,</a:t>
            </a:r>
            <a:r>
              <a:rPr lang="en-GB" dirty="0"/>
              <a:t> at </a:t>
            </a:r>
            <a:r>
              <a:rPr lang="en-GB"/>
              <a:t>least one</a:t>
            </a:r>
            <a:r>
              <a:rPr lang="en-GB" dirty="0"/>
              <a:t> of the students </a:t>
            </a:r>
            <a:r>
              <a:rPr lang="en-GB"/>
              <a:t>solves it</a:t>
            </a:r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584E93E0-912D-4989-849F-EBF97380DDDE}"/>
                  </a:ext>
                </a:extLst>
              </p:cNvPr>
              <p:cNvSpPr txBox="1"/>
              <p:nvPr/>
            </p:nvSpPr>
            <p:spPr>
              <a:xfrm>
                <a:off x="90605" y="2923912"/>
                <a:ext cx="5150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84E93E0-912D-4989-849F-EBF97380DD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05" y="2923912"/>
                <a:ext cx="51500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21208D8C-EF94-42C4-B46D-11F77643A294}"/>
                  </a:ext>
                </a:extLst>
              </p:cNvPr>
              <p:cNvSpPr txBox="1"/>
              <p:nvPr/>
            </p:nvSpPr>
            <p:spPr>
              <a:xfrm>
                <a:off x="524858" y="2925132"/>
                <a:ext cx="11695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21208D8C-EF94-42C4-B46D-11F77643A2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858" y="2925132"/>
                <a:ext cx="11695463" cy="523220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CF52B82-3F94-449D-9DD2-964C930794B4}"/>
                  </a:ext>
                </a:extLst>
              </p:cNvPr>
              <p:cNvSpPr txBox="1"/>
              <p:nvPr/>
            </p:nvSpPr>
            <p:spPr>
              <a:xfrm>
                <a:off x="84907" y="353426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CF52B82-3F94-449D-9DD2-964C930794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3534263"/>
                <a:ext cx="520701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2E5CDCF-29F3-4A7C-ADAE-611DCE869920}"/>
                  </a:ext>
                </a:extLst>
              </p:cNvPr>
              <p:cNvSpPr txBox="1"/>
              <p:nvPr/>
            </p:nvSpPr>
            <p:spPr>
              <a:xfrm>
                <a:off x="516524" y="3534263"/>
                <a:ext cx="31777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2E5CDCF-29F3-4A7C-ADAE-611DCE8699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524" y="3534263"/>
                <a:ext cx="3177788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E064232-0571-4375-A99A-5FA02AD34FFC}"/>
                  </a:ext>
                </a:extLst>
              </p:cNvPr>
              <p:cNvSpPr txBox="1"/>
              <p:nvPr/>
            </p:nvSpPr>
            <p:spPr>
              <a:xfrm>
                <a:off x="356211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8E064232-0571-4375-A99A-5FA02AD34F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2115" y="3534263"/>
                <a:ext cx="1114461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087F567-1961-42A1-8DCA-0DF86DE40E3E}"/>
                  </a:ext>
                </a:extLst>
              </p:cNvPr>
              <p:cNvSpPr txBox="1"/>
              <p:nvPr/>
            </p:nvSpPr>
            <p:spPr>
              <a:xfrm>
                <a:off x="460665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B087F567-1961-42A1-8DCA-0DF86DE40E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06653" y="3534263"/>
                <a:ext cx="1114462" cy="523220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5280CA81-B736-483D-B24C-F85424842A7E}"/>
                  </a:ext>
                </a:extLst>
              </p:cNvPr>
              <p:cNvSpPr txBox="1"/>
              <p:nvPr/>
            </p:nvSpPr>
            <p:spPr>
              <a:xfrm>
                <a:off x="555453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280CA81-B736-483D-B24C-F85424842A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4535" y="3534263"/>
                <a:ext cx="1114461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4242450C-C6C3-4C19-AAEF-1286BEC11D23}"/>
                  </a:ext>
                </a:extLst>
              </p:cNvPr>
              <p:cNvSpPr txBox="1"/>
              <p:nvPr/>
            </p:nvSpPr>
            <p:spPr>
              <a:xfrm>
                <a:off x="659907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242450C-C6C3-4C19-AAEF-1286BEC11D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9073" y="3534263"/>
                <a:ext cx="1114462" cy="523220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D4165E77-2AE6-41BB-AE39-9E6A70EB6221}"/>
                  </a:ext>
                </a:extLst>
              </p:cNvPr>
              <p:cNvSpPr txBox="1"/>
              <p:nvPr/>
            </p:nvSpPr>
            <p:spPr>
              <a:xfrm>
                <a:off x="752369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4165E77-2AE6-41BB-AE39-9E6A70EB62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3695" y="3534263"/>
                <a:ext cx="1114461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D281BDE-671F-49B4-86F3-846DCD0CDA8B}"/>
                  </a:ext>
                </a:extLst>
              </p:cNvPr>
              <p:cNvSpPr txBox="1"/>
              <p:nvPr/>
            </p:nvSpPr>
            <p:spPr>
              <a:xfrm>
                <a:off x="856823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D281BDE-671F-49B4-86F3-846DCD0CD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8233" y="3534263"/>
                <a:ext cx="1114462" cy="523220"/>
              </a:xfrm>
              <a:prstGeom prst="rect">
                <a:avLst/>
              </a:prstGeom>
              <a:blipFill rotWithShape="0"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4F528A8-D429-43F2-A543-27BCCE3E537E}"/>
                  </a:ext>
                </a:extLst>
              </p:cNvPr>
              <p:cNvSpPr txBox="1"/>
              <p:nvPr/>
            </p:nvSpPr>
            <p:spPr>
              <a:xfrm>
                <a:off x="9081705" y="4034815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4F528A8-D429-43F2-A543-27BCCE3E53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1705" y="4034815"/>
                <a:ext cx="1114461" cy="523220"/>
              </a:xfrm>
              <a:prstGeom prst="rect">
                <a:avLst/>
              </a:prstGeom>
              <a:blipFill rotWithShape="0"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4EC11AF8-7211-4948-BE88-81D2F0972326}"/>
                  </a:ext>
                </a:extLst>
              </p:cNvPr>
              <p:cNvSpPr txBox="1"/>
              <p:nvPr/>
            </p:nvSpPr>
            <p:spPr>
              <a:xfrm>
                <a:off x="10126243" y="403481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EC11AF8-7211-4948-BE88-81D2F09723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6243" y="4034815"/>
                <a:ext cx="1114462" cy="523220"/>
              </a:xfrm>
              <a:prstGeom prst="rect">
                <a:avLst/>
              </a:prstGeom>
              <a:blipFill rotWithShape="0"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9FC4741F-3D0C-4781-99F6-6BE5EF650653}"/>
                  </a:ext>
                </a:extLst>
              </p:cNvPr>
              <p:cNvSpPr txBox="1"/>
              <p:nvPr/>
            </p:nvSpPr>
            <p:spPr>
              <a:xfrm>
                <a:off x="11037228" y="403481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FC4741F-3D0C-4781-99F6-6BE5EF6506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37228" y="4034815"/>
                <a:ext cx="1114462" cy="523220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887551B-A38D-4FDA-AB17-1EA6E36FAF9D}"/>
                  </a:ext>
                </a:extLst>
              </p:cNvPr>
              <p:cNvSpPr txBox="1"/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887551B-A38D-4FDA-AB17-1EA6E36FA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47EFCEDA-B950-43D2-8714-84799D72A04E}"/>
                  </a:ext>
                </a:extLst>
              </p:cNvPr>
              <p:cNvSpPr txBox="1"/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47EFCEDA-B950-43D2-8714-84799D72A0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93F281FB-7610-4717-9605-4206C5BA378A}"/>
                  </a:ext>
                </a:extLst>
              </p:cNvPr>
              <p:cNvSpPr txBox="1"/>
              <p:nvPr/>
            </p:nvSpPr>
            <p:spPr>
              <a:xfrm>
                <a:off x="2420417" y="4527351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93F281FB-7610-4717-9605-4206C5BA37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417" y="4527351"/>
                <a:ext cx="2102141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660B37E9-E39C-4637-9C6E-55726BD5CF19}"/>
                  </a:ext>
                </a:extLst>
              </p:cNvPr>
              <p:cNvSpPr txBox="1"/>
              <p:nvPr/>
            </p:nvSpPr>
            <p:spPr>
              <a:xfrm>
                <a:off x="4159987" y="4527350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660B37E9-E39C-4637-9C6E-55726BD5CF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9987" y="4527350"/>
                <a:ext cx="2102141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6EC1243-EB21-4ABF-BED9-5077EEC47FE4}"/>
                  </a:ext>
                </a:extLst>
              </p:cNvPr>
              <p:cNvSpPr txBox="1"/>
              <p:nvPr/>
            </p:nvSpPr>
            <p:spPr>
              <a:xfrm>
                <a:off x="5938347" y="4527349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6EC1243-EB21-4ABF-BED9-5077EEC47F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8347" y="4527349"/>
                <a:ext cx="2102141" cy="106048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45508FB0-9699-491F-A1DE-8C2CC30F08F3}"/>
                  </a:ext>
                </a:extLst>
              </p:cNvPr>
              <p:cNvSpPr txBox="1"/>
              <p:nvPr/>
            </p:nvSpPr>
            <p:spPr>
              <a:xfrm>
                <a:off x="7796438" y="4527349"/>
                <a:ext cx="250195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45508FB0-9699-491F-A1DE-8C2CC30F08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6438" y="4527349"/>
                <a:ext cx="2501951" cy="106048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772B18E3-3681-436D-A62C-05EF5B2263D6}"/>
                  </a:ext>
                </a:extLst>
              </p:cNvPr>
              <p:cNvSpPr txBox="1"/>
              <p:nvPr/>
            </p:nvSpPr>
            <p:spPr>
              <a:xfrm>
                <a:off x="116080" y="5695140"/>
                <a:ext cx="91760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772B18E3-3681-436D-A62C-05EF5B2263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080" y="5695140"/>
                <a:ext cx="917603" cy="899157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33629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5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/>
      <p:bldP spid="45" grpId="0" animBg="1"/>
      <p:bldP spid="67" grpId="0"/>
      <p:bldP spid="68" grpId="0"/>
      <p:bldP spid="69" grpId="0"/>
      <p:bldP spid="78" grpId="0"/>
      <p:bldP spid="87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3" grpId="0"/>
      <p:bldP spid="104" grpId="0"/>
      <p:bldP spid="105" grpId="0"/>
      <p:bldP spid="107" grpId="0"/>
      <p:bldP spid="109" grpId="0"/>
      <p:bldP spid="111" grpId="0"/>
      <p:bldP spid="114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7" y="7394365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6858000"/>
            <a:ext cx="762862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4AB866A-063B-48A3-B81C-12F63E487723}"/>
              </a:ext>
            </a:extLst>
          </p:cNvPr>
          <p:cNvSpPr txBox="1"/>
          <p:nvPr/>
        </p:nvSpPr>
        <p:spPr>
          <a:xfrm>
            <a:off x="84907" y="1747217"/>
            <a:ext cx="8551093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(2)  at least two of them are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D944459-C6D3-41AE-B4FE-BA01D75E24B7}"/>
                  </a:ext>
                </a:extLst>
              </p:cNvPr>
              <p:cNvSpPr txBox="1"/>
              <p:nvPr/>
            </p:nvSpPr>
            <p:spPr>
              <a:xfrm>
                <a:off x="98986" y="2391553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least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two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D944459-C6D3-41AE-B4FE-BA01D75E24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86" y="2391553"/>
                <a:ext cx="3248883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/>
              <p:nvPr/>
            </p:nvSpPr>
            <p:spPr>
              <a:xfrm>
                <a:off x="3160282" y="2391553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2391553"/>
                <a:ext cx="45552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/>
              <p:nvPr/>
            </p:nvSpPr>
            <p:spPr>
              <a:xfrm>
                <a:off x="3548986" y="2391553"/>
                <a:ext cx="7695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− 2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8986" y="2391553"/>
                <a:ext cx="769536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/>
              <p:nvPr/>
            </p:nvSpPr>
            <p:spPr>
              <a:xfrm>
                <a:off x="3160282" y="2993197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2993197"/>
                <a:ext cx="45552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/>
              <p:nvPr/>
            </p:nvSpPr>
            <p:spPr>
              <a:xfrm>
                <a:off x="3469189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9189" y="2990982"/>
                <a:ext cx="111446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/>
              <p:nvPr/>
            </p:nvSpPr>
            <p:spPr>
              <a:xfrm>
                <a:off x="4313963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3963" y="2990982"/>
                <a:ext cx="111446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/>
              <p:nvPr/>
            </p:nvSpPr>
            <p:spPr>
              <a:xfrm>
                <a:off x="5351731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1731" y="2990982"/>
                <a:ext cx="111446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/>
              <p:nvPr/>
            </p:nvSpPr>
            <p:spPr>
              <a:xfrm>
                <a:off x="6396269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6269" y="2990982"/>
                <a:ext cx="111446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/>
              <p:nvPr/>
            </p:nvSpPr>
            <p:spPr>
              <a:xfrm>
                <a:off x="7434037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4037" y="2990982"/>
                <a:ext cx="111446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/>
              <p:nvPr/>
            </p:nvSpPr>
            <p:spPr>
              <a:xfrm>
                <a:off x="8478575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8575" y="2990982"/>
                <a:ext cx="1114462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/>
              <p:nvPr/>
            </p:nvSpPr>
            <p:spPr>
              <a:xfrm>
                <a:off x="8548498" y="3480166"/>
                <a:ext cx="1333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48498" y="3480166"/>
                <a:ext cx="133318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/>
              <p:nvPr/>
            </p:nvSpPr>
            <p:spPr>
              <a:xfrm>
                <a:off x="9787902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87902" y="3480166"/>
                <a:ext cx="111446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/>
              <p:nvPr/>
            </p:nvSpPr>
            <p:spPr>
              <a:xfrm>
                <a:off x="10698887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98887" y="3480166"/>
                <a:ext cx="111446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/>
              <p:nvPr/>
            </p:nvSpPr>
            <p:spPr>
              <a:xfrm>
                <a:off x="3160282" y="4355526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4355526"/>
                <a:ext cx="45552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/>
              <p:nvPr/>
            </p:nvSpPr>
            <p:spPr>
              <a:xfrm>
                <a:off x="3532579" y="4139585"/>
                <a:ext cx="161753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2579" y="4139585"/>
                <a:ext cx="1617537" cy="10604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/>
              <p:nvPr/>
            </p:nvSpPr>
            <p:spPr>
              <a:xfrm>
                <a:off x="4851359" y="4139584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1359" y="4139584"/>
                <a:ext cx="2102141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/>
              <p:nvPr/>
            </p:nvSpPr>
            <p:spPr>
              <a:xfrm>
                <a:off x="6667810" y="4139583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7810" y="4139583"/>
                <a:ext cx="2102141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/>
              <p:nvPr/>
            </p:nvSpPr>
            <p:spPr>
              <a:xfrm>
                <a:off x="8498800" y="4139583"/>
                <a:ext cx="276577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8800" y="4139583"/>
                <a:ext cx="2765774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/>
              <p:nvPr/>
            </p:nvSpPr>
            <p:spPr>
              <a:xfrm>
                <a:off x="3160282" y="5528638"/>
                <a:ext cx="106751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5528638"/>
                <a:ext cx="1067518" cy="89915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50534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64" grpId="0"/>
      <p:bldP spid="68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8" y="6858000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1758550"/>
            <a:ext cx="843255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(3)  exactly two of them are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/>
              <p:nvPr/>
            </p:nvSpPr>
            <p:spPr>
              <a:xfrm>
                <a:off x="3066763" y="2391553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2391553"/>
                <a:ext cx="45552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/>
              <p:nvPr/>
            </p:nvSpPr>
            <p:spPr>
              <a:xfrm>
                <a:off x="3455467" y="2391553"/>
                <a:ext cx="7695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− 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467" y="2391553"/>
                <a:ext cx="76953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/>
              <p:nvPr/>
            </p:nvSpPr>
            <p:spPr>
              <a:xfrm>
                <a:off x="3066763" y="2993197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2993197"/>
                <a:ext cx="45552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/>
              <p:nvPr/>
            </p:nvSpPr>
            <p:spPr>
              <a:xfrm>
                <a:off x="3375670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5670" y="2990982"/>
                <a:ext cx="111446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/>
              <p:nvPr/>
            </p:nvSpPr>
            <p:spPr>
              <a:xfrm>
                <a:off x="4220444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0444" y="2990982"/>
                <a:ext cx="111446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/>
              <p:nvPr/>
            </p:nvSpPr>
            <p:spPr>
              <a:xfrm>
                <a:off x="5258212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8212" y="2990982"/>
                <a:ext cx="111446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/>
              <p:nvPr/>
            </p:nvSpPr>
            <p:spPr>
              <a:xfrm>
                <a:off x="6302750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2750" y="2990982"/>
                <a:ext cx="111446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/>
              <p:nvPr/>
            </p:nvSpPr>
            <p:spPr>
              <a:xfrm>
                <a:off x="7340518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0518" y="2990982"/>
                <a:ext cx="111446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/>
              <p:nvPr/>
            </p:nvSpPr>
            <p:spPr>
              <a:xfrm>
                <a:off x="8385056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5056" y="2990982"/>
                <a:ext cx="111446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/>
              <p:nvPr/>
            </p:nvSpPr>
            <p:spPr>
              <a:xfrm>
                <a:off x="8454979" y="3480166"/>
                <a:ext cx="1333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4979" y="3480166"/>
                <a:ext cx="133318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/>
              <p:nvPr/>
            </p:nvSpPr>
            <p:spPr>
              <a:xfrm>
                <a:off x="9694383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4383" y="3480166"/>
                <a:ext cx="111446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/>
              <p:nvPr/>
            </p:nvSpPr>
            <p:spPr>
              <a:xfrm>
                <a:off x="10605368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05368" y="3480166"/>
                <a:ext cx="111446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/>
              <p:nvPr/>
            </p:nvSpPr>
            <p:spPr>
              <a:xfrm>
                <a:off x="3066763" y="4363146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4363146"/>
                <a:ext cx="45552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/>
              <p:nvPr/>
            </p:nvSpPr>
            <p:spPr>
              <a:xfrm>
                <a:off x="3439060" y="4147205"/>
                <a:ext cx="161753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060" y="4147205"/>
                <a:ext cx="1617537" cy="106048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/>
              <p:nvPr/>
            </p:nvSpPr>
            <p:spPr>
              <a:xfrm>
                <a:off x="4757840" y="4147204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7840" y="4147204"/>
                <a:ext cx="2102141" cy="10604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/>
              <p:nvPr/>
            </p:nvSpPr>
            <p:spPr>
              <a:xfrm>
                <a:off x="6574291" y="4147203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4291" y="4147203"/>
                <a:ext cx="2102141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/>
              <p:nvPr/>
            </p:nvSpPr>
            <p:spPr>
              <a:xfrm>
                <a:off x="8405281" y="4147203"/>
                <a:ext cx="276577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05281" y="4147203"/>
                <a:ext cx="2765774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/>
              <p:nvPr/>
            </p:nvSpPr>
            <p:spPr>
              <a:xfrm>
                <a:off x="3066763" y="5528638"/>
                <a:ext cx="106751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5528638"/>
                <a:ext cx="1067518" cy="89915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530368CC-4122-48C8-9367-8F213658A0CA}"/>
                  </a:ext>
                </a:extLst>
              </p:cNvPr>
              <p:cNvSpPr txBox="1"/>
              <p:nvPr/>
            </p:nvSpPr>
            <p:spPr>
              <a:xfrm>
                <a:off x="98437" y="2391553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exactly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two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530368CC-4122-48C8-9367-8F213658A0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437" y="2391553"/>
                <a:ext cx="324888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07253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8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25732" y="1699989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(4)  exactly one of them is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ABF40E43-97CD-41CD-8AF4-49A909BAE79C}"/>
                  </a:ext>
                </a:extLst>
              </p:cNvPr>
              <p:cNvSpPr txBox="1"/>
              <p:nvPr/>
            </p:nvSpPr>
            <p:spPr>
              <a:xfrm>
                <a:off x="98437" y="2270288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exactly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ABF40E43-97CD-41CD-8AF4-49A909BAE7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437" y="2270288"/>
                <a:ext cx="32488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56C93A6-65C8-4DD9-BC2E-4275B4370E7D}"/>
                  </a:ext>
                </a:extLst>
              </p:cNvPr>
              <p:cNvSpPr txBox="1"/>
              <p:nvPr/>
            </p:nvSpPr>
            <p:spPr>
              <a:xfrm>
                <a:off x="90605" y="2828662"/>
                <a:ext cx="5150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56C93A6-65C8-4DD9-BC2E-4275B4370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05" y="2828662"/>
                <a:ext cx="51500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597DCED-020E-444E-BBE7-36ABB36C6C31}"/>
                  </a:ext>
                </a:extLst>
              </p:cNvPr>
              <p:cNvSpPr txBox="1"/>
              <p:nvPr/>
            </p:nvSpPr>
            <p:spPr>
              <a:xfrm>
                <a:off x="524858" y="2829882"/>
                <a:ext cx="11695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597DCED-020E-444E-BBE7-36ABB36C6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858" y="2829882"/>
                <a:ext cx="1169546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6F3FE96-AA14-48E3-A138-D69512191A84}"/>
                  </a:ext>
                </a:extLst>
              </p:cNvPr>
              <p:cNvSpPr txBox="1"/>
              <p:nvPr/>
            </p:nvSpPr>
            <p:spPr>
              <a:xfrm>
                <a:off x="84907" y="343901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6F3FE96-AA14-48E3-A138-D69512191A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3439013"/>
                <a:ext cx="52070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D9C26451-5327-4B18-8983-9D0DA3B394EE}"/>
                  </a:ext>
                </a:extLst>
              </p:cNvPr>
              <p:cNvSpPr txBox="1"/>
              <p:nvPr/>
            </p:nvSpPr>
            <p:spPr>
              <a:xfrm>
                <a:off x="516524" y="3439013"/>
                <a:ext cx="31777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D9C26451-5327-4B18-8983-9D0DA3B39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524" y="3439013"/>
                <a:ext cx="317778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651D7A0-DA0A-467D-981C-E5B2F9806C22}"/>
                  </a:ext>
                </a:extLst>
              </p:cNvPr>
              <p:cNvSpPr txBox="1"/>
              <p:nvPr/>
            </p:nvSpPr>
            <p:spPr>
              <a:xfrm>
                <a:off x="3562115" y="3439013"/>
                <a:ext cx="13938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651D7A0-DA0A-467D-981C-E5B2F9806C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2115" y="3439013"/>
                <a:ext cx="139383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7E33602-CD7B-4430-9B78-BB033D1BF9F3}"/>
                  </a:ext>
                </a:extLst>
              </p:cNvPr>
              <p:cNvSpPr txBox="1"/>
              <p:nvPr/>
            </p:nvSpPr>
            <p:spPr>
              <a:xfrm>
                <a:off x="4858113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7E33602-CD7B-4430-9B78-BB033D1BF9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8113" y="3439013"/>
                <a:ext cx="111446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2CAB01A-CE83-46AC-A377-03F0575E7700}"/>
                  </a:ext>
                </a:extLst>
              </p:cNvPr>
              <p:cNvSpPr txBox="1"/>
              <p:nvPr/>
            </p:nvSpPr>
            <p:spPr>
              <a:xfrm>
                <a:off x="5805995" y="3439013"/>
                <a:ext cx="13903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2CAB01A-CE83-46AC-A377-03F0575E77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05995" y="3439013"/>
                <a:ext cx="139035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03E48954-D48A-4EA3-B3BD-74DC24F7717A}"/>
                  </a:ext>
                </a:extLst>
              </p:cNvPr>
              <p:cNvSpPr txBox="1"/>
              <p:nvPr/>
            </p:nvSpPr>
            <p:spPr>
              <a:xfrm>
                <a:off x="7070893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03E48954-D48A-4EA3-B3BD-74DC24F77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0893" y="3439013"/>
                <a:ext cx="111446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9F16A411-0C8D-4073-B748-8CE7A693CAB5}"/>
                  </a:ext>
                </a:extLst>
              </p:cNvPr>
              <p:cNvSpPr txBox="1"/>
              <p:nvPr/>
            </p:nvSpPr>
            <p:spPr>
              <a:xfrm>
                <a:off x="7995515" y="3439013"/>
                <a:ext cx="13315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9F16A411-0C8D-4073-B748-8CE7A693CA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5515" y="3439013"/>
                <a:ext cx="133156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074FEDE1-20EC-4AD8-88B7-D915050C9715}"/>
                  </a:ext>
                </a:extLst>
              </p:cNvPr>
              <p:cNvSpPr txBox="1"/>
              <p:nvPr/>
            </p:nvSpPr>
            <p:spPr>
              <a:xfrm>
                <a:off x="9266498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074FEDE1-20EC-4AD8-88B7-D915050C97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6498" y="3439013"/>
                <a:ext cx="111446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898BB50-7959-457D-9F08-B5636D8D2B8C}"/>
                  </a:ext>
                </a:extLst>
              </p:cNvPr>
              <p:cNvSpPr txBox="1"/>
              <p:nvPr/>
            </p:nvSpPr>
            <p:spPr>
              <a:xfrm>
                <a:off x="8864601" y="3939565"/>
                <a:ext cx="13315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898BB50-7959-457D-9F08-B5636D8D2B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4601" y="3939565"/>
                <a:ext cx="1331566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AB9C5CBE-C1E6-4D9C-9D51-94C38C7AA9F9}"/>
                  </a:ext>
                </a:extLst>
              </p:cNvPr>
              <p:cNvSpPr txBox="1"/>
              <p:nvPr/>
            </p:nvSpPr>
            <p:spPr>
              <a:xfrm>
                <a:off x="10126243" y="393956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AB9C5CBE-C1E6-4D9C-9D51-94C38C7AA9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6243" y="3939565"/>
                <a:ext cx="111446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5606CF02-6F14-4DA9-A5BA-D32A7699BD85}"/>
                  </a:ext>
                </a:extLst>
              </p:cNvPr>
              <p:cNvSpPr txBox="1"/>
              <p:nvPr/>
            </p:nvSpPr>
            <p:spPr>
              <a:xfrm>
                <a:off x="11037228" y="393956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5606CF02-6F14-4DA9-A5BA-D32A7699BD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37228" y="3939565"/>
                <a:ext cx="111446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AF9605AA-DABE-491F-858E-6AE0FE694EEC}"/>
                  </a:ext>
                </a:extLst>
              </p:cNvPr>
              <p:cNvSpPr txBox="1"/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AF9605AA-DABE-491F-858E-6AE0FE694E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A54E7579-8090-48DC-BB0D-91C772EF24BD}"/>
                  </a:ext>
                </a:extLst>
              </p:cNvPr>
              <p:cNvSpPr txBox="1"/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A54E7579-8090-48DC-BB0D-91C772EF2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3C2D746-62AF-4240-AC65-3425C3269862}"/>
                  </a:ext>
                </a:extLst>
              </p:cNvPr>
              <p:cNvSpPr txBox="1"/>
              <p:nvPr/>
            </p:nvSpPr>
            <p:spPr>
              <a:xfrm>
                <a:off x="2420417" y="4527351"/>
                <a:ext cx="228286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3C2D746-62AF-4240-AC65-3425C32698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417" y="4527351"/>
                <a:ext cx="2282863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C5B14FB3-40F4-4873-9CF0-F5768415F606}"/>
                  </a:ext>
                </a:extLst>
              </p:cNvPr>
              <p:cNvSpPr txBox="1"/>
              <p:nvPr/>
            </p:nvSpPr>
            <p:spPr>
              <a:xfrm>
                <a:off x="4456773" y="4527350"/>
                <a:ext cx="228286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C5B14FB3-40F4-4873-9CF0-F5768415F6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773" y="4527350"/>
                <a:ext cx="2282863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3C3DAAAB-655E-4AC7-9D52-5B8604DA4F9F}"/>
                  </a:ext>
                </a:extLst>
              </p:cNvPr>
              <p:cNvSpPr txBox="1"/>
              <p:nvPr/>
            </p:nvSpPr>
            <p:spPr>
              <a:xfrm>
                <a:off x="6360884" y="4527349"/>
                <a:ext cx="245889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3C3DAAAB-655E-4AC7-9D52-5B8604DA4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0884" y="4527349"/>
                <a:ext cx="2458893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8A5C286-C2A9-488B-96C6-8E88A62B69E0}"/>
                  </a:ext>
                </a:extLst>
              </p:cNvPr>
              <p:cNvSpPr txBox="1"/>
              <p:nvPr/>
            </p:nvSpPr>
            <p:spPr>
              <a:xfrm>
                <a:off x="8533961" y="4527349"/>
                <a:ext cx="284346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8A5C286-C2A9-488B-96C6-8E88A62B69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3961" y="4527349"/>
                <a:ext cx="2843465" cy="106048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AF9D290-106D-4F05-AF7A-D266F68BD0DC}"/>
                  </a:ext>
                </a:extLst>
              </p:cNvPr>
              <p:cNvSpPr txBox="1"/>
              <p:nvPr/>
            </p:nvSpPr>
            <p:spPr>
              <a:xfrm>
                <a:off x="126471" y="5675280"/>
                <a:ext cx="122573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AF9D290-106D-4F05-AF7A-D266F68BD0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71" y="5675280"/>
                <a:ext cx="1225733" cy="899157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27508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101" grpId="0"/>
      <p:bldP spid="102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5611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14000"/>
                  </a:lnSpc>
                  <a:spcAft>
                    <a:spcPts val="600"/>
                  </a:spcAft>
                </a:pPr>
                <a:r>
                  <a:rPr lang="en-US" dirty="0"/>
                  <a:t>A bag contains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 white,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US" dirty="0"/>
                  <a:t> black balls.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balls are drawn at a time. Find the probability for first draw to give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white &amp; second draw to give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black balls in each of following cases: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561161"/>
              </a:xfrm>
              <a:prstGeom prst="rect">
                <a:avLst/>
              </a:prstGeom>
              <a:blipFill>
                <a:blip r:embed="rId2"/>
                <a:stretch>
                  <a:fillRect l="-1074" t="-1188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635C8299-099D-4E74-A7B7-29B2E1FD450E}"/>
              </a:ext>
            </a:extLst>
          </p:cNvPr>
          <p:cNvSpPr txBox="1">
            <a:spLocks/>
          </p:cNvSpPr>
          <p:nvPr/>
        </p:nvSpPr>
        <p:spPr>
          <a:xfrm>
            <a:off x="131176" y="358351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22312BE-1C4C-4A61-973E-963840478423}"/>
              </a:ext>
            </a:extLst>
          </p:cNvPr>
          <p:cNvSpPr txBox="1"/>
          <p:nvPr/>
        </p:nvSpPr>
        <p:spPr>
          <a:xfrm>
            <a:off x="1594216" y="3583519"/>
            <a:ext cx="336967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Total number of balls: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/>
              <p:nvPr/>
            </p:nvSpPr>
            <p:spPr>
              <a:xfrm>
                <a:off x="4786542" y="3583519"/>
                <a:ext cx="12240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6542" y="3583519"/>
                <a:ext cx="1224000" cy="523220"/>
              </a:xfrm>
              <a:prstGeom prst="rect">
                <a:avLst/>
              </a:prstGeom>
              <a:blipFill>
                <a:blip r:embed="rId3"/>
                <a:stretch>
                  <a:fillRect t="-11628" r="-1542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/>
              <p:nvPr/>
            </p:nvSpPr>
            <p:spPr>
              <a:xfrm>
                <a:off x="5984352" y="3583519"/>
                <a:ext cx="44585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4352" y="3583519"/>
                <a:ext cx="44585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/>
              <p:nvPr/>
            </p:nvSpPr>
            <p:spPr>
              <a:xfrm>
                <a:off x="6404022" y="3583519"/>
                <a:ext cx="12240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4022" y="3583519"/>
                <a:ext cx="1224000" cy="523220"/>
              </a:xfrm>
              <a:prstGeom prst="rect">
                <a:avLst/>
              </a:prstGeom>
              <a:blipFill>
                <a:blip r:embed="rId5"/>
                <a:stretch>
                  <a:fillRect t="-11628" r="-145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2FAA2FC-FB14-4349-B840-3FCA087B675D}"/>
                  </a:ext>
                </a:extLst>
              </p:cNvPr>
              <p:cNvSpPr txBox="1"/>
              <p:nvPr/>
            </p:nvSpPr>
            <p:spPr>
              <a:xfrm>
                <a:off x="7628022" y="3583519"/>
                <a:ext cx="17445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2FAA2FC-FB14-4349-B840-3FCA087B67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8022" y="3583519"/>
                <a:ext cx="1744578" cy="523220"/>
              </a:xfrm>
              <a:prstGeom prst="rect">
                <a:avLst/>
              </a:prstGeom>
              <a:blipFill>
                <a:blip r:embed="rId6"/>
                <a:stretch>
                  <a:fillRect t="-11628" r="-243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/>
              <p:nvPr/>
            </p:nvSpPr>
            <p:spPr>
              <a:xfrm>
                <a:off x="1594215" y="4685881"/>
                <a:ext cx="575485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685881"/>
                <a:ext cx="5754851" cy="523220"/>
              </a:xfrm>
              <a:prstGeom prst="rect">
                <a:avLst/>
              </a:prstGeom>
              <a:blipFill>
                <a:blip r:embed="rId7"/>
                <a:stretch>
                  <a:fillRect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C357537-9857-41D5-A3BD-D2BFE7202304}"/>
                  </a:ext>
                </a:extLst>
              </p:cNvPr>
              <p:cNvSpPr txBox="1"/>
              <p:nvPr/>
            </p:nvSpPr>
            <p:spPr>
              <a:xfrm>
                <a:off x="1594215" y="4134700"/>
                <a:ext cx="499285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 are drawn at random </a:t>
                </a: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C357537-9857-41D5-A3BD-D2BFE72023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134700"/>
                <a:ext cx="4992851" cy="523220"/>
              </a:xfrm>
              <a:prstGeom prst="rect">
                <a:avLst/>
              </a:prstGeom>
              <a:blipFill>
                <a:blip r:embed="rId8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/>
              <p:nvPr/>
            </p:nvSpPr>
            <p:spPr>
              <a:xfrm>
                <a:off x="1594216" y="5237063"/>
                <a:ext cx="64321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237063"/>
                <a:ext cx="6432184" cy="523220"/>
              </a:xfrm>
              <a:prstGeom prst="rect">
                <a:avLst/>
              </a:prstGeom>
              <a:blipFill>
                <a:blip r:embed="rId9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8081A86A-AA1C-443E-BDBE-8730D60CB7AD}"/>
              </a:ext>
            </a:extLst>
          </p:cNvPr>
          <p:cNvSpPr txBox="1"/>
          <p:nvPr/>
        </p:nvSpPr>
        <p:spPr>
          <a:xfrm>
            <a:off x="131176" y="2346104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dirty="0">
                <a:solidFill>
                  <a:schemeClr val="bg1"/>
                </a:solidFill>
              </a:rPr>
              <a:t>(1)  The balls are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2AD19C9-13B5-43D6-BEED-AFE473F91551}"/>
              </a:ext>
            </a:extLst>
          </p:cNvPr>
          <p:cNvSpPr txBox="1"/>
          <p:nvPr/>
        </p:nvSpPr>
        <p:spPr>
          <a:xfrm>
            <a:off x="131176" y="2894168"/>
            <a:ext cx="89958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3BED645-B822-465E-944C-17FDF31FA9B9}"/>
                  </a:ext>
                </a:extLst>
              </p:cNvPr>
              <p:cNvSpPr txBox="1"/>
              <p:nvPr/>
            </p:nvSpPr>
            <p:spPr>
              <a:xfrm>
                <a:off x="1594216" y="5788243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3BED645-B822-465E-944C-17FDF31FA9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788243"/>
                <a:ext cx="161256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293ED94-29FC-4CB5-BB52-FE5A0B00AA09}"/>
                  </a:ext>
                </a:extLst>
              </p:cNvPr>
              <p:cNvSpPr txBox="1"/>
              <p:nvPr/>
            </p:nvSpPr>
            <p:spPr>
              <a:xfrm>
                <a:off x="2991217" y="5788243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293ED94-29FC-4CB5-BB52-FE5A0B00AA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1217" y="5788243"/>
                <a:ext cx="48858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8D88A55-F7B8-46B5-BA96-546306EE42AF}"/>
                  </a:ext>
                </a:extLst>
              </p:cNvPr>
              <p:cNvSpPr txBox="1"/>
              <p:nvPr/>
            </p:nvSpPr>
            <p:spPr>
              <a:xfrm>
                <a:off x="3344069" y="5788243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8D88A55-F7B8-46B5-BA96-546306EE42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4069" y="5788243"/>
                <a:ext cx="3670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62422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0" grpId="0"/>
      <p:bldP spid="32" grpId="0"/>
      <p:bldP spid="33" grpId="0"/>
      <p:bldP spid="34" grpId="0"/>
      <p:bldP spid="35" grpId="0"/>
      <p:bldP spid="17" grpId="0"/>
      <p:bldP spid="18" grpId="0"/>
      <p:bldP spid="20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/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blipFill>
                <a:blip r:embed="rId2"/>
                <a:stretch>
                  <a:fillRect l="-1630" t="-8974" r="-13043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/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5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5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blipFill>
                <a:blip r:embed="rId3"/>
                <a:stretch>
                  <a:fillRect l="-27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/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blipFill>
                <a:blip r:embed="rId4"/>
                <a:stretch>
                  <a:fillRect l="-1523" t="-10256" r="-6091" b="-294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/>
              <p:nvPr/>
            </p:nvSpPr>
            <p:spPr>
              <a:xfrm>
                <a:off x="1594215" y="787431"/>
                <a:ext cx="594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787431"/>
                <a:ext cx="5941117" cy="523220"/>
              </a:xfrm>
              <a:prstGeom prst="rect">
                <a:avLst/>
              </a:prstGeom>
              <a:blipFill>
                <a:blip r:embed="rId5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/>
              <p:nvPr/>
            </p:nvSpPr>
            <p:spPr>
              <a:xfrm>
                <a:off x="1594216" y="1330129"/>
                <a:ext cx="62289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1330129"/>
                <a:ext cx="6228984" cy="523220"/>
              </a:xfrm>
              <a:prstGeom prst="rect">
                <a:avLst/>
              </a:prstGeom>
              <a:blipFill>
                <a:blip r:embed="rId6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8081A86A-AA1C-443E-BDBE-8730D60CB7AD}"/>
              </a:ext>
            </a:extLst>
          </p:cNvPr>
          <p:cNvSpPr txBox="1"/>
          <p:nvPr/>
        </p:nvSpPr>
        <p:spPr>
          <a:xfrm>
            <a:off x="1594216" y="1853349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b="1" dirty="0">
                <a:solidFill>
                  <a:srgbClr val="002060"/>
                </a:solidFill>
              </a:rPr>
              <a:t>(1)  The balls are replaced before the second draw.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2AD19C9-13B5-43D6-BEED-AFE473F91551}"/>
              </a:ext>
            </a:extLst>
          </p:cNvPr>
          <p:cNvSpPr txBox="1"/>
          <p:nvPr/>
        </p:nvSpPr>
        <p:spPr>
          <a:xfrm>
            <a:off x="1595002" y="7045126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4D0FB6-8000-4DF3-84FA-1E008D6278EF}"/>
              </a:ext>
            </a:extLst>
          </p:cNvPr>
          <p:cNvSpPr txBox="1"/>
          <p:nvPr/>
        </p:nvSpPr>
        <p:spPr>
          <a:xfrm>
            <a:off x="1594215" y="2396047"/>
            <a:ext cx="49251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Since the balls are replaced,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0DCAC13-B951-46C9-B911-57CCDB7EEF32}"/>
              </a:ext>
            </a:extLst>
          </p:cNvPr>
          <p:cNvSpPr txBox="1"/>
          <p:nvPr/>
        </p:nvSpPr>
        <p:spPr>
          <a:xfrm>
            <a:off x="5585873" y="2396047"/>
            <a:ext cx="49251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sample space remains same.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FCF220D-929F-4FAF-B4AA-C8690214D523}"/>
                  </a:ext>
                </a:extLst>
              </p:cNvPr>
              <p:cNvSpPr txBox="1"/>
              <p:nvPr/>
            </p:nvSpPr>
            <p:spPr>
              <a:xfrm>
                <a:off x="1594215" y="2919267"/>
                <a:ext cx="10382250" cy="10857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lnSpc>
                    <a:spcPct val="120000"/>
                  </a:lnSpc>
                </a:pPr>
                <a:r>
                  <a:rPr lang="en-GB" sz="2800" dirty="0">
                    <a:solidFill>
                      <a:srgbClr val="002060"/>
                    </a:solidFill>
                  </a:rPr>
                  <a:t>As sample space is not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affected by first draw</a:t>
                </a:r>
                <a:r>
                  <a:rPr lang="en-GB" sz="2800" dirty="0">
                    <a:solidFill>
                      <a:srgbClr val="002060"/>
                    </a:solidFill>
                  </a:rPr>
                  <a:t>. Selection of white ball does not affect black ball. 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So,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are independent events.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FCF220D-929F-4FAF-B4AA-C8690214D5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19267"/>
                <a:ext cx="10382250" cy="1085746"/>
              </a:xfrm>
              <a:prstGeom prst="rect">
                <a:avLst/>
              </a:prstGeom>
              <a:blipFill>
                <a:blip r:embed="rId7"/>
                <a:stretch>
                  <a:fillRect l="-1233" t="-1685" r="-1174" b="-151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58D58C9-0AEE-49E3-87A8-2739169BB059}"/>
                  </a:ext>
                </a:extLst>
              </p:cNvPr>
              <p:cNvSpPr txBox="1"/>
              <p:nvPr/>
            </p:nvSpPr>
            <p:spPr>
              <a:xfrm>
                <a:off x="9522971" y="4173210"/>
                <a:ext cx="189468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58D58C9-0AEE-49E3-87A8-2739169BB0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2971" y="4173210"/>
                <a:ext cx="189468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15E71A7-55AB-4B31-A104-6547673ED5C2}"/>
                  </a:ext>
                </a:extLst>
              </p:cNvPr>
              <p:cNvSpPr txBox="1"/>
              <p:nvPr/>
            </p:nvSpPr>
            <p:spPr>
              <a:xfrm>
                <a:off x="1766278" y="4277210"/>
                <a:ext cx="95243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15E71A7-55AB-4B31-A104-6547673ED5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6278" y="4277210"/>
                <a:ext cx="952430" cy="523220"/>
              </a:xfrm>
              <a:prstGeom prst="rect">
                <a:avLst/>
              </a:prstGeom>
              <a:blipFill rotWithShape="0"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13B3A90-FCFB-41B5-B05A-E2C2A6E515A9}"/>
                  </a:ext>
                </a:extLst>
              </p:cNvPr>
              <p:cNvSpPr txBox="1"/>
              <p:nvPr/>
            </p:nvSpPr>
            <p:spPr>
              <a:xfrm>
                <a:off x="2582242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313B3A90-FCFB-41B5-B05A-E2C2A6E51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2242" y="4277210"/>
                <a:ext cx="48858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A9BD55-A3CF-4ED4-A9E0-D99A26E1AE12}"/>
                  </a:ext>
                </a:extLst>
              </p:cNvPr>
              <p:cNvSpPr txBox="1"/>
              <p:nvPr/>
            </p:nvSpPr>
            <p:spPr>
              <a:xfrm>
                <a:off x="2927195" y="4277210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8A9BD55-A3CF-4ED4-A9E0-D99A26E1AE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7195" y="4277210"/>
                <a:ext cx="1119606" cy="673902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7DFD5B2-2FB4-4908-AB08-9007397AE84B}"/>
                  </a:ext>
                </a:extLst>
              </p:cNvPr>
              <p:cNvSpPr txBox="1"/>
              <p:nvPr/>
            </p:nvSpPr>
            <p:spPr>
              <a:xfrm>
                <a:off x="3124690" y="4015600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7DFD5B2-2FB4-4908-AB08-9007397AE8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690" y="4015600"/>
                <a:ext cx="776114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3686A28-A9CE-42B3-9F01-34F36C6BBFC7}"/>
                  </a:ext>
                </a:extLst>
              </p:cNvPr>
              <p:cNvSpPr txBox="1"/>
              <p:nvPr/>
            </p:nvSpPr>
            <p:spPr>
              <a:xfrm>
                <a:off x="3085885" y="4569132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3686A28-A9CE-42B3-9F01-34F36C6BBF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5885" y="4569132"/>
                <a:ext cx="853725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F1047C8-9C84-460A-90EC-29E1E93F655B}"/>
                  </a:ext>
                </a:extLst>
              </p:cNvPr>
              <p:cNvSpPr txBox="1"/>
              <p:nvPr/>
            </p:nvSpPr>
            <p:spPr>
              <a:xfrm>
                <a:off x="3943728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7F1047C8-9C84-460A-90EC-29E1E93F65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728" y="4277210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E2B0D4C-E77F-497A-993B-61501D3670B7}"/>
                  </a:ext>
                </a:extLst>
              </p:cNvPr>
              <p:cNvSpPr txBox="1"/>
              <p:nvPr/>
            </p:nvSpPr>
            <p:spPr>
              <a:xfrm>
                <a:off x="4288681" y="4070646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1365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E2B0D4C-E77F-497A-993B-61501D3670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681" y="4070646"/>
                <a:ext cx="1119606" cy="907749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36F835BA-D730-4F26-A2F6-565CCA45F5D0}"/>
                  </a:ext>
                </a:extLst>
              </p:cNvPr>
              <p:cNvSpPr txBox="1"/>
              <p:nvPr/>
            </p:nvSpPr>
            <p:spPr>
              <a:xfrm>
                <a:off x="5340729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!!A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36F835BA-D730-4F26-A2F6-565CCA45F5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0729" y="4277210"/>
                <a:ext cx="488584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CB232F2-EA42-4159-AF3E-00E64C43C696}"/>
                  </a:ext>
                </a:extLst>
              </p:cNvPr>
              <p:cNvSpPr txBox="1"/>
              <p:nvPr/>
            </p:nvSpPr>
            <p:spPr>
              <a:xfrm>
                <a:off x="5708650" y="4070646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91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CB232F2-EA42-4159-AF3E-00E64C43C6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8650" y="4070646"/>
                <a:ext cx="764706" cy="907749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AF899D7-6E58-4CCD-897B-01E84B7CFFAF}"/>
                  </a:ext>
                </a:extLst>
              </p:cNvPr>
              <p:cNvSpPr txBox="1"/>
              <p:nvPr/>
            </p:nvSpPr>
            <p:spPr>
              <a:xfrm>
                <a:off x="1766278" y="5612111"/>
                <a:ext cx="95243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AF899D7-6E58-4CCD-897B-01E84B7CF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6278" y="5612111"/>
                <a:ext cx="952430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634FDBD3-D9CD-439D-B6E6-E1862129A4BC}"/>
                  </a:ext>
                </a:extLst>
              </p:cNvPr>
              <p:cNvSpPr txBox="1"/>
              <p:nvPr/>
            </p:nvSpPr>
            <p:spPr>
              <a:xfrm>
                <a:off x="2582242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34FDBD3-D9CD-439D-B6E6-E1862129A4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2242" y="5612111"/>
                <a:ext cx="48858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FE31CEE-D831-418D-ADBD-3F6A2EF6EFE8}"/>
                  </a:ext>
                </a:extLst>
              </p:cNvPr>
              <p:cNvSpPr txBox="1"/>
              <p:nvPr/>
            </p:nvSpPr>
            <p:spPr>
              <a:xfrm>
                <a:off x="2927195" y="5612111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FE31CEE-D831-418D-ADBD-3F6A2EF6EF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7195" y="5612111"/>
                <a:ext cx="1119606" cy="673902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BE29CD5-7683-4736-A1A4-2349393D3F4C}"/>
                  </a:ext>
                </a:extLst>
              </p:cNvPr>
              <p:cNvSpPr txBox="1"/>
              <p:nvPr/>
            </p:nvSpPr>
            <p:spPr>
              <a:xfrm>
                <a:off x="3124690" y="5350501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BE29CD5-7683-4736-A1A4-2349393D3F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690" y="5350501"/>
                <a:ext cx="776114" cy="523220"/>
              </a:xfrm>
              <a:prstGeom prst="rect">
                <a:avLst/>
              </a:prstGeom>
              <a:blipFill rotWithShape="0"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CADE91-A8F9-4E48-AA83-2295FAC25998}"/>
                  </a:ext>
                </a:extLst>
              </p:cNvPr>
              <p:cNvSpPr txBox="1"/>
              <p:nvPr/>
            </p:nvSpPr>
            <p:spPr>
              <a:xfrm>
                <a:off x="3085885" y="5904033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3CADE91-A8F9-4E48-AA83-2295FAC259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5885" y="5904033"/>
                <a:ext cx="853725" cy="523220"/>
              </a:xfrm>
              <a:prstGeom prst="rect">
                <a:avLst/>
              </a:prstGeom>
              <a:blipFill rotWithShape="0"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FE91E5A-1C2B-4AFE-9F9C-3904B251799F}"/>
                  </a:ext>
                </a:extLst>
              </p:cNvPr>
              <p:cNvSpPr txBox="1"/>
              <p:nvPr/>
            </p:nvSpPr>
            <p:spPr>
              <a:xfrm>
                <a:off x="3943728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FE91E5A-1C2B-4AFE-9F9C-3904B25179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728" y="5612111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BD93C6-E206-4AF1-BA95-2AB4A6360A72}"/>
                  </a:ext>
                </a:extLst>
              </p:cNvPr>
              <p:cNvSpPr txBox="1"/>
              <p:nvPr/>
            </p:nvSpPr>
            <p:spPr>
              <a:xfrm>
                <a:off x="4288681" y="5405547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126 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1365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3BD93C6-E206-4AF1-BA95-2AB4A6360A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681" y="5405547"/>
                <a:ext cx="1119606" cy="907749"/>
              </a:xfrm>
              <a:prstGeom prst="rect">
                <a:avLst/>
              </a:prstGeom>
              <a:blipFill rotWithShape="0"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6AF8A85B-BE8A-4742-8A7A-8599B38EE767}"/>
                  </a:ext>
                </a:extLst>
              </p:cNvPr>
              <p:cNvSpPr txBox="1"/>
              <p:nvPr/>
            </p:nvSpPr>
            <p:spPr>
              <a:xfrm>
                <a:off x="5340729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AF8A85B-BE8A-4742-8A7A-8599B38EE7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0729" y="5612111"/>
                <a:ext cx="488584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A1B6327-E05C-4847-807F-DEBF794E00D6}"/>
                  </a:ext>
                </a:extLst>
              </p:cNvPr>
              <p:cNvSpPr txBox="1"/>
              <p:nvPr/>
            </p:nvSpPr>
            <p:spPr>
              <a:xfrm>
                <a:off x="5708650" y="5405547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65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AA1B6327-E05C-4847-807F-DEBF794E00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8650" y="5405547"/>
                <a:ext cx="764706" cy="907749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292D294-5EF5-4208-B368-A1F22CBDF411}"/>
                  </a:ext>
                </a:extLst>
              </p:cNvPr>
              <p:cNvSpPr txBox="1"/>
              <p:nvPr/>
            </p:nvSpPr>
            <p:spPr>
              <a:xfrm>
                <a:off x="9189169" y="5059448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292D294-5EF5-4208-B368-A1F22CBDF4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9169" y="5059448"/>
                <a:ext cx="488584" cy="523220"/>
              </a:xfrm>
              <a:prstGeom prst="rect">
                <a:avLst/>
              </a:prstGeom>
              <a:blipFill rotWithShape="0"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5D23B52-72F9-4A6E-8C5D-11DE14F31FBA}"/>
                  </a:ext>
                </a:extLst>
              </p:cNvPr>
              <p:cNvSpPr txBox="1"/>
              <p:nvPr/>
            </p:nvSpPr>
            <p:spPr>
              <a:xfrm>
                <a:off x="9522971" y="4870365"/>
                <a:ext cx="1157729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5915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5D23B52-72F9-4A6E-8C5D-11DE14F31F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2971" y="4870365"/>
                <a:ext cx="1157729" cy="901785"/>
              </a:xfrm>
              <a:prstGeom prst="rect">
                <a:avLst/>
              </a:prstGeom>
              <a:blipFill rotWithShape="0"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>
            <a:off x="7239000" y="4229100"/>
            <a:ext cx="0" cy="20002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3DE53EF-AE35-485F-A855-D74A95F25A1E}"/>
                  </a:ext>
                </a:extLst>
              </p:cNvPr>
              <p:cNvSpPr txBox="1"/>
              <p:nvPr/>
            </p:nvSpPr>
            <p:spPr>
              <a:xfrm>
                <a:off x="7789616" y="4173210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3DE53EF-AE35-485F-A855-D74A95F25A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616" y="4173210"/>
                <a:ext cx="1612567" cy="523220"/>
              </a:xfrm>
              <a:prstGeom prst="rect">
                <a:avLst/>
              </a:prstGeom>
              <a:blipFill rotWithShape="0"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2527F2FC-BECD-415E-B982-B5F1AC5C836F}"/>
                  </a:ext>
                </a:extLst>
              </p:cNvPr>
              <p:cNvSpPr txBox="1"/>
              <p:nvPr/>
            </p:nvSpPr>
            <p:spPr>
              <a:xfrm>
                <a:off x="9186617" y="4173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!!B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2527F2FC-BECD-415E-B982-B5F1AC5C8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6617" y="4173210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3AC87CE-C216-43CD-9D23-4028F2E7C748}"/>
                  </a:ext>
                </a:extLst>
              </p:cNvPr>
              <p:cNvSpPr txBox="1"/>
              <p:nvPr/>
            </p:nvSpPr>
            <p:spPr>
              <a:xfrm>
                <a:off x="9539469" y="4173210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3AC87CE-C216-43CD-9D23-4028F2E7C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9469" y="4173210"/>
                <a:ext cx="367080" cy="523220"/>
              </a:xfrm>
              <a:prstGeom prst="rect">
                <a:avLst/>
              </a:prstGeom>
              <a:blipFill rotWithShape="0"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88D15564-7C37-4F44-821F-3239B9409678}"/>
                  </a:ext>
                </a:extLst>
              </p:cNvPr>
              <p:cNvSpPr txBox="1"/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>
                  <a:defRPr sz="2500" b="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14:m>
                  <m:oMath xmlns:m="http://schemas.openxmlformats.org/officeDocument/2006/math">
                    <m:r>
                      <a:rPr lang="en-IN" i="0" dirty="0" smtClean="0">
                        <a:latin typeface="Cambria Math" panose="02040503050406030204" pitchFamily="18" charset="0"/>
                      </a:rPr>
                      <m:t>=15</m:t>
                    </m:r>
                  </m:oMath>
                </a14:m>
                <a:r>
                  <a:rPr lang="en-IN" i="0" dirty="0"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88D15564-7C37-4F44-821F-3239B9409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blipFill>
                <a:blip r:embed="rId32"/>
                <a:stretch>
                  <a:fillRect t="-8861" b="-291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998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6" grpId="0"/>
      <p:bldP spid="37" grpId="0"/>
      <p:bldP spid="39" grpId="0"/>
      <p:bldP spid="40" grpId="0"/>
      <p:bldP spid="42" grpId="0"/>
      <p:bldP spid="43" grpId="0"/>
      <p:bldP spid="45" grpId="0"/>
      <p:bldP spid="46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3" grpId="0"/>
      <p:bldP spid="67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B33B4D-4620-2330-9A63-4D04D8BFB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6A7F00-99E5-B4E5-D0EE-984D292D79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7A5EC4-A7BD-1AD6-661E-BDC3945E9E11}"/>
                  </a:ext>
                </a:extLst>
              </p:cNvPr>
              <p:cNvSpPr txBox="1"/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7A5EC4-A7BD-1AD6-661E-BDC3945E9E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blipFill>
                <a:blip r:embed="rId2"/>
                <a:stretch>
                  <a:fillRect l="-1630" t="-8974" r="-13043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AD5A5BD2-722D-876C-AD62-451E1E4402C1}"/>
                  </a:ext>
                </a:extLst>
              </p:cNvPr>
              <p:cNvSpPr txBox="1"/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5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5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AD5A5BD2-722D-876C-AD62-451E1E4402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blipFill>
                <a:blip r:embed="rId3"/>
                <a:stretch>
                  <a:fillRect l="-27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25382BA-9CDF-E74A-21EF-DC42B33C213A}"/>
                  </a:ext>
                </a:extLst>
              </p:cNvPr>
              <p:cNvSpPr txBox="1"/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25382BA-9CDF-E74A-21EF-DC42B33C21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blipFill>
                <a:blip r:embed="rId4"/>
                <a:stretch>
                  <a:fillRect l="-1523" t="-8974" r="-4569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482A3F3-C8F9-B938-0383-25B359D6C304}"/>
                  </a:ext>
                </a:extLst>
              </p:cNvPr>
              <p:cNvSpPr txBox="1"/>
              <p:nvPr/>
            </p:nvSpPr>
            <p:spPr>
              <a:xfrm>
                <a:off x="1594215" y="756258"/>
                <a:ext cx="594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482A3F3-C8F9-B938-0383-25B359D6C3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756258"/>
                <a:ext cx="5941117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481BEF5-5048-BA9F-1624-B0F2F4EEF484}"/>
                  </a:ext>
                </a:extLst>
              </p:cNvPr>
              <p:cNvSpPr txBox="1"/>
              <p:nvPr/>
            </p:nvSpPr>
            <p:spPr>
              <a:xfrm>
                <a:off x="1594216" y="1298956"/>
                <a:ext cx="62289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481BEF5-5048-BA9F-1624-B0F2F4EEF4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1298956"/>
                <a:ext cx="6228984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A0169DC0-73B9-B369-B1C8-BD8E3A87ECB5}"/>
              </a:ext>
            </a:extLst>
          </p:cNvPr>
          <p:cNvSpPr txBox="1"/>
          <p:nvPr/>
        </p:nvSpPr>
        <p:spPr>
          <a:xfrm>
            <a:off x="1594216" y="1801394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b="1" dirty="0">
                <a:solidFill>
                  <a:srgbClr val="002060"/>
                </a:solidFill>
              </a:rPr>
              <a:t>(2) The balls are not replaced before the second draw.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890D58F-A44A-1A49-1F2D-1801AA444D85}"/>
              </a:ext>
            </a:extLst>
          </p:cNvPr>
          <p:cNvSpPr txBox="1"/>
          <p:nvPr/>
        </p:nvSpPr>
        <p:spPr>
          <a:xfrm>
            <a:off x="1595002" y="7045126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C1A5A0-C766-5DCD-C55C-2728208AE509}"/>
              </a:ext>
            </a:extLst>
          </p:cNvPr>
          <p:cNvSpPr txBox="1"/>
          <p:nvPr/>
        </p:nvSpPr>
        <p:spPr>
          <a:xfrm>
            <a:off x="1594215" y="2344092"/>
            <a:ext cx="49251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Since the balls are not replaced,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35A24D-C00F-B7C8-0344-8AC59B45B931}"/>
              </a:ext>
            </a:extLst>
          </p:cNvPr>
          <p:cNvSpPr txBox="1"/>
          <p:nvPr/>
        </p:nvSpPr>
        <p:spPr>
          <a:xfrm>
            <a:off x="6091003" y="2324036"/>
            <a:ext cx="55779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sample space is affected by first draw.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EC049D8-1EF5-6968-02BA-C4DA26D12DCD}"/>
                  </a:ext>
                </a:extLst>
              </p:cNvPr>
              <p:cNvSpPr txBox="1"/>
              <p:nvPr/>
            </p:nvSpPr>
            <p:spPr>
              <a:xfrm>
                <a:off x="1594215" y="2908909"/>
                <a:ext cx="1085409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Total balls in bag after first draw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</a:t>
                </a:r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(removing </a:t>
                </a:r>
                <a14:m>
                  <m:oMath xmlns:m="http://schemas.openxmlformats.org/officeDocument/2006/math">
                    <m:r>
                      <a:rPr lang="en-IN" sz="2400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 white balls from </a:t>
                </a:r>
                <a14:m>
                  <m:oMath xmlns:m="http://schemas.openxmlformats.org/officeDocument/2006/math">
                    <m:r>
                      <a:rPr lang="en-IN" sz="2400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)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EC049D8-1EF5-6968-02BA-C4DA26D12D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08909"/>
                <a:ext cx="10854094" cy="523220"/>
              </a:xfrm>
              <a:prstGeom prst="rect">
                <a:avLst/>
              </a:prstGeom>
              <a:blipFill>
                <a:blip r:embed="rId7"/>
                <a:stretch>
                  <a:fillRect l="-118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8959442-BC8B-C0DF-6D2E-23FB46B0B568}"/>
                  </a:ext>
                </a:extLst>
              </p:cNvPr>
              <p:cNvSpPr txBox="1"/>
              <p:nvPr/>
            </p:nvSpPr>
            <p:spPr>
              <a:xfrm>
                <a:off x="9472171" y="4130058"/>
                <a:ext cx="259167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8959442-BC8B-C0DF-6D2E-23FB46B0B5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2171" y="4130058"/>
                <a:ext cx="259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887BEE-3744-53FD-5A72-7F1239B656D9}"/>
                  </a:ext>
                </a:extLst>
              </p:cNvPr>
              <p:cNvSpPr txBox="1"/>
              <p:nvPr/>
            </p:nvSpPr>
            <p:spPr>
              <a:xfrm>
                <a:off x="1641203" y="4442031"/>
                <a:ext cx="182718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887BEE-3744-53FD-5A72-7F1239B65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1203" y="4442031"/>
                <a:ext cx="182718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6C0B4C4-4056-F11A-3460-2BA05C23F3E2}"/>
                  </a:ext>
                </a:extLst>
              </p:cNvPr>
              <p:cNvSpPr txBox="1"/>
              <p:nvPr/>
            </p:nvSpPr>
            <p:spPr>
              <a:xfrm>
                <a:off x="3292358" y="4456331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6C0B4C4-4056-F11A-3460-2BA05C23F3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2358" y="4456331"/>
                <a:ext cx="1119606" cy="67390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B67981-945F-4316-D05D-5146287ED480}"/>
                  </a:ext>
                </a:extLst>
              </p:cNvPr>
              <p:cNvSpPr txBox="1"/>
              <p:nvPr/>
            </p:nvSpPr>
            <p:spPr>
              <a:xfrm>
                <a:off x="3489853" y="4194721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B67981-945F-4316-D05D-5146287ED4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9853" y="4194721"/>
                <a:ext cx="77611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8BCEDBE-2D5E-B965-E555-03F7D6511E2A}"/>
                  </a:ext>
                </a:extLst>
              </p:cNvPr>
              <p:cNvSpPr txBox="1"/>
              <p:nvPr/>
            </p:nvSpPr>
            <p:spPr>
              <a:xfrm>
                <a:off x="3451048" y="4748253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8BCEDBE-2D5E-B965-E555-03F7D6511E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1048" y="4748253"/>
                <a:ext cx="8537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77DADE4-9824-0799-AB7E-79355A2DF02E}"/>
                  </a:ext>
                </a:extLst>
              </p:cNvPr>
              <p:cNvSpPr txBox="1"/>
              <p:nvPr/>
            </p:nvSpPr>
            <p:spPr>
              <a:xfrm>
                <a:off x="4308891" y="445633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77DADE4-9824-0799-AB7E-79355A2DF0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8891" y="4456331"/>
                <a:ext cx="48858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2DB18CF-A5B7-B8C9-98C7-CA8A8180E65A}"/>
                  </a:ext>
                </a:extLst>
              </p:cNvPr>
              <p:cNvSpPr txBox="1"/>
              <p:nvPr/>
            </p:nvSpPr>
            <p:spPr>
              <a:xfrm>
                <a:off x="4653844" y="4249767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126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2DB18CF-A5B7-B8C9-98C7-CA8A8180E6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3844" y="4249767"/>
                <a:ext cx="1119606" cy="90774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BFA3D166-C049-B070-7151-7BCB8900A3C8}"/>
                  </a:ext>
                </a:extLst>
              </p:cNvPr>
              <p:cNvSpPr txBox="1"/>
              <p:nvPr/>
            </p:nvSpPr>
            <p:spPr>
              <a:xfrm>
                <a:off x="5705892" y="445633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BFA3D166-C049-B070-7151-7BCB8900A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5892" y="4456331"/>
                <a:ext cx="48858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67DB895-089C-ECA1-9A1C-B62AC817FE94}"/>
                  </a:ext>
                </a:extLst>
              </p:cNvPr>
              <p:cNvSpPr txBox="1"/>
              <p:nvPr/>
            </p:nvSpPr>
            <p:spPr>
              <a:xfrm>
                <a:off x="6073813" y="4249767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67DB895-089C-ECA1-9A1C-B62AC817FE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3813" y="4249767"/>
                <a:ext cx="764706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5763D18-5295-8B5B-EFA1-180178E1F8A4}"/>
                  </a:ext>
                </a:extLst>
              </p:cNvPr>
              <p:cNvSpPr txBox="1"/>
              <p:nvPr/>
            </p:nvSpPr>
            <p:spPr>
              <a:xfrm>
                <a:off x="9189169" y="5007493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5763D18-5295-8B5B-EFA1-180178E1F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9169" y="5007493"/>
                <a:ext cx="48858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9F4EF7-A1C5-46A7-71AF-774AAFC19B0E}"/>
                  </a:ext>
                </a:extLst>
              </p:cNvPr>
              <p:cNvSpPr txBox="1"/>
              <p:nvPr/>
            </p:nvSpPr>
            <p:spPr>
              <a:xfrm>
                <a:off x="9522971" y="4818410"/>
                <a:ext cx="221875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91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9F4EF7-A1C5-46A7-71AF-774AAFC19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2971" y="4818410"/>
                <a:ext cx="2218756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DF44F95B-D9A0-5A47-4B26-1971E9AFECDF}"/>
              </a:ext>
            </a:extLst>
          </p:cNvPr>
          <p:cNvCxnSpPr>
            <a:cxnSpLocks/>
          </p:cNvCxnSpPr>
          <p:nvPr/>
        </p:nvCxnSpPr>
        <p:spPr>
          <a:xfrm>
            <a:off x="7239000" y="4177145"/>
            <a:ext cx="0" cy="20002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E255535-1242-DF6F-E787-D150A1E5DB0E}"/>
                  </a:ext>
                </a:extLst>
              </p:cNvPr>
              <p:cNvSpPr txBox="1"/>
              <p:nvPr/>
            </p:nvSpPr>
            <p:spPr>
              <a:xfrm>
                <a:off x="7789616" y="4121255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E255535-1242-DF6F-E787-D150A1E5D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616" y="4121255"/>
                <a:ext cx="161256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EE660CD7-DA28-51D6-A9D9-517A94FC7465}"/>
                  </a:ext>
                </a:extLst>
              </p:cNvPr>
              <p:cNvSpPr txBox="1"/>
              <p:nvPr/>
            </p:nvSpPr>
            <p:spPr>
              <a:xfrm>
                <a:off x="9186617" y="4121255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EE660CD7-DA28-51D6-A9D9-517A94FC74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6617" y="4121255"/>
                <a:ext cx="48858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65D1C54-842E-F345-6F99-738028AACAC4}"/>
                  </a:ext>
                </a:extLst>
              </p:cNvPr>
              <p:cNvSpPr txBox="1"/>
              <p:nvPr/>
            </p:nvSpPr>
            <p:spPr>
              <a:xfrm>
                <a:off x="9539469" y="4121255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65D1C54-842E-F345-6F99-738028AACA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9469" y="4121255"/>
                <a:ext cx="36708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41F0BF3-9793-2B26-644C-DD86D5667381}"/>
                  </a:ext>
                </a:extLst>
              </p:cNvPr>
              <p:cNvSpPr txBox="1"/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>
                  <a:defRPr sz="2500" b="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14:m>
                  <m:oMath xmlns:m="http://schemas.openxmlformats.org/officeDocument/2006/math">
                    <m:r>
                      <a:rPr lang="en-IN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0" dirty="0" smtClean="0"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i="0" dirty="0"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41F0BF3-9793-2B26-644C-DD86D5667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blipFill>
                <a:blip r:embed="rId21"/>
                <a:stretch>
                  <a:fillRect t="-8861" b="-291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A398D96-25E8-02F0-9596-8B3257217C02}"/>
                  </a:ext>
                </a:extLst>
              </p:cNvPr>
              <p:cNvSpPr txBox="1"/>
              <p:nvPr/>
            </p:nvSpPr>
            <p:spPr>
              <a:xfrm>
                <a:off x="1594214" y="3479455"/>
                <a:ext cx="1032415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The probability of drawing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black balls from these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 is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A398D96-25E8-02F0-9596-8B3257217C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479455"/>
                <a:ext cx="10324153" cy="523220"/>
              </a:xfrm>
              <a:prstGeom prst="rect">
                <a:avLst/>
              </a:prstGeom>
              <a:blipFill>
                <a:blip r:embed="rId22"/>
                <a:stretch>
                  <a:fillRect l="-12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EFFC149-DA2E-0D97-9AF5-844A8BD4D5DE}"/>
                  </a:ext>
                </a:extLst>
              </p:cNvPr>
              <p:cNvSpPr txBox="1"/>
              <p:nvPr/>
            </p:nvSpPr>
            <p:spPr>
              <a:xfrm>
                <a:off x="9205444" y="5719796"/>
                <a:ext cx="221875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715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EFFC149-DA2E-0D97-9AF5-844A8BD4D5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5444" y="5719796"/>
                <a:ext cx="2218756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1886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6" grpId="0"/>
      <p:bldP spid="37" grpId="0"/>
      <p:bldP spid="40" grpId="0"/>
      <p:bldP spid="42" grpId="0"/>
      <p:bldP spid="43" grpId="0"/>
      <p:bldP spid="45" grpId="0"/>
      <p:bldP spid="46" grpId="0"/>
      <p:bldP spid="48" grpId="0"/>
      <p:bldP spid="49" grpId="0"/>
      <p:bldP spid="59" grpId="0"/>
      <p:bldP spid="63" grpId="0"/>
      <p:bldP spid="67" grpId="0"/>
      <p:bldP spid="3" grpId="0"/>
      <p:bldP spid="4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4</a:t>
            </a:r>
            <a:br>
              <a:rPr lang="en-IN" dirty="0"/>
            </a:br>
            <a:r>
              <a:rPr lang="en-IN" dirty="0"/>
              <a:t>Bayes’ Theorem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39463943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6BA12F2-0096-873F-DA43-842D05EBB8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Need for the Law of Total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B7D24DD-5723-9569-2830-A788767DC0B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971702"/>
              </a:xfrm>
            </p:spPr>
            <p:txBody>
              <a:bodyPr/>
              <a:lstStyle/>
              <a:p>
                <a:r>
                  <a:rPr lang="en-US" dirty="0"/>
                  <a:t>Imagine an IT company is hiring Software Engineers.</a:t>
                </a:r>
              </a:p>
              <a:p>
                <a:r>
                  <a:rPr lang="en-US" dirty="0"/>
                  <a:t>The company accepts applications through only two recruitment channels:</a:t>
                </a:r>
              </a:p>
              <a:p>
                <a:pPr lvl="1"/>
                <a:r>
                  <a:rPr lang="en-US" dirty="0"/>
                  <a:t>Campus Placement</a:t>
                </a:r>
              </a:p>
              <a:p>
                <a:pPr lvl="1"/>
                <a:r>
                  <a:rPr lang="en-US" dirty="0"/>
                  <a:t>Off-Campus Recruitment</a:t>
                </a:r>
              </a:p>
              <a:p>
                <a:r>
                  <a:rPr lang="en-US" dirty="0"/>
                  <a:t>Each applicant applies through exactly one of these channels.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60%</m:t>
                    </m:r>
                  </m:oMath>
                </a14:m>
                <a:r>
                  <a:rPr lang="en-US" dirty="0"/>
                  <a:t> of applicants apply through Campus Placement.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40%</m:t>
                    </m:r>
                  </m:oMath>
                </a14:m>
                <a:r>
                  <a:rPr lang="en-US" dirty="0"/>
                  <a:t> of applicants apply through Off-Campus Recruitment.</a:t>
                </a:r>
              </a:p>
              <a:p>
                <a:pPr lvl="1"/>
                <a:r>
                  <a:rPr lang="en-US" dirty="0"/>
                  <a:t>Now,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80%</m:t>
                    </m:r>
                  </m:oMath>
                </a14:m>
                <a:r>
                  <a:rPr lang="en-US" dirty="0"/>
                  <a:t> of Campus applicants are hired.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0%</m:t>
                    </m:r>
                  </m:oMath>
                </a14:m>
                <a:r>
                  <a:rPr lang="en-US" dirty="0"/>
                  <a:t> of Off-Campus applicants are hired.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B7D24DD-5723-9569-2830-A788767DC0B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971702"/>
              </a:xfrm>
              <a:blipFill>
                <a:blip r:embed="rId2"/>
                <a:stretch>
                  <a:fillRect l="-971" b="-112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31533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4C567-AEA1-ED83-474E-17351DA504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08F5923-9B2D-F95B-6801-1C457498F6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Problem Formulation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8042D77-824D-5902-8B3C-9DC2C18AFC4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1" y="800100"/>
                <a:ext cx="6055610" cy="4851670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60%</m:t>
                    </m:r>
                  </m:oMath>
                </a14:m>
                <a:r>
                  <a:rPr lang="en-US" dirty="0"/>
                  <a:t> of applicants apply through Campus Placement.</a:t>
                </a:r>
              </a:p>
              <a:p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40%</m:t>
                    </m:r>
                  </m:oMath>
                </a14:m>
                <a:r>
                  <a:rPr lang="en-US" dirty="0"/>
                  <a:t> of applicants apply through Off-Campus Recruitment.</a:t>
                </a:r>
              </a:p>
              <a:p>
                <a:r>
                  <a:rPr lang="en-US" dirty="0"/>
                  <a:t>Now, 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80%</m:t>
                    </m:r>
                  </m:oMath>
                </a14:m>
                <a:r>
                  <a:rPr lang="en-US" dirty="0"/>
                  <a:t> of Campus applicants are hired.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0%</m:t>
                    </m:r>
                  </m:oMath>
                </a14:m>
                <a:r>
                  <a:rPr lang="en-US" dirty="0"/>
                  <a:t> of Off-Campus applicants are hired.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8042D77-824D-5902-8B3C-9DC2C18AFC4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1" y="800100"/>
                <a:ext cx="6055610" cy="4851670"/>
              </a:xfrm>
              <a:blipFill>
                <a:blip r:embed="rId2"/>
                <a:stretch>
                  <a:fillRect l="-1913" r="-2014" b="-288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D4021D43-25A8-59FE-5040-A627EA12882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491592" y="800100"/>
                <a:ext cx="5700408" cy="5174673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Applicant applied through</a:t>
                </a:r>
                <a:r>
                  <a:rPr lang="en-IN" i="0" dirty="0">
                    <a:latin typeface="+mj-lt"/>
                  </a:rPr>
                  <a:t> </a:t>
                </a:r>
                <a:r>
                  <a:rPr lang="en-US" i="0" dirty="0">
                    <a:latin typeface="+mj-lt"/>
                  </a:rPr>
                  <a:t>Campus Placement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 Applicant applied through Off-Campus Recruitment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Applicant is Hired</a:t>
                </a:r>
              </a:p>
              <a:p>
                <a:pPr lvl="1"/>
                <a:r>
                  <a:rPr lang="en-US" dirty="0"/>
                  <a:t>Given that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=0.6,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=0.4,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</m:t>
                    </m:r>
                  </m:oMath>
                </a14:m>
                <a:r>
                  <a:rPr lang="en-US" dirty="0"/>
                  <a:t>5</a:t>
                </a:r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D4021D43-25A8-59FE-5040-A627EA1288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91592" y="800100"/>
                <a:ext cx="5700408" cy="5174673"/>
              </a:xfrm>
              <a:prstGeom prst="rect">
                <a:avLst/>
              </a:prstGeom>
              <a:blipFill>
                <a:blip r:embed="rId3"/>
                <a:stretch>
                  <a:fillRect r="-21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CFBB04BD-B779-2118-F91D-B33408DA56A6}"/>
              </a:ext>
            </a:extLst>
          </p:cNvPr>
          <p:cNvSpPr txBox="1">
            <a:spLocks/>
          </p:cNvSpPr>
          <p:nvPr/>
        </p:nvSpPr>
        <p:spPr>
          <a:xfrm>
            <a:off x="1874935" y="5889876"/>
            <a:ext cx="8442129" cy="58896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b="1" i="1" dirty="0">
                <a:solidFill>
                  <a:schemeClr val="accent6">
                    <a:lumMod val="75000"/>
                  </a:schemeClr>
                </a:solidFill>
                <a:latin typeface="+mj-lt"/>
              </a:rPr>
              <a:t>What is the overall probability that an applicant is hired?</a:t>
            </a:r>
            <a:endParaRPr lang="en-US" b="1" i="1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9088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0E2CA6E3-8E36-000E-8889-9B40C4379D02}"/>
              </a:ext>
            </a:extLst>
          </p:cNvPr>
          <p:cNvCxnSpPr>
            <a:cxnSpLocks/>
            <a:stCxn id="20" idx="3"/>
            <a:endCxn id="8" idx="1"/>
          </p:cNvCxnSpPr>
          <p:nvPr/>
        </p:nvCxnSpPr>
        <p:spPr>
          <a:xfrm>
            <a:off x="3770031" y="2218565"/>
            <a:ext cx="1050098" cy="675024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9E4B243-8A4E-1CE2-B335-DADD99AD0B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Tree Diagram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0BB083EE-20CF-0180-0A8D-1481CAB99786}"/>
                  </a:ext>
                </a:extLst>
              </p:cNvPr>
              <p:cNvSpPr txBox="1"/>
              <p:nvPr/>
            </p:nvSpPr>
            <p:spPr>
              <a:xfrm>
                <a:off x="4628110" y="3119093"/>
                <a:ext cx="495649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𝐎</m:t>
                      </m:r>
                    </m:oMath>
                  </m:oMathPara>
                </a14:m>
                <a:endParaRPr lang="en-IN" sz="2600" b="1" dirty="0">
                  <a:solidFill>
                    <a:srgbClr val="FE5722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0BB083EE-20CF-0180-0A8D-1481CAB997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8110" y="3119093"/>
                <a:ext cx="495649" cy="4924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C60279D-9BE8-1551-1E64-60ECB5B31D0A}"/>
              </a:ext>
            </a:extLst>
          </p:cNvPr>
          <p:cNvCxnSpPr>
            <a:cxnSpLocks/>
            <a:endCxn id="7" idx="3"/>
          </p:cNvCxnSpPr>
          <p:nvPr/>
        </p:nvCxnSpPr>
        <p:spPr>
          <a:xfrm flipV="1">
            <a:off x="3770031" y="1484516"/>
            <a:ext cx="1050098" cy="74972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" name="Oval 6">
            <a:extLst>
              <a:ext uri="{FF2B5EF4-FFF2-40B4-BE49-F238E27FC236}">
                <a16:creationId xmlns:a16="http://schemas.microsoft.com/office/drawing/2014/main" id="{BC9816C5-F9E3-E694-D347-412FB107007C}"/>
              </a:ext>
            </a:extLst>
          </p:cNvPr>
          <p:cNvSpPr>
            <a:spLocks noChangeAspect="1"/>
          </p:cNvSpPr>
          <p:nvPr/>
        </p:nvSpPr>
        <p:spPr>
          <a:xfrm>
            <a:off x="4793769" y="1330876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5DA1FA19-07B9-2A2D-AF25-FF7338D573FE}"/>
              </a:ext>
            </a:extLst>
          </p:cNvPr>
          <p:cNvSpPr>
            <a:spLocks noChangeAspect="1"/>
          </p:cNvSpPr>
          <p:nvPr/>
        </p:nvSpPr>
        <p:spPr>
          <a:xfrm>
            <a:off x="4793769" y="2867229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9D99B5D-E369-D296-B95F-B5F7201F144F}"/>
              </a:ext>
            </a:extLst>
          </p:cNvPr>
          <p:cNvCxnSpPr>
            <a:cxnSpLocks/>
            <a:stCxn id="7" idx="6"/>
            <a:endCxn id="11" idx="2"/>
          </p:cNvCxnSpPr>
          <p:nvPr/>
        </p:nvCxnSpPr>
        <p:spPr>
          <a:xfrm>
            <a:off x="4973769" y="1420876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426E237-4C49-B57E-325B-4D581139E1D6}"/>
              </a:ext>
            </a:extLst>
          </p:cNvPr>
          <p:cNvCxnSpPr>
            <a:cxnSpLocks/>
            <a:stCxn id="8" idx="6"/>
            <a:endCxn id="12" idx="2"/>
          </p:cNvCxnSpPr>
          <p:nvPr/>
        </p:nvCxnSpPr>
        <p:spPr>
          <a:xfrm>
            <a:off x="4973769" y="2957229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1" name="Oval 10">
            <a:extLst>
              <a:ext uri="{FF2B5EF4-FFF2-40B4-BE49-F238E27FC236}">
                <a16:creationId xmlns:a16="http://schemas.microsoft.com/office/drawing/2014/main" id="{3FFCA9C6-0A55-853B-B6FC-DB8E2C53154A}"/>
              </a:ext>
            </a:extLst>
          </p:cNvPr>
          <p:cNvSpPr>
            <a:spLocks noChangeAspect="1"/>
          </p:cNvSpPr>
          <p:nvPr/>
        </p:nvSpPr>
        <p:spPr>
          <a:xfrm>
            <a:off x="6222763" y="1330876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35E433C2-91DA-D5BC-25E0-82A14BD9B23B}"/>
              </a:ext>
            </a:extLst>
          </p:cNvPr>
          <p:cNvSpPr>
            <a:spLocks noChangeAspect="1"/>
          </p:cNvSpPr>
          <p:nvPr/>
        </p:nvSpPr>
        <p:spPr>
          <a:xfrm>
            <a:off x="6222763" y="2867229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7795593-7C28-43A3-BAA6-2978595957A9}"/>
                  </a:ext>
                </a:extLst>
              </p:cNvPr>
              <p:cNvSpPr txBox="1"/>
              <p:nvPr/>
            </p:nvSpPr>
            <p:spPr>
              <a:xfrm>
                <a:off x="4648949" y="787883"/>
                <a:ext cx="453970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</m:oMath>
                  </m:oMathPara>
                </a14:m>
                <a:endParaRPr lang="en-IN" sz="26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7795593-7C28-43A3-BAA6-2978595957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949" y="787883"/>
                <a:ext cx="453970" cy="49244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0B084DD-EE53-E073-079D-AC74560E2787}"/>
                  </a:ext>
                </a:extLst>
              </p:cNvPr>
              <p:cNvSpPr txBox="1"/>
              <p:nvPr/>
            </p:nvSpPr>
            <p:spPr>
              <a:xfrm>
                <a:off x="5849334" y="776237"/>
                <a:ext cx="952504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𝐇</m:t>
                      </m:r>
                      <m:r>
                        <a:rPr lang="en-IN" sz="2600" b="1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| </m:t>
                      </m:r>
                      <m:r>
                        <a:rPr lang="en-IN" sz="2600" b="1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</m:oMath>
                  </m:oMathPara>
                </a14:m>
                <a:endParaRPr lang="en-IN" sz="26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0B084DD-EE53-E073-079D-AC74560E27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9334" y="776237"/>
                <a:ext cx="952504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5D12FBA-BF0A-B65D-F7AC-9A5819C4FE8C}"/>
                  </a:ext>
                </a:extLst>
              </p:cNvPr>
              <p:cNvSpPr txBox="1"/>
              <p:nvPr/>
            </p:nvSpPr>
            <p:spPr>
              <a:xfrm>
                <a:off x="5855999" y="3139424"/>
                <a:ext cx="994183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𝐇</m:t>
                      </m:r>
                      <m:r>
                        <a:rPr lang="en-IN" sz="2600" b="1" i="0" dirty="0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 | </m:t>
                      </m:r>
                      <m:r>
                        <a:rPr lang="en-IN" sz="2600" b="1" i="0" dirty="0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𝐎</m:t>
                      </m:r>
                    </m:oMath>
                  </m:oMathPara>
                </a14:m>
                <a:endParaRPr lang="en-IN" sz="2600" b="1" dirty="0">
                  <a:solidFill>
                    <a:srgbClr val="FE5722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5D12FBA-BF0A-B65D-F7AC-9A5819C4FE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5999" y="3139424"/>
                <a:ext cx="994183" cy="4924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E427361-A4CD-CD72-9B53-5F44EB311B18}"/>
                  </a:ext>
                </a:extLst>
              </p:cNvPr>
              <p:cNvSpPr txBox="1"/>
              <p:nvPr/>
            </p:nvSpPr>
            <p:spPr>
              <a:xfrm>
                <a:off x="3770031" y="1414809"/>
                <a:ext cx="57900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E427361-A4CD-CD72-9B53-5F44EB311B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70031" y="1414809"/>
                <a:ext cx="579005" cy="40011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EFB07A8-B0A9-0D34-93A1-CEE816776193}"/>
                  </a:ext>
                </a:extLst>
              </p:cNvPr>
              <p:cNvSpPr txBox="1"/>
              <p:nvPr/>
            </p:nvSpPr>
            <p:spPr>
              <a:xfrm>
                <a:off x="3788033" y="2577829"/>
                <a:ext cx="57900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EFB07A8-B0A9-0D34-93A1-CEE8167761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8033" y="2577829"/>
                <a:ext cx="579005" cy="40011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46563FB-683D-8ECF-3718-B5A8DDE141B0}"/>
                  </a:ext>
                </a:extLst>
              </p:cNvPr>
              <p:cNvSpPr txBox="1"/>
              <p:nvPr/>
            </p:nvSpPr>
            <p:spPr>
              <a:xfrm>
                <a:off x="5161448" y="974669"/>
                <a:ext cx="57900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46563FB-683D-8ECF-3718-B5A8DDE141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1448" y="974669"/>
                <a:ext cx="579005" cy="40011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2FE1015-65BD-7D19-ACD4-A1D090E8A1A2}"/>
                  </a:ext>
                </a:extLst>
              </p:cNvPr>
              <p:cNvSpPr txBox="1"/>
              <p:nvPr/>
            </p:nvSpPr>
            <p:spPr>
              <a:xfrm>
                <a:off x="5217751" y="2933063"/>
                <a:ext cx="57900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00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2FE1015-65BD-7D19-ACD4-A1D090E8A1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7751" y="2933063"/>
                <a:ext cx="579005" cy="40011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0555517-57A1-621B-2645-2B1971F4ABEF}"/>
                  </a:ext>
                </a:extLst>
              </p:cNvPr>
              <p:cNvSpPr txBox="1"/>
              <p:nvPr/>
            </p:nvSpPr>
            <p:spPr>
              <a:xfrm>
                <a:off x="3266367" y="1972343"/>
                <a:ext cx="503664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𝐇</m:t>
                      </m:r>
                    </m:oMath>
                  </m:oMathPara>
                </a14:m>
                <a:endParaRPr lang="en-IN" sz="2600" b="1" dirty="0">
                  <a:solidFill>
                    <a:schemeClr val="accent6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0555517-57A1-621B-2645-2B1971F4AB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6367" y="1972343"/>
                <a:ext cx="503664" cy="49244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6C8D426-612C-3D5F-7555-1C97D1C36BA8}"/>
                  </a:ext>
                </a:extLst>
              </p:cNvPr>
              <p:cNvSpPr txBox="1"/>
              <p:nvPr/>
            </p:nvSpPr>
            <p:spPr>
              <a:xfrm>
                <a:off x="361619" y="4117476"/>
                <a:ext cx="148254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6C8D426-612C-3D5F-7555-1C97D1C36B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619" y="4117476"/>
                <a:ext cx="148254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2A7AA60-0438-2B3B-D3BA-0A53D61A04C6}"/>
                  </a:ext>
                </a:extLst>
              </p:cNvPr>
              <p:cNvSpPr txBox="1"/>
              <p:nvPr/>
            </p:nvSpPr>
            <p:spPr>
              <a:xfrm>
                <a:off x="1596064" y="4111170"/>
                <a:ext cx="1201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  <m:r>
                        <a:rPr lang="en-IN" sz="2800" b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2A7AA60-0438-2B3B-D3BA-0A53D61A04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6064" y="4111170"/>
                <a:ext cx="120141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4B55947-D692-73F1-4E75-43A763981ED5}"/>
                  </a:ext>
                </a:extLst>
              </p:cNvPr>
              <p:cNvSpPr txBox="1"/>
              <p:nvPr/>
            </p:nvSpPr>
            <p:spPr>
              <a:xfrm>
                <a:off x="2626893" y="4117476"/>
                <a:ext cx="16715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  <m:r>
                            <a:rPr lang="en-IN" sz="2800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4B55947-D692-73F1-4E75-43A763981E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6893" y="4117476"/>
                <a:ext cx="167158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135485BF-BF0A-65E1-E1C0-09A0115DB7B2}"/>
                  </a:ext>
                </a:extLst>
              </p:cNvPr>
              <p:cNvSpPr txBox="1"/>
              <p:nvPr/>
            </p:nvSpPr>
            <p:spPr>
              <a:xfrm>
                <a:off x="3960494" y="4111170"/>
                <a:ext cx="16715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  <m:t>𝐎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E5722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135485BF-BF0A-65E1-E1C0-09A0115DB7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0494" y="4111170"/>
                <a:ext cx="167158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18F7B8E-FF0B-7C62-A17B-2D4FCBD69597}"/>
                  </a:ext>
                </a:extLst>
              </p:cNvPr>
              <p:cNvSpPr txBox="1"/>
              <p:nvPr/>
            </p:nvSpPr>
            <p:spPr>
              <a:xfrm>
                <a:off x="5178599" y="4123361"/>
                <a:ext cx="16715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smtClean="0">
                          <a:solidFill>
                            <a:srgbClr val="FE5722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  <m:r>
                            <a:rPr lang="en-IN" sz="2800" b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>
                              <a:solidFill>
                                <a:srgbClr val="FE5722"/>
                              </a:solidFill>
                              <a:latin typeface="Cambria Math" panose="02040503050406030204" pitchFamily="18" charset="0"/>
                            </a:rPr>
                            <m:t>𝐎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E5722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18F7B8E-FF0B-7C62-A17B-2D4FCBD695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8599" y="4123361"/>
                <a:ext cx="167158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B68A528-35FC-83A4-089D-2AB0AF98F744}"/>
                  </a:ext>
                </a:extLst>
              </p:cNvPr>
              <p:cNvSpPr txBox="1"/>
              <p:nvPr/>
            </p:nvSpPr>
            <p:spPr>
              <a:xfrm>
                <a:off x="1250922" y="4798592"/>
                <a:ext cx="14096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B68A528-35FC-83A4-089D-2AB0AF98F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0922" y="4798592"/>
                <a:ext cx="1409668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3636AA1-B1C8-16C7-63A9-AB563391F681}"/>
                  </a:ext>
                </a:extLst>
              </p:cNvPr>
              <p:cNvSpPr txBox="1"/>
              <p:nvPr/>
            </p:nvSpPr>
            <p:spPr>
              <a:xfrm>
                <a:off x="2374479" y="4798592"/>
                <a:ext cx="7228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3636AA1-B1C8-16C7-63A9-AB563391F6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4479" y="4798592"/>
                <a:ext cx="72283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B8A15F-10A5-1350-5533-5D0595BA9D33}"/>
                  </a:ext>
                </a:extLst>
              </p:cNvPr>
              <p:cNvSpPr txBox="1"/>
              <p:nvPr/>
            </p:nvSpPr>
            <p:spPr>
              <a:xfrm>
                <a:off x="2932677" y="4798592"/>
                <a:ext cx="11051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B8A15F-10A5-1350-5533-5D0595BA9D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2677" y="4798592"/>
                <a:ext cx="110515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B31278F-3D1A-F25E-67BB-E0A185B77682}"/>
                  </a:ext>
                </a:extLst>
              </p:cNvPr>
              <p:cNvSpPr txBox="1"/>
              <p:nvPr/>
            </p:nvSpPr>
            <p:spPr>
              <a:xfrm>
                <a:off x="3842792" y="4798592"/>
                <a:ext cx="882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B31278F-3D1A-F25E-67BB-E0A185B776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2792" y="4798592"/>
                <a:ext cx="88215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27467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" grpId="0" animBg="1"/>
      <p:bldP spid="8" grpId="0" animBg="1"/>
      <p:bldP spid="11" grpId="0" animBg="1"/>
      <p:bldP spid="1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3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AF819-2E2F-C394-E656-EA1B989039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01B328B-7108-088D-75D3-522997EBA4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is the Law of Total Probability Applicable?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D81C215-2C8E-E38C-1B2C-74869DA83D6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</p:spPr>
            <p:txBody>
              <a:bodyPr/>
              <a:lstStyle/>
              <a:p>
                <a:r>
                  <a:rPr lang="en-US" dirty="0"/>
                  <a:t>Observe that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lang="en-US" dirty="0"/>
                  <a:t> (Mutually Exclusive)</a:t>
                </a:r>
              </a:p>
              <a:p>
                <a:pPr lvl="2"/>
                <a:r>
                  <a:rPr lang="en-US" u="sng" dirty="0"/>
                  <a:t>Reason:</a:t>
                </a:r>
                <a:r>
                  <a:rPr lang="en-US" dirty="0"/>
                  <a:t> Each applicant applies through exactly one recruitment channel.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(Mutually Exhaustive)</a:t>
                </a:r>
              </a:p>
              <a:p>
                <a:pPr lvl="2"/>
                <a:r>
                  <a:rPr lang="en-US" u="sng" dirty="0"/>
                  <a:t>Reason:</a:t>
                </a:r>
                <a:r>
                  <a:rPr lang="en-US" dirty="0"/>
                  <a:t> The company accepts applications through only two recruitment channels, so every applicant belongs to either Campus Placement or Off-Campus Recruitment.</a:t>
                </a:r>
              </a:p>
              <a:p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O</m:t>
                    </m:r>
                  </m:oMath>
                </a14:m>
                <a:r>
                  <a:rPr lang="en-US" dirty="0"/>
                  <a:t> are </a:t>
                </a:r>
                <a:r>
                  <a:rPr lang="en-US" b="1" dirty="0">
                    <a:solidFill>
                      <a:srgbClr val="0070C0"/>
                    </a:solidFill>
                  </a:rPr>
                  <a:t>mutually exclusive and mutually exhaustive</a:t>
                </a:r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D81C215-2C8E-E38C-1B2C-74869DA83D6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  <a:blipFill>
                <a:blip r:embed="rId2"/>
                <a:stretch>
                  <a:fillRect l="-961" r="-10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7577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AF1CF-87FE-F382-AA37-2463F3680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9915F57-DA0B-6B2C-2BED-0B9C5161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Derivation of the Law of Total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6DA50FF-850D-F9D1-5AE2-73ADF40862F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2060819" cy="2669466"/>
              </a:xfrm>
            </p:spPr>
            <p:txBody>
              <a:bodyPr/>
              <a:lstStyle/>
              <a:p>
                <a:r>
                  <a:rPr lang="en-US" dirty="0"/>
                  <a:t>Event H (Applicant is Hired) can occur in two mutually exclusive ways</a:t>
                </a:r>
                <a:r>
                  <a:rPr lang="en-IN" dirty="0"/>
                  <a:t>:</a:t>
                </a:r>
              </a:p>
              <a:p>
                <a:pPr lvl="1"/>
                <a:r>
                  <a:rPr lang="en-US" dirty="0"/>
                  <a:t>The applicant applied through Campus Placement and is hired: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r>
                  <a:rPr lang="en-IN" dirty="0"/>
                  <a:t> </a:t>
                </a:r>
                <a:r>
                  <a:rPr lang="en-IN" b="1" dirty="0">
                    <a:solidFill>
                      <a:srgbClr val="FF0000"/>
                    </a:solidFill>
                  </a:rPr>
                  <a:t>OR</a:t>
                </a:r>
                <a:endParaRPr lang="ar-AE" b="1" dirty="0">
                  <a:solidFill>
                    <a:srgbClr val="FF0000"/>
                  </a:solidFill>
                </a:endParaRPr>
              </a:p>
              <a:p>
                <a:pPr lvl="1"/>
                <a:r>
                  <a:rPr lang="en-US" dirty="0"/>
                  <a:t>The applicant applied through Off-Campus Recruitment and is hired: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endParaRPr lang="ar-AE" dirty="0"/>
              </a:p>
              <a:p>
                <a:pPr lvl="1"/>
                <a:r>
                  <a:rPr lang="en-US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6DA50FF-850D-F9D1-5AE2-73ADF40862F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2060819" cy="2669466"/>
              </a:xfrm>
              <a:blipFill>
                <a:blip r:embed="rId2"/>
                <a:stretch>
                  <a:fillRect l="-961" b="-25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D9372AC-661D-83D7-11B7-26AEDD39338F}"/>
                  </a:ext>
                </a:extLst>
              </p:cNvPr>
              <p:cNvSpPr txBox="1"/>
              <p:nvPr/>
            </p:nvSpPr>
            <p:spPr>
              <a:xfrm>
                <a:off x="480580" y="3477333"/>
                <a:ext cx="61358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O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D9372AC-661D-83D7-11B7-26AEDD3933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80" y="3477333"/>
                <a:ext cx="613583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150DF6A-1C30-B4F4-5B7A-09E6F4B089F4}"/>
                  </a:ext>
                </a:extLst>
              </p:cNvPr>
              <p:cNvSpPr txBox="1"/>
              <p:nvPr/>
            </p:nvSpPr>
            <p:spPr>
              <a:xfrm>
                <a:off x="480578" y="4166596"/>
                <a:ext cx="104298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O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𝐇</m:t>
                              </m:r>
                            </m:e>
                          </m:d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𝐎</m:t>
                              </m:r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𝐇</m:t>
                              </m:r>
                            </m:e>
                          </m:d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150DF6A-1C30-B4F4-5B7A-09E6F4B089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8" y="4166596"/>
                <a:ext cx="1042987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6209FE3-D998-835F-C3E4-EFE882794ABC}"/>
                  </a:ext>
                </a:extLst>
              </p:cNvPr>
              <p:cNvSpPr txBox="1"/>
              <p:nvPr/>
            </p:nvSpPr>
            <p:spPr>
              <a:xfrm>
                <a:off x="480577" y="4826323"/>
                <a:ext cx="5615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O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6209FE3-D998-835F-C3E4-EFE882794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7" y="4826323"/>
                <a:ext cx="561542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958160-41A7-584C-CEA6-FF054B55AF67}"/>
                  </a:ext>
                </a:extLst>
              </p:cNvPr>
              <p:cNvSpPr txBox="1"/>
              <p:nvPr/>
            </p:nvSpPr>
            <p:spPr>
              <a:xfrm>
                <a:off x="8011390" y="4855038"/>
                <a:ext cx="4956465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40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and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O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are</m:t>
                          </m:r>
                          <m:r>
                            <m:rPr>
                              <m:nor/>
                            </m:rPr>
                            <a:rPr lang="en-IN" sz="240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mutually</m:t>
                          </m:r>
                          <m:r>
                            <m:rPr>
                              <m:nor/>
                            </m:rPr>
                            <a:rPr lang="en-IN" sz="2400" b="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0" i="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exclusive</m:t>
                          </m:r>
                          <m:r>
                            <m:rPr>
                              <m:nor/>
                            </m:rPr>
                            <a:rPr lang="en-IN" sz="2400" b="0" i="0" dirty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958160-41A7-584C-CEA6-FF054B55AF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390" y="4855038"/>
                <a:ext cx="4956465" cy="461665"/>
              </a:xfrm>
              <a:prstGeom prst="rect">
                <a:avLst/>
              </a:prstGeom>
              <a:blipFill>
                <a:blip r:embed="rId6"/>
                <a:stretch>
                  <a:fillRect b="-2105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468F727-3323-F69E-B0BB-3C7407AF1578}"/>
                  </a:ext>
                </a:extLst>
              </p:cNvPr>
              <p:cNvSpPr txBox="1"/>
              <p:nvPr/>
            </p:nvSpPr>
            <p:spPr>
              <a:xfrm>
                <a:off x="480577" y="5456731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𝐎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𝐎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468F727-3323-F69E-B0BB-3C7407AF15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7" y="5456731"/>
                <a:ext cx="787371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19F87DB-59D2-4EA3-FA85-09E73FF8A826}"/>
                  </a:ext>
                </a:extLst>
              </p:cNvPr>
              <p:cNvSpPr txBox="1"/>
              <p:nvPr/>
            </p:nvSpPr>
            <p:spPr>
              <a:xfrm>
                <a:off x="480577" y="6119979"/>
                <a:ext cx="75308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19F87DB-59D2-4EA3-FA85-09E73FF8A8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7" y="6119979"/>
                <a:ext cx="753081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80206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1D4880-31C6-2DCF-EAD0-B829F7D13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F3C415D-1D7C-6B19-15E4-4D4238761A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Practical Conclusion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C36F64D-F749-1930-1D61-3D8E7ADC46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pPr>
                  <a:lnSpc>
                    <a:spcPct val="120000"/>
                  </a:lnSpc>
                </a:pPr>
                <a:r>
                  <a:rPr lang="en-US" dirty="0"/>
                  <a:t>The overall probability that an applicant is hired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68</m:t>
                    </m:r>
                  </m:oMath>
                </a14:m>
                <a:r>
                  <a:rPr lang="en-US" dirty="0"/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68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%</m:t>
                        </m:r>
                      </m:e>
                    </m:d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	​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If the company receives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lang="en-US" dirty="0"/>
                  <a:t> applications, it can expect approximately </a:t>
                </a:r>
                <a:endParaRPr lang="en-IN" i="1" dirty="0">
                  <a:latin typeface="Cambria Math" panose="02040503050406030204" pitchFamily="18" charset="0"/>
                </a:endParaRPr>
              </a:p>
              <a:p>
                <a:pPr lvl="1" indent="-1588">
                  <a:lnSpc>
                    <a:spcPct val="120000"/>
                  </a:lnSpc>
                  <a:buNone/>
                </a:pP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68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680</m:t>
                    </m:r>
                  </m:oMath>
                </a14:m>
                <a:r>
                  <a:rPr lang="en-US" dirty="0"/>
                  <a:t> applicants to be hired.</a:t>
                </a:r>
              </a:p>
              <a:p>
                <a:pPr>
                  <a:lnSpc>
                    <a:spcPct val="120000"/>
                  </a:lnSpc>
                </a:pPr>
                <a:r>
                  <a:rPr lang="en-US" dirty="0"/>
                  <a:t>This estimate helps the company plan: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Number of interview panels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Offer letters to prepare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Onboarding schedule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Training batches 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Resource allocation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C36F64D-F749-1930-1D61-3D8E7ADC46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t="-318" b="-19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6373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Law of 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</p:spPr>
            <p:txBody>
              <a:bodyPr/>
              <a:lstStyle/>
              <a:p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mutually exclusive and exhaustive</a:t>
                </a: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events of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i="1">
                                <a:effectLst/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≠0,</m:t>
                    </m:r>
                  </m:oMath>
                </a14:m>
                <a:r>
                  <a:rPr lang="en-IN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=1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, 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, </m:t>
                    </m:r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n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any event associated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  <m:r>
                      <a:rPr lang="en-IN" b="0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Oval 7">
            <a:extLst>
              <a:ext uri="{FF2B5EF4-FFF2-40B4-BE49-F238E27FC236}">
                <a16:creationId xmlns:a16="http://schemas.microsoft.com/office/drawing/2014/main" id="{E4BB2372-65CF-491E-BD3D-00E875029130}"/>
              </a:ext>
            </a:extLst>
          </p:cNvPr>
          <p:cNvSpPr/>
          <p:nvPr/>
        </p:nvSpPr>
        <p:spPr>
          <a:xfrm>
            <a:off x="2926011" y="3296985"/>
            <a:ext cx="6339976" cy="2214015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 sz="280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6D9F646-768A-4F3B-8FDB-B7F828927AAA}"/>
              </a:ext>
            </a:extLst>
          </p:cNvPr>
          <p:cNvCxnSpPr>
            <a:cxnSpLocks/>
          </p:cNvCxnSpPr>
          <p:nvPr/>
        </p:nvCxnSpPr>
        <p:spPr>
          <a:xfrm>
            <a:off x="4146539" y="2651079"/>
            <a:ext cx="0" cy="3401282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8444E53-6181-4C72-80F6-583B19CAE7E1}"/>
              </a:ext>
            </a:extLst>
          </p:cNvPr>
          <p:cNvCxnSpPr>
            <a:cxnSpLocks/>
          </p:cNvCxnSpPr>
          <p:nvPr/>
        </p:nvCxnSpPr>
        <p:spPr>
          <a:xfrm>
            <a:off x="5461077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BE6CBEC7-7E1D-4E46-8994-F1BF5593DA03}"/>
              </a:ext>
            </a:extLst>
          </p:cNvPr>
          <p:cNvSpPr/>
          <p:nvPr/>
        </p:nvSpPr>
        <p:spPr>
          <a:xfrm>
            <a:off x="2832001" y="2651080"/>
            <a:ext cx="6527997" cy="3401282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 sz="280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 Box 2">
                <a:extLst>
                  <a:ext uri="{FF2B5EF4-FFF2-40B4-BE49-F238E27FC236}">
                    <a16:creationId xmlns:a16="http://schemas.microsoft.com/office/drawing/2014/main" id="{8F37E607-2C05-412E-BC2F-FE9B3F0E68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87479" y="6052361"/>
                <a:ext cx="573357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 Box 2">
                <a:extLst>
                  <a:ext uri="{FF2B5EF4-FFF2-40B4-BE49-F238E27FC236}">
                    <a16:creationId xmlns:a16="http://schemas.microsoft.com/office/drawing/2014/main" id="{8F37E607-2C05-412E-BC2F-FE9B3F0E68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787479" y="6052361"/>
                <a:ext cx="573357" cy="46906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 Box 2">
                <a:extLst>
                  <a:ext uri="{FF2B5EF4-FFF2-40B4-BE49-F238E27FC236}">
                    <a16:creationId xmlns:a16="http://schemas.microsoft.com/office/drawing/2014/main" id="{87195F13-50A8-4A0F-B773-8A5C4FF9CF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85159" y="2094447"/>
                <a:ext cx="714893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Text Box 2">
                <a:extLst>
                  <a:ext uri="{FF2B5EF4-FFF2-40B4-BE49-F238E27FC236}">
                    <a16:creationId xmlns:a16="http://schemas.microsoft.com/office/drawing/2014/main" id="{87195F13-50A8-4A0F-B773-8A5C4FF9CF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185159" y="2094447"/>
                <a:ext cx="714893" cy="46906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 Box 2">
                <a:extLst>
                  <a:ext uri="{FF2B5EF4-FFF2-40B4-BE49-F238E27FC236}">
                    <a16:creationId xmlns:a16="http://schemas.microsoft.com/office/drawing/2014/main" id="{E2EF67B9-D313-478B-B4C7-DA120BE44A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38937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4" name="Text Box 2">
                <a:extLst>
                  <a:ext uri="{FF2B5EF4-FFF2-40B4-BE49-F238E27FC236}">
                    <a16:creationId xmlns:a16="http://schemas.microsoft.com/office/drawing/2014/main" id="{E2EF67B9-D313-478B-B4C7-DA120BE44A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538937" y="2094447"/>
                <a:ext cx="713458" cy="46906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 Box 2">
                <a:extLst>
                  <a:ext uri="{FF2B5EF4-FFF2-40B4-BE49-F238E27FC236}">
                    <a16:creationId xmlns:a16="http://schemas.microsoft.com/office/drawing/2014/main" id="{B88118E5-873D-414E-9E40-6B8D04F804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16135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5" name="Text Box 2">
                <a:extLst>
                  <a:ext uri="{FF2B5EF4-FFF2-40B4-BE49-F238E27FC236}">
                    <a16:creationId xmlns:a16="http://schemas.microsoft.com/office/drawing/2014/main" id="{B88118E5-873D-414E-9E40-6B8D04F804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716135" y="2094447"/>
                <a:ext cx="713458" cy="46906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 Box 2">
                <a:extLst>
                  <a:ext uri="{FF2B5EF4-FFF2-40B4-BE49-F238E27FC236}">
                    <a16:creationId xmlns:a16="http://schemas.microsoft.com/office/drawing/2014/main" id="{462A71F6-57C0-4ACC-82FE-D445709315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7060" y="3231658"/>
                <a:ext cx="573357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0070C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𝐁</m:t>
                      </m:r>
                    </m:oMath>
                  </m:oMathPara>
                </a14:m>
                <a:endParaRPr lang="en-IN" sz="2800" b="1">
                  <a:solidFill>
                    <a:srgbClr val="0070C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Text Box 2">
                <a:extLst>
                  <a:ext uri="{FF2B5EF4-FFF2-40B4-BE49-F238E27FC236}">
                    <a16:creationId xmlns:a16="http://schemas.microsoft.com/office/drawing/2014/main" id="{462A71F6-57C0-4ACC-82FE-D445709315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087060" y="3231658"/>
                <a:ext cx="573357" cy="46906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 Box 2">
                <a:extLst>
                  <a:ext uri="{FF2B5EF4-FFF2-40B4-BE49-F238E27FC236}">
                    <a16:creationId xmlns:a16="http://schemas.microsoft.com/office/drawing/2014/main" id="{7465CACD-6B4F-4B57-B8C0-7DA1494080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3017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7" name="Text Box 2">
                <a:extLst>
                  <a:ext uri="{FF2B5EF4-FFF2-40B4-BE49-F238E27FC236}">
                    <a16:creationId xmlns:a16="http://schemas.microsoft.com/office/drawing/2014/main" id="{7465CACD-6B4F-4B57-B8C0-7DA1494080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893017" y="4126580"/>
                <a:ext cx="1224000" cy="46906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 Box 2">
                <a:extLst>
                  <a:ext uri="{FF2B5EF4-FFF2-40B4-BE49-F238E27FC236}">
                    <a16:creationId xmlns:a16="http://schemas.microsoft.com/office/drawing/2014/main" id="{1A4700CD-7D79-47A4-9D61-FE3E51A32A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8508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 algn="ctr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Text Box 2">
                <a:extLst>
                  <a:ext uri="{FF2B5EF4-FFF2-40B4-BE49-F238E27FC236}">
                    <a16:creationId xmlns:a16="http://schemas.microsoft.com/office/drawing/2014/main" id="{1A4700CD-7D79-47A4-9D61-FE3E51A32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188508" y="4126580"/>
                <a:ext cx="1224000" cy="46906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 Box 2">
                <a:extLst>
                  <a:ext uri="{FF2B5EF4-FFF2-40B4-BE49-F238E27FC236}">
                    <a16:creationId xmlns:a16="http://schemas.microsoft.com/office/drawing/2014/main" id="{356FB0C0-FDF0-4595-9835-0875D019E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83999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 Box 2">
                <a:extLst>
                  <a:ext uri="{FF2B5EF4-FFF2-40B4-BE49-F238E27FC236}">
                    <a16:creationId xmlns:a16="http://schemas.microsoft.com/office/drawing/2014/main" id="{356FB0C0-FDF0-4595-9835-0875D019E9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483999" y="4126580"/>
                <a:ext cx="1224000" cy="46906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7BD054F-0364-44FC-89BD-17434DBFB969}"/>
              </a:ext>
            </a:extLst>
          </p:cNvPr>
          <p:cNvCxnSpPr>
            <a:cxnSpLocks/>
          </p:cNvCxnSpPr>
          <p:nvPr/>
        </p:nvCxnSpPr>
        <p:spPr>
          <a:xfrm>
            <a:off x="6755993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A5F539F0-9FDE-441D-B055-BE71422DE20A}"/>
              </a:ext>
            </a:extLst>
          </p:cNvPr>
          <p:cNvCxnSpPr>
            <a:cxnSpLocks/>
          </p:cNvCxnSpPr>
          <p:nvPr/>
        </p:nvCxnSpPr>
        <p:spPr>
          <a:xfrm>
            <a:off x="8050910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9C7BE820-8CB0-44B2-85B1-992104B9D9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5590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9C7BE820-8CB0-44B2-85B1-992104B9D9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8325590" y="2094447"/>
                <a:ext cx="713458" cy="46906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 Box 2">
                <a:extLst>
                  <a:ext uri="{FF2B5EF4-FFF2-40B4-BE49-F238E27FC236}">
                    <a16:creationId xmlns:a16="http://schemas.microsoft.com/office/drawing/2014/main" id="{54A7D8A6-F998-4735-872C-0B5955F886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89532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⋯</m:t>
                      </m:r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 Box 2">
                <a:extLst>
                  <a:ext uri="{FF2B5EF4-FFF2-40B4-BE49-F238E27FC236}">
                    <a16:creationId xmlns:a16="http://schemas.microsoft.com/office/drawing/2014/main" id="{54A7D8A6-F998-4735-872C-0B5955F88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089532" y="2094447"/>
                <a:ext cx="713458" cy="46906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 Box 2">
                <a:extLst>
                  <a:ext uri="{FF2B5EF4-FFF2-40B4-BE49-F238E27FC236}">
                    <a16:creationId xmlns:a16="http://schemas.microsoft.com/office/drawing/2014/main" id="{AFD9898E-C3A8-4ADF-88ED-302C425941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4982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Text Box 2">
                <a:extLst>
                  <a:ext uri="{FF2B5EF4-FFF2-40B4-BE49-F238E27FC236}">
                    <a16:creationId xmlns:a16="http://schemas.microsoft.com/office/drawing/2014/main" id="{AFD9898E-C3A8-4ADF-88ED-302C42594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8074982" y="4126580"/>
                <a:ext cx="1224000" cy="46906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 Box 2">
                <a:extLst>
                  <a:ext uri="{FF2B5EF4-FFF2-40B4-BE49-F238E27FC236}">
                    <a16:creationId xmlns:a16="http://schemas.microsoft.com/office/drawing/2014/main" id="{0F4099B9-5AA9-441E-8299-623327E12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79490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⋯</m:t>
                      </m:r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 Box 2">
                <a:extLst>
                  <a:ext uri="{FF2B5EF4-FFF2-40B4-BE49-F238E27FC236}">
                    <a16:creationId xmlns:a16="http://schemas.microsoft.com/office/drawing/2014/main" id="{0F4099B9-5AA9-441E-8299-623327E12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6779490" y="4126580"/>
                <a:ext cx="1224000" cy="46906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0933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25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75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75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"/>
                            </p:stCondLst>
                            <p:childTnLst>
                              <p:par>
                                <p:cTn id="6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  <p:bldP spid="8" grpId="0" animBg="1"/>
      <p:bldP spid="11" grpId="0" animBg="1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94513-BDEA-08BF-8AAD-179A8CE5A3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17731F5-E0AB-9B91-AE5B-11ACC7361A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Law of 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CEAD6210-5E44-CE38-46DD-7D48DC855D2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+…+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pPr marL="269875" indent="-269875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+…+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CEAD6210-5E44-CE38-46DD-7D48DC855D2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C0BD6BBC-7958-C8EE-B780-83CD85087BB0}"/>
              </a:ext>
            </a:extLst>
          </p:cNvPr>
          <p:cNvGrpSpPr/>
          <p:nvPr/>
        </p:nvGrpSpPr>
        <p:grpSpPr>
          <a:xfrm>
            <a:off x="286228" y="2123557"/>
            <a:ext cx="6527997" cy="4426981"/>
            <a:chOff x="286228" y="2123557"/>
            <a:chExt cx="6527997" cy="4426981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7DAA7CA-B133-6484-BD55-A5687109AD5F}"/>
                </a:ext>
              </a:extLst>
            </p:cNvPr>
            <p:cNvSpPr/>
            <p:nvPr/>
          </p:nvSpPr>
          <p:spPr>
            <a:xfrm>
              <a:off x="380238" y="3326095"/>
              <a:ext cx="6339976" cy="2214015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8575"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 sz="2800"/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86EF66F-AE31-1462-3E9E-9330E4528A4F}"/>
                </a:ext>
              </a:extLst>
            </p:cNvPr>
            <p:cNvCxnSpPr>
              <a:cxnSpLocks/>
            </p:cNvCxnSpPr>
            <p:nvPr/>
          </p:nvCxnSpPr>
          <p:spPr>
            <a:xfrm>
              <a:off x="1600766" y="2680189"/>
              <a:ext cx="0" cy="3401282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7D4AEAA-9E5A-CA22-8812-94C514EE8CB7}"/>
                </a:ext>
              </a:extLst>
            </p:cNvPr>
            <p:cNvCxnSpPr>
              <a:cxnSpLocks/>
            </p:cNvCxnSpPr>
            <p:nvPr/>
          </p:nvCxnSpPr>
          <p:spPr>
            <a:xfrm>
              <a:off x="2915304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17FF732-216F-8908-8DEF-F05A90C66D8A}"/>
                </a:ext>
              </a:extLst>
            </p:cNvPr>
            <p:cNvSpPr/>
            <p:nvPr/>
          </p:nvSpPr>
          <p:spPr>
            <a:xfrm>
              <a:off x="286228" y="2680190"/>
              <a:ext cx="6527997" cy="3401282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 sz="280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Text Box 2">
                  <a:extLst>
                    <a:ext uri="{FF2B5EF4-FFF2-40B4-BE49-F238E27FC236}">
                      <a16:creationId xmlns:a16="http://schemas.microsoft.com/office/drawing/2014/main" id="{9353DC1B-37DA-496A-258D-8373F7CB82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41706" y="6081471"/>
                  <a:ext cx="573357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𝐒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2" name="Text Box 2">
                  <a:extLst>
                    <a:ext uri="{FF2B5EF4-FFF2-40B4-BE49-F238E27FC236}">
                      <a16:creationId xmlns:a16="http://schemas.microsoft.com/office/drawing/2014/main" id="{9353DC1B-37DA-496A-258D-8373F7CB82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241706" y="6081471"/>
                  <a:ext cx="573357" cy="469067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 Box 2">
                  <a:extLst>
                    <a:ext uri="{FF2B5EF4-FFF2-40B4-BE49-F238E27FC236}">
                      <a16:creationId xmlns:a16="http://schemas.microsoft.com/office/drawing/2014/main" id="{EC3294CA-8D6C-B2A2-A9B5-ADF6734DF5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9386" y="2123557"/>
                  <a:ext cx="714893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3" name="Text Box 2">
                  <a:extLst>
                    <a:ext uri="{FF2B5EF4-FFF2-40B4-BE49-F238E27FC236}">
                      <a16:creationId xmlns:a16="http://schemas.microsoft.com/office/drawing/2014/main" id="{EC3294CA-8D6C-B2A2-A9B5-ADF6734DF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639386" y="2123557"/>
                  <a:ext cx="714893" cy="469067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Text Box 2">
                  <a:extLst>
                    <a:ext uri="{FF2B5EF4-FFF2-40B4-BE49-F238E27FC236}">
                      <a16:creationId xmlns:a16="http://schemas.microsoft.com/office/drawing/2014/main" id="{16092DA0-A4BD-C9D7-562B-FCD86BFE47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93164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4" name="Text Box 2">
                  <a:extLst>
                    <a:ext uri="{FF2B5EF4-FFF2-40B4-BE49-F238E27FC236}">
                      <a16:creationId xmlns:a16="http://schemas.microsoft.com/office/drawing/2014/main" id="{16092DA0-A4BD-C9D7-562B-FCD86BFE47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1993164" y="2123557"/>
                  <a:ext cx="713458" cy="469067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 Box 2">
                  <a:extLst>
                    <a:ext uri="{FF2B5EF4-FFF2-40B4-BE49-F238E27FC236}">
                      <a16:creationId xmlns:a16="http://schemas.microsoft.com/office/drawing/2014/main" id="{BA7001C5-CDCB-EE59-E5AD-3DDB67980B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70362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5" name="Text Box 2">
                  <a:extLst>
                    <a:ext uri="{FF2B5EF4-FFF2-40B4-BE49-F238E27FC236}">
                      <a16:creationId xmlns:a16="http://schemas.microsoft.com/office/drawing/2014/main" id="{BA7001C5-CDCB-EE59-E5AD-3DDB67980B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170362" y="2123557"/>
                  <a:ext cx="713458" cy="469067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Text Box 2">
                  <a:extLst>
                    <a:ext uri="{FF2B5EF4-FFF2-40B4-BE49-F238E27FC236}">
                      <a16:creationId xmlns:a16="http://schemas.microsoft.com/office/drawing/2014/main" id="{2E80ECDA-FBF9-6E37-C9EE-4C10011DE1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287" y="3260768"/>
                  <a:ext cx="573357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rgbClr val="0070C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𝐁</m:t>
                        </m:r>
                      </m:oMath>
                    </m:oMathPara>
                  </a14:m>
                  <a:endParaRPr lang="en-IN" sz="2800" b="1">
                    <a:solidFill>
                      <a:srgbClr val="0070C0"/>
                    </a:solidFill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6" name="Text Box 2">
                  <a:extLst>
                    <a:ext uri="{FF2B5EF4-FFF2-40B4-BE49-F238E27FC236}">
                      <a16:creationId xmlns:a16="http://schemas.microsoft.com/office/drawing/2014/main" id="{2E80ECDA-FBF9-6E37-C9EE-4C10011DE1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41287" y="3260768"/>
                  <a:ext cx="573357" cy="469067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Text Box 2">
                  <a:extLst>
                    <a:ext uri="{FF2B5EF4-FFF2-40B4-BE49-F238E27FC236}">
                      <a16:creationId xmlns:a16="http://schemas.microsoft.com/office/drawing/2014/main" id="{3660771D-7334-3F87-5FD3-8AF1A46E9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7244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7" name="Text Box 2">
                  <a:extLst>
                    <a:ext uri="{FF2B5EF4-FFF2-40B4-BE49-F238E27FC236}">
                      <a16:creationId xmlns:a16="http://schemas.microsoft.com/office/drawing/2014/main" id="{3660771D-7334-3F87-5FD3-8AF1A46E9B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47244" y="4155690"/>
                  <a:ext cx="1224000" cy="469067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Text Box 2">
                  <a:extLst>
                    <a:ext uri="{FF2B5EF4-FFF2-40B4-BE49-F238E27FC236}">
                      <a16:creationId xmlns:a16="http://schemas.microsoft.com/office/drawing/2014/main" id="{7091B84F-09D7-E7E6-0A52-AAC81DE22A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42735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 algn="ctr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8" name="Text Box 2">
                  <a:extLst>
                    <a:ext uri="{FF2B5EF4-FFF2-40B4-BE49-F238E27FC236}">
                      <a16:creationId xmlns:a16="http://schemas.microsoft.com/office/drawing/2014/main" id="{7091B84F-09D7-E7E6-0A52-AAC81DE22A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1642735" y="4155690"/>
                  <a:ext cx="1224000" cy="469067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Text Box 2">
                  <a:extLst>
                    <a:ext uri="{FF2B5EF4-FFF2-40B4-BE49-F238E27FC236}">
                      <a16:creationId xmlns:a16="http://schemas.microsoft.com/office/drawing/2014/main" id="{83DD5B5E-C316-DB4B-F48D-3B88884AE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38226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9" name="Text Box 2">
                  <a:extLst>
                    <a:ext uri="{FF2B5EF4-FFF2-40B4-BE49-F238E27FC236}">
                      <a16:creationId xmlns:a16="http://schemas.microsoft.com/office/drawing/2014/main" id="{83DD5B5E-C316-DB4B-F48D-3B88884AEF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2938226" y="4155690"/>
                  <a:ext cx="1224000" cy="469067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E15DD31-6A6A-24F5-1F23-BFAF5691C879}"/>
                </a:ext>
              </a:extLst>
            </p:cNvPr>
            <p:cNvCxnSpPr>
              <a:cxnSpLocks/>
            </p:cNvCxnSpPr>
            <p:nvPr/>
          </p:nvCxnSpPr>
          <p:spPr>
            <a:xfrm>
              <a:off x="4210220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29312E3-6BF6-048E-9C4A-296D8B857176}"/>
                </a:ext>
              </a:extLst>
            </p:cNvPr>
            <p:cNvCxnSpPr>
              <a:cxnSpLocks/>
            </p:cNvCxnSpPr>
            <p:nvPr/>
          </p:nvCxnSpPr>
          <p:spPr>
            <a:xfrm>
              <a:off x="5505137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Text Box 2">
                  <a:extLst>
                    <a:ext uri="{FF2B5EF4-FFF2-40B4-BE49-F238E27FC236}">
                      <a16:creationId xmlns:a16="http://schemas.microsoft.com/office/drawing/2014/main" id="{D0FC05BD-D245-8015-70BC-E785046DC6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779817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2" name="Text Box 2">
                  <a:extLst>
                    <a:ext uri="{FF2B5EF4-FFF2-40B4-BE49-F238E27FC236}">
                      <a16:creationId xmlns:a16="http://schemas.microsoft.com/office/drawing/2014/main" id="{D0FC05BD-D245-8015-70BC-E785046DC6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779817" y="2123557"/>
                  <a:ext cx="713458" cy="469067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Text Box 2">
                  <a:extLst>
                    <a:ext uri="{FF2B5EF4-FFF2-40B4-BE49-F238E27FC236}">
                      <a16:creationId xmlns:a16="http://schemas.microsoft.com/office/drawing/2014/main" id="{2CFE4C88-7C40-621F-0158-7370AFA456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43759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i="1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⋯</m:t>
                        </m:r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3" name="Text Box 2">
                  <a:extLst>
                    <a:ext uri="{FF2B5EF4-FFF2-40B4-BE49-F238E27FC236}">
                      <a16:creationId xmlns:a16="http://schemas.microsoft.com/office/drawing/2014/main" id="{2CFE4C88-7C40-621F-0158-7370AFA456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4543759" y="2123557"/>
                  <a:ext cx="713458" cy="469067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Text Box 2">
                  <a:extLst>
                    <a:ext uri="{FF2B5EF4-FFF2-40B4-BE49-F238E27FC236}">
                      <a16:creationId xmlns:a16="http://schemas.microsoft.com/office/drawing/2014/main" id="{E5EC979F-F1F7-C819-B1AD-B88C127882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529209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4" name="Text Box 2">
                  <a:extLst>
                    <a:ext uri="{FF2B5EF4-FFF2-40B4-BE49-F238E27FC236}">
                      <a16:creationId xmlns:a16="http://schemas.microsoft.com/office/drawing/2014/main" id="{E5EC979F-F1F7-C819-B1AD-B88C12788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529209" y="4155690"/>
                  <a:ext cx="1224000" cy="469067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Text Box 2">
                  <a:extLst>
                    <a:ext uri="{FF2B5EF4-FFF2-40B4-BE49-F238E27FC236}">
                      <a16:creationId xmlns:a16="http://schemas.microsoft.com/office/drawing/2014/main" id="{63FD08E4-5821-416B-6B0A-35905B8854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33717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⋯</m:t>
                        </m:r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5" name="Text Box 2">
                  <a:extLst>
                    <a:ext uri="{FF2B5EF4-FFF2-40B4-BE49-F238E27FC236}">
                      <a16:creationId xmlns:a16="http://schemas.microsoft.com/office/drawing/2014/main" id="{63FD08E4-5821-416B-6B0A-35905B8854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4233717" y="4155690"/>
                  <a:ext cx="1224000" cy="469067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" name="Text Box 2">
            <a:extLst>
              <a:ext uri="{FF2B5EF4-FFF2-40B4-BE49-F238E27FC236}">
                <a16:creationId xmlns:a16="http://schemas.microsoft.com/office/drawing/2014/main" id="{00CA6709-7EE9-4D8B-979B-6DBEE8105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9189" y="2592624"/>
            <a:ext cx="4586656" cy="11372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rot="0" vert="horz" wrap="square" lIns="91440" tIns="45720" rIns="91440" bIns="45720" anchor="t" anchorCtr="0">
            <a:no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IN" sz="2800" b="0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Using multiplicative law of probability, we get</a:t>
            </a:r>
            <a:endParaRPr lang="en-IN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 Box 2">
                <a:extLst>
                  <a:ext uri="{FF2B5EF4-FFF2-40B4-BE49-F238E27FC236}">
                    <a16:creationId xmlns:a16="http://schemas.microsoft.com/office/drawing/2014/main" id="{7FA6F069-E1C8-0E91-C5ED-5E2063C1B1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15371" y="3754140"/>
                <a:ext cx="5181962" cy="63608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algn="just">
                  <a:lnSpc>
                    <a:spcPct val="107000"/>
                  </a:lnSpc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" name="Text Box 2">
                <a:extLst>
                  <a:ext uri="{FF2B5EF4-FFF2-40B4-BE49-F238E27FC236}">
                    <a16:creationId xmlns:a16="http://schemas.microsoft.com/office/drawing/2014/main" id="{7FA6F069-E1C8-0E91-C5ED-5E2063C1B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115371" y="3754140"/>
                <a:ext cx="5181962" cy="63608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29144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4F4A93-3F4F-99E4-B0D2-1C052D96BF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4692DD1-86B2-06CB-C87F-0487442F75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FAA8517-7B73-3401-EC11-650E0029CFD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2873662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b="1" dirty="0"/>
                  <a:t>Question: </a:t>
                </a:r>
                <a:r>
                  <a:rPr lang="en-US" dirty="0"/>
                  <a:t>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that produce electronic components.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produces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60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components and among those, 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10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are defective.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produces the remaining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40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components and among those, 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are defective. Find the probability that a randomly selected electronic component is defective.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FAA8517-7B73-3401-EC11-650E0029CFD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2873662"/>
              </a:xfrm>
              <a:blipFill>
                <a:blip r:embed="rId2"/>
                <a:stretch>
                  <a:fillRect l="-971" t="-1274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34454BEC-7387-EB3F-B74B-3BE4523FD943}"/>
              </a:ext>
            </a:extLst>
          </p:cNvPr>
          <p:cNvCxnSpPr>
            <a:cxnSpLocks/>
          </p:cNvCxnSpPr>
          <p:nvPr/>
        </p:nvCxnSpPr>
        <p:spPr>
          <a:xfrm>
            <a:off x="10590147" y="1248077"/>
            <a:ext cx="1440000" cy="423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7BA74FB2-F74B-F156-8845-73001DC13546}"/>
              </a:ext>
            </a:extLst>
          </p:cNvPr>
          <p:cNvCxnSpPr>
            <a:cxnSpLocks/>
          </p:cNvCxnSpPr>
          <p:nvPr/>
        </p:nvCxnSpPr>
        <p:spPr>
          <a:xfrm flipV="1">
            <a:off x="507754" y="1735666"/>
            <a:ext cx="4792379" cy="22678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C0550CA-9E2E-8664-85F6-32AF0A174723}"/>
              </a:ext>
            </a:extLst>
          </p:cNvPr>
          <p:cNvCxnSpPr>
            <a:cxnSpLocks/>
          </p:cNvCxnSpPr>
          <p:nvPr/>
        </p:nvCxnSpPr>
        <p:spPr>
          <a:xfrm>
            <a:off x="524988" y="2254248"/>
            <a:ext cx="7272000" cy="635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4DAC220-C23C-0D6A-036A-F036A9DCFDE0}"/>
              </a:ext>
            </a:extLst>
          </p:cNvPr>
          <p:cNvCxnSpPr>
            <a:cxnSpLocks/>
          </p:cNvCxnSpPr>
          <p:nvPr/>
        </p:nvCxnSpPr>
        <p:spPr>
          <a:xfrm>
            <a:off x="7880303" y="1758344"/>
            <a:ext cx="2586037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FD01BEA6-B01B-D311-EC1A-21400515EDA6}"/>
              </a:ext>
            </a:extLst>
          </p:cNvPr>
          <p:cNvCxnSpPr>
            <a:cxnSpLocks/>
          </p:cNvCxnSpPr>
          <p:nvPr/>
        </p:nvCxnSpPr>
        <p:spPr>
          <a:xfrm>
            <a:off x="8741346" y="2260598"/>
            <a:ext cx="2579192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DA9FD7B2-7845-0C3A-D1DD-9A33187DFF03}"/>
              </a:ext>
            </a:extLst>
          </p:cNvPr>
          <p:cNvCxnSpPr>
            <a:cxnSpLocks/>
          </p:cNvCxnSpPr>
          <p:nvPr/>
        </p:nvCxnSpPr>
        <p:spPr>
          <a:xfrm>
            <a:off x="10610929" y="1762042"/>
            <a:ext cx="1368000" cy="5745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65BAA4E2-B2C1-2F21-79D2-ED7BCF9793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0" y="3200175"/>
                <a:ext cx="6924248" cy="242600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14000"/>
                  </a:lnSpc>
                </a:pPr>
                <a:r>
                  <a:rPr lang="en-US" b="1" dirty="0"/>
                  <a:t>Solution: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produced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</m:oMath>
                </a14:m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produced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D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defective</a:t>
                </a:r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65BAA4E2-B2C1-2F21-79D2-ED7BCF9793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3200175"/>
                <a:ext cx="6924248" cy="2426009"/>
              </a:xfrm>
              <a:prstGeom prst="rect">
                <a:avLst/>
              </a:prstGeom>
              <a:blipFill>
                <a:blip r:embed="rId3"/>
                <a:stretch>
                  <a:fillRect l="-1674" t="-15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2BBDD50-A18D-9105-D40B-75AAFFFFA1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09072" y="3429000"/>
                <a:ext cx="4839138" cy="300319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Also, given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05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2BBDD50-A18D-9105-D40B-75AAFFFFA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72" y="3429000"/>
                <a:ext cx="4839138" cy="3003199"/>
              </a:xfrm>
              <a:prstGeom prst="rect">
                <a:avLst/>
              </a:prstGeom>
              <a:blipFill>
                <a:blip r:embed="rId4"/>
                <a:stretch>
                  <a:fillRect t="-12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7893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6CF840-960E-7F45-1667-B8E438CBB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C1844FE-2A7B-D4BF-7BF7-503559DD2198}"/>
                  </a:ext>
                </a:extLst>
              </p:cNvPr>
              <p:cNvSpPr txBox="1"/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C1844FE-2A7B-D4BF-7BF7-503559DD2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3">
            <a:extLst>
              <a:ext uri="{FF2B5EF4-FFF2-40B4-BE49-F238E27FC236}">
                <a16:creationId xmlns:a16="http://schemas.microsoft.com/office/drawing/2014/main" id="{EFBCE330-5EF1-2CEC-3F6D-7ACB9D29DC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7F88B8A-6C5C-08FF-66F8-260BB8C955A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3" y="3714400"/>
                <a:ext cx="7010168" cy="3110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</a:pPr>
                <a:r>
                  <a:rPr lang="en-US" dirty="0"/>
                  <a:t>A component can be defective in two possible ways:</a:t>
                </a:r>
              </a:p>
              <a:p>
                <a:pPr lvl="2">
                  <a:lnSpc>
                    <a:spcPct val="114000"/>
                  </a:lnSpc>
                </a:pPr>
                <a:r>
                  <a:rPr lang="en-US" dirty="0"/>
                  <a:t>It came from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is defective</a:t>
                </a:r>
              </a:p>
              <a:p>
                <a:pPr lvl="2">
                  <a:lnSpc>
                    <a:spcPct val="114000"/>
                  </a:lnSpc>
                </a:pPr>
                <a:r>
                  <a:rPr lang="en-US" dirty="0"/>
                  <a:t>It came from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is defective</a:t>
                </a:r>
              </a:p>
              <a:p>
                <a:pPr lvl="3">
                  <a:lnSpc>
                    <a:spcPct val="114000"/>
                  </a:lnSpc>
                </a:pPr>
                <a:r>
                  <a:rPr lang="en-US" dirty="0"/>
                  <a:t>So, we add these two probabilities.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7F88B8A-6C5C-08FF-66F8-260BB8C955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3" y="3714400"/>
                <a:ext cx="7010168" cy="3110382"/>
              </a:xfrm>
              <a:prstGeom prst="rect">
                <a:avLst/>
              </a:prstGeom>
              <a:blipFill>
                <a:blip r:embed="rId3"/>
                <a:stretch>
                  <a:fillRect t="-978" r="-17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B902151-BD1B-CCDD-28F5-534D9C54DCE6}"/>
              </a:ext>
            </a:extLst>
          </p:cNvPr>
          <p:cNvCxnSpPr>
            <a:cxnSpLocks/>
            <a:endCxn id="10" idx="2"/>
          </p:cNvCxnSpPr>
          <p:nvPr/>
        </p:nvCxnSpPr>
        <p:spPr>
          <a:xfrm>
            <a:off x="9184610" y="2248570"/>
            <a:ext cx="1023738" cy="73272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01113E6-63E2-E316-052B-9422788A2527}"/>
              </a:ext>
            </a:extLst>
          </p:cNvPr>
          <p:cNvCxnSpPr>
            <a:cxnSpLocks/>
            <a:endCxn id="9" idx="2"/>
          </p:cNvCxnSpPr>
          <p:nvPr/>
        </p:nvCxnSpPr>
        <p:spPr>
          <a:xfrm flipV="1">
            <a:off x="9184610" y="1444940"/>
            <a:ext cx="1023738" cy="803632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A87A6287-C768-19F7-D1B5-02AFC8906F8E}"/>
              </a:ext>
            </a:extLst>
          </p:cNvPr>
          <p:cNvSpPr>
            <a:spLocks noChangeAspect="1"/>
          </p:cNvSpPr>
          <p:nvPr/>
        </p:nvSpPr>
        <p:spPr>
          <a:xfrm>
            <a:off x="10208348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80D77564-6D74-32EF-447F-A8AEE5E293BD}"/>
              </a:ext>
            </a:extLst>
          </p:cNvPr>
          <p:cNvSpPr>
            <a:spLocks noChangeAspect="1"/>
          </p:cNvSpPr>
          <p:nvPr/>
        </p:nvSpPr>
        <p:spPr>
          <a:xfrm>
            <a:off x="10208348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D390E00-4F83-E8B8-10A1-820B16EF7413}"/>
              </a:ext>
            </a:extLst>
          </p:cNvPr>
          <p:cNvCxnSpPr>
            <a:cxnSpLocks/>
            <a:stCxn id="9" idx="6"/>
            <a:endCxn id="13" idx="2"/>
          </p:cNvCxnSpPr>
          <p:nvPr/>
        </p:nvCxnSpPr>
        <p:spPr>
          <a:xfrm>
            <a:off x="10388348" y="1444940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6B2FC5D-47EB-06D3-045A-042D1E22EEAF}"/>
              </a:ext>
            </a:extLst>
          </p:cNvPr>
          <p:cNvCxnSpPr>
            <a:cxnSpLocks/>
            <a:stCxn id="10" idx="6"/>
            <a:endCxn id="14" idx="2"/>
          </p:cNvCxnSpPr>
          <p:nvPr/>
        </p:nvCxnSpPr>
        <p:spPr>
          <a:xfrm>
            <a:off x="10388348" y="2981293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B00E0985-5CBE-3CAB-DB44-6A731C776872}"/>
              </a:ext>
            </a:extLst>
          </p:cNvPr>
          <p:cNvSpPr>
            <a:spLocks noChangeAspect="1"/>
          </p:cNvSpPr>
          <p:nvPr/>
        </p:nvSpPr>
        <p:spPr>
          <a:xfrm>
            <a:off x="11637342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AB83544-CD1A-0559-BE16-9158B1794512}"/>
              </a:ext>
            </a:extLst>
          </p:cNvPr>
          <p:cNvSpPr>
            <a:spLocks noChangeAspect="1"/>
          </p:cNvSpPr>
          <p:nvPr/>
        </p:nvSpPr>
        <p:spPr>
          <a:xfrm>
            <a:off x="11637342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C2A7DEA-7859-54A9-142C-4D96EE0BA443}"/>
                  </a:ext>
                </a:extLst>
              </p:cNvPr>
              <p:cNvSpPr txBox="1"/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C2A7DEA-7859-54A9-142C-4D96EE0BA4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290A109-4D77-8B16-5BF5-B86BDCD33D16}"/>
                  </a:ext>
                </a:extLst>
              </p:cNvPr>
              <p:cNvSpPr txBox="1"/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290A109-4D77-8B16-5BF5-B86BDCD33D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31358C4-BAA8-FD20-D5CF-014C0C388DD0}"/>
                  </a:ext>
                </a:extLst>
              </p:cNvPr>
              <p:cNvSpPr txBox="1"/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31358C4-BAA8-FD20-D5CF-014C0C388D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6515858-3F2B-A03F-C3A0-2B55DFD682D1}"/>
                  </a:ext>
                </a:extLst>
              </p:cNvPr>
              <p:cNvSpPr txBox="1"/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6515858-3F2B-A03F-C3A0-2B55DFD682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45AF926-BB04-988C-B331-2543854E50C9}"/>
                  </a:ext>
                </a:extLst>
              </p:cNvPr>
              <p:cNvSpPr txBox="1"/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45AF926-BB04-988C-B331-2543854E50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7579FDD-686D-E008-6FC4-B87D401DF03C}"/>
                  </a:ext>
                </a:extLst>
              </p:cNvPr>
              <p:cNvSpPr txBox="1"/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7579FDD-686D-E008-6FC4-B87D401DF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F9E92A-8122-AFF3-8A17-2D6BA5B0E39F}"/>
                  </a:ext>
                </a:extLst>
              </p:cNvPr>
              <p:cNvSpPr txBox="1"/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F9E92A-8122-AFF3-8A17-2D6BA5B0E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07617A51-DE94-A151-32E2-B43B9D1854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3" y="711201"/>
                <a:ext cx="4839138" cy="300319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Also, given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05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671513" lvl="2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:endParaRPr lang="en-IN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07617A51-DE94-A151-32E2-B43B9D1854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3" y="711201"/>
                <a:ext cx="4839138" cy="3003199"/>
              </a:xfrm>
              <a:prstGeom prst="rect">
                <a:avLst/>
              </a:prstGeom>
              <a:blipFill>
                <a:blip r:embed="rId11"/>
                <a:stretch>
                  <a:fillRect t="-12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36117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9" grpId="0" animBg="1"/>
      <p:bldP spid="10" grpId="0" animBg="1"/>
      <p:bldP spid="13" grpId="0" animBg="1"/>
      <p:bldP spid="14" grpId="0" animBg="1"/>
      <p:bldP spid="15" grpId="0"/>
      <p:bldP spid="17" grpId="0"/>
      <p:bldP spid="18" grpId="0"/>
      <p:bldP spid="19" grpId="0"/>
      <p:bldP spid="20" grpId="0"/>
      <p:bldP spid="21" grpId="0"/>
      <p:bldP spid="22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B2443-C6C0-7FEE-6964-B5FE5371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4909830-D204-D948-13F9-C949C79663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EE860CD-B44D-C1D5-E75E-1F13DA4D820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24818" y="711201"/>
                <a:ext cx="8966052" cy="522200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Note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A component cannot be produced by both factories at the same time.</a:t>
                </a:r>
              </a:p>
              <a:p>
                <a:pPr marL="1033463" lvl="3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𝛟</m:t>
                      </m:r>
                    </m:oMath>
                  </m:oMathPara>
                </a14:m>
                <a:endParaRPr lang="en-IN" b="1" dirty="0"/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mutually exclusive.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Every component is produced either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or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marL="671513" lvl="2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US" b="1" dirty="0"/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exhaustive.</a:t>
                </a:r>
                <a:endParaRPr lang="en-IN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EE860CD-B44D-C1D5-E75E-1F13DA4D82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24818" y="711201"/>
                <a:ext cx="8966052" cy="5222008"/>
              </a:xfrm>
              <a:prstGeom prst="rect">
                <a:avLst/>
              </a:prstGeom>
              <a:blipFill>
                <a:blip r:embed="rId10"/>
                <a:stretch>
                  <a:fillRect t="-701" r="-14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056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7AC82-677D-302B-C3A7-81069A889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B4F35D8-5AAD-8B76-FE03-200427616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30FD915-ECAF-AC46-3F94-85C4C4C18AC6}"/>
              </a:ext>
            </a:extLst>
          </p:cNvPr>
          <p:cNvCxnSpPr>
            <a:cxnSpLocks/>
            <a:endCxn id="10" idx="2"/>
          </p:cNvCxnSpPr>
          <p:nvPr/>
        </p:nvCxnSpPr>
        <p:spPr>
          <a:xfrm>
            <a:off x="9184610" y="2248570"/>
            <a:ext cx="1023738" cy="73272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7EBA871-08B3-8AC7-C4CF-4220DB78CEE1}"/>
              </a:ext>
            </a:extLst>
          </p:cNvPr>
          <p:cNvCxnSpPr>
            <a:cxnSpLocks/>
            <a:endCxn id="9" idx="2"/>
          </p:cNvCxnSpPr>
          <p:nvPr/>
        </p:nvCxnSpPr>
        <p:spPr>
          <a:xfrm flipV="1">
            <a:off x="9184610" y="1444940"/>
            <a:ext cx="1023738" cy="803632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E6D6433F-AE80-152B-560D-AE36A3A9AF56}"/>
              </a:ext>
            </a:extLst>
          </p:cNvPr>
          <p:cNvSpPr>
            <a:spLocks noChangeAspect="1"/>
          </p:cNvSpPr>
          <p:nvPr/>
        </p:nvSpPr>
        <p:spPr>
          <a:xfrm>
            <a:off x="10208348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3B11477-07AA-3F20-57AE-A9CED3EE2EC9}"/>
              </a:ext>
            </a:extLst>
          </p:cNvPr>
          <p:cNvSpPr>
            <a:spLocks noChangeAspect="1"/>
          </p:cNvSpPr>
          <p:nvPr/>
        </p:nvSpPr>
        <p:spPr>
          <a:xfrm>
            <a:off x="10208348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055FAA5-D037-B79F-B9EF-B8B3F1EA5848}"/>
              </a:ext>
            </a:extLst>
          </p:cNvPr>
          <p:cNvCxnSpPr>
            <a:cxnSpLocks/>
            <a:stCxn id="9" idx="6"/>
            <a:endCxn id="13" idx="2"/>
          </p:cNvCxnSpPr>
          <p:nvPr/>
        </p:nvCxnSpPr>
        <p:spPr>
          <a:xfrm>
            <a:off x="10388348" y="1444940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B0F0B0A5-1B6E-1ADF-57B4-210B8D080891}"/>
              </a:ext>
            </a:extLst>
          </p:cNvPr>
          <p:cNvCxnSpPr>
            <a:cxnSpLocks/>
            <a:stCxn id="10" idx="6"/>
            <a:endCxn id="14" idx="2"/>
          </p:cNvCxnSpPr>
          <p:nvPr/>
        </p:nvCxnSpPr>
        <p:spPr>
          <a:xfrm>
            <a:off x="10388348" y="2981293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B74B11FD-635B-4AB7-426E-D0CF3125B553}"/>
              </a:ext>
            </a:extLst>
          </p:cNvPr>
          <p:cNvSpPr>
            <a:spLocks noChangeAspect="1"/>
          </p:cNvSpPr>
          <p:nvPr/>
        </p:nvSpPr>
        <p:spPr>
          <a:xfrm>
            <a:off x="11637342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74B42A9-BB17-90B6-9500-A2F4E86BF96C}"/>
              </a:ext>
            </a:extLst>
          </p:cNvPr>
          <p:cNvSpPr>
            <a:spLocks noChangeAspect="1"/>
          </p:cNvSpPr>
          <p:nvPr/>
        </p:nvSpPr>
        <p:spPr>
          <a:xfrm>
            <a:off x="11637342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BA25FFA-0AA8-FA67-93B2-640CBF559DD3}"/>
                  </a:ext>
                </a:extLst>
              </p:cNvPr>
              <p:cNvSpPr txBox="1"/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BA25FFA-0AA8-FA67-93B2-640CBF559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EC03C73-6760-29E8-4AD9-ECD960BBDBBB}"/>
                  </a:ext>
                </a:extLst>
              </p:cNvPr>
              <p:cNvSpPr txBox="1"/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EC03C73-6760-29E8-4AD9-ECD960BBD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8507C6-10E9-409E-CCCD-832BD76C97B0}"/>
                  </a:ext>
                </a:extLst>
              </p:cNvPr>
              <p:cNvSpPr txBox="1"/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8507C6-10E9-409E-CCCD-832BD76C9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F7D10AB-049B-5D82-5887-50855B727303}"/>
                  </a:ext>
                </a:extLst>
              </p:cNvPr>
              <p:cNvSpPr txBox="1"/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F7D10AB-049B-5D82-5887-50855B727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18FFC5-4E8B-C7B8-9EF5-5CCC426C55BD}"/>
                  </a:ext>
                </a:extLst>
              </p:cNvPr>
              <p:cNvSpPr txBox="1"/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18FFC5-4E8B-C7B8-9EF5-5CCC426C55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4C0A4A-98A6-FD2B-479C-AD2473D0F06E}"/>
                  </a:ext>
                </a:extLst>
              </p:cNvPr>
              <p:cNvSpPr txBox="1"/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4C0A4A-98A6-FD2B-479C-AD2473D0F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2B41353-622F-178A-1508-A56C47323252}"/>
                  </a:ext>
                </a:extLst>
              </p:cNvPr>
              <p:cNvSpPr txBox="1"/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2B41353-622F-178A-1508-A56C473232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C6C271B-13D6-D485-605E-0192A3AC0CBB}"/>
                  </a:ext>
                </a:extLst>
              </p:cNvPr>
              <p:cNvSpPr txBox="1"/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C6C271B-13D6-D485-605E-0192A3AC0C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F384A96-89C4-4EFE-0327-F3E26941271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4" y="711201"/>
                <a:ext cx="8977337" cy="1159163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are mutually exclusive and exhaustive, we can apply Total Probability Theorem,</a:t>
                </a:r>
                <a:endParaRPr lang="en-IN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F384A96-89C4-4EFE-0327-F3E2694127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4" y="711201"/>
                <a:ext cx="8977337" cy="1159163"/>
              </a:xfrm>
              <a:prstGeom prst="rect">
                <a:avLst/>
              </a:prstGeom>
              <a:blipFill>
                <a:blip r:embed="rId10"/>
                <a:stretch>
                  <a:fillRect t="-3158" r="-1359" b="-42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731FBF2-145F-E0CA-FB64-F67B558634EB}"/>
                  </a:ext>
                </a:extLst>
              </p:cNvPr>
              <p:cNvSpPr txBox="1"/>
              <p:nvPr/>
            </p:nvSpPr>
            <p:spPr>
              <a:xfrm>
                <a:off x="755723" y="1952611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731FBF2-145F-E0CA-FB64-F67B558634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723" y="1952611"/>
                <a:ext cx="787371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2972639-A6D1-8B6D-E9D0-4D30EA243E98}"/>
                  </a:ext>
                </a:extLst>
              </p:cNvPr>
              <p:cNvSpPr txBox="1"/>
              <p:nvPr/>
            </p:nvSpPr>
            <p:spPr>
              <a:xfrm>
                <a:off x="495949" y="2754075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2972639-A6D1-8B6D-E9D0-4D30EA243E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2754075"/>
                <a:ext cx="787371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925B0F6-D8B4-A407-1FF8-9D331921DF22}"/>
                  </a:ext>
                </a:extLst>
              </p:cNvPr>
              <p:cNvSpPr txBox="1"/>
              <p:nvPr/>
            </p:nvSpPr>
            <p:spPr>
              <a:xfrm>
                <a:off x="495949" y="3580706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925B0F6-D8B4-A407-1FF8-9D331921DF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3580706"/>
                <a:ext cx="787371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F5614-A2A7-FD67-4D2F-A6A976DE100D}"/>
                  </a:ext>
                </a:extLst>
              </p:cNvPr>
              <p:cNvSpPr txBox="1"/>
              <p:nvPr/>
            </p:nvSpPr>
            <p:spPr>
              <a:xfrm>
                <a:off x="495949" y="4407337"/>
                <a:ext cx="26154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F5614-A2A7-FD67-4D2F-A6A976DE10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4407337"/>
                <a:ext cx="261540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18324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3" grpId="0"/>
      <p:bldP spid="5" grpId="0"/>
      <p:bldP spid="6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In a certain assembly plant, three machines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US" dirty="0"/>
                  <a:t> make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45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25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respectively of the products. It is known from the past experience that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products made by each machine respectively are defective. Now, suppose that a finished product is randomly selected. What is the probability that it is defective?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blipFill>
                <a:blip r:embed="rId2"/>
                <a:stretch>
                  <a:fillRect l="-1074" r="-1074" b="-48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77613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1594216" y="377613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1594216" y="4292984"/>
                <a:ext cx="523261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292984"/>
                <a:ext cx="5232611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1594216" y="4858710"/>
                <a:ext cx="495123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58710"/>
                <a:ext cx="4951238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1594216" y="5424436"/>
                <a:ext cx="50871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24436"/>
                <a:ext cx="5087139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1734901" y="5990161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is defective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4901" y="5990161"/>
                <a:ext cx="4951239" cy="523220"/>
              </a:xfrm>
              <a:prstGeom prst="rect">
                <a:avLst/>
              </a:prstGeom>
              <a:blipFill>
                <a:blip r:embed="rId6"/>
                <a:stretch>
                  <a:fillRect t="-10588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BCF3DD82-B445-70CA-7BBB-118B56A9DCCE}"/>
              </a:ext>
            </a:extLst>
          </p:cNvPr>
          <p:cNvSpPr txBox="1"/>
          <p:nvPr/>
        </p:nvSpPr>
        <p:spPr>
          <a:xfrm>
            <a:off x="6681355" y="3782514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Also,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989C0-96A5-2080-EEFD-A95F2CDA9117}"/>
                  </a:ext>
                </a:extLst>
              </p:cNvPr>
              <p:cNvSpPr txBox="1"/>
              <p:nvPr/>
            </p:nvSpPr>
            <p:spPr>
              <a:xfrm>
                <a:off x="6681355" y="4299359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989C0-96A5-2080-EEFD-A95F2CDA9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4299359"/>
                <a:ext cx="234834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71C413F-8F3E-CB53-118A-AA5761F4CE63}"/>
                  </a:ext>
                </a:extLst>
              </p:cNvPr>
              <p:cNvSpPr txBox="1"/>
              <p:nvPr/>
            </p:nvSpPr>
            <p:spPr>
              <a:xfrm>
                <a:off x="9005456" y="4292984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71C413F-8F3E-CB53-118A-AA5761F4CE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4292984"/>
                <a:ext cx="278300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F739AE4-19CD-D885-C4D5-F810EFAD1329}"/>
                  </a:ext>
                </a:extLst>
              </p:cNvPr>
              <p:cNvSpPr txBox="1"/>
              <p:nvPr/>
            </p:nvSpPr>
            <p:spPr>
              <a:xfrm>
                <a:off x="6681355" y="4979217"/>
                <a:ext cx="25665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F739AE4-19CD-D885-C4D5-F810EFAD13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4979217"/>
                <a:ext cx="256655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B997CBB-E081-1F34-A4BF-ED948638B6AA}"/>
                  </a:ext>
                </a:extLst>
              </p:cNvPr>
              <p:cNvSpPr txBox="1"/>
              <p:nvPr/>
            </p:nvSpPr>
            <p:spPr>
              <a:xfrm>
                <a:off x="9005456" y="4972842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03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B997CBB-E081-1F34-A4BF-ED948638B6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4972842"/>
                <a:ext cx="27830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6101734-82EA-09DC-DBB9-70652456B212}"/>
                  </a:ext>
                </a:extLst>
              </p:cNvPr>
              <p:cNvSpPr txBox="1"/>
              <p:nvPr/>
            </p:nvSpPr>
            <p:spPr>
              <a:xfrm>
                <a:off x="6681355" y="5659075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6101734-82EA-09DC-DBB9-70652456B2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5659075"/>
                <a:ext cx="2348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81684F3-C5FE-B676-C5C5-E3090F5CAEA8}"/>
                  </a:ext>
                </a:extLst>
              </p:cNvPr>
              <p:cNvSpPr txBox="1"/>
              <p:nvPr/>
            </p:nvSpPr>
            <p:spPr>
              <a:xfrm>
                <a:off x="9005456" y="5652700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81684F3-C5FE-B676-C5C5-E3090F5CAE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5652700"/>
                <a:ext cx="278300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34977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7" grpId="0"/>
      <p:bldP spid="40" grpId="0"/>
      <p:bldP spid="41" grpId="0"/>
      <p:bldP spid="22" grpId="0"/>
      <p:bldP spid="6" grpId="0"/>
      <p:bldP spid="7" grpId="0"/>
      <p:bldP spid="8" grpId="0"/>
      <p:bldP spid="9" grpId="0"/>
      <p:bldP spid="10" grpId="0"/>
      <p:bldP spid="11" grpId="0"/>
      <p:bldP spid="14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2F1385-0340-6072-C47D-FCF1EAA8F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38BCFD-7ED0-CFCB-AF37-BB7D7FFC29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7CC854D-9283-4101-05F0-8A8112540FB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5" y="711202"/>
                <a:ext cx="12278359" cy="167870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The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GB" dirty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dirty="0"/>
                  <a:t> 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are </a:t>
                </a:r>
                <a:r>
                  <a:rPr lang="en-US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mutually exclusive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because a product cannot be manufactured by more than one machine and </a:t>
                </a:r>
                <a:r>
                  <a:rPr lang="en-US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exhaustive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because every product must be manufactured by one of these machines.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7CC854D-9283-4101-05F0-8A8112540F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5" y="711202"/>
                <a:ext cx="12278359" cy="1678708"/>
              </a:xfrm>
              <a:prstGeom prst="rect">
                <a:avLst/>
              </a:prstGeom>
              <a:blipFill>
                <a:blip r:embed="rId2"/>
                <a:stretch>
                  <a:fillRect t="-2182" r="-993" b="-72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B312821-7C19-D240-E084-24DF2AA5083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5" y="2389910"/>
                <a:ext cx="12278359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/>
                  <a:t>Now,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</m:e>
                    </m:d>
                    <m:r>
                      <a:rPr lang="en-IN" b="1" i="1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sub>
                        </m:sSub>
                      </m:e>
                    </m:d>
                  </m:oMath>
                </a14:m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B312821-7C19-D240-E084-24DF2AA508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5" y="2389910"/>
                <a:ext cx="12278359" cy="745836"/>
              </a:xfrm>
              <a:prstGeom prst="rect">
                <a:avLst/>
              </a:prstGeom>
              <a:blipFill>
                <a:blip r:embed="rId3"/>
                <a:stretch>
                  <a:fillRect t="-409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01E104F2-C8DB-9D02-AED1-066D122A50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3135746"/>
                <a:ext cx="106539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02</m:t>
                          </m:r>
                        </m:e>
                      </m:d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45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03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25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02</m:t>
                          </m:r>
                        </m:e>
                      </m:d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01E104F2-C8DB-9D02-AED1-066D122A50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3135746"/>
                <a:ext cx="10653913" cy="7458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B60DFA0-F232-51BC-D6B5-A92D78E78B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3881582"/>
                <a:ext cx="8367914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006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0135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005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B60DFA0-F232-51BC-D6B5-A92D78E78B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3881582"/>
                <a:ext cx="8367914" cy="74583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36B825A-06CE-5D83-31DD-64140EF171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4627418"/>
                <a:ext cx="34530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0245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36B825A-06CE-5D83-31DD-64140EF171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4627418"/>
                <a:ext cx="3453013" cy="74583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9E68F542-96B4-DEDB-0B51-FF06625FF4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90687" y="4627418"/>
                <a:ext cx="34530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%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9E68F542-96B4-DEDB-0B51-FF06625FF4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0687" y="4627418"/>
                <a:ext cx="3453013" cy="74583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A9380EA-FB71-C5FC-A524-003CB2E999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7600" y="5373254"/>
                <a:ext cx="11956243" cy="99983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:r>
                  <a:rPr lang="en-US" i="0" dirty="0">
                    <a:latin typeface="+mj-lt"/>
                  </a:rPr>
                  <a:t>This means that out of every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i="0" dirty="0">
                    <a:latin typeface="+mj-lt"/>
                  </a:rPr>
                  <a:t> products, approximately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i="0" dirty="0">
                    <a:latin typeface="+mj-lt"/>
                  </a:rPr>
                  <a:t> to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i="0" dirty="0">
                    <a:latin typeface="+mj-lt"/>
                  </a:rPr>
                  <a:t> products are defective.</a:t>
                </a:r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A9380EA-FB71-C5FC-A524-003CB2E99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600" y="5373254"/>
                <a:ext cx="11956243" cy="999838"/>
              </a:xfrm>
              <a:prstGeom prst="rect">
                <a:avLst/>
              </a:prstGeom>
              <a:blipFill>
                <a:blip r:embed="rId8"/>
                <a:stretch>
                  <a:fillRect t="-3049" r="-1020" b="-2073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41505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3" grpId="0"/>
      <p:bldP spid="15" grpId="0"/>
      <p:bldP spid="16" grpId="0"/>
      <p:bldP spid="17" grpId="0"/>
      <p:bldP spid="18" grpId="0"/>
      <p:bldP spid="20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73654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GB" dirty="0"/>
                  <a:t>An urn contains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dirty="0"/>
                  <a:t> white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black balls, while another urn contains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white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black balls. Two balls are drawn from the first urn and put into the second urn and then a ball is drawn from the later. What is the probability that it is a white ball?</a:t>
                </a:r>
                <a:endParaRPr lang="en-US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736540"/>
              </a:xfrm>
              <a:prstGeom prst="rect">
                <a:avLst/>
              </a:prstGeom>
              <a:blipFill>
                <a:blip r:embed="rId2"/>
                <a:stretch>
                  <a:fillRect l="-1074" r="-1074" b="-491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5746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4763084" y="275746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4763084" y="3280689"/>
                <a:ext cx="603531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Two white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3280689"/>
                <a:ext cx="6035310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4763084" y="3953375"/>
                <a:ext cx="560668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Two black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3953375"/>
                <a:ext cx="5606684" cy="523220"/>
              </a:xfrm>
              <a:prstGeom prst="rect">
                <a:avLst/>
              </a:prstGeom>
              <a:blipFill>
                <a:blip r:embed="rId4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4763084" y="4626061"/>
                <a:ext cx="7578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One white and one black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4626061"/>
                <a:ext cx="7578359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4763084" y="5298747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 : White ball drawn from Urn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5298747"/>
                <a:ext cx="4951239" cy="523220"/>
              </a:xfrm>
              <a:prstGeom prst="rect">
                <a:avLst/>
              </a:prstGeom>
              <a:blipFill>
                <a:blip r:embed="rId6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746946" y="2760172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946" y="2760172"/>
                <a:ext cx="1050958" cy="523220"/>
              </a:xfrm>
              <a:prstGeom prst="rect">
                <a:avLst/>
              </a:prstGeom>
              <a:blipFill>
                <a:blip r:embed="rId7"/>
                <a:stretch>
                  <a:fillRect l="-81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C9F4B86-3970-4A49-9886-D86428867E20}"/>
                  </a:ext>
                </a:extLst>
              </p:cNvPr>
              <p:cNvSpPr txBox="1"/>
              <p:nvPr/>
            </p:nvSpPr>
            <p:spPr>
              <a:xfrm>
                <a:off x="3277805" y="2757469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C9F4B86-3970-4A49-9886-D86428867E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7805" y="2757469"/>
                <a:ext cx="1050958" cy="523220"/>
              </a:xfrm>
              <a:prstGeom prst="rect">
                <a:avLst/>
              </a:prstGeom>
              <a:blipFill>
                <a:blip r:embed="rId8"/>
                <a:stretch>
                  <a:fillRect l="-814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4D7F6E4-9077-4833-AB1F-D54260D1BA6E}"/>
                  </a:ext>
                </a:extLst>
              </p:cNvPr>
              <p:cNvSpPr txBox="1"/>
              <p:nvPr/>
            </p:nvSpPr>
            <p:spPr>
              <a:xfrm>
                <a:off x="3130238" y="327981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White</a:t>
                </a:r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4D7F6E4-9077-4833-AB1F-D54260D1BA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3279814"/>
                <a:ext cx="1356419" cy="523220"/>
              </a:xfrm>
              <a:prstGeom prst="rect">
                <a:avLst/>
              </a:prstGeom>
              <a:blipFill>
                <a:blip r:embed="rId9"/>
                <a:stretch>
                  <a:fillRect t="-10465" r="-493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/>
              <p:nvPr/>
            </p:nvSpPr>
            <p:spPr>
              <a:xfrm>
                <a:off x="1503835" y="3281841"/>
                <a:ext cx="15305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10 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White</a:t>
                </a:r>
                <a:endParaRPr lang="en-IN" sz="2800" dirty="0"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835" y="3281841"/>
                <a:ext cx="1530569" cy="523220"/>
              </a:xfrm>
              <a:prstGeom prst="rect">
                <a:avLst/>
              </a:prstGeom>
              <a:blipFill>
                <a:blip r:embed="rId10"/>
                <a:stretch>
                  <a:fillRect t="-10465" r="-478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D255B6E-C9F4-4AA3-90EB-514D9CCD8D83}"/>
                  </a:ext>
                </a:extLst>
              </p:cNvPr>
              <p:cNvSpPr txBox="1"/>
              <p:nvPr/>
            </p:nvSpPr>
            <p:spPr>
              <a:xfrm>
                <a:off x="1503835" y="3803510"/>
                <a:ext cx="15305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Black</a:t>
                </a:r>
                <a:endParaRPr lang="en-IN" sz="2800" dirty="0"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D255B6E-C9F4-4AA3-90EB-514D9CCD8D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835" y="3803510"/>
                <a:ext cx="1530569" cy="523220"/>
              </a:xfrm>
              <a:prstGeom prst="rect">
                <a:avLst/>
              </a:prstGeom>
              <a:blipFill>
                <a:blip r:embed="rId11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BD33A3-6A3A-4B37-B134-06F9EC5172F7}"/>
                  </a:ext>
                </a:extLst>
              </p:cNvPr>
              <p:cNvSpPr txBox="1"/>
              <p:nvPr/>
            </p:nvSpPr>
            <p:spPr>
              <a:xfrm>
                <a:off x="3130238" y="3802159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Black</a:t>
                </a:r>
                <a:endParaRPr lang="en-IN" sz="2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BD33A3-6A3A-4B37-B134-06F9EC5172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3802159"/>
                <a:ext cx="1356419" cy="523220"/>
              </a:xfrm>
              <a:prstGeom prst="rect">
                <a:avLst/>
              </a:prstGeom>
              <a:blipFill>
                <a:blip r:embed="rId12"/>
                <a:stretch>
                  <a:fillRect t="-11628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5E68F11-790A-4EED-B385-EB7B1AB9BA60}"/>
              </a:ext>
            </a:extLst>
          </p:cNvPr>
          <p:cNvCxnSpPr>
            <a:cxnSpLocks/>
          </p:cNvCxnSpPr>
          <p:nvPr/>
        </p:nvCxnSpPr>
        <p:spPr>
          <a:xfrm>
            <a:off x="3172618" y="4419031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F6EBCC-5EFC-4FE6-B843-1C64E3CC3EFE}"/>
                  </a:ext>
                </a:extLst>
              </p:cNvPr>
              <p:cNvSpPr txBox="1"/>
              <p:nvPr/>
            </p:nvSpPr>
            <p:spPr>
              <a:xfrm>
                <a:off x="3130238" y="4475217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Balls</a:t>
                </a:r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F6EBCC-5EFC-4FE6-B843-1C64E3CC3E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4475217"/>
                <a:ext cx="1356419" cy="523220"/>
              </a:xfrm>
              <a:prstGeom prst="rect">
                <a:avLst/>
              </a:prstGeom>
              <a:blipFill>
                <a:blip r:embed="rId13"/>
                <a:stretch>
                  <a:fillRect t="-10465" r="-44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8B563FC3-E3BD-47FA-8DC9-CB76511C1DB9}"/>
              </a:ext>
            </a:extLst>
          </p:cNvPr>
          <p:cNvCxnSpPr>
            <a:cxnSpLocks/>
          </p:cNvCxnSpPr>
          <p:nvPr/>
        </p:nvCxnSpPr>
        <p:spPr>
          <a:xfrm>
            <a:off x="1633289" y="441887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22BCE20-B563-4506-A359-2D2E6B4D1830}"/>
                  </a:ext>
                </a:extLst>
              </p:cNvPr>
              <p:cNvSpPr txBox="1"/>
              <p:nvPr/>
            </p:nvSpPr>
            <p:spPr>
              <a:xfrm>
                <a:off x="1590910" y="4475217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Balls</a:t>
                </a:r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22BCE20-B563-4506-A359-2D2E6B4D18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4475217"/>
                <a:ext cx="1356419" cy="523220"/>
              </a:xfrm>
              <a:prstGeom prst="rect">
                <a:avLst/>
              </a:prstGeom>
              <a:blipFill>
                <a:blip r:embed="rId14"/>
                <a:stretch>
                  <a:fillRect t="-10465" r="-85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0052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7" grpId="0"/>
      <p:bldP spid="40" grpId="0"/>
      <p:bldP spid="41" grpId="0"/>
      <p:bldP spid="22" grpId="0"/>
      <p:bldP spid="12" grpId="0"/>
      <p:bldP spid="13" grpId="0"/>
      <p:bldP spid="15" grpId="0"/>
      <p:bldP spid="16" grpId="0"/>
      <p:bldP spid="17" grpId="0"/>
      <p:bldP spid="18" grpId="0"/>
      <p:bldP spid="20" grpId="0"/>
      <p:bldP spid="23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F6379-51D5-B5BD-4183-1F983F98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DE8D9D-6648-4D12-3012-ABB2729416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 (Continue)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B296C3-65C4-C3CA-E06F-E31FDC92D799}"/>
              </a:ext>
            </a:extLst>
          </p:cNvPr>
          <p:cNvSpPr txBox="1"/>
          <p:nvPr/>
        </p:nvSpPr>
        <p:spPr>
          <a:xfrm>
            <a:off x="139489" y="764617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630DCC5-9166-679A-C98B-34AC478F3B5C}"/>
                  </a:ext>
                </a:extLst>
              </p:cNvPr>
              <p:cNvSpPr txBox="1"/>
              <p:nvPr/>
            </p:nvSpPr>
            <p:spPr>
              <a:xfrm>
                <a:off x="157524" y="1923266"/>
                <a:ext cx="110431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630DCC5-9166-679A-C98B-34AC478F3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524" y="1923266"/>
                <a:ext cx="110431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9AFAA67-2A64-40D7-1FF0-A15DE85D197B}"/>
                  </a:ext>
                </a:extLst>
              </p:cNvPr>
              <p:cNvSpPr txBox="1"/>
              <p:nvPr/>
            </p:nvSpPr>
            <p:spPr>
              <a:xfrm>
                <a:off x="157524" y="3591139"/>
                <a:ext cx="110431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9AFAA67-2A64-40D7-1FF0-A15DE85D19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524" y="3591139"/>
                <a:ext cx="110431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3F75E-5F9A-4D9B-43BE-A814022471BB}"/>
                  </a:ext>
                </a:extLst>
              </p:cNvPr>
              <p:cNvSpPr txBox="1"/>
              <p:nvPr/>
            </p:nvSpPr>
            <p:spPr>
              <a:xfrm>
                <a:off x="2473264" y="1730905"/>
                <a:ext cx="1252946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3F75E-5F9A-4D9B-43BE-A81402247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3264" y="1730905"/>
                <a:ext cx="1252946" cy="90794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13A8AA7-DA28-5120-1162-FA6440BCB11D}"/>
                  </a:ext>
                </a:extLst>
              </p:cNvPr>
              <p:cNvSpPr txBox="1"/>
              <p:nvPr/>
            </p:nvSpPr>
            <p:spPr>
              <a:xfrm>
                <a:off x="139489" y="5110284"/>
                <a:ext cx="106315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13A8AA7-DA28-5120-1162-FA6440BCB1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9" y="5110284"/>
                <a:ext cx="10631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09EBD40-E73F-E1CE-A619-5FF59FF8D697}"/>
                  </a:ext>
                </a:extLst>
              </p:cNvPr>
              <p:cNvSpPr txBox="1"/>
              <p:nvPr/>
            </p:nvSpPr>
            <p:spPr>
              <a:xfrm>
                <a:off x="2473264" y="3398778"/>
                <a:ext cx="1336073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09EBD40-E73F-E1CE-A619-5FF59FF8D6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3264" y="3398778"/>
                <a:ext cx="1336073" cy="90794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19E55CA-54FC-C782-2CCD-843424144474}"/>
                  </a:ext>
                </a:extLst>
              </p:cNvPr>
              <p:cNvSpPr txBox="1"/>
              <p:nvPr/>
            </p:nvSpPr>
            <p:spPr>
              <a:xfrm>
                <a:off x="3368947" y="4897141"/>
                <a:ext cx="1336072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19E55CA-54FC-C782-2CCD-8434241444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8947" y="4897141"/>
                <a:ext cx="1336072" cy="90794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17066F8-FC16-B9CB-489C-80AC83652679}"/>
                  </a:ext>
                </a:extLst>
              </p:cNvPr>
              <p:cNvSpPr txBox="1"/>
              <p:nvPr/>
            </p:nvSpPr>
            <p:spPr>
              <a:xfrm>
                <a:off x="1155020" y="1671114"/>
                <a:ext cx="1432737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17066F8-FC16-B9CB-489C-80AC836526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5020" y="1671114"/>
                <a:ext cx="1432737" cy="102752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477BA11-D2AA-9664-05B2-7DFE8837A69B}"/>
                  </a:ext>
                </a:extLst>
              </p:cNvPr>
              <p:cNvSpPr txBox="1"/>
              <p:nvPr/>
            </p:nvSpPr>
            <p:spPr>
              <a:xfrm>
                <a:off x="1155020" y="3338987"/>
                <a:ext cx="1432737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477BA11-D2AA-9664-05B2-7DFE8837A6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5020" y="3338987"/>
                <a:ext cx="1432737" cy="102752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76ADD37-F3C5-B7B2-529A-CCD9E39B8A7D}"/>
                  </a:ext>
                </a:extLst>
              </p:cNvPr>
              <p:cNvSpPr txBox="1"/>
              <p:nvPr/>
            </p:nvSpPr>
            <p:spPr>
              <a:xfrm>
                <a:off x="1136985" y="4858132"/>
                <a:ext cx="2273524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76ADD37-F3C5-B7B2-529A-CCD9E39B8A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6985" y="4858132"/>
                <a:ext cx="2273524" cy="102752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Picture 2">
            <a:extLst>
              <a:ext uri="{FF2B5EF4-FFF2-40B4-BE49-F238E27FC236}">
                <a16:creationId xmlns:a16="http://schemas.microsoft.com/office/drawing/2014/main" id="{F207E167-9A4D-4E43-07F3-D5935466BD68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06088" y="908730"/>
            <a:ext cx="5946423" cy="164434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8D154FB-2CD8-A014-B254-02DCC631185F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037701" y="2895050"/>
            <a:ext cx="2834886" cy="1963082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743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4" grpId="0"/>
      <p:bldP spid="26" grpId="0"/>
      <p:bldP spid="29" grpId="0"/>
      <p:bldP spid="30" grpId="0"/>
      <p:bldP spid="31" grpId="0"/>
      <p:bldP spid="40" grpId="0"/>
      <p:bldP spid="41" grpId="0"/>
      <p:bldP spid="42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 (Continue)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B6709CF-ADF8-434C-B161-A4B852409937}"/>
              </a:ext>
            </a:extLst>
          </p:cNvPr>
          <p:cNvSpPr txBox="1"/>
          <p:nvPr/>
        </p:nvSpPr>
        <p:spPr>
          <a:xfrm>
            <a:off x="145464" y="4066281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233843B8-2CEF-45C8-87F2-8FC5755B3744}"/>
                  </a:ext>
                </a:extLst>
              </p:cNvPr>
              <p:cNvSpPr txBox="1"/>
              <p:nvPr/>
            </p:nvSpPr>
            <p:spPr>
              <a:xfrm>
                <a:off x="897597" y="768626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233843B8-2CEF-45C8-87F2-8FC5755B3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597" y="768626"/>
                <a:ext cx="2253884" cy="523220"/>
              </a:xfrm>
              <a:prstGeom prst="rect">
                <a:avLst/>
              </a:prstGeom>
              <a:blipFill>
                <a:blip r:embed="rId2"/>
                <a:stretch>
                  <a:fillRect l="-540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48203DA-D02C-43D6-88CF-40621AFA75B1}"/>
                  </a:ext>
                </a:extLst>
              </p:cNvPr>
              <p:cNvSpPr txBox="1"/>
              <p:nvPr/>
            </p:nvSpPr>
            <p:spPr>
              <a:xfrm>
                <a:off x="4519237" y="768626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48203DA-D02C-43D6-88CF-40621AFA75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9237" y="768626"/>
                <a:ext cx="2253884" cy="523220"/>
              </a:xfrm>
              <a:prstGeom prst="rect">
                <a:avLst/>
              </a:prstGeom>
              <a:blipFill>
                <a:blip r:embed="rId3"/>
                <a:stretch>
                  <a:fillRect l="-540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CDD1A10-12FE-4286-83C4-4DA85E363CE5}"/>
                  </a:ext>
                </a:extLst>
              </p:cNvPr>
              <p:cNvSpPr txBox="1"/>
              <p:nvPr/>
            </p:nvSpPr>
            <p:spPr>
              <a:xfrm>
                <a:off x="7442550" y="758382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CDD1A10-12FE-4286-83C4-4DA85E363C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2550" y="758382"/>
                <a:ext cx="2253884" cy="523220"/>
              </a:xfrm>
              <a:prstGeom prst="rect">
                <a:avLst/>
              </a:prstGeom>
              <a:blipFill>
                <a:blip r:embed="rId4"/>
                <a:stretch>
                  <a:fillRect l="-567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9053185-4CF4-43D5-9089-1792D6A067F4}"/>
                  </a:ext>
                </a:extLst>
              </p:cNvPr>
              <p:cNvSpPr txBox="1"/>
              <p:nvPr/>
            </p:nvSpPr>
            <p:spPr>
              <a:xfrm>
                <a:off x="894096" y="4693573"/>
                <a:ext cx="1838512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9053185-4CF4-43D5-9089-1792D6A067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096" y="4693573"/>
                <a:ext cx="18385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66C5352-F05A-452A-99C4-ECEFCC7A4D21}"/>
                  </a:ext>
                </a:extLst>
              </p:cNvPr>
              <p:cNvSpPr txBox="1"/>
              <p:nvPr/>
            </p:nvSpPr>
            <p:spPr>
              <a:xfrm>
                <a:off x="4167686" y="4693573"/>
                <a:ext cx="1717879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66C5352-F05A-452A-99C4-ECEFCC7A4D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67686" y="4693573"/>
                <a:ext cx="17178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61CF1A1-D1A8-4960-9F18-CBF529C20F8E}"/>
                  </a:ext>
                </a:extLst>
              </p:cNvPr>
              <p:cNvSpPr txBox="1"/>
              <p:nvPr/>
            </p:nvSpPr>
            <p:spPr>
              <a:xfrm>
                <a:off x="7220308" y="4689734"/>
                <a:ext cx="1795037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61CF1A1-D1A8-4960-9F18-CBF529C20F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0308" y="4689734"/>
                <a:ext cx="179503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281C21B-B6FF-45DA-A1D3-DAE04044EE7E}"/>
                  </a:ext>
                </a:extLst>
              </p:cNvPr>
              <p:cNvSpPr txBox="1"/>
              <p:nvPr/>
            </p:nvSpPr>
            <p:spPr>
              <a:xfrm>
                <a:off x="2494801" y="5621350"/>
                <a:ext cx="1183173" cy="901785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281C21B-B6FF-45DA-A1D3-DAE04044EE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4801" y="5621350"/>
                <a:ext cx="1183173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63FBA0-CC09-46F4-B184-076317B20909}"/>
                  </a:ext>
                </a:extLst>
              </p:cNvPr>
              <p:cNvSpPr txBox="1"/>
              <p:nvPr/>
            </p:nvSpPr>
            <p:spPr>
              <a:xfrm>
                <a:off x="8791525" y="5617511"/>
                <a:ext cx="1183173" cy="901785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63FBA0-CC09-46F4-B184-076317B20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1525" y="5617511"/>
                <a:ext cx="1183173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C6D113E-9502-4DE5-982B-B5B2B463D161}"/>
                  </a:ext>
                </a:extLst>
              </p:cNvPr>
              <p:cNvSpPr txBox="1"/>
              <p:nvPr/>
            </p:nvSpPr>
            <p:spPr>
              <a:xfrm>
                <a:off x="1518595" y="1720950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C6D113E-9502-4DE5-982B-B5B2B463D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8595" y="1720950"/>
                <a:ext cx="1050958" cy="523220"/>
              </a:xfrm>
              <a:prstGeom prst="rect">
                <a:avLst/>
              </a:prstGeom>
              <a:blipFill>
                <a:blip r:embed="rId10"/>
                <a:stretch>
                  <a:fillRect l="-751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C12D006-67A8-4B54-9013-C962B3A19468}"/>
                  </a:ext>
                </a:extLst>
              </p:cNvPr>
              <p:cNvSpPr txBox="1"/>
              <p:nvPr/>
            </p:nvSpPr>
            <p:spPr>
              <a:xfrm>
                <a:off x="1365865" y="2224856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C12D006-67A8-4B54-9013-C962B3A194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2224856"/>
                <a:ext cx="1356419" cy="523220"/>
              </a:xfrm>
              <a:prstGeom prst="rect">
                <a:avLst/>
              </a:prstGeom>
              <a:blipFill>
                <a:blip r:embed="rId11"/>
                <a:stretch>
                  <a:fillRect t="-11628" r="-493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BA852A4-4B66-4EE1-8426-87DFE7B39F26}"/>
                  </a:ext>
                </a:extLst>
              </p:cNvPr>
              <p:cNvSpPr txBox="1"/>
              <p:nvPr/>
            </p:nvSpPr>
            <p:spPr>
              <a:xfrm>
                <a:off x="1365865" y="2744552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BA852A4-4B66-4EE1-8426-87DFE7B39F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2744552"/>
                <a:ext cx="1356419" cy="523220"/>
              </a:xfrm>
              <a:prstGeom prst="rect">
                <a:avLst/>
              </a:prstGeom>
              <a:blipFill>
                <a:blip r:embed="rId12"/>
                <a:stretch>
                  <a:fillRect t="-10465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D389C5EE-A46A-475E-A012-BBAE48C49A6C}"/>
              </a:ext>
            </a:extLst>
          </p:cNvPr>
          <p:cNvCxnSpPr>
            <a:cxnSpLocks/>
          </p:cNvCxnSpPr>
          <p:nvPr/>
        </p:nvCxnSpPr>
        <p:spPr>
          <a:xfrm>
            <a:off x="1408245" y="3320579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1C5DE77-B307-44B4-8BC1-39424203AA41}"/>
                  </a:ext>
                </a:extLst>
              </p:cNvPr>
              <p:cNvSpPr txBox="1"/>
              <p:nvPr/>
            </p:nvSpPr>
            <p:spPr>
              <a:xfrm>
                <a:off x="1365865" y="3355662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1C5DE77-B307-44B4-8BC1-39424203AA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3355662"/>
                <a:ext cx="1356419" cy="523220"/>
              </a:xfrm>
              <a:prstGeom prst="rect">
                <a:avLst/>
              </a:prstGeom>
              <a:blipFill>
                <a:blip r:embed="rId13"/>
                <a:stretch>
                  <a:fillRect t="-10465" r="-807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A934B6B-AC02-4B12-A6C3-FC129EEB54C2}"/>
                  </a:ext>
                </a:extLst>
              </p:cNvPr>
              <p:cNvSpPr txBox="1"/>
              <p:nvPr/>
            </p:nvSpPr>
            <p:spPr>
              <a:xfrm>
                <a:off x="5032229" y="1718988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A934B6B-AC02-4B12-A6C3-FC129EEB5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2229" y="1718988"/>
                <a:ext cx="1050958" cy="523220"/>
              </a:xfrm>
              <a:prstGeom prst="rect">
                <a:avLst/>
              </a:prstGeom>
              <a:blipFill>
                <a:blip r:embed="rId14"/>
                <a:stretch>
                  <a:fillRect l="-7514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4553A55-5375-4D9D-85D3-4C1FF248FF72}"/>
                  </a:ext>
                </a:extLst>
              </p:cNvPr>
              <p:cNvSpPr txBox="1"/>
              <p:nvPr/>
            </p:nvSpPr>
            <p:spPr>
              <a:xfrm>
                <a:off x="4879499" y="222289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4553A55-5375-4D9D-85D3-4C1FF248F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2222894"/>
                <a:ext cx="1356419" cy="523220"/>
              </a:xfrm>
              <a:prstGeom prst="rect">
                <a:avLst/>
              </a:prstGeom>
              <a:blipFill>
                <a:blip r:embed="rId15"/>
                <a:stretch>
                  <a:fillRect t="-11765" r="-493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7719EB-1487-4C00-998F-23C30DBAA929}"/>
                  </a:ext>
                </a:extLst>
              </p:cNvPr>
              <p:cNvSpPr txBox="1"/>
              <p:nvPr/>
            </p:nvSpPr>
            <p:spPr>
              <a:xfrm>
                <a:off x="4879499" y="274259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7719EB-1487-4C00-998F-23C30DBAA9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2742590"/>
                <a:ext cx="1356419" cy="523220"/>
              </a:xfrm>
              <a:prstGeom prst="rect">
                <a:avLst/>
              </a:prstGeom>
              <a:blipFill>
                <a:blip r:embed="rId16"/>
                <a:stretch>
                  <a:fillRect t="-11628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299FC5D-32ED-4593-9577-6F0BECFADC06}"/>
              </a:ext>
            </a:extLst>
          </p:cNvPr>
          <p:cNvCxnSpPr>
            <a:cxnSpLocks/>
          </p:cNvCxnSpPr>
          <p:nvPr/>
        </p:nvCxnSpPr>
        <p:spPr>
          <a:xfrm>
            <a:off x="4921879" y="331861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ED99BFD-9145-49FC-BCAF-9CC377472CCE}"/>
                  </a:ext>
                </a:extLst>
              </p:cNvPr>
              <p:cNvSpPr txBox="1"/>
              <p:nvPr/>
            </p:nvSpPr>
            <p:spPr>
              <a:xfrm>
                <a:off x="4879499" y="335370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ED99BFD-9145-49FC-BCAF-9CC377472C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3353700"/>
                <a:ext cx="1356419" cy="523220"/>
              </a:xfrm>
              <a:prstGeom prst="rect">
                <a:avLst/>
              </a:prstGeom>
              <a:blipFill>
                <a:blip r:embed="rId17"/>
                <a:stretch>
                  <a:fillRect t="-10465" r="-807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04443C8-1788-4FDE-BEC6-D6AA3134E439}"/>
                  </a:ext>
                </a:extLst>
              </p:cNvPr>
              <p:cNvSpPr txBox="1"/>
              <p:nvPr/>
            </p:nvSpPr>
            <p:spPr>
              <a:xfrm>
                <a:off x="8044484" y="1718988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04443C8-1788-4FDE-BEC6-D6AA3134E4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4484" y="1718988"/>
                <a:ext cx="1050958" cy="523220"/>
              </a:xfrm>
              <a:prstGeom prst="rect">
                <a:avLst/>
              </a:prstGeom>
              <a:blipFill>
                <a:blip r:embed="rId18"/>
                <a:stretch>
                  <a:fillRect l="-81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B578344-4ADC-44A0-9314-FDA21882BF55}"/>
                  </a:ext>
                </a:extLst>
              </p:cNvPr>
              <p:cNvSpPr txBox="1"/>
              <p:nvPr/>
            </p:nvSpPr>
            <p:spPr>
              <a:xfrm>
                <a:off x="7891754" y="222289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B578344-4ADC-44A0-9314-FDA21882BF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2222894"/>
                <a:ext cx="1356419" cy="523220"/>
              </a:xfrm>
              <a:prstGeom prst="rect">
                <a:avLst/>
              </a:prstGeom>
              <a:blipFill>
                <a:blip r:embed="rId19"/>
                <a:stretch>
                  <a:fillRect t="-11765" r="-495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6BDC969-60F4-4DCD-A53C-30C8913667D1}"/>
                  </a:ext>
                </a:extLst>
              </p:cNvPr>
              <p:cNvSpPr txBox="1"/>
              <p:nvPr/>
            </p:nvSpPr>
            <p:spPr>
              <a:xfrm>
                <a:off x="7891754" y="274259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6BDC969-60F4-4DCD-A53C-30C8913667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2742590"/>
                <a:ext cx="1356419" cy="523220"/>
              </a:xfrm>
              <a:prstGeom prst="rect">
                <a:avLst/>
              </a:prstGeom>
              <a:blipFill>
                <a:blip r:embed="rId20"/>
                <a:stretch>
                  <a:fillRect t="-11628" r="-360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9F59E87-57E0-4202-B308-F63C761B5B3A}"/>
              </a:ext>
            </a:extLst>
          </p:cNvPr>
          <p:cNvCxnSpPr>
            <a:cxnSpLocks/>
          </p:cNvCxnSpPr>
          <p:nvPr/>
        </p:nvCxnSpPr>
        <p:spPr>
          <a:xfrm>
            <a:off x="7934134" y="331861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0C8A33-D390-45BA-B0FF-715DA1923F47}"/>
                  </a:ext>
                </a:extLst>
              </p:cNvPr>
              <p:cNvSpPr txBox="1"/>
              <p:nvPr/>
            </p:nvSpPr>
            <p:spPr>
              <a:xfrm>
                <a:off x="7891754" y="335370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0C8A33-D390-45BA-B0FF-715DA1923F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3353700"/>
                <a:ext cx="1356419" cy="523220"/>
              </a:xfrm>
              <a:prstGeom prst="rect">
                <a:avLst/>
              </a:prstGeom>
              <a:blipFill>
                <a:blip r:embed="rId21"/>
                <a:stretch>
                  <a:fillRect t="-10465" r="-810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53C48E8-A4E7-4C2D-AAD5-8D4514ABC9DA}"/>
                  </a:ext>
                </a:extLst>
              </p:cNvPr>
              <p:cNvSpPr txBox="1"/>
              <p:nvPr/>
            </p:nvSpPr>
            <p:spPr>
              <a:xfrm>
                <a:off x="10658172" y="771280"/>
                <a:ext cx="105095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200" b="1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200" b="1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200" b="1" dirty="0">
                  <a:solidFill>
                    <a:srgbClr val="00206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53C48E8-A4E7-4C2D-AAD5-8D4514ABC9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8172" y="771280"/>
                <a:ext cx="1050958" cy="430887"/>
              </a:xfrm>
              <a:prstGeom prst="rect">
                <a:avLst/>
              </a:prstGeom>
              <a:blipFill>
                <a:blip r:embed="rId22"/>
                <a:stretch>
                  <a:fillRect t="-11429" b="-357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985AAE7-E24F-4D61-88B8-1E3D061E5E96}"/>
                  </a:ext>
                </a:extLst>
              </p:cNvPr>
              <p:cNvSpPr txBox="1"/>
              <p:nvPr/>
            </p:nvSpPr>
            <p:spPr>
              <a:xfrm>
                <a:off x="10510605" y="1212223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200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White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985AAE7-E24F-4D61-88B8-1E3D061E5E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1212223"/>
                <a:ext cx="1356419" cy="430887"/>
              </a:xfrm>
              <a:prstGeom prst="rect">
                <a:avLst/>
              </a:prstGeom>
              <a:blipFill>
                <a:blip r:embed="rId23"/>
                <a:stretch>
                  <a:fillRect t="-11268" b="-33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CB1ECCF-9254-4311-B956-59712B353E10}"/>
                  </a:ext>
                </a:extLst>
              </p:cNvPr>
              <p:cNvSpPr txBox="1"/>
              <p:nvPr/>
            </p:nvSpPr>
            <p:spPr>
              <a:xfrm>
                <a:off x="10510605" y="1643110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200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Black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CB1ECCF-9254-4311-B956-59712B35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1643110"/>
                <a:ext cx="1356419" cy="430887"/>
              </a:xfrm>
              <a:prstGeom prst="rect">
                <a:avLst/>
              </a:prstGeom>
              <a:blipFill>
                <a:blip r:embed="rId24"/>
                <a:stretch>
                  <a:fillRect t="-11429" b="-357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7490028-977C-414C-B9B3-1B3D303699CE}"/>
              </a:ext>
            </a:extLst>
          </p:cNvPr>
          <p:cNvCxnSpPr>
            <a:cxnSpLocks/>
          </p:cNvCxnSpPr>
          <p:nvPr/>
        </p:nvCxnSpPr>
        <p:spPr>
          <a:xfrm>
            <a:off x="10610787" y="2071615"/>
            <a:ext cx="1156054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7EF7C0A-E9B9-4937-A09B-F41E63DE97AB}"/>
                  </a:ext>
                </a:extLst>
              </p:cNvPr>
              <p:cNvSpPr txBox="1"/>
              <p:nvPr/>
            </p:nvSpPr>
            <p:spPr>
              <a:xfrm>
                <a:off x="10510605" y="2103618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200" b="0" i="1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Balls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7EF7C0A-E9B9-4937-A09B-F41E63DE9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2103618"/>
                <a:ext cx="1356419" cy="430887"/>
              </a:xfrm>
              <a:prstGeom prst="rect">
                <a:avLst/>
              </a:prstGeom>
              <a:blipFill>
                <a:blip r:embed="rId25"/>
                <a:stretch>
                  <a:fillRect t="-11268" b="-33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D956D32-1190-4ACE-94A9-95F8F9824410}"/>
                  </a:ext>
                </a:extLst>
              </p:cNvPr>
              <p:cNvSpPr txBox="1"/>
              <p:nvPr/>
            </p:nvSpPr>
            <p:spPr>
              <a:xfrm>
                <a:off x="726981" y="1276912"/>
                <a:ext cx="2619402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white balls added 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D956D32-1190-4ACE-94A9-95F8F98244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6981" y="1276912"/>
                <a:ext cx="2619402" cy="461665"/>
              </a:xfrm>
              <a:prstGeom prst="rect">
                <a:avLst/>
              </a:prstGeom>
              <a:blipFill>
                <a:blip r:embed="rId26"/>
                <a:stretch>
                  <a:fillRect t="-9211" r="-698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ACF7E5D-E7DC-4A85-B1B0-FD55DA9039E6}"/>
                  </a:ext>
                </a:extLst>
              </p:cNvPr>
              <p:cNvSpPr txBox="1"/>
              <p:nvPr/>
            </p:nvSpPr>
            <p:spPr>
              <a:xfrm>
                <a:off x="4258978" y="1276912"/>
                <a:ext cx="2568081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black balls added 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ACF7E5D-E7DC-4A85-B1B0-FD55DA9039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8978" y="1276912"/>
                <a:ext cx="2568081" cy="461665"/>
              </a:xfrm>
              <a:prstGeom prst="rect">
                <a:avLst/>
              </a:prstGeom>
              <a:blipFill>
                <a:blip r:embed="rId27"/>
                <a:stretch>
                  <a:fillRect t="-9211" r="-1425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23E103F-A142-47B0-8818-67D4142FC0B6}"/>
                  </a:ext>
                </a:extLst>
              </p:cNvPr>
              <p:cNvSpPr txBox="1"/>
              <p:nvPr/>
            </p:nvSpPr>
            <p:spPr>
              <a:xfrm>
                <a:off x="7220308" y="1251420"/>
                <a:ext cx="280223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white </a:t>
                </a:r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black added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23E103F-A142-47B0-8818-67D4142FC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0308" y="1251420"/>
                <a:ext cx="2802230" cy="461665"/>
              </a:xfrm>
              <a:prstGeom prst="rect">
                <a:avLst/>
              </a:prstGeom>
              <a:blipFill>
                <a:blip r:embed="rId28"/>
                <a:stretch>
                  <a:fillRect l="-217" t="-9211" r="-3043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B9BEB3C6-54B7-4A51-8B17-E10F072CEEDA}"/>
                  </a:ext>
                </a:extLst>
              </p:cNvPr>
              <p:cNvSpPr txBox="1"/>
              <p:nvPr/>
            </p:nvSpPr>
            <p:spPr>
              <a:xfrm>
                <a:off x="2494802" y="4499898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B9BEB3C6-54B7-4A51-8B17-E10F072CE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4802" y="4499898"/>
                <a:ext cx="1183173" cy="91057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9CB4F29-C587-4A53-8974-35B91E050EFD}"/>
                  </a:ext>
                </a:extLst>
              </p:cNvPr>
              <p:cNvSpPr txBox="1"/>
              <p:nvPr/>
            </p:nvSpPr>
            <p:spPr>
              <a:xfrm>
                <a:off x="8768100" y="4496059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9CB4F29-C587-4A53-8974-35B91E050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8100" y="4496059"/>
                <a:ext cx="1183173" cy="91057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62F7E90-FE60-4D8E-BCE3-CC2F9213F08A}"/>
                  </a:ext>
                </a:extLst>
              </p:cNvPr>
              <p:cNvSpPr txBox="1"/>
              <p:nvPr/>
            </p:nvSpPr>
            <p:spPr>
              <a:xfrm>
                <a:off x="10355433" y="2885626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62F7E90-FE60-4D8E-BCE3-CC2F9213F0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55433" y="2885626"/>
                <a:ext cx="887916" cy="461665"/>
              </a:xfrm>
              <a:prstGeom prst="rect">
                <a:avLst/>
              </a:prstGeom>
              <a:blipFill>
                <a:blip r:embed="rId31"/>
                <a:stretch>
                  <a:fillRect l="-13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8E673C6-4A63-49CF-863B-A45AABE084A3}"/>
                  </a:ext>
                </a:extLst>
              </p:cNvPr>
              <p:cNvSpPr txBox="1"/>
              <p:nvPr/>
            </p:nvSpPr>
            <p:spPr>
              <a:xfrm>
                <a:off x="10355433" y="3813134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8E673C6-4A63-49CF-863B-A45AABE084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55433" y="3813134"/>
                <a:ext cx="887916" cy="461665"/>
              </a:xfrm>
              <a:prstGeom prst="rect">
                <a:avLst/>
              </a:prstGeom>
              <a:blipFill>
                <a:blip r:embed="rId32"/>
                <a:stretch>
                  <a:fillRect l="-1379" b="-1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9C4F1C04-690C-4DF1-9FFD-2BDF7D18D828}"/>
                  </a:ext>
                </a:extLst>
              </p:cNvPr>
              <p:cNvSpPr txBox="1"/>
              <p:nvPr/>
            </p:nvSpPr>
            <p:spPr>
              <a:xfrm>
                <a:off x="11020387" y="2719619"/>
                <a:ext cx="1063150" cy="7936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9C4F1C04-690C-4DF1-9FFD-2BDF7D18D8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387" y="2719619"/>
                <a:ext cx="1063150" cy="793679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2165C3A-0569-4518-A73F-2384240FA799}"/>
                  </a:ext>
                </a:extLst>
              </p:cNvPr>
              <p:cNvSpPr txBox="1"/>
              <p:nvPr/>
            </p:nvSpPr>
            <p:spPr>
              <a:xfrm>
                <a:off x="10328760" y="4702267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2165C3A-0569-4518-A73F-2384240FA7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8760" y="4702267"/>
                <a:ext cx="887916" cy="461665"/>
              </a:xfrm>
              <a:prstGeom prst="rect">
                <a:avLst/>
              </a:prstGeom>
              <a:blipFill>
                <a:blip r:embed="rId34"/>
                <a:stretch>
                  <a:fillRect l="-68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13CEA52-C786-4A38-9605-FAF71FB709EA}"/>
                  </a:ext>
                </a:extLst>
              </p:cNvPr>
              <p:cNvSpPr txBox="1"/>
              <p:nvPr/>
            </p:nvSpPr>
            <p:spPr>
              <a:xfrm>
                <a:off x="11020087" y="3650878"/>
                <a:ext cx="1063150" cy="7861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13CEA52-C786-4A38-9605-FAF71FB709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087" y="3650878"/>
                <a:ext cx="1063150" cy="786177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313FD60-F492-4DE0-AD2B-226568604E19}"/>
                  </a:ext>
                </a:extLst>
              </p:cNvPr>
              <p:cNvSpPr txBox="1"/>
              <p:nvPr/>
            </p:nvSpPr>
            <p:spPr>
              <a:xfrm>
                <a:off x="11020087" y="4536260"/>
                <a:ext cx="1063150" cy="7622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313FD60-F492-4DE0-AD2B-226568604E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087" y="4536260"/>
                <a:ext cx="1063150" cy="76226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86CE412-5D34-4ECE-9B66-6F76D103531E}"/>
                  </a:ext>
                </a:extLst>
              </p:cNvPr>
              <p:cNvSpPr txBox="1"/>
              <p:nvPr/>
            </p:nvSpPr>
            <p:spPr>
              <a:xfrm>
                <a:off x="5732330" y="4499898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86CE412-5D34-4ECE-9B66-6F76D1035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2330" y="4499898"/>
                <a:ext cx="1183173" cy="91057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3957403" y="959370"/>
            <a:ext cx="0" cy="5276538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7107835" y="916898"/>
            <a:ext cx="0" cy="5276538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ounded Rectangle 5"/>
          <p:cNvSpPr/>
          <p:nvPr/>
        </p:nvSpPr>
        <p:spPr>
          <a:xfrm>
            <a:off x="10121123" y="711201"/>
            <a:ext cx="1983698" cy="4871803"/>
          </a:xfrm>
          <a:prstGeom prst="roundRect">
            <a:avLst/>
          </a:prstGeom>
          <a:noFill/>
          <a:ln>
            <a:solidFill>
              <a:srgbClr val="6600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5279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27" grpId="0"/>
      <p:bldP spid="28" grpId="0"/>
      <p:bldP spid="32" grpId="0"/>
      <p:bldP spid="33" grpId="0"/>
      <p:bldP spid="34" grpId="0"/>
      <p:bldP spid="23" grpId="0"/>
      <p:bldP spid="24" grpId="0"/>
      <p:bldP spid="26" grpId="0"/>
      <p:bldP spid="30" grpId="0"/>
      <p:bldP spid="31" grpId="0"/>
      <p:bldP spid="35" grpId="0"/>
      <p:bldP spid="36" grpId="0"/>
      <p:bldP spid="38" grpId="0"/>
      <p:bldP spid="39" grpId="0"/>
      <p:bldP spid="40" grpId="0"/>
      <p:bldP spid="41" grpId="0"/>
      <p:bldP spid="43" grpId="0"/>
      <p:bldP spid="49" grpId="0"/>
      <p:bldP spid="50" grpId="0"/>
      <p:bldP spid="51" grpId="0"/>
      <p:bldP spid="52" grpId="0"/>
      <p:bldP spid="53" grpId="0"/>
      <p:bldP spid="60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9100461-655F-D4CD-9C54-7E15A48290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2953" y="731983"/>
                <a:ext cx="10595035" cy="299695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When two balls are drawn: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both are white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 occurs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both are black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dirty="0"/>
                  <a:t> ​occurs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one is white and one is black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US" dirty="0"/>
                  <a:t> occurs</a:t>
                </a:r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Only one of these can happen, never more than one.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9100461-655F-D4CD-9C54-7E15A48290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2953" y="731983"/>
                <a:ext cx="10595035" cy="2996957"/>
              </a:xfrm>
              <a:prstGeom prst="rect">
                <a:avLst/>
              </a:prstGeom>
              <a:blipFill>
                <a:blip r:embed="rId2"/>
                <a:stretch>
                  <a:fillRect t="-1016" b="-24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DD3F8BA-3F26-10A8-281C-AB9D7D89AC12}"/>
                  </a:ext>
                </a:extLst>
              </p:cNvPr>
              <p:cNvSpPr txBox="1"/>
              <p:nvPr/>
            </p:nvSpPr>
            <p:spPr>
              <a:xfrm>
                <a:off x="2506308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DD3F8BA-3F26-10A8-281C-AB9D7D89AC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6308" y="3666089"/>
                <a:ext cx="27411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927941-FD29-24C9-7EF9-A2FE3A9E8898}"/>
                  </a:ext>
                </a:extLst>
              </p:cNvPr>
              <p:cNvSpPr txBox="1"/>
              <p:nvPr/>
            </p:nvSpPr>
            <p:spPr>
              <a:xfrm>
                <a:off x="5208174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927941-FD29-24C9-7EF9-A2FE3A9E88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08174" y="3666089"/>
                <a:ext cx="27411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9EA455-E477-2818-553B-3F79D3FAB104}"/>
                  </a:ext>
                </a:extLst>
              </p:cNvPr>
              <p:cNvSpPr txBox="1"/>
              <p:nvPr/>
            </p:nvSpPr>
            <p:spPr>
              <a:xfrm>
                <a:off x="7578032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9EA455-E477-2818-553B-3F79D3FAB1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8032" y="3666089"/>
                <a:ext cx="27411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FE0CDC8-BAE5-C950-B418-2E3C3780C4D8}"/>
                  </a:ext>
                </a:extLst>
              </p:cNvPr>
              <p:cNvSpPr txBox="1"/>
              <p:nvPr/>
            </p:nvSpPr>
            <p:spPr>
              <a:xfrm>
                <a:off x="1098387" y="4243228"/>
                <a:ext cx="73454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Hence</a:t>
                </a: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are mutually exclusive</a:t>
                </a: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.  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FE0CDC8-BAE5-C950-B418-2E3C3780C4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387" y="4243228"/>
                <a:ext cx="7345478" cy="523220"/>
              </a:xfrm>
              <a:prstGeom prst="rect">
                <a:avLst/>
              </a:prstGeom>
              <a:blipFill>
                <a:blip r:embed="rId6"/>
                <a:stretch>
                  <a:fillRect l="-1660" t="-1279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2B70AE0-C7F3-2C0A-08D5-B3E4D780307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2953" y="4820367"/>
                <a:ext cx="12192000" cy="1847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/>
                  <a:t>Also, every possible outcome of drawing two balls belongs to exactly one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marL="271463" lvl="1" indent="0" algn="ctr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∴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∪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i="0">
                        <a:latin typeface="Cambria Math" panose="02040503050406030204" pitchFamily="18" charset="0"/>
                      </a:rPr>
                      <m:t>∪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and hence the events are exhaustive.</a:t>
                </a: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2B70AE0-C7F3-2C0A-08D5-B3E4D78030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2953" y="4820367"/>
                <a:ext cx="12192000" cy="1847115"/>
              </a:xfrm>
              <a:prstGeom prst="rect">
                <a:avLst/>
              </a:prstGeom>
              <a:blipFill>
                <a:blip r:embed="rId7"/>
                <a:stretch>
                  <a:fillRect t="-1980" r="-1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03621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041521-98A1-106D-EF73-DB5EAE15DB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EE819C-AFC6-0078-A2D5-41FE51D6BA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 (Continue)</a:t>
            </a:r>
            <a:endParaRPr lang="en-US" dirty="0"/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74F9C97E-BDB4-6EC2-8681-76FCB2F89070}"/>
              </a:ext>
            </a:extLst>
          </p:cNvPr>
          <p:cNvSpPr txBox="1">
            <a:spLocks/>
          </p:cNvSpPr>
          <p:nvPr/>
        </p:nvSpPr>
        <p:spPr>
          <a:xfrm>
            <a:off x="-152173" y="801254"/>
            <a:ext cx="5867173" cy="6223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lvl="1" indent="0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None/>
              <a:tabLst>
                <a:tab pos="1071563" algn="l"/>
                <a:tab pos="1260475" algn="l"/>
              </a:tabLst>
            </a:pPr>
            <a:r>
              <a:rPr lang="en-US" dirty="0">
                <a:solidFill>
                  <a:srgbClr val="002060"/>
                </a:solidFill>
                <a:ea typeface="Times New Roman" panose="02020603050405020304" pitchFamily="18" charset="0"/>
                <a:cs typeface="Shruti" panose="020B0502040204020203" pitchFamily="34" charset="0"/>
              </a:rPr>
              <a:t>From the law of Total Probability,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FDC6269-435E-F631-7C7C-78BB75EC0FD5}"/>
                  </a:ext>
                </a:extLst>
              </p:cNvPr>
              <p:cNvSpPr txBox="1"/>
              <p:nvPr/>
            </p:nvSpPr>
            <p:spPr>
              <a:xfrm>
                <a:off x="283661" y="1575953"/>
                <a:ext cx="113437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sz="2800" b="1" i="1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FDC6269-435E-F631-7C7C-78BB75EC0F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661" y="1575953"/>
                <a:ext cx="1134376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DBAB390-1A1B-C29A-D8AF-A9364326E0A0}"/>
                  </a:ext>
                </a:extLst>
              </p:cNvPr>
              <p:cNvSpPr txBox="1"/>
              <p:nvPr/>
            </p:nvSpPr>
            <p:spPr>
              <a:xfrm>
                <a:off x="43117" y="2538782"/>
                <a:ext cx="11343766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26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26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DBAB390-1A1B-C29A-D8AF-A9364326E0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17" y="2538782"/>
                <a:ext cx="11343766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0A3C304-E333-EB47-5549-DDC9E8DF6ECF}"/>
                  </a:ext>
                </a:extLst>
              </p:cNvPr>
              <p:cNvSpPr txBox="1"/>
              <p:nvPr/>
            </p:nvSpPr>
            <p:spPr>
              <a:xfrm>
                <a:off x="43117" y="4038874"/>
                <a:ext cx="3749565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59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0A3C304-E333-EB47-5549-DDC9E8DF6E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17" y="4038874"/>
                <a:ext cx="3749565" cy="90774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53319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7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3AE23F-E366-7B01-52BC-F559A790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ECAC0E-0D28-D82E-3FAA-A3FE365E4E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Example: Software Engineer Recruitment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38967E-C9D9-0C3F-B5FA-5264566F6BF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79429"/>
            <a:ext cx="11929641" cy="711200"/>
          </a:xfrm>
        </p:spPr>
        <p:txBody>
          <a:bodyPr/>
          <a:lstStyle/>
          <a:p>
            <a:r>
              <a:rPr lang="en-US" dirty="0"/>
              <a:t>A company recruits Software Engineers through two recruitment channels.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A42FB5A-E20B-4FB5-21F9-67F8A343F1C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3173650"/>
                <a:ext cx="9539591" cy="323687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Applicant applied through</a:t>
                </a:r>
                <a:r>
                  <a:rPr lang="en-IN" i="0" dirty="0">
                    <a:latin typeface="+mj-lt"/>
                  </a:rPr>
                  <a:t> </a:t>
                </a:r>
                <a:r>
                  <a:rPr lang="en-US" i="0" dirty="0">
                    <a:latin typeface="+mj-lt"/>
                  </a:rPr>
                  <a:t>Campus Placement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 Applicant applied through Off-Campus Recruitment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Applicant is Hired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=0.6,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=0.4,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A42FB5A-E20B-4FB5-21F9-67F8A343F1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3173650"/>
                <a:ext cx="9539591" cy="32368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9388C9A-7897-A973-6D72-5EEB8765FDF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77918745"/>
                  </p:ext>
                </p:extLst>
              </p:nvPr>
            </p:nvGraphicFramePr>
            <p:xfrm>
              <a:off x="552613" y="1450348"/>
              <a:ext cx="11086773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684905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765868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3636000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Recruitment Channel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Percentage of Applicants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Hiring Rate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Campus Placement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Off-Campus Recruitment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9388C9A-7897-A973-6D72-5EEB8765FDF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77918745"/>
                  </p:ext>
                </p:extLst>
              </p:nvPr>
            </p:nvGraphicFramePr>
            <p:xfrm>
              <a:off x="552613" y="1450348"/>
              <a:ext cx="11086773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684905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765868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3636000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Recruitment Channel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Percentage of Applicants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Hiring Rate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Campus Placement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58" t="-109302" r="-96926" b="-1325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05025" t="-109302" r="-335" b="-1325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Off-Campus Recruitment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58" t="-211765" r="-96926" b="-3411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05025" t="-211765" r="-335" b="-3411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650094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154EBA-9087-ACA6-BEED-5641218146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7F5D24-F1E9-8419-3D0B-49022D6A90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Prior Probability : Our Initial Belief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7F2CF069-CAF9-987B-94EA-ED453491BD5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26852"/>
                <a:ext cx="11929641" cy="4289897"/>
              </a:xfrm>
            </p:spPr>
            <p:txBody>
              <a:bodyPr/>
              <a:lstStyle/>
              <a:p>
                <a:r>
                  <a:rPr lang="en-US" dirty="0"/>
                  <a:t>Suppose you randomly select one applicant. </a:t>
                </a:r>
              </a:p>
              <a:p>
                <a:pPr marL="0" indent="0" algn="ctr">
                  <a:buNone/>
                </a:pPr>
                <a:r>
                  <a:rPr lang="en-US" dirty="0">
                    <a:solidFill>
                      <a:schemeClr val="accent6">
                        <a:lumMod val="75000"/>
                      </a:schemeClr>
                    </a:solidFill>
                  </a:rPr>
                  <a:t>Before knowing whether the applicant is hired</a:t>
                </a:r>
                <a:r>
                  <a:rPr lang="en-US" dirty="0"/>
                  <a:t>, </a:t>
                </a:r>
                <a:r>
                  <a:rPr lang="en-US" b="1" dirty="0">
                    <a:solidFill>
                      <a:srgbClr val="0070C0"/>
                    </a:solidFill>
                  </a:rPr>
                  <a:t>what is the probability that the applicant came through Campus Placement?</a:t>
                </a:r>
              </a:p>
              <a:p>
                <a:r>
                  <a:rPr lang="en-US" dirty="0"/>
                  <a:t>Since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60%</m:t>
                    </m:r>
                  </m:oMath>
                </a14:m>
                <a:r>
                  <a:rPr lang="en-US" dirty="0"/>
                  <a:t> applicants came through Campus,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=0.6</m:t>
                    </m:r>
                  </m:oMath>
                </a14:m>
                <a:r>
                  <a:rPr lang="en-US" dirty="0"/>
                  <a:t>.</a:t>
                </a:r>
              </a:p>
              <a:p>
                <a:r>
                  <a:rPr lang="en-US" dirty="0"/>
                  <a:t>Similarly,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=0.4</m:t>
                    </m:r>
                  </m:oMath>
                </a14:m>
                <a:endParaRPr lang="en-US" dirty="0"/>
              </a:p>
              <a:p>
                <a:r>
                  <a:rPr lang="en-US" dirty="0"/>
                  <a:t>These are called the </a:t>
                </a:r>
                <a:r>
                  <a:rPr lang="en-US" dirty="0">
                    <a:solidFill>
                      <a:srgbClr val="7030A0"/>
                    </a:solidFill>
                  </a:rPr>
                  <a:t>Prior Probabilities</a:t>
                </a:r>
                <a:r>
                  <a:rPr lang="en-US" dirty="0"/>
                  <a:t> because they are known before seeing whether the applicant is hired.</a:t>
                </a: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7F2CF069-CAF9-987B-94EA-ED453491BD5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26852"/>
                <a:ext cx="11929641" cy="4289897"/>
              </a:xfrm>
              <a:blipFill>
                <a:blip r:embed="rId2"/>
                <a:stretch>
                  <a:fillRect l="-971" r="-1074" b="-412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CFC19C4B-F97C-D146-87D1-95FD24D1E0D3}"/>
              </a:ext>
            </a:extLst>
          </p:cNvPr>
          <p:cNvSpPr txBox="1">
            <a:spLocks/>
          </p:cNvSpPr>
          <p:nvPr/>
        </p:nvSpPr>
        <p:spPr>
          <a:xfrm>
            <a:off x="633918" y="5264519"/>
            <a:ext cx="10924162" cy="1172567"/>
          </a:xfrm>
          <a:prstGeom prst="rect">
            <a:avLst/>
          </a:prstGeom>
          <a:ln w="19050">
            <a:solidFill>
              <a:schemeClr val="tx1">
                <a:lumMod val="90000"/>
                <a:lumOff val="10000"/>
              </a:schemeClr>
            </a:solidFill>
          </a:ln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i="1" dirty="0">
                <a:solidFill>
                  <a:srgbClr val="C00000"/>
                </a:solidFill>
              </a:rPr>
              <a:t>Prior Probability</a:t>
            </a:r>
            <a:r>
              <a:rPr lang="en-US" i="1" dirty="0">
                <a:solidFill>
                  <a:schemeClr val="tx1"/>
                </a:solidFill>
              </a:rPr>
              <a:t> is the probability of an event before considering any new information or evidence. It represents our initial belief based on existing data.</a:t>
            </a:r>
          </a:p>
        </p:txBody>
      </p:sp>
    </p:spTree>
    <p:extLst>
      <p:ext uri="{BB962C8B-B14F-4D97-AF65-F5344CB8AC3E}">
        <p14:creationId xmlns:p14="http://schemas.microsoft.com/office/powerpoint/2010/main" val="3679052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966D3C-B1C7-F5A9-70DD-C7CC50206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CF5B23-1E71-7557-BC4E-33AE89AFB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Evidence : New Information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E6F103F0-BA74-F14E-A3F3-2A918AD68E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26852"/>
            <a:ext cx="11929641" cy="4289897"/>
          </a:xfrm>
        </p:spPr>
        <p:txBody>
          <a:bodyPr/>
          <a:lstStyle/>
          <a:p>
            <a:r>
              <a:rPr lang="en-US" dirty="0"/>
              <a:t>Suppose you are told only one thing: "</a:t>
            </a:r>
            <a:r>
              <a:rPr lang="en-US" b="1" i="1" dirty="0">
                <a:solidFill>
                  <a:srgbClr val="0070C0"/>
                </a:solidFill>
              </a:rPr>
              <a:t>The applicant has been hired</a:t>
            </a:r>
            <a:r>
              <a:rPr lang="en-US" dirty="0"/>
              <a:t>.“ </a:t>
            </a:r>
          </a:p>
          <a:p>
            <a:r>
              <a:rPr lang="en-US" dirty="0"/>
              <a:t>You do not know whether the applicant came through</a:t>
            </a:r>
          </a:p>
          <a:p>
            <a:pPr lvl="1"/>
            <a:r>
              <a:rPr lang="en-US" dirty="0"/>
              <a:t>Campus Placement or Off-Campus Recruitment.</a:t>
            </a:r>
          </a:p>
          <a:p>
            <a:r>
              <a:rPr lang="en-US" dirty="0"/>
              <a:t>The only information you have is the applicant is hired.</a:t>
            </a:r>
          </a:p>
          <a:p>
            <a:r>
              <a:rPr lang="en-US" dirty="0"/>
              <a:t>This observed fact is called the </a:t>
            </a:r>
            <a:r>
              <a:rPr lang="en-US" b="1" dirty="0">
                <a:solidFill>
                  <a:srgbClr val="7030A0"/>
                </a:solidFill>
              </a:rPr>
              <a:t>evidence</a:t>
            </a:r>
            <a:r>
              <a:rPr lang="en-US" dirty="0"/>
              <a:t>.</a:t>
            </a:r>
          </a:p>
          <a:p>
            <a:r>
              <a:rPr lang="en-US" dirty="0"/>
              <a:t>We calculate it using the Law of Total Probability.</a:t>
            </a:r>
          </a:p>
        </p:txBody>
      </p:sp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C7C06393-7C4B-C5D1-BCEB-8F7D8D2020B3}"/>
              </a:ext>
            </a:extLst>
          </p:cNvPr>
          <p:cNvSpPr txBox="1">
            <a:spLocks/>
          </p:cNvSpPr>
          <p:nvPr/>
        </p:nvSpPr>
        <p:spPr>
          <a:xfrm>
            <a:off x="633918" y="5264519"/>
            <a:ext cx="10924162" cy="1172567"/>
          </a:xfrm>
          <a:prstGeom prst="rect">
            <a:avLst/>
          </a:prstGeom>
          <a:ln w="19050">
            <a:solidFill>
              <a:schemeClr val="tx1">
                <a:lumMod val="90000"/>
                <a:lumOff val="10000"/>
              </a:schemeClr>
            </a:solidFill>
          </a:ln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i="1" dirty="0">
                <a:solidFill>
                  <a:srgbClr val="C00000"/>
                </a:solidFill>
              </a:rPr>
              <a:t>Evidence </a:t>
            </a:r>
            <a:r>
              <a:rPr lang="en-US" i="1" dirty="0">
                <a:solidFill>
                  <a:schemeClr val="tx1"/>
                </a:solidFill>
              </a:rPr>
              <a:t>is the overall probability of the given new information, regardless of how it occurred.</a:t>
            </a:r>
          </a:p>
        </p:txBody>
      </p:sp>
    </p:spTree>
    <p:extLst>
      <p:ext uri="{BB962C8B-B14F-4D97-AF65-F5344CB8AC3E}">
        <p14:creationId xmlns:p14="http://schemas.microsoft.com/office/powerpoint/2010/main" val="3015312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25BBF-21AD-17AB-9ED0-82EF273AEE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E75ED6-7ACD-F423-AA00-85821EC757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Likelihood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9CF80DC4-D114-3FE6-2C2F-FBF6B7BE8B2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0471969" cy="3860798"/>
              </a:xfrm>
            </p:spPr>
            <p:txBody>
              <a:bodyPr/>
              <a:lstStyle/>
              <a:p>
                <a:r>
                  <a:rPr lang="en-US" dirty="0"/>
                  <a:t>If an applicant came through Campus Placement, what is the probability that they are hired?</a:t>
                </a:r>
              </a:p>
              <a:p>
                <a:r>
                  <a:rPr lang="en-US" dirty="0"/>
                  <a:t>From table,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lang="en-US" dirty="0"/>
              </a:p>
              <a:p>
                <a:r>
                  <a:rPr lang="en-US" dirty="0"/>
                  <a:t>Here, </a:t>
                </a:r>
              </a:p>
              <a:p>
                <a:pPr lvl="1"/>
                <a:r>
                  <a:rPr lang="en-US" dirty="0"/>
                  <a:t>Particular event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Campus Placement</a:t>
                </a:r>
              </a:p>
              <a:p>
                <a:pPr lvl="1"/>
                <a:r>
                  <a:rPr lang="en-US" dirty="0"/>
                  <a:t>New information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Applicant is hired.</a:t>
                </a: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9CF80DC4-D114-3FE6-2C2F-FBF6B7BE8B2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0471969" cy="3860798"/>
              </a:xfrm>
              <a:blipFill>
                <a:blip r:embed="rId2"/>
                <a:stretch>
                  <a:fillRect l="-1107" r="-1223" b="-173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6C997C09-A2AE-0ED3-678B-8646C89039A7}"/>
              </a:ext>
            </a:extLst>
          </p:cNvPr>
          <p:cNvSpPr txBox="1">
            <a:spLocks/>
          </p:cNvSpPr>
          <p:nvPr/>
        </p:nvSpPr>
        <p:spPr>
          <a:xfrm>
            <a:off x="1814877" y="4442477"/>
            <a:ext cx="8562246" cy="1242493"/>
          </a:xfrm>
          <a:prstGeom prst="rect">
            <a:avLst/>
          </a:prstGeom>
          <a:ln w="19050">
            <a:solidFill>
              <a:schemeClr val="tx1">
                <a:lumMod val="90000"/>
                <a:lumOff val="10000"/>
              </a:schemeClr>
            </a:solidFill>
          </a:ln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i="1" dirty="0">
                <a:solidFill>
                  <a:srgbClr val="C00000"/>
                </a:solidFill>
              </a:rPr>
              <a:t>Likelihood</a:t>
            </a:r>
            <a:r>
              <a:rPr lang="en-US" i="1" dirty="0">
                <a:solidFill>
                  <a:schemeClr val="tx1"/>
                </a:solidFill>
              </a:rPr>
              <a:t> is the probability of getting the given new information (evidence) when a particular event has occurred.</a:t>
            </a:r>
          </a:p>
        </p:txBody>
      </p:sp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BB22EF18-5CF3-3C2B-8C41-15B7A5C0A95D}"/>
              </a:ext>
            </a:extLst>
          </p:cNvPr>
          <p:cNvSpPr txBox="1">
            <a:spLocks/>
          </p:cNvSpPr>
          <p:nvPr/>
        </p:nvSpPr>
        <p:spPr>
          <a:xfrm>
            <a:off x="607732" y="5764923"/>
            <a:ext cx="10976536" cy="745208"/>
          </a:xfrm>
          <a:prstGeom prst="rect">
            <a:avLst/>
          </a:prstGeom>
          <a:ln w="19050">
            <a:solidFill>
              <a:schemeClr val="tx1">
                <a:lumMod val="90000"/>
                <a:lumOff val="10000"/>
              </a:schemeClr>
            </a:solidFill>
          </a:ln>
        </p:spPr>
        <p:txBody>
          <a:bodyPr vert="horz" lIns="91440" tIns="45720" rIns="91440" bIns="45720" rtlCol="0">
            <a:noAutofit/>
          </a:bodyPr>
          <a:lstStyle>
            <a:defPPr>
              <a:defRPr lang="en-US"/>
            </a:defPPr>
            <a:lvl1pPr indent="0" algn="ctr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  <a:defRPr sz="2800" i="1"/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Likelihood is the conditional probability of the evidence given a </a:t>
            </a:r>
            <a:r>
              <a:rPr lang="en-US"/>
              <a:t>particular event.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3146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4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A8555-6E1D-6744-B48D-27846D1239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1E038C-8EC3-902B-E26A-54D3A2267C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96B351-34E6-8D93-B637-604BB5FC4B4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87323"/>
            <a:ext cx="11929641" cy="711200"/>
          </a:xfrm>
        </p:spPr>
        <p:txBody>
          <a:bodyPr/>
          <a:lstStyle/>
          <a:p>
            <a:r>
              <a:rPr lang="en-US" dirty="0"/>
              <a:t>A company recruits Software Engineers through two recruitment channels.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35D041E9-E4A0-88E8-7522-7A35FFD9A0D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7876051"/>
                  </p:ext>
                </p:extLst>
              </p:nvPr>
            </p:nvGraphicFramePr>
            <p:xfrm>
              <a:off x="552612" y="1498523"/>
              <a:ext cx="11086773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684905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765868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3636000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Recruitment Channel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Percentage of Applicants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Hiring Rate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Campus Placement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60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80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Off-Campus Recruitment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40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50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35D041E9-E4A0-88E8-7522-7A35FFD9A0D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7876051"/>
                  </p:ext>
                </p:extLst>
              </p:nvPr>
            </p:nvGraphicFramePr>
            <p:xfrm>
              <a:off x="552612" y="1498523"/>
              <a:ext cx="11086773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684905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765868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3636000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Recruitment Channel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Percentage of Applicants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Hiring Rate</a:t>
                          </a: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Campus Placement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98058" t="-109302" r="-96926" b="-1325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05025" t="-109302" r="-335" b="-1325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Off-Campus Recruitment</a:t>
                          </a:r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98058" t="-211765" r="-96926" b="-3411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05025" t="-211765" r="-335" b="-3411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8D7BC9CB-469C-F785-C39F-65049036F27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3173650"/>
                <a:ext cx="8613987" cy="323687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Applicant applied through</a:t>
                </a:r>
                <a:r>
                  <a:rPr lang="en-IN" i="0" dirty="0">
                    <a:latin typeface="+mj-lt"/>
                  </a:rPr>
                  <a:t> </a:t>
                </a:r>
                <a:r>
                  <a:rPr lang="en-US" i="0" dirty="0">
                    <a:latin typeface="+mj-lt"/>
                  </a:rPr>
                  <a:t>Campus Placement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O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i="0" dirty="0">
                    <a:latin typeface="+mj-lt"/>
                  </a:rPr>
                  <a:t> Applicant applied through Off-Campus Recruitment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Applicant is Hired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O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8D7BC9CB-469C-F785-C39F-65049036F2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3173650"/>
                <a:ext cx="8613987" cy="3236878"/>
              </a:xfrm>
              <a:prstGeom prst="rect">
                <a:avLst/>
              </a:prstGeom>
              <a:blipFill>
                <a:blip r:embed="rId3"/>
                <a:stretch>
                  <a:fillRect r="-35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08A933C1-13A5-D501-7C02-2EA9CAFF4B54}"/>
              </a:ext>
            </a:extLst>
          </p:cNvPr>
          <p:cNvSpPr txBox="1"/>
          <p:nvPr/>
        </p:nvSpPr>
        <p:spPr>
          <a:xfrm>
            <a:off x="5932396" y="4639515"/>
            <a:ext cx="612842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i="1" dirty="0"/>
              <a:t>An applicant has been hired. What is the probability that the applicant came through Campus Placement?</a:t>
            </a:r>
            <a:endParaRPr lang="en-IN" sz="2400" i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716B01D-5FA6-19FD-6EBA-9C8DA379216C}"/>
                  </a:ext>
                </a:extLst>
              </p:cNvPr>
              <p:cNvSpPr txBox="1"/>
              <p:nvPr/>
            </p:nvSpPr>
            <p:spPr>
              <a:xfrm>
                <a:off x="8013233" y="5839844"/>
                <a:ext cx="238976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40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sz="240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latin typeface="Cambria Math" panose="02040503050406030204" pitchFamily="18" charset="0"/>
                        </a:rPr>
                        <m:t> ?</m:t>
                      </m:r>
                    </m:oMath>
                  </m:oMathPara>
                </a14:m>
                <a:endParaRPr lang="en-IN" sz="2400" i="1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716B01D-5FA6-19FD-6EBA-9C8DA37921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3233" y="5839844"/>
                <a:ext cx="2389760" cy="461665"/>
              </a:xfrm>
              <a:prstGeom prst="rect">
                <a:avLst/>
              </a:prstGeom>
              <a:blipFill>
                <a:blip r:embed="rId4"/>
                <a:stretch>
                  <a:fillRect b="-184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00308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5FB438-B8B4-E661-DD75-430B54AC7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3743CD-A3E0-9EAC-E9F6-F36E6C5B73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75238DD-2B36-795C-E036-AD1E5B70AF1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8"/>
                <a:ext cx="11929641" cy="2084036"/>
              </a:xfrm>
            </p:spPr>
            <p:txBody>
              <a:bodyPr/>
              <a:lstStyle/>
              <a:p>
                <a:r>
                  <a:rPr lang="en-IN" dirty="0"/>
                  <a:t>Start From Conditional Probability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0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75238DD-2B36-795C-E036-AD1E5B70AF1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8"/>
                <a:ext cx="11929641" cy="2084036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CB61E83D-111C-5193-6A6F-D462F51ED9EB}"/>
              </a:ext>
            </a:extLst>
          </p:cNvPr>
          <p:cNvSpPr txBox="1">
            <a:spLocks/>
          </p:cNvSpPr>
          <p:nvPr/>
        </p:nvSpPr>
        <p:spPr>
          <a:xfrm>
            <a:off x="131179" y="2523632"/>
            <a:ext cx="11435008" cy="208403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IN" dirty="0"/>
              <a:t>Meaning:</a:t>
            </a:r>
          </a:p>
          <a:p>
            <a:pPr lvl="2"/>
            <a:r>
              <a:rPr lang="en-IN" dirty="0"/>
              <a:t>Numerator → </a:t>
            </a:r>
            <a:r>
              <a:rPr lang="en-US" dirty="0"/>
              <a:t>Applicant came through Campus Placement and is hired.</a:t>
            </a:r>
            <a:endParaRPr lang="en-IN" dirty="0"/>
          </a:p>
          <a:p>
            <a:pPr lvl="2"/>
            <a:r>
              <a:rPr lang="en-IN" dirty="0"/>
              <a:t>Denominator → </a:t>
            </a:r>
            <a:r>
              <a:rPr lang="en-US" dirty="0"/>
              <a:t>Applicant is hired (through any recruitment channel).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DCDA5562-0EE2-3F87-487F-7F98FA58A78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4475649"/>
                <a:ext cx="6366898" cy="71892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Now,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∙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DCDA5562-0EE2-3F87-487F-7F98FA58A7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4475649"/>
                <a:ext cx="6366898" cy="718921"/>
              </a:xfrm>
              <a:prstGeom prst="rect">
                <a:avLst/>
              </a:prstGeom>
              <a:blipFill>
                <a:blip r:embed="rId3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F7684B9-2912-FD2E-2834-446D459E70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73165" y="5194570"/>
                <a:ext cx="5300098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  <m:r>
                            <a:rPr lang="en-IN"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F7684B9-2912-FD2E-2834-446D459E70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3165" y="5194570"/>
                <a:ext cx="5300098" cy="148416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9415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5A6916-2C4C-A806-D968-8CBCD8EC2B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445D47-3697-3171-2907-D9AA57D58E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B4F6AC10-16F5-3F59-F50F-3803A1595E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445951" y="857884"/>
                <a:ext cx="5300098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  <m:r>
                            <a:rPr lang="en-IN"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B4F6AC10-16F5-3F59-F50F-3803A1595E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5951" y="857884"/>
                <a:ext cx="5300098" cy="14841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DD6860F-9AAB-379F-ED33-C6A7D8C467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480" y="2342049"/>
                <a:ext cx="4969358" cy="71336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Why do we need </a:t>
                </a:r>
                <a14:m>
                  <m:oMath xmlns:m="http://schemas.openxmlformats.org/officeDocument/2006/math">
                    <m:r>
                      <a:rPr lang="en-IN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𝐇</m:t>
                        </m:r>
                      </m:e>
                    </m:d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?</m:t>
                    </m:r>
                  </m:oMath>
                </a14:m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DD6860F-9AAB-379F-ED33-C6A7D8C467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480" y="2342049"/>
                <a:ext cx="4969358" cy="713362"/>
              </a:xfrm>
              <a:prstGeom prst="rect">
                <a:avLst/>
              </a:prstGeom>
              <a:blipFill>
                <a:blip r:embed="rId3"/>
                <a:stretch>
                  <a:fillRect l="-2577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016EDA08-729A-2DFB-8B49-16C324E445D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358657" y="5084086"/>
                <a:ext cx="7314536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O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O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016EDA08-729A-2DFB-8B49-16C324E445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8657" y="5084086"/>
                <a:ext cx="7314536" cy="7112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4F6542-B102-7A42-DD3B-6F71B38BDC45}"/>
              </a:ext>
            </a:extLst>
          </p:cNvPr>
          <p:cNvSpPr txBox="1">
            <a:spLocks/>
          </p:cNvSpPr>
          <p:nvPr/>
        </p:nvSpPr>
        <p:spPr>
          <a:xfrm>
            <a:off x="-73102" y="3055411"/>
            <a:ext cx="9061459" cy="208403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dirty="0"/>
              <a:t>Because a hired applicant could have come from</a:t>
            </a:r>
          </a:p>
          <a:p>
            <a:pPr lvl="2"/>
            <a:r>
              <a:rPr lang="en-US" dirty="0"/>
              <a:t>Campus Placement</a:t>
            </a:r>
          </a:p>
          <a:p>
            <a:pPr lvl="2"/>
            <a:r>
              <a:rPr lang="en-US" dirty="0"/>
              <a:t>Off-Campus Recruitment</a:t>
            </a:r>
          </a:p>
        </p:txBody>
      </p:sp>
      <p:sp>
        <p:nvSpPr>
          <p:cNvPr id="4" name="Right Brace 3">
            <a:extLst>
              <a:ext uri="{FF2B5EF4-FFF2-40B4-BE49-F238E27FC236}">
                <a16:creationId xmlns:a16="http://schemas.microsoft.com/office/drawing/2014/main" id="{749E5659-70B4-A7B0-C556-F74BF41FE551}"/>
              </a:ext>
            </a:extLst>
          </p:cNvPr>
          <p:cNvSpPr/>
          <p:nvPr/>
        </p:nvSpPr>
        <p:spPr>
          <a:xfrm>
            <a:off x="4734938" y="3826214"/>
            <a:ext cx="495300" cy="997527"/>
          </a:xfrm>
          <a:prstGeom prst="rightBrace">
            <a:avLst>
              <a:gd name="adj1" fmla="val 33508"/>
              <a:gd name="adj2" fmla="val 51042"/>
            </a:avLst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E38F050C-10C0-51B1-EF9B-B476154D2068}"/>
              </a:ext>
            </a:extLst>
          </p:cNvPr>
          <p:cNvSpPr txBox="1">
            <a:spLocks/>
          </p:cNvSpPr>
          <p:nvPr/>
        </p:nvSpPr>
        <p:spPr>
          <a:xfrm>
            <a:off x="5355333" y="4018428"/>
            <a:ext cx="5088817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IN" dirty="0"/>
              <a:t>Mutually Exclusive and Exhaustive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17D799E9-2521-30B2-79A1-8150BA2C364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1421" y="5075558"/>
                <a:ext cx="5088817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/>
                        <m:t>Using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the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Law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of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Total</m:t>
                      </m:r>
                      <m:r>
                        <m:rPr>
                          <m:nor/>
                        </m:rPr>
                        <a:rPr lang="en-US" i="0" dirty="0"/>
                        <m:t> </m:t>
                      </m:r>
                      <m:r>
                        <m:rPr>
                          <m:nor/>
                        </m:rPr>
                        <a:rPr lang="en-US" i="0" dirty="0"/>
                        <m:t>Probability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17D799E9-2521-30B2-79A1-8150BA2C36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421" y="5075558"/>
                <a:ext cx="5088817" cy="7112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09736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4" grpId="0" animBg="1"/>
      <p:bldP spid="5" grpId="0"/>
      <p:bldP spid="7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6C7CE4-3BB4-BC7B-C7A1-758DF706F2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F807F8C-BB26-3502-0ADD-57592B4C9D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68FFFE3-837D-85BA-0D0F-188B14322D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752638"/>
                <a:ext cx="9061458" cy="138788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𝐇</m:t>
                          </m:r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𝐇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</m:d>
                        </m:num>
                        <m:den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𝐇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𝐂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𝐎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𝐇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𝐎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68FFFE3-837D-85BA-0D0F-188B14322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752638"/>
                <a:ext cx="9061458" cy="138788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42A677-8D66-24BA-978E-18B5E162408B}"/>
              </a:ext>
            </a:extLst>
          </p:cNvPr>
          <p:cNvSpPr txBox="1">
            <a:spLocks/>
          </p:cNvSpPr>
          <p:nvPr/>
        </p:nvSpPr>
        <p:spPr>
          <a:xfrm>
            <a:off x="-160651" y="2278240"/>
            <a:ext cx="9061459" cy="7870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dirty="0"/>
              <a:t>This is Bayes’ Theorem (for two causes).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321056B6-F65D-A00D-4C24-87FDF1F3218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2986376"/>
                <a:ext cx="8026201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i="0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321056B6-F65D-A00D-4C24-87FDF1F32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2986376"/>
                <a:ext cx="8026201" cy="148416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52B9F24E-7209-2DF1-406B-73A227CB46D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4711074"/>
                <a:ext cx="3520968" cy="7870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706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52B9F24E-7209-2DF1-406B-73A227CB4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4711074"/>
                <a:ext cx="3520968" cy="7870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52540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716019-3F73-0FF3-1FFC-A161F62A4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F3560C8A-B7A9-BC76-13B9-8131F1669C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Posterior Probability.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F0F2FB3-DBEA-EF4C-C229-9A5AB5E3460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We believed there was a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60%</m:t>
                    </m:r>
                  </m:oMath>
                </a14:m>
                <a:r>
                  <a:rPr lang="en-US" dirty="0"/>
                  <a:t> chance that any applicant came through Campus Placement.</a:t>
                </a:r>
              </a:p>
              <a:p>
                <a:r>
                  <a:rPr lang="en-US" dirty="0"/>
                  <a:t>After learning that the applicant was hired, our belief changes.</a:t>
                </a:r>
              </a:p>
              <a:p>
                <a:r>
                  <a:rPr lang="en-US" dirty="0"/>
                  <a:t>The probability becomes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70.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6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	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F0F2FB3-DBEA-EF4C-C229-9A5AB5E3460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020AC19E-5DB2-27F4-0826-CE5FF1865613}"/>
              </a:ext>
            </a:extLst>
          </p:cNvPr>
          <p:cNvSpPr txBox="1">
            <a:spLocks/>
          </p:cNvSpPr>
          <p:nvPr/>
        </p:nvSpPr>
        <p:spPr>
          <a:xfrm>
            <a:off x="1814877" y="5259601"/>
            <a:ext cx="8562246" cy="1024468"/>
          </a:xfrm>
          <a:prstGeom prst="rect">
            <a:avLst/>
          </a:prstGeom>
          <a:ln w="19050">
            <a:solidFill>
              <a:schemeClr val="tx1">
                <a:lumMod val="90000"/>
                <a:lumOff val="10000"/>
              </a:schemeClr>
            </a:solidFill>
          </a:ln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IN" sz="2400" i="1" dirty="0">
                <a:solidFill>
                  <a:schemeClr val="tx1"/>
                </a:solidFill>
              </a:rPr>
              <a:t>The </a:t>
            </a:r>
            <a:r>
              <a:rPr lang="en-IN" sz="2400" i="1" dirty="0">
                <a:solidFill>
                  <a:srgbClr val="C00000"/>
                </a:solidFill>
              </a:rPr>
              <a:t>posterior probability </a:t>
            </a:r>
            <a:r>
              <a:rPr lang="en-IN" sz="2400" i="1" dirty="0">
                <a:solidFill>
                  <a:schemeClr val="tx1"/>
                </a:solidFill>
              </a:rPr>
              <a:t>is the </a:t>
            </a:r>
            <a:r>
              <a:rPr lang="en-IN" sz="2400" b="1" i="1" dirty="0">
                <a:solidFill>
                  <a:schemeClr val="tx1"/>
                </a:solidFill>
              </a:rPr>
              <a:t>updated probability</a:t>
            </a:r>
            <a:r>
              <a:rPr lang="en-IN" sz="2400" i="1" dirty="0">
                <a:solidFill>
                  <a:schemeClr val="tx1"/>
                </a:solidFill>
              </a:rPr>
              <a:t> after combining the prior belief with the new evidence.</a:t>
            </a:r>
            <a:endParaRPr lang="en-US" sz="2400" i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6114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E7360B-7458-35A4-0280-CC1BD663A8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9EA359C-A931-9212-A784-5D83CB7BF2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Bayes'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BAFCB56-935F-F0D9-BB63-98E49CD3FD4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196888"/>
              </a:xfrm>
            </p:spPr>
            <p:txBody>
              <a:bodyPr/>
              <a:lstStyle/>
              <a:p>
                <a:r>
                  <a:rPr lang="en-US" dirty="0"/>
                  <a:t>Bayes' Theorem tells us how to update our belief.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𝑷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𝑪</m:t>
                          </m:r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𝑯</m:t>
                          </m:r>
                        </m:e>
                      </m:d>
                      <m:r>
                        <a:rPr lang="en-IN" b="1" i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𝑪</m:t>
                              </m:r>
                            </m:e>
                          </m:d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𝑯</m:t>
                              </m:r>
                              <m: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𝑪</m:t>
                              </m:r>
                            </m:e>
                          </m:d>
                        </m:num>
                        <m:den>
                          <m: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  <m:d>
                            <m:dPr>
                              <m:ctrlP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𝑯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i="1" dirty="0"/>
              </a:p>
              <a:p>
                <a:r>
                  <a:rPr lang="en-US" dirty="0"/>
                  <a:t>Here,</a:t>
                </a:r>
              </a:p>
              <a:p>
                <a:pPr lvl="1"/>
                <a:r>
                  <a:rPr lang="en-US" dirty="0"/>
                  <a:t>Prior Probability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Likelihood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Evidence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Posterior Probability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H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BAFCB56-935F-F0D9-BB63-98E49CD3FD4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19688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0055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70472FD8-5380-4DCB-BEBA-49E882DCD04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b="1" dirty="0">
                    <a:solidFill>
                      <a:srgbClr val="002060"/>
                    </a:solidFill>
                    <a:effectLst/>
                    <a:ea typeface="Times New Roman" panose="02020603050405020304" pitchFamily="18" charset="0"/>
                    <a:cs typeface="Shruti" panose="020B0502040204020203" pitchFamily="34" charset="0"/>
                  </a:rPr>
                  <a:t>Statement:</a:t>
                </a:r>
                <a:endParaRPr lang="en-IN" dirty="0">
                  <a:solidFill>
                    <a:srgbClr val="002060"/>
                  </a:solidFill>
                  <a:effectLst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  <a:p>
                <a:pPr lvl="1"/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3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</a:t>
                </a:r>
                <a:r>
                  <a:rPr lang="en-IN" b="1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mutually exclusive and exhaustive</a:t>
                </a: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events of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i="1">
                                <a:effectLst/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i="0" smtClean="0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i="0" smtClean="0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0</m:t>
                    </m:r>
                  </m:oMath>
                </a14:m>
                <a:r>
                  <a:rPr lang="en-IN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,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1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3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n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any event associated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</m:e>
                    </m:d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0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. </a:t>
                </a:r>
              </a:p>
              <a:p>
                <a:pPr marL="628650" lvl="1" indent="0">
                  <a:buNone/>
                </a:pP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The probability of an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when 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has occurred is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70472FD8-5380-4DCB-BEBA-49E882DCD04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B5C6AB-B805-4427-B507-F0B9201E447E}"/>
                  </a:ext>
                </a:extLst>
              </p:cNvPr>
              <p:cNvSpPr txBox="1"/>
              <p:nvPr/>
            </p:nvSpPr>
            <p:spPr>
              <a:xfrm>
                <a:off x="71664" y="4199655"/>
                <a:ext cx="19621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endChr m:val="|"/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 i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 i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  <m:r>
                                <a:rPr lang="en-IN" sz="2800" b="0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0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B5C6AB-B805-4427-B507-F0B9201E4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64" y="4199655"/>
                <a:ext cx="19621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02F7F3-3BEB-4EC7-B35A-E9839B78B909}"/>
                  </a:ext>
                </a:extLst>
              </p:cNvPr>
              <p:cNvSpPr txBox="1"/>
              <p:nvPr/>
            </p:nvSpPr>
            <p:spPr>
              <a:xfrm>
                <a:off x="1962150" y="3897778"/>
                <a:ext cx="10229850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+⋯+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𝐧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𝐧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02F7F3-3BEB-4EC7-B35A-E9839B78B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2150" y="3897778"/>
                <a:ext cx="10229850" cy="112697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165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7229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dist">
                  <a:lnSpc>
                    <a:spcPct val="125000"/>
                  </a:lnSpc>
                </a:pPr>
                <a:r>
                  <a:rPr lang="en-GB" dirty="0"/>
                  <a:t>Consider two boxes, first with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green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dirty="0"/>
                  <a:t> pink and second with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green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pink </a:t>
                </a:r>
              </a:p>
              <a:p>
                <a:pPr algn="dist">
                  <a:lnSpc>
                    <a:spcPct val="125000"/>
                  </a:lnSpc>
                </a:pPr>
                <a:r>
                  <a:rPr lang="en-GB" dirty="0"/>
                  <a:t>balls. Two balls are selected from random box. </a:t>
                </a:r>
                <a:r>
                  <a:rPr lang="en-US" dirty="0"/>
                  <a:t>If both balls are pink, find the 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dirty="0"/>
                  <a:t>probability that they are from second box.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722961"/>
              </a:xfrm>
              <a:prstGeom prst="rect">
                <a:avLst/>
              </a:prstGeom>
              <a:blipFill>
                <a:blip r:embed="rId2"/>
                <a:stretch>
                  <a:fillRect l="-1074" r="-1074" b="-56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5095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F0DC217-D4D1-4C8A-974B-2E44A438FFA5}"/>
                  </a:ext>
                </a:extLst>
              </p:cNvPr>
              <p:cNvSpPr txBox="1"/>
              <p:nvPr/>
            </p:nvSpPr>
            <p:spPr>
              <a:xfrm>
                <a:off x="1594216" y="2747438"/>
                <a:ext cx="3406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Box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: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Green,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Pink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F0DC217-D4D1-4C8A-974B-2E44A438FF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747438"/>
                <a:ext cx="3406409" cy="523220"/>
              </a:xfrm>
              <a:prstGeom prst="rect">
                <a:avLst/>
              </a:prstGeom>
              <a:blipFill>
                <a:blip r:embed="rId3"/>
                <a:stretch>
                  <a:fillRect l="-3763" t="-11628" r="-143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911A32-F081-401B-9F35-A5A6A1A39EB1}"/>
                  </a:ext>
                </a:extLst>
              </p:cNvPr>
              <p:cNvSpPr txBox="1"/>
              <p:nvPr/>
            </p:nvSpPr>
            <p:spPr>
              <a:xfrm>
                <a:off x="1594215" y="3319140"/>
                <a:ext cx="3406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Box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: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Green,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Pink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911A32-F081-401B-9F35-A5A6A1A39E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3319140"/>
                <a:ext cx="3406409" cy="523220"/>
              </a:xfrm>
              <a:prstGeom prst="rect">
                <a:avLst/>
              </a:prstGeom>
              <a:blipFill>
                <a:blip r:embed="rId4"/>
                <a:stretch>
                  <a:fillRect l="-3763" t="-10465" r="-143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1594216" y="3959573"/>
            <a:ext cx="1301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1594216" y="4504527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504527"/>
                <a:ext cx="3168284" cy="523220"/>
              </a:xfrm>
              <a:prstGeom prst="rect">
                <a:avLst/>
              </a:prstGeom>
              <a:blipFill>
                <a:blip r:embed="rId5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1594216" y="5167491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167491"/>
                <a:ext cx="3168284" cy="523220"/>
              </a:xfrm>
              <a:prstGeom prst="rect">
                <a:avLst/>
              </a:prstGeom>
              <a:blipFill>
                <a:blip r:embed="rId6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1594216" y="5830455"/>
                <a:ext cx="4168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  : Selecting two pink balls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30455"/>
                <a:ext cx="4168409" cy="523220"/>
              </a:xfrm>
              <a:prstGeom prst="rect">
                <a:avLst/>
              </a:prstGeom>
              <a:blipFill>
                <a:blip r:embed="rId7"/>
                <a:stretch>
                  <a:fillRect t="-10465" r="-58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7653F49-AF81-4F24-B3E4-7A0DDEB78AA6}"/>
                  </a:ext>
                </a:extLst>
              </p:cNvPr>
              <p:cNvSpPr txBox="1"/>
              <p:nvPr/>
            </p:nvSpPr>
            <p:spPr>
              <a:xfrm>
                <a:off x="4918316" y="2747438"/>
                <a:ext cx="1358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(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balls)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7653F49-AF81-4F24-B3E4-7A0DDEB78A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316" y="2747438"/>
                <a:ext cx="1358659" cy="523220"/>
              </a:xfrm>
              <a:prstGeom prst="rect">
                <a:avLst/>
              </a:prstGeom>
              <a:blipFill>
                <a:blip r:embed="rId16"/>
                <a:stretch>
                  <a:fillRect l="-9417" t="-11628" r="-116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95BCC0-14F2-4A54-9FDC-B3E3F967B9D9}"/>
                  </a:ext>
                </a:extLst>
              </p:cNvPr>
              <p:cNvSpPr txBox="1"/>
              <p:nvPr/>
            </p:nvSpPr>
            <p:spPr>
              <a:xfrm>
                <a:off x="4918316" y="3319140"/>
                <a:ext cx="1358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(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balls)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95BCC0-14F2-4A54-9FDC-B3E3F967B9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316" y="3319140"/>
                <a:ext cx="1358659" cy="523220"/>
              </a:xfrm>
              <a:prstGeom prst="rect">
                <a:avLst/>
              </a:prstGeom>
              <a:blipFill>
                <a:blip r:embed="rId17"/>
                <a:stretch>
                  <a:fillRect l="-9417" t="-10465" r="-116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 flipH="1" flipV="1">
            <a:off x="3134280" y="1433356"/>
            <a:ext cx="3926308" cy="1552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 flipH="1" flipV="1">
            <a:off x="7746139" y="1445079"/>
            <a:ext cx="4212000" cy="1552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3248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32" grpId="0"/>
      <p:bldP spid="37" grpId="0"/>
      <p:bldP spid="40" grpId="0"/>
      <p:bldP spid="41" grpId="0"/>
      <p:bldP spid="23" grpId="0"/>
      <p:bldP spid="24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le 20">
            <a:extLst>
              <a:ext uri="{FF2B5EF4-FFF2-40B4-BE49-F238E27FC236}">
                <a16:creationId xmlns:a16="http://schemas.microsoft.com/office/drawing/2014/main" id="{F08D0FAE-3CAF-7771-FA29-046E100483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6 (Continue)</a:t>
            </a:r>
            <a:endParaRPr lang="en-IN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A68E924-161D-3BBE-8736-AFB3E0C93906}"/>
              </a:ext>
            </a:extLst>
          </p:cNvPr>
          <p:cNvSpPr txBox="1"/>
          <p:nvPr/>
        </p:nvSpPr>
        <p:spPr>
          <a:xfrm>
            <a:off x="135067" y="817539"/>
            <a:ext cx="1301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596F4DD-778D-CA2D-364F-7C84EDFA4BD9}"/>
                  </a:ext>
                </a:extLst>
              </p:cNvPr>
              <p:cNvSpPr txBox="1"/>
              <p:nvPr/>
            </p:nvSpPr>
            <p:spPr>
              <a:xfrm>
                <a:off x="135067" y="1362493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596F4DD-778D-CA2D-364F-7C84EDFA4B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67" y="1362493"/>
                <a:ext cx="3168284" cy="523220"/>
              </a:xfrm>
              <a:prstGeom prst="rect">
                <a:avLst/>
              </a:prstGeom>
              <a:blipFill>
                <a:blip r:embed="rId2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0667B69-4546-8CD2-05C0-43AE12589014}"/>
                  </a:ext>
                </a:extLst>
              </p:cNvPr>
              <p:cNvSpPr txBox="1"/>
              <p:nvPr/>
            </p:nvSpPr>
            <p:spPr>
              <a:xfrm>
                <a:off x="135067" y="2025457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0667B69-4546-8CD2-05C0-43AE12589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67" y="2025457"/>
                <a:ext cx="3168284" cy="523220"/>
              </a:xfrm>
              <a:prstGeom prst="rect">
                <a:avLst/>
              </a:prstGeom>
              <a:blipFill>
                <a:blip r:embed="rId3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0B43869-87D0-EBD3-0D4B-3FBF4F88C7D0}"/>
                  </a:ext>
                </a:extLst>
              </p:cNvPr>
              <p:cNvSpPr txBox="1"/>
              <p:nvPr/>
            </p:nvSpPr>
            <p:spPr>
              <a:xfrm>
                <a:off x="135067" y="2688421"/>
                <a:ext cx="4168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  : Selecting two pink balls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0B43869-87D0-EBD3-0D4B-3FBF4F88C7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67" y="2688421"/>
                <a:ext cx="4168409" cy="523220"/>
              </a:xfrm>
              <a:prstGeom prst="rect">
                <a:avLst/>
              </a:prstGeom>
              <a:blipFill>
                <a:blip r:embed="rId4"/>
                <a:stretch>
                  <a:fillRect t="-10465" r="-58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C144E858-811C-37A2-E07D-237A13D705CD}"/>
              </a:ext>
            </a:extLst>
          </p:cNvPr>
          <p:cNvSpPr txBox="1"/>
          <p:nvPr/>
        </p:nvSpPr>
        <p:spPr>
          <a:xfrm>
            <a:off x="135066" y="3385432"/>
            <a:ext cx="647001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Since the box is chosen at random,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21CF09E-CB1C-A923-C490-8DC803B5AC18}"/>
                  </a:ext>
                </a:extLst>
              </p:cNvPr>
              <p:cNvSpPr txBox="1"/>
              <p:nvPr/>
            </p:nvSpPr>
            <p:spPr>
              <a:xfrm>
                <a:off x="135066" y="4014349"/>
                <a:ext cx="196215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21CF09E-CB1C-A923-C490-8DC803B5AC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66" y="4014349"/>
                <a:ext cx="1962153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64283E0-C106-CE42-1011-9AF75CA2EB1F}"/>
                  </a:ext>
                </a:extLst>
              </p:cNvPr>
              <p:cNvSpPr txBox="1"/>
              <p:nvPr/>
            </p:nvSpPr>
            <p:spPr>
              <a:xfrm>
                <a:off x="2458640" y="4014349"/>
                <a:ext cx="20470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64283E0-C106-CE42-1011-9AF75CA2EB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8640" y="4014349"/>
                <a:ext cx="2047034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D37BDC-DA99-B790-E807-CC85F4C59C4F}"/>
                  </a:ext>
                </a:extLst>
              </p:cNvPr>
              <p:cNvSpPr txBox="1"/>
              <p:nvPr/>
            </p:nvSpPr>
            <p:spPr>
              <a:xfrm>
                <a:off x="7436863" y="2282439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D37BDC-DA99-B790-E807-CC85F4C59C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6863" y="2282439"/>
                <a:ext cx="15240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426E2-ABC4-52BD-B4CA-F21D99314B69}"/>
                  </a:ext>
                </a:extLst>
              </p:cNvPr>
              <p:cNvSpPr txBox="1"/>
              <p:nvPr/>
            </p:nvSpPr>
            <p:spPr>
              <a:xfrm>
                <a:off x="10032663" y="2094567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21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426E2-ABC4-52BD-B4CA-F21D99314B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2663" y="2094567"/>
                <a:ext cx="1063150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CB0B6CE-3CD9-1A0E-6ACC-620CEDE7D5EA}"/>
                  </a:ext>
                </a:extLst>
              </p:cNvPr>
              <p:cNvSpPr txBox="1"/>
              <p:nvPr/>
            </p:nvSpPr>
            <p:spPr>
              <a:xfrm>
                <a:off x="8867440" y="2030287"/>
                <a:ext cx="1325325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CB0B6CE-3CD9-1A0E-6ACC-620CEDE7D5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7440" y="2030287"/>
                <a:ext cx="1325325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F720B46B-14DF-DA82-2750-F60990577CB2}"/>
              </a:ext>
            </a:extLst>
          </p:cNvPr>
          <p:cNvSpPr txBox="1"/>
          <p:nvPr/>
        </p:nvSpPr>
        <p:spPr>
          <a:xfrm>
            <a:off x="6364523" y="854567"/>
            <a:ext cx="613328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</a:rPr>
              <a:t>Probability of drawing two pink balls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00EE850-660A-470F-A2F9-4760C15F9F36}"/>
                  </a:ext>
                </a:extLst>
              </p:cNvPr>
              <p:cNvSpPr txBox="1"/>
              <p:nvPr/>
            </p:nvSpPr>
            <p:spPr>
              <a:xfrm>
                <a:off x="6364523" y="1468978"/>
                <a:ext cx="4199715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400" dirty="0">
                    <a:solidFill>
                      <a:srgbClr val="002060"/>
                    </a:solidFill>
                  </a:rPr>
                  <a:t>From Box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(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green,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pink)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00EE850-660A-470F-A2F9-4760C15F9F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4523" y="1468978"/>
                <a:ext cx="4199715" cy="461665"/>
              </a:xfrm>
              <a:prstGeom prst="rect">
                <a:avLst/>
              </a:prstGeom>
              <a:blipFill>
                <a:blip r:embed="rId10"/>
                <a:stretch>
                  <a:fillRect l="-2177" t="-9211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B0C12A8-1D36-50FD-2494-89EC2A7DA603}"/>
                  </a:ext>
                </a:extLst>
              </p:cNvPr>
              <p:cNvSpPr txBox="1"/>
              <p:nvPr/>
            </p:nvSpPr>
            <p:spPr>
              <a:xfrm>
                <a:off x="6364522" y="3281671"/>
                <a:ext cx="4199715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400" dirty="0">
                    <a:solidFill>
                      <a:srgbClr val="002060"/>
                    </a:solidFill>
                  </a:rPr>
                  <a:t>From Box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(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green,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pink)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B0C12A8-1D36-50FD-2494-89EC2A7DA6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4522" y="3281671"/>
                <a:ext cx="4199715" cy="461665"/>
              </a:xfrm>
              <a:prstGeom prst="rect">
                <a:avLst/>
              </a:prstGeom>
              <a:blipFill>
                <a:blip r:embed="rId11"/>
                <a:stretch>
                  <a:fillRect l="-2177" t="-9211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DAD9376-34C2-CB4A-D9A0-E1E67A661AB4}"/>
                  </a:ext>
                </a:extLst>
              </p:cNvPr>
              <p:cNvSpPr txBox="1"/>
              <p:nvPr/>
            </p:nvSpPr>
            <p:spPr>
              <a:xfrm>
                <a:off x="7436863" y="4097836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DAD9376-34C2-CB4A-D9A0-E1E67A661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6863" y="4097836"/>
                <a:ext cx="15240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8DDD400-89E6-6873-BD80-9CC86A824364}"/>
                  </a:ext>
                </a:extLst>
              </p:cNvPr>
              <p:cNvSpPr txBox="1"/>
              <p:nvPr/>
            </p:nvSpPr>
            <p:spPr>
              <a:xfrm>
                <a:off x="10032663" y="3909964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21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8DDD400-89E6-6873-BD80-9CC86A8243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2663" y="3909964"/>
                <a:ext cx="1063150" cy="89896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AF75E49-0ED9-FA90-DF61-19B81325321F}"/>
                  </a:ext>
                </a:extLst>
              </p:cNvPr>
              <p:cNvSpPr txBox="1"/>
              <p:nvPr/>
            </p:nvSpPr>
            <p:spPr>
              <a:xfrm>
                <a:off x="8923569" y="3845684"/>
                <a:ext cx="1325325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AF75E49-0ED9-FA90-DF61-19B8132532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3569" y="3845684"/>
                <a:ext cx="1325325" cy="102752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EF1E37F-BE30-26A7-D51F-1E22E8E987D9}"/>
                  </a:ext>
                </a:extLst>
              </p:cNvPr>
              <p:cNvSpPr txBox="1"/>
              <p:nvPr/>
            </p:nvSpPr>
            <p:spPr>
              <a:xfrm>
                <a:off x="139369" y="5037804"/>
                <a:ext cx="11703496" cy="148861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30000"/>
                  </a:lnSpc>
                </a:pPr>
                <a:r>
                  <a:rPr lang="en-US" sz="2400" i="0" dirty="0">
                    <a:solidFill>
                      <a:srgbClr val="002060"/>
                    </a:solidFill>
                    <a:latin typeface="+mj-lt"/>
                  </a:rPr>
                  <a:t>Note that, the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4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4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sz="24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2400" i="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4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4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4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2400" i="0" dirty="0">
                    <a:solidFill>
                      <a:srgbClr val="002060"/>
                    </a:solidFill>
                    <a:latin typeface="+mj-lt"/>
                  </a:rPr>
                  <a:t> are </a:t>
                </a:r>
                <a:r>
                  <a:rPr lang="en-US" sz="2400" dirty="0">
                    <a:solidFill>
                      <a:srgbClr val="002060"/>
                    </a:solidFill>
                    <a:latin typeface="+mj-lt"/>
                  </a:rPr>
                  <a:t>mutually exclusive because a pair of balls cannot come from both boxes simultaneously and are exhaustive because the balls must be selected from either Box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  <a:latin typeface="+mj-lt"/>
                  </a:rPr>
                  <a:t> or Box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  <a:latin typeface="+mj-lt"/>
                  </a:rPr>
                  <a:t>.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EF1E37F-BE30-26A7-D51F-1E22E8E987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369" y="5037804"/>
                <a:ext cx="11703496" cy="1488613"/>
              </a:xfrm>
              <a:prstGeom prst="rect">
                <a:avLst/>
              </a:prstGeom>
              <a:blipFill>
                <a:blip r:embed="rId15"/>
                <a:stretch>
                  <a:fillRect l="-833" r="-781" b="-85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7939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  <p:bldP spid="15" grpId="0"/>
      <p:bldP spid="16" grpId="0"/>
      <p:bldP spid="17" grpId="0"/>
      <p:bldP spid="18" grpId="0"/>
      <p:bldP spid="19" grpId="0"/>
      <p:bldP spid="20" grpId="0"/>
      <p:bldP spid="23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D98D12A-DA85-4F87-AB79-9B8BA7CDF8BA}"/>
                  </a:ext>
                </a:extLst>
              </p:cNvPr>
              <p:cNvSpPr txBox="1"/>
              <p:nvPr/>
            </p:nvSpPr>
            <p:spPr>
              <a:xfrm>
                <a:off x="3086833" y="2443670"/>
                <a:ext cx="3540742" cy="10424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D98D12A-DA85-4F87-AB79-9B8BA7CDF8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3" y="2443670"/>
                <a:ext cx="3540742" cy="10424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7BC74A-31EF-465F-ACD5-6FB23770B7F6}"/>
                  </a:ext>
                </a:extLst>
              </p:cNvPr>
              <p:cNvSpPr txBox="1"/>
              <p:nvPr/>
            </p:nvSpPr>
            <p:spPr>
              <a:xfrm>
                <a:off x="3086832" y="5033772"/>
                <a:ext cx="5549462" cy="1280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7BC74A-31EF-465F-ACD5-6FB23770B7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2" y="5033772"/>
                <a:ext cx="5549462" cy="128022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58F9255-1AFD-4936-9BC8-A4247DF76023}"/>
                  </a:ext>
                </a:extLst>
              </p:cNvPr>
              <p:cNvSpPr txBox="1"/>
              <p:nvPr/>
            </p:nvSpPr>
            <p:spPr>
              <a:xfrm>
                <a:off x="8626566" y="5185489"/>
                <a:ext cx="1147664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58F9255-1AFD-4936-9BC8-A4247DF760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6566" y="5185489"/>
                <a:ext cx="1147664" cy="8989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2DB7A873-8063-4086-9A41-965EAD393F18}"/>
              </a:ext>
            </a:extLst>
          </p:cNvPr>
          <p:cNvSpPr txBox="1"/>
          <p:nvPr/>
        </p:nvSpPr>
        <p:spPr>
          <a:xfrm>
            <a:off x="1594217" y="1858397"/>
            <a:ext cx="355351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Bayes’ Theorem: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C1BA23-8D90-4EF4-BE30-5984D6E0F018}"/>
                  </a:ext>
                </a:extLst>
              </p:cNvPr>
              <p:cNvSpPr txBox="1"/>
              <p:nvPr/>
            </p:nvSpPr>
            <p:spPr>
              <a:xfrm>
                <a:off x="1594216" y="2745547"/>
                <a:ext cx="14926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C1BA23-8D90-4EF4-BE30-5984D6E0F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745547"/>
                <a:ext cx="149261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ED1A3A-937B-4D90-ACDC-47B8CE1308AB}"/>
                  </a:ext>
                </a:extLst>
              </p:cNvPr>
              <p:cNvSpPr txBox="1"/>
              <p:nvPr/>
            </p:nvSpPr>
            <p:spPr>
              <a:xfrm>
                <a:off x="1594216" y="769357"/>
                <a:ext cx="196215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ED1A3A-937B-4D90-ACDC-47B8CE1308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769357"/>
                <a:ext cx="1962153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9E5F63-347D-4CFC-B1D2-418EC180E704}"/>
                  </a:ext>
                </a:extLst>
              </p:cNvPr>
              <p:cNvSpPr txBox="1"/>
              <p:nvPr/>
            </p:nvSpPr>
            <p:spPr>
              <a:xfrm>
                <a:off x="7018808" y="769357"/>
                <a:ext cx="20470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9E5F63-347D-4CFC-B1D2-418EC180E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8808" y="769357"/>
                <a:ext cx="2047034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D4D34-9A34-4726-A822-C4219FEF5AA3}"/>
                  </a:ext>
                </a:extLst>
              </p:cNvPr>
              <p:cNvSpPr txBox="1"/>
              <p:nvPr/>
            </p:nvSpPr>
            <p:spPr>
              <a:xfrm>
                <a:off x="4149829" y="985804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D4D34-9A34-4726-A822-C4219FEF5A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9829" y="985804"/>
                <a:ext cx="15240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54D7332-5468-48A2-B7D4-8C252D047010}"/>
                  </a:ext>
                </a:extLst>
              </p:cNvPr>
              <p:cNvSpPr txBox="1"/>
              <p:nvPr/>
            </p:nvSpPr>
            <p:spPr>
              <a:xfrm>
                <a:off x="5564425" y="769357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54D7332-5468-48A2-B7D4-8C252D047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4425" y="769357"/>
                <a:ext cx="1063150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0BC5A4E-4E37-46DA-AE2A-ED5FF8E31E46}"/>
                  </a:ext>
                </a:extLst>
              </p:cNvPr>
              <p:cNvSpPr txBox="1"/>
              <p:nvPr/>
            </p:nvSpPr>
            <p:spPr>
              <a:xfrm>
                <a:off x="9214342" y="985804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0BC5A4E-4E37-46DA-AE2A-ED5FF8E31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4342" y="985804"/>
                <a:ext cx="15240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8E1B5F9-2A14-40A3-9CDB-43A76A6B0D65}"/>
                  </a:ext>
                </a:extLst>
              </p:cNvPr>
              <p:cNvSpPr txBox="1"/>
              <p:nvPr/>
            </p:nvSpPr>
            <p:spPr>
              <a:xfrm>
                <a:off x="10655166" y="769357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8E1B5F9-2A14-40A3-9CDB-43A76A6B0D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5166" y="769357"/>
                <a:ext cx="1063150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C8D5938F-9A54-7782-8B8B-04C33ED8BBBB}"/>
                  </a:ext>
                </a:extLst>
              </p:cNvPr>
              <p:cNvSpPr txBox="1"/>
              <p:nvPr/>
            </p:nvSpPr>
            <p:spPr>
              <a:xfrm>
                <a:off x="3086832" y="3598962"/>
                <a:ext cx="6533418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C8D5938F-9A54-7782-8B8B-04C33ED8B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2" y="3598962"/>
                <a:ext cx="6533418" cy="112697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5220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23" grpId="0"/>
      <p:bldP spid="25" grpId="0"/>
      <p:bldP spid="3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A company has two plants to manufacture hydraulic machine.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 manufacture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70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hydraulic machines and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r>
                  <a:rPr lang="en-US" dirty="0"/>
                  <a:t> manufactures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. At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80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hydraulic machines are rated standard quality and at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90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hydraulic machine are rated standard quality. A machine is picked up at random and is found to be of standard quality. What is the chance that it has come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blipFill>
                <a:blip r:embed="rId2"/>
                <a:stretch>
                  <a:fillRect l="-1074" r="-1074" b="-48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77613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F0DC217-D4D1-4C8A-974B-2E44A438FFA5}"/>
              </a:ext>
            </a:extLst>
          </p:cNvPr>
          <p:cNvSpPr txBox="1"/>
          <p:nvPr/>
        </p:nvSpPr>
        <p:spPr>
          <a:xfrm>
            <a:off x="1594216" y="3780087"/>
            <a:ext cx="40445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fr-FR" sz="2800" dirty="0">
                <a:solidFill>
                  <a:srgbClr val="002060"/>
                </a:solidFill>
              </a:rPr>
              <a:t>Production Contribution: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911A32-F081-401B-9F35-A5A6A1A39EB1}"/>
              </a:ext>
            </a:extLst>
          </p:cNvPr>
          <p:cNvSpPr txBox="1"/>
          <p:nvPr/>
        </p:nvSpPr>
        <p:spPr>
          <a:xfrm>
            <a:off x="1487212" y="4947405"/>
            <a:ext cx="45017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Standard Quality Proportions: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6553202" y="377613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6553202" y="4292984"/>
                <a:ext cx="47584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The machine is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4292984"/>
                <a:ext cx="4758421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6553202" y="4858710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The machine is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4858710"/>
                <a:ext cx="4951239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6553202" y="5439887"/>
                <a:ext cx="573800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4476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	: The machine is of standard quality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5439887"/>
                <a:ext cx="5738005" cy="523220"/>
              </a:xfrm>
              <a:prstGeom prst="rect">
                <a:avLst/>
              </a:prstGeom>
              <a:blipFill>
                <a:blip r:embed="rId5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2634F1-28C9-4BF2-9D96-2AAAC1C19D35}"/>
                  </a:ext>
                </a:extLst>
              </p:cNvPr>
              <p:cNvSpPr txBox="1"/>
              <p:nvPr/>
            </p:nvSpPr>
            <p:spPr>
              <a:xfrm>
                <a:off x="1594216" y="5503184"/>
                <a:ext cx="50533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 smtClean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2634F1-28C9-4BF2-9D96-2AAAC1C19D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503184"/>
                <a:ext cx="50533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AB890-132E-4066-8AF6-2965B965F225}"/>
                  </a:ext>
                </a:extLst>
              </p:cNvPr>
              <p:cNvSpPr txBox="1"/>
              <p:nvPr/>
            </p:nvSpPr>
            <p:spPr>
              <a:xfrm>
                <a:off x="1594216" y="4355384"/>
                <a:ext cx="532909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+mj-lt"/>
                        </a:rPr>
                        <m:t>Plant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fr-FR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fr-FR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AB890-132E-4066-8AF6-2965B965F2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55384"/>
                <a:ext cx="53290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5E556FD-D14C-F2DF-5A59-9633F1392462}"/>
                  </a:ext>
                </a:extLst>
              </p:cNvPr>
              <p:cNvSpPr txBox="1"/>
              <p:nvPr/>
            </p:nvSpPr>
            <p:spPr>
              <a:xfrm>
                <a:off x="0" y="6023734"/>
                <a:ext cx="10466606" cy="600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30000"/>
                  </a:lnSpc>
                </a:pP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Note that, the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are </a:t>
                </a:r>
                <a:r>
                  <a:rPr lang="en-US" sz="2800" dirty="0">
                    <a:solidFill>
                      <a:srgbClr val="002060"/>
                    </a:solidFill>
                    <a:latin typeface="+mj-lt"/>
                  </a:rPr>
                  <a:t>mutually exclusive and exhaustive.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5E556FD-D14C-F2DF-5A59-9633F13924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6023734"/>
                <a:ext cx="10466606" cy="600998"/>
              </a:xfrm>
              <a:prstGeom prst="rect">
                <a:avLst/>
              </a:prstGeom>
              <a:blipFill>
                <a:blip r:embed="rId8"/>
                <a:stretch>
                  <a:fillRect l="-1165" b="-272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29965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32" grpId="0"/>
      <p:bldP spid="37" grpId="0"/>
      <p:bldP spid="40" grpId="0"/>
      <p:bldP spid="22" grpId="0"/>
      <p:bldP spid="12" grpId="0"/>
      <p:bldP spid="13" grpId="0"/>
      <p:bldP spid="5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8 (Continue)</a:t>
            </a:r>
            <a:endParaRPr 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6EB6070-7B89-40E9-80EA-7F55B673B189}"/>
              </a:ext>
            </a:extLst>
          </p:cNvPr>
          <p:cNvSpPr txBox="1"/>
          <p:nvPr/>
        </p:nvSpPr>
        <p:spPr>
          <a:xfrm>
            <a:off x="164250" y="2072046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/>
              <p:nvPr/>
            </p:nvSpPr>
            <p:spPr>
              <a:xfrm>
                <a:off x="2138965" y="2071618"/>
                <a:ext cx="225256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8965" y="2071618"/>
                <a:ext cx="225256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/>
              <p:nvPr/>
            </p:nvSpPr>
            <p:spPr>
              <a:xfrm>
                <a:off x="4381114" y="2071618"/>
                <a:ext cx="225256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1114" y="2071618"/>
                <a:ext cx="22525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/>
              <p:nvPr/>
            </p:nvSpPr>
            <p:spPr>
              <a:xfrm>
                <a:off x="6612684" y="2071618"/>
                <a:ext cx="2755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2684" y="2071618"/>
                <a:ext cx="27559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/>
              <p:nvPr/>
            </p:nvSpPr>
            <p:spPr>
              <a:xfrm>
                <a:off x="9271847" y="2071618"/>
                <a:ext cx="2755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71847" y="2071618"/>
                <a:ext cx="27559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TextBox 18">
            <a:extLst>
              <a:ext uri="{FF2B5EF4-FFF2-40B4-BE49-F238E27FC236}">
                <a16:creationId xmlns:a16="http://schemas.microsoft.com/office/drawing/2014/main" id="{9D165B34-D1BB-4EE1-B1B7-4D3E779A3C38}"/>
              </a:ext>
            </a:extLst>
          </p:cNvPr>
          <p:cNvSpPr txBox="1"/>
          <p:nvPr/>
        </p:nvSpPr>
        <p:spPr>
          <a:xfrm>
            <a:off x="836984" y="796528"/>
            <a:ext cx="363120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fr-FR" sz="2800" dirty="0">
                <a:solidFill>
                  <a:srgbClr val="002060"/>
                </a:solidFill>
              </a:rPr>
              <a:t>Production Contribution: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7B46D00-B6FF-4A57-AA74-42750D880B26}"/>
              </a:ext>
            </a:extLst>
          </p:cNvPr>
          <p:cNvSpPr txBox="1"/>
          <p:nvPr/>
        </p:nvSpPr>
        <p:spPr>
          <a:xfrm>
            <a:off x="159044" y="1446616"/>
            <a:ext cx="43091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Standard Quality Proportions: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08F44C8-9DE8-4211-B4C9-7E40DBA2F726}"/>
                  </a:ext>
                </a:extLst>
              </p:cNvPr>
              <p:cNvSpPr txBox="1"/>
              <p:nvPr/>
            </p:nvSpPr>
            <p:spPr>
              <a:xfrm>
                <a:off x="4387833" y="1442444"/>
                <a:ext cx="49807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08F44C8-9DE8-4211-B4C9-7E40DBA2F7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7833" y="1442444"/>
                <a:ext cx="49807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82512B-88C0-49E9-A49E-045F16807E58}"/>
                  </a:ext>
                </a:extLst>
              </p:cNvPr>
              <p:cNvSpPr txBox="1"/>
              <p:nvPr/>
            </p:nvSpPr>
            <p:spPr>
              <a:xfrm>
                <a:off x="4381114" y="799088"/>
                <a:ext cx="533015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 i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82512B-88C0-49E9-A49E-045F16807E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1114" y="799088"/>
                <a:ext cx="533015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28DC830-50D5-4E9E-B00C-C743CE0A8805}"/>
                  </a:ext>
                </a:extLst>
              </p:cNvPr>
              <p:cNvSpPr txBox="1"/>
              <p:nvPr/>
            </p:nvSpPr>
            <p:spPr>
              <a:xfrm>
                <a:off x="1601098" y="4333842"/>
                <a:ext cx="6533418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28DC830-50D5-4E9E-B00C-C743CE0A88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1098" y="4333842"/>
                <a:ext cx="6533418" cy="112697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C3F9149-5067-49DD-8AAC-4CBEAD89B1A3}"/>
                  </a:ext>
                </a:extLst>
              </p:cNvPr>
              <p:cNvSpPr txBox="1"/>
              <p:nvPr/>
            </p:nvSpPr>
            <p:spPr>
              <a:xfrm>
                <a:off x="1601098" y="5564193"/>
                <a:ext cx="5549462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80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C3F9149-5067-49DD-8AAC-4CBEAD89B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1098" y="5564193"/>
                <a:ext cx="5549462" cy="98943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9C741A9-51F7-4C3F-83C2-61426BCE0F7E}"/>
                  </a:ext>
                </a:extLst>
              </p:cNvPr>
              <p:cNvSpPr txBox="1"/>
              <p:nvPr/>
            </p:nvSpPr>
            <p:spPr>
              <a:xfrm>
                <a:off x="6958640" y="5797302"/>
                <a:ext cx="17015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6747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9C741A9-51F7-4C3F-83C2-61426BCE0F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8640" y="5797302"/>
                <a:ext cx="170150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C52D894B-9BD9-432C-8ED2-B1509645EE18}"/>
              </a:ext>
            </a:extLst>
          </p:cNvPr>
          <p:cNvSpPr txBox="1"/>
          <p:nvPr/>
        </p:nvSpPr>
        <p:spPr>
          <a:xfrm>
            <a:off x="167510" y="2726162"/>
            <a:ext cx="319791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Bayes’ Theorem: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54EC35B-64DA-4CB9-B0BB-2774C464B925}"/>
                  </a:ext>
                </a:extLst>
              </p:cNvPr>
              <p:cNvSpPr txBox="1"/>
              <p:nvPr/>
            </p:nvSpPr>
            <p:spPr>
              <a:xfrm>
                <a:off x="164267" y="3654593"/>
                <a:ext cx="14926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54EC35B-64DA-4CB9-B0BB-2774C464B9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267" y="3654593"/>
                <a:ext cx="149261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EA865C8-5183-DA58-DB5F-B48A7F34FE5C}"/>
                  </a:ext>
                </a:extLst>
              </p:cNvPr>
              <p:cNvSpPr txBox="1"/>
              <p:nvPr/>
            </p:nvSpPr>
            <p:spPr>
              <a:xfrm>
                <a:off x="1601098" y="3380278"/>
                <a:ext cx="3472565" cy="10424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EA865C8-5183-DA58-DB5F-B48A7F34FE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1098" y="3380278"/>
                <a:ext cx="3472565" cy="104246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71046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68" grpId="0"/>
      <p:bldP spid="69" grpId="0"/>
      <p:bldP spid="70" grpId="0"/>
      <p:bldP spid="82" grpId="0"/>
      <p:bldP spid="25" grpId="0"/>
      <p:bldP spid="26" grpId="0"/>
      <p:bldP spid="27" grpId="0"/>
      <p:bldP spid="28" grpId="0"/>
      <p:bldP spid="29" grpId="0"/>
      <p:bldP spid="3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A7A5EE-D8C4-15DA-B6B5-41F9820B7F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1015796-8158-3594-8BD2-989651FC50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8"/>
                <a:ext cx="11929645" cy="445319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A hospital uses an AI-assisted medical screening system to detect a rare disease in the general population. </a:t>
                </a:r>
              </a:p>
              <a:p>
                <a:pPr marL="273050">
                  <a:lnSpc>
                    <a:spcPct val="125000"/>
                  </a:lnSpc>
                </a:pPr>
                <a:r>
                  <a:rPr lang="en-US" dirty="0"/>
                  <a:t>The AI correctly identifies an infected patient as positive with probability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0.99</m:t>
                    </m:r>
                  </m:oMath>
                </a14:m>
                <a:r>
                  <a:rPr lang="en-US" dirty="0"/>
                  <a:t>.</a:t>
                </a:r>
              </a:p>
              <a:p>
                <a:pPr marL="273050">
                  <a:lnSpc>
                    <a:spcPct val="125000"/>
                  </a:lnSpc>
                </a:pPr>
                <a:r>
                  <a:rPr lang="en-US" dirty="0"/>
                  <a:t>The AI correctly identifies a healthy patient as negative with probability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0.95</m:t>
                    </m:r>
                  </m:oMath>
                </a14:m>
                <a:r>
                  <a:rPr lang="en-US" dirty="0"/>
                  <a:t>.</a:t>
                </a:r>
              </a:p>
              <a:p>
                <a:pPr marL="273050">
                  <a:lnSpc>
                    <a:spcPct val="125000"/>
                  </a:lnSpc>
                </a:pPr>
                <a:r>
                  <a:rPr lang="en-US" dirty="0"/>
                  <a:t>The prevalence of the disease in the general population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0.0001</m:t>
                    </m:r>
                  </m:oMath>
                </a14:m>
                <a:r>
                  <a:rPr lang="en-US" dirty="0"/>
                  <a:t>, meaning that only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0.01%</m:t>
                    </m:r>
                  </m:oMath>
                </a14:m>
                <a:r>
                  <a:rPr lang="en-US" dirty="0"/>
                  <a:t> of people currently have the disease.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dirty="0"/>
                  <a:t>A person's scan is analyzed by the AI system, and the result is positive. What is the probability that the person actually has the illness?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1015796-8158-3594-8BD2-989651FC50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4453192"/>
              </a:xfrm>
              <a:prstGeom prst="rect">
                <a:avLst/>
              </a:prstGeom>
              <a:blipFill>
                <a:blip r:embed="rId3"/>
                <a:stretch>
                  <a:fillRect l="-1074" r="-1074" b="-6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99E4EC5-E1C8-4000-F62C-8487F48A3F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9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701419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D88AC-F07F-CFFA-8F4E-8E82D8A66B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B51898-54EE-4D8A-B1E5-BA2FF78A8B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9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C179A71-43C9-A3FB-493C-08D5CF1573C0}"/>
              </a:ext>
            </a:extLst>
          </p:cNvPr>
          <p:cNvSpPr txBox="1">
            <a:spLocks/>
          </p:cNvSpPr>
          <p:nvPr/>
        </p:nvSpPr>
        <p:spPr>
          <a:xfrm>
            <a:off x="131176" y="82112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C2EE8EC-BBA5-5262-CEC3-5863B12C4E5C}"/>
              </a:ext>
            </a:extLst>
          </p:cNvPr>
          <p:cNvSpPr txBox="1"/>
          <p:nvPr/>
        </p:nvSpPr>
        <p:spPr>
          <a:xfrm>
            <a:off x="1594216" y="84748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27AD00-B565-494B-D29A-F9D8260288F4}"/>
                  </a:ext>
                </a:extLst>
              </p:cNvPr>
              <p:cNvSpPr txBox="1"/>
              <p:nvPr/>
            </p:nvSpPr>
            <p:spPr>
              <a:xfrm>
                <a:off x="1574556" y="1454269"/>
                <a:ext cx="505942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The person has the disease.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27AD00-B565-494B-D29A-F9D8260288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4556" y="1454269"/>
                <a:ext cx="5059429" cy="523220"/>
              </a:xfrm>
              <a:prstGeom prst="rect">
                <a:avLst/>
              </a:prstGeom>
              <a:blipFill>
                <a:blip r:embed="rId2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5FF0637-04E3-9BD2-92C0-16FDC0E5220C}"/>
                  </a:ext>
                </a:extLst>
              </p:cNvPr>
              <p:cNvSpPr txBox="1"/>
              <p:nvPr/>
            </p:nvSpPr>
            <p:spPr>
              <a:xfrm>
                <a:off x="1574556" y="2030217"/>
                <a:ext cx="67471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person does not have the </a:t>
                </a:r>
                <a:r>
                  <a:rPr lang="en-US" sz="2800" dirty="0">
                    <a:solidFill>
                      <a:srgbClr val="002060"/>
                    </a:solidFill>
                  </a:rPr>
                  <a:t>disease.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5FF0637-04E3-9BD2-92C0-16FDC0E522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4556" y="2030217"/>
                <a:ext cx="6747160" cy="523220"/>
              </a:xfrm>
              <a:prstGeom prst="rect">
                <a:avLst/>
              </a:prstGeom>
              <a:blipFill>
                <a:blip r:embed="rId3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4E7974-3334-5D9C-731B-F50B1BAE987D}"/>
                  </a:ext>
                </a:extLst>
              </p:cNvPr>
              <p:cNvSpPr txBox="1"/>
              <p:nvPr/>
            </p:nvSpPr>
            <p:spPr>
              <a:xfrm>
                <a:off x="1584946" y="2606165"/>
                <a:ext cx="673676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: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The AI screening system reports Positive.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4E7974-3334-5D9C-731B-F50B1BAE98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4946" y="2606165"/>
                <a:ext cx="6736769" cy="523220"/>
              </a:xfrm>
              <a:prstGeom prst="rect">
                <a:avLst/>
              </a:prstGeom>
              <a:blipFill>
                <a:blip r:embed="rId4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47ABB00-3296-587C-07E9-6D7D2FD04ABC}"/>
                  </a:ext>
                </a:extLst>
              </p:cNvPr>
              <p:cNvSpPr txBox="1"/>
              <p:nvPr/>
            </p:nvSpPr>
            <p:spPr>
              <a:xfrm>
                <a:off x="1616120" y="3167392"/>
                <a:ext cx="706095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The AI screening system reports Negative.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47ABB00-3296-587C-07E9-6D7D2FD04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20" y="3167392"/>
                <a:ext cx="7060952" cy="523220"/>
              </a:xfrm>
              <a:prstGeom prst="rect">
                <a:avLst/>
              </a:prstGeom>
              <a:blipFill>
                <a:blip r:embed="rId5"/>
                <a:stretch>
                  <a:fillRect t="-10588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DC3D0AFC-CDEE-FC18-706E-45BE41459AEE}"/>
              </a:ext>
            </a:extLst>
          </p:cNvPr>
          <p:cNvSpPr txBox="1"/>
          <p:nvPr/>
        </p:nvSpPr>
        <p:spPr>
          <a:xfrm>
            <a:off x="131176" y="3910460"/>
            <a:ext cx="221319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AB03567-F2C7-36C1-DD1D-4BFFA5C706A9}"/>
                  </a:ext>
                </a:extLst>
              </p:cNvPr>
              <p:cNvSpPr txBox="1"/>
              <p:nvPr/>
            </p:nvSpPr>
            <p:spPr>
              <a:xfrm>
                <a:off x="27002" y="4486408"/>
                <a:ext cx="332214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=0.99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AB03567-F2C7-36C1-DD1D-4BFFA5C706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02" y="4486408"/>
                <a:ext cx="332214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F96DEBBE-B507-3B83-95EA-C48A35C4EE9E}"/>
              </a:ext>
            </a:extLst>
          </p:cNvPr>
          <p:cNvSpPr txBox="1"/>
          <p:nvPr/>
        </p:nvSpPr>
        <p:spPr>
          <a:xfrm>
            <a:off x="3571525" y="4517185"/>
            <a:ext cx="7887658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4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( A diseased person is correctly identified as positive. )</a:t>
            </a:r>
            <a:endParaRPr lang="en-IN" sz="2400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4F36C49-87A1-9B60-BF96-28D90CCAD83D}"/>
                  </a:ext>
                </a:extLst>
              </p:cNvPr>
              <p:cNvSpPr txBox="1"/>
              <p:nvPr/>
            </p:nvSpPr>
            <p:spPr>
              <a:xfrm>
                <a:off x="131175" y="5093134"/>
                <a:ext cx="332214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=0.9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4F36C49-87A1-9B60-BF96-28D90CCAD8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5093134"/>
                <a:ext cx="332214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E59A74B7-3B07-9E79-635E-501AB2BFE6CE}"/>
              </a:ext>
            </a:extLst>
          </p:cNvPr>
          <p:cNvSpPr txBox="1"/>
          <p:nvPr/>
        </p:nvSpPr>
        <p:spPr>
          <a:xfrm>
            <a:off x="3571525" y="5123911"/>
            <a:ext cx="7887658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( A healthy person is correctly identified as negative. )</a:t>
            </a:r>
            <a:endParaRPr lang="en-IN" sz="2400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8A3100-72A6-663B-6759-BC102BC60017}"/>
                  </a:ext>
                </a:extLst>
              </p:cNvPr>
              <p:cNvSpPr txBox="1"/>
              <p:nvPr/>
            </p:nvSpPr>
            <p:spPr>
              <a:xfrm>
                <a:off x="27002" y="5695500"/>
                <a:ext cx="378907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1−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0.9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8A3100-72A6-663B-6759-BC102BC60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02" y="5695500"/>
                <a:ext cx="378907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DF4D785-1ACC-BBD2-017C-D0EAFC05A5B8}"/>
                  </a:ext>
                </a:extLst>
              </p:cNvPr>
              <p:cNvSpPr txBox="1"/>
              <p:nvPr/>
            </p:nvSpPr>
            <p:spPr>
              <a:xfrm>
                <a:off x="3692164" y="5695500"/>
                <a:ext cx="14057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DF4D785-1ACC-BBD2-017C-D0EAFC05A5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2164" y="5695500"/>
                <a:ext cx="140579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4622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25" grpId="0"/>
      <p:bldP spid="3" grpId="0"/>
      <p:bldP spid="5" grpId="0"/>
      <p:bldP spid="9" grpId="0"/>
      <p:bldP spid="10" grpId="0"/>
      <p:bldP spid="11" grpId="0"/>
      <p:bldP spid="12" grpId="0"/>
      <p:bldP spid="13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DEDC1-D040-31DD-71CF-A07130800D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DF1191-543D-9CE8-EEA4-803F329435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9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7A7225E-F13D-9515-7B58-4485300CC99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0"/>
                <a:ext cx="11929641" cy="5742809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rgbClr val="0070C0"/>
                    </a:solidFill>
                  </a:rPr>
                  <a:t>Meaning of Prevalence</a:t>
                </a:r>
              </a:p>
              <a:p>
                <a:pPr lvl="1"/>
                <a:r>
                  <a:rPr lang="en-US" dirty="0"/>
                  <a:t>The prevalence of the disease in the general population is</a:t>
                </a:r>
              </a:p>
              <a:p>
                <a:pPr marL="358775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=0.0001</m:t>
                      </m:r>
                    </m:oMath>
                  </m:oMathPara>
                </a14:m>
                <a:endParaRPr lang="en-US" dirty="0"/>
              </a:p>
              <a:p>
                <a:pPr lvl="1"/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This means that before conducting the AI screening, the probability that a randomly selected person already has the disease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0.0001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.</a:t>
                </a:r>
              </a:p>
              <a:p>
                <a:pPr lvl="1"/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In other words, On average, about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out of every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10,000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people has the disease</a:t>
                </a:r>
                <a:r>
                  <a:rPr lang="en-US" dirty="0"/>
                  <a:t>.</a:t>
                </a:r>
              </a:p>
              <a:p>
                <a:pPr lvl="2"/>
                <a:r>
                  <a:rPr lang="en-US" dirty="0"/>
                  <a:t>Therefore,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i="1" dirty="0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0" dirty="0" smtClean="0">
                                <a:latin typeface="Cambria Math" panose="02040503050406030204" pitchFamily="18" charset="0"/>
                              </a:rPr>
                              <m:t>D</m:t>
                            </m:r>
                          </m:e>
                          <m:sup>
                            <m:r>
                              <a:rPr lang="en-US" i="0" dirty="0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i="0" dirty="0" smtClean="0">
                        <a:latin typeface="Cambria Math" panose="02040503050406030204" pitchFamily="18" charset="0"/>
                      </a:rPr>
                      <m:t>=1−0.0001=0.9999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7A7225E-F13D-9515-7B58-4485300CC99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0"/>
                <a:ext cx="11929641" cy="57428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04746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848CF-4A5F-8314-9029-D25DE4E37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FDBD3A-973E-152D-2F7E-64F1300A0B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9 (Continue)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C933ED-79E5-AFEF-D0A9-CB208A9036ED}"/>
              </a:ext>
            </a:extLst>
          </p:cNvPr>
          <p:cNvSpPr txBox="1"/>
          <p:nvPr/>
        </p:nvSpPr>
        <p:spPr>
          <a:xfrm>
            <a:off x="139488" y="858473"/>
            <a:ext cx="35908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Using 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98A9964-6E70-2F95-CDB2-815FF2A0C89B}"/>
                  </a:ext>
                </a:extLst>
              </p:cNvPr>
              <p:cNvSpPr txBox="1"/>
              <p:nvPr/>
            </p:nvSpPr>
            <p:spPr>
              <a:xfrm>
                <a:off x="139489" y="1635247"/>
                <a:ext cx="6212674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98A9964-6E70-2F95-CDB2-815FF2A0C8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9" y="1635247"/>
                <a:ext cx="6212674" cy="100110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DA735FB-FB54-F253-8852-776EA74B6AB2}"/>
                  </a:ext>
                </a:extLst>
              </p:cNvPr>
              <p:cNvSpPr txBox="1"/>
              <p:nvPr/>
            </p:nvSpPr>
            <p:spPr>
              <a:xfrm>
                <a:off x="1481904" y="4221645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0001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0001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</m:t>
                              </m:r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9999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05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DA735FB-FB54-F253-8852-776EA74B6A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1904" y="4221645"/>
                <a:ext cx="7736821" cy="100110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BA48E3-ECE0-19DB-3CD4-9963C8BDBF33}"/>
                  </a:ext>
                </a:extLst>
              </p:cNvPr>
              <p:cNvSpPr txBox="1"/>
              <p:nvPr/>
            </p:nvSpPr>
            <p:spPr>
              <a:xfrm>
                <a:off x="1481904" y="5514844"/>
                <a:ext cx="24286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BA48E3-ECE0-19DB-3CD4-9963C8BDB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1904" y="5514844"/>
                <a:ext cx="242861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8D532E8-4072-F444-5253-8FA314BB4677}"/>
                  </a:ext>
                </a:extLst>
              </p:cNvPr>
              <p:cNvSpPr txBox="1"/>
              <p:nvPr/>
            </p:nvSpPr>
            <p:spPr>
              <a:xfrm>
                <a:off x="1481904" y="2928446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8D532E8-4072-F444-5253-8FA314BB4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1904" y="2928446"/>
                <a:ext cx="7736821" cy="100110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21762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6" grpId="0"/>
      <p:bldP spid="4" grpId="0"/>
      <p:bldP spid="5" grpId="0"/>
      <p:bldP spid="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C2FA5B-97A6-1FD8-4B09-9AB7DCAC1C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Real-Life Application – </a:t>
            </a: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Airport Security Screening</a:t>
            </a:r>
            <a:endParaRPr lang="en-IN" dirty="0">
              <a:solidFill>
                <a:schemeClr val="accent6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2CE4388-A550-9CBF-EE0D-177539CADA4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r>
                  <a:rPr lang="en-US" sz="2400" dirty="0"/>
                  <a:t>At an international airport, only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sz="2400" dirty="0"/>
                  <a:t> of passengers carry prohibited items.</a:t>
                </a:r>
              </a:p>
              <a:p>
                <a:r>
                  <a:rPr lang="en-US" sz="2400" dirty="0"/>
                  <a:t>Every passenger first passes through an </a:t>
                </a:r>
                <a:r>
                  <a:rPr lang="en-US" sz="2400" b="1" dirty="0">
                    <a:solidFill>
                      <a:srgbClr val="0070C0"/>
                    </a:solidFill>
                  </a:rPr>
                  <a:t>AI-assisted Metal Detector</a:t>
                </a:r>
                <a:r>
                  <a:rPr lang="en-US" sz="2400" dirty="0"/>
                  <a:t>.</a:t>
                </a:r>
              </a:p>
              <a:p>
                <a:pPr lvl="1"/>
                <a:r>
                  <a:rPr lang="en-US" sz="2400" dirty="0"/>
                  <a:t>If a passenger carries a prohibited item, the detector alarms with probability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95</m:t>
                    </m:r>
                  </m:oMath>
                </a14:m>
                <a:r>
                  <a:rPr lang="en-US" sz="2400" dirty="0"/>
                  <a:t>.</a:t>
                </a:r>
              </a:p>
              <a:p>
                <a:pPr lvl="1"/>
                <a:r>
                  <a:rPr lang="en-US" sz="2400" dirty="0"/>
                  <a:t>If the passenger is innocent, the detector alarms with probability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03</m:t>
                    </m:r>
                  </m:oMath>
                </a14:m>
                <a:r>
                  <a:rPr lang="en-US" sz="2400" dirty="0"/>
                  <a:t>.</a:t>
                </a:r>
              </a:p>
              <a:p>
                <a:r>
                  <a:rPr lang="en-US" sz="2400" dirty="0"/>
                  <a:t>A passenger triggers the metal detector.</a:t>
                </a:r>
              </a:p>
              <a:p>
                <a:r>
                  <a:rPr lang="en-US" sz="2400" dirty="0"/>
                  <a:t>The passenger is then screened using an </a:t>
                </a:r>
                <a:r>
                  <a:rPr lang="en-US" sz="2400" b="1" dirty="0">
                    <a:solidFill>
                      <a:srgbClr val="0070C0"/>
                    </a:solidFill>
                  </a:rPr>
                  <a:t>AI-powered X-ray Scanner</a:t>
                </a:r>
                <a:r>
                  <a:rPr lang="en-US" sz="2400" dirty="0"/>
                  <a:t>.</a:t>
                </a:r>
              </a:p>
              <a:p>
                <a:r>
                  <a:rPr lang="en-US" sz="2400" dirty="0"/>
                  <a:t>Among passengers who triggered the detector: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sz="2400" dirty="0"/>
                  <a:t>If the passenger carries a prohibited item, the X-ray correctly detects it with probability </a:t>
                </a:r>
                <a14:m>
                  <m:oMath xmlns:m="http://schemas.openxmlformats.org/officeDocument/2006/math">
                    <m:r>
                      <a:rPr lang="en-US" sz="2400" i="1" dirty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97</m:t>
                    </m:r>
                  </m:oMath>
                </a14:m>
                <a:r>
                  <a:rPr lang="en-US" sz="2400" dirty="0"/>
                  <a:t>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sz="2400" dirty="0"/>
                  <a:t>If the passenger is innocent, the X-ray incorrectly detects a prohibited item with probability </a:t>
                </a:r>
                <a14:m>
                  <m:oMath xmlns:m="http://schemas.openxmlformats.org/officeDocument/2006/math">
                    <m:r>
                      <a:rPr lang="en-US" sz="2400" i="1" dirty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02</m:t>
                    </m:r>
                  </m:oMath>
                </a14:m>
                <a:r>
                  <a:rPr lang="en-US" sz="2400" dirty="0"/>
                  <a:t>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2CE4388-A550-9CBF-EE0D-177539CADA4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716" r="-818" b="-1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67122313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2550-5060-B15F-A7E5-137E26EB24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CFD068-B294-7430-CC6D-BBF54EF5AC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38DEE6-47C5-AF3F-77E5-8F74E7F3ADC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2829666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sz="2400" dirty="0"/>
              <a:t>The X-ray also reports a prohibited item.</a:t>
            </a:r>
          </a:p>
          <a:p>
            <a:pPr>
              <a:lnSpc>
                <a:spcPct val="114000"/>
              </a:lnSpc>
            </a:pPr>
            <a:r>
              <a:rPr lang="en-US" sz="2400" dirty="0"/>
              <a:t>Find</a:t>
            </a:r>
          </a:p>
          <a:p>
            <a:pPr lvl="1">
              <a:lnSpc>
                <a:spcPct val="114000"/>
              </a:lnSpc>
            </a:pPr>
            <a:r>
              <a:rPr lang="en-US" sz="2400" dirty="0"/>
              <a:t>Probability that the passenger carries a prohibited item </a:t>
            </a:r>
            <a:r>
              <a:rPr lang="en-US" sz="2400" b="1" dirty="0"/>
              <a:t>after the metal detector alarm</a:t>
            </a:r>
            <a:r>
              <a:rPr lang="en-US" sz="2400" dirty="0"/>
              <a:t>.</a:t>
            </a:r>
          </a:p>
          <a:p>
            <a:pPr lvl="1">
              <a:lnSpc>
                <a:spcPct val="114000"/>
              </a:lnSpc>
            </a:pPr>
            <a:r>
              <a:rPr lang="en-US" sz="2400" dirty="0"/>
              <a:t>Updated probability </a:t>
            </a:r>
            <a:r>
              <a:rPr lang="en-US" sz="2400" b="1" dirty="0"/>
              <a:t>after the X-ray result</a:t>
            </a:r>
            <a:r>
              <a:rPr lang="en-US" sz="2400" dirty="0"/>
              <a:t>.</a:t>
            </a:r>
          </a:p>
          <a:p>
            <a:pPr lvl="1">
              <a:lnSpc>
                <a:spcPct val="114000"/>
              </a:lnSpc>
            </a:pPr>
            <a:r>
              <a:rPr lang="en-US" sz="2400" dirty="0"/>
              <a:t>Should airport security detain the passenger for further inspection?</a:t>
            </a:r>
            <a:endParaRPr lang="en-IN" sz="2400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7B51A2C-FA1B-3DD5-B07D-97EB709684D4}"/>
              </a:ext>
            </a:extLst>
          </p:cNvPr>
          <p:cNvSpPr txBox="1">
            <a:spLocks/>
          </p:cNvSpPr>
          <p:nvPr/>
        </p:nvSpPr>
        <p:spPr>
          <a:xfrm>
            <a:off x="131180" y="3540868"/>
            <a:ext cx="1259875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algn="ctr"/>
            <a:r>
              <a:rPr lang="en-US" sz="2400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1F28ED92-80AE-2191-6FA0-5CEB417C61A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91056" y="3540867"/>
                <a:ext cx="6643992" cy="292478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14000"/>
                  </a:lnSpc>
                </a:pPr>
                <a:r>
                  <a:rPr lang="en-US" sz="2400" dirty="0"/>
                  <a:t>Define the Events, let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sz="2400" dirty="0"/>
                  <a:t>: Passenger carries a prohibited item.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sz="2400" dirty="0"/>
                  <a:t>′: Passenger does not carry a prohibited item.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400" dirty="0"/>
                  <a:t>: Metal detector alarms.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: X-ray scanner detects a prohibited item.</a:t>
                </a:r>
                <a:endParaRPr lang="en-IN" sz="2400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1F28ED92-80AE-2191-6FA0-5CEB417C61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1056" y="3540867"/>
                <a:ext cx="6643992" cy="2924784"/>
              </a:xfrm>
              <a:prstGeom prst="rect">
                <a:avLst/>
              </a:prstGeom>
              <a:blipFill>
                <a:blip r:embed="rId2"/>
                <a:stretch>
                  <a:fillRect l="-1284" t="-8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46445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55314-EB0F-A471-2F3C-17BAF536EE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80E7CA-4DC5-E238-A2BA-26244FBB0B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9B809852-ECE7-B229-5B32-44DE86F867A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dirty="0"/>
                  <a:t>Define the Events, let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: Passenger carries a prohibited item.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′</m:t>
                    </m:r>
                  </m:oMath>
                </a14:m>
                <a:r>
                  <a:rPr lang="en-US" dirty="0"/>
                  <a:t>: Passenger does not carry a prohibited item.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: Metal detector alarms.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: X-ray scanner detects a prohibited item.</a:t>
                </a:r>
                <a:endParaRPr lang="en-IN" dirty="0"/>
              </a:p>
              <a:p>
                <a:r>
                  <a:rPr lang="en-IN" dirty="0"/>
                  <a:t>Given that,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=0.005</m:t>
                    </m:r>
                  </m:oMath>
                </a14:m>
                <a:r>
                  <a:rPr lang="en-IN" dirty="0"/>
                  <a:t>, 		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=0.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99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0.95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     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0.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03</m:t>
                    </m:r>
                  </m:oMath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0.97,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     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i="1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0.02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9B809852-ECE7-B229-5B32-44DE86F867A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 t="-53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28793516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587DD1-F768-7794-B0BB-023258144D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1F03B8-86AA-11DD-418B-2BC678827A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A37EC04-F14A-3550-9284-B6D5964DED4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87940"/>
            <a:ext cx="11929641" cy="2130518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b="1" u="sng" dirty="0">
                <a:solidFill>
                  <a:srgbClr val="0070C0"/>
                </a:solidFill>
              </a:rPr>
              <a:t>After Metal Detector Alarm</a:t>
            </a:r>
          </a:p>
          <a:p>
            <a:pPr marL="273050" indent="0">
              <a:lnSpc>
                <a:spcPct val="114000"/>
              </a:lnSpc>
              <a:buNone/>
            </a:pPr>
            <a:r>
              <a:rPr lang="en-US" sz="2400" dirty="0">
                <a:latin typeface="Roboto Condensed"/>
              </a:rPr>
              <a:t>[ </a:t>
            </a:r>
            <a:r>
              <a:rPr kumimoji="0" lang="en-US" sz="2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 want to find the probability that the passenger carries a prohibited item after the metal detector alarm ]</a:t>
            </a:r>
            <a:endParaRPr lang="en-IN" u="sng" dirty="0">
              <a:solidFill>
                <a:srgbClr val="0070C0"/>
              </a:solidFill>
              <a:latin typeface="Cambria Math" panose="02040503050406030204" pitchFamily="18" charset="0"/>
            </a:endParaRPr>
          </a:p>
          <a:p>
            <a:pPr>
              <a:lnSpc>
                <a:spcPct val="114000"/>
              </a:lnSpc>
            </a:pPr>
            <a:r>
              <a:rPr lang="en-IN" dirty="0"/>
              <a:t>Using Bayes' Theorem,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469E5BB-163B-CC1C-9536-8B166D3B6BCE}"/>
                  </a:ext>
                </a:extLst>
              </p:cNvPr>
              <p:cNvSpPr txBox="1"/>
              <p:nvPr/>
            </p:nvSpPr>
            <p:spPr>
              <a:xfrm>
                <a:off x="457154" y="3126051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469E5BB-163B-CC1C-9536-8B166D3B6B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154" y="3126051"/>
                <a:ext cx="7736821" cy="100110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5EDADF5-F8B0-AA9A-4098-7B25E62A1B08}"/>
                  </a:ext>
                </a:extLst>
              </p:cNvPr>
              <p:cNvSpPr txBox="1"/>
              <p:nvPr/>
            </p:nvSpPr>
            <p:spPr>
              <a:xfrm>
                <a:off x="131180" y="4539034"/>
                <a:ext cx="7736821" cy="9714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005</m:t>
                          </m:r>
                        </m:num>
                        <m:den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95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005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03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5EDADF5-F8B0-AA9A-4098-7B25E62A1B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4539034"/>
                <a:ext cx="7736821" cy="97148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CD8E6FA-4D9E-737D-DCFB-C28B74EAC1F4}"/>
                  </a:ext>
                </a:extLst>
              </p:cNvPr>
              <p:cNvSpPr txBox="1"/>
              <p:nvPr/>
            </p:nvSpPr>
            <p:spPr>
              <a:xfrm>
                <a:off x="131180" y="5922393"/>
                <a:ext cx="406296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1373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CD8E6FA-4D9E-737D-DCFB-C28B74EAC1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5922393"/>
                <a:ext cx="406296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1E7A90-E12C-7DAF-A93D-AB2052A9E546}"/>
                  </a:ext>
                </a:extLst>
              </p:cNvPr>
              <p:cNvSpPr txBox="1"/>
              <p:nvPr/>
            </p:nvSpPr>
            <p:spPr>
              <a:xfrm>
                <a:off x="7659150" y="3782247"/>
                <a:ext cx="4401670" cy="1970732"/>
              </a:xfrm>
              <a:prstGeom prst="rect">
                <a:avLst/>
              </a:prstGeom>
              <a:noFill/>
              <a:ln w="19050">
                <a:solidFill>
                  <a:schemeClr val="accent6">
                    <a:lumMod val="75000"/>
                  </a:schemeClr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120000"/>
                  </a:lnSpc>
                </a:pPr>
                <a:r>
                  <a:rPr lang="en-US" sz="2800" b="1" i="1" u="sng" dirty="0">
                    <a:solidFill>
                      <a:srgbClr val="7030A0"/>
                    </a:solidFill>
                    <a:latin typeface="+mj-lt"/>
                  </a:rPr>
                  <a:t>Interpretation</a:t>
                </a:r>
              </a:p>
              <a:p>
                <a:pPr algn="ctr">
                  <a:lnSpc>
                    <a:spcPct val="120000"/>
                  </a:lnSpc>
                </a:pPr>
                <a:r>
                  <a:rPr lang="en-US" sz="2400" i="1" dirty="0">
                    <a:solidFill>
                      <a:srgbClr val="002060"/>
                    </a:solidFill>
                    <a:latin typeface="+mj-lt"/>
                  </a:rPr>
                  <a:t>After the metal detector alarm,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73</m:t>
                    </m:r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sz="2400" i="1" dirty="0">
                    <a:solidFill>
                      <a:srgbClr val="002060"/>
                    </a:solidFill>
                    <a:latin typeface="+mj-lt"/>
                  </a:rPr>
                  <a:t> ​chance that the passenger actually carries a prohibited item</a:t>
                </a: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.</a:t>
                </a:r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1E7A90-E12C-7DAF-A93D-AB2052A9E5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59150" y="3782247"/>
                <a:ext cx="4401670" cy="1970732"/>
              </a:xfrm>
              <a:prstGeom prst="rect">
                <a:avLst/>
              </a:prstGeom>
              <a:blipFill>
                <a:blip r:embed="rId5"/>
                <a:stretch>
                  <a:fillRect t="-306" r="-1931" b="-7034"/>
                </a:stretch>
              </a:blipFill>
              <a:ln w="19050">
                <a:solidFill>
                  <a:schemeClr val="accent6">
                    <a:lumMod val="7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09537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 animBg="1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7427C7-8B0B-CFC7-6C88-093533ACD8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BF528C-C7B7-C0FF-4F59-211D7ECB21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1A2B73BA-2588-0F14-C11E-F95AC9BE0FA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39"/>
                <a:ext cx="11929641" cy="3288791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b="1" u="sng" dirty="0">
                    <a:solidFill>
                      <a:srgbClr val="0070C0"/>
                    </a:solidFill>
                  </a:rPr>
                  <a:t>Update After X-ray</a:t>
                </a:r>
              </a:p>
              <a:p>
                <a:pPr marL="273050" indent="0">
                  <a:lnSpc>
                    <a:spcPct val="114000"/>
                  </a:lnSpc>
                  <a:buNone/>
                </a:pPr>
                <a:r>
                  <a:rPr lang="en-US" sz="2400" dirty="0">
                    <a:latin typeface="Roboto Condensed"/>
                  </a:rPr>
                  <a:t>[ </a:t>
                </a:r>
                <a:r>
                  <a:rPr kumimoji="0" lang="en-US" sz="2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We want to find the probability that the passenger carries a prohibited item after the X-ray Scanner ]</a:t>
                </a:r>
              </a:p>
              <a:p>
                <a:pPr>
                  <a:lnSpc>
                    <a:spcPct val="114000"/>
                  </a:lnSpc>
                </a:pPr>
                <a:r>
                  <a:rPr lang="en-US" i="0" dirty="0">
                    <a:latin typeface="+mj-lt"/>
                  </a:rPr>
                  <a:t>Now use the updated probability as the new prior: </a:t>
                </a:r>
                <a:endParaRPr lang="en-IN" i="0" dirty="0">
                  <a:latin typeface="Cambria Math" panose="02040503050406030204" pitchFamily="18" charset="0"/>
                </a:endParaRPr>
              </a:p>
              <a:p>
                <a:pPr marL="0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1373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′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8627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  <m:sup>
                              <m:r>
                                <a:rPr lang="en-IN" b="0" i="0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>
                  <a:lnSpc>
                    <a:spcPct val="114000"/>
                  </a:lnSpc>
                </a:pPr>
                <a:r>
                  <a:rPr lang="en-IN" dirty="0"/>
                  <a:t>Again applying Bayes' Theorem,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1A2B73BA-2588-0F14-C11E-F95AC9BE0FA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39"/>
                <a:ext cx="11929641" cy="3288791"/>
              </a:xfrm>
              <a:blipFill>
                <a:blip r:embed="rId2"/>
                <a:stretch>
                  <a:fillRect l="-971" t="-926" r="-818" b="-314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BAFA848-A614-7429-5744-3CEEFBEBE360}"/>
                  </a:ext>
                </a:extLst>
              </p:cNvPr>
              <p:cNvSpPr txBox="1"/>
              <p:nvPr/>
            </p:nvSpPr>
            <p:spPr>
              <a:xfrm>
                <a:off x="2859887" y="4076731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BAFA848-A614-7429-5744-3CEEFBEBE3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9887" y="4076731"/>
                <a:ext cx="7736821" cy="100110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886E1725-5EA6-ED35-CCDA-522EB11E0A4C}"/>
                  </a:ext>
                </a:extLst>
              </p:cNvPr>
              <p:cNvSpPr txBox="1"/>
              <p:nvPr/>
            </p:nvSpPr>
            <p:spPr>
              <a:xfrm>
                <a:off x="2558375" y="5406178"/>
                <a:ext cx="8038334" cy="9626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1373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97</m:t>
                          </m:r>
                        </m:num>
                        <m:den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1373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97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8627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02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886E1725-5EA6-ED35-CCDA-522EB11E0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8375" y="5406178"/>
                <a:ext cx="8038334" cy="96269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03046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3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1C59CC-0E47-765E-9F21-F05A091E58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BA94C6-021A-C694-ECBD-B1B9EFE2A2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16">
                <a:extLst>
                  <a:ext uri="{FF2B5EF4-FFF2-40B4-BE49-F238E27FC236}">
                    <a16:creationId xmlns:a16="http://schemas.microsoft.com/office/drawing/2014/main" id="{C38936B2-628C-2F2A-F2F0-E05DBA9E8E3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5899" y="2619742"/>
                <a:ext cx="11929641" cy="1663430"/>
              </a:xfrm>
            </p:spPr>
            <p:txBody>
              <a:bodyPr/>
              <a:lstStyle/>
              <a:p>
                <a:r>
                  <a:rPr lang="en-US" sz="2400" dirty="0"/>
                  <a:t>After Metal Detector,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sepChr m:val="∣"/>
                        <m:ctrlPr>
                          <a:rPr lang="en-US" sz="240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 b="0" i="0" dirty="0" smtClean="0"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e>
                        <m:r>
                          <m:rPr>
                            <m:sty m:val="p"/>
                          </m:rPr>
                          <a:rPr lang="en-IN" sz="2400" b="0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=13.73%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The passenger is suspicious, but the probability is not high enough to conclude they carry a prohibited item.</a:t>
                </a:r>
                <a:endParaRPr lang="en-IN" sz="2400" dirty="0"/>
              </a:p>
            </p:txBody>
          </p:sp>
        </mc:Choice>
        <mc:Fallback xmlns="">
          <p:sp>
            <p:nvSpPr>
              <p:cNvPr id="17" name="Content Placeholder 16">
                <a:extLst>
                  <a:ext uri="{FF2B5EF4-FFF2-40B4-BE49-F238E27FC236}">
                    <a16:creationId xmlns:a16="http://schemas.microsoft.com/office/drawing/2014/main" id="{C38936B2-628C-2F2A-F2F0-E05DBA9E8E3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5899" y="2619742"/>
                <a:ext cx="11929641" cy="1663430"/>
              </a:xfrm>
              <a:blipFill>
                <a:blip r:embed="rId2"/>
                <a:stretch>
                  <a:fillRect l="-715" r="-818" b="-183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03B383A-BD6E-8577-123E-37013BFEEDE7}"/>
                  </a:ext>
                </a:extLst>
              </p:cNvPr>
              <p:cNvSpPr txBox="1"/>
              <p:nvPr/>
            </p:nvSpPr>
            <p:spPr>
              <a:xfrm>
                <a:off x="126460" y="804995"/>
                <a:ext cx="8038334" cy="9626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0.1373×0.97</m:t>
                          </m:r>
                        </m:num>
                        <m:den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0.1373×0.97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0.8627×0.02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03B383A-BD6E-8577-123E-37013BFEED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60" y="804995"/>
                <a:ext cx="8038334" cy="96269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B3271B6-DBA9-1365-B0D8-9A51287F845C}"/>
                  </a:ext>
                </a:extLst>
              </p:cNvPr>
              <p:cNvSpPr txBox="1"/>
              <p:nvPr/>
            </p:nvSpPr>
            <p:spPr>
              <a:xfrm>
                <a:off x="7704306" y="1005584"/>
                <a:ext cx="18968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0.8853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B3271B6-DBA9-1365-B0D8-9A51287F84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04306" y="1005584"/>
                <a:ext cx="18968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D5E3DE9D-7EFF-07B5-A32E-76934E9E9A35}"/>
              </a:ext>
            </a:extLst>
          </p:cNvPr>
          <p:cNvSpPr txBox="1"/>
          <p:nvPr/>
        </p:nvSpPr>
        <p:spPr>
          <a:xfrm>
            <a:off x="126460" y="2038423"/>
            <a:ext cx="2490280" cy="4840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4000"/>
              </a:lnSpc>
            </a:pPr>
            <a:r>
              <a:rPr lang="en-US" sz="2400" b="1" u="sng" dirty="0">
                <a:solidFill>
                  <a:srgbClr val="0070C0"/>
                </a:solidFill>
              </a:rPr>
              <a:t>Final Decision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16">
                <a:extLst>
                  <a:ext uri="{FF2B5EF4-FFF2-40B4-BE49-F238E27FC236}">
                    <a16:creationId xmlns:a16="http://schemas.microsoft.com/office/drawing/2014/main" id="{BA99F5E5-C813-7024-C7CF-7539F3E215E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6460" y="4283172"/>
                <a:ext cx="11929641" cy="166343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After X-ray Scanner,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4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sz="240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sz="240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40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 sz="240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 sz="240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88</m:t>
                    </m:r>
                    <m:r>
                      <a:rPr lang="en-US" sz="240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sz="2400" dirty="0" smtClean="0">
                        <a:latin typeface="Cambria Math" panose="02040503050406030204" pitchFamily="18" charset="0"/>
                      </a:rPr>
                      <m:t>3%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Airport security should </a:t>
                </a:r>
                <a:r>
                  <a:rPr lang="en-US" sz="2400" b="1" i="1" dirty="0">
                    <a:solidFill>
                      <a:schemeClr val="accent6">
                        <a:lumMod val="75000"/>
                      </a:schemeClr>
                    </a:solidFill>
                  </a:rPr>
                  <a:t>detain the passenger for a detailed physical inspection</a:t>
                </a:r>
                <a:r>
                  <a:rPr lang="en-US" sz="2400" dirty="0"/>
                  <a:t> before allowing them to proceed.</a:t>
                </a:r>
                <a:endParaRPr lang="en-IN" sz="2400" dirty="0"/>
              </a:p>
            </p:txBody>
          </p:sp>
        </mc:Choice>
        <mc:Fallback xmlns="">
          <p:sp>
            <p:nvSpPr>
              <p:cNvPr id="18" name="Content Placeholder 16">
                <a:extLst>
                  <a:ext uri="{FF2B5EF4-FFF2-40B4-BE49-F238E27FC236}">
                    <a16:creationId xmlns:a16="http://schemas.microsoft.com/office/drawing/2014/main" id="{BA99F5E5-C813-7024-C7CF-7539F3E215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60" y="4283172"/>
                <a:ext cx="11929641" cy="1663430"/>
              </a:xfrm>
              <a:prstGeom prst="rect">
                <a:avLst/>
              </a:prstGeom>
              <a:blipFill>
                <a:blip r:embed="rId5"/>
                <a:stretch>
                  <a:fillRect l="-715" r="-766" b="-220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7778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8EA56B-A832-1EFD-B6C6-4F86A78E29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BF738F-9B89-E2A8-C20E-A398AF26D8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/>
              <a:t>Real-Life Application – Airport Security Screening</a:t>
            </a:r>
            <a:endParaRPr lang="en-IN" dirty="0"/>
          </a:p>
        </p:txBody>
      </p:sp>
      <p:sp>
        <p:nvSpPr>
          <p:cNvPr id="17" name="Content Placeholder 16">
            <a:extLst>
              <a:ext uri="{FF2B5EF4-FFF2-40B4-BE49-F238E27FC236}">
                <a16:creationId xmlns:a16="http://schemas.microsoft.com/office/drawing/2014/main" id="{5A27F154-ED8C-EF20-6882-BF23DBBA8D2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762" y="863599"/>
            <a:ext cx="3603659" cy="711201"/>
          </a:xfrm>
        </p:spPr>
        <p:txBody>
          <a:bodyPr/>
          <a:lstStyle/>
          <a:p>
            <a:r>
              <a:rPr lang="en-US" b="1" dirty="0"/>
              <a:t>Bayesian Updating</a:t>
            </a:r>
            <a:endParaRPr lang="en-IN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1" name="Table 20">
                <a:extLst>
                  <a:ext uri="{FF2B5EF4-FFF2-40B4-BE49-F238E27FC236}">
                    <a16:creationId xmlns:a16="http://schemas.microsoft.com/office/drawing/2014/main" id="{BEA20760-1D40-5F08-EB4E-94D4D1BEB8D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30536050"/>
                  </p:ext>
                </p:extLst>
              </p:nvPr>
            </p:nvGraphicFramePr>
            <p:xfrm>
              <a:off x="739379" y="1663249"/>
              <a:ext cx="10713241" cy="3291840"/>
            </p:xfrm>
            <a:graphic>
              <a:graphicData uri="http://schemas.openxmlformats.org/drawingml/2006/table">
                <a:tbl>
                  <a:tblPr firstRow="1" bandRow="1">
                    <a:tableStyleId>{5940675A-B579-460E-94D1-54222C63F5DA}</a:tableStyleId>
                  </a:tblPr>
                  <a:tblGrid>
                    <a:gridCol w="2636466">
                      <a:extLst>
                        <a:ext uri="{9D8B030D-6E8A-4147-A177-3AD203B41FA5}">
                          <a16:colId xmlns:a16="http://schemas.microsoft.com/office/drawing/2014/main" val="3207887742"/>
                        </a:ext>
                      </a:extLst>
                    </a:gridCol>
                    <a:gridCol w="2636466">
                      <a:extLst>
                        <a:ext uri="{9D8B030D-6E8A-4147-A177-3AD203B41FA5}">
                          <a16:colId xmlns:a16="http://schemas.microsoft.com/office/drawing/2014/main" val="530919930"/>
                        </a:ext>
                      </a:extLst>
                    </a:gridCol>
                    <a:gridCol w="2803843">
                      <a:extLst>
                        <a:ext uri="{9D8B030D-6E8A-4147-A177-3AD203B41FA5}">
                          <a16:colId xmlns:a16="http://schemas.microsoft.com/office/drawing/2014/main" val="15985903"/>
                        </a:ext>
                      </a:extLst>
                    </a:gridCol>
                    <a:gridCol w="2636466">
                      <a:extLst>
                        <a:ext uri="{9D8B030D-6E8A-4147-A177-3AD203B41FA5}">
                          <a16:colId xmlns:a16="http://schemas.microsoft.com/office/drawing/2014/main" val="3470738275"/>
                        </a:ext>
                      </a:extLst>
                    </a:gridCol>
                  </a:tblGrid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kern="1200" dirty="0">
                              <a:solidFill>
                                <a:schemeClr val="bg1"/>
                              </a:solidFill>
                              <a:latin typeface="+mn-lt"/>
                              <a:ea typeface="+mn-ea"/>
                              <a:cs typeface="+mn-cs"/>
                            </a:rPr>
                            <a:t>Stage</a:t>
                          </a:r>
                        </a:p>
                      </a:txBody>
                      <a:tcPr anchor="ctr">
                        <a:solidFill>
                          <a:srgbClr val="009788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Prior Probability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New Evidence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Posterior Probability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733623183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Before screening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0.5%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-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0.5%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69383084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Metal Detector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0.5%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Metal detector alarm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13.73%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549325261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X-ray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13.73%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X-ray detects prohibited item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88.53%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2760128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1" name="Table 20">
                <a:extLst>
                  <a:ext uri="{FF2B5EF4-FFF2-40B4-BE49-F238E27FC236}">
                    <a16:creationId xmlns:a16="http://schemas.microsoft.com/office/drawing/2014/main" id="{BEA20760-1D40-5F08-EB4E-94D4D1BEB8D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30536050"/>
                  </p:ext>
                </p:extLst>
              </p:nvPr>
            </p:nvGraphicFramePr>
            <p:xfrm>
              <a:off x="739379" y="1663249"/>
              <a:ext cx="10713241" cy="3291840"/>
            </p:xfrm>
            <a:graphic>
              <a:graphicData uri="http://schemas.openxmlformats.org/drawingml/2006/table">
                <a:tbl>
                  <a:tblPr firstRow="1" bandRow="1">
                    <a:tableStyleId>{5940675A-B579-460E-94D1-54222C63F5DA}</a:tableStyleId>
                  </a:tblPr>
                  <a:tblGrid>
                    <a:gridCol w="2636466">
                      <a:extLst>
                        <a:ext uri="{9D8B030D-6E8A-4147-A177-3AD203B41FA5}">
                          <a16:colId xmlns:a16="http://schemas.microsoft.com/office/drawing/2014/main" val="3207887742"/>
                        </a:ext>
                      </a:extLst>
                    </a:gridCol>
                    <a:gridCol w="2636466">
                      <a:extLst>
                        <a:ext uri="{9D8B030D-6E8A-4147-A177-3AD203B41FA5}">
                          <a16:colId xmlns:a16="http://schemas.microsoft.com/office/drawing/2014/main" val="530919930"/>
                        </a:ext>
                      </a:extLst>
                    </a:gridCol>
                    <a:gridCol w="2803843">
                      <a:extLst>
                        <a:ext uri="{9D8B030D-6E8A-4147-A177-3AD203B41FA5}">
                          <a16:colId xmlns:a16="http://schemas.microsoft.com/office/drawing/2014/main" val="15985903"/>
                        </a:ext>
                      </a:extLst>
                    </a:gridCol>
                    <a:gridCol w="2636466">
                      <a:extLst>
                        <a:ext uri="{9D8B030D-6E8A-4147-A177-3AD203B41FA5}">
                          <a16:colId xmlns:a16="http://schemas.microsoft.com/office/drawing/2014/main" val="3470738275"/>
                        </a:ext>
                      </a:extLst>
                    </a:gridCol>
                  </a:tblGrid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kern="1200" dirty="0">
                              <a:solidFill>
                                <a:schemeClr val="bg1"/>
                              </a:solidFill>
                              <a:latin typeface="+mn-lt"/>
                              <a:ea typeface="+mn-ea"/>
                              <a:cs typeface="+mn-cs"/>
                            </a:rPr>
                            <a:t>Stage</a:t>
                          </a:r>
                        </a:p>
                      </a:txBody>
                      <a:tcPr anchor="ctr">
                        <a:solidFill>
                          <a:srgbClr val="009788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Prior Probability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New Evidence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b="1" dirty="0"/>
                            <a:t>Posterior Probability</a:t>
                          </a:r>
                        </a:p>
                      </a:txBody>
                      <a:tcPr anchor="ctr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733623183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Before screening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463" t="-103676" r="-207176" b="-21617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-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306236" t="-103676" r="-462" b="-21617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69383084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Metal Detector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463" t="-205185" r="-207176" b="-11777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Metal detector alarm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306236" t="-205185" r="-462" b="-11777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549325261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After X-ray</a:t>
                          </a:r>
                        </a:p>
                      </a:txBody>
                      <a:tcPr anchor="ctr">
                        <a:solidFill>
                          <a:schemeClr val="accent2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463" t="-305185" r="-207176" b="-1777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X-ray detects prohibited item</a:t>
                          </a:r>
                        </a:p>
                      </a:txBody>
                      <a:tcPr anchor="ctr"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306236" t="-305185" r="-462" b="-1777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27601289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1E091891-75AE-F90A-ECB8-E2AE82FB29A7}"/>
              </a:ext>
            </a:extLst>
          </p:cNvPr>
          <p:cNvSpPr txBox="1"/>
          <p:nvPr/>
        </p:nvSpPr>
        <p:spPr>
          <a:xfrm>
            <a:off x="1206230" y="5194751"/>
            <a:ext cx="943899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</a:rPr>
              <a:t>Real airport security does not rely on a single machine. Instead, it combines evidence from multiple screening systems. Each new result increases or decreases the confidence that a passenger is carrying a prohibited item. This is the same idea behind Bayes' Theorem: update your belief whenever new evidence becomes available.</a:t>
            </a:r>
            <a:endParaRPr lang="en-IN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4828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/>
              <a:t>Method 5</a:t>
            </a:r>
            <a:br>
              <a:rPr lang="en-IN" dirty="0"/>
            </a:br>
            <a:r>
              <a:rPr lang="en-GB" dirty="0"/>
              <a:t>Random Variable </a:t>
            </a:r>
            <a:br>
              <a:rPr lang="en-GB" dirty="0"/>
            </a:br>
            <a:r>
              <a:rPr lang="en-GB" dirty="0"/>
              <a:t>and Probability Function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81237999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07CD53-DFE6-943D-09C0-8F1F6B123C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Introduction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C85A8C0-1B85-3B6F-A48C-9B4120DB71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In many random experiments, the outcomes are not always numbers.</a:t>
            </a:r>
          </a:p>
          <a:p>
            <a:r>
              <a:rPr lang="en-US" dirty="0"/>
              <a:t>For example, when a coin is tossed, the outcomes are Head (H) and Tail (T).</a:t>
            </a:r>
          </a:p>
          <a:p>
            <a:r>
              <a:rPr lang="en-US" dirty="0"/>
              <a:t>To represent such outcomes numerically, we assign a number to each outcome. </a:t>
            </a:r>
          </a:p>
          <a:p>
            <a:r>
              <a:rPr lang="en-US" dirty="0"/>
              <a:t>This numerical assignment is called a </a:t>
            </a:r>
            <a:r>
              <a:rPr lang="en-US" b="1" dirty="0">
                <a:solidFill>
                  <a:srgbClr val="0070C0"/>
                </a:solidFill>
              </a:rPr>
              <a:t>Random Variable.</a:t>
            </a:r>
          </a:p>
        </p:txBody>
      </p:sp>
    </p:spTree>
    <p:extLst>
      <p:ext uri="{BB962C8B-B14F-4D97-AF65-F5344CB8AC3E}">
        <p14:creationId xmlns:p14="http://schemas.microsoft.com/office/powerpoint/2010/main" val="793510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A7063-DB96-14A9-79C8-84EC8C85D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50ED8F8-880A-BC68-2341-BD736EE505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EB3E03B-8458-909B-BEB6-4F6F96091ED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5916" y="746709"/>
                <a:ext cx="11965020" cy="571245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14000"/>
                  </a:lnSpc>
                </a:pPr>
                <a:r>
                  <a:rPr lang="en-US" dirty="0"/>
                  <a:t>A Random Variable is a rule that assigns a number to each possible outcome of a random experiment.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Random Variable is often denoted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>
                  <a:lnSpc>
                    <a:spcPct val="114000"/>
                  </a:lnSpc>
                </a:pPr>
                <a:r>
                  <a:rPr lang="en-US" dirty="0"/>
                  <a:t>Example: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be the sample space of tossing a coin</a:t>
                </a:r>
              </a:p>
              <a:p>
                <a:pPr marL="271463" lvl="1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Define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as</a:t>
                </a:r>
              </a:p>
              <a:p>
                <a:pPr lvl="2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;</m:t>
                    </m:r>
                  </m:oMath>
                </a14:m>
                <a:r>
                  <a:rPr lang="en-US" dirty="0"/>
                  <a:t> if head occurs</a:t>
                </a:r>
              </a:p>
              <a:p>
                <a:pPr lvl="2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;</m:t>
                    </m:r>
                  </m:oMath>
                </a14:m>
                <a:r>
                  <a:rPr lang="en-US" dirty="0"/>
                  <a:t> if tail occurs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EB3E03B-8458-909B-BEB6-4F6F96091E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916" y="746709"/>
                <a:ext cx="11965020" cy="5712457"/>
              </a:xfrm>
              <a:prstGeom prst="rect">
                <a:avLst/>
              </a:prstGeom>
              <a:blipFill>
                <a:blip r:embed="rId2"/>
                <a:stretch>
                  <a:fillRect l="-968" t="-533" r="-101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41990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94A5CA-3541-0488-6815-F8D87CEE26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CD6858B-31A8-46F4-AA3A-A97F37944D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E2092C7-04B3-5C55-B837-5E0B2A04C8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5916" y="735823"/>
                <a:ext cx="11974748" cy="586925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The random variable is a function whose domain is the sample space of a random experiment and whose range is a subset of real numbers.</a:t>
                </a:r>
              </a:p>
              <a:p>
                <a:pPr lvl="1"/>
                <a:r>
                  <a:rPr lang="en-US" dirty="0"/>
                  <a:t>i.e.,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a:rPr lang="en-IN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𝐒</m:t>
                    </m:r>
                  </m:oMath>
                </a14:m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 is the sample space, then a random variable is a function</a:t>
                </a:r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: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𝐒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→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b="1" dirty="0"/>
              </a:p>
              <a:p>
                <a:pPr marL="622300" lvl="0" indent="0">
                  <a:buNone/>
                </a:pPr>
                <a:r>
                  <a:rPr lang="en-US" dirty="0"/>
                  <a:t>where 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dirty="0"/>
                  <a:t> denotes the set of </a:t>
                </a:r>
                <a:r>
                  <a:rPr lang="en-US" b="1" dirty="0"/>
                  <a:t>real numbers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1" algn="l">
                  <a:lnSpc>
                    <a:spcPct val="100000"/>
                  </a:lnSpc>
                </a:pPr>
                <a:r>
                  <a:rPr lang="en-US" dirty="0"/>
                  <a:t>Therefore, in above example we can write</a:t>
                </a:r>
              </a:p>
              <a:p>
                <a:pPr marL="671513" lvl="2" indent="0" algn="ctr">
                  <a:lnSpc>
                    <a:spcPct val="100000"/>
                  </a:lnSpc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head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tail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US" dirty="0"/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Random variable can be classified as bellow: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GB" dirty="0"/>
                  <a:t>Discrete Random Variable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GB" dirty="0"/>
                  <a:t>Continuous Random Variable</a:t>
                </a:r>
              </a:p>
              <a:p>
                <a:pPr marL="0" indent="0" algn="l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E2092C7-04B3-5C55-B837-5E0B2A04C8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916" y="735823"/>
                <a:ext cx="11974748" cy="5869258"/>
              </a:xfrm>
              <a:prstGeom prst="rect">
                <a:avLst/>
              </a:prstGeom>
              <a:blipFill>
                <a:blip r:embed="rId2"/>
                <a:stretch>
                  <a:fillRect l="-967" t="-1038" r="-10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4722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Discrete Random Variable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0"/>
                <a:ext cx="11929641" cy="4470399"/>
              </a:xfrm>
            </p:spPr>
            <p:txBody>
              <a:bodyPr/>
              <a:lstStyle/>
              <a:p>
                <a:r>
                  <a:rPr lang="en-GB" dirty="0"/>
                  <a:t>A random variable can take only </a:t>
                </a:r>
                <a:r>
                  <a:rPr lang="en-GB" b="1" dirty="0">
                    <a:solidFill>
                      <a:srgbClr val="FF0000"/>
                    </a:solidFill>
                  </a:rPr>
                  <a:t>finite values </a:t>
                </a:r>
                <a:r>
                  <a:rPr lang="en-GB" dirty="0"/>
                  <a:t>or </a:t>
                </a:r>
                <a:r>
                  <a:rPr lang="en-GB" b="1" dirty="0">
                    <a:solidFill>
                      <a:srgbClr val="FF0000"/>
                    </a:solidFill>
                  </a:rPr>
                  <a:t>countably infinite </a:t>
                </a:r>
                <a:r>
                  <a:rPr lang="en-GB" dirty="0"/>
                  <a:t>values is known as discrete random variable.</a:t>
                </a:r>
              </a:p>
              <a:p>
                <a:r>
                  <a:rPr lang="en-US" dirty="0"/>
                  <a:t>The values of a discrete random variable can be </a:t>
                </a:r>
                <a:r>
                  <a:rPr lang="en-US" b="1" dirty="0">
                    <a:solidFill>
                      <a:srgbClr val="0070C0"/>
                    </a:solidFill>
                  </a:rPr>
                  <a:t>listed</a:t>
                </a:r>
                <a:r>
                  <a:rPr lang="en-US" dirty="0"/>
                  <a:t> or </a:t>
                </a:r>
                <a:r>
                  <a:rPr lang="en-US" b="1" dirty="0">
                    <a:solidFill>
                      <a:srgbClr val="0070C0"/>
                    </a:solidFill>
                  </a:rPr>
                  <a:t>counted</a:t>
                </a:r>
                <a:r>
                  <a:rPr lang="en-GB" dirty="0"/>
                  <a:t>.</a:t>
                </a:r>
              </a:p>
              <a:p>
                <a:r>
                  <a:rPr lang="en-GB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</a:p>
              <a:p>
                <a:pPr lvl="1"/>
                <a:r>
                  <a:rPr lang="en-GB" dirty="0"/>
                  <a:t>If two coins are tossed simultaneously the following sample space is generated:</a:t>
                </a:r>
              </a:p>
              <a:p>
                <a:pPr marL="625475" lvl="1" indent="0" algn="ctr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GB" dirty="0"/>
                  <a:t> </a:t>
                </a:r>
              </a:p>
              <a:p>
                <a:pPr lvl="1" algn="l"/>
                <a:r>
                  <a:rPr lang="en-GB" dirty="0"/>
                  <a:t>Now,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denotes the </a:t>
                </a:r>
                <a:r>
                  <a:rPr lang="en-GB" b="1" dirty="0"/>
                  <a:t>number of heads obtained</a:t>
                </a:r>
                <a:r>
                  <a:rPr lang="en-GB" dirty="0"/>
                  <a:t>, then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0"/>
                <a:ext cx="11929641" cy="4470399"/>
              </a:xfrm>
              <a:blipFill>
                <a:blip r:embed="rId2"/>
                <a:stretch>
                  <a:fillRect l="-971" r="-1074" b="-27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BD6E560-F5F9-4375-87BA-E29BDD460C0E}"/>
                  </a:ext>
                </a:extLst>
              </p:cNvPr>
              <p:cNvSpPr txBox="1"/>
              <p:nvPr/>
            </p:nvSpPr>
            <p:spPr>
              <a:xfrm>
                <a:off x="1727925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HH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BD6E560-F5F9-4375-87BA-E29BDD460C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7925" y="5294584"/>
                <a:ext cx="1200331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A3B8D8-AD82-429F-8F61-C21CE7CA5E8F}"/>
                  </a:ext>
                </a:extLst>
              </p:cNvPr>
              <p:cNvSpPr txBox="1"/>
              <p:nvPr/>
            </p:nvSpPr>
            <p:spPr>
              <a:xfrm>
                <a:off x="2732175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A3B8D8-AD82-429F-8F61-C21CE7CA5E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2175" y="5294584"/>
                <a:ext cx="8853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C302A62-E477-41E0-B04C-EDA0C49961BB}"/>
                  </a:ext>
                </a:extLst>
              </p:cNvPr>
              <p:cNvSpPr txBox="1"/>
              <p:nvPr/>
            </p:nvSpPr>
            <p:spPr>
              <a:xfrm>
                <a:off x="4030789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C302A62-E477-41E0-B04C-EDA0C4996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0789" y="5294584"/>
                <a:ext cx="120033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759BCBA-5CEE-4BA9-BB96-AA3EE96B17AE}"/>
                  </a:ext>
                </a:extLst>
              </p:cNvPr>
              <p:cNvSpPr txBox="1"/>
              <p:nvPr/>
            </p:nvSpPr>
            <p:spPr>
              <a:xfrm>
                <a:off x="5035039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759BCBA-5CEE-4BA9-BB96-AA3EE96B1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5039" y="5294584"/>
                <a:ext cx="8853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C6A011D-FDEB-46FB-B34A-CC8DA09581FF}"/>
                  </a:ext>
                </a:extLst>
              </p:cNvPr>
              <p:cNvSpPr txBox="1"/>
              <p:nvPr/>
            </p:nvSpPr>
            <p:spPr>
              <a:xfrm>
                <a:off x="6333653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C6A011D-FDEB-46FB-B34A-CC8DA09581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3653" y="5294584"/>
                <a:ext cx="120033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EC46755-B530-40F5-A8CB-9F2BA2681A4A}"/>
                  </a:ext>
                </a:extLst>
              </p:cNvPr>
              <p:cNvSpPr txBox="1"/>
              <p:nvPr/>
            </p:nvSpPr>
            <p:spPr>
              <a:xfrm>
                <a:off x="7322697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EC46755-B530-40F5-A8CB-9F2BA2681A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697" y="5294584"/>
                <a:ext cx="88537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49DC39A-1300-46B1-B8F6-BC6D16B85AE3}"/>
                  </a:ext>
                </a:extLst>
              </p:cNvPr>
              <p:cNvSpPr txBox="1"/>
              <p:nvPr/>
            </p:nvSpPr>
            <p:spPr>
              <a:xfrm>
                <a:off x="8701278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TT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49DC39A-1300-46B1-B8F6-BC6D16B85A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1278" y="5294584"/>
                <a:ext cx="120033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B3A78CD-DD56-401E-8F4C-4126A06880A8}"/>
                  </a:ext>
                </a:extLst>
              </p:cNvPr>
              <p:cNvSpPr txBox="1"/>
              <p:nvPr/>
            </p:nvSpPr>
            <p:spPr>
              <a:xfrm>
                <a:off x="9687696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B3A78CD-DD56-401E-8F4C-4126A06880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87696" y="5294584"/>
                <a:ext cx="88537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8BCB265-7FC3-4163-9196-EA48E26AA5D1}"/>
                  </a:ext>
                </a:extLst>
              </p:cNvPr>
              <p:cNvSpPr txBox="1"/>
              <p:nvPr/>
            </p:nvSpPr>
            <p:spPr>
              <a:xfrm>
                <a:off x="802640" y="5930789"/>
                <a:ext cx="55947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i.e.,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 can take values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8BCB265-7FC3-4163-9196-EA48E26AA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640" y="5930789"/>
                <a:ext cx="5594772" cy="523220"/>
              </a:xfrm>
              <a:prstGeom prst="rect">
                <a:avLst/>
              </a:prstGeom>
              <a:blipFill>
                <a:blip r:embed="rId11"/>
                <a:stretch>
                  <a:fillRect l="-229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8E25012-6B7D-4BA6-8CC4-5AD87C16F0FD}"/>
                  </a:ext>
                </a:extLst>
              </p:cNvPr>
              <p:cNvSpPr txBox="1"/>
              <p:nvPr/>
            </p:nvSpPr>
            <p:spPr>
              <a:xfrm>
                <a:off x="6310326" y="5930789"/>
                <a:ext cx="14330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8E25012-6B7D-4BA6-8CC4-5AD87C16F0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0326" y="5930789"/>
                <a:ext cx="143300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04271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/>
      <p:bldP spid="7" grpId="0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Discrete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79EEE02-B6D3-43B4-AEFC-5E226BF33B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 lvl="0"/>
            <a:r>
              <a:rPr lang="en-US" dirty="0"/>
              <a:t>Some other examples of discrete random variable.</a:t>
            </a:r>
            <a:endParaRPr lang="en-IN" dirty="0"/>
          </a:p>
          <a:p>
            <a:pPr lvl="1"/>
            <a:r>
              <a:rPr lang="en-US" dirty="0"/>
              <a:t>Number of children in a family.</a:t>
            </a:r>
            <a:endParaRPr lang="en-IN" dirty="0"/>
          </a:p>
          <a:p>
            <a:pPr lvl="1"/>
            <a:r>
              <a:rPr lang="en-US" dirty="0"/>
              <a:t>Numbers of stars in the sky.</a:t>
            </a:r>
            <a:endParaRPr lang="en-IN" dirty="0"/>
          </a:p>
          <a:p>
            <a:pPr lvl="1"/>
            <a:r>
              <a:rPr lang="en-US" dirty="0"/>
              <a:t>Profit made by investor in a day</a:t>
            </a:r>
          </a:p>
        </p:txBody>
      </p:sp>
    </p:spTree>
    <p:extLst>
      <p:ext uri="{BB962C8B-B14F-4D97-AF65-F5344CB8AC3E}">
        <p14:creationId xmlns:p14="http://schemas.microsoft.com/office/powerpoint/2010/main" val="4157192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858E06-07CA-5747-3DFE-63196C04C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FFEE1BC-3ADF-D129-085F-24B0F7DCFE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Continuous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3248C80-E1E5-8A65-C236-3686C5B02F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pPr lvl="0"/>
            <a:r>
              <a:rPr lang="en-US" dirty="0"/>
              <a:t>If a random variable can take </a:t>
            </a:r>
            <a:r>
              <a:rPr lang="en-US" b="1" dirty="0">
                <a:solidFill>
                  <a:srgbClr val="FF0000"/>
                </a:solidFill>
              </a:rPr>
              <a:t>all values within an interval</a:t>
            </a:r>
            <a:r>
              <a:rPr lang="en-US" dirty="0"/>
              <a:t>, is known as continuous random variable.</a:t>
            </a:r>
            <a:endParaRPr lang="en-IN" dirty="0"/>
          </a:p>
          <a:p>
            <a:r>
              <a:rPr lang="en-US" dirty="0"/>
              <a:t>It could be said that continuous random variables are generated from experiments in which things are “measured” not “counted”.</a:t>
            </a:r>
            <a:endParaRPr lang="en-GB" dirty="0"/>
          </a:p>
          <a:p>
            <a:pPr lvl="0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</a:p>
          <a:p>
            <a:pPr lvl="1"/>
            <a:r>
              <a:rPr lang="en-US" dirty="0"/>
              <a:t>The age of a person</a:t>
            </a:r>
            <a:endParaRPr lang="en-IN" dirty="0"/>
          </a:p>
          <a:p>
            <a:pPr lvl="1"/>
            <a:r>
              <a:rPr lang="en-US" dirty="0"/>
              <a:t>Weight and height of a person</a:t>
            </a:r>
            <a:endParaRPr lang="en-IN" dirty="0"/>
          </a:p>
          <a:p>
            <a:pPr lvl="1"/>
            <a:r>
              <a:rPr lang="en-US" dirty="0"/>
              <a:t>Life of an electric bulb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20095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97EF86-6E14-D322-56A4-7467E6A14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BB8F1E9-31DF-7196-6C70-F4A09BAC5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Continuous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F3712C0-D09B-A93A-C22D-4ECF4F3DCD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797668"/>
            <a:ext cx="6036156" cy="1293779"/>
          </a:xfrm>
        </p:spPr>
        <p:txBody>
          <a:bodyPr/>
          <a:lstStyle/>
          <a:p>
            <a:pPr lvl="0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 </a:t>
            </a:r>
            <a:r>
              <a:rPr lang="en-US" dirty="0"/>
              <a:t>The age of a person</a:t>
            </a:r>
          </a:p>
          <a:p>
            <a:r>
              <a:rPr lang="en-US" dirty="0"/>
              <a:t>Because Age is measured, not counted.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" name="Table 1">
                <a:extLst>
                  <a:ext uri="{FF2B5EF4-FFF2-40B4-BE49-F238E27FC236}">
                    <a16:creationId xmlns:a16="http://schemas.microsoft.com/office/drawing/2014/main" id="{985EE56D-4A4C-2258-799D-16918193D5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68421583"/>
                  </p:ext>
                </p:extLst>
              </p:nvPr>
            </p:nvGraphicFramePr>
            <p:xfrm>
              <a:off x="475812" y="2177914"/>
              <a:ext cx="4680000" cy="234696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34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2340000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Person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Age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A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18.42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B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18.425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C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18.4257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589032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D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18.42573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963887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" name="Table 1">
                <a:extLst>
                  <a:ext uri="{FF2B5EF4-FFF2-40B4-BE49-F238E27FC236}">
                    <a16:creationId xmlns:a16="http://schemas.microsoft.com/office/drawing/2014/main" id="{985EE56D-4A4C-2258-799D-16918193D5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68421583"/>
                  </p:ext>
                </p:extLst>
              </p:nvPr>
            </p:nvGraphicFramePr>
            <p:xfrm>
              <a:off x="475812" y="2177914"/>
              <a:ext cx="4680000" cy="234696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34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2340000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</a:tblGrid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Person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Age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A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125333" r="-1823" b="-33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B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222368" r="-1823" b="-22763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C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326667" r="-1823" b="-130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695890320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D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426667" r="-1823" b="-30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963887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4E6397E-90E1-590C-70FF-9AE3C1431D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758927" y="797668"/>
                <a:ext cx="6585473" cy="46400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Why a particular value is not possible?</a:t>
                </a:r>
              </a:p>
              <a:p>
                <a:pPr lvl="1"/>
                <a:r>
                  <a:rPr lang="en-US" dirty="0"/>
                  <a:t>Consider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=18</m:t>
                    </m:r>
                  </m:oMath>
                </a14:m>
                <a:r>
                  <a:rPr lang="en-US" dirty="0"/>
                  <a:t> years exactly</a:t>
                </a:r>
              </a:p>
              <a:p>
                <a:pPr lvl="1"/>
                <a:r>
                  <a:rPr lang="en-US" dirty="0"/>
                  <a:t>Does this mean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years?</a:t>
                </a:r>
              </a:p>
              <a:p>
                <a:pPr lvl="1"/>
                <a:r>
                  <a:rPr lang="en-US" dirty="0"/>
                  <a:t>What about: 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+ 1</m:t>
                    </m:r>
                  </m:oMath>
                </a14:m>
                <a:r>
                  <a:rPr lang="en-US" dirty="0"/>
                  <a:t> second?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+ 1</m:t>
                    </m:r>
                  </m:oMath>
                </a14:m>
                <a:r>
                  <a:rPr lang="en-US" dirty="0"/>
                  <a:t> millisecond?</a:t>
                </a:r>
              </a:p>
              <a:p>
                <a:pPr lvl="2"/>
                <a:r>
                  <a:rPr lang="en-US" dirty="0"/>
                  <a:t>Exact age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=18</m:t>
                    </m:r>
                  </m:oMath>
                </a14:m>
                <a:r>
                  <a:rPr lang="en-US" dirty="0"/>
                  <a:t> years cannot be fixed.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4E6397E-90E1-590C-70FF-9AE3C1431D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8927" y="797668"/>
                <a:ext cx="6585473" cy="4640094"/>
              </a:xfrm>
              <a:prstGeom prst="rect">
                <a:avLst/>
              </a:prstGeom>
              <a:blipFill>
                <a:blip r:embed="rId3"/>
                <a:stretch>
                  <a:fillRect l="-1759" b="-17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F5C0CD-D865-05C4-E039-7D048E6DFB3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1" y="4766553"/>
                <a:ext cx="6036156" cy="67120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Meaningful statement: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𝟏𝟖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𝐗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𝟏𝟗</m:t>
                    </m:r>
                  </m:oMath>
                </a14:m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F5C0CD-D865-05C4-E039-7D048E6DFB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1" y="4766553"/>
                <a:ext cx="6036156" cy="671209"/>
              </a:xfrm>
              <a:prstGeom prst="rect">
                <a:avLst/>
              </a:prstGeom>
              <a:blipFill>
                <a:blip r:embed="rId4"/>
                <a:stretch>
                  <a:fillRect l="-1919" b="-1272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1216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 uiExpand="1" build="p"/>
      <p:bldP spid="9" grpId="0" uiExpand="1" build="p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Probability Distribution of a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dirty="0"/>
                  <a:t>The probability distribution of a random variable describes how probabilities are assigned to its possible values.</a:t>
                </a:r>
              </a:p>
              <a:p>
                <a:pPr lvl="0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random variable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one of its possible values, then the 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denoted by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 dirty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dirty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 i="0" dirty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b="1" i="0" dirty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 lvl="0"/>
                <a:r>
                  <a:rPr lang="en-US" dirty="0"/>
                  <a:t>The probability distribution may be represented by a table, a graph, or a mathematical function.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97619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r>
                  <a:rPr lang="en-US" dirty="0"/>
                  <a:t>When the number of possible outcomes in a random experiment is very large or infinite, it becomes impractical to list all the outcomes and their probabilities in a table. </a:t>
                </a:r>
              </a:p>
              <a:p>
                <a:r>
                  <a:rPr lang="en-US" dirty="0"/>
                  <a:t>In such cases, we can use </a:t>
                </a:r>
                <a:r>
                  <a:rPr lang="en-US" b="1" dirty="0">
                    <a:solidFill>
                      <a:srgbClr val="0070C0"/>
                    </a:solidFill>
                  </a:rPr>
                  <a:t>mathematical functions</a:t>
                </a:r>
                <a:r>
                  <a:rPr lang="en-US" dirty="0"/>
                  <a:t> to describe the relationship between the outcomes and their probabilities.</a:t>
                </a:r>
              </a:p>
              <a:p>
                <a:pPr lvl="0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random variable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is a real-valued function such that </a:t>
                </a:r>
                <a:endParaRPr lang="en-IN" b="1" dirty="0"/>
              </a:p>
              <a:p>
                <a:pPr lvl="0" indent="7938">
                  <a:buNone/>
                </a:pPr>
                <a14:m>
                  <m:oMath xmlns:m="http://schemas.openxmlformats.org/officeDocument/2006/math">
                    <m:r>
                      <a:rPr lang="en-IN" b="1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IN" b="1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d>
                    <m:r>
                      <a:rPr lang="en-IN" b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>
                        <a:latin typeface="Cambria Math" panose="02040503050406030204" pitchFamily="18" charset="0"/>
                      </a:rPr>
                      <m:t>𝐟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d>
                  </m:oMath>
                </a14:m>
                <a:r>
                  <a:rPr lang="en-US" dirty="0"/>
                  <a:t>, then </a:t>
                </a:r>
                <a14:m>
                  <m:oMath xmlns:m="http://schemas.openxmlformats.org/officeDocument/2006/math">
                    <m:r>
                      <a:rPr lang="en-IN" b="1">
                        <a:latin typeface="Cambria Math" panose="02040503050406030204" pitchFamily="18" charset="0"/>
                      </a:rPr>
                      <m:t>𝐟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d>
                  </m:oMath>
                </a14:m>
                <a:r>
                  <a:rPr lang="en-US" dirty="0"/>
                  <a:t> is called the Probability Function of the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.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6553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0CB82-6BC2-CD3C-43D1-C0F3A6635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388A2D-B893-7000-72FF-8256E045A8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Function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FBBD2A-3BC9-1B5B-2D1A-E5154F5731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87940"/>
            <a:ext cx="11929641" cy="5666069"/>
          </a:xfrm>
        </p:spPr>
        <p:txBody>
          <a:bodyPr/>
          <a:lstStyle/>
          <a:p>
            <a:r>
              <a:rPr lang="en-US" dirty="0"/>
              <a:t>These functions are known as probability density functions or probability mass functions, depending on whether the random variable is continuous or discrete.</a:t>
            </a:r>
            <a:endParaRPr lang="en-GB" dirty="0"/>
          </a:p>
          <a:p>
            <a:r>
              <a:rPr lang="en-GB" dirty="0"/>
              <a:t>Probability functions can be classified as </a:t>
            </a:r>
          </a:p>
          <a:p>
            <a:pPr lvl="1"/>
            <a:r>
              <a:rPr lang="en-GB" dirty="0"/>
              <a:t>Probability Mass Function </a:t>
            </a:r>
            <a:r>
              <a:rPr lang="en-GB" b="1" dirty="0"/>
              <a:t>(P. M. F.)</a:t>
            </a:r>
            <a:r>
              <a:rPr lang="en-GB" dirty="0"/>
              <a:t> (for </a:t>
            </a:r>
            <a:r>
              <a:rPr lang="en-GB" b="1" dirty="0">
                <a:solidFill>
                  <a:srgbClr val="FF0000"/>
                </a:solidFill>
              </a:rPr>
              <a:t>discrete</a:t>
            </a:r>
            <a:r>
              <a:rPr lang="en-GB" dirty="0"/>
              <a:t> random variable)</a:t>
            </a:r>
          </a:p>
          <a:p>
            <a:pPr lvl="1"/>
            <a:r>
              <a:rPr lang="en-GB" dirty="0"/>
              <a:t>Probability Density Function </a:t>
            </a:r>
            <a:r>
              <a:rPr lang="en-GB" b="1" dirty="0"/>
              <a:t>(P. D. F.)</a:t>
            </a:r>
            <a:r>
              <a:rPr lang="en-GB" dirty="0"/>
              <a:t> (for </a:t>
            </a:r>
            <a:r>
              <a:rPr lang="en-GB" b="1" dirty="0">
                <a:solidFill>
                  <a:srgbClr val="0070C0"/>
                </a:solidFill>
              </a:rPr>
              <a:t>continuous</a:t>
            </a:r>
            <a:r>
              <a:rPr lang="en-GB" dirty="0"/>
              <a:t> random variable)</a:t>
            </a:r>
          </a:p>
        </p:txBody>
      </p:sp>
    </p:spTree>
    <p:extLst>
      <p:ext uri="{BB962C8B-B14F-4D97-AF65-F5344CB8AC3E}">
        <p14:creationId xmlns:p14="http://schemas.microsoft.com/office/powerpoint/2010/main" val="763727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803485"/>
                <a:ext cx="11929641" cy="1315131"/>
              </a:xfrm>
            </p:spPr>
            <p:txBody>
              <a:bodyPr/>
              <a:lstStyle/>
              <a:p>
                <a:r>
                  <a:rPr lang="en-US" dirty="0"/>
                  <a:t>Two balanced coins are tossed,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marL="271463" lvl="1" indent="0">
                  <a:buNone/>
                </a:pPr>
                <a:r>
                  <a:rPr lang="en-US" dirty="0"/>
                  <a:t>Find the probability distribution of </a:t>
                </a:r>
                <a:r>
                  <a:rPr lang="en-GB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number </a:t>
                </a:r>
                <a:r>
                  <a:rPr lang="en-US" b="1" dirty="0"/>
                  <a:t>heads</a:t>
                </a:r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803485"/>
                <a:ext cx="11929641" cy="1315131"/>
              </a:xfrm>
              <a:blipFill>
                <a:blip r:embed="rId2"/>
                <a:stretch>
                  <a:fillRect l="-971" b="-740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/>
              <p:nvPr/>
            </p:nvSpPr>
            <p:spPr>
              <a:xfrm>
                <a:off x="4389224" y="3424567"/>
                <a:ext cx="19528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9224" y="3424567"/>
                <a:ext cx="1952817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6B091B-1336-4C90-99B5-84E4CAFBAAAC}"/>
                  </a:ext>
                </a:extLst>
              </p:cNvPr>
              <p:cNvSpPr txBox="1"/>
              <p:nvPr/>
            </p:nvSpPr>
            <p:spPr>
              <a:xfrm>
                <a:off x="2584222" y="3424567"/>
                <a:ext cx="21142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6B091B-1336-4C90-99B5-84E4CAFBAA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4222" y="3424567"/>
                <a:ext cx="2114238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E9CCFF7-E0C7-4525-A462-2C3DB75C54D5}"/>
                  </a:ext>
                </a:extLst>
              </p:cNvPr>
              <p:cNvSpPr txBox="1"/>
              <p:nvPr/>
            </p:nvSpPr>
            <p:spPr>
              <a:xfrm>
                <a:off x="6194410" y="3221366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E9CCFF7-E0C7-4525-A462-2C3DB75C54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4410" y="3221366"/>
                <a:ext cx="1036320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/>
              <p:nvPr/>
            </p:nvSpPr>
            <p:spPr>
              <a:xfrm>
                <a:off x="7003595" y="344424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3595" y="3444246"/>
                <a:ext cx="1280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/>
              <p:nvPr/>
            </p:nvSpPr>
            <p:spPr>
              <a:xfrm>
                <a:off x="4519758" y="4475266"/>
                <a:ext cx="19768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9758" y="4475266"/>
                <a:ext cx="197684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/>
              <p:nvPr/>
            </p:nvSpPr>
            <p:spPr>
              <a:xfrm>
                <a:off x="2584222" y="4476689"/>
                <a:ext cx="2268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4222" y="4476689"/>
                <a:ext cx="226863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/>
              <p:nvPr/>
            </p:nvSpPr>
            <p:spPr>
              <a:xfrm>
                <a:off x="6324972" y="4267418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4972" y="4267418"/>
                <a:ext cx="1036320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/>
              <p:nvPr/>
            </p:nvSpPr>
            <p:spPr>
              <a:xfrm>
                <a:off x="4524910" y="5597304"/>
                <a:ext cx="19768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4910" y="5597304"/>
                <a:ext cx="1976839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/>
              <p:nvPr/>
            </p:nvSpPr>
            <p:spPr>
              <a:xfrm>
                <a:off x="2584223" y="5597304"/>
                <a:ext cx="2268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tw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4223" y="5597304"/>
                <a:ext cx="226863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/>
              <p:nvPr/>
            </p:nvSpPr>
            <p:spPr>
              <a:xfrm>
                <a:off x="6319031" y="5399396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9031" y="5399396"/>
                <a:ext cx="1036320" cy="89915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/>
              <p:nvPr/>
            </p:nvSpPr>
            <p:spPr>
              <a:xfrm>
                <a:off x="7147885" y="5597304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7885" y="5597304"/>
                <a:ext cx="128016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/>
              <p:nvPr/>
            </p:nvSpPr>
            <p:spPr>
              <a:xfrm>
                <a:off x="7151974" y="447526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1974" y="4475266"/>
                <a:ext cx="128016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19EAF3D-9065-44FE-9E90-CF34A7FC8B4A}"/>
                  </a:ext>
                </a:extLst>
              </p:cNvPr>
              <p:cNvSpPr txBox="1"/>
              <p:nvPr/>
            </p:nvSpPr>
            <p:spPr>
              <a:xfrm>
                <a:off x="1450002" y="2049786"/>
                <a:ext cx="10610817" cy="112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just"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be a random variable representing the </a:t>
                </a:r>
                <a:r>
                  <a:rPr lang="en-GB" sz="2800" b="1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number of heads </a:t>
                </a:r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obtained when two balanced coins are tossed.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19EAF3D-9065-44FE-9E90-CF34A7FC8B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0002" y="2049786"/>
                <a:ext cx="10610817" cy="1122038"/>
              </a:xfrm>
              <a:prstGeom prst="rect">
                <a:avLst/>
              </a:prstGeom>
              <a:blipFill>
                <a:blip r:embed="rId16"/>
                <a:stretch>
                  <a:fillRect l="-1207" r="-1149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extBox 1">
            <a:extLst>
              <a:ext uri="{FF2B5EF4-FFF2-40B4-BE49-F238E27FC236}">
                <a16:creationId xmlns:a16="http://schemas.microsoft.com/office/drawing/2014/main" id="{29705AF3-B8BC-6DBF-B9BD-0ECDBAD57439}"/>
              </a:ext>
            </a:extLst>
          </p:cNvPr>
          <p:cNvSpPr txBox="1"/>
          <p:nvPr/>
        </p:nvSpPr>
        <p:spPr>
          <a:xfrm>
            <a:off x="125771" y="2000244"/>
            <a:ext cx="1495384" cy="5834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>
              <a:lnSpc>
                <a:spcPct val="125000"/>
              </a:lnSpc>
              <a:spcBef>
                <a:spcPts val="1000"/>
              </a:spcBef>
            </a:pPr>
            <a:r>
              <a:rPr lang="en-GB" sz="2800" b="1" i="0" dirty="0">
                <a:solidFill>
                  <a:srgbClr val="002060"/>
                </a:solid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Solution:</a:t>
            </a:r>
            <a:endParaRPr lang="en-IN" sz="28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69A343F-C58D-8854-5664-F8726D4EBE64}"/>
              </a:ext>
            </a:extLst>
          </p:cNvPr>
          <p:cNvCxnSpPr/>
          <p:nvPr/>
        </p:nvCxnSpPr>
        <p:spPr>
          <a:xfrm>
            <a:off x="6361497" y="1391055"/>
            <a:ext cx="63269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60D96F5-6F8C-A056-6A51-C374CAEC4570}"/>
              </a:ext>
            </a:extLst>
          </p:cNvPr>
          <p:cNvCxnSpPr/>
          <p:nvPr/>
        </p:nvCxnSpPr>
        <p:spPr>
          <a:xfrm>
            <a:off x="8166882" y="1391055"/>
            <a:ext cx="63269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6013A36C-C302-B836-E495-629AA79071CF}"/>
              </a:ext>
            </a:extLst>
          </p:cNvPr>
          <p:cNvCxnSpPr>
            <a:cxnSpLocks/>
          </p:cNvCxnSpPr>
          <p:nvPr/>
        </p:nvCxnSpPr>
        <p:spPr>
          <a:xfrm>
            <a:off x="7036244" y="1391055"/>
            <a:ext cx="1101454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4215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22" grpId="0"/>
      <p:bldP spid="23" grpId="0"/>
      <p:bldP spid="29" grpId="0"/>
      <p:bldP spid="30" grpId="0"/>
      <p:bldP spid="35" grpId="0"/>
      <p:bldP spid="36" grpId="0"/>
      <p:bldP spid="37" grpId="0"/>
      <p:bldP spid="39" grpId="0"/>
      <p:bldP spid="40" grpId="0"/>
      <p:bldP spid="41" grpId="0"/>
      <p:bldP spid="42" grpId="0"/>
      <p:bldP spid="43" grpId="0"/>
      <p:bldP spid="44" grpId="0"/>
      <p:bldP spid="2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34888"/>
                <a:ext cx="11929641" cy="5619122"/>
              </a:xfrm>
            </p:spPr>
            <p:txBody>
              <a:bodyPr/>
              <a:lstStyle/>
              <a:p>
                <a:r>
                  <a:rPr lang="en-US" dirty="0"/>
                  <a:t>Two balanced coins are tossed,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We want to find the probability distribution of head.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34888"/>
                <a:ext cx="11929641" cy="5619122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/>
              <p:nvPr/>
            </p:nvSpPr>
            <p:spPr>
              <a:xfrm>
                <a:off x="9313810" y="226053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2260537"/>
                <a:ext cx="16649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/>
              <p:nvPr/>
            </p:nvSpPr>
            <p:spPr>
              <a:xfrm>
                <a:off x="10780660" y="226053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2260536"/>
                <a:ext cx="1280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/>
              <p:nvPr/>
            </p:nvSpPr>
            <p:spPr>
              <a:xfrm>
                <a:off x="9313810" y="3120060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3120060"/>
                <a:ext cx="166497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/>
              <p:nvPr/>
            </p:nvSpPr>
            <p:spPr>
              <a:xfrm>
                <a:off x="9313810" y="3979584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3979584"/>
                <a:ext cx="166497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/>
              <p:nvPr/>
            </p:nvSpPr>
            <p:spPr>
              <a:xfrm>
                <a:off x="10780660" y="3979583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3979583"/>
                <a:ext cx="1280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/>
              <p:nvPr/>
            </p:nvSpPr>
            <p:spPr>
              <a:xfrm>
                <a:off x="10780660" y="3120059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3120059"/>
                <a:ext cx="1280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7" name="Table 2">
            <a:extLst>
              <a:ext uri="{FF2B5EF4-FFF2-40B4-BE49-F238E27FC236}">
                <a16:creationId xmlns:a16="http://schemas.microsoft.com/office/drawing/2014/main" id="{56AFA71C-F1BD-4118-B819-A1B080BEEA05}"/>
              </a:ext>
            </a:extLst>
          </p:cNvPr>
          <p:cNvGraphicFramePr>
            <a:graphicFrameLocks noGrp="1"/>
          </p:cNvGraphicFramePr>
          <p:nvPr/>
        </p:nvGraphicFramePr>
        <p:xfrm>
          <a:off x="919843" y="3038140"/>
          <a:ext cx="634857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39A0E08-85DB-4662-BA14-A68B7619C91A}"/>
                  </a:ext>
                </a:extLst>
              </p:cNvPr>
              <p:cNvSpPr txBox="1"/>
              <p:nvPr/>
            </p:nvSpPr>
            <p:spPr>
              <a:xfrm>
                <a:off x="1112723" y="3055744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39A0E08-85DB-4662-BA14-A68B7619C9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2723" y="3055744"/>
                <a:ext cx="166934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3E67B9-C164-43AD-AB0C-106600EB6A58}"/>
                  </a:ext>
                </a:extLst>
              </p:cNvPr>
              <p:cNvSpPr txBox="1"/>
              <p:nvPr/>
            </p:nvSpPr>
            <p:spPr>
              <a:xfrm>
                <a:off x="1112723" y="3693107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3E67B9-C164-43AD-AB0C-106600EB6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2723" y="3693107"/>
                <a:ext cx="166934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DF981E-3581-43F1-8273-82576B4B415B}"/>
                  </a:ext>
                </a:extLst>
              </p:cNvPr>
              <p:cNvSpPr txBox="1"/>
              <p:nvPr/>
            </p:nvSpPr>
            <p:spPr>
              <a:xfrm>
                <a:off x="3325489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DF981E-3581-43F1-8273-82576B4B41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5489" y="3055744"/>
                <a:ext cx="6536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C30D110-2233-4E9F-9AAB-AD8739AE92FE}"/>
                  </a:ext>
                </a:extLst>
              </p:cNvPr>
              <p:cNvSpPr txBox="1"/>
              <p:nvPr/>
            </p:nvSpPr>
            <p:spPr>
              <a:xfrm>
                <a:off x="4775007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C30D110-2233-4E9F-9AAB-AD8739AE92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5007" y="3055744"/>
                <a:ext cx="6536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5A247A8-842C-4DE0-8F3F-A73F9E65D18A}"/>
                  </a:ext>
                </a:extLst>
              </p:cNvPr>
              <p:cNvSpPr txBox="1"/>
              <p:nvPr/>
            </p:nvSpPr>
            <p:spPr>
              <a:xfrm>
                <a:off x="6224525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5A247A8-842C-4DE0-8F3F-A73F9E65D1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4525" y="3055744"/>
                <a:ext cx="6536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04AC61-13D7-4084-B12E-D648D6A4AECA}"/>
                  </a:ext>
                </a:extLst>
              </p:cNvPr>
              <p:cNvSpPr txBox="1"/>
              <p:nvPr/>
            </p:nvSpPr>
            <p:spPr>
              <a:xfrm>
                <a:off x="29791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04AC61-13D7-4084-B12E-D648D6A4A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79194" y="3693107"/>
                <a:ext cx="13351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40DF6B-2321-42B2-B937-337CA49AAE53}"/>
                  </a:ext>
                </a:extLst>
              </p:cNvPr>
              <p:cNvSpPr txBox="1"/>
              <p:nvPr/>
            </p:nvSpPr>
            <p:spPr>
              <a:xfrm>
                <a:off x="44300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40DF6B-2321-42B2-B937-337CA49AA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0094" y="3693107"/>
                <a:ext cx="133514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60F901B-ED47-4250-9BEA-0F87C6D7DB5D}"/>
                  </a:ext>
                </a:extLst>
              </p:cNvPr>
              <p:cNvSpPr txBox="1"/>
              <p:nvPr/>
            </p:nvSpPr>
            <p:spPr>
              <a:xfrm>
                <a:off x="58809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60F901B-ED47-4250-9BEA-0F87C6D7DB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0994" y="3693107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143982E-1EC6-463B-8041-4C992ABE474D}"/>
                  </a:ext>
                </a:extLst>
              </p:cNvPr>
              <p:cNvSpPr txBox="1"/>
              <p:nvPr/>
            </p:nvSpPr>
            <p:spPr>
              <a:xfrm>
                <a:off x="788670" y="2193287"/>
                <a:ext cx="6621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>
                  <a:spcBef>
                    <a:spcPts val="0"/>
                  </a:spcBef>
                </a:pPr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So, probability distribution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is as follow: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143982E-1EC6-463B-8041-4C992ABE4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2193287"/>
                <a:ext cx="6621780" cy="523220"/>
              </a:xfrm>
              <a:prstGeom prst="rect">
                <a:avLst/>
              </a:prstGeom>
              <a:blipFill>
                <a:blip r:embed="rId17"/>
                <a:stretch>
                  <a:fillRect l="-18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9462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4" grpId="0"/>
      <p:bldP spid="26" grpId="0"/>
      <p:bldP spid="28" grpId="0"/>
      <p:bldP spid="31" grpId="0"/>
      <p:bldP spid="34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1A4E03-BD2E-FFD7-4C4C-0D95887E2E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3243B1A-9A13-1789-01D5-3E91DA90A5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113965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From a lot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bulbs, which includes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defective bulbs, a sample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 bulbs is drawn at random. Find the probability distribution of defective bulbs.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3243B1A-9A13-1789-01D5-3E91DA90A5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113965"/>
              </a:xfrm>
              <a:prstGeom prst="rect">
                <a:avLst/>
              </a:prstGeom>
              <a:blipFill>
                <a:blip r:embed="rId2"/>
                <a:stretch>
                  <a:fillRect l="-1074" r="-1074" b="-819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108C5AD-E78B-5587-9657-9F127330DC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1(Extra)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8F8FEE3-297D-0B75-8598-311BC3705737}"/>
              </a:ext>
            </a:extLst>
          </p:cNvPr>
          <p:cNvSpPr txBox="1">
            <a:spLocks/>
          </p:cNvSpPr>
          <p:nvPr/>
        </p:nvSpPr>
        <p:spPr>
          <a:xfrm>
            <a:off x="131176" y="209553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778564-99A3-3953-91DE-EF2579CE65D2}"/>
                  </a:ext>
                </a:extLst>
              </p:cNvPr>
              <p:cNvSpPr txBox="1"/>
              <p:nvPr/>
            </p:nvSpPr>
            <p:spPr>
              <a:xfrm>
                <a:off x="1590911" y="2102194"/>
                <a:ext cx="5383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Here, total number of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778564-99A3-3953-91DE-EF2579CE65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2102194"/>
                <a:ext cx="5383822" cy="523220"/>
              </a:xfrm>
              <a:prstGeom prst="rect">
                <a:avLst/>
              </a:prstGeom>
              <a:blipFill>
                <a:blip r:embed="rId3"/>
                <a:stretch>
                  <a:fillRect l="-237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DF18956-7054-2F4E-F77C-FF405646C0C0}"/>
                  </a:ext>
                </a:extLst>
              </p:cNvPr>
              <p:cNvSpPr txBox="1"/>
              <p:nvPr/>
            </p:nvSpPr>
            <p:spPr>
              <a:xfrm>
                <a:off x="1590911" y="2745804"/>
                <a:ext cx="5383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Number of defective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DF18956-7054-2F4E-F77C-FF405646C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2745804"/>
                <a:ext cx="5383822" cy="523220"/>
              </a:xfrm>
              <a:prstGeom prst="rect">
                <a:avLst/>
              </a:prstGeom>
              <a:blipFill>
                <a:blip r:embed="rId4"/>
                <a:stretch>
                  <a:fillRect l="-237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9EC3155-660F-6986-03F4-63000A5871D5}"/>
                  </a:ext>
                </a:extLst>
              </p:cNvPr>
              <p:cNvSpPr txBox="1"/>
              <p:nvPr/>
            </p:nvSpPr>
            <p:spPr>
              <a:xfrm>
                <a:off x="1600638" y="3389414"/>
                <a:ext cx="5928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Number of good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=10−3=7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9EC3155-660F-6986-03F4-63000A5871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0638" y="3389414"/>
                <a:ext cx="5928570" cy="523220"/>
              </a:xfrm>
              <a:prstGeom prst="rect">
                <a:avLst/>
              </a:prstGeom>
              <a:blipFill>
                <a:blip r:embed="rId5"/>
                <a:stretch>
                  <a:fillRect l="-216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3249963-9B89-03EF-2C18-C66ECDC7C7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66281" y="4033024"/>
                <a:ext cx="10317806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Note that, two bulbs can be simultaneously drawn in </a:t>
                </a:r>
                <a14:m>
                  <m:oMath xmlns:m="http://schemas.openxmlformats.org/officeDocument/2006/math">
                    <m:sPre>
                      <m:sPre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PrePr>
                      <m:sub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</m:sub>
                      <m:sup>
                        <m:r>
                          <a:rPr lang="en-IN"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b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sPre>
                  </m:oMath>
                </a14:m>
                <a:r>
                  <a:rPr lang="en-IN" dirty="0"/>
                  <a:t> ways.</a:t>
                </a: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3249963-9B89-03EF-2C18-C66ECDC7C7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281" y="4033024"/>
                <a:ext cx="10317806" cy="734382"/>
              </a:xfrm>
              <a:prstGeom prst="rect">
                <a:avLst/>
              </a:prstGeom>
              <a:blipFill>
                <a:blip r:embed="rId6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557411F-0A98-4247-5AC9-793AEFE8086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66281" y="4887796"/>
                <a:ext cx="10317806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the number of defective bulbs in a draw of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dirty="0"/>
                  <a:t> bulbs</a:t>
                </a: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557411F-0A98-4247-5AC9-793AEFE808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281" y="4887796"/>
                <a:ext cx="10317806" cy="734382"/>
              </a:xfrm>
              <a:prstGeom prst="rect">
                <a:avLst/>
              </a:prstGeom>
              <a:blipFill>
                <a:blip r:embed="rId7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7817B917-DC54-0BE6-6EF4-BC97BDDC61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0911" y="5742568"/>
                <a:ext cx="6035574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can take the values </a:t>
                </a: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0, 1, 2</m:t>
                    </m:r>
                  </m:oMath>
                </a14:m>
                <a:r>
                  <a:rPr lang="en-IN" dirty="0"/>
                  <a:t>.</a:t>
                </a: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7817B917-DC54-0BE6-6EF4-BC97BDDC6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5742568"/>
                <a:ext cx="6035574" cy="734382"/>
              </a:xfrm>
              <a:prstGeom prst="rect">
                <a:avLst/>
              </a:prstGeom>
              <a:blipFill>
                <a:blip r:embed="rId8"/>
                <a:stretch>
                  <a:fillRect l="-2121"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5499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3" grpId="0"/>
      <p:bldP spid="5" grpId="0"/>
      <p:bldP spid="9" grpId="0"/>
      <p:bldP spid="10" grpId="0"/>
      <p:bldP spid="11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777DAC-6E47-2493-0BCC-946CFF963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216F3C-611F-6CC4-B68C-E301DC4437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6D23D-64A9-A255-BAD5-4F832CE087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=0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no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6D23D-64A9-A255-BAD5-4F832CE087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47EEEC32-9735-8AAB-AF1F-E1DC7B6F426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1" y="1354922"/>
                <a:ext cx="6035574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</m:oMath>
                </a14:m>
                <a:r>
                  <a:rPr lang="en-IN" i="0" dirty="0">
                    <a:latin typeface="+mj-lt"/>
                  </a:rPr>
                  <a:t>(Drawing 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i="0" dirty="0">
                    <a:latin typeface="+mj-lt"/>
                  </a:rPr>
                  <a:t> </a:t>
                </a:r>
                <a:r>
                  <a:rPr lang="en-IN" b="0" i="0" dirty="0">
                    <a:latin typeface="+mj-lt"/>
                  </a:rPr>
                  <a:t>good</a:t>
                </a:r>
                <a:r>
                  <a:rPr lang="en-IN" i="0" dirty="0">
                    <a:latin typeface="+mj-lt"/>
                  </a:rPr>
                  <a:t> bulbs)</a:t>
                </a:r>
                <a:endParaRPr lang="en-IN" dirty="0"/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47EEEC32-9735-8AAB-AF1F-E1DC7B6F42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1" y="1354922"/>
                <a:ext cx="6035574" cy="734382"/>
              </a:xfrm>
              <a:prstGeom prst="rect">
                <a:avLst/>
              </a:prstGeom>
              <a:blipFill>
                <a:blip r:embed="rId3"/>
                <a:stretch>
                  <a:fillRect b="-24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C0A2FEF-D6BF-C92C-3126-628B07AD98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1" y="1878349"/>
                <a:ext cx="154139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C0A2FEF-D6BF-C92C-3126-628B07AD98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1" y="1878349"/>
                <a:ext cx="1541396" cy="134129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41596700-0BE4-7D01-C17A-5D0CCBFC2A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8459" y="3149477"/>
                <a:ext cx="3506383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=0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41596700-0BE4-7D01-C17A-5D0CCBFC2A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459" y="3149477"/>
                <a:ext cx="3506383" cy="134129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D605604-073A-43B0-C840-FF80C050D2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9525" y="4506694"/>
                <a:ext cx="11123142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=1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one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and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one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good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D605604-073A-43B0-C840-FF80C050D2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9525" y="4506694"/>
                <a:ext cx="11123142" cy="73438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6094404A-AE39-FDF5-9440-22E9559AF37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0" y="5091254"/>
                <a:ext cx="283517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</m:e>
                          </m:sPre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6094404A-AE39-FDF5-9440-22E9559AF3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0" y="5091254"/>
                <a:ext cx="2835176" cy="134129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352CED8-CE96-AED2-B3FE-946B838D23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83988" y="5241076"/>
                <a:ext cx="1300855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352CED8-CE96-AED2-B3FE-946B838D23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3988" y="5241076"/>
                <a:ext cx="1300855" cy="134129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0" name="Picture 19">
            <a:extLst>
              <a:ext uri="{FF2B5EF4-FFF2-40B4-BE49-F238E27FC236}">
                <a16:creationId xmlns:a16="http://schemas.microsoft.com/office/drawing/2014/main" id="{D0873B4B-9B9A-5828-7F1D-7C2E6306D10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25310" y="869347"/>
            <a:ext cx="4794809" cy="157180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042287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8" grpId="0"/>
      <p:bldP spid="15" grpId="0"/>
      <p:bldP spid="16" grpId="0"/>
      <p:bldP spid="17" grpId="0"/>
      <p:bldP spid="18" grpId="0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F790BD-1670-F5D3-3AAF-ABE3D5999D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E0BF76-D542-A05A-3EA0-49AD4EF434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E2D26F7-7CD0-5557-D251-BFC50EFCE33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=2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two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E2D26F7-7CD0-5557-D251-BFC50EFCE3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73FE4B5-4405-FDC0-BF1A-D13B763C1D3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0" y="1157438"/>
                <a:ext cx="154139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73FE4B5-4405-FDC0-BF1A-D13B763C1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0" y="1157438"/>
                <a:ext cx="1541396" cy="134129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C73BE55-FB2B-2AF6-8DC4-03197A06F5E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4458" y="2424355"/>
                <a:ext cx="3506383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C73BE55-FB2B-2AF6-8DC4-03197A06F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458" y="2424355"/>
                <a:ext cx="3506383" cy="134129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Content Placeholder 4">
            <a:extLst>
              <a:ext uri="{FF2B5EF4-FFF2-40B4-BE49-F238E27FC236}">
                <a16:creationId xmlns:a16="http://schemas.microsoft.com/office/drawing/2014/main" id="{A7888018-E0B7-64E9-3D63-7C99F35F98CD}"/>
              </a:ext>
            </a:extLst>
          </p:cNvPr>
          <p:cNvSpPr txBox="1">
            <a:spLocks/>
          </p:cNvSpPr>
          <p:nvPr/>
        </p:nvSpPr>
        <p:spPr>
          <a:xfrm>
            <a:off x="-171856" y="3655320"/>
            <a:ext cx="11123142" cy="73438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IN" dirty="0"/>
              <a:t>Therefore, the probability distribution of defective bulb is</a:t>
            </a:r>
          </a:p>
        </p:txBody>
      </p:sp>
      <p:graphicFrame>
        <p:nvGraphicFramePr>
          <p:cNvPr id="4" name="Table 2">
            <a:extLst>
              <a:ext uri="{FF2B5EF4-FFF2-40B4-BE49-F238E27FC236}">
                <a16:creationId xmlns:a16="http://schemas.microsoft.com/office/drawing/2014/main" id="{80438A67-35C4-2439-C452-3F33729EA9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5019457"/>
              </p:ext>
            </p:extLst>
          </p:nvPr>
        </p:nvGraphicFramePr>
        <p:xfrm>
          <a:off x="3069656" y="4701814"/>
          <a:ext cx="6348572" cy="1649139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95AB59B-FBCC-5BDE-AD8D-5321B180923A}"/>
                  </a:ext>
                </a:extLst>
              </p:cNvPr>
              <p:cNvSpPr txBox="1"/>
              <p:nvPr/>
            </p:nvSpPr>
            <p:spPr>
              <a:xfrm>
                <a:off x="3262536" y="471941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95AB59B-FBCC-5BDE-AD8D-5321B1809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2536" y="4719418"/>
                <a:ext cx="166934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D5C0126-DF02-E4D5-3F45-1B790CF6E68A}"/>
                  </a:ext>
                </a:extLst>
              </p:cNvPr>
              <p:cNvSpPr txBox="1"/>
              <p:nvPr/>
            </p:nvSpPr>
            <p:spPr>
              <a:xfrm>
                <a:off x="3262536" y="557947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D5C0126-DF02-E4D5-3F45-1B790CF6E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2536" y="5579478"/>
                <a:ext cx="166934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F19873-C1C4-1E82-BBB8-C90807E785D7}"/>
                  </a:ext>
                </a:extLst>
              </p:cNvPr>
              <p:cNvSpPr txBox="1"/>
              <p:nvPr/>
            </p:nvSpPr>
            <p:spPr>
              <a:xfrm>
                <a:off x="5475302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F19873-C1C4-1E82-BBB8-C90807E785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5302" y="4719418"/>
                <a:ext cx="6536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A3DFB76-530C-319A-FD83-AFAEA1E03B48}"/>
                  </a:ext>
                </a:extLst>
              </p:cNvPr>
              <p:cNvSpPr txBox="1"/>
              <p:nvPr/>
            </p:nvSpPr>
            <p:spPr>
              <a:xfrm>
                <a:off x="6924820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A3DFB76-530C-319A-FD83-AFAEA1E03B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4820" y="4719418"/>
                <a:ext cx="65361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814F3AC-8B66-938F-AF66-91C55063AA94}"/>
                  </a:ext>
                </a:extLst>
              </p:cNvPr>
              <p:cNvSpPr txBox="1"/>
              <p:nvPr/>
            </p:nvSpPr>
            <p:spPr>
              <a:xfrm>
                <a:off x="8374338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814F3AC-8B66-938F-AF66-91C55063AA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4338" y="4719418"/>
                <a:ext cx="65361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5BB7305-3A0D-9439-A7A2-CA10D8AE0BA6}"/>
                  </a:ext>
                </a:extLst>
              </p:cNvPr>
              <p:cNvSpPr txBox="1"/>
              <p:nvPr/>
            </p:nvSpPr>
            <p:spPr>
              <a:xfrm>
                <a:off x="5134536" y="5393017"/>
                <a:ext cx="1335143" cy="8961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5BB7305-3A0D-9439-A7A2-CA10D8AE0B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4536" y="5393017"/>
                <a:ext cx="1335143" cy="89614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64E9B1B-120C-C520-BBB5-82436B01A036}"/>
                  </a:ext>
                </a:extLst>
              </p:cNvPr>
              <p:cNvSpPr txBox="1"/>
              <p:nvPr/>
            </p:nvSpPr>
            <p:spPr>
              <a:xfrm>
                <a:off x="8030806" y="5404731"/>
                <a:ext cx="133514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64E9B1B-120C-C520-BBB5-82436B01A0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0806" y="5404731"/>
                <a:ext cx="1335143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05C4516-3919-FDFD-8860-211AE89F67FD}"/>
                  </a:ext>
                </a:extLst>
              </p:cNvPr>
              <p:cNvSpPr txBox="1"/>
              <p:nvPr/>
            </p:nvSpPr>
            <p:spPr>
              <a:xfrm>
                <a:off x="6582671" y="5400784"/>
                <a:ext cx="1335143" cy="8961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05C4516-3919-FDFD-8860-211AE89F6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2671" y="5400784"/>
                <a:ext cx="1335143" cy="89614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4" name="Picture 23">
            <a:extLst>
              <a:ext uri="{FF2B5EF4-FFF2-40B4-BE49-F238E27FC236}">
                <a16:creationId xmlns:a16="http://schemas.microsoft.com/office/drawing/2014/main" id="{76AB8C2B-8504-08E0-4D3A-4D0F2C012A73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225310" y="869347"/>
            <a:ext cx="4794809" cy="157180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437509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/>
      <p:bldP spid="15" grpId="0"/>
      <p:bldP spid="16" grpId="0"/>
      <p:bldP spid="6" grpId="0"/>
      <p:bldP spid="7" grpId="0"/>
      <p:bldP spid="9" grpId="0"/>
      <p:bldP spid="13" grpId="0"/>
      <p:bldP spid="14" grpId="0"/>
      <p:bldP spid="19" grpId="0"/>
      <p:bldP spid="21" grpId="0"/>
      <p:bldP spid="22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Mass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US" dirty="0"/>
                  <a:t>A Probability Mass Function (PMF) is a way to describe the probabilities of a discrete random variable.</a:t>
                </a:r>
              </a:p>
              <a:p>
                <a:pPr lvl="1"/>
                <a:r>
                  <a:rPr lang="en-US" dirty="0"/>
                  <a:t>For every possible outcome, PMF tells us how much chance it has to happen.</a:t>
                </a:r>
              </a:p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</a:t>
                </a:r>
                <a:r>
                  <a:rPr lang="en-US" b="1" dirty="0">
                    <a:solidFill>
                      <a:srgbClr val="FF0000"/>
                    </a:solidFill>
                  </a:rPr>
                  <a:t>discrete</a:t>
                </a:r>
                <a:r>
                  <a:rPr lang="en-US" b="1" dirty="0"/>
                  <a:t> </a:t>
                </a:r>
                <a:r>
                  <a:rPr lang="en-US" dirty="0"/>
                  <a:t>random variable </a:t>
                </a:r>
                <a:r>
                  <a:rPr lang="en-GB" dirty="0"/>
                  <a:t>that takes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GB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,</a:t>
                </a:r>
                <a:r>
                  <a:rPr lang="en-US" dirty="0"/>
                  <a:t> then its probability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</m:t>
                            </m:r>
                          </m:sub>
                        </m:sSub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𝐩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b="1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is called probability mass function, if it satisfies following conditions: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B84742"/>
                          </a:solidFill>
                          <a:effectLst/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</m:t>
                      </m:r>
                      <m:nary>
                        <m:naryPr>
                          <m:chr m:val="∑"/>
                          <m:limLoc m:val="undOvr"/>
                          <m:ctrlPr>
                            <a:rPr lang="en-IN" i="1" smtClean="0"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i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p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en-IN" i="1"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)</m:t>
                          </m:r>
                        </m:e>
                      </m:nary>
                      <m:r>
                        <a:rPr lang="en-US" b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𝟏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93650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3641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smtClean="0"/>
                        <m:t>Is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US"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 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=0,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1 </m:t>
                      </m:r>
                      <m:r>
                        <m:rPr>
                          <m:nor/>
                        </m:rPr>
                        <a:rPr lang="en-US" i="0"/>
                        <m:t>a</m:t>
                      </m:r>
                      <m:r>
                        <m:rPr>
                          <m:nor/>
                        </m:rPr>
                        <a:rPr lang="en-US" i="0"/>
                        <m:t> </m:t>
                      </m:r>
                      <m:r>
                        <m:rPr>
                          <m:nor/>
                        </m:rPr>
                        <a:rPr lang="en-US" i="0"/>
                        <m:t>probability</m:t>
                      </m:r>
                      <m:r>
                        <m:rPr>
                          <m:nor/>
                        </m:rPr>
                        <a:rPr lang="en-US" i="0"/>
                        <m:t> </m:t>
                      </m:r>
                      <m:r>
                        <m:rPr>
                          <m:nor/>
                        </m:rPr>
                        <a:rPr lang="en-US" i="0"/>
                        <m:t>function</m:t>
                      </m:r>
                      <m:r>
                        <m:rPr>
                          <m:nor/>
                        </m:rPr>
                        <a:rPr lang="en-US" i="0"/>
                        <m:t>?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3641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3885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590909" y="2391280"/>
                <a:ext cx="102116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09" y="2391280"/>
                <a:ext cx="10211623" cy="523220"/>
              </a:xfrm>
              <a:prstGeom prst="rect">
                <a:avLst/>
              </a:prstGeom>
              <a:blipFill>
                <a:blip r:embed="rId3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/>
              <p:nvPr/>
            </p:nvSpPr>
            <p:spPr>
              <a:xfrm>
                <a:off x="1590910" y="3101922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ctrlPr>
                          <a:rPr lang="en-US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e>
                    </m:d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3101922"/>
                <a:ext cx="4171261" cy="523220"/>
              </a:xfrm>
              <a:prstGeom prst="rect">
                <a:avLst/>
              </a:prstGeom>
              <a:blipFill>
                <a:blip r:embed="rId4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1221068-93F3-4734-831F-AA42465C06A6}"/>
                  </a:ext>
                </a:extLst>
              </p:cNvPr>
              <p:cNvSpPr txBox="1"/>
              <p:nvPr/>
            </p:nvSpPr>
            <p:spPr>
              <a:xfrm>
                <a:off x="6018177" y="2858017"/>
                <a:ext cx="393242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  <m:r>
                        <a:rPr lang="en-IN" sz="2800" b="1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 ∈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1221068-93F3-4734-831F-AA42465C06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8177" y="2858017"/>
                <a:ext cx="3932422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FD37B6F-8A90-4FA5-B53A-57A994F2A71A}"/>
                  </a:ext>
                </a:extLst>
              </p:cNvPr>
              <p:cNvSpPr txBox="1"/>
              <p:nvPr/>
            </p:nvSpPr>
            <p:spPr>
              <a:xfrm>
                <a:off x="1590911" y="4396916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FD37B6F-8A90-4FA5-B53A-57A994F2A7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4396916"/>
                <a:ext cx="1747376" cy="523220"/>
              </a:xfrm>
              <a:prstGeom prst="rect">
                <a:avLst/>
              </a:prstGeom>
              <a:blipFill>
                <a:blip r:embed="rId6"/>
                <a:stretch>
                  <a:fillRect l="-731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D0649CF-C2C1-4370-9A86-42C5E39D9903}"/>
                  </a:ext>
                </a:extLst>
              </p:cNvPr>
              <p:cNvSpPr txBox="1"/>
              <p:nvPr/>
            </p:nvSpPr>
            <p:spPr>
              <a:xfrm>
                <a:off x="3338287" y="4396916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D0649CF-C2C1-4370-9A86-42C5E39D99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8287" y="4396916"/>
                <a:ext cx="174737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F1E6F49-A250-4DE0-8B58-0F7B2A03B4B5}"/>
                  </a:ext>
                </a:extLst>
              </p:cNvPr>
              <p:cNvSpPr txBox="1"/>
              <p:nvPr/>
            </p:nvSpPr>
            <p:spPr>
              <a:xfrm>
                <a:off x="4896977" y="4040470"/>
                <a:ext cx="2724259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F1E6F49-A250-4DE0-8B58-0F7B2A03B4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6977" y="4040470"/>
                <a:ext cx="2724259" cy="114467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6BA4CB-12C2-4AD1-8F67-6EACCC9AE91F}"/>
                  </a:ext>
                </a:extLst>
              </p:cNvPr>
              <p:cNvSpPr txBox="1"/>
              <p:nvPr/>
            </p:nvSpPr>
            <p:spPr>
              <a:xfrm>
                <a:off x="7621236" y="4211808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6BA4CB-12C2-4AD1-8F67-6EACCC9AE9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1236" y="4211808"/>
                <a:ext cx="936829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F9EA344-ADDC-460B-8349-2F379498A6B1}"/>
                  </a:ext>
                </a:extLst>
              </p:cNvPr>
              <p:cNvSpPr txBox="1"/>
              <p:nvPr/>
            </p:nvSpPr>
            <p:spPr>
              <a:xfrm>
                <a:off x="1590911" y="5730503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F9EA344-ADDC-460B-8349-2F379498A6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5730503"/>
                <a:ext cx="1747376" cy="523220"/>
              </a:xfrm>
              <a:prstGeom prst="rect">
                <a:avLst/>
              </a:prstGeom>
              <a:blipFill>
                <a:blip r:embed="rId10"/>
                <a:stretch>
                  <a:fillRect l="-731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4840B42-EDBC-4C00-871B-BB9CDF5F5316}"/>
                  </a:ext>
                </a:extLst>
              </p:cNvPr>
              <p:cNvSpPr txBox="1"/>
              <p:nvPr/>
            </p:nvSpPr>
            <p:spPr>
              <a:xfrm>
                <a:off x="3338287" y="5730503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4840B42-EDBC-4C00-871B-BB9CDF5F53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8287" y="5730503"/>
                <a:ext cx="174737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C84C51F-0AB1-48F4-97F4-647EE451BECD}"/>
                  </a:ext>
                </a:extLst>
              </p:cNvPr>
              <p:cNvSpPr txBox="1"/>
              <p:nvPr/>
            </p:nvSpPr>
            <p:spPr>
              <a:xfrm>
                <a:off x="4896977" y="5374057"/>
                <a:ext cx="2724259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C84C51F-0AB1-48F4-97F4-647EE451BE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6977" y="5374057"/>
                <a:ext cx="2724259" cy="114467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4E8618C-2BC1-4ADC-8D7B-A99BD5C01296}"/>
                  </a:ext>
                </a:extLst>
              </p:cNvPr>
              <p:cNvSpPr txBox="1"/>
              <p:nvPr/>
            </p:nvSpPr>
            <p:spPr>
              <a:xfrm>
                <a:off x="7621236" y="5545395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4E8618C-2BC1-4ADC-8D7B-A99BD5C012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1236" y="5545395"/>
                <a:ext cx="936829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216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6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3" grpId="0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08BEEEC-0AF3-4301-9EB8-F05D73463B24}"/>
                  </a:ext>
                </a:extLst>
              </p:cNvPr>
              <p:cNvSpPr txBox="1"/>
              <p:nvPr/>
            </p:nvSpPr>
            <p:spPr>
              <a:xfrm>
                <a:off x="1976124" y="963725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08BEEEC-0AF3-4301-9EB8-F05D73463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963725"/>
                <a:ext cx="174737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5DA3131-D240-490B-A30F-4674B90C1937}"/>
                  </a:ext>
                </a:extLst>
              </p:cNvPr>
              <p:cNvSpPr txBox="1"/>
              <p:nvPr/>
            </p:nvSpPr>
            <p:spPr>
              <a:xfrm>
                <a:off x="3434230" y="778617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5DA3131-D240-490B-A30F-4674B90C19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4230" y="778617"/>
                <a:ext cx="936829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388F6BE-5E25-413E-8EC2-325CD168C04F}"/>
                  </a:ext>
                </a:extLst>
              </p:cNvPr>
              <p:cNvSpPr txBox="1"/>
              <p:nvPr/>
            </p:nvSpPr>
            <p:spPr>
              <a:xfrm>
                <a:off x="4730532" y="963725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388F6BE-5E25-413E-8EC2-325CD168C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0532" y="963725"/>
                <a:ext cx="174737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4B8A5FF-4401-4D78-8FC8-271C1FCBC7C9}"/>
                  </a:ext>
                </a:extLst>
              </p:cNvPr>
              <p:cNvSpPr txBox="1"/>
              <p:nvPr/>
            </p:nvSpPr>
            <p:spPr>
              <a:xfrm>
                <a:off x="6188637" y="778617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4B8A5FF-4401-4D78-8FC8-271C1FCBC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8637" y="778617"/>
                <a:ext cx="936829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6FB40C-1DBD-4DA8-9DAC-AB3B46412B09}"/>
                  </a:ext>
                </a:extLst>
              </p:cNvPr>
              <p:cNvSpPr txBox="1"/>
              <p:nvPr/>
            </p:nvSpPr>
            <p:spPr>
              <a:xfrm>
                <a:off x="1976124" y="1839173"/>
                <a:ext cx="43330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)≥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for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all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6FB40C-1DBD-4DA8-9DAC-AB3B46412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1839173"/>
                <a:ext cx="4333055" cy="523220"/>
              </a:xfrm>
              <a:prstGeom prst="rect">
                <a:avLst/>
              </a:prstGeom>
              <a:blipFill>
                <a:blip r:embed="rId6"/>
                <a:stretch>
                  <a:fillRect l="-281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6F813F9E-BBCE-4A5F-AFC3-F423DB9AACF8}"/>
              </a:ext>
            </a:extLst>
          </p:cNvPr>
          <p:cNvSpPr txBox="1"/>
          <p:nvPr/>
        </p:nvSpPr>
        <p:spPr>
          <a:xfrm>
            <a:off x="1976125" y="2666205"/>
            <a:ext cx="9693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A5CFDB4-DE7E-458D-A188-CABB05E9422F}"/>
                  </a:ext>
                </a:extLst>
              </p:cNvPr>
              <p:cNvSpPr txBox="1"/>
              <p:nvPr/>
            </p:nvSpPr>
            <p:spPr>
              <a:xfrm>
                <a:off x="2945495" y="2409564"/>
                <a:ext cx="214502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 ∈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A5CFDB4-DE7E-458D-A188-CABB05E94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5495" y="2409564"/>
                <a:ext cx="2145027" cy="113569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195771B-0AD2-449B-B258-B3AA58EB4DC9}"/>
                  </a:ext>
                </a:extLst>
              </p:cNvPr>
              <p:cNvSpPr txBox="1"/>
              <p:nvPr/>
            </p:nvSpPr>
            <p:spPr>
              <a:xfrm>
                <a:off x="5012981" y="2666205"/>
                <a:ext cx="21450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195771B-0AD2-449B-B258-B3AA58EB4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2666205"/>
                <a:ext cx="21450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BD035F2-B073-43FA-93FA-A28BCE4A60B6}"/>
                  </a:ext>
                </a:extLst>
              </p:cNvPr>
              <p:cNvSpPr txBox="1"/>
              <p:nvPr/>
            </p:nvSpPr>
            <p:spPr>
              <a:xfrm>
                <a:off x="7022323" y="2666205"/>
                <a:ext cx="21450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 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BD035F2-B073-43FA-93FA-A28BCE4A6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2323" y="2666205"/>
                <a:ext cx="21450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94CD47-8334-4523-AE2E-B46573E0A713}"/>
                  </a:ext>
                </a:extLst>
              </p:cNvPr>
              <p:cNvSpPr txBox="1"/>
              <p:nvPr/>
            </p:nvSpPr>
            <p:spPr>
              <a:xfrm>
                <a:off x="5012981" y="3452773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94CD47-8334-4523-AE2E-B46573E0A7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3452773"/>
                <a:ext cx="936829" cy="89915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69EFA25-6316-4DB7-8F5C-E6D454918A35}"/>
                  </a:ext>
                </a:extLst>
              </p:cNvPr>
              <p:cNvSpPr txBox="1"/>
              <p:nvPr/>
            </p:nvSpPr>
            <p:spPr>
              <a:xfrm>
                <a:off x="6014441" y="3452773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69EFA25-6316-4DB7-8F5C-E6D454918A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4441" y="3452773"/>
                <a:ext cx="936829" cy="89915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A2CB27-E51D-46ED-93C4-8C9F1C18689D}"/>
                  </a:ext>
                </a:extLst>
              </p:cNvPr>
              <p:cNvSpPr txBox="1"/>
              <p:nvPr/>
            </p:nvSpPr>
            <p:spPr>
              <a:xfrm>
                <a:off x="5012981" y="4615278"/>
                <a:ext cx="9368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A2CB27-E51D-46ED-93C4-8C9F1C1868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4615278"/>
                <a:ext cx="93682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59B61C38-30D1-42B3-88F7-853018936F05}"/>
                  </a:ext>
                </a:extLst>
              </p:cNvPr>
              <p:cNvSpPr txBox="1"/>
              <p:nvPr/>
            </p:nvSpPr>
            <p:spPr>
              <a:xfrm>
                <a:off x="1976124" y="5401846"/>
                <a:ext cx="10322013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Thus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,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is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a</m:t>
                      </m:r>
                      <m:r>
                        <m:rPr>
                          <m:nor/>
                        </m:rPr>
                        <a:rPr lang="en-US" sz="2800" i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>
                          <a:solidFill>
                            <a:srgbClr val="002060"/>
                          </a:solidFill>
                        </a:rPr>
                        <m:t>probability</m:t>
                      </m:r>
                      <m:r>
                        <m:rPr>
                          <m:nor/>
                        </m:rPr>
                        <a:rPr lang="en-US" sz="2800" i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>
                          <a:solidFill>
                            <a:srgbClr val="002060"/>
                          </a:solidFill>
                        </a:rPr>
                        <m:t>function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.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59B61C38-30D1-42B3-88F7-853018936F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5401846"/>
                <a:ext cx="10322013" cy="114467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98497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/>
      <p:bldP spid="56" grpId="0"/>
      <p:bldP spid="57" grpId="0"/>
      <p:bldP spid="58" grpId="0"/>
      <p:bldP spid="59" grpId="0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GB" dirty="0"/>
                  <a:t>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has the following probability function.</a:t>
                </a:r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Find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k</m:t>
                    </m:r>
                  </m:oMath>
                </a14:m>
                <a:r>
                  <a:rPr lang="en-GB" dirty="0"/>
                  <a:t> and then evaluate                   ,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blipFill>
                <a:blip r:embed="rId3"/>
                <a:stretch>
                  <a:fillRect l="-1074" t="-22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47895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2069197"/>
              <a:ext cx="11572881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584787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i="1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80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07388792"/>
                  </p:ext>
                </p:extLst>
              </p:nvPr>
            </p:nvGraphicFramePr>
            <p:xfrm>
              <a:off x="309557" y="2069197"/>
              <a:ext cx="11572881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584787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3371" r="-522876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3371" r="-742105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3371" r="-638220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1257" t="-3371" r="-538220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3684" t="-3371" r="-441053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0733" t="-3371" r="-338743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64211" t="-3371" r="-240526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60209" t="-3371" r="-13926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31923" t="-3371" r="-2308" b="-10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103371" r="-522876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103371" r="-742105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103371" r="-638220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1257" t="-103371" r="-538220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3684" t="-103371" r="-441053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0733" t="-103371" r="-338743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64211" t="-103371" r="-240526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60209" t="-103371" r="-13926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31923" t="-103371" r="-2308" b="-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5367020" y="1427438"/>
                <a:ext cx="1673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&lt;6)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7020" y="1427438"/>
                <a:ext cx="1673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6943540" y="1427438"/>
                <a:ext cx="1673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≥6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3540" y="1427438"/>
                <a:ext cx="16738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169F9E-CC41-4B4C-A229-30AF595CC96F}"/>
                  </a:ext>
                </a:extLst>
              </p:cNvPr>
              <p:cNvSpPr txBox="1"/>
              <p:nvPr/>
            </p:nvSpPr>
            <p:spPr>
              <a:xfrm>
                <a:off x="8503100" y="1427438"/>
                <a:ext cx="7171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sz="2800" i="0" dirty="0">
                          <a:solidFill>
                            <a:schemeClr val="bg1"/>
                          </a:solidFill>
                        </a:rPr>
                        <m:t>and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169F9E-CC41-4B4C-A229-30AF595CC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3100" y="1427438"/>
                <a:ext cx="7171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9220200" y="1427438"/>
                <a:ext cx="2355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0&lt;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&lt;5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20200" y="1427438"/>
                <a:ext cx="23554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E31FC827-98BA-442F-83B2-3BFB48028855}"/>
              </a:ext>
            </a:extLst>
          </p:cNvPr>
          <p:cNvSpPr txBox="1"/>
          <p:nvPr/>
        </p:nvSpPr>
        <p:spPr>
          <a:xfrm>
            <a:off x="1594217" y="3477267"/>
            <a:ext cx="24226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We know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3669123" y="3477267"/>
                <a:ext cx="27625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P</m:t>
                        </m:r>
                        <m:d>
                          <m:d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</m:d>
                      </m:e>
                    </m:nary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9123" y="3477267"/>
                <a:ext cx="276252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64EB490-C751-4F25-863D-D83617E830E3}"/>
                  </a:ext>
                </a:extLst>
              </p:cNvPr>
              <p:cNvSpPr txBox="1"/>
              <p:nvPr/>
            </p:nvSpPr>
            <p:spPr>
              <a:xfrm>
                <a:off x="1594217" y="4119997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64EB490-C751-4F25-863D-D83617E8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119997"/>
                <a:ext cx="54482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2139044" y="4058441"/>
                <a:ext cx="7249886" cy="1169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=0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=3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=5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=6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=7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4" y="4058441"/>
                <a:ext cx="7249886" cy="116955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82DBD2-4EA3-4B55-90C6-8FEDD5566FC1}"/>
                  </a:ext>
                </a:extLst>
              </p:cNvPr>
              <p:cNvSpPr txBox="1"/>
              <p:nvPr/>
            </p:nvSpPr>
            <p:spPr>
              <a:xfrm>
                <a:off x="9192443" y="4663629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82DBD2-4EA3-4B55-90C6-8FEDD5566F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2443" y="4663629"/>
                <a:ext cx="86051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58693C-50E3-49B8-BA53-FD51C44EB5BA}"/>
                  </a:ext>
                </a:extLst>
              </p:cNvPr>
              <p:cNvSpPr txBox="1"/>
              <p:nvPr/>
            </p:nvSpPr>
            <p:spPr>
              <a:xfrm>
                <a:off x="1594217" y="5341796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58693C-50E3-49B8-BA53-FD51C44EB5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341796"/>
                <a:ext cx="5448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2139043" y="5341796"/>
                <a:ext cx="6841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0+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+7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3" y="5341796"/>
                <a:ext cx="684167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9B81EBD-DFF8-4D43-8021-36E33B35BCF0}"/>
                  </a:ext>
                </a:extLst>
              </p:cNvPr>
              <p:cNvSpPr txBox="1"/>
              <p:nvPr/>
            </p:nvSpPr>
            <p:spPr>
              <a:xfrm>
                <a:off x="8980713" y="5341796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9B81EBD-DFF8-4D43-8021-36E33B35BC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0713" y="5341796"/>
                <a:ext cx="86051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/>
              <p:nvPr/>
            </p:nvSpPr>
            <p:spPr>
              <a:xfrm>
                <a:off x="1594217" y="6040375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6040375"/>
                <a:ext cx="54482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/>
              <p:nvPr/>
            </p:nvSpPr>
            <p:spPr>
              <a:xfrm>
                <a:off x="2139044" y="6038070"/>
                <a:ext cx="187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9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4" y="6038070"/>
                <a:ext cx="187778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/>
              <p:nvPr/>
            </p:nvSpPr>
            <p:spPr>
              <a:xfrm>
                <a:off x="3880215" y="6038070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0215" y="6038070"/>
                <a:ext cx="86051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9645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3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3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0932645"/>
                  </p:ext>
                </p:extLst>
              </p:nvPr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351" r="-52134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351" r="-74012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351" r="-635443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351" r="-539490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351" r="-436076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351" r="-33885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351" r="-236709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351" r="-13821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351" r="-930" b="-10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01351" r="-52134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01351" r="-74012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01351" r="-635443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01351" r="-539490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01351" r="-436076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01351" r="-33885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01351" r="-236709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01351" r="-13821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01351" r="-930" b="-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/>
              <p:nvPr/>
            </p:nvSpPr>
            <p:spPr>
              <a:xfrm>
                <a:off x="1594217" y="2387467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387467"/>
                <a:ext cx="54482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/>
              <p:nvPr/>
            </p:nvSpPr>
            <p:spPr>
              <a:xfrm>
                <a:off x="2139043" y="1778371"/>
                <a:ext cx="187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+10</m:t>
                      </m:r>
                      <m:sSup>
                        <m:s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3" y="1778371"/>
                <a:ext cx="187778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/>
              <p:nvPr/>
            </p:nvSpPr>
            <p:spPr>
              <a:xfrm>
                <a:off x="3880214" y="1778371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0214" y="1778371"/>
                <a:ext cx="86051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ACE678D-B904-4352-ACBF-360399698E7B}"/>
                  </a:ext>
                </a:extLst>
              </p:cNvPr>
              <p:cNvSpPr txBox="1"/>
              <p:nvPr/>
            </p:nvSpPr>
            <p:spPr>
              <a:xfrm>
                <a:off x="2139042" y="2390312"/>
                <a:ext cx="330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+9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−1=0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ACE678D-B904-4352-ACBF-360399698E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2390312"/>
                <a:ext cx="330835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D235FD-72A2-4A59-A898-040C4B2F0CC6}"/>
                  </a:ext>
                </a:extLst>
              </p:cNvPr>
              <p:cNvSpPr txBox="1"/>
              <p:nvPr/>
            </p:nvSpPr>
            <p:spPr>
              <a:xfrm>
                <a:off x="1594217" y="3027049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D235FD-72A2-4A59-A898-040C4B2F0C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027049"/>
                <a:ext cx="54482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77CA269A-D0A0-46F3-88A6-EA3BB1DA9B0E}"/>
                  </a:ext>
                </a:extLst>
              </p:cNvPr>
              <p:cNvSpPr txBox="1"/>
              <p:nvPr/>
            </p:nvSpPr>
            <p:spPr>
              <a:xfrm>
                <a:off x="2139042" y="3029183"/>
                <a:ext cx="41801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+10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−1=0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77CA269A-D0A0-46F3-88A6-EA3BB1DA9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3029183"/>
                <a:ext cx="418011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A16FF63-236F-4ADC-B1B5-FD1F7A319533}"/>
                  </a:ext>
                </a:extLst>
              </p:cNvPr>
              <p:cNvSpPr txBox="1"/>
              <p:nvPr/>
            </p:nvSpPr>
            <p:spPr>
              <a:xfrm>
                <a:off x="1594217" y="3666631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A16FF63-236F-4ADC-B1B5-FD1F7A3195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666631"/>
                <a:ext cx="5448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D053598-B35D-4585-930D-88D0C11CA2F5}"/>
                  </a:ext>
                </a:extLst>
              </p:cNvPr>
              <p:cNvSpPr txBox="1"/>
              <p:nvPr/>
            </p:nvSpPr>
            <p:spPr>
              <a:xfrm>
                <a:off x="2139042" y="3668054"/>
                <a:ext cx="4784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−1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D053598-B35D-4585-930D-88D0C11CA2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3668054"/>
                <a:ext cx="478427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BC49A3E-EB83-4B35-B901-B3A5830219A6}"/>
                  </a:ext>
                </a:extLst>
              </p:cNvPr>
              <p:cNvSpPr txBox="1"/>
              <p:nvPr/>
            </p:nvSpPr>
            <p:spPr>
              <a:xfrm>
                <a:off x="1594217" y="4306213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BC49A3E-EB83-4B35-B901-B3A5830219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306213"/>
                <a:ext cx="54482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57B2B15-C4EF-4036-AB14-135595358064}"/>
                  </a:ext>
                </a:extLst>
              </p:cNvPr>
              <p:cNvSpPr txBox="1"/>
              <p:nvPr/>
            </p:nvSpPr>
            <p:spPr>
              <a:xfrm>
                <a:off x="2139042" y="4306925"/>
                <a:ext cx="4784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57B2B15-C4EF-4036-AB14-1355953580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4306925"/>
                <a:ext cx="478427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F538A46-1695-43EE-9DD5-E15770056144}"/>
                  </a:ext>
                </a:extLst>
              </p:cNvPr>
              <p:cNvSpPr txBox="1"/>
              <p:nvPr/>
            </p:nvSpPr>
            <p:spPr>
              <a:xfrm>
                <a:off x="1594217" y="4944372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F538A46-1695-43EE-9DD5-E15770056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944372"/>
                <a:ext cx="54482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86D4795-88B6-4FF2-ADCE-0826319117F9}"/>
                  </a:ext>
                </a:extLst>
              </p:cNvPr>
              <p:cNvSpPr txBox="1"/>
              <p:nvPr/>
            </p:nvSpPr>
            <p:spPr>
              <a:xfrm>
                <a:off x="2139042" y="4931951"/>
                <a:ext cx="1371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86D4795-88B6-4FF2-ADCE-0826319117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4931951"/>
                <a:ext cx="137160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4179875" y="4951418"/>
                <a:ext cx="1371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0.1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6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9875" y="4951418"/>
                <a:ext cx="137160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786D4795-88B6-4FF2-ADCE-0826319117F9}"/>
              </a:ext>
            </a:extLst>
          </p:cNvPr>
          <p:cNvSpPr txBox="1"/>
          <p:nvPr/>
        </p:nvSpPr>
        <p:spPr>
          <a:xfrm>
            <a:off x="3461323" y="4951418"/>
            <a:ext cx="6637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 b="0" i="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</a:lstStyle>
          <a:p>
            <a:pPr algn="ctr"/>
            <a:r>
              <a:rPr lang="en-US" b="0" i="0" dirty="0">
                <a:latin typeface="+mj-lt"/>
              </a:rPr>
              <a:t>or</a:t>
            </a:r>
            <a:endParaRPr lang="en-IN" dirty="0">
              <a:latin typeface="+mn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2139042" y="5455171"/>
                <a:ext cx="81910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r>
                  <a:rPr lang="en-US" b="0" i="0" dirty="0">
                    <a:latin typeface="+mj-lt"/>
                  </a:rPr>
                  <a:t>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i="0" dirty="0">
                    <a:latin typeface="+mj-lt"/>
                  </a:rPr>
                  <a:t>represents probability it can not be negative.</a:t>
                </a:r>
              </a:p>
            </p:txBody>
          </p:sp>
        </mc:Choice>
        <mc:Fallback xmlns="">
          <p:sp>
            <p:nvSpPr>
              <p:cNvPr id="22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5455171"/>
                <a:ext cx="8191029" cy="523220"/>
              </a:xfrm>
              <a:prstGeom prst="rect">
                <a:avLst/>
              </a:prstGeom>
              <a:blipFill>
                <a:blip r:embed="rId20"/>
                <a:stretch>
                  <a:fillRect l="-156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2162942" y="6012827"/>
                <a:ext cx="1829985" cy="523220"/>
              </a:xfrm>
              <a:prstGeom prst="rect">
                <a:avLst/>
              </a:prstGeom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 lvl="0"/>
                <a:r>
                  <a:rPr lang="en-IN" dirty="0">
                    <a:latin typeface="+mj-lt"/>
                  </a:rPr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k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3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942" y="6012827"/>
                <a:ext cx="1829985" cy="523220"/>
              </a:xfrm>
              <a:prstGeom prst="rect">
                <a:avLst/>
              </a:prstGeom>
              <a:blipFill>
                <a:blip r:embed="rId21"/>
                <a:stretch>
                  <a:fillRect l="-6623" t="-9091" b="-3068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35038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21" grpId="0"/>
      <p:bldP spid="22" grpId="0"/>
      <p:bldP spid="2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3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3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351" r="-52134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351" r="-74012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351" r="-635443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351" r="-539490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351" r="-436076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351" r="-33885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351" r="-236709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351" r="-13821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351" r="-930" b="-10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01351" r="-52134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01351" r="-74012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01351" r="-635443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01351" r="-539490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01351" r="-436076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01351" r="-33885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01351" r="-236709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01351" r="-13821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01351" r="-930" b="-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1094283" y="2280024"/>
                <a:ext cx="2214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(1) </m:t>
                      </m:r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&lt;6)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4283" y="2280024"/>
                <a:ext cx="22144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7312845" y="2291454"/>
                <a:ext cx="21759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≥6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845" y="2291454"/>
                <a:ext cx="217592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1126261" y="4591050"/>
                <a:ext cx="28066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(3)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0&lt;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261" y="4591050"/>
                <a:ext cx="280661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!!k">
                <a:extLst>
                  <a:ext uri="{FF2B5EF4-FFF2-40B4-BE49-F238E27FC236}">
                    <a16:creationId xmlns:a16="http://schemas.microsoft.com/office/drawing/2014/main" id="{ADE2BA05-74A6-4058-9A49-60C44FA9D381}"/>
                  </a:ext>
                </a:extLst>
              </p:cNvPr>
              <p:cNvSpPr txBox="1"/>
              <p:nvPr/>
            </p:nvSpPr>
            <p:spPr>
              <a:xfrm>
                <a:off x="1594218" y="1719641"/>
                <a:ext cx="14518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𝐤</m:t>
                      </m:r>
                      <m:r>
                        <a:rPr lang="en-IN" b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1" name="!!k">
                <a:extLst>
                  <a:ext uri="{FF2B5EF4-FFF2-40B4-BE49-F238E27FC236}">
                    <a16:creationId xmlns:a16="http://schemas.microsoft.com/office/drawing/2014/main" id="{ADE2BA05-74A6-4058-9A49-60C44FA9D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719641"/>
                <a:ext cx="14518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21D34C4-00D1-4836-94CF-00CFB01B4516}"/>
                  </a:ext>
                </a:extLst>
              </p:cNvPr>
              <p:cNvSpPr txBox="1"/>
              <p:nvPr/>
            </p:nvSpPr>
            <p:spPr>
              <a:xfrm>
                <a:off x="3046092" y="2280024"/>
                <a:ext cx="4017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21D34C4-00D1-4836-94CF-00CFB01B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2280024"/>
                <a:ext cx="401746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F97F333-6ABB-4273-A890-B39783381CCE}"/>
                  </a:ext>
                </a:extLst>
              </p:cNvPr>
              <p:cNvSpPr txBox="1"/>
              <p:nvPr/>
            </p:nvSpPr>
            <p:spPr>
              <a:xfrm>
                <a:off x="3046092" y="2850064"/>
                <a:ext cx="1820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F97F333-6ABB-4273-A890-B39783381C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2850064"/>
                <a:ext cx="182036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BCBF88-447A-4F8B-984C-71889806F86E}"/>
                  </a:ext>
                </a:extLst>
              </p:cNvPr>
              <p:cNvSpPr txBox="1"/>
              <p:nvPr/>
            </p:nvSpPr>
            <p:spPr>
              <a:xfrm>
                <a:off x="3046092" y="3408463"/>
                <a:ext cx="29252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0.1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b="0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1" dirty="0" smtClean="0">
                                  <a:latin typeface="Cambria Math" panose="02040503050406030204" pitchFamily="18" charset="0"/>
                                </a:rPr>
                                <m:t>0.1</m:t>
                              </m:r>
                            </m:e>
                          </m:d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BCBF88-447A-4F8B-984C-71889806F8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3408463"/>
                <a:ext cx="292526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6220C82D-074C-4FDF-9547-A6854C0CDEBA}"/>
                  </a:ext>
                </a:extLst>
              </p:cNvPr>
              <p:cNvSpPr txBox="1"/>
              <p:nvPr/>
            </p:nvSpPr>
            <p:spPr>
              <a:xfrm>
                <a:off x="3046092" y="3966862"/>
                <a:ext cx="1363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=0.81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6220C82D-074C-4FDF-9547-A6854C0CDE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3966862"/>
                <a:ext cx="136316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9F455FE-6B43-4115-8D01-F6612A631AF4}"/>
                  </a:ext>
                </a:extLst>
              </p:cNvPr>
              <p:cNvSpPr txBox="1"/>
              <p:nvPr/>
            </p:nvSpPr>
            <p:spPr>
              <a:xfrm>
                <a:off x="9323017" y="2273505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9F455FE-6B43-4115-8D01-F6612A631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3017" y="2273505"/>
                <a:ext cx="2649492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C7BFFF5-1587-4B61-BC8D-93237D67EEFB}"/>
                  </a:ext>
                </a:extLst>
              </p:cNvPr>
              <p:cNvSpPr txBox="1"/>
              <p:nvPr/>
            </p:nvSpPr>
            <p:spPr>
              <a:xfrm>
                <a:off x="9323017" y="2849599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=1−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C7BFFF5-1587-4B61-BC8D-93237D67EE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3017" y="2849599"/>
                <a:ext cx="2649492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198930C-A925-422C-84B7-C31F19051F5A}"/>
                  </a:ext>
                </a:extLst>
              </p:cNvPr>
              <p:cNvSpPr txBox="1"/>
              <p:nvPr/>
            </p:nvSpPr>
            <p:spPr>
              <a:xfrm>
                <a:off x="9335048" y="3401630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198930C-A925-422C-84B7-C31F19051F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35048" y="3401630"/>
                <a:ext cx="2649492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183735F-E6B3-4DE3-817F-C273FE260688}"/>
                  </a:ext>
                </a:extLst>
              </p:cNvPr>
              <p:cNvSpPr txBox="1"/>
              <p:nvPr/>
            </p:nvSpPr>
            <p:spPr>
              <a:xfrm>
                <a:off x="3829672" y="4576059"/>
                <a:ext cx="33358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183735F-E6B3-4DE3-817F-C273FE260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4576059"/>
                <a:ext cx="3335882" cy="523220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6024A4C-FEF4-4944-821A-DA00A2F02DAB}"/>
                  </a:ext>
                </a:extLst>
              </p:cNvPr>
              <p:cNvSpPr txBox="1"/>
              <p:nvPr/>
            </p:nvSpPr>
            <p:spPr>
              <a:xfrm>
                <a:off x="3829672" y="5095967"/>
                <a:ext cx="10625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6024A4C-FEF4-4944-821A-DA00A2F02D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5095967"/>
                <a:ext cx="1062582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14796AA-FD29-4198-A676-69340A9585BA}"/>
                  </a:ext>
                </a:extLst>
              </p:cNvPr>
              <p:cNvSpPr txBox="1"/>
              <p:nvPr/>
            </p:nvSpPr>
            <p:spPr>
              <a:xfrm>
                <a:off x="3829672" y="5611252"/>
                <a:ext cx="15274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0.1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14796AA-FD29-4198-A676-69340A9585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5611252"/>
                <a:ext cx="1527402" cy="523220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F25655C-63C9-491B-99A6-FEA50FC209DE}"/>
                  </a:ext>
                </a:extLst>
              </p:cNvPr>
              <p:cNvSpPr txBox="1"/>
              <p:nvPr/>
            </p:nvSpPr>
            <p:spPr>
              <a:xfrm>
                <a:off x="3829672" y="6066692"/>
                <a:ext cx="15274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0.8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F25655C-63C9-491B-99A6-FEA50FC209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6066692"/>
                <a:ext cx="1527402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B73ACAD-CA46-4634-8C3F-43D707EB77AE}"/>
              </a:ext>
            </a:extLst>
          </p:cNvPr>
          <p:cNvCxnSpPr/>
          <p:nvPr/>
        </p:nvCxnSpPr>
        <p:spPr>
          <a:xfrm>
            <a:off x="7232650" y="2242861"/>
            <a:ext cx="0" cy="224722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D13BB38-973C-21AA-5F24-5762F6817125}"/>
              </a:ext>
            </a:extLst>
          </p:cNvPr>
          <p:cNvSpPr/>
          <p:nvPr/>
        </p:nvSpPr>
        <p:spPr>
          <a:xfrm>
            <a:off x="3261573" y="1238071"/>
            <a:ext cx="5541959" cy="436734"/>
          </a:xfrm>
          <a:prstGeom prst="roundRect">
            <a:avLst/>
          </a:pr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3275847-FCEF-9AF1-806C-ADDE761F178F}"/>
              </a:ext>
            </a:extLst>
          </p:cNvPr>
          <p:cNvSpPr/>
          <p:nvPr/>
        </p:nvSpPr>
        <p:spPr>
          <a:xfrm>
            <a:off x="4216534" y="1238071"/>
            <a:ext cx="3596506" cy="436734"/>
          </a:xfrm>
          <a:prstGeom prst="roundRect">
            <a:avLst/>
          </a:pr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90498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6" grpId="0" animBg="1"/>
      <p:bldP spid="6" grpId="1" animBg="1"/>
      <p:bldP spid="7" grpId="0" animBg="1"/>
      <p:bldP spid="7" grpId="1" animBg="1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Mass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dirty="0"/>
                  <a:t>Note:</a:t>
                </a:r>
              </a:p>
              <a:p>
                <a:pPr lvl="1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&lt;…&lt;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k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&lt;…&lt;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𝐛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then</m:t>
                    </m:r>
                  </m:oMath>
                </a14:m>
                <a:endParaRPr lang="en-IN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b="1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GB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  <m:r>
                          <a:rPr lang="en-US" b="1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>
                            <a:latin typeface="Cambria Math" panose="02040503050406030204" pitchFamily="18" charset="0"/>
                          </a:rPr>
                          <m:t>≤</m:t>
                        </m:r>
                        <m:sSub>
                          <m:sSubPr>
                            <m:ctrlPr>
                              <a:rPr lang="en-IN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𝐤</m:t>
                            </m:r>
                          </m:sub>
                        </m:sSub>
                      </m:e>
                    </m:d>
                    <m:r>
                      <a:rPr lang="en-IN" b="1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/>
              <p:nvPr/>
            </p:nvSpPr>
            <p:spPr>
              <a:xfrm>
                <a:off x="2903220" y="2268974"/>
                <a:ext cx="94335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+⋯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3220" y="2268974"/>
                <a:ext cx="94335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/>
              <p:nvPr/>
            </p:nvSpPr>
            <p:spPr>
              <a:xfrm>
                <a:off x="3893820" y="3581243"/>
                <a:ext cx="6875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𝐤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3820" y="3581243"/>
                <a:ext cx="68757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/>
              <p:nvPr/>
            </p:nvSpPr>
            <p:spPr>
              <a:xfrm>
                <a:off x="2903220" y="2905780"/>
                <a:ext cx="6875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+⋯ + 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3220" y="2905780"/>
                <a:ext cx="687578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03581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/>
      <p:bldP spid="7" grpId="0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0A5FC-F657-7572-A0DB-5A7426B550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7C3CCE4-AE37-66D9-76CB-C723E560DCF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08630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If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to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5.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Find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or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2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&amp;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endChr m:val="|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0.5&lt;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&lt;2.5 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&gt;1).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7C3CCE4-AE37-66D9-76CB-C723E560D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08630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CBE1D8D7-A031-A8F4-7E59-F0B71B86CF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C747B5A-FE1C-019E-09CE-8824D14EA81F}"/>
              </a:ext>
            </a:extLst>
          </p:cNvPr>
          <p:cNvSpPr txBox="1">
            <a:spLocks/>
          </p:cNvSpPr>
          <p:nvPr/>
        </p:nvSpPr>
        <p:spPr>
          <a:xfrm>
            <a:off x="131176" y="211078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97E36F0-292A-451D-ED84-0C5AC4CAA5F5}"/>
                  </a:ext>
                </a:extLst>
              </p:cNvPr>
              <p:cNvSpPr txBox="1"/>
              <p:nvPr/>
            </p:nvSpPr>
            <p:spPr>
              <a:xfrm>
                <a:off x="1594216" y="2007396"/>
                <a:ext cx="11139290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Here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, 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Probability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Mass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Function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is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</a:rPr>
                        <m:t> :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=1, 2, 3, 4, 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97E36F0-292A-451D-ED84-0C5AC4CAA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007396"/>
                <a:ext cx="11139290" cy="8272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ED6CA0C-EBB6-F2ED-C7D6-FE7D8040D3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2721338"/>
                <a:ext cx="357595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𝐨𝐫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ED6CA0C-EBB6-F2ED-C7D6-FE7D8040D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2721338"/>
                <a:ext cx="3575955" cy="73438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E757DF1A-6235-08B9-7395-4F525E11EEA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3423207"/>
                <a:ext cx="6844449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IN" b="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Here, </a:t>
                </a:r>
                <a14:m>
                  <m:oMath xmlns:m="http://schemas.openxmlformats.org/officeDocument/2006/math">
                    <m: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1 </m:t>
                    </m:r>
                    <m:r>
                      <m:rPr>
                        <m:sty m:val="p"/>
                      </m:rP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 2</m:t>
                    </m:r>
                  </m:oMath>
                </a14:m>
                <a:r>
                  <a:rPr lang="en-IN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means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=1 </m:t>
                    </m:r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=2</m:t>
                    </m:r>
                  </m:oMath>
                </a14:m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E757DF1A-6235-08B9-7395-4F525E11EE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3423207"/>
                <a:ext cx="6844449" cy="734382"/>
              </a:xfrm>
              <a:prstGeom prst="rect">
                <a:avLst/>
              </a:prstGeom>
              <a:blipFill>
                <a:blip r:embed="rId5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A44A363-89A6-BDF2-83E5-EF476443CC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4125076"/>
                <a:ext cx="923745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IN" b="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In one experiment,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can take only one value</a:t>
                </a: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A44A363-89A6-BDF2-83E5-EF476443CC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4125076"/>
                <a:ext cx="9237453" cy="734382"/>
              </a:xfrm>
              <a:prstGeom prst="rect">
                <a:avLst/>
              </a:prstGeom>
              <a:blipFill>
                <a:blip r:embed="rId6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9230DBB3-AB38-C0EB-BA7C-1FD7096B49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4826945"/>
                <a:ext cx="923745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It cannot be both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at the same time</a:t>
                </a:r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9230DBB3-AB38-C0EB-BA7C-1FD7096B49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4826945"/>
                <a:ext cx="9237453" cy="734382"/>
              </a:xfrm>
              <a:prstGeom prst="rect">
                <a:avLst/>
              </a:prstGeom>
              <a:blipFill>
                <a:blip r:embed="rId7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C4EC734-57F9-84DB-AA62-88D5ECE92D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359903" y="5447661"/>
                <a:ext cx="437362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d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</m:oMath>
                  </m:oMathPara>
                </a14:m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C4EC734-57F9-84DB-AA62-88D5ECE92D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9903" y="5447661"/>
                <a:ext cx="4373623" cy="73438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2CF66DE0-07BB-9F7E-2D06-C1C14FA900B1}"/>
              </a:ext>
            </a:extLst>
          </p:cNvPr>
          <p:cNvSpPr txBox="1">
            <a:spLocks/>
          </p:cNvSpPr>
          <p:nvPr/>
        </p:nvSpPr>
        <p:spPr>
          <a:xfrm>
            <a:off x="1846924" y="5990161"/>
            <a:ext cx="5497459" cy="73438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So,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the </a:t>
            </a:r>
            <a:r>
              <a:rPr lang="en-US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events are mutually exclusive.</a:t>
            </a:r>
            <a:endParaRPr lang="en-IN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36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3AFC6B-1876-D128-D1D8-CF15E8866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4B36CF-2BC3-C2F5-ADF0-3C57860AB1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3ADA406-54AB-B7D7-49C0-C8FEEC02C125}"/>
                  </a:ext>
                </a:extLst>
              </p:cNvPr>
              <p:cNvSpPr txBox="1"/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3ADA406-54AB-B7D7-49C0-C8FEEC02C1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A680D1D-0271-ECE6-5B1B-55A2F08CEB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32363" y="772844"/>
                <a:ext cx="357595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𝐨𝐫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A680D1D-0271-ECE6-5B1B-55A2F08CEB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2363" y="772844"/>
                <a:ext cx="3575955" cy="73438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9593A8F-B79F-0953-8129-BBBF925E018E}"/>
                  </a:ext>
                </a:extLst>
              </p:cNvPr>
              <p:cNvSpPr txBox="1"/>
              <p:nvPr/>
            </p:nvSpPr>
            <p:spPr>
              <a:xfrm>
                <a:off x="473413" y="1507226"/>
                <a:ext cx="5069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9593A8F-B79F-0953-8129-BBBF925E01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1507226"/>
                <a:ext cx="506923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5764F37-1F31-296A-2B7C-AE4C671619A0}"/>
                  </a:ext>
                </a:extLst>
              </p:cNvPr>
              <p:cNvSpPr txBox="1"/>
              <p:nvPr/>
            </p:nvSpPr>
            <p:spPr>
              <a:xfrm>
                <a:off x="473413" y="2303251"/>
                <a:ext cx="2600527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5764F37-1F31-296A-2B7C-AE4C671619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2303251"/>
                <a:ext cx="2600527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D323DA9-C058-45F5-F930-1ABFB337D3FF}"/>
                  </a:ext>
                </a:extLst>
              </p:cNvPr>
              <p:cNvSpPr txBox="1"/>
              <p:nvPr/>
            </p:nvSpPr>
            <p:spPr>
              <a:xfrm>
                <a:off x="2195209" y="2303251"/>
                <a:ext cx="1345659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D323DA9-C058-45F5-F930-1ABFB337D3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5209" y="2303251"/>
                <a:ext cx="1345659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9DA60EAD-C12B-7DA2-9FED-73D63B33E6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32364" y="3429000"/>
                <a:ext cx="5675008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endChr m:val="|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9DA60EAD-C12B-7DA2-9FED-73D63B33E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2364" y="3429000"/>
                <a:ext cx="5675008" cy="73438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915E4CAC-E0C3-2154-7BF7-635A317EE5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73413" y="4054710"/>
                <a:ext cx="3974791" cy="128902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Let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  <a:p>
                <a:pPr marL="0" indent="0">
                  <a:buNone/>
                </a:pPr>
                <a:endParaRPr lang="en-IN" b="1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915E4CAC-E0C3-2154-7BF7-635A317EE5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4054710"/>
                <a:ext cx="3974791" cy="128902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F452AA7C-F24B-5B4D-40FA-0C17A68D9CF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7714" y="5373955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F452AA7C-F24B-5B4D-40FA-0C17A68D9C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714" y="5373955"/>
                <a:ext cx="5172451" cy="711201"/>
              </a:xfrm>
              <a:prstGeom prst="rect">
                <a:avLst/>
              </a:prstGeom>
              <a:blipFill>
                <a:blip r:embed="rId9"/>
                <a:stretch>
                  <a:fillRect l="-2356" b="-68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4A38AA26-7D95-4601-3919-12DEC822C55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72517" y="5960718"/>
                <a:ext cx="295884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lang="en-IN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4A38AA26-7D95-4601-3919-12DEC822C5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517" y="5960718"/>
                <a:ext cx="2958849" cy="711201"/>
              </a:xfrm>
              <a:prstGeom prst="rect">
                <a:avLst/>
              </a:prstGeom>
              <a:blipFill>
                <a:blip r:embed="rId10"/>
                <a:stretch>
                  <a:fillRect l="-4115" b="-68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05DC38CF-B214-3CE0-7297-7DA56AB05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9398" y="806710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Event: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05DC38CF-B214-3CE0-7297-7DA56AB05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98" y="806710"/>
                <a:ext cx="5172451" cy="711201"/>
              </a:xfrm>
              <a:prstGeom prst="rect">
                <a:avLst/>
              </a:prstGeom>
              <a:blipFill>
                <a:blip r:embed="rId11"/>
                <a:stretch>
                  <a:fillRect l="-2356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B80DEDE-7D36-947B-6D4B-EA68AED1CB5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1507226"/>
                <a:ext cx="6147032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dirty="0"/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can only be integers : 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</a:t>
                </a:r>
                <a:endParaRPr lang="en-IN" dirty="0"/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B80DEDE-7D36-947B-6D4B-EA68AED1CB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1507226"/>
                <a:ext cx="6147032" cy="711201"/>
              </a:xfrm>
              <a:prstGeom prst="rect">
                <a:avLst/>
              </a:prstGeom>
              <a:blipFill>
                <a:blip r:embed="rId12"/>
                <a:stretch>
                  <a:fillRect l="-2083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EF31020B-6869-7606-F689-FEB5E306A1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9398" y="2215190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&lt;</m:t>
                      </m:r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EF31020B-6869-7606-F689-FEB5E306A1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98" y="2215190"/>
                <a:ext cx="5172451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53EF3F21-CC1C-76F4-51C5-D41DA736A87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2868890"/>
                <a:ext cx="267643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,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53EF3F21-CC1C-76F4-51C5-D41DA736A8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2868890"/>
                <a:ext cx="2676439" cy="71120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A150CFBC-54FA-A16B-0E3E-677C15D0EE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3519353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Event: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A150CFBC-54FA-A16B-0E3E-677C15D0EE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3519353"/>
                <a:ext cx="5172451" cy="711201"/>
              </a:xfrm>
              <a:prstGeom prst="rect">
                <a:avLst/>
              </a:prstGeom>
              <a:blipFill>
                <a:blip r:embed="rId15"/>
                <a:stretch>
                  <a:fillRect l="-2476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4F9779FE-81CC-AF00-1464-D22C577B11D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7" y="4185658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4F9779FE-81CC-AF00-1464-D22C577B11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7" y="4185658"/>
                <a:ext cx="5172451" cy="71120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59F617F-9493-14E1-A89C-5DEA00D6E4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6" y="4861420"/>
                <a:ext cx="287365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59F617F-9493-14E1-A89C-5DEA00D6E4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6" y="4861420"/>
                <a:ext cx="2873659" cy="71120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7C66CED3-5AF2-C015-C9F2-84E6FC6446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6" y="5553324"/>
                <a:ext cx="3396288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7C66CED3-5AF2-C015-C9F2-84E6FC6446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6" y="5553324"/>
                <a:ext cx="3396288" cy="71120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293EBA39-A2DA-4659-8CF9-55E6A03D6970}"/>
              </a:ext>
            </a:extLst>
          </p:cNvPr>
          <p:cNvCxnSpPr/>
          <p:nvPr/>
        </p:nvCxnSpPr>
        <p:spPr>
          <a:xfrm>
            <a:off x="5345485" y="880091"/>
            <a:ext cx="0" cy="5580000"/>
          </a:xfrm>
          <a:prstGeom prst="line">
            <a:avLst/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494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6" grpId="0"/>
      <p:bldP spid="17" grpId="0"/>
      <p:bldP spid="18" grpId="0"/>
      <p:bldP spid="20" grpId="0"/>
      <p:bldP spid="21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1710A-9E4E-0E0C-AE03-CFF1126F47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2AA518-46A9-5051-3015-106D2AA324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978F8E4-760B-8777-9310-2F2287BCAC98}"/>
                  </a:ext>
                </a:extLst>
              </p:cNvPr>
              <p:cNvSpPr txBox="1"/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=1, 2, 3, 4, 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978F8E4-760B-8777-9310-2F2287BCAC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A93377-B5F4-BE38-81D7-AFF41C50703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61546" y="740557"/>
                <a:ext cx="5675008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endChr m:val="|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0.5&lt;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&lt;2.5 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&gt;1)</m:t>
                    </m:r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A93377-B5F4-BE38-81D7-AFF41C5070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1546" y="740557"/>
                <a:ext cx="5675008" cy="73438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884422F5-5942-242E-3520-00C472973F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1" y="1366267"/>
                <a:ext cx="3974791" cy="128902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Let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884422F5-5942-242E-3520-00C472973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1" y="1366267"/>
                <a:ext cx="3974791" cy="128902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FC7FA66E-E277-41C6-F81F-F994BD33E4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91680" y="788807"/>
                <a:ext cx="446632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Now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&gt;1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FC7FA66E-E277-41C6-F81F-F994BD33E4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1680" y="788807"/>
                <a:ext cx="4466329" cy="71120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013A1F5B-97C2-A739-ABBF-B5F94AABBC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1" y="2846614"/>
                <a:ext cx="3396288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013A1F5B-97C2-A739-ABBF-B5F94AABBC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1" y="2846614"/>
                <a:ext cx="3396288" cy="71120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516D3E-9516-8D60-55CA-D867F90BE4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0" y="3749135"/>
                <a:ext cx="397479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516D3E-9516-8D60-55CA-D867F90BE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0" y="3749135"/>
                <a:ext cx="3974791" cy="71120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DD19B7-9C2A-AF07-74CA-F217AA53617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29" y="4651656"/>
                <a:ext cx="3164733" cy="118035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DD19B7-9C2A-AF07-74CA-F217AA5361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29" y="4651656"/>
                <a:ext cx="3164733" cy="118035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900AB4E-DEFB-B249-0379-86AB5F7D00E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1395451"/>
                <a:ext cx="51448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=3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900AB4E-DEFB-B249-0379-86AB5F7D0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1395451"/>
                <a:ext cx="5144851" cy="71120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A012D6-6C96-AB2A-8FD0-FB616CB7276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56348" y="2044827"/>
                <a:ext cx="39113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=4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=5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A012D6-6C96-AB2A-8FD0-FB616CB72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6348" y="2044827"/>
                <a:ext cx="3911351" cy="71120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FD0A6775-D2CD-BABB-31C3-84D93B880F9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2644659"/>
                <a:ext cx="4967303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4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FD0A6775-D2CD-BABB-31C3-84D93B880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2644659"/>
                <a:ext cx="4967303" cy="117743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F59C13C-45BA-E034-D5B4-1AF7114113B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3900679"/>
                <a:ext cx="2584027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14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F59C13C-45BA-E034-D5B4-1AF711411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3900679"/>
                <a:ext cx="2584027" cy="117743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77FBF911-39B9-8BD9-2904-142C13A8929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5126531"/>
                <a:ext cx="4052903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77FBF911-39B9-8BD9-2904-142C13A892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5126531"/>
                <a:ext cx="4052903" cy="117743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3000AF58-DEB3-F456-DBD8-29E1468006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48009" y="4922475"/>
                <a:ext cx="1731235" cy="168283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14</m:t>
                              </m:r>
                            </m:num>
                            <m:den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den>
                          </m:f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3000AF58-DEB3-F456-DBD8-29E1468006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8009" y="4922475"/>
                <a:ext cx="1731235" cy="168283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61630878-FD75-E6FE-79A3-14C9CCDFC6F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312023" y="5238849"/>
                <a:ext cx="1266721" cy="110844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61630878-FD75-E6FE-79A3-14C9CCDFC6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2023" y="5238849"/>
                <a:ext cx="1266721" cy="110844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4363DBE-A8C9-753A-16C5-E3DC19E8D3D0}"/>
              </a:ext>
            </a:extLst>
          </p:cNvPr>
          <p:cNvCxnSpPr/>
          <p:nvPr/>
        </p:nvCxnSpPr>
        <p:spPr>
          <a:xfrm>
            <a:off x="4615911" y="881924"/>
            <a:ext cx="0" cy="5580000"/>
          </a:xfrm>
          <a:prstGeom prst="line">
            <a:avLst/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5192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1" grpId="0"/>
      <p:bldP spid="4" grpId="0"/>
      <p:bldP spid="6" grpId="0"/>
      <p:bldP spid="7" grpId="0"/>
      <p:bldP spid="8" grpId="0"/>
      <p:bldP spid="9" grpId="0"/>
      <p:bldP spid="15" grpId="0"/>
      <p:bldP spid="19" grpId="0"/>
      <p:bldP spid="22" grpId="0"/>
      <p:bldP spid="23" grpId="0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A6880F-FC37-0AB2-5950-F12E2FCAE0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CE19F4-0BC5-2371-D1E3-B30E560E8A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D6DDD1C-63F1-13D1-EAFF-5261761EB84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a discrete random variable with possible values: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,…,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IN" dirty="0"/>
                  <a:t>Corresponding events are: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,…,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For a discrete random variable events are:</a:t>
                </a:r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</a:t>
                </a:r>
                <a:r>
                  <a:rPr lang="en-IN" dirty="0"/>
                  <a:t> because</a:t>
                </a:r>
              </a:p>
              <a:p>
                <a:pPr lvl="2"/>
                <a:r>
                  <a:rPr lang="en-US" dirty="0"/>
                  <a:t>In one experiment, the random variable can take only one value</a:t>
                </a:r>
              </a:p>
              <a:p>
                <a:pPr lvl="2"/>
                <a:r>
                  <a:rPr lang="en-US" dirty="0"/>
                  <a:t>Hence, these events cannot occur together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∩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j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j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exhaustive</a:t>
                </a:r>
                <a:r>
                  <a:rPr lang="en-IN" dirty="0"/>
                  <a:t> because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…∪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D6DDD1C-63F1-13D1-EAFF-5261761EB84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05318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Density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</a:t>
                </a:r>
                <a:r>
                  <a:rPr lang="en-US" b="1" dirty="0">
                    <a:solidFill>
                      <a:srgbClr val="FF0000"/>
                    </a:solidFill>
                  </a:rPr>
                  <a:t>continuous</a:t>
                </a:r>
                <a:r>
                  <a:rPr lang="en-US" dirty="0"/>
                  <a:t> random variable, then its probability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f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 is called continuous probability function, if it satisfies </a:t>
                </a:r>
                <a:r>
                  <a:rPr lang="en-IN" dirty="0"/>
                  <a:t>following</a:t>
                </a:r>
                <a:r>
                  <a:rPr lang="en-US" dirty="0"/>
                  <a:t> conditions: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solidFill>
                            <a:srgbClr val="B84742"/>
                          </a:solidFill>
                          <a:effectLst/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</m:t>
                      </m:r>
                      <m:nary>
                        <m:naryPr>
                          <m:limLoc m:val="undOvr"/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−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b>
                        <m:sup>
                          <m:r>
                            <a:rPr lang="en-IN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𝟏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86139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CF9780-4439-42A3-1DD3-31F94A5E34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Continuous Random Variable : </a:t>
            </a:r>
            <a:r>
              <a:rPr lang="en-US" dirty="0"/>
              <a:t>Heights of Students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A54DFCE-0983-4505-1815-3AB00E43043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US" dirty="0"/>
                  <a:t>Dense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More objects packed into the same amount of space</a:t>
                </a:r>
                <a:r>
                  <a:rPr lang="en-US" i="1" dirty="0">
                    <a:latin typeface="Cambria Math" panose="02040503050406030204" pitchFamily="18" charset="0"/>
                  </a:rPr>
                  <a:t>.</a:t>
                </a:r>
                <a:endParaRPr lang="en-IN" i="1" dirty="0">
                  <a:latin typeface="Cambria Math" panose="02040503050406030204" pitchFamily="18" charset="0"/>
                </a:endParaRPr>
              </a:p>
              <a:p>
                <a:pPr lvl="1"/>
                <a:r>
                  <a:rPr lang="en-US" dirty="0"/>
                  <a:t>Dense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how observations are distributed (or concentrated) near a value.</a:t>
                </a:r>
              </a:p>
              <a:p>
                <a:r>
                  <a:rPr lang="en-US" dirty="0"/>
                  <a:t>For a continuous random variable,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represents the Probability Density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It tells us how densely the observations are concentrated around a particular value of the random variable.</a:t>
                </a:r>
              </a:p>
              <a:p>
                <a:pPr lvl="2"/>
                <a:r>
                  <a:rPr lang="en-US" dirty="0"/>
                  <a:t>Higher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→ More observations are packed near that value.</a:t>
                </a:r>
              </a:p>
              <a:p>
                <a:pPr lvl="2"/>
                <a:r>
                  <a:rPr lang="en-US" dirty="0"/>
                  <a:t>Lower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→ Fewer observations are packed near that value.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dirty="0"/>
                  <a:t> → No observations are present near that value.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A54DFCE-0983-4505-1815-3AB00E43043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t="-212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70082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1CC3A545-9A67-C043-BAB1-9640514A86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2500" y="0"/>
            <a:ext cx="10287000" cy="68580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614427463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FF5812-E8FD-2E76-7F0F-63270C3254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3CEA73-EE22-3D94-F4EF-8CD4B69185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Continuous Random Variable : </a:t>
            </a:r>
            <a:r>
              <a:rPr lang="en-US" dirty="0"/>
              <a:t>Heights of Students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E52AFD7-B2AC-FA09-F7AC-6B83B9AD3D4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r>
                  <a:rPr lang="en-US" b="1" dirty="0"/>
                  <a:t>Interpretation of the Curve</a:t>
                </a:r>
              </a:p>
              <a:p>
                <a:pPr lvl="1"/>
                <a:r>
                  <a:rPr lang="en-US" dirty="0"/>
                  <a:t>The height of the PDF at any point indicates how densely observations are distributed around that value.</a:t>
                </a:r>
              </a:p>
              <a:p>
                <a:r>
                  <a:rPr lang="en-US" b="1" dirty="0"/>
                  <a:t>Remember: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is not the probability.</a:t>
                </a:r>
              </a:p>
              <a:p>
                <a:pPr lvl="1"/>
                <a:r>
                  <a:rPr lang="en-US" dirty="0"/>
                  <a:t>Probability is obtained from the area under the PDF over an interval.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E52AFD7-B2AC-FA09-F7AC-6B83B9AD3D4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13925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Density Function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343ADD2-B090-47CD-9651-FDC90AC10B9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IN" dirty="0"/>
              <a:t>Note:</a:t>
            </a:r>
          </a:p>
          <a:p>
            <a:pPr marL="271463" lvl="1" indent="0">
              <a:buNone/>
            </a:pPr>
            <a:endParaRPr lang="en-GB" dirty="0"/>
          </a:p>
          <a:p>
            <a:pPr marL="271463" lvl="1" indent="0">
              <a:buNone/>
            </a:pPr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/>
              <p:nvPr/>
            </p:nvSpPr>
            <p:spPr>
              <a:xfrm>
                <a:off x="2801258" y="1366714"/>
                <a:ext cx="1897380" cy="13971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−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b>
                        <m:sup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1258" y="1366714"/>
                <a:ext cx="1897380" cy="139711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/>
              <p:nvPr/>
            </p:nvSpPr>
            <p:spPr>
              <a:xfrm>
                <a:off x="3439886" y="4965962"/>
                <a:ext cx="1897380" cy="14076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8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886" y="4965962"/>
                <a:ext cx="1897380" cy="14076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/>
              <p:nvPr/>
            </p:nvSpPr>
            <p:spPr>
              <a:xfrm>
                <a:off x="2801258" y="3189069"/>
                <a:ext cx="189738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𝐚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1258" y="3189069"/>
                <a:ext cx="1897380" cy="13516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E133E62-97B6-4B6C-9393-ED81DEFB794C}"/>
                  </a:ext>
                </a:extLst>
              </p:cNvPr>
              <p:cNvSpPr txBox="1"/>
              <p:nvPr/>
            </p:nvSpPr>
            <p:spPr>
              <a:xfrm>
                <a:off x="404133" y="1804270"/>
                <a:ext cx="239712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E133E62-97B6-4B6C-9393-ED81DEFB79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1804270"/>
                <a:ext cx="2397125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7119D44-EA5E-4003-9871-042AA994F566}"/>
                  </a:ext>
                </a:extLst>
              </p:cNvPr>
              <p:cNvSpPr txBox="1"/>
              <p:nvPr/>
            </p:nvSpPr>
            <p:spPr>
              <a:xfrm>
                <a:off x="404133" y="3603895"/>
                <a:ext cx="270192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US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GB" i="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7119D44-EA5E-4003-9871-042AA994F5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3603895"/>
                <a:ext cx="2701925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EA662A1-F7C4-4498-B460-48F3870B70F4}"/>
                  </a:ext>
                </a:extLst>
              </p:cNvPr>
              <p:cNvSpPr txBox="1"/>
              <p:nvPr/>
            </p:nvSpPr>
            <p:spPr>
              <a:xfrm>
                <a:off x="404133" y="5403520"/>
                <a:ext cx="3035753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EA662A1-F7C4-4498-B460-48F3870B7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5403520"/>
                <a:ext cx="3035753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88209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5AFD3D-2BF6-8684-A331-238B4FBCC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8D52FEC-B76F-FE4B-1A5C-0BBC734897A4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Remark (For Continuous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8D52FEC-B76F-FE4B-1A5C-0BBC734897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9402" b="-18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CF1FC1E-4DE6-4FBE-9A36-BC24ED9789BB}"/>
                  </a:ext>
                </a:extLst>
              </p:cNvPr>
              <p:cNvSpPr txBox="1"/>
              <p:nvPr/>
            </p:nvSpPr>
            <p:spPr>
              <a:xfrm>
                <a:off x="10423768" y="736408"/>
                <a:ext cx="1897380" cy="14076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8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CF1FC1E-4DE6-4FBE-9A36-BC24ED978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3768" y="736408"/>
                <a:ext cx="1897380" cy="14076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FF91516-CFDD-4A8D-99A0-8D1BA0070EA2}"/>
                  </a:ext>
                </a:extLst>
              </p:cNvPr>
              <p:cNvSpPr txBox="1"/>
              <p:nvPr/>
            </p:nvSpPr>
            <p:spPr>
              <a:xfrm>
                <a:off x="58367" y="1199113"/>
                <a:ext cx="11065357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4763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b="1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FF91516-CFDD-4A8D-99A0-8D1BA0070E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7" y="1199113"/>
                <a:ext cx="11065357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80290FF-706D-EC8F-B0B8-80D5E50A3960}"/>
                  </a:ext>
                </a:extLst>
              </p:cNvPr>
              <p:cNvSpPr txBox="1"/>
              <p:nvPr/>
            </p:nvSpPr>
            <p:spPr>
              <a:xfrm>
                <a:off x="-148420" y="2232588"/>
                <a:ext cx="4544401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639763" lvl="2">
                  <a:lnSpc>
                    <a:spcPct val="100000"/>
                  </a:lnSpc>
                  <a:spcBef>
                    <a:spcPts val="0"/>
                  </a:spcBef>
                </a:pPr>
                <a:r>
                  <a:rPr lang="en-US" sz="2400" dirty="0"/>
                  <a:t>To prove: </a:t>
                </a:r>
                <a14:m>
                  <m:oMath xmlns:m="http://schemas.openxmlformats.org/officeDocument/2006/math">
                    <m:r>
                      <a:rPr lang="en-US" sz="2400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sz="24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sz="2400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sz="2400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sz="2400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</m:oMath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80290FF-706D-EC8F-B0B8-80D5E50A3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8420" y="2232588"/>
                <a:ext cx="4544401" cy="522000"/>
              </a:xfrm>
              <a:prstGeom prst="rect">
                <a:avLst/>
              </a:prstGeom>
              <a:blipFill>
                <a:blip r:embed="rId5"/>
                <a:stretch>
                  <a:fillRect t="-8140" b="-1511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324A82-FED3-B425-8CD9-7B29C7F1FA73}"/>
                  </a:ext>
                </a:extLst>
              </p:cNvPr>
              <p:cNvSpPr txBox="1"/>
              <p:nvPr/>
            </p:nvSpPr>
            <p:spPr>
              <a:xfrm>
                <a:off x="695381" y="3266063"/>
                <a:ext cx="5803419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4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324A82-FED3-B425-8CD9-7B29C7F1FA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381" y="3266063"/>
                <a:ext cx="5803419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8146786-F612-655A-A057-8BE856BF4FC2}"/>
                  </a:ext>
                </a:extLst>
              </p:cNvPr>
              <p:cNvSpPr txBox="1"/>
              <p:nvPr/>
            </p:nvSpPr>
            <p:spPr>
              <a:xfrm>
                <a:off x="58366" y="3973079"/>
                <a:ext cx="6831087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4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8146786-F612-655A-A057-8BE856BF4F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3973079"/>
                <a:ext cx="6831087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5404D45-7969-4777-719F-D9B64F889424}"/>
                  </a:ext>
                </a:extLst>
              </p:cNvPr>
              <p:cNvSpPr txBox="1"/>
              <p:nvPr/>
            </p:nvSpPr>
            <p:spPr>
              <a:xfrm>
                <a:off x="58366" y="4680095"/>
                <a:ext cx="674594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5404D45-7969-4777-719F-D9B64F8894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4680095"/>
                <a:ext cx="6745945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8739BD4-398C-5DF2-0041-2C97975BF2F8}"/>
                  </a:ext>
                </a:extLst>
              </p:cNvPr>
              <p:cNvSpPr txBox="1"/>
              <p:nvPr/>
            </p:nvSpPr>
            <p:spPr>
              <a:xfrm>
                <a:off x="58366" y="5202095"/>
                <a:ext cx="5642043" cy="1325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400" i="1"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400" i="1"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400" i="0"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8739BD4-398C-5DF2-0041-2C97975BF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5202095"/>
                <a:ext cx="5642043" cy="132516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6BCD95-970F-F0B5-3C51-5B94BC0115EC}"/>
                  </a:ext>
                </a:extLst>
              </p:cNvPr>
              <p:cNvSpPr txBox="1"/>
              <p:nvPr/>
            </p:nvSpPr>
            <p:spPr>
              <a:xfrm>
                <a:off x="6021423" y="3973079"/>
                <a:ext cx="6692629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𝐑𝐞𝐬𝐮𝐥𝐭</m:t>
                          </m:r>
                          <m:r>
                            <a:rPr lang="en-IN" sz="24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;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if</m:t>
                          </m: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⊂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400" i="0" dirty="0">
                  <a:solidFill>
                    <a:schemeClr val="accent6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6BCD95-970F-F0B5-3C51-5B94BC011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1423" y="3973079"/>
                <a:ext cx="6692629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DCC3B2D-6918-5C19-D14E-4D9D850187D5}"/>
                  </a:ext>
                </a:extLst>
              </p:cNvPr>
              <p:cNvSpPr txBox="1"/>
              <p:nvPr/>
            </p:nvSpPr>
            <p:spPr>
              <a:xfrm>
                <a:off x="3490208" y="1860750"/>
                <a:ext cx="1750859" cy="12197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4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4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DCC3B2D-6918-5C19-D14E-4D9D850187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0208" y="1860750"/>
                <a:ext cx="1750859" cy="121975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23196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/>
      <p:bldP spid="13" grpId="0"/>
      <p:bldP spid="14" grpId="0"/>
      <p:bldP spid="15" grpId="0"/>
      <p:bldP spid="16" grpId="0"/>
      <p:bldP spid="17" grpId="0"/>
      <p:bldP spid="18" grpId="0"/>
      <p:bldP spid="21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2173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1200"/>
              </a:spcBef>
            </a:pPr>
            <a:r>
              <a:rPr lang="en-US" i="0" dirty="0">
                <a:latin typeface="+mj-lt"/>
              </a:rPr>
              <a:t>Verify that the following function is P.D.F or not?</a:t>
            </a: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19296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603639" y="3192968"/>
                <a:ext cx="10186283" cy="5848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density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39" y="3192968"/>
                <a:ext cx="10186283" cy="584840"/>
              </a:xfrm>
              <a:prstGeom prst="rect">
                <a:avLst/>
              </a:prstGeom>
              <a:blipFill>
                <a:blip r:embed="rId2"/>
                <a:stretch>
                  <a:fillRect b="-2916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/>
              <p:nvPr/>
            </p:nvSpPr>
            <p:spPr>
              <a:xfrm>
                <a:off x="1603639" y="4100176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). 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39" y="4100176"/>
                <a:ext cx="4171261" cy="523220"/>
              </a:xfrm>
              <a:prstGeom prst="rect">
                <a:avLst/>
              </a:prstGeom>
              <a:blipFill>
                <a:blip r:embed="rId3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1594216" y="5007383"/>
                <a:ext cx="3372976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. 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007383"/>
                <a:ext cx="3372976" cy="13516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131176" y="1311730"/>
                <a:ext cx="5317124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311730"/>
                <a:ext cx="5317124" cy="168783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04924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4" grpId="0"/>
      <p:bldP spid="15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9C5BC32-E5F2-45F4-A57D-84F331F65F1F}"/>
              </a:ext>
            </a:extLst>
          </p:cNvPr>
          <p:cNvSpPr txBox="1"/>
          <p:nvPr/>
        </p:nvSpPr>
        <p:spPr>
          <a:xfrm>
            <a:off x="85243" y="917382"/>
            <a:ext cx="17071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u="sng" dirty="0">
                <a:solidFill>
                  <a:schemeClr val="accent6">
                    <a:lumMod val="75000"/>
                  </a:schemeClr>
                </a:solidFill>
              </a:rPr>
              <a:t>To Show: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/>
              <p:nvPr/>
            </p:nvSpPr>
            <p:spPr>
              <a:xfrm>
                <a:off x="1522254" y="711201"/>
                <a:ext cx="34397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2254" y="711201"/>
                <a:ext cx="3439714" cy="90178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764171C-028E-4FE3-A489-33E113BE4325}"/>
                  </a:ext>
                </a:extLst>
              </p:cNvPr>
              <p:cNvSpPr txBox="1"/>
              <p:nvPr/>
            </p:nvSpPr>
            <p:spPr>
              <a:xfrm>
                <a:off x="2324740" y="1845332"/>
                <a:ext cx="1785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764171C-028E-4FE3-A489-33E113BE43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4740" y="1845332"/>
                <a:ext cx="178518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758B8D-508D-4B23-B67F-D928D93D6CD0}"/>
                  </a:ext>
                </a:extLst>
              </p:cNvPr>
              <p:cNvSpPr txBox="1"/>
              <p:nvPr/>
            </p:nvSpPr>
            <p:spPr>
              <a:xfrm>
                <a:off x="2324740" y="2526584"/>
                <a:ext cx="28937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758B8D-508D-4B23-B67F-D928D93D6C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4740" y="2526584"/>
                <a:ext cx="289376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181D5F66-A934-475D-8E92-5391AEE92446}"/>
              </a:ext>
            </a:extLst>
          </p:cNvPr>
          <p:cNvSpPr txBox="1"/>
          <p:nvPr/>
        </p:nvSpPr>
        <p:spPr>
          <a:xfrm>
            <a:off x="1522254" y="1819167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Now,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4DA2FEB-E98F-4288-B163-326C4A2DDE77}"/>
                  </a:ext>
                </a:extLst>
              </p:cNvPr>
              <p:cNvSpPr txBox="1"/>
              <p:nvPr/>
            </p:nvSpPr>
            <p:spPr>
              <a:xfrm>
                <a:off x="2375837" y="4370588"/>
                <a:ext cx="304163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4DA2FEB-E98F-4288-B163-326C4A2DDE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837" y="4370588"/>
                <a:ext cx="3041633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E634F49-6FD4-4C17-93A4-F959783F949F}"/>
                  </a:ext>
                </a:extLst>
              </p:cNvPr>
              <p:cNvSpPr txBox="1"/>
              <p:nvPr/>
            </p:nvSpPr>
            <p:spPr>
              <a:xfrm>
                <a:off x="1522254" y="5480462"/>
                <a:ext cx="48023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i="0" dirty="0">
                          <a:solidFill>
                            <a:srgbClr val="002060"/>
                          </a:solidFill>
                        </a:rPr>
                        <m:t>for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E634F49-6FD4-4C17-93A4-F959783F94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2254" y="5480462"/>
                <a:ext cx="4802397" cy="9017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5B3E5D2E-9E92-49C6-910A-DDAF5B461BB7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8C3BB0E-BDA4-6C3B-24F6-3D23BC88BD96}"/>
                  </a:ext>
                </a:extLst>
              </p:cNvPr>
              <p:cNvSpPr txBox="1"/>
              <p:nvPr/>
            </p:nvSpPr>
            <p:spPr>
              <a:xfrm>
                <a:off x="2324740" y="3260714"/>
                <a:ext cx="289376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8C3BB0E-BDA4-6C3B-24F6-3D23BC88BD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4740" y="3260714"/>
                <a:ext cx="289376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3806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5" grpId="0"/>
      <p:bldP spid="26" grpId="0"/>
      <p:bldP spid="27" grpId="0"/>
      <p:bldP spid="16" grpId="0"/>
      <p:bldP spid="3" grpId="0" animBg="1"/>
      <p:bldP spid="5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6A196-74EC-E5E2-589A-051C3E54B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1F4EF4-7133-E2F7-5B2D-18A9186C46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BAB6A8-37EB-1CB0-52D1-854B39EEEA63}"/>
                  </a:ext>
                </a:extLst>
              </p:cNvPr>
              <p:cNvSpPr txBox="1"/>
              <p:nvPr/>
            </p:nvSpPr>
            <p:spPr>
              <a:xfrm>
                <a:off x="905507" y="1857196"/>
                <a:ext cx="1785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BAB6A8-37EB-1CB0-52D1-854B39EEEA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5507" y="1857196"/>
                <a:ext cx="178518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BE1F700-A970-E78D-0BA7-7346D5362B07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BE1F700-A970-E78D-0BA7-7346D5362B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080F0F7-D79D-DC39-9107-842EF146FCF2}"/>
                  </a:ext>
                </a:extLst>
              </p:cNvPr>
              <p:cNvSpPr txBox="1"/>
              <p:nvPr/>
            </p:nvSpPr>
            <p:spPr>
              <a:xfrm>
                <a:off x="899184" y="2602395"/>
                <a:ext cx="28937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≥−3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080F0F7-D79D-DC39-9107-842EF146FC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184" y="2602395"/>
                <a:ext cx="289376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CCEA768D-B345-087A-A364-693AA6E00946}"/>
              </a:ext>
            </a:extLst>
          </p:cNvPr>
          <p:cNvSpPr txBox="1"/>
          <p:nvPr/>
        </p:nvSpPr>
        <p:spPr>
          <a:xfrm>
            <a:off x="103021" y="1831031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Now, 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17ECEB60-7BE5-C5A6-8DC3-3556AFF08451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EA8897F-7931-2B28-66A8-1798E930CEAC}"/>
              </a:ext>
            </a:extLst>
          </p:cNvPr>
          <p:cNvCxnSpPr>
            <a:cxnSpLocks/>
          </p:cNvCxnSpPr>
          <p:nvPr/>
        </p:nvCxnSpPr>
        <p:spPr>
          <a:xfrm>
            <a:off x="5173962" y="2693263"/>
            <a:ext cx="0" cy="365965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EC873311-7D9B-51DF-DFA0-32541A89FC55}"/>
              </a:ext>
            </a:extLst>
          </p:cNvPr>
          <p:cNvSpPr txBox="1"/>
          <p:nvPr/>
        </p:nvSpPr>
        <p:spPr>
          <a:xfrm>
            <a:off x="85243" y="917382"/>
            <a:ext cx="17071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u="sng" dirty="0">
                <a:solidFill>
                  <a:schemeClr val="accent6">
                    <a:lumMod val="75000"/>
                  </a:schemeClr>
                </a:solidFill>
              </a:rPr>
              <a:t>To Show: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6249F0-3373-A890-9480-8B61FD5D94D2}"/>
                  </a:ext>
                </a:extLst>
              </p:cNvPr>
              <p:cNvSpPr txBox="1"/>
              <p:nvPr/>
            </p:nvSpPr>
            <p:spPr>
              <a:xfrm>
                <a:off x="1547031" y="800201"/>
                <a:ext cx="4124195" cy="8246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2−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6249F0-3373-A890-9480-8B61FD5D94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7031" y="800201"/>
                <a:ext cx="4124195" cy="82464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32F77B1-4A33-2765-5ADC-54D5323EB67F}"/>
                  </a:ext>
                </a:extLst>
              </p:cNvPr>
              <p:cNvSpPr txBox="1"/>
              <p:nvPr/>
            </p:nvSpPr>
            <p:spPr>
              <a:xfrm>
                <a:off x="631598" y="3347594"/>
                <a:ext cx="28937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−3≤−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32F77B1-4A33-2765-5ADC-54D5323EB6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598" y="3347594"/>
                <a:ext cx="289376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A5DE5D6-4386-D29D-4DD2-E5E35A607CB2}"/>
                  </a:ext>
                </a:extLst>
              </p:cNvPr>
              <p:cNvSpPr txBox="1"/>
              <p:nvPr/>
            </p:nvSpPr>
            <p:spPr>
              <a:xfrm>
                <a:off x="631598" y="4092793"/>
                <a:ext cx="289376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A5DE5D6-4386-D29D-4DD2-E5E35A607C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598" y="4092793"/>
                <a:ext cx="289376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3108728-0DA9-2B69-BB4C-EC6B3C5CFFE4}"/>
                  </a:ext>
                </a:extLst>
              </p:cNvPr>
              <p:cNvSpPr txBox="1"/>
              <p:nvPr/>
            </p:nvSpPr>
            <p:spPr>
              <a:xfrm>
                <a:off x="311675" y="5213736"/>
                <a:ext cx="432410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≤2−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≤2+0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3108728-0DA9-2B69-BB4C-EC6B3C5CFF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675" y="5213736"/>
                <a:ext cx="4324103" cy="89915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9D27A-EEF1-07C4-BF4E-63DE0D02590C}"/>
                  </a:ext>
                </a:extLst>
              </p:cNvPr>
              <p:cNvSpPr txBox="1"/>
              <p:nvPr/>
            </p:nvSpPr>
            <p:spPr>
              <a:xfrm>
                <a:off x="5521832" y="2516707"/>
                <a:ext cx="432410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≤2−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≤2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9D27A-EEF1-07C4-BF4E-63DE0D025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1832" y="2516707"/>
                <a:ext cx="4324103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F4E210B-CD14-FFBE-5923-B72CEDCC26E5}"/>
                  </a:ext>
                </a:extLst>
              </p:cNvPr>
              <p:cNvSpPr txBox="1"/>
              <p:nvPr/>
            </p:nvSpPr>
            <p:spPr>
              <a:xfrm>
                <a:off x="5282684" y="3659803"/>
                <a:ext cx="4802397" cy="8246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2−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i="0" dirty="0">
                          <a:solidFill>
                            <a:srgbClr val="002060"/>
                          </a:solidFill>
                        </a:rPr>
                        <m:t>for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F4E210B-CD14-FFBE-5923-B72CEDCC26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2684" y="3659803"/>
                <a:ext cx="4802397" cy="82464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9340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D874A6-E514-312F-2ACD-AA7E371C9C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AFA57C-CEF3-CB8A-E38A-0717720B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04431BF-3848-07B4-E54A-29AB925DA915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04431BF-3848-07B4-E54A-29AB925DA9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61A1B03-C4C4-F7D1-A94E-91BA0577D988}"/>
              </a:ext>
            </a:extLst>
          </p:cNvPr>
          <p:cNvSpPr txBox="1"/>
          <p:nvPr/>
        </p:nvSpPr>
        <p:spPr>
          <a:xfrm>
            <a:off x="88206" y="3303381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Also,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B190694-3A99-A45A-C997-9876B0E48FBD}"/>
                  </a:ext>
                </a:extLst>
              </p:cNvPr>
              <p:cNvSpPr txBox="1"/>
              <p:nvPr/>
            </p:nvSpPr>
            <p:spPr>
              <a:xfrm>
                <a:off x="890691" y="3303381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elsewhere </a:t>
                </a:r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B190694-3A99-A45A-C997-9876B0E48F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691" y="3303381"/>
                <a:ext cx="3423893" cy="523220"/>
              </a:xfrm>
              <a:prstGeom prst="rect">
                <a:avLst/>
              </a:prstGeom>
              <a:blipFill>
                <a:blip r:embed="rId3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FCBC5F91-C49C-94FF-99CA-82ED8DD9E0DF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008DD26-5070-FDB8-BA2B-C935CF4FFA00}"/>
              </a:ext>
            </a:extLst>
          </p:cNvPr>
          <p:cNvSpPr txBox="1"/>
          <p:nvPr/>
        </p:nvSpPr>
        <p:spPr>
          <a:xfrm>
            <a:off x="136521" y="790570"/>
            <a:ext cx="8848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So,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D935485-C922-1387-0ED1-FF0AE59BD5AC}"/>
                  </a:ext>
                </a:extLst>
              </p:cNvPr>
              <p:cNvSpPr txBox="1"/>
              <p:nvPr/>
            </p:nvSpPr>
            <p:spPr>
              <a:xfrm>
                <a:off x="88206" y="2288953"/>
                <a:ext cx="490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D935485-C922-1387-0ED1-FF0AE59BD5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206" y="2288953"/>
                <a:ext cx="49075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2D5F792-2B5F-C72D-A7BF-02AF025C4643}"/>
                  </a:ext>
                </a:extLst>
              </p:cNvPr>
              <p:cNvSpPr txBox="1"/>
              <p:nvPr/>
            </p:nvSpPr>
            <p:spPr>
              <a:xfrm>
                <a:off x="578962" y="2070487"/>
                <a:ext cx="48023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 </m:t>
                          </m:r>
                        </m:den>
                      </m:f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2−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num>
                            <m:den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2D5F792-2B5F-C72D-A7BF-02AF025C46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962" y="2070487"/>
                <a:ext cx="4802397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DD244428-A419-D02F-563E-5B2CF9304F01}"/>
              </a:ext>
            </a:extLst>
          </p:cNvPr>
          <p:cNvSpPr txBox="1"/>
          <p:nvPr/>
        </p:nvSpPr>
        <p:spPr>
          <a:xfrm>
            <a:off x="88206" y="4026804"/>
            <a:ext cx="132533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Hence, </a:t>
            </a:r>
            <a:endParaRPr lang="en-GB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A69650A-5B39-39F7-4E0C-AC4025A843D4}"/>
                  </a:ext>
                </a:extLst>
              </p:cNvPr>
              <p:cNvSpPr txBox="1"/>
              <p:nvPr/>
            </p:nvSpPr>
            <p:spPr>
              <a:xfrm>
                <a:off x="1021405" y="4688092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A69650A-5B39-39F7-4E0C-AC4025A843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05" y="4688092"/>
                <a:ext cx="3423893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3CFC74C-D842-D5C4-6B81-D861FC64EF7F}"/>
                  </a:ext>
                </a:extLst>
              </p:cNvPr>
              <p:cNvSpPr txBox="1"/>
              <p:nvPr/>
            </p:nvSpPr>
            <p:spPr>
              <a:xfrm>
                <a:off x="578962" y="1313790"/>
                <a:ext cx="28938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First factor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3CFC74C-D842-D5C4-6B81-D861FC64EF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962" y="1313790"/>
                <a:ext cx="2893811" cy="523220"/>
              </a:xfrm>
              <a:prstGeom prst="rect">
                <a:avLst/>
              </a:prstGeom>
              <a:blipFill>
                <a:blip r:embed="rId7"/>
                <a:stretch>
                  <a:fillRect l="-4421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A43418C-0346-665A-03DB-6822BF79C240}"/>
                  </a:ext>
                </a:extLst>
              </p:cNvPr>
              <p:cNvSpPr txBox="1"/>
              <p:nvPr/>
            </p:nvSpPr>
            <p:spPr>
              <a:xfrm>
                <a:off x="3303808" y="1313790"/>
                <a:ext cx="28938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Second factor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A43418C-0346-665A-03DB-6822BF79C2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3808" y="1313790"/>
                <a:ext cx="2893811" cy="523220"/>
              </a:xfrm>
              <a:prstGeom prst="rect">
                <a:avLst/>
              </a:prstGeom>
              <a:blipFill>
                <a:blip r:embed="rId8"/>
                <a:stretch>
                  <a:fillRect l="-4421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50654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22" grpId="0"/>
      <p:bldP spid="3" grpId="0" animBg="1"/>
      <p:bldP spid="23" grpId="0"/>
      <p:bldP spid="29" grpId="0"/>
      <p:bldP spid="30" grpId="0"/>
      <p:bldP spid="32" grpId="0"/>
      <p:bldP spid="33" grpId="0"/>
      <p:bldP spid="8" grpId="0"/>
      <p:bldP spid="9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D74BBE4-30E4-4B5B-A3A4-55710A2DD300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D74BBE4-30E4-4B5B-A3A4-55710A2DD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41F1136-D9F1-4A01-B213-AEF519EA2710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/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2171C46-6B5E-4C57-A8AD-F879B1DAA8B5}"/>
                  </a:ext>
                </a:extLst>
              </p:cNvPr>
              <p:cNvSpPr txBox="1"/>
              <p:nvPr/>
            </p:nvSpPr>
            <p:spPr>
              <a:xfrm>
                <a:off x="3667041" y="7968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2171C46-6B5E-4C57-A8AD-F879B1DAA8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041" y="796818"/>
                <a:ext cx="1905000" cy="138813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/>
              <p:nvPr/>
            </p:nvSpPr>
            <p:spPr>
              <a:xfrm>
                <a:off x="5515061" y="8349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5061" y="834918"/>
                <a:ext cx="1905000" cy="138813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/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/>
              <p:nvPr/>
            </p:nvSpPr>
            <p:spPr>
              <a:xfrm>
                <a:off x="2329644" y="2405100"/>
                <a:ext cx="3550455" cy="13908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4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644" y="2405100"/>
                <a:ext cx="3550455" cy="139083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EFA83D-B2BC-4D2A-A898-C77B1BADDE20}"/>
                  </a:ext>
                </a:extLst>
              </p:cNvPr>
              <p:cNvSpPr txBox="1"/>
              <p:nvPr/>
            </p:nvSpPr>
            <p:spPr>
              <a:xfrm>
                <a:off x="5572041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EFA83D-B2BC-4D2A-A898-C77B1BADDE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2041" y="2864305"/>
                <a:ext cx="80645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/>
              <p:nvPr/>
            </p:nvSpPr>
            <p:spPr>
              <a:xfrm>
                <a:off x="1628514" y="3807260"/>
                <a:ext cx="3393430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9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807260"/>
                <a:ext cx="3393430" cy="120834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08B8B73-E759-4C15-AA1D-E7C60D0BEC13}"/>
                  </a:ext>
                </a:extLst>
              </p:cNvPr>
              <p:cNvSpPr txBox="1"/>
              <p:nvPr/>
            </p:nvSpPr>
            <p:spPr>
              <a:xfrm>
                <a:off x="1628513" y="5229660"/>
                <a:ext cx="3705487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9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08B8B73-E759-4C15-AA1D-E7C60D0BE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5229660"/>
                <a:ext cx="3705487" cy="12083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22690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 animBg="1"/>
      <p:bldP spid="29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9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6EC1BE7-12CC-4D6B-844F-19E800FB8B06}"/>
                  </a:ext>
                </a:extLst>
              </p:cNvPr>
              <p:cNvSpPr txBox="1"/>
              <p:nvPr/>
            </p:nvSpPr>
            <p:spPr>
              <a:xfrm>
                <a:off x="1628514" y="868472"/>
                <a:ext cx="3191136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6EC1BE7-12CC-4D6B-844F-19E800FB8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868472"/>
                <a:ext cx="3191136" cy="120834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AD907CA-A0FA-46BA-BF14-C1E5335ED2B9}"/>
                  </a:ext>
                </a:extLst>
              </p:cNvPr>
              <p:cNvSpPr txBox="1"/>
              <p:nvPr/>
            </p:nvSpPr>
            <p:spPr>
              <a:xfrm>
                <a:off x="1628513" y="2387479"/>
                <a:ext cx="5204087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IN" sz="2800" b="0" i="0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3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           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AD907CA-A0FA-46BA-BF14-C1E5335ED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2387479"/>
                <a:ext cx="5204087" cy="10691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E2A464F-AD02-45D8-ACE3-C82825749D70}"/>
                  </a:ext>
                </a:extLst>
              </p:cNvPr>
              <p:cNvSpPr txBox="1"/>
              <p:nvPr/>
            </p:nvSpPr>
            <p:spPr>
              <a:xfrm>
                <a:off x="2603499" y="2387478"/>
                <a:ext cx="2755900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E2A464F-AD02-45D8-ACE3-C82825749D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3499" y="2387478"/>
                <a:ext cx="2755900" cy="106913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58F0EEC-F16D-437A-A09E-03AEB5A59629}"/>
                  </a:ext>
                </a:extLst>
              </p:cNvPr>
              <p:cNvSpPr txBox="1"/>
              <p:nvPr/>
            </p:nvSpPr>
            <p:spPr>
              <a:xfrm>
                <a:off x="5283432" y="2671788"/>
                <a:ext cx="4798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58F0EEC-F16D-437A-A09E-03AEB5A59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3432" y="2671788"/>
                <a:ext cx="47981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764BCF-3DF9-41D5-B855-521A9CF9B76C}"/>
                  </a:ext>
                </a:extLst>
              </p:cNvPr>
              <p:cNvSpPr txBox="1"/>
              <p:nvPr/>
            </p:nvSpPr>
            <p:spPr>
              <a:xfrm>
                <a:off x="5687283" y="2671788"/>
                <a:ext cx="75128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764BCF-3DF9-41D5-B855-521A9CF9B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7283" y="2671788"/>
                <a:ext cx="75128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E3D9A84-4A16-472C-A60B-D06DD007A538}"/>
                  </a:ext>
                </a:extLst>
              </p:cNvPr>
              <p:cNvSpPr txBox="1"/>
              <p:nvPr/>
            </p:nvSpPr>
            <p:spPr>
              <a:xfrm>
                <a:off x="1628514" y="3651629"/>
                <a:ext cx="229034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E3D9A84-4A16-472C-A60B-D06DD007A5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651629"/>
                <a:ext cx="2290344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8BBA5B6-6367-4419-8BC5-E138FD577EB6}"/>
                  </a:ext>
                </a:extLst>
              </p:cNvPr>
              <p:cNvSpPr txBox="1"/>
              <p:nvPr/>
            </p:nvSpPr>
            <p:spPr>
              <a:xfrm>
                <a:off x="1628514" y="4848734"/>
                <a:ext cx="141514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8BBA5B6-6367-4419-8BC5-E138FD577E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4848734"/>
                <a:ext cx="1415142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3633FAB-EC57-476B-8299-A6684EA8F0E7}"/>
                  </a:ext>
                </a:extLst>
              </p:cNvPr>
              <p:cNvSpPr txBox="1"/>
              <p:nvPr/>
            </p:nvSpPr>
            <p:spPr>
              <a:xfrm>
                <a:off x="1628513" y="5989528"/>
                <a:ext cx="7609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3633FAB-EC57-476B-8299-A6684EA8F0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5989528"/>
                <a:ext cx="76090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603A32-E0F0-4A41-9BF0-2A87C52C5706}"/>
                  </a:ext>
                </a:extLst>
              </p:cNvPr>
              <p:cNvSpPr txBox="1"/>
              <p:nvPr/>
            </p:nvSpPr>
            <p:spPr>
              <a:xfrm>
                <a:off x="6843488" y="1356927"/>
                <a:ext cx="5348512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603A32-E0F0-4A41-9BF0-2A87C52C57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3488" y="1356927"/>
                <a:ext cx="5348512" cy="168783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2379322D-1B49-496C-85C4-966FDCBC3250}"/>
              </a:ext>
            </a:extLst>
          </p:cNvPr>
          <p:cNvSpPr txBox="1"/>
          <p:nvPr/>
        </p:nvSpPr>
        <p:spPr>
          <a:xfrm>
            <a:off x="6832600" y="868175"/>
            <a:ext cx="103777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</a:pPr>
            <a:r>
              <a:rPr lang="en-IN" sz="2800" dirty="0">
                <a:solidFill>
                  <a:srgbClr val="002060"/>
                </a:solidFill>
              </a:rPr>
              <a:t>Thus,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0F642A9-ADA5-4173-A8A6-1E0A0E445785}"/>
              </a:ext>
            </a:extLst>
          </p:cNvPr>
          <p:cNvSpPr txBox="1"/>
          <p:nvPr/>
        </p:nvSpPr>
        <p:spPr>
          <a:xfrm>
            <a:off x="7223648" y="3139616"/>
            <a:ext cx="15066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</a:pPr>
            <a:r>
              <a:rPr lang="en-IN" sz="2800" dirty="0">
                <a:solidFill>
                  <a:srgbClr val="002060"/>
                </a:solidFill>
              </a:rPr>
              <a:t>is P.D.F.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5834B90D-2D3D-45F6-B247-071A0DD1FFB9}"/>
              </a:ext>
            </a:extLst>
          </p:cNvPr>
          <p:cNvCxnSpPr>
            <a:cxnSpLocks/>
          </p:cNvCxnSpPr>
          <p:nvPr/>
        </p:nvCxnSpPr>
        <p:spPr>
          <a:xfrm>
            <a:off x="6643913" y="868175"/>
            <a:ext cx="0" cy="556690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060332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7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234716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algn="just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447675" algn="l"/>
                  </a:tabLst>
                </a:pPr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Is the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f</m:t>
                    </m:r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x</m:t>
                    </m:r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)</m:t>
                    </m:r>
                  </m:oMath>
                </a14:m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defined as below is a probability function? If so, find the probability that the variate having this density falls in the interval </a:t>
                </a:r>
                <a14:m>
                  <m:oMath xmlns:m="http://schemas.openxmlformats.org/officeDocument/2006/math"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(1, 2)</m:t>
                    </m:r>
                  </m:oMath>
                </a14:m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.</a:t>
                </a:r>
                <a:endParaRPr lang="en-IN" dirty="0">
                  <a:solidFill>
                    <a:schemeClr val="bg1"/>
                  </a:solidFill>
                  <a:effectLst/>
                  <a:latin typeface="+mj-lt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347167"/>
              </a:xfrm>
              <a:prstGeom prst="rect">
                <a:avLst/>
              </a:prstGeom>
              <a:blipFill>
                <a:blip r:embed="rId2"/>
                <a:stretch>
                  <a:fillRect l="-1074" t="-2338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10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3408410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589852" y="3408410"/>
                <a:ext cx="5248024" cy="10857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density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852" y="3408410"/>
                <a:ext cx="5248024" cy="1085746"/>
              </a:xfrm>
              <a:prstGeom prst="rect">
                <a:avLst/>
              </a:prstGeom>
              <a:blipFill>
                <a:blip r:embed="rId3"/>
                <a:stretch>
                  <a:fillRect l="-2439" t="-1124" r="-2439" b="-151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C5BC32-E5F2-45F4-A57D-84F331F65F1F}"/>
                  </a:ext>
                </a:extLst>
              </p:cNvPr>
              <p:cNvSpPr txBox="1"/>
              <p:nvPr/>
            </p:nvSpPr>
            <p:spPr>
              <a:xfrm>
                <a:off x="6984812" y="3408410"/>
                <a:ext cx="17851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C5BC32-E5F2-45F4-A57D-84F331F65F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4812" y="3408410"/>
                <a:ext cx="1785187" cy="523220"/>
              </a:xfrm>
              <a:prstGeom prst="rect">
                <a:avLst/>
              </a:prstGeom>
              <a:blipFill>
                <a:blip r:embed="rId4"/>
                <a:stretch>
                  <a:fillRect l="-716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/>
              <p:nvPr/>
            </p:nvSpPr>
            <p:spPr>
              <a:xfrm>
                <a:off x="8621107" y="3402284"/>
                <a:ext cx="34397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1107" y="3402284"/>
                <a:ext cx="343971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/>
              <p:nvPr/>
            </p:nvSpPr>
            <p:spPr>
              <a:xfrm>
                <a:off x="1577122" y="4617547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7122" y="4617547"/>
                <a:ext cx="4171261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1577122" y="5248561"/>
                <a:ext cx="3372976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. 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7122" y="5248561"/>
                <a:ext cx="3372976" cy="135165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131176" y="1749466"/>
                <a:ext cx="3410310" cy="14679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p>
                                <m:sSupPr>
                                  <m:ctrl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m:rPr>
                                  <m:sty m:val="p"/>
                                </m:r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≥0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0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&lt;0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749466"/>
                <a:ext cx="3410310" cy="146796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48F334E-98BF-4574-B387-BE084CFC6DE1}"/>
              </a:ext>
            </a:extLst>
          </p:cNvPr>
          <p:cNvCxnSpPr>
            <a:cxnSpLocks/>
          </p:cNvCxnSpPr>
          <p:nvPr/>
        </p:nvCxnSpPr>
        <p:spPr>
          <a:xfrm>
            <a:off x="6847300" y="3408410"/>
            <a:ext cx="0" cy="324985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2519278-4105-4AB0-932A-F929D445B829}"/>
                  </a:ext>
                </a:extLst>
              </p:cNvPr>
              <p:cNvSpPr txBox="1"/>
              <p:nvPr/>
            </p:nvSpPr>
            <p:spPr>
              <a:xfrm>
                <a:off x="6984812" y="3953217"/>
                <a:ext cx="17851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2519278-4105-4AB0-932A-F929D445B8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4812" y="3953217"/>
                <a:ext cx="1785187" cy="523220"/>
              </a:xfrm>
              <a:prstGeom prst="rect">
                <a:avLst/>
              </a:prstGeom>
              <a:blipFill>
                <a:blip r:embed="rId9"/>
                <a:stretch>
                  <a:fillRect l="-716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FCADD88-1563-4ED2-8CC8-3D5E2D0F4D27}"/>
                  </a:ext>
                </a:extLst>
              </p:cNvPr>
              <p:cNvSpPr txBox="1"/>
              <p:nvPr/>
            </p:nvSpPr>
            <p:spPr>
              <a:xfrm>
                <a:off x="8621107" y="3947091"/>
                <a:ext cx="34397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FCADD88-1563-4ED2-8CC8-3D5E2D0F4D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1107" y="3947091"/>
                <a:ext cx="343971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7A89A0ED-0DED-4F87-9AD1-7434F2E485B6}"/>
              </a:ext>
            </a:extLst>
          </p:cNvPr>
          <p:cNvSpPr txBox="1"/>
          <p:nvPr/>
        </p:nvSpPr>
        <p:spPr>
          <a:xfrm>
            <a:off x="6984812" y="4484194"/>
            <a:ext cx="132533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Hence, </a:t>
            </a:r>
            <a:endParaRPr lang="en-GB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A8F3772-8739-4453-ABF3-644765340128}"/>
                  </a:ext>
                </a:extLst>
              </p:cNvPr>
              <p:cNvSpPr txBox="1"/>
              <p:nvPr/>
            </p:nvSpPr>
            <p:spPr>
              <a:xfrm>
                <a:off x="7787297" y="5015171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 </a:t>
                </a:r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A8F3772-8739-4453-ABF3-6447653401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7297" y="5015171"/>
                <a:ext cx="3423893" cy="523220"/>
              </a:xfrm>
              <a:prstGeom prst="rect">
                <a:avLst/>
              </a:prstGeom>
              <a:blipFill>
                <a:blip r:embed="rId11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40962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8" grpId="0"/>
      <p:bldP spid="20" grpId="0"/>
      <p:bldP spid="14" grpId="0"/>
      <p:bldP spid="15" grpId="0"/>
      <p:bldP spid="16" grpId="0"/>
      <p:bldP spid="17" grpId="0"/>
      <p:bldP spid="22" grpId="0"/>
      <p:bldP spid="23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10 (Continue)</a:t>
            </a:r>
            <a:endParaRPr lang="en-US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41F1136-D9F1-4A01-B213-AEF519EA2710}"/>
              </a:ext>
            </a:extLst>
          </p:cNvPr>
          <p:cNvSpPr/>
          <p:nvPr/>
        </p:nvSpPr>
        <p:spPr>
          <a:xfrm>
            <a:off x="9246686" y="790397"/>
            <a:ext cx="2921000" cy="1351652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/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/>
              <p:nvPr/>
            </p:nvSpPr>
            <p:spPr>
              <a:xfrm>
                <a:off x="3847922" y="8349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7922" y="834918"/>
                <a:ext cx="1905000" cy="138813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/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/>
              <p:nvPr/>
            </p:nvSpPr>
            <p:spPr>
              <a:xfrm>
                <a:off x="2329644" y="2405100"/>
                <a:ext cx="2030085" cy="13908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sup>
                          </m:sSup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644" y="2405100"/>
                <a:ext cx="2030085" cy="139083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/>
              <p:nvPr/>
            </p:nvSpPr>
            <p:spPr>
              <a:xfrm>
                <a:off x="1628514" y="3846730"/>
                <a:ext cx="2030085" cy="5338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846730"/>
                <a:ext cx="2030085" cy="5338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7F900810-FE7C-4A5B-89DD-F9197507F244}"/>
                  </a:ext>
                </a:extLst>
              </p:cNvPr>
              <p:cNvSpPr txBox="1"/>
              <p:nvPr/>
            </p:nvSpPr>
            <p:spPr>
              <a:xfrm>
                <a:off x="9246687" y="828842"/>
                <a:ext cx="2921000" cy="1271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p>
                                <m:sSup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m:rPr>
                                  <m:sty m:val="p"/>
                                </m:r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≥0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&lt;0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7F900810-FE7C-4A5B-89DD-F9197507F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6687" y="828842"/>
                <a:ext cx="2921000" cy="127143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B32EE7C-2C4F-4233-A157-F6F13D957F42}"/>
                  </a:ext>
                </a:extLst>
              </p:cNvPr>
              <p:cNvSpPr txBox="1"/>
              <p:nvPr/>
            </p:nvSpPr>
            <p:spPr>
              <a:xfrm>
                <a:off x="1628514" y="4553817"/>
                <a:ext cx="22194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0−1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B32EE7C-2C4F-4233-A157-F6F13D957F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4553817"/>
                <a:ext cx="221940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730264A-AE17-4438-9023-851254ECC825}"/>
                  </a:ext>
                </a:extLst>
              </p:cNvPr>
              <p:cNvSpPr txBox="1"/>
              <p:nvPr/>
            </p:nvSpPr>
            <p:spPr>
              <a:xfrm>
                <a:off x="1628514" y="5250260"/>
                <a:ext cx="8987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730264A-AE17-4438-9023-851254ECC8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5250260"/>
                <a:ext cx="89878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0FDE405-3404-4899-9DC3-805502EC7C8A}"/>
                  </a:ext>
                </a:extLst>
              </p:cNvPr>
              <p:cNvSpPr txBox="1"/>
              <p:nvPr/>
            </p:nvSpPr>
            <p:spPr>
              <a:xfrm>
                <a:off x="1628514" y="5946703"/>
                <a:ext cx="387894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Thus,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P.D.F.</a:t>
                </a: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0FDE405-3404-4899-9DC3-805502EC7C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5946703"/>
                <a:ext cx="3878943" cy="523220"/>
              </a:xfrm>
              <a:prstGeom prst="rect">
                <a:avLst/>
              </a:prstGeom>
              <a:blipFill>
                <a:blip r:embed="rId11"/>
                <a:stretch>
                  <a:fillRect l="-3145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623F012-9FCB-43D0-A638-0F4859FCB041}"/>
              </a:ext>
            </a:extLst>
          </p:cNvPr>
          <p:cNvCxnSpPr>
            <a:cxnSpLocks/>
          </p:cNvCxnSpPr>
          <p:nvPr/>
        </p:nvCxnSpPr>
        <p:spPr>
          <a:xfrm>
            <a:off x="5765621" y="868175"/>
            <a:ext cx="0" cy="556690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02EA758-E899-4F3E-AB16-D510C6AC42E0}"/>
                  </a:ext>
                </a:extLst>
              </p:cNvPr>
              <p:cNvSpPr txBox="1"/>
              <p:nvPr/>
            </p:nvSpPr>
            <p:spPr>
              <a:xfrm>
                <a:off x="5938108" y="1187907"/>
                <a:ext cx="25355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(1&lt;</m:t>
                      </m:r>
                      <m:r>
                        <m:rPr>
                          <m:sty m:val="p"/>
                        </m:rP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02EA758-E899-4F3E-AB16-D510C6AC4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8108" y="1187907"/>
                <a:ext cx="253555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55C05C-140D-491A-A86C-360607AF4686}"/>
                  </a:ext>
                </a:extLst>
              </p:cNvPr>
              <p:cNvSpPr txBox="1"/>
              <p:nvPr/>
            </p:nvSpPr>
            <p:spPr>
              <a:xfrm>
                <a:off x="6053764" y="1707936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55C05C-140D-491A-A86C-360607AF46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3764" y="1707936"/>
                <a:ext cx="1905000" cy="138813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AA97B97-40D0-4EB6-99E5-57DF4D94307C}"/>
                  </a:ext>
                </a:extLst>
              </p:cNvPr>
              <p:cNvSpPr txBox="1"/>
              <p:nvPr/>
            </p:nvSpPr>
            <p:spPr>
              <a:xfrm>
                <a:off x="6053764" y="3238607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sup>
                          </m:sSup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AA97B97-40D0-4EB6-99E5-57DF4D9430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3764" y="3238607"/>
                <a:ext cx="1905000" cy="138813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C8E0B2B6-8599-4030-98FA-DFB2B67FB57A}"/>
                  </a:ext>
                </a:extLst>
              </p:cNvPr>
              <p:cNvSpPr txBox="1"/>
              <p:nvPr/>
            </p:nvSpPr>
            <p:spPr>
              <a:xfrm>
                <a:off x="6096001" y="4626744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C8E0B2B6-8599-4030-98FA-DFB2B67FB5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1" y="4626744"/>
                <a:ext cx="1905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1C99247-2A5C-4B67-A58F-F34701CBE92E}"/>
                  </a:ext>
                </a:extLst>
              </p:cNvPr>
              <p:cNvSpPr txBox="1"/>
              <p:nvPr/>
            </p:nvSpPr>
            <p:spPr>
              <a:xfrm>
                <a:off x="6096000" y="5290725"/>
                <a:ext cx="2996381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1C99247-2A5C-4B67-A58F-F34701CBE9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290725"/>
                <a:ext cx="2996381" cy="52822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F10B9-3AB9-4209-A706-F96DA2DDE6EC}"/>
                  </a:ext>
                </a:extLst>
              </p:cNvPr>
              <p:cNvSpPr txBox="1"/>
              <p:nvPr/>
            </p:nvSpPr>
            <p:spPr>
              <a:xfrm>
                <a:off x="6096001" y="5906862"/>
                <a:ext cx="2231570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sup>
                      </m:s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F10B9-3AB9-4209-A706-F96DA2DDE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1" y="5906862"/>
                <a:ext cx="2231570" cy="5282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87271B1-25A0-410F-BBFF-A316B487CB05}"/>
                  </a:ext>
                </a:extLst>
              </p:cNvPr>
              <p:cNvSpPr txBox="1"/>
              <p:nvPr/>
            </p:nvSpPr>
            <p:spPr>
              <a:xfrm>
                <a:off x="8327571" y="5906862"/>
                <a:ext cx="2231570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0.2325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87271B1-25A0-410F-BBFF-A316B487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7571" y="5906862"/>
                <a:ext cx="2231570" cy="52822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34576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9" grpId="0"/>
      <p:bldP spid="31" grpId="0"/>
      <p:bldP spid="33" grpId="0"/>
      <p:bldP spid="34" grpId="0"/>
      <p:bldP spid="35" grpId="0"/>
      <p:bldP spid="37" grpId="0"/>
      <p:bldP spid="14" grpId="0"/>
      <p:bldP spid="15" grpId="0"/>
      <p:bldP spid="17" grpId="0"/>
      <p:bldP spid="20" grpId="0"/>
      <p:bldP spid="23" grpId="0"/>
      <p:bldP spid="24" grpId="0"/>
      <p:bldP spid="25" grpId="0"/>
      <p:bldP spid="26" grpId="0"/>
      <p:bldP spid="27" grpId="0"/>
      <p:bldP spid="28" grpId="0"/>
      <p:bldP spid="30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6</a:t>
            </a:r>
            <a:br>
              <a:rPr lang="en-IN" dirty="0"/>
            </a:br>
            <a:r>
              <a:rPr lang="en-GB" dirty="0"/>
              <a:t>Measures of Random Variables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556819906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21A3C-3445-96B2-0AB2-43DC45AD91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82E6272-A38E-E1AD-B22B-8DD081E4CB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Mathematical Expectation (Expected Value)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EF4C2B7-0B7A-D45B-0B7C-7CC2E1561D8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1"/>
            <a:ext cx="11929641" cy="5884151"/>
          </a:xfrm>
        </p:spPr>
        <p:txBody>
          <a:bodyPr/>
          <a:lstStyle/>
          <a:p>
            <a:pPr>
              <a:lnSpc>
                <a:spcPct val="120000"/>
              </a:lnSpc>
            </a:pPr>
            <a:r>
              <a:rPr lang="en-US" dirty="0"/>
              <a:t>A probability distribution describes the possible values of a random variable and the probability associated with each value.</a:t>
            </a:r>
          </a:p>
          <a:p>
            <a:pPr>
              <a:lnSpc>
                <a:spcPct val="120000"/>
              </a:lnSpc>
            </a:pPr>
            <a:r>
              <a:rPr lang="en-US" dirty="0"/>
              <a:t>However, merely knowing the possible values and their probabilities does not provide a complete understanding of the random variable. We also need numerical measures that summarize its important characteristics.</a:t>
            </a:r>
          </a:p>
          <a:p>
            <a:pPr>
              <a:lnSpc>
                <a:spcPct val="120000"/>
              </a:lnSpc>
            </a:pPr>
            <a:r>
              <a:rPr lang="en-US" dirty="0"/>
              <a:t>These numerical measures are called the </a:t>
            </a:r>
            <a:r>
              <a:rPr lang="en-US" b="1" dirty="0"/>
              <a:t>Measures of a Random Variable</a:t>
            </a:r>
            <a:r>
              <a:rPr lang="en-US" dirty="0"/>
              <a:t>.</a:t>
            </a:r>
          </a:p>
          <a:p>
            <a:pPr>
              <a:lnSpc>
                <a:spcPct val="120000"/>
              </a:lnSpc>
            </a:pPr>
            <a:r>
              <a:rPr lang="en-US" dirty="0"/>
              <a:t>The most commonly used measures are: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Mathematical Expectation (Mean) 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Variance </a:t>
            </a:r>
          </a:p>
          <a:p>
            <a:pPr lvl="1">
              <a:lnSpc>
                <a:spcPct val="120000"/>
              </a:lnSpc>
            </a:pPr>
            <a:r>
              <a:rPr lang="en-US" dirty="0"/>
              <a:t>Standard Deviation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99114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7AA578-8D83-3CE5-1AC5-BBF7301BF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Mathematical Expectation (Expected Value or Mean)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E3F2F88-5536-8490-FDE7-0388ACEBA0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mathematical expectation (or expected value) of a random variable is the weighted average of its possible values, where the weights are their corresponding probabilities.</a:t>
            </a:r>
          </a:p>
          <a:p>
            <a:pPr lvl="1"/>
            <a:r>
              <a:rPr lang="en-US" dirty="0"/>
              <a:t>It represents the </a:t>
            </a:r>
            <a:r>
              <a:rPr lang="en-US" b="1" i="1" dirty="0">
                <a:solidFill>
                  <a:srgbClr val="0070C0"/>
                </a:solidFill>
              </a:rPr>
              <a:t>long-run average outcome when the random experiment is repeated many times</a:t>
            </a:r>
            <a:r>
              <a:rPr lang="en-US" dirty="0"/>
              <a:t>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97708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B20C865-ECFB-4016-A5DE-19952CEB8F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D3D78BC-93A7-4759-9FE1-128EA0AE97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GB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 </a:t>
                </a:r>
                <a:r>
                  <a:rPr lang="en-GB" b="1" dirty="0">
                    <a:solidFill>
                      <a:schemeClr val="accent6">
                        <a:lumMod val="75000"/>
                      </a:schemeClr>
                    </a:solidFill>
                  </a:rPr>
                  <a:t>discrete</a:t>
                </a:r>
                <a:r>
                  <a:rPr lang="en-GB" dirty="0"/>
                  <a:t> random variable taking possible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dirty="0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GB" i="1" dirty="0" err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 with the probability mass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GB" dirty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, then the mathematical expectation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by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it-IT" b="1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it-IT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it-IT" b="1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it-IT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  <m:sup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p>
                        <m:e>
                          <m:sSub>
                            <m:sSubPr>
                              <m:ctrlPr>
                                <a:rPr lang="it-IT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it-IT" b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it-IT" b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it-IT" b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it-IT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it-IT" b="1" i="1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it-IT" b="1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it-IT" b="1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it-IT" b="1" dirty="0"/>
              </a:p>
              <a:p>
                <a:r>
                  <a:rPr lang="en-IN" dirty="0"/>
                  <a:t>Example:</a:t>
                </a:r>
              </a:p>
              <a:p>
                <a:pPr lvl="1"/>
                <a:r>
                  <a:rPr lang="en-US" dirty="0"/>
                  <a:t>A fair six-sided die is rolled once.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denote the number appearing on the upper face.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D3D78BC-93A7-4759-9FE1-128EA0AE97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9941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26335-27A7-006A-9B05-6C88092CE9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5AF7976-C194-DAF6-B467-F73F6EA425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355D1E43-3B7B-2A9A-DC2A-A8BBDA247C9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1088417"/>
              </a:xfrm>
            </p:spPr>
            <p:txBody>
              <a:bodyPr/>
              <a:lstStyle/>
              <a:p>
                <a:r>
                  <a:rPr lang="en-IN" dirty="0"/>
                  <a:t>Example: </a:t>
                </a:r>
                <a:r>
                  <a:rPr lang="en-US" dirty="0"/>
                  <a:t>A fair six-sided die is rolled once.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denote the number appearing on the upper face.</a:t>
                </a:r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355D1E43-3B7B-2A9A-DC2A-A8BBDA247C9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1088417"/>
              </a:xfrm>
              <a:blipFill>
                <a:blip r:embed="rId2"/>
                <a:stretch>
                  <a:fillRect l="-971" r="-1074" b="-185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" name="Table 2">
                <a:extLst>
                  <a:ext uri="{FF2B5EF4-FFF2-40B4-BE49-F238E27FC236}">
                    <a16:creationId xmlns:a16="http://schemas.microsoft.com/office/drawing/2014/main" id="{6ACE57F4-CECF-B9ED-1D3E-3E023230117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90766372"/>
                  </p:ext>
                </p:extLst>
              </p:nvPr>
            </p:nvGraphicFramePr>
            <p:xfrm>
              <a:off x="583139" y="1929186"/>
              <a:ext cx="11025722" cy="1210278"/>
            </p:xfrm>
            <a:graphic>
              <a:graphicData uri="http://schemas.openxmlformats.org/drawingml/2006/table">
                <a:tbl>
                  <a:tblPr firstCol="1" bandRow="1">
                    <a:tableStyleId>{93296810-A885-4BE3-A3E7-6D5BEEA58F35}</a:tableStyleId>
                  </a:tblPr>
                  <a:tblGrid>
                    <a:gridCol w="2065142">
                      <a:extLst>
                        <a:ext uri="{9D8B030D-6E8A-4147-A177-3AD203B41FA5}">
                          <a16:colId xmlns:a16="http://schemas.microsoft.com/office/drawing/2014/main" val="2280401672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689709473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1526058969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685876560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901832851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938581529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834395926"/>
                        </a:ext>
                      </a:extLst>
                    </a:gridCol>
                  </a:tblGrid>
                  <a:tr h="605139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400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IN" sz="2400" b="1" i="0" smtClean="0">
                                        <a:latin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  <m:sub>
                                    <m:r>
                                      <a:rPr lang="en-IN" sz="2400" b="1" i="0" smtClean="0">
                                        <a:latin typeface="Cambria Math" panose="02040503050406030204" pitchFamily="18" charset="0"/>
                                      </a:rPr>
                                      <m:t>𝐢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400" i="0" dirty="0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57204194"/>
                      </a:ext>
                    </a:extLst>
                  </a:tr>
                  <a:tr h="605139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smtClean="0">
                                    <a:latin typeface="Cambria Math" panose="02040503050406030204" pitchFamily="18" charset="0"/>
                                  </a:rPr>
                                  <m:t>𝐏</m:t>
                                </m:r>
                                <m:r>
                                  <a:rPr lang="en-IN" sz="2400" b="1" i="0" smtClean="0"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b="1" i="0" smtClean="0">
                                    <a:latin typeface="Cambria Math" panose="02040503050406030204" pitchFamily="18" charset="0"/>
                                  </a:rPr>
                                  <m:t>𝐗</m:t>
                                </m:r>
                                <m:r>
                                  <a:rPr lang="en-IN" sz="2400" b="1" i="0" smtClean="0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sSub>
                                  <m:sSubPr>
                                    <m:ctrlPr>
                                      <a:rPr lang="en-IN" sz="2400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IN" sz="2400" b="1" i="0" smtClean="0">
                                        <a:latin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  <m:sub>
                                    <m:r>
                                      <a:rPr lang="en-IN" sz="2400" b="1" i="0" smtClean="0">
                                        <a:latin typeface="Cambria Math" panose="02040503050406030204" pitchFamily="18" charset="0"/>
                                      </a:rPr>
                                      <m:t>𝐢</m:t>
                                    </m:r>
                                  </m:sub>
                                </m:sSub>
                                <m:r>
                                  <a:rPr lang="en-IN" sz="2400" b="1" i="0" smtClean="0"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oMath>
                            </m:oMathPara>
                          </a14:m>
                          <a:endParaRPr lang="en-IN" sz="2400" i="0" dirty="0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type m:val="skw"/>
                                    <m:ctrlP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IN" sz="24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6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6760494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" name="Table 2">
                <a:extLst>
                  <a:ext uri="{FF2B5EF4-FFF2-40B4-BE49-F238E27FC236}">
                    <a16:creationId xmlns:a16="http://schemas.microsoft.com/office/drawing/2014/main" id="{6ACE57F4-CECF-B9ED-1D3E-3E023230117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90766372"/>
                  </p:ext>
                </p:extLst>
              </p:nvPr>
            </p:nvGraphicFramePr>
            <p:xfrm>
              <a:off x="583139" y="1929186"/>
              <a:ext cx="11025722" cy="1210278"/>
            </p:xfrm>
            <a:graphic>
              <a:graphicData uri="http://schemas.openxmlformats.org/drawingml/2006/table">
                <a:tbl>
                  <a:tblPr firstCol="1" bandRow="1">
                    <a:tableStyleId>{93296810-A885-4BE3-A3E7-6D5BEEA58F35}</a:tableStyleId>
                  </a:tblPr>
                  <a:tblGrid>
                    <a:gridCol w="2065142">
                      <a:extLst>
                        <a:ext uri="{9D8B030D-6E8A-4147-A177-3AD203B41FA5}">
                          <a16:colId xmlns:a16="http://schemas.microsoft.com/office/drawing/2014/main" val="2280401672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689709473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1526058969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685876560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901832851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3938581529"/>
                        </a:ext>
                      </a:extLst>
                    </a:gridCol>
                    <a:gridCol w="1493430">
                      <a:extLst>
                        <a:ext uri="{9D8B030D-6E8A-4147-A177-3AD203B41FA5}">
                          <a16:colId xmlns:a16="http://schemas.microsoft.com/office/drawing/2014/main" val="834395926"/>
                        </a:ext>
                      </a:extLst>
                    </a:gridCol>
                  </a:tblGrid>
                  <a:tr h="60513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95" t="-1000" r="-434513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8776" t="-1000" r="-501224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8776" t="-1000" r="-401224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37398" t="-1000" r="-299593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39184" t="-1000" r="-200816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39184" t="-1000" r="-100816" b="-10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9184" t="-1000" r="-816" b="-1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957204194"/>
                      </a:ext>
                    </a:extLst>
                  </a:tr>
                  <a:tr h="60513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95" t="-101000" r="-434513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8776" t="-101000" r="-501224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8776" t="-101000" r="-401224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37398" t="-101000" r="-299593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39184" t="-101000" r="-200816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39184" t="-101000" r="-100816" b="-2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9184" t="-101000" r="-816" b="-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56760494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7C7B1462-63BA-5A81-2E93-D46FC6A98EF8}"/>
              </a:ext>
            </a:extLst>
          </p:cNvPr>
          <p:cNvSpPr txBox="1">
            <a:spLocks/>
          </p:cNvSpPr>
          <p:nvPr/>
        </p:nvSpPr>
        <p:spPr>
          <a:xfrm>
            <a:off x="131763" y="3269034"/>
            <a:ext cx="3004225" cy="62721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IN" sz="2400" dirty="0"/>
              <a:t>Using the definition,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2E0697E-1DCC-9B53-42DF-36F8729E9162}"/>
                  </a:ext>
                </a:extLst>
              </p:cNvPr>
              <p:cNvSpPr txBox="1"/>
              <p:nvPr/>
            </p:nvSpPr>
            <p:spPr>
              <a:xfrm>
                <a:off x="368029" y="3809492"/>
                <a:ext cx="3004225" cy="11380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it-IT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it-IT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it-IT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it-IT" sz="2400" b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it-IT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it-IT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it-IT" sz="2400" b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it-IT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4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p>
                        <m:e>
                          <m:sSub>
                            <m:sSubPr>
                              <m:ctrlPr>
                                <a:rPr lang="it-IT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it-IT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it-IT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it-IT" sz="2400" b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it-IT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it-IT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it-IT" sz="24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it-IT" sz="24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it-IT" sz="24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IN" sz="1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2E0697E-1DCC-9B53-42DF-36F8729E91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029" y="3809492"/>
                <a:ext cx="3004225" cy="11380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543F0F7-0526-045C-C907-733AD0FBF479}"/>
                  </a:ext>
                </a:extLst>
              </p:cNvPr>
              <p:cNvSpPr txBox="1"/>
              <p:nvPr/>
            </p:nvSpPr>
            <p:spPr>
              <a:xfrm>
                <a:off x="3050058" y="3945899"/>
                <a:ext cx="8068655" cy="9221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it-IT" sz="2400" b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d>
                        <m:dPr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a:rPr lang="en-IN" sz="2400" b="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543F0F7-0526-045C-C907-733AD0FBF4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0058" y="3945899"/>
                <a:ext cx="8068655" cy="92217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C547441-7704-95C1-F034-941B1DB8ECD7}"/>
                  </a:ext>
                </a:extLst>
              </p:cNvPr>
              <p:cNvSpPr txBox="1"/>
              <p:nvPr/>
            </p:nvSpPr>
            <p:spPr>
              <a:xfrm>
                <a:off x="10506900" y="4176154"/>
                <a:ext cx="122362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C547441-7704-95C1-F034-941B1DB8EC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06900" y="4176154"/>
                <a:ext cx="1223626" cy="46166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18E31596-F0B1-4543-18EA-600F5903B3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762" y="5034315"/>
                <a:ext cx="11928474" cy="111248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b="1" u="sng" dirty="0">
                    <a:solidFill>
                      <a:srgbClr val="0070C0"/>
                    </a:solidFill>
                  </a:rPr>
                  <a:t>Observation</a:t>
                </a:r>
                <a:r>
                  <a:rPr lang="en-US" sz="2400" dirty="0"/>
                  <a:t>: Although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sz="2400" dirty="0"/>
                  <a:t> is not a possible outcome of a single die roll, it represents the long-run average value obtained if the die is rolled a very large number of times.</a:t>
                </a:r>
                <a:endParaRPr lang="en-IN" sz="2400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18E31596-F0B1-4543-18EA-600F5903B3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62" y="5034315"/>
                <a:ext cx="11928474" cy="1112485"/>
              </a:xfrm>
              <a:prstGeom prst="rect">
                <a:avLst/>
              </a:prstGeom>
              <a:blipFill>
                <a:blip r:embed="rId7"/>
                <a:stretch>
                  <a:fillRect l="-716" r="-8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80071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7" grpId="0"/>
      <p:bldP spid="8" grpId="0"/>
      <p:bldP spid="9" grpId="0"/>
      <p:bldP spid="10" grpId="0" build="p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7D7F3E9-1553-F6B4-7B01-502142E3C5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992024"/>
            <a:ext cx="10515600" cy="1500187"/>
          </a:xfrm>
        </p:spPr>
        <p:txBody>
          <a:bodyPr/>
          <a:lstStyle/>
          <a:p>
            <a:pPr algn="ctr"/>
            <a:r>
              <a:rPr lang="en-US" dirty="0"/>
              <a:t>Why Casinos Always Win? 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55FE569-3BE1-2D67-4808-F855682AD8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3519199"/>
            <a:ext cx="10515600" cy="1500187"/>
          </a:xfrm>
        </p:spPr>
        <p:txBody>
          <a:bodyPr>
            <a:normAutofit/>
          </a:bodyPr>
          <a:lstStyle/>
          <a:p>
            <a:pPr algn="ctr"/>
            <a:r>
              <a:rPr lang="en-IN" sz="4000" b="1" i="1" dirty="0">
                <a:solidFill>
                  <a:srgbClr val="0070C0"/>
                </a:solidFill>
              </a:rPr>
              <a:t>The Mathematics Behind Gambling</a:t>
            </a:r>
          </a:p>
        </p:txBody>
      </p:sp>
    </p:spTree>
    <p:extLst>
      <p:ext uri="{BB962C8B-B14F-4D97-AF65-F5344CB8AC3E}">
        <p14:creationId xmlns:p14="http://schemas.microsoft.com/office/powerpoint/2010/main" val="3014401618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9492C2D-EF21-037D-72DF-4ECEDF350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Would you play this game?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FA9EBA1-A63C-C974-C0C0-B18C9DDF92B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Suppose I offer you this game.</a:t>
                </a:r>
              </a:p>
              <a:p>
                <a:pPr lvl="1"/>
                <a:r>
                  <a:rPr lang="en-US" dirty="0"/>
                  <a:t>Rules: </a:t>
                </a:r>
              </a:p>
              <a:p>
                <a:pPr lvl="2"/>
                <a:r>
                  <a:rPr lang="en-US" dirty="0"/>
                  <a:t>Pay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₹100 </m:t>
                    </m:r>
                  </m:oMath>
                </a14:m>
                <a:r>
                  <a:rPr lang="en-US" dirty="0"/>
                  <a:t>to play.</a:t>
                </a:r>
              </a:p>
              <a:p>
                <a:pPr lvl="2"/>
                <a:r>
                  <a:rPr lang="en-US" dirty="0"/>
                  <a:t>Roll one fair die.</a:t>
                </a:r>
              </a:p>
              <a:p>
                <a:pPr lvl="2"/>
                <a:r>
                  <a:rPr lang="en-US" dirty="0"/>
                  <a:t>If you roll a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, you receive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₹500</m:t>
                    </m:r>
                  </m:oMath>
                </a14:m>
                <a:r>
                  <a:rPr lang="en-US" dirty="0"/>
                  <a:t>. </a:t>
                </a:r>
              </a:p>
              <a:p>
                <a:pPr lvl="2"/>
                <a:r>
                  <a:rPr lang="en-US" dirty="0"/>
                  <a:t>Otherwise, you receive nothing.</a:t>
                </a:r>
              </a:p>
              <a:p>
                <a:pPr marL="0" indent="0" algn="ctr">
                  <a:buNone/>
                </a:pPr>
                <a:r>
                  <a:rPr lang="en-IN" sz="3600" b="1" dirty="0">
                    <a:solidFill>
                      <a:srgbClr val="0070C0"/>
                    </a:solidFill>
                  </a:rPr>
                  <a:t>Will you play?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FA9EBA1-A63C-C974-C0C0-B18C9DDF92B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2846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9BCA-3B92-F60A-1C69-A292284444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147AEBC-2883-3372-65F7-49AD45ABC0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Expected Value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91C727C-5F56-FF38-446D-95C722D5AF2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04461289"/>
                  </p:ext>
                </p:extLst>
              </p:nvPr>
            </p:nvGraphicFramePr>
            <p:xfrm>
              <a:off x="3326017" y="884135"/>
              <a:ext cx="4906255" cy="2052257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156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1786255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1560000">
                      <a:extLst>
                        <a:ext uri="{9D8B030D-6E8A-4147-A177-3AD203B41FA5}">
                          <a16:colId xmlns:a16="http://schemas.microsoft.com/office/drawing/2014/main" val="247169362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Outcome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Probability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Net Profit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Roll </a:t>
                          </a: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oMath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en-IN" sz="2400" b="0" i="1" kern="120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kern="120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b="0" i="1" kern="120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6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₹400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Roll </a:t>
                          </a: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1−5</m:t>
                              </m:r>
                            </m:oMath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num>
                                  <m:den>
                                    <m:r>
                                      <a:rPr lang="en-IN" sz="24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6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 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₹</m:t>
                                </m:r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00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91C727C-5F56-FF38-446D-95C722D5AF2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04461289"/>
                  </p:ext>
                </p:extLst>
              </p:nvPr>
            </p:nvGraphicFramePr>
            <p:xfrm>
              <a:off x="3326017" y="884135"/>
              <a:ext cx="4906255" cy="2052257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156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1786255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1560000">
                      <a:extLst>
                        <a:ext uri="{9D8B030D-6E8A-4147-A177-3AD203B41FA5}">
                          <a16:colId xmlns:a16="http://schemas.microsoft.com/office/drawing/2014/main" val="2471693628"/>
                        </a:ext>
                      </a:extLst>
                    </a:gridCol>
                  </a:tblGrid>
                  <a:tr h="48768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Outcome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Probability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600" dirty="0"/>
                            <a:t>Net Profit</a:t>
                          </a:r>
                        </a:p>
                      </a:txBody>
                      <a:tcPr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781" t="-68750" r="-216797" b="-1046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7755" t="-68750" r="-88776" b="-1046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15625" t="-68750" r="-1953" b="-1046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78600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781" t="-167442" r="-216797" b="-387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7755" t="-167442" r="-88776" b="-387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15625" t="-167442" r="-1953" b="-387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7954A55-F12B-A4C4-D66A-04CDF62BDEB2}"/>
                  </a:ext>
                </a:extLst>
              </p:cNvPr>
              <p:cNvSpPr txBox="1"/>
              <p:nvPr/>
            </p:nvSpPr>
            <p:spPr>
              <a:xfrm>
                <a:off x="184825" y="3225305"/>
                <a:ext cx="82490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Expected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Value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400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6 </m:t>
                          </m:r>
                        </m:den>
                      </m:f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−100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₹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16.67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7954A55-F12B-A4C4-D66A-04CDF62BD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825" y="3225305"/>
                <a:ext cx="8249055" cy="91057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1D00BBB1-E166-879E-9304-702B0570819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4115882"/>
                <a:ext cx="11929641" cy="1857983"/>
              </a:xfrm>
            </p:spPr>
            <p:txBody>
              <a:bodyPr/>
              <a:lstStyle/>
              <a:p>
                <a:r>
                  <a:rPr lang="en-US" b="1" u="sng" dirty="0">
                    <a:solidFill>
                      <a:srgbClr val="0070C0"/>
                    </a:solidFill>
                  </a:rPr>
                  <a:t>Interpretation</a:t>
                </a:r>
              </a:p>
              <a:p>
                <a:pPr lvl="1"/>
                <a:r>
                  <a:rPr lang="en-US" dirty="0"/>
                  <a:t>Expected Value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Average profit (or loss) per game over a very large number of games.</a:t>
                </a:r>
                <a:endParaRPr lang="en-IN" dirty="0"/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1D00BBB1-E166-879E-9304-702B0570819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4115882"/>
                <a:ext cx="11929641" cy="1857983"/>
              </a:xfrm>
              <a:blipFill>
                <a:blip r:embed="rId4"/>
                <a:stretch>
                  <a:fillRect l="-971" r="-1074" b="-45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48595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F5D31B-FB83-FA8C-F991-64010EB64A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496289C-1D17-1161-2DAB-E2E796B66D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House Edge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747AC12-7D81-6766-DEEB-A1DAF086388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4068616"/>
              </a:xfrm>
            </p:spPr>
            <p:txBody>
              <a:bodyPr/>
              <a:lstStyle/>
              <a:p>
                <a:pPr algn="l"/>
                <a:r>
                  <a:rPr lang="en-US" b="1" dirty="0"/>
                  <a:t>Player’s</a:t>
                </a:r>
                <a:r>
                  <a:rPr lang="en-US" dirty="0"/>
                  <a:t> Expected Profit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=−₹16.67</m:t>
                    </m:r>
                  </m:oMath>
                </a14:m>
                <a:r>
                  <a:rPr lang="en-US" dirty="0"/>
                  <a:t> per game</a:t>
                </a:r>
              </a:p>
              <a:p>
                <a:pPr algn="l"/>
                <a:r>
                  <a:rPr lang="en-US" b="1" dirty="0"/>
                  <a:t>Casino’s </a:t>
                </a:r>
                <a:r>
                  <a:rPr lang="en-US" dirty="0"/>
                  <a:t>Expected Profit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=+₹16.67</m:t>
                    </m:r>
                  </m:oMath>
                </a14:m>
                <a:r>
                  <a:rPr lang="en-US" dirty="0"/>
                  <a:t> per game</a:t>
                </a:r>
              </a:p>
              <a:p>
                <a:pPr algn="l"/>
                <a:r>
                  <a:rPr lang="en-US" dirty="0"/>
                  <a:t>This mathematical advantage is called the </a:t>
                </a:r>
                <a:r>
                  <a:rPr lang="en-US" b="1" dirty="0"/>
                  <a:t>House Edge</a:t>
                </a:r>
                <a:r>
                  <a:rPr lang="en-US" dirty="0"/>
                  <a:t>.</a:t>
                </a:r>
                <a:endParaRPr lang="en-IN" dirty="0"/>
              </a:p>
              <a:p>
                <a:pPr algn="l"/>
                <a:r>
                  <a:rPr lang="en-US" b="1" u="sng" dirty="0">
                    <a:solidFill>
                      <a:srgbClr val="0070C0"/>
                    </a:solidFill>
                  </a:rPr>
                  <a:t>House Edge</a:t>
                </a:r>
              </a:p>
              <a:p>
                <a:pPr lvl="1"/>
                <a:r>
                  <a:rPr lang="en-US" dirty="0"/>
                  <a:t>A mathematical advantage built into every casino game that guarantees a positive expected profit for the casino over time.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747AC12-7D81-6766-DEEB-A1DAF08638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406861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66264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623A07-26B5-7EEF-9CD6-48E2B34F9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E730FFD-B60F-2768-1EC2-C4C04F3F2A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Casinos Win in the Long Run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9D297AF-CAC5-4168-E0D8-1D917593BAB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1896916"/>
              </a:xfrm>
            </p:spPr>
            <p:txBody>
              <a:bodyPr/>
              <a:lstStyle/>
              <a:p>
                <a:r>
                  <a:rPr lang="en-US" i="0" dirty="0">
                    <a:latin typeface="+mj-lt"/>
                  </a:rPr>
                  <a:t>As the number of games increases, Actual Average Profit gets closer and closer to</a:t>
                </a:r>
                <a:r>
                  <a:rPr lang="en-IN" dirty="0">
                    <a:latin typeface="+mj-lt"/>
                  </a:rPr>
                  <a:t> </a:t>
                </a:r>
                <a:r>
                  <a:rPr lang="en-US" i="0" dirty="0">
                    <a:latin typeface="+mj-lt"/>
                  </a:rPr>
                  <a:t>Expected Value</a:t>
                </a:r>
                <a:r>
                  <a:rPr lang="en-IN" dirty="0"/>
                  <a:t>.</a:t>
                </a:r>
              </a:p>
              <a:p>
                <a:r>
                  <a:rPr lang="en-IN" dirty="0"/>
                  <a:t>Example : </a:t>
                </a:r>
                <a:r>
                  <a:rPr lang="en-US" dirty="0"/>
                  <a:t>Expected Loss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 ₹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16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67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per game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9D297AF-CAC5-4168-E0D8-1D917593BAB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1896916"/>
              </a:xfrm>
              <a:blipFill>
                <a:blip r:embed="rId2"/>
                <a:stretch>
                  <a:fillRect l="-971" r="-1074" b="-257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CCFF7B97-7429-9166-5E0B-3A772096C4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740099" y="2701638"/>
              <a:ext cx="6711802" cy="228600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355901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3355901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Games Played 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Expected Loss (for player)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₹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167</m:t>
                                </m:r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100</m:t>
                                </m:r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₹</m:t>
                                </m:r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1667</m:t>
                                </m:r>
                              </m:oMath>
                            </m:oMathPara>
                          </a14:m>
                          <a:endParaRPr kumimoji="0" lang="en-IN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Roboto Condensed"/>
                            <a:ea typeface="+mn-ea"/>
                            <a:cs typeface="+mn-cs"/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1000</m:t>
                                </m:r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₹</m:t>
                                </m:r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16670</m:t>
                                </m:r>
                              </m:oMath>
                            </m:oMathPara>
                          </a14:m>
                          <a:endParaRPr kumimoji="0" lang="en-IN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Roboto Condensed"/>
                            <a:ea typeface="+mn-ea"/>
                            <a:cs typeface="+mn-cs"/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04560586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10000</m:t>
                                </m:r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₹</m:t>
                                </m:r>
                                <m:r>
                                  <a:rPr kumimoji="0" lang="en-IN" sz="24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16</m:t>
                                </m:r>
                                <m:r>
                                  <a:rPr kumimoji="0" lang="en-IN" sz="2400" b="0" i="0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6700</m:t>
                                </m:r>
                              </m:oMath>
                            </m:oMathPara>
                          </a14:m>
                          <a:endParaRPr kumimoji="0" lang="en-IN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Roboto Condensed"/>
                            <a:ea typeface="+mn-ea"/>
                            <a:cs typeface="+mn-cs"/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5088976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CCFF7B97-7429-9166-5E0B-3A772096C4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81779544"/>
                  </p:ext>
                </p:extLst>
              </p:nvPr>
            </p:nvGraphicFramePr>
            <p:xfrm>
              <a:off x="2740099" y="2701638"/>
              <a:ext cx="6711802" cy="228600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355901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3355901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</a:tblGrid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Games Played 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Expected Loss (for player)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1" t="-109333" r="-100363" b="-304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181" t="-109333" r="-363" b="-304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1" t="-206579" r="-100363" b="-2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181" t="-206579" r="-363" b="-2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1" t="-310667" r="-100363" b="-102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181" t="-310667" r="-363" b="-102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04560586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1" t="-410667" r="-100363" b="-2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181" t="-410667" r="-363" b="-2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5088976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D500594C-AA06-4C15-043F-03C54EA8303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0" y="5081158"/>
                <a:ext cx="9729793" cy="152284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dirty="0">
                    <a:latin typeface="+mj-lt"/>
                  </a:rPr>
                  <a:t>Suppose: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000</m:t>
                    </m:r>
                  </m:oMath>
                </a14:m>
                <a:r>
                  <a:rPr lang="en-US" dirty="0">
                    <a:latin typeface="+mj-lt"/>
                  </a:rPr>
                  <a:t> players play this game every day.</a:t>
                </a:r>
              </a:p>
              <a:p>
                <a:pPr algn="l"/>
                <a:r>
                  <a:rPr lang="en-US" dirty="0">
                    <a:latin typeface="+mj-lt"/>
                  </a:rPr>
                  <a:t>Expected Daily Profit for casino :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000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16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67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=₹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66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700</m:t>
                    </m:r>
                  </m:oMath>
                </a14:m>
                <a:endParaRPr lang="en-US" dirty="0">
                  <a:latin typeface="+mj-lt"/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D500594C-AA06-4C15-043F-03C54EA830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5081158"/>
                <a:ext cx="9729793" cy="1522842"/>
              </a:xfrm>
              <a:prstGeom prst="rect">
                <a:avLst/>
              </a:prstGeom>
              <a:blipFill>
                <a:blip r:embed="rId4"/>
                <a:stretch>
                  <a:fillRect l="-11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90661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E23CD-92B6-F0B6-1E25-E2F1674E6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596A651-4CCD-7922-6F94-5E14D16521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European Roulette Wheel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B43079A-667E-C643-C2BB-D3B4F36BA22F}"/>
              </a:ext>
            </a:extLst>
          </p:cNvPr>
          <p:cNvGrpSpPr/>
          <p:nvPr/>
        </p:nvGrpSpPr>
        <p:grpSpPr>
          <a:xfrm>
            <a:off x="220746" y="805396"/>
            <a:ext cx="10268097" cy="5698407"/>
            <a:chOff x="1699350" y="-1198501"/>
            <a:chExt cx="10268097" cy="5698407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4182B125-6022-671C-C0E2-091789485F6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699350" y="-1198501"/>
              <a:ext cx="10268097" cy="5373637"/>
            </a:xfrm>
            <a:prstGeom prst="rect">
              <a:avLst/>
            </a:prstGeom>
          </p:spPr>
        </p:pic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23397319-47BB-5CE7-3A0F-9D5C0E9376FB}"/>
                </a:ext>
              </a:extLst>
            </p:cNvPr>
            <p:cNvSpPr txBox="1"/>
            <p:nvPr/>
          </p:nvSpPr>
          <p:spPr>
            <a:xfrm>
              <a:off x="4885505" y="4253685"/>
              <a:ext cx="3895786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1000" dirty="0"/>
                <a:t>Image Source: </a:t>
              </a:r>
              <a:r>
                <a:rPr lang="en-IN" sz="1000" dirty="0">
                  <a:hlinkClick r:id="rId3"/>
                </a:rPr>
                <a:t>https://blog.betmaster.ie/casino/european-roulette-wheel/</a:t>
              </a:r>
              <a:r>
                <a:rPr lang="en-IN" sz="1000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47788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14EE3E-2F48-832F-5E9D-E54420EDA9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06543EF-1229-CE22-EA4F-4A9F9E5370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European Roulette Wheel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13809C2-03EF-76CF-6B2E-F47F68482FF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1" y="761304"/>
                <a:ext cx="6493356" cy="2667696"/>
              </a:xfrm>
            </p:spPr>
            <p:txBody>
              <a:bodyPr/>
              <a:lstStyle/>
              <a:p>
                <a:r>
                  <a:rPr lang="en-US" dirty="0"/>
                  <a:t>A European Roulette wheel has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lang="en-US" dirty="0"/>
                  <a:t> pockets:</a:t>
                </a:r>
              </a:p>
              <a:p>
                <a:pPr marL="273050" indent="0">
                  <a:buNone/>
                </a:pPr>
                <a:r>
                  <a:rPr lang="en-US" dirty="0"/>
                  <a:t>🔴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Red</a:t>
                </a:r>
              </a:p>
              <a:p>
                <a:pPr marL="273050" indent="0">
                  <a:buNone/>
                </a:pPr>
                <a:r>
                  <a:rPr lang="en-US" dirty="0"/>
                  <a:t>⚫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Black</a:t>
                </a:r>
              </a:p>
              <a:p>
                <a:pPr marL="273050" indent="0">
                  <a:buNone/>
                </a:pPr>
                <a:r>
                  <a:rPr lang="en-US" dirty="0"/>
                  <a:t>🟢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Green (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dirty="0"/>
                  <a:t>)</a:t>
                </a:r>
                <a:r>
                  <a:rPr lang="en-IN" dirty="0"/>
                  <a:t> 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13809C2-03EF-76CF-6B2E-F47F68482FF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1" y="761304"/>
                <a:ext cx="6493356" cy="2667696"/>
              </a:xfrm>
              <a:blipFill>
                <a:blip r:embed="rId2"/>
                <a:stretch>
                  <a:fillRect l="-1784" r="-1127" b="-25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" name="Group 12">
            <a:extLst>
              <a:ext uri="{FF2B5EF4-FFF2-40B4-BE49-F238E27FC236}">
                <a16:creationId xmlns:a16="http://schemas.microsoft.com/office/drawing/2014/main" id="{6FA4F733-27D3-9AE4-B102-1A7BE99C24E8}"/>
              </a:ext>
            </a:extLst>
          </p:cNvPr>
          <p:cNvGrpSpPr/>
          <p:nvPr/>
        </p:nvGrpSpPr>
        <p:grpSpPr>
          <a:xfrm>
            <a:off x="7217923" y="761304"/>
            <a:ext cx="4974077" cy="4974077"/>
            <a:chOff x="7217923" y="711200"/>
            <a:chExt cx="4974077" cy="4974077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93E85A66-02E3-DDF5-9408-5A8AB0D9B75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217923" y="711200"/>
              <a:ext cx="4974077" cy="4974077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B935747-4225-E814-DF5A-C15DAF864A30}"/>
                </a:ext>
              </a:extLst>
            </p:cNvPr>
            <p:cNvSpPr txBox="1"/>
            <p:nvPr/>
          </p:nvSpPr>
          <p:spPr>
            <a:xfrm>
              <a:off x="7757068" y="5311625"/>
              <a:ext cx="3895786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1000" dirty="0"/>
                <a:t>Image Source: </a:t>
              </a:r>
              <a:r>
                <a:rPr lang="en-IN" sz="1000" dirty="0">
                  <a:hlinkClick r:id="rId4"/>
                </a:rPr>
                <a:t>https://blog.betmaster.ie/casino/european-roulette-wheel/</a:t>
              </a:r>
              <a:r>
                <a:rPr lang="en-IN" sz="1000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02236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308B9-E300-BB38-01CC-C06BF0C24E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1B92C0C-0ECD-AED2-0D36-3B43CACEB5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Why Add the Green 0?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Content Placeholder 7">
                <a:extLst>
                  <a:ext uri="{FF2B5EF4-FFF2-40B4-BE49-F238E27FC236}">
                    <a16:creationId xmlns:a16="http://schemas.microsoft.com/office/drawing/2014/main" id="{BED62F86-0A53-6CBD-2D8E-F48CF1FC19EB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2885210098"/>
                  </p:ext>
                </p:extLst>
              </p:nvPr>
            </p:nvGraphicFramePr>
            <p:xfrm>
              <a:off x="894000" y="863600"/>
              <a:ext cx="10404000" cy="3478574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4752000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5652000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</a:tblGrid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Without Green 0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 Green 0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r>
                                <a:rPr lang="en-US" sz="2400" i="1" baseline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18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Red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baseline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b="0" i="1" baseline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 baseline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18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Black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baseline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=36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pockets</a:t>
                          </a:r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18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Red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18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Black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Green </a:t>
                          </a:r>
                          <a14:m>
                            <m:oMath xmlns:m="http://schemas.openxmlformats.org/officeDocument/2006/math">
                              <m:r>
                                <a:rPr lang="en-US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=37</m:t>
                              </m:r>
                            </m:oMath>
                          </a14:m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 pockets</a:t>
                          </a:r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Red</m:t>
                                    </m:r>
                                  </m:e>
                                </m:d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</m:t>
                                    </m:r>
                                  </m:num>
                                  <m:den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36</m:t>
                                    </m:r>
                                  </m:den>
                                </m:f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​=50%</m:t>
                                </m:r>
                              </m:oMath>
                            </m:oMathPara>
                          </a14:m>
                          <a:endParaRPr lang="en-IN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Red</m:t>
                                    </m:r>
                                  </m:e>
                                </m:d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</m:t>
                                    </m:r>
                                  </m:num>
                                  <m:den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37</m:t>
                                    </m:r>
                                  </m:den>
                                </m:f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​=48.65%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Not</m:t>
                                    </m:r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Red</m:t>
                                    </m:r>
                                  </m:e>
                                </m:d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</m:t>
                                    </m:r>
                                  </m:num>
                                  <m:den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36</m:t>
                                    </m:r>
                                  </m:den>
                                </m:f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​=50%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Not</m:t>
                                    </m:r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Red</m:t>
                                    </m:r>
                                  </m:e>
                                </m:d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num>
                                  <m:den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den>
                                </m:f>
                                <m:r>
                                  <a:rPr lang="en-IN" sz="24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​=51.35%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045605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Content Placeholder 7">
                <a:extLst>
                  <a:ext uri="{FF2B5EF4-FFF2-40B4-BE49-F238E27FC236}">
                    <a16:creationId xmlns:a16="http://schemas.microsoft.com/office/drawing/2014/main" id="{BED62F86-0A53-6CBD-2D8E-F48CF1FC19EB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2885210098"/>
                  </p:ext>
                </p:extLst>
              </p:nvPr>
            </p:nvGraphicFramePr>
            <p:xfrm>
              <a:off x="894000" y="863600"/>
              <a:ext cx="10404000" cy="3478574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4752000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5652000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</a:tblGrid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Without Green 0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With Green 0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28" t="-87162" r="-119231" b="-20135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4159" t="-87162" r="-216" b="-20135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28" t="-187162" r="-119231" b="-10135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4159" t="-187162" r="-216" b="-10135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  <a:tr h="90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28" t="-287162" r="-119231" b="-135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4159" t="-287162" r="-216" b="-135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045605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2">
                <a:extLst>
                  <a:ext uri="{FF2B5EF4-FFF2-40B4-BE49-F238E27FC236}">
                    <a16:creationId xmlns:a16="http://schemas.microsoft.com/office/drawing/2014/main" id="{A33BC35B-2862-FF9B-8A6B-380C079F839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70106" y="4639377"/>
                <a:ext cx="12013660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Note that, the Green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dirty="0"/>
                  <a:t> slightly increases the probability of losing.</a:t>
                </a:r>
                <a:endParaRPr lang="en-IN" dirty="0"/>
              </a:p>
            </p:txBody>
          </p:sp>
        </mc:Choice>
        <mc:Fallback xmlns="">
          <p:sp>
            <p:nvSpPr>
              <p:cNvPr id="14" name="Content Placeholder 2">
                <a:extLst>
                  <a:ext uri="{FF2B5EF4-FFF2-40B4-BE49-F238E27FC236}">
                    <a16:creationId xmlns:a16="http://schemas.microsoft.com/office/drawing/2014/main" id="{A33BC35B-2862-FF9B-8A6B-380C079F83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0106" y="4639377"/>
                <a:ext cx="12013660" cy="711200"/>
              </a:xfrm>
              <a:prstGeom prst="rect">
                <a:avLst/>
              </a:prstGeom>
              <a:blipFill>
                <a:blip r:embed="rId3"/>
                <a:stretch>
                  <a:fillRect l="-913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4820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BFE24D-C451-E459-D4D0-F43991515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070BF64-9681-E742-86D6-7BA47E9263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The House Edge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Content Placeholder 7">
                <a:extLst>
                  <a:ext uri="{FF2B5EF4-FFF2-40B4-BE49-F238E27FC236}">
                    <a16:creationId xmlns:a16="http://schemas.microsoft.com/office/drawing/2014/main" id="{F8B84679-FA62-D33E-65E0-EB886890183C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3253451071"/>
                  </p:ext>
                </p:extLst>
              </p:nvPr>
            </p:nvGraphicFramePr>
            <p:xfrm>
              <a:off x="893999" y="1472267"/>
              <a:ext cx="10404001" cy="238010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079211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3662395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  <a:gridCol w="3662395">
                      <a:extLst>
                        <a:ext uri="{9D8B030D-6E8A-4147-A177-3AD203B41FA5}">
                          <a16:colId xmlns:a16="http://schemas.microsoft.com/office/drawing/2014/main" val="2615046098"/>
                        </a:ext>
                      </a:extLst>
                    </a:gridCol>
                  </a:tblGrid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Outcome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Probability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Net Profit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i="0" baseline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Ball lands on Red</a:t>
                          </a:r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</m:t>
                                    </m:r>
                                  </m:num>
                                  <m:den>
                                    <m: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40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37</m:t>
                                    </m:r>
                                    <m: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 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₹100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</a:rPr>
                            <a:t>Ball lands on Black or Green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en-IN" sz="24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19</m:t>
                                    </m:r>
                                  </m:num>
                                  <m:den>
                                    <m:r>
                                      <a:rPr lang="en-IN" sz="24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37 </m:t>
                                    </m:r>
                                  </m:den>
                                </m:f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 </m:t>
                                </m:r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₹100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Content Placeholder 7">
                <a:extLst>
                  <a:ext uri="{FF2B5EF4-FFF2-40B4-BE49-F238E27FC236}">
                    <a16:creationId xmlns:a16="http://schemas.microsoft.com/office/drawing/2014/main" id="{F8B84679-FA62-D33E-65E0-EB886890183C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3253451071"/>
                  </p:ext>
                </p:extLst>
              </p:nvPr>
            </p:nvGraphicFramePr>
            <p:xfrm>
              <a:off x="893999" y="1472267"/>
              <a:ext cx="10404001" cy="238010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079211">
                      <a:extLst>
                        <a:ext uri="{9D8B030D-6E8A-4147-A177-3AD203B41FA5}">
                          <a16:colId xmlns:a16="http://schemas.microsoft.com/office/drawing/2014/main" val="3418374276"/>
                        </a:ext>
                      </a:extLst>
                    </a:gridCol>
                    <a:gridCol w="3662395">
                      <a:extLst>
                        <a:ext uri="{9D8B030D-6E8A-4147-A177-3AD203B41FA5}">
                          <a16:colId xmlns:a16="http://schemas.microsoft.com/office/drawing/2014/main" val="1937872973"/>
                        </a:ext>
                      </a:extLst>
                    </a:gridCol>
                    <a:gridCol w="3662395">
                      <a:extLst>
                        <a:ext uri="{9D8B030D-6E8A-4147-A177-3AD203B41FA5}">
                          <a16:colId xmlns:a16="http://schemas.microsoft.com/office/drawing/2014/main" val="2615046098"/>
                        </a:ext>
                      </a:extLst>
                    </a:gridCol>
                  </a:tblGrid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Outcome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Probability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/>
                            <a:t>Net Profit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8674558"/>
                      </a:ext>
                    </a:extLst>
                  </a:tr>
                  <a:tr h="77857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i="0" baseline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a:t>Ball lands on Red</a:t>
                          </a:r>
                          <a:endParaRPr lang="en-IN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4359" t="-100781" r="-100333" b="-12421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4359" t="-100781" r="-333" b="-12421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804430826"/>
                      </a:ext>
                    </a:extLst>
                  </a:tr>
                  <a:tr h="822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i="0" dirty="0">
                              <a:solidFill>
                                <a:srgbClr val="002060"/>
                              </a:solidFill>
                            </a:rPr>
                            <a:t>Ball lands on Black or Green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4359" t="-190370" r="-100333" b="-1777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4359" t="-190370" r="-333" b="-1777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6826484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2">
                <a:extLst>
                  <a:ext uri="{FF2B5EF4-FFF2-40B4-BE49-F238E27FC236}">
                    <a16:creationId xmlns:a16="http://schemas.microsoft.com/office/drawing/2014/main" id="{4955668F-16DD-AAA2-D21C-BDAE64F29C7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9170" y="711202"/>
                <a:ext cx="12013660" cy="63121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Suppose you bet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₹100</m:t>
                    </m:r>
                  </m:oMath>
                </a14:m>
                <a:r>
                  <a:rPr lang="en-US" dirty="0"/>
                  <a:t> on Red</a:t>
                </a:r>
                <a:r>
                  <a:rPr lang="en-US" sz="2400" dirty="0"/>
                  <a:t>.</a:t>
                </a:r>
                <a:endParaRPr lang="en-IN" sz="2400" dirty="0"/>
              </a:p>
            </p:txBody>
          </p:sp>
        </mc:Choice>
        <mc:Fallback xmlns="">
          <p:sp>
            <p:nvSpPr>
              <p:cNvPr id="2" name="Content Placeholder 2">
                <a:extLst>
                  <a:ext uri="{FF2B5EF4-FFF2-40B4-BE49-F238E27FC236}">
                    <a16:creationId xmlns:a16="http://schemas.microsoft.com/office/drawing/2014/main" id="{4955668F-16DD-AAA2-D21C-BDAE64F29C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70" y="711202"/>
                <a:ext cx="12013660" cy="631216"/>
              </a:xfrm>
              <a:prstGeom prst="rect">
                <a:avLst/>
              </a:prstGeom>
              <a:blipFill>
                <a:blip r:embed="rId3"/>
                <a:stretch>
                  <a:fillRect l="-964" b="-2038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8A42DCA-B98A-6161-CAA8-E56EAFC2EA6F}"/>
                  </a:ext>
                </a:extLst>
              </p:cNvPr>
              <p:cNvSpPr txBox="1"/>
              <p:nvPr/>
            </p:nvSpPr>
            <p:spPr>
              <a:xfrm>
                <a:off x="893999" y="4162549"/>
                <a:ext cx="887162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Expected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rgbClr val="002060"/>
                          </a:solidFill>
                        </a:rPr>
                        <m:t>Value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37</m:t>
                          </m:r>
                        </m:den>
                      </m:f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19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37 </m:t>
                          </m:r>
                        </m:den>
                      </m:f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−100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₹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2.7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8A42DCA-B98A-6161-CAA8-E56EAFC2EA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999" y="4162549"/>
                <a:ext cx="8871626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790DF7F-EE5E-533A-1B3D-AC2A82C62C9B}"/>
                  </a:ext>
                </a:extLst>
              </p:cNvPr>
              <p:cNvSpPr txBox="1"/>
              <p:nvPr/>
            </p:nvSpPr>
            <p:spPr>
              <a:xfrm>
                <a:off x="893999" y="5385733"/>
                <a:ext cx="88716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On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average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,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player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loses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₹2.70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for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every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₹100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bet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</a:rPr>
                        <m:t>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790DF7F-EE5E-533A-1B3D-AC2A82C62C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999" y="5385733"/>
                <a:ext cx="887162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19849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043A4D-2064-8491-934B-C1AB98DD2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Beyond Casinos: Mathematics in Everyday Decisions</a:t>
            </a:r>
            <a:endParaRPr lang="en-IN" dirty="0"/>
          </a:p>
        </p:txBody>
      </p:sp>
      <p:graphicFrame>
        <p:nvGraphicFramePr>
          <p:cNvPr id="4" name="Content Placeholder 7">
            <a:extLst>
              <a:ext uri="{FF2B5EF4-FFF2-40B4-BE49-F238E27FC236}">
                <a16:creationId xmlns:a16="http://schemas.microsoft.com/office/drawing/2014/main" id="{A11B614A-53AB-ECFC-96F7-26FBC4489EF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94957402"/>
              </p:ext>
            </p:extLst>
          </p:nvPr>
        </p:nvGraphicFramePr>
        <p:xfrm>
          <a:off x="238767" y="863600"/>
          <a:ext cx="9809905" cy="5485754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4480649">
                  <a:extLst>
                    <a:ext uri="{9D8B030D-6E8A-4147-A177-3AD203B41FA5}">
                      <a16:colId xmlns:a16="http://schemas.microsoft.com/office/drawing/2014/main" val="3418374276"/>
                    </a:ext>
                  </a:extLst>
                </a:gridCol>
                <a:gridCol w="5329256">
                  <a:extLst>
                    <a:ext uri="{9D8B030D-6E8A-4147-A177-3AD203B41FA5}">
                      <a16:colId xmlns:a16="http://schemas.microsoft.com/office/drawing/2014/main" val="1937872973"/>
                    </a:ext>
                  </a:extLst>
                </a:gridCol>
              </a:tblGrid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IN" sz="2400" dirty="0"/>
                        <a:t>Application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400" dirty="0"/>
                        <a:t>Role of Expected Value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74558"/>
                  </a:ext>
                </a:extLst>
              </a:tr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US" sz="2400" i="0" baseline="0" dirty="0">
                          <a:solidFill>
                            <a:srgbClr val="002060"/>
                          </a:solidFill>
                          <a:latin typeface="+mj-lt"/>
                        </a:rPr>
                        <a:t>Insurance</a:t>
                      </a:r>
                      <a:endParaRPr lang="en-IN" sz="2400" dirty="0">
                        <a:solidFill>
                          <a:srgbClr val="00206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Sets insurance premiums.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4430826"/>
                  </a:ext>
                </a:extLst>
              </a:tr>
              <a:tr h="769924"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Airlines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IN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Optimizes overbooking.</a:t>
                      </a:r>
                      <a:endParaRPr kumimoji="0" lang="en-IN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Roboto Condensed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8264845"/>
                  </a:ext>
                </a:extLst>
              </a:tr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Lottery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IN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Negative Expected Value</a:t>
                      </a:r>
                      <a:endParaRPr kumimoji="0" lang="en-IN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Roboto Condensed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560586"/>
                  </a:ext>
                </a:extLst>
              </a:tr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Extended Warranty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IN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Expected Repair Cost</a:t>
                      </a:r>
                      <a:endParaRPr kumimoji="0" lang="en-IN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Roboto Condensed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340060"/>
                  </a:ext>
                </a:extLst>
              </a:tr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Artificial Intelligence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Better predictions from large amounts of data</a:t>
                      </a:r>
                      <a:endParaRPr kumimoji="0" lang="en-IN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Roboto Condensed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2960500"/>
                  </a:ext>
                </a:extLst>
              </a:tr>
              <a:tr h="778574">
                <a:tc>
                  <a:txBody>
                    <a:bodyPr/>
                    <a:lstStyle/>
                    <a:p>
                      <a:pPr algn="ctr"/>
                      <a:r>
                        <a:rPr lang="en-IN" sz="2400" i="0" dirty="0">
                          <a:solidFill>
                            <a:srgbClr val="002060"/>
                          </a:solidFill>
                        </a:rPr>
                        <a:t>Amazon / Flipkart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IN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Optimizes product pricing.</a:t>
                      </a:r>
                      <a:endParaRPr kumimoji="0" lang="en-IN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Roboto Condensed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177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441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FB406-8013-CB8A-C241-A824713B3A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266F380-37EE-0FF1-871F-3286E8648A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1BB271-036F-1D20-4B12-1F19EAD8A1F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</p:spPr>
            <p:txBody>
              <a:bodyPr/>
              <a:lstStyle/>
              <a:p>
                <a:r>
                  <a:rPr lang="en-GB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 </a:t>
                </a:r>
                <a:r>
                  <a:rPr lang="en-GB" b="1" dirty="0">
                    <a:solidFill>
                      <a:schemeClr val="accent6">
                        <a:lumMod val="75000"/>
                      </a:schemeClr>
                    </a:solidFill>
                  </a:rPr>
                  <a:t>continuous</a:t>
                </a:r>
                <a:r>
                  <a:rPr lang="en-GB" dirty="0"/>
                  <a:t> random variable with probability density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, then the mathematical expectation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by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GB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en-GB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a:rPr lang="en-IN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𝐟</m:t>
                          </m:r>
                          <m:d>
                            <m:dPr>
                              <m:ctrlPr>
                                <a:rPr lang="en-IN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d>
                        </m:e>
                      </m:nary>
                      <m:r>
                        <a:rPr lang="en-IN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𝐝𝐱</m:t>
                      </m:r>
                    </m:oMath>
                  </m:oMathPara>
                </a14:m>
                <a:endParaRPr lang="en-IN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r>
                  <a:rPr lang="en-IN" dirty="0"/>
                  <a:t>Example: </a:t>
                </a:r>
              </a:p>
              <a:p>
                <a:pPr lvl="1"/>
                <a:r>
                  <a:rPr lang="en-US" dirty="0"/>
                  <a:t>Suppose the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has the probability density function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 ;0≤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≤1</m:t>
                              </m:r>
                            </m:e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0 ;</m:t>
                              </m:r>
                              <m:r>
                                <m:rPr>
                                  <m:nor/>
                                </m:rPr>
                                <a:rPr lang="en-IN" b="0" i="0" smtClean="0"/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1BB271-036F-1D20-4B12-1F19EAD8A1F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357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06253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C5F488-6107-D6B8-0329-1D5193111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61238DB-6D42-0FA5-7EC1-EC7C1EFE5F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79CD7A3-8E23-A1E7-E695-33EFD79BFB9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1"/>
                <a:ext cx="11928475" cy="2236280"/>
              </a:xfrm>
            </p:spPr>
            <p:txBody>
              <a:bodyPr/>
              <a:lstStyle/>
              <a:p>
                <a:r>
                  <a:rPr lang="en-IN" dirty="0"/>
                  <a:t>Example: </a:t>
                </a:r>
                <a:r>
                  <a:rPr lang="en-US" dirty="0"/>
                  <a:t>Suppose the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has the probability density function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 ;0≤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≤1</m:t>
                              </m:r>
                            </m:e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0 ;</m:t>
                              </m:r>
                              <m:r>
                                <m:rPr>
                                  <m:nor/>
                                </m:rPr>
                                <a:rPr lang="en-IN" b="0" i="0" smtClean="0"/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dirty="0"/>
              </a:p>
              <a:p>
                <a:pPr marL="271463" lvl="1" indent="0">
                  <a:buNone/>
                </a:pPr>
                <a:r>
                  <a:rPr lang="en-IN" dirty="0"/>
                  <a:t>Then</a:t>
                </a:r>
              </a:p>
              <a:p>
                <a:pPr marL="271463" lvl="1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79CD7A3-8E23-A1E7-E695-33EFD79BFB9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1"/>
                <a:ext cx="11928475" cy="2236280"/>
              </a:xfrm>
              <a:blipFill>
                <a:blip r:embed="rId2"/>
                <a:stretch>
                  <a:fillRect l="-971" b="-1634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407FEA3-A020-A2F4-6C4C-54E3787E3815}"/>
                  </a:ext>
                </a:extLst>
              </p:cNvPr>
              <p:cNvSpPr txBox="1"/>
              <p:nvPr/>
            </p:nvSpPr>
            <p:spPr>
              <a:xfrm>
                <a:off x="437745" y="2947481"/>
                <a:ext cx="3715966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407FEA3-A020-A2F4-6C4C-54E3787E38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45" y="2947481"/>
                <a:ext cx="3715966" cy="135165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2DF2038-0E4E-CCCF-2260-41BDAEF35534}"/>
                  </a:ext>
                </a:extLst>
              </p:cNvPr>
              <p:cNvSpPr txBox="1"/>
              <p:nvPr/>
            </p:nvSpPr>
            <p:spPr>
              <a:xfrm>
                <a:off x="3745446" y="2947481"/>
                <a:ext cx="8585690" cy="13908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2DF2038-0E4E-CCCF-2260-41BDAEF355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5446" y="2947481"/>
                <a:ext cx="8585690" cy="139083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F8E81CA-8D54-6EB6-C018-C1612DBA5994}"/>
                  </a:ext>
                </a:extLst>
              </p:cNvPr>
              <p:cNvSpPr txBox="1"/>
              <p:nvPr/>
            </p:nvSpPr>
            <p:spPr>
              <a:xfrm>
                <a:off x="3745446" y="4683550"/>
                <a:ext cx="2418354" cy="13899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F8E81CA-8D54-6EB6-C018-C1612DBA59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5446" y="4683550"/>
                <a:ext cx="2418354" cy="13899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271BD4-FDB1-07A3-9D61-0523A0FF79BB}"/>
                  </a:ext>
                </a:extLst>
              </p:cNvPr>
              <p:cNvSpPr txBox="1"/>
              <p:nvPr/>
            </p:nvSpPr>
            <p:spPr>
              <a:xfrm>
                <a:off x="6096000" y="4927623"/>
                <a:ext cx="1312938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271BD4-FDB1-07A3-9D61-0523A0FF7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4927623"/>
                <a:ext cx="1312938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28240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885EDB-8A37-8762-EFE1-987EB9A238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9DC55DA-C0E6-7B07-F348-D3FA4BFA8B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Note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D5382D8-7E57-C08D-7E96-E314E773EED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GB" dirty="0"/>
                  <a:t>For a continuous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US" dirty="0"/>
              </a:p>
              <a:p>
                <a:pPr lvl="1"/>
                <a:r>
                  <a:rPr lang="en-US" i="1" dirty="0"/>
                  <a:t>the integration limits may change according to the support of the random variable.</a:t>
                </a:r>
              </a:p>
              <a:p>
                <a:pPr lvl="1"/>
                <a:r>
                  <a:rPr lang="en-US" dirty="0"/>
                  <a:t>For example, </a:t>
                </a:r>
                <a:endParaRPr lang="en-GB" dirty="0"/>
              </a:p>
              <a:p>
                <a:pPr marL="261938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  <a:p>
                <a:pPr marL="261938" indent="0">
                  <a:lnSpc>
                    <a:spcPct val="100000"/>
                  </a:lnSpc>
                  <a:buNone/>
                </a:pPr>
                <a:r>
                  <a:rPr lang="en-US" dirty="0"/>
                  <a:t>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defined only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err="1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 dirty="0" err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US" i="0" dirty="0" err="1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D5382D8-7E57-C08D-7E96-E314E773EED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92069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233D4-01CC-922D-ABBD-E3F11387A0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325574-E6F3-74A3-DE54-9F6D13956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07FBF3E-1D42-064D-26CA-8487CF0FA49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0"/>
                <a:ext cx="11928475" cy="5747966"/>
              </a:xfrm>
            </p:spPr>
            <p:txBody>
              <a:bodyPr/>
              <a:lstStyle/>
              <a:p>
                <a:r>
                  <a:rPr lang="en-IN" b="1" i="1" dirty="0">
                    <a:solidFill>
                      <a:schemeClr val="accent6">
                        <a:lumMod val="75000"/>
                      </a:schemeClr>
                    </a:solidFill>
                  </a:rPr>
                  <a:t>Expected value of a constant is the constant itself. i.e., </a:t>
                </a:r>
                <a14:m>
                  <m:oMath xmlns:m="http://schemas.openxmlformats.org/officeDocument/2006/math">
                    <m:r>
                      <a:rPr lang="en-IN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𝑬</m:t>
                    </m:r>
                    <m:d>
                      <m:dPr>
                        <m:ctrlPr>
                          <a:rPr lang="en-IN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𝒄</m:t>
                        </m:r>
                      </m:e>
                    </m:d>
                    <m:r>
                      <a:rPr lang="en-IN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𝒄</m:t>
                    </m:r>
                  </m:oMath>
                </a14:m>
                <a:r>
                  <a:rPr lang="en-IN" b="1" i="1" dirty="0">
                    <a:solidFill>
                      <a:schemeClr val="accent6">
                        <a:lumMod val="75000"/>
                      </a:schemeClr>
                    </a:solidFill>
                  </a:rPr>
                  <a:t>.</a:t>
                </a:r>
              </a:p>
              <a:p>
                <a:pPr lvl="1"/>
                <a:r>
                  <a:rPr lang="en-US" dirty="0"/>
                  <a:t>Reason: A constant has no randomness, so its expected value is the constant itself.</a:t>
                </a:r>
              </a:p>
              <a:p>
                <a:r>
                  <a:rPr lang="en-US" dirty="0"/>
                  <a:t>Example: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dirty="0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=10,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dirty="0">
                            <a:latin typeface="Cambria Math" panose="02040503050406030204" pitchFamily="18" charset="0"/>
                          </a:rPr>
                          <m:t>−5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=−</m:t>
                    </m:r>
                    <m:r>
                      <a:rPr lang="en-US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IN" dirty="0"/>
              </a:p>
              <a:p>
                <a:r>
                  <a:rPr lang="en-IN" b="1" i="1" u="sng" dirty="0">
                    <a:solidFill>
                      <a:srgbClr val="0070C0"/>
                    </a:solidFill>
                  </a:rPr>
                  <a:t>Note:</a:t>
                </a:r>
                <a:r>
                  <a:rPr lang="en-IN" i="1" dirty="0"/>
                  <a:t> </a:t>
                </a:r>
                <a:r>
                  <a:rPr lang="en-US" i="1" dirty="0"/>
                  <a:t>A constant is actually a </a:t>
                </a:r>
                <a:r>
                  <a:rPr lang="en-US" i="1" dirty="0">
                    <a:solidFill>
                      <a:srgbClr val="C00000"/>
                    </a:solidFill>
                  </a:rPr>
                  <a:t>degenerate random variable</a:t>
                </a:r>
                <a:r>
                  <a:rPr lang="en-US" i="1" dirty="0"/>
                  <a:t>—a random variable whose probability distribution assigns probability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i="1" dirty="0"/>
                  <a:t> to a single value. That's why the definition of expectation still applies.</a:t>
                </a:r>
                <a:endParaRPr lang="en-IN" i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07FBF3E-1D42-064D-26CA-8487CF0FA49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0"/>
                <a:ext cx="11928475" cy="574796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37998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E9E497-EF0B-D0A3-1547-DBEC09B682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DE2924A-A3A1-94AE-5CF8-358EE2724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FD2D57C-0C49-768E-443E-5D87EF2A563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763" y="711201"/>
                <a:ext cx="11928475" cy="2479472"/>
              </a:xfrm>
            </p:spPr>
            <p:txBody>
              <a:bodyPr/>
              <a:lstStyle/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>
                        <a:latin typeface="Cambria Math" panose="02040503050406030204" pitchFamily="18" charset="0"/>
                      </a:rPr>
                      <m:t>c</m:t>
                    </m:r>
                    <m:d>
                      <m:d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dirty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IN" i="0" dirty="0">
                            <a:latin typeface="Cambria Math" panose="02040503050406030204" pitchFamily="18" charset="0"/>
                          </a:rPr>
                          <m:t>≠0</m:t>
                        </m:r>
                      </m:e>
                    </m:d>
                  </m:oMath>
                </a14:m>
                <a:r>
                  <a:rPr lang="en-IN" dirty="0"/>
                  <a:t> are constants, then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 dirty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i="0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b="1" i="0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  <m:r>
                                <m:rPr>
                                  <m:sty m:val="p"/>
                                </m:rPr>
                                <a:rPr lang="en-IN" i="0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i="0" dirty="0">
                                  <a:latin typeface="Cambria Math" panose="02040503050406030204" pitchFamily="18" charset="0"/>
                                </a:rPr>
                                <m:t>±</m:t>
                              </m:r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  <m:r>
                                <a:rPr lang="en-IN" i="0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b="1" i="0" dirty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𝐜</m:t>
                              </m:r>
                            </m:den>
                          </m:f>
                        </m:e>
                      </m:d>
                      <m:r>
                        <a:rPr lang="en-IN" i="0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1" i="0" dirty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𝐜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1" i="0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i="0" dirty="0">
                              <a:latin typeface="Cambria Math" panose="02040503050406030204" pitchFamily="18" charset="0"/>
                            </a:rPr>
                            <m:t>E</m:t>
                          </m:r>
                          <m:d>
                            <m:d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±</m:t>
                          </m:r>
                          <m:r>
                            <a:rPr lang="en-IN" b="1" i="0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r>
                  <a:rPr lang="en-US" dirty="0"/>
                  <a:t>Example: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=6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FD2D57C-0C49-768E-443E-5D87EF2A563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763" y="711201"/>
                <a:ext cx="11928475" cy="2479472"/>
              </a:xfrm>
              <a:blipFill>
                <a:blip r:embed="rId2"/>
                <a:stretch>
                  <a:fillRect l="-971" b="-56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EA1100BF-6A83-936F-6EA5-10A56A66C54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26715" y="3356043"/>
                <a:ext cx="2134783" cy="147860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b="0" i="0" dirty="0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b="1" i="0" dirty="0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𝟒</m:t>
                              </m:r>
                              <m:r>
                                <a:rPr lang="en-IN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b="1" i="0" dirty="0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EA1100BF-6A83-936F-6EA5-10A56A66C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6715" y="3356043"/>
                <a:ext cx="2134783" cy="147860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FC473264-380C-AC47-69EE-88CBA2C41B4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01429" y="3500877"/>
                <a:ext cx="3311831" cy="147860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 i="0" dirty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E</m:t>
                          </m:r>
                          <m:d>
                            <m:d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 b="0" i="0" dirty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b="1" i="0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FC473264-380C-AC47-69EE-88CBA2C41B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429" y="3500877"/>
                <a:ext cx="3311831" cy="147860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E767BB2A-FB2A-5F51-EFA8-0F555D10D70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01429" y="4833565"/>
                <a:ext cx="2912997" cy="12170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−4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E767BB2A-FB2A-5F51-EFA8-0F555D10D7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429" y="4833565"/>
                <a:ext cx="2912997" cy="12170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43C25B3-6CE7-6B11-D000-EC4C637AC1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925829" y="4833565"/>
                <a:ext cx="977193" cy="12170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43C25B3-6CE7-6B11-D000-EC4C637AC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5829" y="4833565"/>
                <a:ext cx="977193" cy="121703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31952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  <p:bldP spid="5" grpId="0" uiExpand="1" build="p"/>
      <p:bldP spid="7" grpId="0" uiExpand="1" build="p"/>
      <p:bldP spid="8" grpId="0" uiExpand="1" build="p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C67FB-0D24-41CB-9726-135ABCD65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</p:spPr>
            <p:txBody>
              <a:bodyPr/>
              <a:lstStyle/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are two random variables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are constants, then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𝐚𝐗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±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𝐛𝐘</m:t>
                          </m:r>
                        </m:e>
                      </m:d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𝐚𝐄</m:t>
                      </m:r>
                      <m:d>
                        <m:dPr>
                          <m:ctrlPr>
                            <a:rPr lang="en-IN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±</m:t>
                      </m:r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𝐛𝐄</m:t>
                      </m:r>
                      <m:d>
                        <m:dPr>
                          <m:ctrlPr>
                            <a:rPr lang="en-IN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𝐘</m:t>
                          </m:r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/>
              </a:p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are two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independent</a:t>
                </a:r>
                <a:r>
                  <a:rPr lang="en-IN" dirty="0"/>
                  <a:t> random variables, then </a:t>
                </a:r>
                <a14:m>
                  <m:oMath xmlns:m="http://schemas.openxmlformats.org/officeDocument/2006/math"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ctrlPr>
                          <a:rPr lang="en-IN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∙</m:t>
                        </m:r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𝐘</m:t>
                        </m:r>
                      </m:e>
                    </m:d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ctrlPr>
                          <a:rPr lang="en-IN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</m:e>
                    </m:d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ctrlPr>
                          <a:rPr lang="en-IN" b="1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𝐘</m:t>
                        </m:r>
                      </m:e>
                    </m:d>
                    <m:r>
                      <a:rPr lang="en-IN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57282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42C152-5CCF-EC10-99E7-A458060DA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79B1D9B-DD50-796D-91FE-3F3C1D43C5E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Mathematical Expectation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b="1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0" smtClean="0">
                            <a:latin typeface="Cambria Math" panose="02040503050406030204" pitchFamily="18" charset="0"/>
                          </a:rPr>
                          <m:t>𝐗</m:t>
                        </m:r>
                      </m:e>
                      <m:sup>
                        <m:r>
                          <a:rPr lang="en-US" b="1" i="0" smtClean="0"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79B1D9B-DD50-796D-91FE-3F3C1D43C5E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0908CE1-DD52-E4D0-29D2-0E90FF053E4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  <a:spcBef>
                    <a:spcPts val="2000"/>
                  </a:spcBef>
                </a:pPr>
                <a:r>
                  <a:rPr lang="en-IN" dirty="0"/>
                  <a:t>For a Discrete Random Variable,</a:t>
                </a:r>
              </a:p>
              <a:p>
                <a:pPr marL="0" indent="0">
                  <a:lnSpc>
                    <a:spcPct val="130000"/>
                  </a:lnSpc>
                  <a:spcBef>
                    <a:spcPts val="20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</m:e>
                      </m:d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p>
                        <m:e>
                          <m:sSubSup>
                            <m:sSubSupPr>
                              <m:ctrlPr>
                                <a:rPr lang="en-IN" b="1" i="1" dirty="0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  <m:sup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b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b="1" i="1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b="1" i="0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b="1" i="0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IN" b="1" dirty="0"/>
              </a:p>
              <a:p>
                <a:r>
                  <a:rPr lang="en-US" dirty="0"/>
                  <a:t>For a Continuous Random Variable</a:t>
                </a:r>
                <a:r>
                  <a:rPr lang="en-IN" dirty="0"/>
                  <a:t>,</a:t>
                </a:r>
              </a:p>
              <a:p>
                <a:pPr marL="261938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</m:e>
                      </m:d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−∞</m:t>
                          </m:r>
                        </m:sub>
                        <m: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b="1" i="1" dirty="0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𝐟</m:t>
                          </m:r>
                          <m:d>
                            <m:d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d>
                        </m:e>
                      </m:nary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𝐝𝐱</m:t>
                      </m:r>
                    </m:oMath>
                  </m:oMathPara>
                </a14:m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>
                  <a:lnSpc>
                    <a:spcPct val="130000"/>
                  </a:lnSpc>
                  <a:spcBef>
                    <a:spcPts val="2000"/>
                  </a:spcBef>
                </a:pPr>
                <a:r>
                  <a:rPr lang="en-IN" dirty="0"/>
                  <a:t>Note that,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ctrlPr>
                          <a:rPr lang="en-IN" b="1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IN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</m:e>
                          <m:sup>
                            <m:r>
                              <a:rPr lang="en-IN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p>
                        </m:sSup>
                      </m:e>
                    </m:d>
                    <m:r>
                      <a:rPr lang="en-IN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p>
                      <m:sSupPr>
                        <m:ctrlPr>
                          <a:rPr lang="en-IN" b="1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b="1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𝐄</m:t>
                            </m:r>
                            <m:d>
                              <m:dPr>
                                <m:ctrlPr>
                                  <a:rPr lang="en-IN" b="1" i="1" smtClean="0">
                                    <a:solidFill>
                                      <a:srgbClr val="0070C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b="1" i="0" smtClean="0">
                                    <a:solidFill>
                                      <a:srgbClr val="0070C0"/>
                                    </a:solidFill>
                                    <a:latin typeface="Cambria Math" panose="02040503050406030204" pitchFamily="18" charset="0"/>
                                  </a:rPr>
                                  <m:t>𝐗</m:t>
                                </m:r>
                              </m:e>
                            </m:d>
                          </m:e>
                        </m:d>
                      </m:e>
                      <m:sup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0908CE1-DD52-E4D0-29D2-0E90FF053E4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97315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B5EDAA-10CE-9385-4334-DDACC98C1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C1F456-779B-C670-9A41-5174FD7665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Variance of Random Variable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DD2EFC7-0BC4-A496-C78E-33A673C9818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</p:spPr>
            <p:txBody>
              <a:bodyPr/>
              <a:lstStyle/>
              <a:p>
                <a:pPr lvl="0">
                  <a:lnSpc>
                    <a:spcPct val="114000"/>
                  </a:lnSpc>
                </a:pPr>
                <a:r>
                  <a:rPr lang="en-US" dirty="0"/>
                  <a:t>Expectation tells us what to expect on average, whereas variance tells us how much the actual outcomes are likely to fluctuate around that average.</a:t>
                </a:r>
              </a:p>
              <a:p>
                <a:pPr lvl="0">
                  <a:lnSpc>
                    <a:spcPct val="114000"/>
                  </a:lnSpc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a random variable with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The expected value of the squared deviation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from its 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is called the variance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is denoted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>
                  <a:solidFill>
                    <a:srgbClr val="002060"/>
                  </a:solidFill>
                </a:endParaRPr>
              </a:p>
              <a:p>
                <a:pPr marL="273050" lvl="0" indent="0" algn="ctr">
                  <a:lnSpc>
                    <a:spcPct val="114000"/>
                  </a:lnSpc>
                  <a:buNone/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i.e., </a:t>
                </a:r>
                <a14:m>
                  <m:oMath xmlns:m="http://schemas.openxmlformats.org/officeDocument/2006/math">
                    <m:r>
                      <a:rPr lang="en-US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𝐕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</m:e>
                    </m:d>
                    <m:r>
                      <a:rPr lang="en-US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begChr m:val="["/>
                        <m:endChr m:val="]"/>
                        <m:ctrlPr>
                          <a:rPr lang="en-US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b="1" i="1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d>
                              <m:dPr>
                                <m:ctrlPr>
                                  <a:rPr lang="en-US" b="1" i="1" smtClean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b="1" i="0" smtClean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𝐗</m:t>
                                </m:r>
                                <m:r>
                                  <a:rPr lang="en-US" b="1" i="0" smtClean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b="1" i="0" smtClean="0">
                                    <a:solidFill>
                                      <a:schemeClr val="accent6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𝐄</m:t>
                                </m:r>
                                <m:d>
                                  <m:dPr>
                                    <m:ctrlPr>
                                      <a:rPr lang="en-US" b="1" i="1" smtClean="0">
                                        <a:solidFill>
                                          <a:schemeClr val="accent6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b="1" i="0" smtClean="0">
                                        <a:solidFill>
                                          <a:schemeClr val="accent6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𝐗</m:t>
                                    </m:r>
                                  </m:e>
                                </m:d>
                              </m:e>
                            </m:d>
                          </m:e>
                          <m:sup>
                            <m:r>
                              <a:rPr lang="en-US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p>
                        </m:sSup>
                      </m:e>
                    </m:d>
                  </m:oMath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lvl="0">
                  <a:lnSpc>
                    <a:spcPct val="114000"/>
                  </a:lnSpc>
                </a:pPr>
                <a:r>
                  <a:rPr lang="en-US" u="sng" dirty="0"/>
                  <a:t>Computational Formula:</a:t>
                </a:r>
              </a:p>
              <a:p>
                <a:pPr marL="0" lvl="0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1" i="1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en-US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 i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  <m:sup>
                              <m:r>
                                <a:rPr lang="en-US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</m:e>
                      </m:d>
                      <m:r>
                        <a:rPr lang="en-US" b="1" i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𝐄</m:t>
                              </m:r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b="1" i="1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𝐗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US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  <a:p>
                <a:pPr>
                  <a:lnSpc>
                    <a:spcPct val="114000"/>
                  </a:lnSpc>
                </a:pPr>
                <a:r>
                  <a:rPr lang="en-IN" dirty="0"/>
                  <a:t>Also, the Standard Deviation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is</a:t>
                </a:r>
              </a:p>
              <a:p>
                <a:pPr marL="0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𝛔</m:t>
                      </m:r>
                      <m:d>
                        <m:dPr>
                          <m:ctrlPr>
                            <a:rPr lang="en-US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en-US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US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US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𝐕</m:t>
                          </m:r>
                          <m:d>
                            <m:dPr>
                              <m:ctrlPr>
                                <a:rPr lang="en-US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</m:d>
                        </m:e>
                      </m:rad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DD2EFC7-0BC4-A496-C78E-33A673C9818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  <a:blipFill>
                <a:blip r:embed="rId2"/>
                <a:stretch>
                  <a:fillRect l="-971" t="-627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68905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C67FB-0D24-41CB-9726-135ABCD65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Variance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 fontAlgn="base"/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𝐕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𝐜</m:t>
                        </m:r>
                      </m:e>
                    </m:d>
                    <m:r>
                      <a:rPr lang="en-US">
                        <a:solidFill>
                          <a:schemeClr val="accent6">
                            <a:lumMod val="75000"/>
                          </a:schemeClr>
                        </a:solidFill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chemeClr val="accent6">
                            <a:lumMod val="75000"/>
                          </a:schemeClr>
                        </a:solidFill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where,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is a </a:t>
                </a:r>
                <a:r>
                  <a:rPr lang="en-US" b="1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constant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</a:p>
              <a:p>
                <a:pPr lvl="1" fontAlgn="base"/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If a quantity never changes, then there is no variability.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lvl="0" fontAlgn="base"/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are constants, then 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marL="261938" lvl="0" indent="0" algn="ctr" fontAlgn="base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smtClean="0">
                            <a:solidFill>
                              <a:srgbClr val="FF000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m:rPr>
                            <m:sty m:val="p"/>
                          </m:rP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US" b="1" i="1" smtClean="0">
                            <a:solidFill>
                              <a:srgbClr val="0070C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1" smtClean="0">
                            <a:solidFill>
                              <a:srgbClr val="FF000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p>
                        <m: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 b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 are the </a:t>
                </a:r>
                <a:r>
                  <a:rPr lang="en-US" b="1" dirty="0"/>
                  <a:t>independent</a:t>
                </a:r>
                <a:r>
                  <a:rPr lang="en-US" dirty="0"/>
                  <a:t> random variables, then </a:t>
                </a:r>
                <a:endParaRPr lang="en-US" dirty="0">
                  <a:latin typeface="Cambria Math" panose="02040503050406030204" pitchFamily="18" charset="0"/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±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US" b="1" u="sng" dirty="0">
                    <a:solidFill>
                      <a:srgbClr val="0070C0"/>
                    </a:solidFill>
                  </a:rPr>
                  <a:t>Note:</a:t>
                </a:r>
                <a:r>
                  <a:rPr lang="en-US" dirty="0"/>
                  <a:t> The subtraction sign does not affect the variance because variance measures the spread of a random variable, not its direction.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93568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GB" dirty="0"/>
                  <a:t>Probability distribution of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given below. </a:t>
                </a:r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Find            	        ,           ,                      ,                       . 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blipFill>
                <a:blip r:embed="rId3"/>
                <a:stretch>
                  <a:fillRect l="-1074" t="-22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7177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04762026"/>
                  </p:ext>
                </p:extLst>
              </p:nvPr>
            </p:nvGraphicFramePr>
            <p:xfrm>
              <a:off x="309557" y="2069197"/>
              <a:ext cx="6505706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0.1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0.2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0.5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0.2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04762026"/>
                  </p:ext>
                </p:extLst>
              </p:nvPr>
            </p:nvGraphicFramePr>
            <p:xfrm>
              <a:off x="309557" y="2069197"/>
              <a:ext cx="6505706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3371" r="-25130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3371" r="-30473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3371" r="-203141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3158" t="-3371" r="-104211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0733" t="-3371" r="-3665" b="-10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103371" r="-25130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103371" r="-30473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103371" r="-203141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3158" t="-103371" r="-104211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0733" t="-103371" r="-3665" b="-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825523" y="1427438"/>
                <a:ext cx="971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dirty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GB" sz="2800" i="1" dirty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sz="2800" dirty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bg1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5523" y="1427438"/>
                <a:ext cx="971459" cy="523220"/>
              </a:xfrm>
              <a:prstGeom prst="rect">
                <a:avLst/>
              </a:prstGeom>
              <a:blipFill>
                <a:blip r:embed="rId5"/>
                <a:stretch>
                  <a:fillRect t="-10465" r="-1062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1710987" y="1427438"/>
                <a:ext cx="8332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0987" y="1427438"/>
                <a:ext cx="83321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5366136" y="1427438"/>
                <a:ext cx="18315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6136" y="1427438"/>
                <a:ext cx="18315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1576712" y="3717709"/>
                <a:ext cx="16236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2" y="3717709"/>
                <a:ext cx="162368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2960079" y="4717774"/>
                <a:ext cx="7059410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1⋅0.1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2⋅0.2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3⋅0.5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4⋅0.2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4717774"/>
                <a:ext cx="7059410" cy="63094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2960079" y="5417854"/>
                <a:ext cx="41022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=0.1+0.4+1.5+0.8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5417854"/>
                <a:ext cx="41022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/>
              <p:nvPr/>
            </p:nvSpPr>
            <p:spPr>
              <a:xfrm>
                <a:off x="2648703" y="1427438"/>
                <a:ext cx="86477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48703" y="1427438"/>
                <a:ext cx="86477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1B88C12-C5B2-44D4-95E1-5BC3719D656B}"/>
                  </a:ext>
                </a:extLst>
              </p:cNvPr>
              <p:cNvSpPr txBox="1"/>
              <p:nvPr/>
            </p:nvSpPr>
            <p:spPr>
              <a:xfrm>
                <a:off x="3617986" y="1427438"/>
                <a:ext cx="1731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1B88C12-C5B2-44D4-95E1-5BC3719D65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7986" y="1427438"/>
                <a:ext cx="173182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/>
              <p:nvPr/>
            </p:nvSpPr>
            <p:spPr>
              <a:xfrm>
                <a:off x="2960079" y="3476883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0CF47FF-2FC5-4AAE-83DF-9FF438312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3476883"/>
                <a:ext cx="2762520" cy="1137876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/>
              <p:nvPr/>
            </p:nvSpPr>
            <p:spPr>
              <a:xfrm>
                <a:off x="2960079" y="6010213"/>
                <a:ext cx="137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=2.8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6010213"/>
                <a:ext cx="13784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9036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22" grpId="0"/>
      <p:bldP spid="30" grpId="0"/>
      <p:bldP spid="31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52149" y="3587339"/>
                <a:ext cx="14956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49" y="3587339"/>
                <a:ext cx="149567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1561839" y="2043267"/>
                <a:ext cx="7729685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⋅0.1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⋅0.2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⋅0.5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839" y="2043267"/>
                <a:ext cx="7729685" cy="63094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1561839" y="2868399"/>
                <a:ext cx="13094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=8.6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839" y="2868399"/>
                <a:ext cx="130943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/>
              <p:nvPr/>
            </p:nvSpPr>
            <p:spPr>
              <a:xfrm>
                <a:off x="83851" y="5920965"/>
                <a:ext cx="1799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l-GR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51" y="5920965"/>
                <a:ext cx="179913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6A098E7-9827-47BD-B77A-1477B1D3EE29}"/>
                  </a:ext>
                </a:extLst>
              </p:cNvPr>
              <p:cNvSpPr txBox="1"/>
              <p:nvPr/>
            </p:nvSpPr>
            <p:spPr>
              <a:xfrm>
                <a:off x="65316" y="937035"/>
                <a:ext cx="17535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6A098E7-9827-47BD-B77A-1477B1D3EE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16" y="937035"/>
                <a:ext cx="17535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9F1E231-0317-46F4-8B38-2B3E0032BAAB}"/>
                  </a:ext>
                </a:extLst>
              </p:cNvPr>
              <p:cNvSpPr txBox="1"/>
              <p:nvPr/>
            </p:nvSpPr>
            <p:spPr>
              <a:xfrm>
                <a:off x="1579527" y="711201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9F1E231-0317-46F4-8B38-2B3E0032BA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9527" y="711201"/>
                <a:ext cx="2762520" cy="113787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5629BEC-F0EB-44B8-BC8B-F72BB5B4B723}"/>
                  </a:ext>
                </a:extLst>
              </p:cNvPr>
              <p:cNvSpPr txBox="1"/>
              <p:nvPr/>
            </p:nvSpPr>
            <p:spPr>
              <a:xfrm>
                <a:off x="1414032" y="3585809"/>
                <a:ext cx="32618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i="0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i="0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 dirty="0"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i="1" dirty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i="0" dirty="0"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5629BEC-F0EB-44B8-BC8B-F72BB5B4B7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4032" y="3585809"/>
                <a:ext cx="326181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1754950-BA04-40BE-B135-D8933A4382A4}"/>
                  </a:ext>
                </a:extLst>
              </p:cNvPr>
              <p:cNvSpPr txBox="1"/>
              <p:nvPr/>
            </p:nvSpPr>
            <p:spPr>
              <a:xfrm>
                <a:off x="1414032" y="4381301"/>
                <a:ext cx="254244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=8.6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0" dirty="0" smtClean="0">
                                  <a:latin typeface="Cambria Math" panose="02040503050406030204" pitchFamily="18" charset="0"/>
                                </a:rPr>
                                <m:t>2.8</m:t>
                              </m:r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1754950-BA04-40BE-B135-D8933A4382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4032" y="4381301"/>
                <a:ext cx="254244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33E9609-B792-440D-B947-D5527273FEBB}"/>
                  </a:ext>
                </a:extLst>
              </p:cNvPr>
              <p:cNvSpPr txBox="1"/>
              <p:nvPr/>
            </p:nvSpPr>
            <p:spPr>
              <a:xfrm>
                <a:off x="1419466" y="5180286"/>
                <a:ext cx="15307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=0.76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33E9609-B792-440D-B947-D5527273FE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9466" y="5180286"/>
                <a:ext cx="153077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29934D-F1B3-4B94-878B-199D9A0EA091}"/>
                  </a:ext>
                </a:extLst>
              </p:cNvPr>
              <p:cNvSpPr txBox="1"/>
              <p:nvPr/>
            </p:nvSpPr>
            <p:spPr>
              <a:xfrm>
                <a:off x="1415836" y="5856265"/>
                <a:ext cx="1799131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29934D-F1B3-4B94-878B-199D9A0EA0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5836" y="5856265"/>
                <a:ext cx="1799131" cy="61414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ED8C036-5790-4E24-9DD4-83C3A449F242}"/>
                  </a:ext>
                </a:extLst>
              </p:cNvPr>
              <p:cNvSpPr txBox="1"/>
              <p:nvPr/>
            </p:nvSpPr>
            <p:spPr>
              <a:xfrm>
                <a:off x="2990721" y="5953904"/>
                <a:ext cx="1799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0.8718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ED8C036-5790-4E24-9DD4-83C3A449F2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21" y="5953904"/>
                <a:ext cx="179913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26CDEA8E-6DD1-439E-0A32-22BB32917E6F}"/>
                  </a:ext>
                </a:extLst>
              </p:cNvPr>
              <p:cNvSpPr txBox="1"/>
              <p:nvPr/>
            </p:nvSpPr>
            <p:spPr>
              <a:xfrm>
                <a:off x="5580231" y="3325198"/>
                <a:ext cx="2600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26CDEA8E-6DD1-439E-0A32-22BB32917E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0231" y="3325198"/>
                <a:ext cx="260063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AF3EB6D-9B1E-34B0-343C-C23C109082AA}"/>
                  </a:ext>
                </a:extLst>
              </p:cNvPr>
              <p:cNvSpPr txBox="1"/>
              <p:nvPr/>
            </p:nvSpPr>
            <p:spPr>
              <a:xfrm>
                <a:off x="7726408" y="3325198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AF3EB6D-9B1E-34B0-343C-C23C109082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408" y="3325198"/>
                <a:ext cx="243363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36BDF6C-4396-0221-5FA3-873355F96582}"/>
                  </a:ext>
                </a:extLst>
              </p:cNvPr>
              <p:cNvSpPr txBox="1"/>
              <p:nvPr/>
            </p:nvSpPr>
            <p:spPr>
              <a:xfrm>
                <a:off x="7726408" y="3975564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2.8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36BDF6C-4396-0221-5FA3-873355F965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408" y="3975564"/>
                <a:ext cx="243363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C2973FA-1690-B2E1-22F7-D5C399246B64}"/>
                  </a:ext>
                </a:extLst>
              </p:cNvPr>
              <p:cNvSpPr txBox="1"/>
              <p:nvPr/>
            </p:nvSpPr>
            <p:spPr>
              <a:xfrm>
                <a:off x="9876221" y="3975564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=10.4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C2973FA-1690-B2E1-22F7-D5C399246B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6221" y="3975564"/>
                <a:ext cx="243363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6E74EDD-167C-E6A2-42E2-8A8D921DA25D}"/>
                  </a:ext>
                </a:extLst>
              </p:cNvPr>
              <p:cNvSpPr txBox="1"/>
              <p:nvPr/>
            </p:nvSpPr>
            <p:spPr>
              <a:xfrm>
                <a:off x="5580231" y="4789808"/>
                <a:ext cx="23957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6E74EDD-167C-E6A2-42E2-8A8D921DA2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0231" y="4789808"/>
                <a:ext cx="239577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633E231-1CE7-FA5D-8FEF-41D129BD3ED0}"/>
                  </a:ext>
                </a:extLst>
              </p:cNvPr>
              <p:cNvSpPr txBox="1"/>
              <p:nvPr/>
            </p:nvSpPr>
            <p:spPr>
              <a:xfrm>
                <a:off x="7804458" y="4789808"/>
                <a:ext cx="19846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633E231-1CE7-FA5D-8FEF-41D129BD3E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4789808"/>
                <a:ext cx="19846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683BCBF-1FB1-4C30-E660-3BD8D2A39694}"/>
                  </a:ext>
                </a:extLst>
              </p:cNvPr>
              <p:cNvSpPr txBox="1"/>
              <p:nvPr/>
            </p:nvSpPr>
            <p:spPr>
              <a:xfrm>
                <a:off x="7804458" y="5371856"/>
                <a:ext cx="19846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=9⋅0.76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683BCBF-1FB1-4C30-E660-3BD8D2A396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5371856"/>
                <a:ext cx="198469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86E6A0F-0C6F-3959-6647-31BFE16FA61B}"/>
                  </a:ext>
                </a:extLst>
              </p:cNvPr>
              <p:cNvSpPr txBox="1"/>
              <p:nvPr/>
            </p:nvSpPr>
            <p:spPr>
              <a:xfrm>
                <a:off x="7804458" y="5953904"/>
                <a:ext cx="16841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=6.84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86E6A0F-0C6F-3959-6647-31BFE16FA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5953904"/>
                <a:ext cx="168416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5" name="Picture 14">
            <a:extLst>
              <a:ext uri="{FF2B5EF4-FFF2-40B4-BE49-F238E27FC236}">
                <a16:creationId xmlns:a16="http://schemas.microsoft.com/office/drawing/2014/main" id="{D2B3F0D7-64EA-D230-0DCF-4AA6BEF54199}"/>
              </a:ext>
            </a:extLst>
          </p:cNvPr>
          <p:cNvPicPr>
            <a:picLocks noChangeAspect="1"/>
          </p:cNvPicPr>
          <p:nvPr/>
        </p:nvPicPr>
        <p:blipFill>
          <a:blip r:embed="rId22"/>
          <a:srcRect l="1414" r="1618"/>
          <a:stretch>
            <a:fillRect/>
          </a:stretch>
        </p:blipFill>
        <p:spPr>
          <a:xfrm>
            <a:off x="8094191" y="838347"/>
            <a:ext cx="3957543" cy="1099684"/>
          </a:xfrm>
          <a:prstGeom prst="rect">
            <a:avLst/>
          </a:prstGeom>
          <a:ln w="28575">
            <a:solidFill>
              <a:schemeClr val="accent6">
                <a:lumMod val="75000"/>
              </a:schemeClr>
            </a:solidFill>
          </a:ln>
        </p:spPr>
      </p:pic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A5A4130-476B-2A0F-8B7D-73362913B101}"/>
              </a:ext>
            </a:extLst>
          </p:cNvPr>
          <p:cNvCxnSpPr>
            <a:cxnSpLocks/>
          </p:cNvCxnSpPr>
          <p:nvPr/>
        </p:nvCxnSpPr>
        <p:spPr>
          <a:xfrm>
            <a:off x="5070830" y="3391619"/>
            <a:ext cx="0" cy="2988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8495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8" grpId="0"/>
      <p:bldP spid="22" grpId="0"/>
      <p:bldP spid="27" grpId="0"/>
      <p:bldP spid="16" grpId="0"/>
      <p:bldP spid="17" grpId="0"/>
      <p:bldP spid="20" grpId="0"/>
      <p:bldP spid="21" grpId="0"/>
      <p:bldP spid="23" grpId="0"/>
      <p:bldP spid="25" grpId="0"/>
      <p:bldP spid="26" grpId="0"/>
      <p:bldP spid="5" grpId="0"/>
      <p:bldP spid="6" grpId="0"/>
      <p:bldP spid="7" grpId="0"/>
      <p:bldP spid="8" grpId="0"/>
      <p:bldP spid="10" grpId="0"/>
      <p:bldP spid="12" grpId="0"/>
      <p:bldP spid="13" grpId="0"/>
      <p:bldP spid="14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GB" dirty="0"/>
                  <a:t>Let mean and standard deviation of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be </a:t>
                </a:r>
                <a14:m>
                  <m:oMath xmlns:m="http://schemas.openxmlformats.org/officeDocument/2006/math">
                    <m:r>
                      <a:rPr lang="en-GB" i="0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respectively,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p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E</m:t>
                    </m:r>
                    <m:sSup>
                      <m:sSup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+5</m:t>
                            </m:r>
                          </m:e>
                        </m:d>
                      </m:e>
                      <m:sup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39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3191535" y="2247491"/>
                <a:ext cx="17084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1535" y="2247491"/>
                <a:ext cx="170849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6917517" y="2247491"/>
                <a:ext cx="4789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7517" y="2247491"/>
                <a:ext cx="4789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7396488" y="2247491"/>
                <a:ext cx="8780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i="0"/>
                        <m:t>V</m:t>
                      </m:r>
                      <m:r>
                        <m:rPr>
                          <m:nor/>
                        </m:rPr>
                        <a:rPr lang="en-IN" i="0"/>
                        <m:t>(</m:t>
                      </m:r>
                      <m:r>
                        <m:rPr>
                          <m:nor/>
                        </m:rPr>
                        <a:rPr lang="en-IN" i="0"/>
                        <m:t>X</m:t>
                      </m:r>
                      <m:r>
                        <m:rPr>
                          <m:nor/>
                        </m:rPr>
                        <a:rPr lang="en-IN" i="0"/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6488" y="2247491"/>
                <a:ext cx="87801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/>
              <p:nvPr/>
            </p:nvSpPr>
            <p:spPr>
              <a:xfrm>
                <a:off x="5379002" y="2247491"/>
                <a:ext cx="17084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9002" y="2247491"/>
                <a:ext cx="170849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/>
              <p:nvPr/>
            </p:nvSpPr>
            <p:spPr>
              <a:xfrm>
                <a:off x="8127524" y="2251361"/>
                <a:ext cx="1074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7524" y="2251361"/>
                <a:ext cx="107410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0576DB33-DF6D-47CB-85E8-136660B8533E}"/>
              </a:ext>
            </a:extLst>
          </p:cNvPr>
          <p:cNvSpPr txBox="1"/>
          <p:nvPr/>
        </p:nvSpPr>
        <p:spPr>
          <a:xfrm>
            <a:off x="1576712" y="2251362"/>
            <a:ext cx="18777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Given that,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B5B09C1-98B3-4A4A-93E3-429E41BB747B}"/>
              </a:ext>
            </a:extLst>
          </p:cNvPr>
          <p:cNvSpPr txBox="1"/>
          <p:nvPr/>
        </p:nvSpPr>
        <p:spPr>
          <a:xfrm>
            <a:off x="4888911" y="2247491"/>
            <a:ext cx="4669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&amp;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79A341A-86D7-4D41-982E-9489D0066C47}"/>
              </a:ext>
            </a:extLst>
          </p:cNvPr>
          <p:cNvSpPr txBox="1"/>
          <p:nvPr/>
        </p:nvSpPr>
        <p:spPr>
          <a:xfrm>
            <a:off x="1576712" y="2860720"/>
            <a:ext cx="23421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We know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734765B-E024-469A-BA07-7AB4C3323E69}"/>
                  </a:ext>
                </a:extLst>
              </p:cNvPr>
              <p:cNvSpPr txBox="1"/>
              <p:nvPr/>
            </p:nvSpPr>
            <p:spPr>
              <a:xfrm>
                <a:off x="1594218" y="3467653"/>
                <a:ext cx="41840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734765B-E024-469A-BA07-7AB4C3323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467653"/>
                <a:ext cx="418401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CDD0C77-9AE7-4762-83C8-D2A419577D02}"/>
                  </a:ext>
                </a:extLst>
              </p:cNvPr>
              <p:cNvSpPr txBox="1"/>
              <p:nvPr/>
            </p:nvSpPr>
            <p:spPr>
              <a:xfrm>
                <a:off x="1504613" y="4158920"/>
                <a:ext cx="381242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CDD0C77-9AE7-4762-83C8-D2A419577D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4158920"/>
                <a:ext cx="381242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33C38E2-7176-47F5-84E8-F1E8D5F5E576}"/>
                  </a:ext>
                </a:extLst>
              </p:cNvPr>
              <p:cNvSpPr txBox="1"/>
              <p:nvPr/>
            </p:nvSpPr>
            <p:spPr>
              <a:xfrm>
                <a:off x="1504613" y="4821940"/>
                <a:ext cx="36017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=25+25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33C38E2-7176-47F5-84E8-F1E8D5F5E5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4821940"/>
                <a:ext cx="36017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23D67B6-0FD6-46B1-A5C4-50E5C3BA8B16}"/>
                  </a:ext>
                </a:extLst>
              </p:cNvPr>
              <p:cNvSpPr txBox="1"/>
              <p:nvPr/>
            </p:nvSpPr>
            <p:spPr>
              <a:xfrm>
                <a:off x="1504613" y="5484960"/>
                <a:ext cx="25414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23D67B6-0FD6-46B1-A5C4-50E5C3BA8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5484960"/>
                <a:ext cx="25414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47C78B8-0B21-449A-AB8C-10B2BFFFAB42}"/>
              </a:ext>
            </a:extLst>
          </p:cNvPr>
          <p:cNvCxnSpPr>
            <a:cxnSpLocks/>
          </p:cNvCxnSpPr>
          <p:nvPr/>
        </p:nvCxnSpPr>
        <p:spPr>
          <a:xfrm>
            <a:off x="5528030" y="2930589"/>
            <a:ext cx="0" cy="34461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E514F0BA-CCF9-46C4-B5A4-11D858625DB1}"/>
              </a:ext>
            </a:extLst>
          </p:cNvPr>
          <p:cNvSpPr txBox="1"/>
          <p:nvPr/>
        </p:nvSpPr>
        <p:spPr>
          <a:xfrm>
            <a:off x="5689240" y="2860720"/>
            <a:ext cx="9747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>
                <a:solidFill>
                  <a:srgbClr val="002060"/>
                </a:solidFill>
                <a:latin typeface="+mj-lt"/>
              </a:rPr>
              <a:t>Now,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A7D0DD0-B62B-4CBF-8C15-253E75391F16}"/>
                  </a:ext>
                </a:extLst>
              </p:cNvPr>
              <p:cNvSpPr txBox="1"/>
              <p:nvPr/>
            </p:nvSpPr>
            <p:spPr>
              <a:xfrm>
                <a:off x="5689239" y="3473949"/>
                <a:ext cx="19371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sSup>
                        <m:sSup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+5</m:t>
                              </m:r>
                            </m:e>
                          </m:d>
                        </m:e>
                        <m: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A7D0DD0-B62B-4CBF-8C15-253E75391F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9239" y="3473949"/>
                <a:ext cx="193710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1C00946-6A4B-4DA9-BE8F-7FFF1101C017}"/>
                  </a:ext>
                </a:extLst>
              </p:cNvPr>
              <p:cNvSpPr txBox="1"/>
              <p:nvPr/>
            </p:nvSpPr>
            <p:spPr>
              <a:xfrm>
                <a:off x="7510788" y="3473949"/>
                <a:ext cx="36172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+20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1C00946-6A4B-4DA9-BE8F-7FFF1101C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3473949"/>
                <a:ext cx="361724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40DD78E-2D3E-4E11-967B-D018D8381BF3}"/>
                  </a:ext>
                </a:extLst>
              </p:cNvPr>
              <p:cNvSpPr txBox="1"/>
              <p:nvPr/>
            </p:nvSpPr>
            <p:spPr>
              <a:xfrm>
                <a:off x="7510788" y="4097686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40DD78E-2D3E-4E11-967B-D018D8381B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4097686"/>
                <a:ext cx="426210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AB9C57-A6E6-4C97-80EC-85AA05CC0F27}"/>
                  </a:ext>
                </a:extLst>
              </p:cNvPr>
              <p:cNvSpPr txBox="1"/>
              <p:nvPr/>
            </p:nvSpPr>
            <p:spPr>
              <a:xfrm>
                <a:off x="7510788" y="4721423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AB9C57-A6E6-4C97-80EC-85AA05CC0F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4721423"/>
                <a:ext cx="426210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2A1B481-7969-40DA-86B2-9B9A3326A7E0}"/>
                  </a:ext>
                </a:extLst>
              </p:cNvPr>
              <p:cNvSpPr txBox="1"/>
              <p:nvPr/>
            </p:nvSpPr>
            <p:spPr>
              <a:xfrm>
                <a:off x="7510788" y="5345160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2A1B481-7969-40DA-86B2-9B9A3326A7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5345160"/>
                <a:ext cx="426210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16043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22" grpId="0"/>
      <p:bldP spid="30" grpId="0"/>
      <p:bldP spid="31" grpId="0"/>
      <p:bldP spid="16" grpId="0"/>
      <p:bldP spid="25" grpId="0"/>
      <p:bldP spid="26" grpId="0"/>
      <p:bldP spid="29" grpId="0"/>
      <p:bldP spid="33" grpId="0"/>
      <p:bldP spid="35" grpId="0"/>
      <p:bldP spid="37" grpId="0"/>
      <p:bldP spid="41" grpId="0"/>
      <p:bldP spid="42" grpId="0"/>
      <p:bldP spid="43" grpId="0"/>
      <p:bldP spid="44" grpId="0"/>
      <p:bldP spid="45" grpId="0"/>
      <p:bldP spid="46" grpId="0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5682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The following table gives the probabilities that a certain computer will malfunction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0,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1,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2,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3,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4,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5</m:t>
                    </m:r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 times on any one day.</a:t>
                </a:r>
                <a:endParaRPr lang="en-GB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568284"/>
              </a:xfrm>
              <a:prstGeom prst="rect">
                <a:avLst/>
              </a:prstGeom>
              <a:blipFill>
                <a:blip r:embed="rId16"/>
                <a:stretch>
                  <a:fillRect l="-1074" t="-21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71905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52406" y="1862096"/>
              <a:ext cx="11507798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92770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kern="1200" dirty="0">
                              <a:solidFill>
                                <a:schemeClr val="bg1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Number of malfunctions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800" b="0" i="0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oMath>
                          </a14:m>
                          <a:endParaRPr lang="en-IN" sz="2800" b="0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kern="1200" dirty="0">
                              <a:solidFill>
                                <a:schemeClr val="bg1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Probability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800" b="0" i="0" kern="120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  <m:d>
                                <m:dPr>
                                  <m:ctrlPr>
                                    <a:rPr lang="en-US" sz="2800" b="0" i="1" kern="120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kern="120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x</m:t>
                                  </m:r>
                                </m:e>
                              </m:d>
                            </m:oMath>
                          </a14:m>
                          <a:endParaRPr lang="en-IN" sz="2800" b="0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90036668"/>
                  </p:ext>
                </p:extLst>
              </p:nvPr>
            </p:nvGraphicFramePr>
            <p:xfrm>
              <a:off x="252406" y="1862096"/>
              <a:ext cx="11507798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92770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465" t="-8989" r="-193798" b="-13033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465" t="-108989" r="-193798" b="-3033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8BB3F576-7738-4872-8F34-73C18E96D683}"/>
              </a:ext>
            </a:extLst>
          </p:cNvPr>
          <p:cNvSpPr txBox="1"/>
          <p:nvPr/>
        </p:nvSpPr>
        <p:spPr>
          <a:xfrm>
            <a:off x="160926" y="2935206"/>
            <a:ext cx="862747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chemeClr val="bg1"/>
                </a:solidFill>
                <a:latin typeface="+mj-lt"/>
              </a:rPr>
              <a:t>Find the mean and variance of this probability distribution.</a:t>
            </a: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/>
              <p:nvPr/>
            </p:nvSpPr>
            <p:spPr>
              <a:xfrm>
                <a:off x="1576712" y="3717709"/>
                <a:ext cx="10221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2" y="3717709"/>
                <a:ext cx="102216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/>
              <p:nvPr/>
            </p:nvSpPr>
            <p:spPr>
              <a:xfrm>
                <a:off x="2380393" y="4616250"/>
                <a:ext cx="10002918" cy="1169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0.29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0.16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0.07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6008688"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0.03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4616250"/>
                <a:ext cx="10002918" cy="116955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/>
              <p:nvPr/>
            </p:nvSpPr>
            <p:spPr>
              <a:xfrm>
                <a:off x="2380393" y="5990160"/>
                <a:ext cx="74312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0+0.29+0.54+0.48+0.28+0.15+0.06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5990160"/>
                <a:ext cx="743121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C0869A-61F2-46D9-98A3-30A969143807}"/>
                  </a:ext>
                </a:extLst>
              </p:cNvPr>
              <p:cNvSpPr txBox="1"/>
              <p:nvPr/>
            </p:nvSpPr>
            <p:spPr>
              <a:xfrm>
                <a:off x="2380393" y="3479843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C0869A-61F2-46D9-98A3-30A9691438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3479843"/>
                <a:ext cx="2762520" cy="1137876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/>
              <p:nvPr/>
            </p:nvSpPr>
            <p:spPr>
              <a:xfrm>
                <a:off x="9572469" y="5990160"/>
                <a:ext cx="138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2469" y="5990160"/>
                <a:ext cx="138087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38673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0" grpId="0"/>
      <p:bldP spid="31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0045863"/>
                  </p:ext>
                </p:extLst>
              </p:nvPr>
            </p:nvGraphicFramePr>
            <p:xfrm>
              <a:off x="874599" y="867556"/>
              <a:ext cx="10442803" cy="98005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56421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490026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600" b="0" i="0" kern="1200" dirty="0">
                              <a:solidFill>
                                <a:srgbClr val="002060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Number of malfunctions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600" b="0" i="0" kern="120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oMath>
                          </a14:m>
                          <a:endParaRPr lang="en-IN" sz="2600" b="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90026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600" b="0" i="0" kern="1200" dirty="0">
                              <a:solidFill>
                                <a:srgbClr val="002060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Probability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600" b="0" i="0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  <m:d>
                                <m:dPr>
                                  <m:ctrlPr>
                                    <a:rPr lang="en-US" sz="2600" b="0" i="1" kern="1200" dirty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kern="1200" dirty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x</m:t>
                                  </m:r>
                                </m:e>
                              </m:d>
                            </m:oMath>
                          </a14:m>
                          <a:endParaRPr lang="en-IN" sz="2600" b="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0045863"/>
                  </p:ext>
                </p:extLst>
              </p:nvPr>
            </p:nvGraphicFramePr>
            <p:xfrm>
              <a:off x="874599" y="867556"/>
              <a:ext cx="10442803" cy="98005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56421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49002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1" t="-11111" r="-193333" b="-1308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9002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1" t="-111111" r="-193333" b="-308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/>
              <p:nvPr/>
            </p:nvSpPr>
            <p:spPr>
              <a:xfrm>
                <a:off x="103358" y="2293304"/>
                <a:ext cx="506202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58" y="2293304"/>
                <a:ext cx="5062029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/>
              <p:nvPr/>
            </p:nvSpPr>
            <p:spPr>
              <a:xfrm>
                <a:off x="1086614" y="3537831"/>
                <a:ext cx="6160492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0.29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0.27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3537831"/>
                <a:ext cx="6160492" cy="63094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/>
              <p:nvPr/>
            </p:nvSpPr>
            <p:spPr>
              <a:xfrm>
                <a:off x="1086614" y="5342762"/>
                <a:ext cx="74312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0+0.29+1.08+1.44+1.12+0.75+0.36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5342762"/>
                <a:ext cx="743121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/>
              <p:nvPr/>
            </p:nvSpPr>
            <p:spPr>
              <a:xfrm>
                <a:off x="1086614" y="5990444"/>
                <a:ext cx="14523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=5.04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5990444"/>
                <a:ext cx="145230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0226161-D675-4FC4-8ADA-DFAA672A2DB7}"/>
                  </a:ext>
                </a:extLst>
              </p:cNvPr>
              <p:cNvSpPr txBox="1"/>
              <p:nvPr/>
            </p:nvSpPr>
            <p:spPr>
              <a:xfrm>
                <a:off x="5295045" y="1877738"/>
                <a:ext cx="21466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0226161-D675-4FC4-8ADA-DFAA672A2D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5045" y="1877738"/>
                <a:ext cx="214661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60BCC59-7601-05BD-BA80-EC0990C936F8}"/>
                  </a:ext>
                </a:extLst>
              </p:cNvPr>
              <p:cNvSpPr txBox="1"/>
              <p:nvPr/>
            </p:nvSpPr>
            <p:spPr>
              <a:xfrm>
                <a:off x="1462749" y="4148534"/>
                <a:ext cx="6160492" cy="11571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0.16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0.07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0.03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0.01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60BCC59-7601-05BD-BA80-EC0990C9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749" y="4148534"/>
                <a:ext cx="6160492" cy="115711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71263F1-34A9-85A3-E3AD-74B1817F179D}"/>
                  </a:ext>
                </a:extLst>
              </p:cNvPr>
              <p:cNvSpPr txBox="1"/>
              <p:nvPr/>
            </p:nvSpPr>
            <p:spPr>
              <a:xfrm>
                <a:off x="8313501" y="2579964"/>
                <a:ext cx="49596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71263F1-34A9-85A3-E3AD-74B1817F17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13501" y="2579964"/>
                <a:ext cx="495960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1D41C84-0BAC-8CC7-A3E7-7D68AA3855E6}"/>
                  </a:ext>
                </a:extLst>
              </p:cNvPr>
              <p:cNvSpPr txBox="1"/>
              <p:nvPr/>
            </p:nvSpPr>
            <p:spPr>
              <a:xfrm>
                <a:off x="9127256" y="3333575"/>
                <a:ext cx="2641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dirty="0">
                          <a:latin typeface="Cambria Math" panose="02040503050406030204" pitchFamily="18" charset="0"/>
                        </a:rPr>
                        <m:t>5.04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1" dirty="0">
                                  <a:latin typeface="Cambria Math" panose="02040503050406030204" pitchFamily="18" charset="0"/>
                                </a:rPr>
                                <m:t>1.8</m:t>
                              </m:r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1D41C84-0BAC-8CC7-A3E7-7D68AA385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27256" y="3333575"/>
                <a:ext cx="264182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8AD4362-5770-6BE2-8FE4-AEE6152A8456}"/>
                  </a:ext>
                </a:extLst>
              </p:cNvPr>
              <p:cNvSpPr txBox="1"/>
              <p:nvPr/>
            </p:nvSpPr>
            <p:spPr>
              <a:xfrm>
                <a:off x="9127256" y="4087186"/>
                <a:ext cx="122297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8AD4362-5770-6BE2-8FE4-AEE6152A84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27256" y="4087186"/>
                <a:ext cx="122297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0FBF20D-BC3D-C213-1A05-5D5DB7459FE1}"/>
              </a:ext>
            </a:extLst>
          </p:cNvPr>
          <p:cNvCxnSpPr>
            <a:cxnSpLocks/>
          </p:cNvCxnSpPr>
          <p:nvPr/>
        </p:nvCxnSpPr>
        <p:spPr>
          <a:xfrm>
            <a:off x="7923360" y="2524915"/>
            <a:ext cx="0" cy="266376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6893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1" grpId="0"/>
      <p:bldP spid="5" grpId="0"/>
      <p:bldP spid="6" grpId="0"/>
      <p:bldP spid="7" grpId="0"/>
      <p:bldP spid="8" grpId="0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166309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tabLst>
                    <a:tab pos="0" algn="l"/>
                    <a:tab pos="447675" algn="l"/>
                  </a:tabLst>
                </a:pPr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There are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3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red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white balls in a box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balls are taken at random from it. A person gets Rs.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20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each red ball and Rs.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10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each white ball. Find his expected gain.</a:t>
                </a:r>
                <a:endParaRPr lang="en-IN" dirty="0">
                  <a:solidFill>
                    <a:schemeClr val="bg1"/>
                  </a:solidFill>
                  <a:effectLst/>
                  <a:latin typeface="+mj-lt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1663091"/>
              </a:xfrm>
              <a:prstGeom prst="rect">
                <a:avLst/>
              </a:prstGeom>
              <a:blipFill>
                <a:blip r:embed="rId2"/>
                <a:stretch>
                  <a:fillRect l="-1074" t="-733" r="-1074" b="-58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268756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AB56B1-91F7-4EC3-A8DA-3E4826259CC3}"/>
              </a:ext>
            </a:extLst>
          </p:cNvPr>
          <p:cNvSpPr txBox="1"/>
          <p:nvPr/>
        </p:nvSpPr>
        <p:spPr>
          <a:xfrm>
            <a:off x="1576712" y="2687566"/>
            <a:ext cx="185346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Total balls: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C78593A-C600-46B7-B01F-94A7E33EAC11}"/>
                  </a:ext>
                </a:extLst>
              </p:cNvPr>
              <p:cNvSpPr txBox="1"/>
              <p:nvPr/>
            </p:nvSpPr>
            <p:spPr>
              <a:xfrm>
                <a:off x="3278415" y="2687566"/>
                <a:ext cx="975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C78593A-C600-46B7-B01F-94A7E33EAC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8415" y="2687566"/>
                <a:ext cx="975988" cy="523220"/>
              </a:xfrm>
              <a:prstGeom prst="rect">
                <a:avLst/>
              </a:prstGeom>
              <a:blipFill>
                <a:blip r:embed="rId3"/>
                <a:stretch>
                  <a:fillRect t="-11628" r="-437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54EF61E-5A54-4832-ADD3-7C0776259514}"/>
                  </a:ext>
                </a:extLst>
              </p:cNvPr>
              <p:cNvSpPr txBox="1"/>
              <p:nvPr/>
            </p:nvSpPr>
            <p:spPr>
              <a:xfrm>
                <a:off x="4195297" y="2687566"/>
                <a:ext cx="5509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54EF61E-5A54-4832-ADD3-7C07762595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5297" y="2687566"/>
                <a:ext cx="55092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5FA8B8-230B-4474-85A0-475A8C70C327}"/>
                  </a:ext>
                </a:extLst>
              </p:cNvPr>
              <p:cNvSpPr txBox="1"/>
              <p:nvPr/>
            </p:nvSpPr>
            <p:spPr>
              <a:xfrm>
                <a:off x="4687111" y="2687566"/>
                <a:ext cx="12483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</a:t>
                </a: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5FA8B8-230B-4474-85A0-475A8C70C3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7111" y="2687566"/>
                <a:ext cx="1248397" cy="523220"/>
              </a:xfrm>
              <a:prstGeom prst="rect">
                <a:avLst/>
              </a:prstGeom>
              <a:blipFill>
                <a:blip r:embed="rId5"/>
                <a:stretch>
                  <a:fillRect t="-11628" r="-585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67F9813-FD35-4991-93B0-E4571962C0C9}"/>
                  </a:ext>
                </a:extLst>
              </p:cNvPr>
              <p:cNvSpPr txBox="1"/>
              <p:nvPr/>
            </p:nvSpPr>
            <p:spPr>
              <a:xfrm>
                <a:off x="5817295" y="2687566"/>
                <a:ext cx="5509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67F9813-FD35-4991-93B0-E4571962C0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7295" y="2687566"/>
                <a:ext cx="5509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292D230-C684-4FAF-A94C-63E33CFB5B4C}"/>
                  </a:ext>
                </a:extLst>
              </p:cNvPr>
              <p:cNvSpPr txBox="1"/>
              <p:nvPr/>
            </p:nvSpPr>
            <p:spPr>
              <a:xfrm>
                <a:off x="6277786" y="2687566"/>
                <a:ext cx="5737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292D230-C684-4FAF-A94C-63E33CFB5B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7786" y="2687566"/>
                <a:ext cx="57376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2D8613D-C637-4F2A-B162-E4E436BA9120}"/>
                  </a:ext>
                </a:extLst>
              </p:cNvPr>
              <p:cNvSpPr txBox="1"/>
              <p:nvPr/>
            </p:nvSpPr>
            <p:spPr>
              <a:xfrm>
                <a:off x="1576711" y="4641788"/>
                <a:ext cx="6415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represent the gain of the person in Rs.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2D8613D-C637-4F2A-B162-E4E436BA91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4641788"/>
                <a:ext cx="6415821" cy="523220"/>
              </a:xfrm>
              <a:prstGeom prst="rect">
                <a:avLst/>
              </a:prstGeom>
              <a:blipFill>
                <a:blip r:embed="rId8"/>
                <a:stretch>
                  <a:fillRect l="-199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20BCA4F-D6BF-4AB5-95A6-167664FC252D}"/>
                  </a:ext>
                </a:extLst>
              </p:cNvPr>
              <p:cNvSpPr txBox="1"/>
              <p:nvPr/>
            </p:nvSpPr>
            <p:spPr>
              <a:xfrm>
                <a:off x="1576711" y="5341920"/>
                <a:ext cx="103685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possible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depend on the combination of balls drawn.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20BCA4F-D6BF-4AB5-95A6-167664FC25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5341920"/>
                <a:ext cx="10368541" cy="523220"/>
              </a:xfrm>
              <a:prstGeom prst="rect">
                <a:avLst/>
              </a:prstGeom>
              <a:blipFill>
                <a:blip r:embed="rId9"/>
                <a:stretch>
                  <a:fillRect l="-123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9C78E1-3CB5-4F91-BB82-CE7379B8332C}"/>
                  </a:ext>
                </a:extLst>
              </p:cNvPr>
              <p:cNvSpPr txBox="1"/>
              <p:nvPr/>
            </p:nvSpPr>
            <p:spPr>
              <a:xfrm>
                <a:off x="1576711" y="3314611"/>
                <a:ext cx="3642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Gain per red ball: Rs.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9C78E1-3CB5-4F91-BB82-CE7379B833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3314611"/>
                <a:ext cx="3642988" cy="523220"/>
              </a:xfrm>
              <a:prstGeom prst="rect">
                <a:avLst/>
              </a:prstGeom>
              <a:blipFill>
                <a:blip r:embed="rId10"/>
                <a:stretch>
                  <a:fillRect l="-351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748B9DE-AE05-4560-918D-622A490CA532}"/>
                  </a:ext>
                </a:extLst>
              </p:cNvPr>
              <p:cNvSpPr txBox="1"/>
              <p:nvPr/>
            </p:nvSpPr>
            <p:spPr>
              <a:xfrm>
                <a:off x="1576711" y="3941656"/>
                <a:ext cx="42405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Gain per white ball: Rs.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748B9DE-AE05-4560-918D-622A490CA5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3941656"/>
                <a:ext cx="4240583" cy="523220"/>
              </a:xfrm>
              <a:prstGeom prst="rect">
                <a:avLst/>
              </a:prstGeom>
              <a:blipFill>
                <a:blip r:embed="rId11"/>
                <a:stretch>
                  <a:fillRect l="-3022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05AE86BF-9C37-4738-63C8-A159BB887FF6}"/>
              </a:ext>
            </a:extLst>
          </p:cNvPr>
          <p:cNvCxnSpPr>
            <a:cxnSpLocks/>
          </p:cNvCxnSpPr>
          <p:nvPr/>
        </p:nvCxnSpPr>
        <p:spPr>
          <a:xfrm>
            <a:off x="1635446" y="1428202"/>
            <a:ext cx="4457309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463731D-6D87-FB02-2F40-01C5A15BC3BA}"/>
              </a:ext>
            </a:extLst>
          </p:cNvPr>
          <p:cNvCxnSpPr>
            <a:cxnSpLocks/>
          </p:cNvCxnSpPr>
          <p:nvPr/>
        </p:nvCxnSpPr>
        <p:spPr>
          <a:xfrm>
            <a:off x="1201520" y="1976842"/>
            <a:ext cx="39600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3F4E21-6D97-918B-1E26-5A505854B3ED}"/>
              </a:ext>
            </a:extLst>
          </p:cNvPr>
          <p:cNvCxnSpPr>
            <a:cxnSpLocks/>
          </p:cNvCxnSpPr>
          <p:nvPr/>
        </p:nvCxnSpPr>
        <p:spPr>
          <a:xfrm>
            <a:off x="5817294" y="1976842"/>
            <a:ext cx="36000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8823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27" grpId="0"/>
      <p:bldP spid="29" grpId="0"/>
      <p:bldP spid="30" grpId="0"/>
      <p:bldP spid="31" grpId="0"/>
      <p:bldP spid="32" grpId="0"/>
      <p:bldP spid="46" grpId="0"/>
      <p:bldP spid="47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/>
              <p:nvPr/>
            </p:nvSpPr>
            <p:spPr>
              <a:xfrm>
                <a:off x="1263365" y="2149109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2149109"/>
                <a:ext cx="18780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1203F35-B21E-429F-A309-3EFE0AE21A4B}"/>
                  </a:ext>
                </a:extLst>
              </p:cNvPr>
              <p:cNvSpPr txBox="1"/>
              <p:nvPr/>
            </p:nvSpPr>
            <p:spPr>
              <a:xfrm>
                <a:off x="2894817" y="1868381"/>
                <a:ext cx="1409918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1203F35-B21E-429F-A309-3EFE0AE21A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4817" y="1868381"/>
                <a:ext cx="1409918" cy="105375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/>
              <p:nvPr/>
            </p:nvSpPr>
            <p:spPr>
              <a:xfrm>
                <a:off x="4045931" y="1953251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5931" y="1953251"/>
                <a:ext cx="1228069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TextBox 48">
            <a:extLst>
              <a:ext uri="{FF2B5EF4-FFF2-40B4-BE49-F238E27FC236}">
                <a16:creationId xmlns:a16="http://schemas.microsoft.com/office/drawing/2014/main" id="{6D997A8A-DB1C-44B1-A675-581F96D0579F}"/>
              </a:ext>
            </a:extLst>
          </p:cNvPr>
          <p:cNvSpPr txBox="1"/>
          <p:nvPr/>
        </p:nvSpPr>
        <p:spPr>
          <a:xfrm>
            <a:off x="128573" y="866178"/>
            <a:ext cx="192807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1: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591D-E0AC-4E5E-8BE8-7136A365E9C5}"/>
                  </a:ext>
                </a:extLst>
              </p:cNvPr>
              <p:cNvSpPr txBox="1"/>
              <p:nvPr/>
            </p:nvSpPr>
            <p:spPr>
              <a:xfrm>
                <a:off x="1263365" y="866178"/>
                <a:ext cx="30266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 balls drawn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591D-E0AC-4E5E-8BE8-7136A365E9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866178"/>
                <a:ext cx="3026650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30717C3E-1236-4A34-8389-2CDC4A06DB9D}"/>
              </a:ext>
            </a:extLst>
          </p:cNvPr>
          <p:cNvSpPr txBox="1"/>
          <p:nvPr/>
        </p:nvSpPr>
        <p:spPr>
          <a:xfrm>
            <a:off x="1263365" y="1372471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A3256E7-2944-4B8E-BF0B-98C78AC42C4E}"/>
                  </a:ext>
                </a:extLst>
              </p:cNvPr>
              <p:cNvSpPr txBox="1"/>
              <p:nvPr/>
            </p:nvSpPr>
            <p:spPr>
              <a:xfrm>
                <a:off x="2008421" y="1372471"/>
                <a:ext cx="916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A3256E7-2944-4B8E-BF0B-98C78AC42C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8421" y="1372471"/>
                <a:ext cx="91665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/>
              <p:nvPr/>
            </p:nvSpPr>
            <p:spPr>
              <a:xfrm>
                <a:off x="1263365" y="4323917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=20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4323917"/>
                <a:ext cx="187808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28EBED5-01CD-4277-BED0-0D1ED3E82F27}"/>
                  </a:ext>
                </a:extLst>
              </p:cNvPr>
              <p:cNvSpPr txBox="1"/>
              <p:nvPr/>
            </p:nvSpPr>
            <p:spPr>
              <a:xfrm>
                <a:off x="2894817" y="4043189"/>
                <a:ext cx="1409918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28EBED5-01CD-4277-BED0-0D1ED3E82F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4817" y="4043189"/>
                <a:ext cx="1409918" cy="10537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/>
              <p:nvPr/>
            </p:nvSpPr>
            <p:spPr>
              <a:xfrm>
                <a:off x="4079717" y="4120485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9717" y="4120485"/>
                <a:ext cx="1228069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TextBox 55">
            <a:extLst>
              <a:ext uri="{FF2B5EF4-FFF2-40B4-BE49-F238E27FC236}">
                <a16:creationId xmlns:a16="http://schemas.microsoft.com/office/drawing/2014/main" id="{490137A9-3002-4539-B915-484667A9D6A8}"/>
              </a:ext>
            </a:extLst>
          </p:cNvPr>
          <p:cNvSpPr txBox="1"/>
          <p:nvPr/>
        </p:nvSpPr>
        <p:spPr>
          <a:xfrm>
            <a:off x="128573" y="3040986"/>
            <a:ext cx="17926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2: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B3F15E-8980-4816-92D6-004F7E864E46}"/>
                  </a:ext>
                </a:extLst>
              </p:cNvPr>
              <p:cNvSpPr txBox="1"/>
              <p:nvPr/>
            </p:nvSpPr>
            <p:spPr>
              <a:xfrm>
                <a:off x="1263364" y="3040986"/>
                <a:ext cx="39259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balls drawn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B3F15E-8980-4816-92D6-004F7E864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4" y="3040986"/>
                <a:ext cx="3925953" cy="523220"/>
              </a:xfrm>
              <a:prstGeom prst="rect">
                <a:avLst/>
              </a:prstGeom>
              <a:blipFill>
                <a:blip r:embed="rId10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TextBox 57">
            <a:extLst>
              <a:ext uri="{FF2B5EF4-FFF2-40B4-BE49-F238E27FC236}">
                <a16:creationId xmlns:a16="http://schemas.microsoft.com/office/drawing/2014/main" id="{4A14A45D-7A35-4ADE-A370-4F25765C7604}"/>
              </a:ext>
            </a:extLst>
          </p:cNvPr>
          <p:cNvSpPr txBox="1"/>
          <p:nvPr/>
        </p:nvSpPr>
        <p:spPr>
          <a:xfrm>
            <a:off x="1263365" y="3547279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A33D46C-B531-4C4D-96C6-FAB990D67ED6}"/>
                  </a:ext>
                </a:extLst>
              </p:cNvPr>
              <p:cNvSpPr txBox="1"/>
              <p:nvPr/>
            </p:nvSpPr>
            <p:spPr>
              <a:xfrm>
                <a:off x="1891766" y="3547279"/>
                <a:ext cx="11354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A33D46C-B531-4C4D-96C6-FAB990D67E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1766" y="3547279"/>
                <a:ext cx="11354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/>
              <p:nvPr/>
            </p:nvSpPr>
            <p:spPr>
              <a:xfrm>
                <a:off x="7303696" y="4339982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=30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696" y="4339982"/>
                <a:ext cx="187808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2670E9F-32AC-45F0-8B11-FCCED29AD26F}"/>
                  </a:ext>
                </a:extLst>
              </p:cNvPr>
              <p:cNvSpPr txBox="1"/>
              <p:nvPr/>
            </p:nvSpPr>
            <p:spPr>
              <a:xfrm>
                <a:off x="8935148" y="4059254"/>
                <a:ext cx="2085796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2670E9F-32AC-45F0-8B11-FCCED29AD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5148" y="4059254"/>
                <a:ext cx="2085796" cy="105375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/>
              <p:nvPr/>
            </p:nvSpPr>
            <p:spPr>
              <a:xfrm>
                <a:off x="8935148" y="5251617"/>
                <a:ext cx="1228069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5148" y="5251617"/>
                <a:ext cx="1228069" cy="91057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C5CC3962-5465-4769-8910-D3C188C55FAD}"/>
              </a:ext>
            </a:extLst>
          </p:cNvPr>
          <p:cNvSpPr txBox="1"/>
          <p:nvPr/>
        </p:nvSpPr>
        <p:spPr>
          <a:xfrm>
            <a:off x="6168904" y="3057051"/>
            <a:ext cx="15677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3: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A7A3618-E44E-4799-9A81-58F198757FE7}"/>
                  </a:ext>
                </a:extLst>
              </p:cNvPr>
              <p:cNvSpPr txBox="1"/>
              <p:nvPr/>
            </p:nvSpPr>
            <p:spPr>
              <a:xfrm>
                <a:off x="7303695" y="3057051"/>
                <a:ext cx="48017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and </a:t>
                </a:r>
                <a14:m>
                  <m:oMath xmlns:m="http://schemas.openxmlformats.org/officeDocument/2006/math"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 ball drawn</a:t>
                </a: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A7A3618-E44E-4799-9A81-58F198757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695" y="3057051"/>
                <a:ext cx="4801754" cy="523220"/>
              </a:xfrm>
              <a:prstGeom prst="rect">
                <a:avLst/>
              </a:prstGeom>
              <a:blipFill>
                <a:blip r:embed="rId1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TextBox 64">
            <a:extLst>
              <a:ext uri="{FF2B5EF4-FFF2-40B4-BE49-F238E27FC236}">
                <a16:creationId xmlns:a16="http://schemas.microsoft.com/office/drawing/2014/main" id="{2BE75BD8-F43D-4ABA-9988-5480E618679A}"/>
              </a:ext>
            </a:extLst>
          </p:cNvPr>
          <p:cNvSpPr txBox="1"/>
          <p:nvPr/>
        </p:nvSpPr>
        <p:spPr>
          <a:xfrm>
            <a:off x="7303696" y="3563344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068175D-27D0-490A-828B-30655E2C25D9}"/>
                  </a:ext>
                </a:extLst>
              </p:cNvPr>
              <p:cNvSpPr txBox="1"/>
              <p:nvPr/>
            </p:nvSpPr>
            <p:spPr>
              <a:xfrm>
                <a:off x="7921743" y="3563344"/>
                <a:ext cx="11716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068175D-27D0-490A-828B-30655E2C25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1743" y="3563344"/>
                <a:ext cx="117163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9C07A516-FB5D-476E-88C0-D4830CDDBC8F}"/>
              </a:ext>
            </a:extLst>
          </p:cNvPr>
          <p:cNvCxnSpPr>
            <a:cxnSpLocks/>
          </p:cNvCxnSpPr>
          <p:nvPr/>
        </p:nvCxnSpPr>
        <p:spPr>
          <a:xfrm>
            <a:off x="5804215" y="3126180"/>
            <a:ext cx="0" cy="332482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>
            <a:extLst>
              <a:ext uri="{FF2B5EF4-FFF2-40B4-BE49-F238E27FC236}">
                <a16:creationId xmlns:a16="http://schemas.microsoft.com/office/drawing/2014/main" id="{08C7D55A-D84B-CB4C-AAA5-FE75D1732932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579360" y="890317"/>
            <a:ext cx="4500880" cy="167724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954398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/>
              <p:nvPr/>
            </p:nvSpPr>
            <p:spPr>
              <a:xfrm>
                <a:off x="5931206" y="959708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206" y="959708"/>
                <a:ext cx="18780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/>
              <p:nvPr/>
            </p:nvSpPr>
            <p:spPr>
              <a:xfrm>
                <a:off x="7497047" y="743165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047" y="743165"/>
                <a:ext cx="1228069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/>
              <p:nvPr/>
            </p:nvSpPr>
            <p:spPr>
              <a:xfrm>
                <a:off x="175042" y="959709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=20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042" y="959709"/>
                <a:ext cx="187808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/>
              <p:nvPr/>
            </p:nvSpPr>
            <p:spPr>
              <a:xfrm>
                <a:off x="1759933" y="733640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33" y="733640"/>
                <a:ext cx="1228069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/>
              <p:nvPr/>
            </p:nvSpPr>
            <p:spPr>
              <a:xfrm>
                <a:off x="3137296" y="965415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=30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296" y="965415"/>
                <a:ext cx="187808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/>
              <p:nvPr/>
            </p:nvSpPr>
            <p:spPr>
              <a:xfrm>
                <a:off x="4750346" y="743165"/>
                <a:ext cx="1228069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0346" y="743165"/>
                <a:ext cx="1228069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BB613594-B41C-4B49-9BC3-80D086293308}"/>
              </a:ext>
            </a:extLst>
          </p:cNvPr>
          <p:cNvSpPr txBox="1"/>
          <p:nvPr/>
        </p:nvSpPr>
        <p:spPr>
          <a:xfrm>
            <a:off x="175042" y="2383928"/>
            <a:ext cx="27432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 expected 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29EA63-0746-4896-AFC5-02D87EFFCE2E}"/>
                  </a:ext>
                </a:extLst>
              </p:cNvPr>
              <p:cNvSpPr txBox="1"/>
              <p:nvPr/>
            </p:nvSpPr>
            <p:spPr>
              <a:xfrm>
                <a:off x="174632" y="3255320"/>
                <a:ext cx="10221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29EA63-0746-4896-AFC5-02D87EFFCE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32" y="3255320"/>
                <a:ext cx="102216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70BD401-4F32-456C-B015-752FD42EFC40}"/>
                  </a:ext>
                </a:extLst>
              </p:cNvPr>
              <p:cNvSpPr txBox="1"/>
              <p:nvPr/>
            </p:nvSpPr>
            <p:spPr>
              <a:xfrm>
                <a:off x="3265812" y="2876926"/>
                <a:ext cx="8118467" cy="11041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​20⋅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30⋅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 </m:t>
                          </m:r>
                        </m:den>
                      </m:f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40⋅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70BD401-4F32-456C-B015-752FD42EF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5812" y="2876926"/>
                <a:ext cx="8118467" cy="110414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6818BE6-6998-4F6F-A7FD-ED479F74B973}"/>
                  </a:ext>
                </a:extLst>
              </p:cNvPr>
              <p:cNvSpPr txBox="1"/>
              <p:nvPr/>
            </p:nvSpPr>
            <p:spPr>
              <a:xfrm>
                <a:off x="3265813" y="4295858"/>
                <a:ext cx="24773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6818BE6-6998-4F6F-A7FD-ED479F74B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5813" y="4295858"/>
                <a:ext cx="247735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953212F-E7B8-4155-8ADC-EBE0B44BBA18}"/>
                  </a:ext>
                </a:extLst>
              </p:cNvPr>
              <p:cNvSpPr txBox="1"/>
              <p:nvPr/>
            </p:nvSpPr>
            <p:spPr>
              <a:xfrm>
                <a:off x="978313" y="3017454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953212F-E7B8-4155-8ADC-EBE0B44BB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8313" y="3017454"/>
                <a:ext cx="2762520" cy="113787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A73E695-9020-4772-BB61-C9396CFBBCE3}"/>
                  </a:ext>
                </a:extLst>
              </p:cNvPr>
              <p:cNvSpPr txBox="1"/>
              <p:nvPr/>
            </p:nvSpPr>
            <p:spPr>
              <a:xfrm>
                <a:off x="3203781" y="5134310"/>
                <a:ext cx="1074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A73E695-9020-4772-BB61-C9396CFBBC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3781" y="5134310"/>
                <a:ext cx="107410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TextBox 44">
            <a:extLst>
              <a:ext uri="{FF2B5EF4-FFF2-40B4-BE49-F238E27FC236}">
                <a16:creationId xmlns:a16="http://schemas.microsoft.com/office/drawing/2014/main" id="{1D785616-6A31-433E-848B-57FC527B9037}"/>
              </a:ext>
            </a:extLst>
          </p:cNvPr>
          <p:cNvSpPr txBox="1"/>
          <p:nvPr/>
        </p:nvSpPr>
        <p:spPr>
          <a:xfrm>
            <a:off x="175042" y="1834363"/>
            <a:ext cx="10217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DB22DEA-3569-434D-ACDC-930C8A420544}"/>
                  </a:ext>
                </a:extLst>
              </p:cNvPr>
              <p:cNvSpPr txBox="1"/>
              <p:nvPr/>
            </p:nvSpPr>
            <p:spPr>
              <a:xfrm>
                <a:off x="174632" y="5831938"/>
                <a:ext cx="69576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 algn="just"/>
                <a:r>
                  <a:rPr lang="en-GB" i="0" dirty="0">
                    <a:latin typeface="+mj-lt"/>
                  </a:rPr>
                  <a:t>The expected gain of the person is Rs. </a:t>
                </a:r>
                <a14:m>
                  <m:oMath xmlns:m="http://schemas.openxmlformats.org/officeDocument/2006/math">
                    <m:r>
                      <a:rPr lang="en-GB" i="0" dirty="0" smtClean="0"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lang="en-GB" i="0" dirty="0">
                    <a:latin typeface="+mj-lt"/>
                  </a:rPr>
                  <a:t>.</a:t>
                </a: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DB22DEA-3569-434D-ACDC-930C8A4205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32" y="5831938"/>
                <a:ext cx="6957688" cy="523220"/>
              </a:xfrm>
              <a:prstGeom prst="rect">
                <a:avLst/>
              </a:prstGeom>
              <a:blipFill>
                <a:blip r:embed="rId13"/>
                <a:stretch>
                  <a:fillRect l="-18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96082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44" grpId="0"/>
      <p:bldP spid="45" grpId="0"/>
      <p:bldP spid="48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1731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1200"/>
                  </a:spcBef>
                </a:pPr>
                <a:endParaRPr lang="en-GB" dirty="0">
                  <a:latin typeface="+mj-lt"/>
                </a:endParaRPr>
              </a:p>
              <a:p>
                <a:pPr>
                  <a:lnSpc>
                    <a:spcPct val="100000"/>
                  </a:lnSpc>
                  <a:spcBef>
                    <a:spcPts val="600"/>
                  </a:spcBef>
                </a:pPr>
                <a:r>
                  <a:rPr lang="en-GB" dirty="0">
                    <a:latin typeface="+mj-lt"/>
                  </a:rPr>
                  <a:t>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>
                    <a:latin typeface="+mj-lt"/>
                  </a:rPr>
                  <a:t> has P.D.F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173100"/>
              </a:xfrm>
              <a:prstGeom prst="rect">
                <a:avLst/>
              </a:prstGeom>
              <a:blipFill>
                <a:blip r:embed="rId2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19296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603640" y="3120643"/>
                <a:ext cx="2582196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40" y="3120643"/>
                <a:ext cx="2582196" cy="6141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2454682" y="4033311"/>
                <a:ext cx="259162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4682" y="4033311"/>
                <a:ext cx="2591620" cy="13516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4418648" y="864488"/>
                <a:ext cx="5317124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GB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18 </m:t>
                                  </m:r>
                                </m:den>
                              </m:f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 2≤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0     ;</m:t>
                              </m:r>
                              <m:r>
                                <m:rPr>
                                  <m:nor/>
                                </m:rPr>
                                <a:rPr lang="en-IN" sz="2800" b="0" i="0" smtClean="0">
                                  <a:solidFill>
                                    <a:schemeClr val="bg1"/>
                                  </a:solidFill>
                                  <a:latin typeface="+mj-lt"/>
                                </a:rPr>
                                <m:t>  </m:t>
                              </m:r>
                              <m:r>
                                <m:rPr>
                                  <m:nor/>
                                </m:rPr>
                                <a:rPr lang="en-GB" sz="2800" i="0">
                                  <a:solidFill>
                                    <a:schemeClr val="bg1"/>
                                  </a:solidFill>
                                  <a:latin typeface="+mj-lt"/>
                                </a:rPr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8648" y="864488"/>
                <a:ext cx="5317124" cy="168783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BAE94F7C-87B8-403A-BB33-51D39022409C}"/>
              </a:ext>
            </a:extLst>
          </p:cNvPr>
          <p:cNvSpPr txBox="1"/>
          <p:nvPr/>
        </p:nvSpPr>
        <p:spPr>
          <a:xfrm>
            <a:off x="131176" y="2526878"/>
            <a:ext cx="800671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Find the standard deviation of the distribution.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EA84CD-7B89-477B-B6E7-411A94BCCF91}"/>
                  </a:ext>
                </a:extLst>
              </p:cNvPr>
              <p:cNvSpPr txBox="1"/>
              <p:nvPr/>
            </p:nvSpPr>
            <p:spPr>
              <a:xfrm>
                <a:off x="4134532" y="3239110"/>
                <a:ext cx="4003357" cy="5786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EA84CD-7B89-477B-B6E7-411A94BCCF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4532" y="3239110"/>
                <a:ext cx="4003357" cy="5786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603641" y="4437790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41" y="4437790"/>
                <a:ext cx="92184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83C57D7-B4FA-4F23-892A-7063629B7599}"/>
                  </a:ext>
                </a:extLst>
              </p:cNvPr>
              <p:cNvSpPr txBox="1"/>
              <p:nvPr/>
            </p:nvSpPr>
            <p:spPr>
              <a:xfrm>
                <a:off x="5046302" y="4033311"/>
                <a:ext cx="3430041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83C57D7-B4FA-4F23-892A-7063629B75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6302" y="4033311"/>
                <a:ext cx="3430041" cy="138634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/>
              <p:nvPr/>
            </p:nvSpPr>
            <p:spPr>
              <a:xfrm>
                <a:off x="8137889" y="4024152"/>
                <a:ext cx="3686218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889" y="4024152"/>
                <a:ext cx="3686218" cy="138634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50761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5" grpId="0"/>
      <p:bldP spid="22" grpId="0"/>
      <p:bldP spid="23" grpId="0"/>
      <p:bldP spid="29" grpId="0"/>
      <p:bldP spid="30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317891" y="1135227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891" y="1135227"/>
                <a:ext cx="9218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/>
              <p:nvPr/>
            </p:nvSpPr>
            <p:spPr>
              <a:xfrm>
                <a:off x="2124032" y="684216"/>
                <a:ext cx="3686218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684216"/>
                <a:ext cx="3686218" cy="13863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/>
              <p:nvPr/>
            </p:nvSpPr>
            <p:spPr>
              <a:xfrm>
                <a:off x="5713904" y="768978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sSup>
                                    <m:sSup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3904" y="768978"/>
                <a:ext cx="3597318" cy="124380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0EE04BF-541D-4F8C-A6AC-034F25F41A79}"/>
                  </a:ext>
                </a:extLst>
              </p:cNvPr>
              <p:cNvSpPr txBox="1"/>
              <p:nvPr/>
            </p:nvSpPr>
            <p:spPr>
              <a:xfrm>
                <a:off x="2124032" y="2173815"/>
                <a:ext cx="6137318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3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chemeClr val="bg1"/>
                              </a:solidFill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 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0EE04BF-541D-4F8C-A6AC-034F25F41A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2173815"/>
                <a:ext cx="6137318" cy="10691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1662CB8-EA3A-4930-B7C6-6DF55DBC393B}"/>
                  </a:ext>
                </a:extLst>
              </p:cNvPr>
              <p:cNvSpPr txBox="1"/>
              <p:nvPr/>
            </p:nvSpPr>
            <p:spPr>
              <a:xfrm>
                <a:off x="2124032" y="3346211"/>
                <a:ext cx="4714916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</m:t>
                                  </m:r>
                                  <m:d>
                                    <m:d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12</m:t>
                                      </m:r>
                                    </m:e>
                                  </m:d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</m:t>
                                  </m:r>
                                  <m:d>
                                    <m:d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56</m:t>
                                      </m:r>
                                    </m:e>
                                  </m:d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1662CB8-EA3A-4930-B7C6-6DF55DBC39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3346211"/>
                <a:ext cx="4714916" cy="106913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FA4C88-336D-4E35-8188-B4BE8920EF5F}"/>
                  </a:ext>
                </a:extLst>
              </p:cNvPr>
              <p:cNvSpPr txBox="1"/>
              <p:nvPr/>
            </p:nvSpPr>
            <p:spPr>
              <a:xfrm>
                <a:off x="2124032" y="4518607"/>
                <a:ext cx="3686218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12</m:t>
                                  </m:r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FA4C88-336D-4E35-8188-B4BE8920EF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4518607"/>
                <a:ext cx="3686218" cy="106913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2124032" y="5691002"/>
                <a:ext cx="118110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5691002"/>
                <a:ext cx="1181100" cy="90024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729D950-85F1-4677-B56B-0B3446159DCA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729D950-85F1-4677-B56B-0B3446159D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3E6D46F-C825-424C-A260-9BE463134591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3E6D46F-C825-424C-A260-9BE4631345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1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41AA4A9-47E4-4F4D-8951-4DBD6C30F7F0}"/>
                  </a:ext>
                </a:extLst>
              </p:cNvPr>
              <p:cNvSpPr txBox="1"/>
              <p:nvPr/>
            </p:nvSpPr>
            <p:spPr>
              <a:xfrm>
                <a:off x="3414600" y="2227463"/>
                <a:ext cx="200043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41AA4A9-47E4-4F4D-8951-4DBD6C30F7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4600" y="2227463"/>
                <a:ext cx="2000430" cy="95410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A925D88-A38F-4695-A486-4F828C7E251B}"/>
                  </a:ext>
                </a:extLst>
              </p:cNvPr>
              <p:cNvSpPr txBox="1"/>
              <p:nvPr/>
            </p:nvSpPr>
            <p:spPr>
              <a:xfrm>
                <a:off x="5318652" y="2226052"/>
                <a:ext cx="2504159" cy="9569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</m:e>
                          </m:d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A925D88-A38F-4695-A486-4F828C7E25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8652" y="2226052"/>
                <a:ext cx="2504159" cy="95692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3449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20" grpId="0"/>
      <p:bldP spid="21" grpId="0"/>
      <p:bldP spid="25" grpId="0"/>
      <p:bldP spid="15" grpId="0"/>
      <p:bldP spid="16" grpId="0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blipFill>
                <a:blip r:embed="rId2"/>
                <a:stretch>
                  <a:fillRect l="-19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/>
              <p:nvPr/>
            </p:nvSpPr>
            <p:spPr>
              <a:xfrm>
                <a:off x="2132235" y="3675712"/>
                <a:ext cx="3766820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3675712"/>
                <a:ext cx="3766820" cy="13863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4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8FAA074-841E-4727-86AB-5EB67B1BBD65}"/>
                  </a:ext>
                </a:extLst>
              </p:cNvPr>
              <p:cNvSpPr txBox="1"/>
              <p:nvPr/>
            </p:nvSpPr>
            <p:spPr>
              <a:xfrm>
                <a:off x="2132235" y="721755"/>
                <a:ext cx="2802299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8FAA074-841E-4727-86AB-5EB67B1BBD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721755"/>
                <a:ext cx="2802299" cy="135165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2311BC1-9E95-4DE9-9AE0-AE94F2BD5F31}"/>
                  </a:ext>
                </a:extLst>
              </p:cNvPr>
              <p:cNvSpPr txBox="1"/>
              <p:nvPr/>
            </p:nvSpPr>
            <p:spPr>
              <a:xfrm>
                <a:off x="2132235" y="2181388"/>
                <a:ext cx="3430041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2311BC1-9E95-4DE9-9AE0-AE94F2BD5F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2181388"/>
                <a:ext cx="3430041" cy="138634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BE6D940-131D-4C7D-AD06-33E21EE3E03B}"/>
                  </a:ext>
                </a:extLst>
              </p:cNvPr>
              <p:cNvSpPr txBox="1"/>
              <p:nvPr/>
            </p:nvSpPr>
            <p:spPr>
              <a:xfrm>
                <a:off x="2132235" y="5247002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sSup>
                                    <m:sSup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BE6D940-131D-4C7D-AD06-33E21EE3E0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5247002"/>
                <a:ext cx="3597318" cy="124380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/>
              <p:nvPr/>
            </p:nvSpPr>
            <p:spPr>
              <a:xfrm>
                <a:off x="5729553" y="5247002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29553" y="5247002"/>
                <a:ext cx="3597318" cy="124380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2F130F6-D3CF-445D-BB85-FFFA6D86FB7D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2F130F6-D3CF-445D-BB85-FFFA6D86FB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AB987D-8AD7-485C-95C9-85843AA49CDD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AB987D-8AD7-485C-95C9-85843AA49C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0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55742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1" grpId="0"/>
      <p:bldP spid="12" grpId="0"/>
      <p:bldP spid="15" grpId="0"/>
      <p:bldP spid="16" grpId="0"/>
      <p:bldP spid="17" grpId="0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blipFill>
                <a:blip r:embed="rId2"/>
                <a:stretch>
                  <a:fillRect l="-19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4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/>
              <p:nvPr/>
            </p:nvSpPr>
            <p:spPr>
              <a:xfrm>
                <a:off x="2193195" y="752750"/>
                <a:ext cx="3274155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3195" y="752750"/>
                <a:ext cx="3274155" cy="124380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0EA61A2-0C72-4FD8-9CF1-B904669FE9D1}"/>
                  </a:ext>
                </a:extLst>
              </p:cNvPr>
              <p:cNvSpPr txBox="1"/>
              <p:nvPr/>
            </p:nvSpPr>
            <p:spPr>
              <a:xfrm>
                <a:off x="2240280" y="2154837"/>
                <a:ext cx="5608320" cy="12098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d>
                                    <m:d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sSupPr>
                                          <m:ctrlP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IN" sz="2800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e>
                                        <m:sup>
                                          <m:r>
                                            <a:rPr lang="en-IN" sz="2800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sup>
                                      </m:s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p>
                                        <m:sSupPr>
                                          <m:ctrlP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e>
                                        <m:sup>
                                          <m: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sup>
                                      </m:sSup>
                                    </m:e>
                                  </m:d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den>
                              </m:f>
                            </m:e>
                          </m:d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0EA61A2-0C72-4FD8-9CF1-B904669FE9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2154837"/>
                <a:ext cx="5608320" cy="120988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6B49832-E226-4D38-9AF2-4899CD3A18C0}"/>
                  </a:ext>
                </a:extLst>
              </p:cNvPr>
              <p:cNvSpPr txBox="1"/>
              <p:nvPr/>
            </p:nvSpPr>
            <p:spPr>
              <a:xfrm>
                <a:off x="3511037" y="2530795"/>
                <a:ext cx="16705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sup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6B49832-E226-4D38-9AF2-4899CD3A18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1037" y="2530795"/>
                <a:ext cx="167056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DD3A571-E5EF-47EB-8900-2AD3A8D975B0}"/>
                  </a:ext>
                </a:extLst>
              </p:cNvPr>
              <p:cNvSpPr txBox="1"/>
              <p:nvPr/>
            </p:nvSpPr>
            <p:spPr>
              <a:xfrm>
                <a:off x="2240280" y="3523005"/>
                <a:ext cx="3703320" cy="9133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56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240 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DD3A571-E5EF-47EB-8900-2AD3A8D975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3523005"/>
                <a:ext cx="3703320" cy="91332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/>
              <p:nvPr/>
            </p:nvSpPr>
            <p:spPr>
              <a:xfrm>
                <a:off x="2240280" y="4748634"/>
                <a:ext cx="119277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4748634"/>
                <a:ext cx="1192775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8BA55F-DE9B-4EFA-AD1F-44E6A4C86B0E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8BA55F-DE9B-4EFA-AD1F-44E6A4C86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63B61C-EEDD-4DAA-AE7E-C4A723D8E0A8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63B61C-EEDD-4DAA-AE7E-C4A723D8E0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0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ECEA9DC-2748-42D2-A868-752B66EE6637}"/>
                  </a:ext>
                </a:extLst>
              </p:cNvPr>
              <p:cNvSpPr txBox="1"/>
              <p:nvPr/>
            </p:nvSpPr>
            <p:spPr>
              <a:xfrm>
                <a:off x="5105400" y="2260762"/>
                <a:ext cx="215646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sup>
                              </m:sSup>
                            </m:e>
                          </m:d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ECEA9DC-2748-42D2-A868-752B66EE66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05400" y="2260762"/>
                <a:ext cx="2156460" cy="95231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23397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8" grpId="0"/>
      <p:bldP spid="9" grpId="0"/>
      <p:bldP spid="10" grpId="0"/>
      <p:bldP spid="15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3887123" y="1019120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7123" y="1019120"/>
                <a:ext cx="9218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4693453" y="783771"/>
                <a:ext cx="118110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93453" y="783771"/>
                <a:ext cx="1181100" cy="90024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489600" y="1019120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600" y="1019120"/>
                <a:ext cx="10554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/>
              <p:nvPr/>
            </p:nvSpPr>
            <p:spPr>
              <a:xfrm>
                <a:off x="2495139" y="782232"/>
                <a:ext cx="119277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5139" y="782232"/>
                <a:ext cx="1192775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E45AC67-1815-48F7-9C38-44C6327E4986}"/>
                  </a:ext>
                </a:extLst>
              </p:cNvPr>
              <p:cNvSpPr txBox="1"/>
              <p:nvPr/>
            </p:nvSpPr>
            <p:spPr>
              <a:xfrm>
                <a:off x="6002582" y="1901014"/>
                <a:ext cx="2582196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E45AC67-1815-48F7-9C38-44C6327E49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2582" y="1901014"/>
                <a:ext cx="2582196" cy="61414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B0DB908-EF77-4681-BEE3-72ECA12A9EA2}"/>
                  </a:ext>
                </a:extLst>
              </p:cNvPr>
              <p:cNvSpPr txBox="1"/>
              <p:nvPr/>
            </p:nvSpPr>
            <p:spPr>
              <a:xfrm>
                <a:off x="1489600" y="1991936"/>
                <a:ext cx="40033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B0DB908-EF77-4681-BEE3-72ECA12A9E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600" y="1991936"/>
                <a:ext cx="40033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539243-63B9-4579-9A62-0F1C457929D5}"/>
                  </a:ext>
                </a:extLst>
              </p:cNvPr>
              <p:cNvSpPr txBox="1"/>
              <p:nvPr/>
            </p:nvSpPr>
            <p:spPr>
              <a:xfrm>
                <a:off x="2295931" y="2787846"/>
                <a:ext cx="2914221" cy="11362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83​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27 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539243-63B9-4579-9A62-0F1C45792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2787846"/>
                <a:ext cx="2914221" cy="11362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5C4E9FE-FBED-45AA-8D7D-DED4553FFB25}"/>
                  </a:ext>
                </a:extLst>
              </p:cNvPr>
              <p:cNvSpPr txBox="1"/>
              <p:nvPr/>
            </p:nvSpPr>
            <p:spPr>
              <a:xfrm>
                <a:off x="2295931" y="4298319"/>
                <a:ext cx="143010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239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729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5C4E9FE-FBED-45AA-8D7D-DED4553FFB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4298319"/>
                <a:ext cx="1430101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DEA5FA-CFF9-4697-94F3-841E68D7D545}"/>
                  </a:ext>
                </a:extLst>
              </p:cNvPr>
              <p:cNvSpPr txBox="1"/>
              <p:nvPr/>
            </p:nvSpPr>
            <p:spPr>
              <a:xfrm>
                <a:off x="2295931" y="5577270"/>
                <a:ext cx="17535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.3278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DEA5FA-CFF9-4697-94F3-841E68D7D5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5577270"/>
                <a:ext cx="175355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31EA6AD-92C5-42A1-897C-9CEEFD38A1C6}"/>
                  </a:ext>
                </a:extLst>
              </p:cNvPr>
              <p:cNvSpPr txBox="1"/>
              <p:nvPr/>
            </p:nvSpPr>
            <p:spPr>
              <a:xfrm>
                <a:off x="6791945" y="2814858"/>
                <a:ext cx="2582196" cy="5739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0.3278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31EA6AD-92C5-42A1-897C-9CEEFD38A1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1945" y="2814858"/>
                <a:ext cx="2582196" cy="57394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53A2949-2ECC-448B-BF4A-7481EFFB68DF}"/>
                  </a:ext>
                </a:extLst>
              </p:cNvPr>
              <p:cNvSpPr txBox="1"/>
              <p:nvPr/>
            </p:nvSpPr>
            <p:spPr>
              <a:xfrm>
                <a:off x="6791945" y="3688500"/>
                <a:ext cx="258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0.5726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53A2949-2ECC-448B-BF4A-7481EFFB6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1945" y="3688500"/>
                <a:ext cx="258219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EA40F0D-686D-45A3-8C03-B67F098AA49E}"/>
              </a:ext>
            </a:extLst>
          </p:cNvPr>
          <p:cNvCxnSpPr>
            <a:cxnSpLocks/>
          </p:cNvCxnSpPr>
          <p:nvPr/>
        </p:nvCxnSpPr>
        <p:spPr>
          <a:xfrm>
            <a:off x="5606370" y="1991936"/>
            <a:ext cx="0" cy="399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8275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9" grpId="0"/>
      <p:bldP spid="20" grpId="0"/>
      <p:bldP spid="21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7</a:t>
            </a:r>
            <a:br>
              <a:rPr lang="en-IN" dirty="0"/>
            </a:br>
            <a:r>
              <a:rPr lang="en-GB" dirty="0"/>
              <a:t>Cumulative Distribution Function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94456085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70E0401-8899-8202-6C9D-420D3D8CEA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even need a CDF?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280F4F-218E-E1D0-C85C-E213823C496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1839"/>
              </a:xfrm>
            </p:spPr>
            <p:txBody>
              <a:bodyPr/>
              <a:lstStyle/>
              <a:p>
                <a:r>
                  <a:rPr lang="en-US" dirty="0"/>
                  <a:t>Probability started with simple questions like:</a:t>
                </a:r>
              </a:p>
              <a:p>
                <a:pPr lvl="1"/>
                <a:r>
                  <a:rPr lang="en-US" dirty="0"/>
                  <a:t>What is the probability of getting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heads?</a:t>
                </a:r>
              </a:p>
              <a:p>
                <a:pPr lvl="1"/>
                <a:r>
                  <a:rPr lang="en-US" dirty="0"/>
                  <a:t>What is the probability that height is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lang="en-US" dirty="0"/>
                  <a:t> cm?</a:t>
                </a:r>
              </a:p>
              <a:p>
                <a:r>
                  <a:rPr lang="en-US" dirty="0"/>
                  <a:t>But real-life questions are usually cumulative:</a:t>
                </a:r>
              </a:p>
              <a:p>
                <a:pPr lvl="1"/>
                <a:r>
                  <a:rPr lang="en-US" dirty="0"/>
                  <a:t>What is the probability that age is less than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lang="en-US" dirty="0"/>
                  <a:t>?</a:t>
                </a:r>
              </a:p>
              <a:p>
                <a:pPr lvl="1"/>
                <a:r>
                  <a:rPr lang="en-US" dirty="0"/>
                  <a:t>What is the probability that life of a bulb is at most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lang="en-US" dirty="0"/>
                  <a:t> hours?</a:t>
                </a:r>
              </a:p>
              <a:p>
                <a:pPr lvl="1"/>
                <a:r>
                  <a:rPr lang="en-US" dirty="0"/>
                  <a:t>What is the probability that marks do not exceed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? </a:t>
                </a:r>
              </a:p>
              <a:p>
                <a:r>
                  <a:rPr lang="en-US" dirty="0"/>
                  <a:t>These questions are not about a single value, but about everything up to a value. That is why we need the Cumulative Distribution Function (CDF).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280F4F-218E-E1D0-C85C-E213823C496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1839"/>
              </a:xfrm>
              <a:blipFill>
                <a:blip r:embed="rId2"/>
                <a:stretch>
                  <a:fillRect l="-971" r="-1074" b="-136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34223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07A554-C67A-D251-DB37-0DB44710C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BE1A054-AEED-4869-1F4A-C664DC1304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Cumulative Distribution Function(CDF)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F7CBE3B-7FAE-79CE-00F6-F2D96B853DF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4368799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be a random variable. The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F</m:t>
                    </m:r>
                  </m:oMath>
                </a14:m>
                <a:r>
                  <a:rPr lang="en-IN" dirty="0"/>
                  <a:t> defined for all real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by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3525" indent="0">
                  <a:buNone/>
                </a:pPr>
                <a:r>
                  <a:rPr lang="en-IN" dirty="0"/>
                  <a:t>is called Distribution Function or Cumulative Distribution Function(CDF) of the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b="0" dirty="0"/>
              </a:p>
              <a:p>
                <a:r>
                  <a:rPr lang="en-US" dirty="0"/>
                  <a:t>Meaning : </a:t>
                </a:r>
                <a:r>
                  <a:rPr lang="en-US" i="1" dirty="0">
                    <a:solidFill>
                      <a:srgbClr val="0070C0"/>
                    </a:solidFill>
                  </a:rPr>
                  <a:t>CDF gives the probability accumulated from the smallest possible value up to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IN" dirty="0"/>
                  <a:t>Example: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≤3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b="0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F7CBE3B-7FAE-79CE-00F6-F2D96B853DF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4368799"/>
              </a:xfrm>
              <a:blipFill>
                <a:blip r:embed="rId2"/>
                <a:stretch>
                  <a:fillRect l="-971" r="-1074" b="-238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39A94793-6804-FB09-D196-CAED79D4B8FA}"/>
                  </a:ext>
                </a:extLst>
              </p:cNvPr>
              <p:cNvSpPr txBox="1"/>
              <p:nvPr/>
            </p:nvSpPr>
            <p:spPr>
              <a:xfrm>
                <a:off x="2565814" y="5662491"/>
                <a:ext cx="271911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≤3</m:t>
                          </m:r>
                        </m:e>
                      </m:d>
                    </m:oMath>
                  </m:oMathPara>
                </a14:m>
                <a:endParaRPr kumimoji="0" lang="en-IN" sz="180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39A94793-6804-FB09-D196-CAED79D4B8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5814" y="5662491"/>
                <a:ext cx="271911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C8EC59E-95F9-4B8C-F76E-FFC1287E281B}"/>
                  </a:ext>
                </a:extLst>
              </p:cNvPr>
              <p:cNvSpPr txBox="1"/>
              <p:nvPr/>
            </p:nvSpPr>
            <p:spPr>
              <a:xfrm>
                <a:off x="4647749" y="5662491"/>
                <a:ext cx="271911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kumimoji="0" lang="en-IN" sz="180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C8EC59E-95F9-4B8C-F76E-FFC1287E28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7749" y="5662491"/>
                <a:ext cx="271911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56274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Discrete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953758"/>
              </a:xfrm>
            </p:spPr>
            <p:txBody>
              <a:bodyPr/>
              <a:lstStyle/>
              <a:p>
                <a:r>
                  <a:rPr lang="en-IN" b="1" dirty="0"/>
                  <a:t>Discrete Distribution Function</a:t>
                </a:r>
              </a:p>
              <a:p>
                <a:pPr lvl="1"/>
                <a:r>
                  <a:rPr lang="en-GB" dirty="0"/>
                  <a:t>The distribution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>
                    <a:solidFill>
                      <a:srgbClr val="002060"/>
                    </a:solidFill>
                  </a:rPr>
                  <a:t> </a:t>
                </a:r>
                <a:r>
                  <a:rPr lang="en-GB" dirty="0"/>
                  <a:t>of the discrete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by </a:t>
                </a:r>
              </a:p>
              <a:p>
                <a:pPr marL="628650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b="1" i="0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≤ 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  <m:sup/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en-GB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GB" b="1" i="1" dirty="0" err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b="1" i="0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b="1" i="0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IN" b="1" dirty="0"/>
              </a:p>
              <a:p>
                <a:pPr marL="622300" indent="0">
                  <a:lnSpc>
                    <a:spcPct val="100000"/>
                  </a:lnSpc>
                  <a:buNone/>
                </a:pPr>
                <a:r>
                  <a:rPr lang="en-GB" dirty="0"/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be a discrete random variable which takes the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.</a:t>
                </a:r>
              </a:p>
              <a:p>
                <a:pPr marL="622300" indent="0" algn="ctr">
                  <a:lnSpc>
                    <a:spcPct val="100000"/>
                  </a:lnSpc>
                  <a:buNone/>
                </a:pPr>
                <a:r>
                  <a:rPr lang="en-GB" dirty="0"/>
                  <a:t>such that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&lt;⋯</m:t>
                    </m:r>
                  </m:oMath>
                </a14:m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a:rPr lang="en-GB" dirty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b="0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 with probabilities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GB" i="0" dirty="0" smtClean="0"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GB" i="0" dirty="0" smtClean="0"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d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dirty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dirty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r>
                  <a:rPr lang="en-GB" dirty="0"/>
                  <a:t> </a:t>
                </a:r>
              </a:p>
              <a:p>
                <a:pPr marL="622300" indent="0" algn="ctr">
                  <a:lnSpc>
                    <a:spcPct val="100000"/>
                  </a:lnSpc>
                  <a:buNone/>
                </a:pPr>
                <a:r>
                  <a:rPr lang="en-GB" dirty="0"/>
                  <a:t>&amp;</a:t>
                </a:r>
              </a:p>
              <a:p>
                <a:pPr marL="622300" indent="0">
                  <a:lnSpc>
                    <a:spcPct val="112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GB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GB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GB" i="0" dirty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≥0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for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all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values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of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nary>
                        <m:naryPr>
                          <m:chr m:val="∑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=1 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GB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GB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i="0" dirty="0" smtClean="0"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GB" i="0" dirty="0" smtClean="0"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d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nary>
                    </m:oMath>
                  </m:oMathPara>
                </a14:m>
                <a:endParaRPr lang="en-GB" dirty="0"/>
              </a:p>
              <a:p>
                <a:pPr marL="622300" indent="0">
                  <a:lnSpc>
                    <a:spcPct val="100000"/>
                  </a:lnSpc>
                  <a:buNone/>
                </a:pPr>
                <a:r>
                  <a:rPr lang="en-GB" dirty="0"/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any integer.</a:t>
                </a:r>
              </a:p>
              <a:p>
                <a:pPr marL="6223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953758"/>
              </a:xfrm>
              <a:blipFill>
                <a:blip r:embed="rId2"/>
                <a:stretch>
                  <a:fillRect l="-971" b="-184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2220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Discrete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2640"/>
                <a:ext cx="11929641" cy="1784917"/>
              </a:xfrm>
            </p:spPr>
            <p:txBody>
              <a:bodyPr/>
              <a:lstStyle/>
              <a:p>
                <a:r>
                  <a:rPr lang="en-IN" b="1" dirty="0"/>
                  <a:t>Discrete Distribution Function</a:t>
                </a:r>
              </a:p>
              <a:p>
                <a:pPr lvl="1"/>
                <a:r>
                  <a:rPr lang="en-US" dirty="0"/>
                  <a:t>The set of pairs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 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</m:d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i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=1, 2 ,…</m:t>
                    </m:r>
                  </m:oMath>
                </a14:m>
                <a:r>
                  <a:rPr lang="en-US" dirty="0"/>
                  <a:t> is known as the cumulative probability distribution.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2640"/>
                <a:ext cx="11929641" cy="1784917"/>
              </a:xfrm>
              <a:blipFill>
                <a:blip r:embed="rId2"/>
                <a:stretch>
                  <a:fillRect l="-971" r="-1074" b="-924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5" name="Table 2">
            <a:extLst>
              <a:ext uri="{FF2B5EF4-FFF2-40B4-BE49-F238E27FC236}">
                <a16:creationId xmlns:a16="http://schemas.microsoft.com/office/drawing/2014/main" id="{6D37302F-E57B-46C8-BCA8-59A5C952C31E}"/>
              </a:ext>
            </a:extLst>
          </p:cNvPr>
          <p:cNvGraphicFramePr>
            <a:graphicFrameLocks noGrp="1"/>
          </p:cNvGraphicFramePr>
          <p:nvPr/>
        </p:nvGraphicFramePr>
        <p:xfrm>
          <a:off x="878841" y="2823861"/>
          <a:ext cx="1019340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147600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688303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2461067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3668032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83004793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C39AA80-7E19-4894-93DA-20E386175E83}"/>
                  </a:ext>
                </a:extLst>
              </p:cNvPr>
              <p:cNvSpPr txBox="1"/>
              <p:nvPr/>
            </p:nvSpPr>
            <p:spPr>
              <a:xfrm>
                <a:off x="1179163" y="2841465"/>
                <a:ext cx="85663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𝐗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C39AA80-7E19-4894-93DA-20E386175E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9163" y="2841465"/>
                <a:ext cx="8566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7D6E60-C35C-4223-8AFF-C6A230E75D18}"/>
                  </a:ext>
                </a:extLst>
              </p:cNvPr>
              <p:cNvSpPr txBox="1"/>
              <p:nvPr/>
            </p:nvSpPr>
            <p:spPr>
              <a:xfrm>
                <a:off x="1179163" y="3478828"/>
                <a:ext cx="85663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𝐅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7D6E60-C35C-4223-8AFF-C6A230E75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9163" y="3478828"/>
                <a:ext cx="856638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4E2151-D9A7-48DF-B694-294C0921D865}"/>
                  </a:ext>
                </a:extLst>
              </p:cNvPr>
              <p:cNvSpPr txBox="1"/>
              <p:nvPr/>
            </p:nvSpPr>
            <p:spPr>
              <a:xfrm>
                <a:off x="2869740" y="284146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4E2151-D9A7-48DF-B694-294C0921D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9740" y="2841465"/>
                <a:ext cx="6536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0B40002-3903-45FA-8B8F-C8B0D3665B38}"/>
                  </a:ext>
                </a:extLst>
              </p:cNvPr>
              <p:cNvSpPr txBox="1"/>
              <p:nvPr/>
            </p:nvSpPr>
            <p:spPr>
              <a:xfrm>
                <a:off x="4974221" y="284146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0B40002-3903-45FA-8B8F-C8B0D3665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4221" y="2841465"/>
                <a:ext cx="65361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DB92B05-1D4A-40DC-8AB7-82C2144B1BD8}"/>
                  </a:ext>
                </a:extLst>
              </p:cNvPr>
              <p:cNvSpPr txBox="1"/>
              <p:nvPr/>
            </p:nvSpPr>
            <p:spPr>
              <a:xfrm>
                <a:off x="8169640" y="28522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DB92B05-1D4A-40DC-8AB7-82C2144B1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9640" y="2852244"/>
                <a:ext cx="6536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DE8FFAD-175C-4744-BAE4-B48B6F687AEC}"/>
                  </a:ext>
                </a:extLst>
              </p:cNvPr>
              <p:cNvSpPr txBox="1"/>
              <p:nvPr/>
            </p:nvSpPr>
            <p:spPr>
              <a:xfrm>
                <a:off x="2523445" y="34788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DE8FFAD-175C-4744-BAE4-B48B6F687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3445" y="3478828"/>
                <a:ext cx="133514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9A9C16-8F95-4D00-B60C-9118BC8F76BD}"/>
                  </a:ext>
                </a:extLst>
              </p:cNvPr>
              <p:cNvSpPr txBox="1"/>
              <p:nvPr/>
            </p:nvSpPr>
            <p:spPr>
              <a:xfrm>
                <a:off x="4105529" y="3478828"/>
                <a:ext cx="9985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9A9C16-8F95-4D00-B60C-9118BC8F76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5529" y="3478828"/>
                <a:ext cx="99852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21B253A-F550-42BF-B9A5-70E88346161B}"/>
                  </a:ext>
                </a:extLst>
              </p:cNvPr>
              <p:cNvSpPr txBox="1"/>
              <p:nvPr/>
            </p:nvSpPr>
            <p:spPr>
              <a:xfrm>
                <a:off x="5032517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21B253A-F550-42BF-B9A5-70E883461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2517" y="3489607"/>
                <a:ext cx="133514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55A39B3-2654-4030-9BF3-065C5F462C6F}"/>
                  </a:ext>
                </a:extLst>
              </p:cNvPr>
              <p:cNvSpPr txBox="1"/>
              <p:nvPr/>
            </p:nvSpPr>
            <p:spPr>
              <a:xfrm>
                <a:off x="10265929" y="2891372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…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55A39B3-2654-4030-9BF3-065C5F462C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65929" y="2891372"/>
                <a:ext cx="6536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7924A4-B28E-4941-BD5B-438210E5C97F}"/>
                  </a:ext>
                </a:extLst>
              </p:cNvPr>
              <p:cNvSpPr txBox="1"/>
              <p:nvPr/>
            </p:nvSpPr>
            <p:spPr>
              <a:xfrm>
                <a:off x="6539952" y="3478828"/>
                <a:ext cx="9985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7924A4-B28E-4941-BD5B-438210E5C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9952" y="3478828"/>
                <a:ext cx="9985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772F230-2110-43EE-A393-B9CC187BE4EF}"/>
                  </a:ext>
                </a:extLst>
              </p:cNvPr>
              <p:cNvSpPr txBox="1"/>
              <p:nvPr/>
            </p:nvSpPr>
            <p:spPr>
              <a:xfrm>
                <a:off x="7488109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772F230-2110-43EE-A393-B9CC187BE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8109" y="3489607"/>
                <a:ext cx="133514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5D5A7D8-4D8F-49A7-942E-0C6AF15950C5}"/>
                  </a:ext>
                </a:extLst>
              </p:cNvPr>
              <p:cNvSpPr txBox="1"/>
              <p:nvPr/>
            </p:nvSpPr>
            <p:spPr>
              <a:xfrm>
                <a:off x="8784808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5D5A7D8-4D8F-49A7-942E-0C6AF15950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4808" y="3489607"/>
                <a:ext cx="13351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B55F120-5656-44F4-9D56-595AE61DE66D}"/>
                  </a:ext>
                </a:extLst>
              </p:cNvPr>
              <p:cNvSpPr txBox="1"/>
              <p:nvPr/>
            </p:nvSpPr>
            <p:spPr>
              <a:xfrm>
                <a:off x="10265929" y="349071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…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B55F120-5656-44F4-9D56-595AE61DE6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65929" y="3490713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Content Placeholder 1">
            <a:extLst>
              <a:ext uri="{FF2B5EF4-FFF2-40B4-BE49-F238E27FC236}">
                <a16:creationId xmlns:a16="http://schemas.microsoft.com/office/drawing/2014/main" id="{CEFB95FD-30A2-5E68-0B85-D998E2961523}"/>
              </a:ext>
            </a:extLst>
          </p:cNvPr>
          <p:cNvSpPr txBox="1">
            <a:spLocks/>
          </p:cNvSpPr>
          <p:nvPr/>
        </p:nvSpPr>
        <p:spPr>
          <a:xfrm>
            <a:off x="131179" y="4437543"/>
            <a:ext cx="11929641" cy="137959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FF0000"/>
                </a:solidFill>
              </a:rPr>
              <a:t>PMF</a:t>
            </a:r>
            <a:r>
              <a:rPr lang="en-US" dirty="0"/>
              <a:t> asks "What is the probability </a:t>
            </a:r>
            <a:r>
              <a:rPr lang="en-US" dirty="0">
                <a:solidFill>
                  <a:srgbClr val="FF0000"/>
                </a:solidFill>
              </a:rPr>
              <a:t>at</a:t>
            </a:r>
            <a:r>
              <a:rPr lang="en-US" dirty="0"/>
              <a:t> this value?“</a:t>
            </a:r>
          </a:p>
          <a:p>
            <a:r>
              <a:rPr lang="en-US" dirty="0">
                <a:solidFill>
                  <a:srgbClr val="FF0000"/>
                </a:solidFill>
              </a:rPr>
              <a:t>CDF</a:t>
            </a:r>
            <a:r>
              <a:rPr lang="en-US" dirty="0"/>
              <a:t> asks "What is the probability </a:t>
            </a:r>
            <a:r>
              <a:rPr lang="en-US" dirty="0">
                <a:solidFill>
                  <a:srgbClr val="FF0000"/>
                </a:solidFill>
              </a:rPr>
              <a:t>up to </a:t>
            </a:r>
            <a:r>
              <a:rPr lang="en-US" dirty="0"/>
              <a:t>this value?"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938076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2" grpId="0"/>
      <p:bldP spid="14" grpId="0"/>
      <p:bldP spid="15" grpId="0"/>
      <p:bldP spid="16" grpId="0"/>
      <p:bldP spid="18" grpId="0"/>
      <p:bldP spid="19" grpId="0"/>
      <p:bldP spid="20" grpId="0"/>
      <p:bldP spid="2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F6404A-0F9C-BF5B-97EB-8121DC14B5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AB390BB-ADBB-8DBE-D2D1-65DBE5FA1E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49718D1-AAF9-8AB4-603D-84FC978324D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</p:spPr>
            <p:txBody>
              <a:bodyPr/>
              <a:lstStyle/>
              <a:p>
                <a:pPr>
                  <a:tabLst>
                    <a:tab pos="1614488" algn="l"/>
                  </a:tabLst>
                </a:pPr>
                <a:r>
                  <a:rPr lang="en-US" b="1" dirty="0"/>
                  <a:t>Example:</a:t>
                </a:r>
                <a:r>
                  <a:rPr lang="en-US" dirty="0"/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the random variable representing the number of heads in two  tosses of a fair coin. Find the distribution function.</a:t>
                </a:r>
              </a:p>
              <a:p>
                <a:pPr>
                  <a:tabLst>
                    <a:tab pos="1614488" algn="l"/>
                  </a:tabLst>
                </a:pPr>
                <a:r>
                  <a:rPr lang="en-IN" b="1" dirty="0"/>
                  <a:t>Solution:</a:t>
                </a:r>
                <a:r>
                  <a:rPr lang="en-IN" dirty="0"/>
                  <a:t> Sample Space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TT</m:t>
                        </m:r>
                      </m:e>
                    </m:d>
                  </m:oMath>
                </a14:m>
                <a:endParaRPr lang="en-IN" dirty="0"/>
              </a:p>
              <a:p>
                <a:pPr lvl="1">
                  <a:tabLst>
                    <a:tab pos="1614488" algn="l"/>
                  </a:tabLst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number of heads in two tosses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49718D1-AAF9-8AB4-603D-84FC978324D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E6E4032-DFF9-3574-CF69-4EE64DB7B90F}"/>
                  </a:ext>
                </a:extLst>
              </p:cNvPr>
              <p:cNvSpPr txBox="1"/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E6E4032-DFF9-3574-CF69-4EE64DB7B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5ED48F2-530C-88AF-6279-E10AFDFD5D10}"/>
                  </a:ext>
                </a:extLst>
              </p:cNvPr>
              <p:cNvSpPr txBox="1"/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5ED48F2-530C-88AF-6279-E10AFDFD5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643DC57-3FE3-6339-6C0F-BFF7313C869C}"/>
                  </a:ext>
                </a:extLst>
              </p:cNvPr>
              <p:cNvSpPr txBox="1"/>
              <p:nvPr/>
            </p:nvSpPr>
            <p:spPr>
              <a:xfrm>
                <a:off x="4419600" y="3334513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643DC57-3FE3-6339-6C0F-BFF7313C8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9600" y="3334513"/>
                <a:ext cx="1036320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E364DBB-E069-AAF7-5448-4D049380DCD9}"/>
                  </a:ext>
                </a:extLst>
              </p:cNvPr>
              <p:cNvSpPr txBox="1"/>
              <p:nvPr/>
            </p:nvSpPr>
            <p:spPr>
              <a:xfrm>
                <a:off x="5280822" y="3554917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E364DBB-E069-AAF7-5448-4D049380DC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0822" y="3554917"/>
                <a:ext cx="1280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DAAE1F74-D7FD-256E-A71E-B774E27014DA}"/>
                  </a:ext>
                </a:extLst>
              </p:cNvPr>
              <p:cNvSpPr txBox="1"/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B5BE28C-2F78-4EC0-86E5-3FACDBF42D79}"/>
                  </a:ext>
                </a:extLst>
              </p:cNvPr>
              <p:cNvSpPr txBox="1"/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E0DA88F7-E724-9CDD-63C0-AAE720B78F6D}"/>
                  </a:ext>
                </a:extLst>
              </p:cNvPr>
              <p:cNvSpPr txBox="1"/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3FCABF-DC96-3466-4F16-5A1991489A47}"/>
                  </a:ext>
                </a:extLst>
              </p:cNvPr>
              <p:cNvSpPr txBox="1"/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13D9CC0-2F79-4664-8E95-DF7835BBB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0ACE15C-1301-EC10-3E68-E58138E3D5AF}"/>
                  </a:ext>
                </a:extLst>
              </p:cNvPr>
              <p:cNvSpPr txBox="1"/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05EA566-194D-BDE2-D59A-CF027C457485}"/>
                  </a:ext>
                </a:extLst>
              </p:cNvPr>
              <p:cNvSpPr txBox="1"/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tw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F8291ED-CA01-A8AD-5413-88F3B3137315}"/>
                  </a:ext>
                </a:extLst>
              </p:cNvPr>
              <p:cNvSpPr txBox="1"/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C0E1EEA-9FDB-6EA0-BCEF-9F328D5C36B0}"/>
                  </a:ext>
                </a:extLst>
              </p:cNvPr>
              <p:cNvSpPr txBox="1"/>
              <p:nvPr/>
            </p:nvSpPr>
            <p:spPr>
              <a:xfrm>
                <a:off x="5455920" y="5748228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C0E1EEA-9FDB-6EA0-BCEF-9F328D5C36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5748228"/>
                <a:ext cx="12801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C3F228-D5C8-566B-EF8E-77A14F89988D}"/>
                  </a:ext>
                </a:extLst>
              </p:cNvPr>
              <p:cNvSpPr txBox="1"/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42490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22" grpId="0"/>
      <p:bldP spid="23" grpId="0"/>
      <p:bldP spid="29" grpId="0"/>
      <p:bldP spid="30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C090F0-C06E-654D-FE8B-14ED587CB6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3C843DE-8AA7-FD5D-8D3F-A7CFF4ACD9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p:graphicFrame>
        <p:nvGraphicFramePr>
          <p:cNvPr id="17" name="Table 2">
            <a:extLst>
              <a:ext uri="{FF2B5EF4-FFF2-40B4-BE49-F238E27FC236}">
                <a16:creationId xmlns:a16="http://schemas.microsoft.com/office/drawing/2014/main" id="{0F420DAB-7498-E553-AE41-A9CD8FC30D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2036467"/>
              </p:ext>
            </p:extLst>
          </p:nvPr>
        </p:nvGraphicFramePr>
        <p:xfrm>
          <a:off x="245738" y="1365011"/>
          <a:ext cx="634857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08B56D6-C5AB-721F-008B-400CA5348D8F}"/>
                  </a:ext>
                </a:extLst>
              </p:cNvPr>
              <p:cNvSpPr txBox="1"/>
              <p:nvPr/>
            </p:nvSpPr>
            <p:spPr>
              <a:xfrm>
                <a:off x="438618" y="138261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08B56D6-C5AB-721F-008B-400CA5348D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618" y="1382615"/>
                <a:ext cx="166934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62FBC5B-A266-DD7F-AD26-E845C92C37C1}"/>
                  </a:ext>
                </a:extLst>
              </p:cNvPr>
              <p:cNvSpPr txBox="1"/>
              <p:nvPr/>
            </p:nvSpPr>
            <p:spPr>
              <a:xfrm>
                <a:off x="438618" y="201997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62FBC5B-A266-DD7F-AD26-E845C92C37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618" y="2019978"/>
                <a:ext cx="166934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80074F5-EEDA-B6A2-0D29-EB6E898F8176}"/>
                  </a:ext>
                </a:extLst>
              </p:cNvPr>
              <p:cNvSpPr txBox="1"/>
              <p:nvPr/>
            </p:nvSpPr>
            <p:spPr>
              <a:xfrm>
                <a:off x="2633277" y="128423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80074F5-EEDA-B6A2-0D29-EB6E898F81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3277" y="1284231"/>
                <a:ext cx="653612" cy="735747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1EB1B87-67DB-958B-4DE0-5D6574DFE77E}"/>
                  </a:ext>
                </a:extLst>
              </p:cNvPr>
              <p:cNvSpPr txBox="1"/>
              <p:nvPr/>
            </p:nvSpPr>
            <p:spPr>
              <a:xfrm>
                <a:off x="4100902" y="138261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1EB1B87-67DB-958B-4DE0-5D6574DFE7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0902" y="1382615"/>
                <a:ext cx="6536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C6B3F54-F4DC-2C1E-CA80-9BC386C0E075}"/>
                  </a:ext>
                </a:extLst>
              </p:cNvPr>
              <p:cNvSpPr txBox="1"/>
              <p:nvPr/>
            </p:nvSpPr>
            <p:spPr>
              <a:xfrm>
                <a:off x="5550420" y="138261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C6B3F54-F4DC-2C1E-CA80-9BC386C0E0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0420" y="1382615"/>
                <a:ext cx="65361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7670384-33AA-68E3-5644-A0ECC5E51B3E}"/>
                  </a:ext>
                </a:extLst>
              </p:cNvPr>
              <p:cNvSpPr txBox="1"/>
              <p:nvPr/>
            </p:nvSpPr>
            <p:spPr>
              <a:xfrm>
                <a:off x="2305089" y="201997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7670384-33AA-68E3-5644-A0ECC5E51B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5089" y="2019978"/>
                <a:ext cx="133514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48536C3-E740-DAA1-3842-7271089DEE6A}"/>
                  </a:ext>
                </a:extLst>
              </p:cNvPr>
              <p:cNvSpPr txBox="1"/>
              <p:nvPr/>
            </p:nvSpPr>
            <p:spPr>
              <a:xfrm>
                <a:off x="3755989" y="201997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48536C3-E740-DAA1-3842-7271089DEE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5989" y="2019978"/>
                <a:ext cx="133514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629F230-AC67-5D41-3DD6-5DC99819F93C}"/>
                  </a:ext>
                </a:extLst>
              </p:cNvPr>
              <p:cNvSpPr txBox="1"/>
              <p:nvPr/>
            </p:nvSpPr>
            <p:spPr>
              <a:xfrm>
                <a:off x="5136377" y="201209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629F230-AC67-5D41-3DD6-5DC99819F9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6377" y="2012098"/>
                <a:ext cx="133514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0728D34-C7BA-AB9A-7DB4-81151A1371DC}"/>
                  </a:ext>
                </a:extLst>
              </p:cNvPr>
              <p:cNvSpPr txBox="1"/>
              <p:nvPr/>
            </p:nvSpPr>
            <p:spPr>
              <a:xfrm>
                <a:off x="114565" y="771632"/>
                <a:ext cx="6621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>
                  <a:spcBef>
                    <a:spcPts val="0"/>
                  </a:spcBef>
                </a:pPr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So, probability distribution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is as follow: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0728D34-C7BA-AB9A-7DB4-81151A137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565" y="771632"/>
                <a:ext cx="6621780" cy="523220"/>
              </a:xfrm>
              <a:prstGeom prst="rect">
                <a:avLst/>
              </a:prstGeom>
              <a:blipFill>
                <a:blip r:embed="rId10"/>
                <a:stretch>
                  <a:fillRect l="-193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BF6F05-9B6C-E0F1-8202-41A3AF656FCB}"/>
                  </a:ext>
                </a:extLst>
              </p:cNvPr>
              <p:cNvSpPr txBox="1"/>
              <p:nvPr/>
            </p:nvSpPr>
            <p:spPr>
              <a:xfrm>
                <a:off x="1864223" y="3973877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BF6F05-9B6C-E0F1-8202-41A3AF656F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4223" y="3973877"/>
                <a:ext cx="653612" cy="735747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ECEDA1-23C9-A6EE-198E-B81FBCEA3F68}"/>
                  </a:ext>
                </a:extLst>
              </p:cNvPr>
              <p:cNvSpPr txBox="1"/>
              <p:nvPr/>
            </p:nvSpPr>
            <p:spPr>
              <a:xfrm>
                <a:off x="4576510" y="3934173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ECEDA1-23C9-A6EE-198E-B81FBCEA3F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6510" y="3934173"/>
                <a:ext cx="653612" cy="735747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A34372E-7B93-E6BB-D673-752ACD917B6C}"/>
              </a:ext>
            </a:extLst>
          </p:cNvPr>
          <p:cNvCxnSpPr/>
          <p:nvPr/>
        </p:nvCxnSpPr>
        <p:spPr>
          <a:xfrm>
            <a:off x="269590" y="3924009"/>
            <a:ext cx="9503924" cy="0"/>
          </a:xfrm>
          <a:prstGeom prst="line">
            <a:avLst/>
          </a:prstGeom>
          <a:ln w="5715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7EC5BAD4-AF9C-D5F3-F22D-BB75B3CE47DB}"/>
              </a:ext>
            </a:extLst>
          </p:cNvPr>
          <p:cNvSpPr/>
          <p:nvPr/>
        </p:nvSpPr>
        <p:spPr>
          <a:xfrm>
            <a:off x="2083663" y="3816009"/>
            <a:ext cx="216000" cy="2160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BEABE7D-E941-C6DB-5A20-70D16FF7039A}"/>
              </a:ext>
            </a:extLst>
          </p:cNvPr>
          <p:cNvSpPr/>
          <p:nvPr/>
        </p:nvSpPr>
        <p:spPr>
          <a:xfrm>
            <a:off x="4825817" y="3816009"/>
            <a:ext cx="216000" cy="2160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D5115ECC-67E7-C0B2-033A-2121D5AD22E6}"/>
              </a:ext>
            </a:extLst>
          </p:cNvPr>
          <p:cNvSpPr/>
          <p:nvPr/>
        </p:nvSpPr>
        <p:spPr>
          <a:xfrm>
            <a:off x="7567971" y="3816009"/>
            <a:ext cx="216000" cy="216000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F155480-D291-9210-7102-0CB5FD6C55AC}"/>
                  </a:ext>
                </a:extLst>
              </p:cNvPr>
              <p:cNvSpPr txBox="1"/>
              <p:nvPr/>
            </p:nvSpPr>
            <p:spPr>
              <a:xfrm>
                <a:off x="7349165" y="3924009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F155480-D291-9210-7102-0CB5FD6C55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9165" y="3924009"/>
                <a:ext cx="653612" cy="735747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6030524-B978-B46D-863E-B3B3A8CF7CD6}"/>
                  </a:ext>
                </a:extLst>
              </p:cNvPr>
              <p:cNvSpPr txBox="1"/>
              <p:nvPr/>
            </p:nvSpPr>
            <p:spPr>
              <a:xfrm>
                <a:off x="2331864" y="3188263"/>
                <a:ext cx="2631821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6030524-B978-B46D-863E-B3B3A8CF7C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1864" y="3188263"/>
                <a:ext cx="2631821" cy="735747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81BAB89-3E6D-87D8-8C16-602EC7984910}"/>
                  </a:ext>
                </a:extLst>
              </p:cNvPr>
              <p:cNvSpPr txBox="1"/>
              <p:nvPr/>
            </p:nvSpPr>
            <p:spPr>
              <a:xfrm>
                <a:off x="4949918" y="3178099"/>
                <a:ext cx="2631821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81BAB89-3E6D-87D8-8C16-602EC79849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9918" y="3178099"/>
                <a:ext cx="2631821" cy="735747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A5F75E8-27A1-4A8D-2C7F-45F5D454F27C}"/>
                  </a:ext>
                </a:extLst>
              </p:cNvPr>
              <p:cNvSpPr txBox="1"/>
              <p:nvPr/>
            </p:nvSpPr>
            <p:spPr>
              <a:xfrm>
                <a:off x="7767234" y="3188261"/>
                <a:ext cx="2089810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A5F75E8-27A1-4A8D-2C7F-45F5D454F2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7234" y="3188261"/>
                <a:ext cx="2089810" cy="735747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6B2A51B-E8FE-4952-FEC3-0627252E9630}"/>
                  </a:ext>
                </a:extLst>
              </p:cNvPr>
              <p:cNvSpPr txBox="1"/>
              <p:nvPr/>
            </p:nvSpPr>
            <p:spPr>
              <a:xfrm>
                <a:off x="528536" y="3188261"/>
                <a:ext cx="1614865" cy="756074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6B2A51B-E8FE-4952-FEC3-0627252E96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536" y="3188261"/>
                <a:ext cx="1614865" cy="756074"/>
              </a:xfrm>
              <a:prstGeom prst="ellipse">
                <a:avLst/>
              </a:prstGeom>
              <a:blipFill>
                <a:blip r:embed="rId17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DD33D59-A573-2EB9-A097-00FA6E2D8B0C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DD33D59-A573-2EB9-A097-00FA6E2D8B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EE07F12-BC13-CA2A-5543-281D236AAEC9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EE07F12-BC13-CA2A-5543-281D236AAE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43C4654-00C0-A1F3-F4E1-8722444E2893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43C4654-00C0-A1F3-F4E1-8722444E28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294315C-C042-4379-CC2F-687497D328A8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294315C-C042-4379-CC2F-687497D328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E4C3CBC-1B20-A1FF-0961-D7DDF0B3272D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E4C3CBC-1B20-A1FF-0961-D7DDF0B327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98E6855-9469-A774-18DF-62B027CDAA1D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98E6855-9469-A774-18DF-62B027CDAA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3BB1E-4018-2C08-4254-3870BA780928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3BB1E-4018-2C08-4254-3870BA780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B3635BB-B3B0-8B65-F4CF-96876C55FE8B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B3635BB-B3B0-8B65-F4CF-96876C55FE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4AA617E-2CDB-2663-1C27-A17C7935CA61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4AA617E-2CDB-2663-1C27-A17C7935CA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3D5AE6D6-7BB0-7C0C-26CA-68ABE01EC3C9}"/>
              </a:ext>
            </a:extLst>
          </p:cNvPr>
          <p:cNvSpPr/>
          <p:nvPr/>
        </p:nvSpPr>
        <p:spPr>
          <a:xfrm>
            <a:off x="10029217" y="815992"/>
            <a:ext cx="1021404" cy="49807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Speech Bubble: Rectangle 50">
                <a:extLst>
                  <a:ext uri="{FF2B5EF4-FFF2-40B4-BE49-F238E27FC236}">
                    <a16:creationId xmlns:a16="http://schemas.microsoft.com/office/drawing/2014/main" id="{FC34C45C-B381-D6FA-61CF-CF50E92ABA10}"/>
                  </a:ext>
                </a:extLst>
              </p:cNvPr>
              <p:cNvSpPr/>
              <p:nvPr/>
            </p:nvSpPr>
            <p:spPr>
              <a:xfrm>
                <a:off x="154419" y="4751842"/>
                <a:ext cx="2308329" cy="1394473"/>
              </a:xfrm>
              <a:prstGeom prst="wedgeRectCallout">
                <a:avLst>
                  <a:gd name="adj1" fmla="val -8190"/>
                  <a:gd name="adj2" fmla="val -107711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No possible value of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𝐗</m:t>
                    </m:r>
                  </m:oMath>
                </a14:m>
                <a:r>
                  <a:rPr lang="en-US" b="1" dirty="0">
                    <a:solidFill>
                      <a:srgbClr val="002060"/>
                    </a:solidFill>
                  </a:rPr>
                  <a:t> is less than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b="1" dirty="0">
                    <a:solidFill>
                      <a:srgbClr val="002060"/>
                    </a:solidFill>
                  </a:rPr>
                  <a:t>.</a:t>
                </a:r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Speech Bubble: Rectangle 50">
                <a:extLst>
                  <a:ext uri="{FF2B5EF4-FFF2-40B4-BE49-F238E27FC236}">
                    <a16:creationId xmlns:a16="http://schemas.microsoft.com/office/drawing/2014/main" id="{FC34C45C-B381-D6FA-61CF-CF50E92ABA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419" y="4751842"/>
                <a:ext cx="2308329" cy="1394473"/>
              </a:xfrm>
              <a:prstGeom prst="wedgeRectCallout">
                <a:avLst>
                  <a:gd name="adj1" fmla="val -8190"/>
                  <a:gd name="adj2" fmla="val -107711"/>
                </a:avLst>
              </a:prstGeom>
              <a:blipFill>
                <a:blip r:embed="rId27"/>
                <a:stretch>
                  <a:fillRect/>
                </a:stretch>
              </a:blipFill>
              <a:ln>
                <a:solidFill>
                  <a:srgbClr val="00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2" name="Right Brace 51">
            <a:extLst>
              <a:ext uri="{FF2B5EF4-FFF2-40B4-BE49-F238E27FC236}">
                <a16:creationId xmlns:a16="http://schemas.microsoft.com/office/drawing/2014/main" id="{0E76748E-38DE-730F-8FF9-2D1B98286DA9}"/>
              </a:ext>
            </a:extLst>
          </p:cNvPr>
          <p:cNvSpPr/>
          <p:nvPr/>
        </p:nvSpPr>
        <p:spPr>
          <a:xfrm rot="5400000">
            <a:off x="3270259" y="3018495"/>
            <a:ext cx="405024" cy="2563485"/>
          </a:xfrm>
          <a:prstGeom prst="rightBrace">
            <a:avLst>
              <a:gd name="adj1" fmla="val 57418"/>
              <a:gd name="adj2" fmla="val 50000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4" name="Right Brace 53">
            <a:extLst>
              <a:ext uri="{FF2B5EF4-FFF2-40B4-BE49-F238E27FC236}">
                <a16:creationId xmlns:a16="http://schemas.microsoft.com/office/drawing/2014/main" id="{8B0FD427-BA74-512C-D9C6-1534E866AA9C}"/>
              </a:ext>
            </a:extLst>
          </p:cNvPr>
          <p:cNvSpPr/>
          <p:nvPr/>
        </p:nvSpPr>
        <p:spPr>
          <a:xfrm rot="5400000">
            <a:off x="6042915" y="3033623"/>
            <a:ext cx="405024" cy="2563485"/>
          </a:xfrm>
          <a:prstGeom prst="rightBrace">
            <a:avLst>
              <a:gd name="adj1" fmla="val 57418"/>
              <a:gd name="adj2" fmla="val 50000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5E3B518-680F-EFA7-3A4A-671CCF2D868E}"/>
              </a:ext>
            </a:extLst>
          </p:cNvPr>
          <p:cNvGrpSpPr/>
          <p:nvPr/>
        </p:nvGrpSpPr>
        <p:grpSpPr>
          <a:xfrm>
            <a:off x="2713223" y="4751842"/>
            <a:ext cx="2516899" cy="1394473"/>
            <a:chOff x="2713223" y="4751842"/>
            <a:chExt cx="2516899" cy="1394473"/>
          </a:xfrm>
        </p:grpSpPr>
        <p:sp>
          <p:nvSpPr>
            <p:cNvPr id="53" name="Speech Bubble: Rectangle 52">
              <a:extLst>
                <a:ext uri="{FF2B5EF4-FFF2-40B4-BE49-F238E27FC236}">
                  <a16:creationId xmlns:a16="http://schemas.microsoft.com/office/drawing/2014/main" id="{6BC87317-E313-C093-7A0B-E739EC778E35}"/>
                </a:ext>
              </a:extLst>
            </p:cNvPr>
            <p:cNvSpPr/>
            <p:nvPr/>
          </p:nvSpPr>
          <p:spPr>
            <a:xfrm>
              <a:off x="2713223" y="4751842"/>
              <a:ext cx="2308329" cy="1394473"/>
            </a:xfrm>
            <a:prstGeom prst="wedgeRectCallout">
              <a:avLst>
                <a:gd name="adj1" fmla="val -17461"/>
                <a:gd name="adj2" fmla="val -67251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tabLst>
                  <a:tab pos="982663" algn="l"/>
                </a:tabLst>
              </a:pPr>
              <a:endParaRPr lang="en-IN" b="1" dirty="0">
                <a:solidFill>
                  <a:srgbClr val="002060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TextBox 58">
                  <a:extLst>
                    <a:ext uri="{FF2B5EF4-FFF2-40B4-BE49-F238E27FC236}">
                      <a16:creationId xmlns:a16="http://schemas.microsoft.com/office/drawing/2014/main" id="{6BE086E6-8799-B868-34AE-D8D93A815CC7}"/>
                    </a:ext>
                  </a:extLst>
                </p:cNvPr>
                <p:cNvSpPr txBox="1"/>
                <p:nvPr/>
              </p:nvSpPr>
              <p:spPr>
                <a:xfrm>
                  <a:off x="2739264" y="5140011"/>
                  <a:ext cx="2490858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tabLst>
                      <a:tab pos="982663" algn="l"/>
                    </a:tabLst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fr-FR" sz="1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fr-FR" sz="1800" b="1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≤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d>
                        <m:r>
                          <a:rPr lang="en-IN" sz="1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1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en-IN" sz="1800" b="1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1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  <m:r>
                              <a:rPr lang="en-IN" sz="1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1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e>
                        </m:d>
                      </m:oMath>
                    </m:oMathPara>
                  </a14:m>
                  <a:endParaRPr lang="en-IN" sz="1800" b="1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TextBox 58">
                  <a:extLst>
                    <a:ext uri="{FF2B5EF4-FFF2-40B4-BE49-F238E27FC236}">
                      <a16:creationId xmlns:a16="http://schemas.microsoft.com/office/drawing/2014/main" id="{6BE086E6-8799-B868-34AE-D8D93A815C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739264" y="5140011"/>
                  <a:ext cx="2490858" cy="369332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E95D798-C82A-2B91-CA76-CD5208A73B07}"/>
                  </a:ext>
                </a:extLst>
              </p:cNvPr>
              <p:cNvSpPr txBox="1"/>
              <p:nvPr/>
            </p:nvSpPr>
            <p:spPr>
              <a:xfrm>
                <a:off x="3697620" y="5573769"/>
                <a:ext cx="878889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982663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1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1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1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𝟐𝟓</m:t>
                      </m:r>
                    </m:oMath>
                  </m:oMathPara>
                </a14:m>
                <a:endParaRPr lang="en-IN" sz="1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E95D798-C82A-2B91-CA76-CD5208A73B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7620" y="5573769"/>
                <a:ext cx="878889" cy="369332"/>
              </a:xfrm>
              <a:prstGeom prst="rect">
                <a:avLst/>
              </a:prstGeom>
              <a:blipFill>
                <a:blip r:embed="rId29"/>
                <a:stretch>
                  <a:fillRect r="-416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2" name="Group 21">
            <a:extLst>
              <a:ext uri="{FF2B5EF4-FFF2-40B4-BE49-F238E27FC236}">
                <a16:creationId xmlns:a16="http://schemas.microsoft.com/office/drawing/2014/main" id="{C682774F-7E79-AA5F-45CE-F59B37D4DA58}"/>
              </a:ext>
            </a:extLst>
          </p:cNvPr>
          <p:cNvGrpSpPr/>
          <p:nvPr/>
        </p:nvGrpSpPr>
        <p:grpSpPr>
          <a:xfrm>
            <a:off x="5353006" y="4740600"/>
            <a:ext cx="2516906" cy="1394473"/>
            <a:chOff x="5353006" y="4740600"/>
            <a:chExt cx="2516906" cy="1394473"/>
          </a:xfrm>
        </p:grpSpPr>
        <p:sp>
          <p:nvSpPr>
            <p:cNvPr id="55" name="Speech Bubble: Rectangle 54">
              <a:extLst>
                <a:ext uri="{FF2B5EF4-FFF2-40B4-BE49-F238E27FC236}">
                  <a16:creationId xmlns:a16="http://schemas.microsoft.com/office/drawing/2014/main" id="{DE8835A5-3D60-A017-9AC9-D2F363815F7D}"/>
                </a:ext>
              </a:extLst>
            </p:cNvPr>
            <p:cNvSpPr/>
            <p:nvPr/>
          </p:nvSpPr>
          <p:spPr>
            <a:xfrm>
              <a:off x="5353006" y="4740600"/>
              <a:ext cx="2516906" cy="1394473"/>
            </a:xfrm>
            <a:prstGeom prst="wedgeRectCallout">
              <a:avLst>
                <a:gd name="adj1" fmla="val -14756"/>
                <a:gd name="adj2" fmla="val -66553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IN" b="1" dirty="0">
                <a:solidFill>
                  <a:srgbClr val="002060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5A63E462-E2E6-3F29-283A-789988CD0B8A}"/>
                    </a:ext>
                  </a:extLst>
                </p:cNvPr>
                <p:cNvSpPr txBox="1"/>
                <p:nvPr/>
              </p:nvSpPr>
              <p:spPr>
                <a:xfrm>
                  <a:off x="6082923" y="4826785"/>
                  <a:ext cx="1139059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tabLst>
                      <a:tab pos="982663" algn="l"/>
                    </a:tabLst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fr-FR" sz="1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fr-FR" sz="1800" b="1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≤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d>
                      </m:oMath>
                    </m:oMathPara>
                  </a14:m>
                  <a:endParaRPr lang="en-IN" sz="1800" b="1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5A63E462-E2E6-3F29-283A-789988CD0B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82923" y="4826785"/>
                  <a:ext cx="1139059" cy="369332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C095A56-9AEA-B032-5976-A0C093887A56}"/>
                  </a:ext>
                </a:extLst>
              </p:cNvPr>
              <p:cNvSpPr txBox="1"/>
              <p:nvPr/>
            </p:nvSpPr>
            <p:spPr>
              <a:xfrm>
                <a:off x="5381353" y="5282301"/>
                <a:ext cx="254219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982663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FR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fr-FR" sz="1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FR" sz="1800" b="1" i="0" dirty="0" err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e>
                      </m:d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1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C095A56-9AEA-B032-5976-A0C093887A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1353" y="5282301"/>
                <a:ext cx="2542197" cy="369332"/>
              </a:xfrm>
              <a:prstGeom prst="rect">
                <a:avLst/>
              </a:prstGeom>
              <a:blipFill>
                <a:blip r:embed="rId31"/>
                <a:stretch>
                  <a:fillRect b="-15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30AD449B-3C36-7085-870B-062D83F89646}"/>
                  </a:ext>
                </a:extLst>
              </p:cNvPr>
              <p:cNvSpPr txBox="1"/>
              <p:nvPr/>
            </p:nvSpPr>
            <p:spPr>
              <a:xfrm>
                <a:off x="5381353" y="5708687"/>
                <a:ext cx="109016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982663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1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1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1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𝟕𝟓</m:t>
                      </m:r>
                    </m:oMath>
                  </m:oMathPara>
                </a14:m>
                <a:endParaRPr lang="en-IN" sz="1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30AD449B-3C36-7085-870B-062D83F896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1353" y="5708687"/>
                <a:ext cx="1090168" cy="369332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2" name="Group 31">
            <a:extLst>
              <a:ext uri="{FF2B5EF4-FFF2-40B4-BE49-F238E27FC236}">
                <a16:creationId xmlns:a16="http://schemas.microsoft.com/office/drawing/2014/main" id="{91CF42F0-E108-9C3D-04FD-8C4418F11BE5}"/>
              </a:ext>
            </a:extLst>
          </p:cNvPr>
          <p:cNvGrpSpPr/>
          <p:nvPr/>
        </p:nvGrpSpPr>
        <p:grpSpPr>
          <a:xfrm>
            <a:off x="8089892" y="4740600"/>
            <a:ext cx="3689519" cy="1394474"/>
            <a:chOff x="8089892" y="4740600"/>
            <a:chExt cx="3689519" cy="1394474"/>
          </a:xfrm>
        </p:grpSpPr>
        <p:sp>
          <p:nvSpPr>
            <p:cNvPr id="57" name="Speech Bubble: Rectangle 56">
              <a:extLst>
                <a:ext uri="{FF2B5EF4-FFF2-40B4-BE49-F238E27FC236}">
                  <a16:creationId xmlns:a16="http://schemas.microsoft.com/office/drawing/2014/main" id="{1F00A941-259D-C9F1-80E2-BAA8F35BD3CA}"/>
                </a:ext>
              </a:extLst>
            </p:cNvPr>
            <p:cNvSpPr/>
            <p:nvPr/>
          </p:nvSpPr>
          <p:spPr>
            <a:xfrm>
              <a:off x="8089892" y="4740600"/>
              <a:ext cx="3689519" cy="1394474"/>
            </a:xfrm>
            <a:prstGeom prst="wedgeRectCallout">
              <a:avLst>
                <a:gd name="adj1" fmla="val -34936"/>
                <a:gd name="adj2" fmla="val -108408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IN" b="1" dirty="0">
                <a:solidFill>
                  <a:srgbClr val="002060"/>
                </a:solidFill>
                <a:latin typeface="Cambria Math" panose="02040503050406030204" pitchFamily="18" charset="0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" name="TextBox 63">
                  <a:extLst>
                    <a:ext uri="{FF2B5EF4-FFF2-40B4-BE49-F238E27FC236}">
                      <a16:creationId xmlns:a16="http://schemas.microsoft.com/office/drawing/2014/main" id="{13AC5EB8-B7BE-5FF8-45F1-6971CF50B3F7}"/>
                    </a:ext>
                  </a:extLst>
                </p:cNvPr>
                <p:cNvSpPr txBox="1"/>
                <p:nvPr/>
              </p:nvSpPr>
              <p:spPr>
                <a:xfrm>
                  <a:off x="9355037" y="4826785"/>
                  <a:ext cx="1139059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tabLst>
                      <a:tab pos="982663" algn="l"/>
                    </a:tabLst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fr-FR" sz="1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𝐏</m:t>
                        </m:r>
                        <m:d>
                          <m:dPr>
                            <m:ctrlPr>
                              <a:rPr lang="fr-FR" sz="1800" b="1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≤</m:t>
                            </m:r>
                            <m:r>
                              <a:rPr lang="fr-FR" sz="1800" b="1" i="0" dirty="0" err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d>
                      </m:oMath>
                    </m:oMathPara>
                  </a14:m>
                  <a:endParaRPr lang="en-IN" sz="1800" b="1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4" name="TextBox 63">
                  <a:extLst>
                    <a:ext uri="{FF2B5EF4-FFF2-40B4-BE49-F238E27FC236}">
                      <a16:creationId xmlns:a16="http://schemas.microsoft.com/office/drawing/2014/main" id="{13AC5EB8-B7BE-5FF8-45F1-6971CF50B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55037" y="4826785"/>
                  <a:ext cx="1139059" cy="369332"/>
                </a:xfrm>
                <a:prstGeom prst="rect">
                  <a:avLst/>
                </a:prstGeom>
                <a:blipFill>
                  <a:blip r:embed="rId3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B18B2C78-BC8F-233D-27B8-01695F69D62A}"/>
                  </a:ext>
                </a:extLst>
              </p:cNvPr>
              <p:cNvSpPr txBox="1"/>
              <p:nvPr/>
            </p:nvSpPr>
            <p:spPr>
              <a:xfrm>
                <a:off x="8101377" y="5282301"/>
                <a:ext cx="393620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982663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FR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fr-FR" sz="1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FR" sz="1800" b="1" i="0" dirty="0" err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e>
                      </m:d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1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1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  <m:r>
                        <a:rPr lang="en-IN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1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r>
                        <a:rPr lang="en-IN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b="1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  <m:r>
                        <a:rPr lang="en-IN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1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B18B2C78-BC8F-233D-27B8-01695F69D6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1377" y="5282301"/>
                <a:ext cx="3936204" cy="369332"/>
              </a:xfrm>
              <a:prstGeom prst="rect">
                <a:avLst/>
              </a:prstGeom>
              <a:blipFill>
                <a:blip r:embed="rId34"/>
                <a:stretch>
                  <a:fillRect b="-15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68DF73C-A46A-5328-826F-4DB965E6A90A}"/>
                  </a:ext>
                </a:extLst>
              </p:cNvPr>
              <p:cNvSpPr txBox="1"/>
              <p:nvPr/>
            </p:nvSpPr>
            <p:spPr>
              <a:xfrm>
                <a:off x="8101377" y="5708687"/>
                <a:ext cx="109016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982663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1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1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1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68DF73C-A46A-5328-826F-4DB965E6A9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1377" y="5708687"/>
                <a:ext cx="1090168" cy="36933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7174C6E7-7A50-69ED-61CC-18C3A6C39AE8}"/>
              </a:ext>
            </a:extLst>
          </p:cNvPr>
          <p:cNvSpPr/>
          <p:nvPr/>
        </p:nvSpPr>
        <p:spPr>
          <a:xfrm>
            <a:off x="9983393" y="1347507"/>
            <a:ext cx="1643399" cy="49807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60698CD2-718F-065A-EAC2-13FF36367714}"/>
              </a:ext>
            </a:extLst>
          </p:cNvPr>
          <p:cNvSpPr/>
          <p:nvPr/>
        </p:nvSpPr>
        <p:spPr>
          <a:xfrm>
            <a:off x="9999601" y="1898741"/>
            <a:ext cx="1643399" cy="49807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5230F3E3-4494-1B59-9F6D-6A720A502895}"/>
              </a:ext>
            </a:extLst>
          </p:cNvPr>
          <p:cNvSpPr/>
          <p:nvPr/>
        </p:nvSpPr>
        <p:spPr>
          <a:xfrm>
            <a:off x="9941240" y="2424037"/>
            <a:ext cx="1128838" cy="49807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88136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4" grpId="0"/>
      <p:bldP spid="26" grpId="0"/>
      <p:bldP spid="28" grpId="0"/>
      <p:bldP spid="31" grpId="0"/>
      <p:bldP spid="11" grpId="0"/>
      <p:bldP spid="12" grpId="0"/>
      <p:bldP spid="6" grpId="0" animBg="1"/>
      <p:bldP spid="7" grpId="0" animBg="1"/>
      <p:bldP spid="8" grpId="0" animBg="1"/>
      <p:bldP spid="13" grpId="0"/>
      <p:bldP spid="15" grpId="0"/>
      <p:bldP spid="16" grpId="0"/>
      <p:bldP spid="23" grpId="0"/>
      <p:bldP spid="27" grpId="0"/>
      <p:bldP spid="9" grpId="0"/>
      <p:bldP spid="14" grpId="0"/>
      <p:bldP spid="30" grpId="0"/>
      <p:bldP spid="38" grpId="0"/>
      <p:bldP spid="40" grpId="0"/>
      <p:bldP spid="42" grpId="0"/>
      <p:bldP spid="44" grpId="0"/>
      <p:bldP spid="46" grpId="0"/>
      <p:bldP spid="48" grpId="0"/>
      <p:bldP spid="49" grpId="0" animBg="1"/>
      <p:bldP spid="49" grpId="1" animBg="1"/>
      <p:bldP spid="51" grpId="0" animBg="1"/>
      <p:bldP spid="52" grpId="0" animBg="1"/>
      <p:bldP spid="54" grpId="0" animBg="1"/>
      <p:bldP spid="60" grpId="0"/>
      <p:bldP spid="62" grpId="0"/>
      <p:bldP spid="63" grpId="0"/>
      <p:bldP spid="65" grpId="0"/>
      <p:bldP spid="66" grpId="0"/>
      <p:bldP spid="2" grpId="0" animBg="1"/>
      <p:bldP spid="2" grpId="1" animBg="1"/>
      <p:bldP spid="10" grpId="0" animBg="1"/>
      <p:bldP spid="10" grpId="1" animBg="1"/>
      <p:bldP spid="29" grpId="0" animBg="1"/>
      <p:bldP spid="29" grpId="1" animBg="1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B8D6A9-29E6-3D2E-AB70-175AA38366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642F7EE-9EFC-1A88-D058-A7348FE291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13FB859-3731-7B35-B5BE-745C5725DFCA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13FB859-3731-7B35-B5BE-745C5725DF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FF3BF8A-5222-8283-3C17-E45F15F3C03F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FF3BF8A-5222-8283-3C17-E45F15F3C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230B965-FC6C-FB32-1787-B8465C61F01E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230B965-FC6C-FB32-1787-B8465C61F0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06B1A66-66B8-AD02-EC0B-348B2CA264E2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06B1A66-66B8-AD02-EC0B-348B2CA26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4870CC4-521F-E660-6DD8-0A9F28C2B0B0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4870CC4-521F-E660-6DD8-0A9F28C2B0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BA7017F-B60B-A323-9429-9B9C53A81E09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BA7017F-B60B-A323-9429-9B9C53A81E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0E1C797-B5E4-087B-40F3-719DAC26EB03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0E1C797-B5E4-087B-40F3-719DAC26EB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0F7CF12-A32C-F321-8B2B-7FFDAB54D8C2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0F7CF12-A32C-F321-8B2B-7FFDAB54D8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A6C7F53-5393-8DF7-6B0A-F16789CB9DF9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A6C7F53-5393-8DF7-6B0A-F16789CB9D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Table 2">
            <a:extLst>
              <a:ext uri="{FF2B5EF4-FFF2-40B4-BE49-F238E27FC236}">
                <a16:creationId xmlns:a16="http://schemas.microsoft.com/office/drawing/2014/main" id="{59E918D7-2A55-5E4D-C7F0-ABB69F4BB7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5121643"/>
              </p:ext>
            </p:extLst>
          </p:nvPr>
        </p:nvGraphicFramePr>
        <p:xfrm>
          <a:off x="240826" y="906141"/>
          <a:ext cx="6348572" cy="1815417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4327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91E08C8-8C95-3C76-C724-D83FBD56F4D6}"/>
                  </a:ext>
                </a:extLst>
              </p:cNvPr>
              <p:cNvSpPr txBox="1"/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91E08C8-8C95-3C76-C724-D83FBD56F4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62D4001-93DA-D3ED-E3AE-7965C6CF10AA}"/>
                  </a:ext>
                </a:extLst>
              </p:cNvPr>
              <p:cNvSpPr txBox="1"/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62D4001-93DA-D3ED-E3AE-7965C6CF10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97DEFA1-ADCD-CB1C-97DD-9438A250BE0F}"/>
                  </a:ext>
                </a:extLst>
              </p:cNvPr>
              <p:cNvSpPr txBox="1"/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97DEFA1-ADCD-CB1C-97DD-9438A250B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9E9E158-3A00-B5C3-EA1C-9D70D844820B}"/>
                  </a:ext>
                </a:extLst>
              </p:cNvPr>
              <p:cNvSpPr txBox="1"/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9E9E158-3A00-B5C3-EA1C-9D70D84482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3E4E8B2-6F4F-90D5-7061-0DABE0C674F7}"/>
                  </a:ext>
                </a:extLst>
              </p:cNvPr>
              <p:cNvSpPr txBox="1"/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3E4E8B2-6F4F-90D5-7061-0DABE0C674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0CBDB2A-5547-9401-57C7-7EC9C2035B21}"/>
                  </a:ext>
                </a:extLst>
              </p:cNvPr>
              <p:cNvSpPr txBox="1"/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0CBDB2A-5547-9401-57C7-7EC9C2035B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D82FEE9-D842-0D78-D049-938E3AD01D18}"/>
                  </a:ext>
                </a:extLst>
              </p:cNvPr>
              <p:cNvSpPr txBox="1"/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D82FEE9-D842-0D78-D049-938E3AD01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0DC78DB-A20A-5015-5B39-16115E7D5D5C}"/>
                  </a:ext>
                </a:extLst>
              </p:cNvPr>
              <p:cNvSpPr txBox="1"/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0DC78DB-A20A-5015-5B39-16115E7D5D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1270DB-8C83-320D-03F8-2DB4DA745563}"/>
                  </a:ext>
                </a:extLst>
              </p:cNvPr>
              <p:cNvSpPr txBox="1"/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1270DB-8C83-320D-03F8-2DB4DA7455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8C9B240-9786-9BDD-FFC0-385C43198331}"/>
                  </a:ext>
                </a:extLst>
              </p:cNvPr>
              <p:cNvSpPr txBox="1"/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8C9B240-9786-9BDD-FFC0-385C431983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56AB28-1B89-690E-3BCF-788E4378BA00}"/>
                  </a:ext>
                </a:extLst>
              </p:cNvPr>
              <p:cNvSpPr txBox="1"/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56AB28-1B89-690E-3BCF-788E4378B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B48CC38-AF1D-D4A9-8FE2-A4FB5F6A086B}"/>
                  </a:ext>
                </a:extLst>
              </p:cNvPr>
              <p:cNvSpPr txBox="1"/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B48CC38-AF1D-D4A9-8FE2-A4FB5F6A08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B04D3B2-068E-D03F-900D-A13BA35943F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1422" y="2886123"/>
                <a:ext cx="11452859" cy="330066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To find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𝐅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:r>
                  <a:rPr lang="en-IN" dirty="0"/>
                  <a:t>Since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1≤1.5&lt;2</m:t>
                    </m:r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1.5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=0.75</m:t>
                    </m:r>
                  </m:oMath>
                </a14:m>
                <a:endParaRPr lang="en-IN" b="0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B04D3B2-068E-D03F-900D-A13BA35943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422" y="2886123"/>
                <a:ext cx="11452859" cy="3300668"/>
              </a:xfrm>
              <a:prstGeom prst="rect">
                <a:avLst/>
              </a:prstGeom>
              <a:blipFill>
                <a:blip r:embed="rId23"/>
                <a:stretch>
                  <a:fillRect l="-10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86587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19C2E-98D2-588E-2E8B-30A930C46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6CF33BA-9265-7576-A6A0-F9BABA847D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9059D1-29F2-3C93-B6CC-F84AAB86F854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9059D1-29F2-3C93-B6CC-F84AAB86F8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7638780-AC65-EDE3-C25E-20DAA03FFE6D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7638780-AC65-EDE3-C25E-20DAA03FFE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0924C62-E048-C207-C35E-CA92BC685CA4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0924C62-E048-C207-C35E-CA92BC685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8C13352-5416-AA99-A1FB-8071A8DACAA5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8C13352-5416-AA99-A1FB-8071A8DACA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05BE92C-68CB-3133-F023-3542FBC26F69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05BE92C-68CB-3133-F023-3542FBC26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9A05AC4-442A-3C25-F7ED-0A317FE0B14C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9A05AC4-442A-3C25-F7ED-0A317FE0B1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BBD7BA88-F1E5-20AA-F211-C56A4FFB88F5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BBD7BA88-F1E5-20AA-F211-C56A4FFB88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CDCC09-08B3-0D70-1D88-57C6D3D80570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CDCC09-08B3-0D70-1D88-57C6D3D805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E62877D-CCB5-8605-E230-BFCA91A55AC4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E62877D-CCB5-8605-E230-BFCA91A55A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Table 2">
            <a:extLst>
              <a:ext uri="{FF2B5EF4-FFF2-40B4-BE49-F238E27FC236}">
                <a16:creationId xmlns:a16="http://schemas.microsoft.com/office/drawing/2014/main" id="{5446DC67-D9EF-05B6-929E-F25694577B2C}"/>
              </a:ext>
            </a:extLst>
          </p:cNvPr>
          <p:cNvGraphicFramePr>
            <a:graphicFrameLocks noGrp="1"/>
          </p:cNvGraphicFramePr>
          <p:nvPr/>
        </p:nvGraphicFramePr>
        <p:xfrm>
          <a:off x="240826" y="906141"/>
          <a:ext cx="6348572" cy="1815417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4327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915431-8954-1465-A4E4-0D9A7818499A}"/>
                  </a:ext>
                </a:extLst>
              </p:cNvPr>
              <p:cNvSpPr txBox="1"/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915431-8954-1465-A4E4-0D9A781849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37E76AB-8B1E-EEB9-168C-A5A20E1E803C}"/>
                  </a:ext>
                </a:extLst>
              </p:cNvPr>
              <p:cNvSpPr txBox="1"/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37E76AB-8B1E-EEB9-168C-A5A20E1E8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CE3042D-1B5B-92AA-53B4-16BA54829424}"/>
                  </a:ext>
                </a:extLst>
              </p:cNvPr>
              <p:cNvSpPr txBox="1"/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CE3042D-1B5B-92AA-53B4-16BA548294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7F1FDE-5A36-DAB6-FD6E-263AAF947779}"/>
                  </a:ext>
                </a:extLst>
              </p:cNvPr>
              <p:cNvSpPr txBox="1"/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7F1FDE-5A36-DAB6-FD6E-263AAF9477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5B086CC-7256-F55C-6419-5AF4A7A03704}"/>
                  </a:ext>
                </a:extLst>
              </p:cNvPr>
              <p:cNvSpPr txBox="1"/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5B086CC-7256-F55C-6419-5AF4A7A03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E038F9E-C7B7-81C2-FA7B-DF8924CEF2F2}"/>
                  </a:ext>
                </a:extLst>
              </p:cNvPr>
              <p:cNvSpPr txBox="1"/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E038F9E-C7B7-81C2-FA7B-DF8924CEF2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FC0349-1B08-9379-D0F4-83AD442AAEC0}"/>
                  </a:ext>
                </a:extLst>
              </p:cNvPr>
              <p:cNvSpPr txBox="1"/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FC0349-1B08-9379-D0F4-83AD442AA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07CD15A-9A8D-DB09-304F-F000FB9460AE}"/>
                  </a:ext>
                </a:extLst>
              </p:cNvPr>
              <p:cNvSpPr txBox="1"/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07CD15A-9A8D-DB09-304F-F000FB9460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2713A95-92B2-8823-D88E-EEF5CB2B8F36}"/>
                  </a:ext>
                </a:extLst>
              </p:cNvPr>
              <p:cNvSpPr txBox="1"/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2713A95-92B2-8823-D88E-EEF5CB2B8F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9A7BDE8-12EA-4812-A3AF-ED1610F765A7}"/>
                  </a:ext>
                </a:extLst>
              </p:cNvPr>
              <p:cNvSpPr txBox="1"/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9A7BDE8-12EA-4812-A3AF-ED1610F765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3EA59F-83DC-30D4-E56B-2809DF0C2A32}"/>
                  </a:ext>
                </a:extLst>
              </p:cNvPr>
              <p:cNvSpPr txBox="1"/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3EA59F-83DC-30D4-E56B-2809DF0C2A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3806416-662D-B083-431A-08113A3B4191}"/>
                  </a:ext>
                </a:extLst>
              </p:cNvPr>
              <p:cNvSpPr txBox="1"/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3806416-662D-B083-431A-08113A3B4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86E8E8A6-4F85-1184-3E18-DBFFECB8936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1422" y="2886123"/>
                <a:ext cx="11896975" cy="297965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To find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𝐅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𝟕𝟓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:r>
                  <a:rPr lang="en-IN" dirty="0"/>
                  <a:t>Since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3.75≥2</m:t>
                    </m:r>
                  </m:oMath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3.75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IN" b="0" dirty="0"/>
              </a:p>
              <a:p>
                <a:pPr lvl="1"/>
                <a:r>
                  <a:rPr lang="en-US" dirty="0"/>
                  <a:t>So, there is 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100%</m:t>
                    </m:r>
                  </m:oMath>
                </a14:m>
                <a:r>
                  <a:rPr lang="en-US" dirty="0"/>
                  <a:t> chance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≤ 3.55</m:t>
                    </m:r>
                  </m:oMath>
                </a14:m>
                <a:r>
                  <a:rPr lang="en-US" dirty="0"/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can never exceed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86E8E8A6-4F85-1184-3E18-DBFFECB89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422" y="2886123"/>
                <a:ext cx="11896975" cy="2979656"/>
              </a:xfrm>
              <a:prstGeom prst="rect">
                <a:avLst/>
              </a:prstGeom>
              <a:blipFill>
                <a:blip r:embed="rId23"/>
                <a:stretch>
                  <a:fillRect l="-9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74542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AE4A4E-4C99-390C-37D7-204F1D6B65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D1F24C-07CE-E94D-53C6-F0ECD542BB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Graph of CDF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21E903A2-A211-AB82-FB88-6970C4127AC5}"/>
              </a:ext>
            </a:extLst>
          </p:cNvPr>
          <p:cNvCxnSpPr>
            <a:cxnSpLocks/>
          </p:cNvCxnSpPr>
          <p:nvPr/>
        </p:nvCxnSpPr>
        <p:spPr>
          <a:xfrm>
            <a:off x="2850204" y="1177046"/>
            <a:ext cx="0" cy="5097294"/>
          </a:xfrm>
          <a:prstGeom prst="straightConnector1">
            <a:avLst/>
          </a:prstGeom>
          <a:ln w="571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861B9EA5-EEE8-2708-AC0A-FB62F11CA5EA}"/>
              </a:ext>
            </a:extLst>
          </p:cNvPr>
          <p:cNvCxnSpPr>
            <a:cxnSpLocks/>
          </p:cNvCxnSpPr>
          <p:nvPr/>
        </p:nvCxnSpPr>
        <p:spPr>
          <a:xfrm rot="16200000">
            <a:off x="4525936" y="924791"/>
            <a:ext cx="0" cy="9000000"/>
          </a:xfrm>
          <a:prstGeom prst="straightConnector1">
            <a:avLst/>
          </a:prstGeom>
          <a:ln w="571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DB37C26-9482-BFE7-F6D4-077F297BE2A0}"/>
                  </a:ext>
                </a:extLst>
              </p:cNvPr>
              <p:cNvSpPr txBox="1"/>
              <p:nvPr/>
            </p:nvSpPr>
            <p:spPr>
              <a:xfrm>
                <a:off x="2454204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0141D9F-D311-2F83-5992-698DC3749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4204" y="5424790"/>
                <a:ext cx="498657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AB2379A-E083-18CB-9A75-5FF1301C8EDA}"/>
                  </a:ext>
                </a:extLst>
              </p:cNvPr>
              <p:cNvSpPr txBox="1"/>
              <p:nvPr/>
            </p:nvSpPr>
            <p:spPr>
              <a:xfrm>
                <a:off x="4526608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1D47292-EEE6-33D0-8A91-CC10B9D051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6608" y="5424790"/>
                <a:ext cx="498657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0697C12-97AA-F5B2-9124-370FC567D275}"/>
                  </a:ext>
                </a:extLst>
              </p:cNvPr>
              <p:cNvSpPr txBox="1"/>
              <p:nvPr/>
            </p:nvSpPr>
            <p:spPr>
              <a:xfrm>
                <a:off x="6599012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1DD9AD5-1299-F055-8CD2-286BBDAC20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9012" y="5424790"/>
                <a:ext cx="49865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8BD2B80-3273-5C50-3ED5-43B135C8DF37}"/>
                  </a:ext>
                </a:extLst>
              </p:cNvPr>
              <p:cNvSpPr txBox="1"/>
              <p:nvPr/>
            </p:nvSpPr>
            <p:spPr>
              <a:xfrm>
                <a:off x="1887171" y="4059675"/>
                <a:ext cx="10656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𝟐𝟓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5D49B01-DD51-9BD8-2A09-0D259B06AB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7171" y="4059675"/>
                <a:ext cx="106569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1CFDA31-FE4A-2C16-8A51-4B14D5F8FB75}"/>
                  </a:ext>
                </a:extLst>
              </p:cNvPr>
              <p:cNvSpPr txBox="1"/>
              <p:nvPr/>
            </p:nvSpPr>
            <p:spPr>
              <a:xfrm>
                <a:off x="1887171" y="2627460"/>
                <a:ext cx="10656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𝟕𝟓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F7BC76F-45EC-0CF9-130D-09ED2068F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7171" y="2627460"/>
                <a:ext cx="106569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7CC0DF1-5042-B34C-F1AB-84EADE1FD882}"/>
                  </a:ext>
                </a:extLst>
              </p:cNvPr>
              <p:cNvSpPr txBox="1"/>
              <p:nvPr/>
            </p:nvSpPr>
            <p:spPr>
              <a:xfrm>
                <a:off x="2420016" y="1581021"/>
                <a:ext cx="496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9BA2928-7372-3440-8E39-2E6F853102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016" y="1581021"/>
                <a:ext cx="49610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FE1836F-AD3B-14CD-6181-178C8524C927}"/>
              </a:ext>
            </a:extLst>
          </p:cNvPr>
          <p:cNvCxnSpPr>
            <a:cxnSpLocks/>
          </p:cNvCxnSpPr>
          <p:nvPr/>
        </p:nvCxnSpPr>
        <p:spPr>
          <a:xfrm>
            <a:off x="195851" y="5424790"/>
            <a:ext cx="2592000" cy="0"/>
          </a:xfrm>
          <a:prstGeom prst="line">
            <a:avLst/>
          </a:prstGeom>
          <a:ln w="762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373AB86-F88F-B1B1-CE87-EA46E70C2B98}"/>
              </a:ext>
            </a:extLst>
          </p:cNvPr>
          <p:cNvGrpSpPr/>
          <p:nvPr/>
        </p:nvGrpSpPr>
        <p:grpSpPr>
          <a:xfrm>
            <a:off x="2778204" y="4249285"/>
            <a:ext cx="1980001" cy="144000"/>
            <a:chOff x="3118673" y="4083915"/>
            <a:chExt cx="1980001" cy="144000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1680875-46ED-1BB4-A325-A5C69C76D29B}"/>
                </a:ext>
              </a:extLst>
            </p:cNvPr>
            <p:cNvCxnSpPr>
              <a:cxnSpLocks/>
            </p:cNvCxnSpPr>
            <p:nvPr/>
          </p:nvCxnSpPr>
          <p:spPr>
            <a:xfrm>
              <a:off x="3190673" y="4156762"/>
              <a:ext cx="1764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9913FE2-BCC3-45F8-FCA4-6B1B4BBF1518}"/>
                </a:ext>
              </a:extLst>
            </p:cNvPr>
            <p:cNvSpPr/>
            <p:nvPr/>
          </p:nvSpPr>
          <p:spPr>
            <a:xfrm>
              <a:off x="4954674" y="4083915"/>
              <a:ext cx="144000" cy="144000"/>
            </a:xfrm>
            <a:prstGeom prst="ellipse">
              <a:avLst/>
            </a:prstGeom>
            <a:noFill/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BEF64C3-13DA-8248-1268-789960C71F8E}"/>
                </a:ext>
              </a:extLst>
            </p:cNvPr>
            <p:cNvSpPr/>
            <p:nvPr/>
          </p:nvSpPr>
          <p:spPr>
            <a:xfrm>
              <a:off x="3118673" y="4083915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6ECFAC9-8AF6-60AE-B873-9E2698B37D93}"/>
              </a:ext>
            </a:extLst>
          </p:cNvPr>
          <p:cNvGrpSpPr/>
          <p:nvPr/>
        </p:nvGrpSpPr>
        <p:grpSpPr>
          <a:xfrm>
            <a:off x="4611264" y="2817070"/>
            <a:ext cx="2234940" cy="144000"/>
            <a:chOff x="4951733" y="2651700"/>
            <a:chExt cx="2234940" cy="144000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14C2ADA-1C8C-A4AB-14D4-8D0772759A0C}"/>
                </a:ext>
              </a:extLst>
            </p:cNvPr>
            <p:cNvCxnSpPr>
              <a:cxnSpLocks/>
            </p:cNvCxnSpPr>
            <p:nvPr/>
          </p:nvCxnSpPr>
          <p:spPr>
            <a:xfrm>
              <a:off x="5026673" y="2724547"/>
              <a:ext cx="2016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182BEBDA-9501-5EE5-91E2-5FCB1CE8FB98}"/>
                </a:ext>
              </a:extLst>
            </p:cNvPr>
            <p:cNvSpPr/>
            <p:nvPr/>
          </p:nvSpPr>
          <p:spPr>
            <a:xfrm>
              <a:off x="7042673" y="2651700"/>
              <a:ext cx="144000" cy="144000"/>
            </a:xfrm>
            <a:prstGeom prst="ellipse">
              <a:avLst/>
            </a:prstGeom>
            <a:noFill/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F8288AAA-C67D-A1D0-A1C6-D900D29BFA82}"/>
                </a:ext>
              </a:extLst>
            </p:cNvPr>
            <p:cNvSpPr/>
            <p:nvPr/>
          </p:nvSpPr>
          <p:spPr>
            <a:xfrm>
              <a:off x="4951733" y="2651700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1AF61BD-A1AD-09BE-EA51-933F4A534692}"/>
              </a:ext>
            </a:extLst>
          </p:cNvPr>
          <p:cNvGrpSpPr/>
          <p:nvPr/>
        </p:nvGrpSpPr>
        <p:grpSpPr>
          <a:xfrm>
            <a:off x="6702204" y="1774820"/>
            <a:ext cx="2090940" cy="144000"/>
            <a:chOff x="4951733" y="2651700"/>
            <a:chExt cx="2090940" cy="144000"/>
          </a:xfrm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9211D990-D74D-9C5F-05DB-D9EB091A36CB}"/>
                </a:ext>
              </a:extLst>
            </p:cNvPr>
            <p:cNvCxnSpPr>
              <a:cxnSpLocks/>
            </p:cNvCxnSpPr>
            <p:nvPr/>
          </p:nvCxnSpPr>
          <p:spPr>
            <a:xfrm>
              <a:off x="5026673" y="2724547"/>
              <a:ext cx="2016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F170F45F-5832-8DFA-76EC-82278F0BBEEE}"/>
                </a:ext>
              </a:extLst>
            </p:cNvPr>
            <p:cNvSpPr/>
            <p:nvPr/>
          </p:nvSpPr>
          <p:spPr>
            <a:xfrm>
              <a:off x="4951733" y="2651700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sp>
        <p:nvSpPr>
          <p:cNvPr id="33" name="Oval 32">
            <a:extLst>
              <a:ext uri="{FF2B5EF4-FFF2-40B4-BE49-F238E27FC236}">
                <a16:creationId xmlns:a16="http://schemas.microsoft.com/office/drawing/2014/main" id="{5A2BD5E0-E396-AC1B-C144-2C5539A06282}"/>
              </a:ext>
            </a:extLst>
          </p:cNvPr>
          <p:cNvSpPr/>
          <p:nvPr/>
        </p:nvSpPr>
        <p:spPr>
          <a:xfrm>
            <a:off x="2772663" y="5352789"/>
            <a:ext cx="144000" cy="144000"/>
          </a:xfrm>
          <a:prstGeom prst="ellipse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BC6940E-2AC3-D6D5-6C1A-C8D4FEF12FF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78631" y="900394"/>
            <a:ext cx="3515138" cy="153787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33A8977-9A7E-093F-C5FB-4F6F8BD1C8D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025936" y="2726370"/>
            <a:ext cx="3030931" cy="909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6495883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212153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A random variable X takes the values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−3,  −2,  −1,  0,  1,  2,  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 such that 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=−3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=−2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=−1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=3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Obtain the probability distribution and the distribution 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121533"/>
              </a:xfrm>
              <a:prstGeom prst="rect">
                <a:avLst/>
              </a:prstGeom>
              <a:blipFill>
                <a:blip r:embed="rId2"/>
                <a:stretch>
                  <a:fillRect l="-1074" t="-575" b="-71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31460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AB56B1-91F7-4EC3-A8DA-3E4826259CC3}"/>
              </a:ext>
            </a:extLst>
          </p:cNvPr>
          <p:cNvSpPr txBox="1"/>
          <p:nvPr/>
        </p:nvSpPr>
        <p:spPr>
          <a:xfrm>
            <a:off x="114082" y="3694420"/>
            <a:ext cx="916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Let,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CF186C8-77AB-404B-A0B6-C8F8ECDECB94}"/>
                  </a:ext>
                </a:extLst>
              </p:cNvPr>
              <p:cNvSpPr txBox="1"/>
              <p:nvPr/>
            </p:nvSpPr>
            <p:spPr>
              <a:xfrm>
                <a:off x="43542" y="4228318"/>
                <a:ext cx="1219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=−3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=−1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=1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=3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𝐤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CF186C8-77AB-404B-A0B6-C8F8ECDECB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42" y="4228318"/>
                <a:ext cx="121920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8D69D989-F456-4122-AD05-CFFA2B715BB7}"/>
              </a:ext>
            </a:extLst>
          </p:cNvPr>
          <p:cNvSpPr txBox="1"/>
          <p:nvPr/>
        </p:nvSpPr>
        <p:spPr>
          <a:xfrm>
            <a:off x="114082" y="4751538"/>
            <a:ext cx="916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DD6633E-7A11-4142-99B6-21BFF5287101}"/>
                  </a:ext>
                </a:extLst>
              </p:cNvPr>
              <p:cNvSpPr txBox="1"/>
              <p:nvPr/>
            </p:nvSpPr>
            <p:spPr>
              <a:xfrm>
                <a:off x="685582" y="5274758"/>
                <a:ext cx="18018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DD6633E-7A11-4142-99B6-21BFF52871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5582" y="5274758"/>
                <a:ext cx="180180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E9AF7BE-B2F0-4DDD-88DB-B59176CE4451}"/>
                  </a:ext>
                </a:extLst>
              </p:cNvPr>
              <p:cNvSpPr txBox="1"/>
              <p:nvPr/>
            </p:nvSpPr>
            <p:spPr>
              <a:xfrm>
                <a:off x="2148622" y="5274758"/>
                <a:ext cx="64492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=−3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=−1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E9AF7BE-B2F0-4DDD-88DB-B59176CE44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8622" y="5274758"/>
                <a:ext cx="644928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/>
              <p:nvPr/>
            </p:nvSpPr>
            <p:spPr>
              <a:xfrm>
                <a:off x="8360736" y="5274758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0736" y="5274758"/>
                <a:ext cx="97739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!!1">
                <a:extLst>
                  <a:ext uri="{FF2B5EF4-FFF2-40B4-BE49-F238E27FC236}">
                    <a16:creationId xmlns:a16="http://schemas.microsoft.com/office/drawing/2014/main" id="{89D1BC4C-6B41-46BC-80AB-79C22A2C5E1A}"/>
                  </a:ext>
                </a:extLst>
              </p:cNvPr>
              <p:cNvSpPr txBox="1"/>
              <p:nvPr/>
            </p:nvSpPr>
            <p:spPr>
              <a:xfrm>
                <a:off x="236655" y="5983268"/>
                <a:ext cx="562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!!1">
                <a:extLst>
                  <a:ext uri="{FF2B5EF4-FFF2-40B4-BE49-F238E27FC236}">
                    <a16:creationId xmlns:a16="http://schemas.microsoft.com/office/drawing/2014/main" id="{89D1BC4C-6B41-46BC-80AB-79C22A2C5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655" y="5983268"/>
                <a:ext cx="56213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/>
              <p:nvPr/>
            </p:nvSpPr>
            <p:spPr>
              <a:xfrm>
                <a:off x="3925045" y="5983268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25045" y="5983268"/>
                <a:ext cx="97739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8A67B34-1177-4099-A72D-BBEFA1278049}"/>
                  </a:ext>
                </a:extLst>
              </p:cNvPr>
              <p:cNvSpPr txBox="1"/>
              <p:nvPr/>
            </p:nvSpPr>
            <p:spPr>
              <a:xfrm>
                <a:off x="680902" y="5983268"/>
                <a:ext cx="18018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8A67B34-1177-4099-A72D-BBEFA12780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2" y="5983268"/>
                <a:ext cx="180180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F7E9724-5CCD-4C55-8A66-DF148AAB0E14}"/>
                  </a:ext>
                </a:extLst>
              </p:cNvPr>
              <p:cNvSpPr txBox="1"/>
              <p:nvPr/>
            </p:nvSpPr>
            <p:spPr>
              <a:xfrm>
                <a:off x="2139534" y="5983268"/>
                <a:ext cx="20022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F7E9724-5CCD-4C55-8A66-DF148AAB0E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534" y="5983268"/>
                <a:ext cx="200220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57082F6-A0C2-469A-B3A8-33F6786BC543}"/>
                  </a:ext>
                </a:extLst>
              </p:cNvPr>
              <p:cNvSpPr txBox="1"/>
              <p:nvPr/>
            </p:nvSpPr>
            <p:spPr>
              <a:xfrm>
                <a:off x="131176" y="1405384"/>
                <a:ext cx="52028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&gt;0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57082F6-A0C2-469A-B3A8-33F6786BC5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405384"/>
                <a:ext cx="520282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8493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15" grpId="0"/>
      <p:bldP spid="16" grpId="0"/>
      <p:bldP spid="17" grpId="0"/>
      <p:bldP spid="18" grpId="0"/>
      <p:bldP spid="20" grpId="0"/>
      <p:bldP spid="22" grpId="0"/>
      <p:bldP spid="24" grpId="0"/>
      <p:bldP spid="28" grpId="0"/>
      <p:bldP spid="33" grpId="0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9AF7BE-B2F0-4DDD-88DB-B59176CE4451}"/>
              </a:ext>
            </a:extLst>
          </p:cNvPr>
          <p:cNvSpPr txBox="1"/>
          <p:nvPr/>
        </p:nvSpPr>
        <p:spPr>
          <a:xfrm>
            <a:off x="1028482" y="1386593"/>
            <a:ext cx="104706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Since,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/>
              <p:nvPr/>
            </p:nvSpPr>
            <p:spPr>
              <a:xfrm>
                <a:off x="6096000" y="1974774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1974774"/>
                <a:ext cx="97739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89D1BC4C-6B41-46BC-80AB-79C22A2C5E1A}"/>
              </a:ext>
            </a:extLst>
          </p:cNvPr>
          <p:cNvSpPr txBox="1"/>
          <p:nvPr/>
        </p:nvSpPr>
        <p:spPr>
          <a:xfrm>
            <a:off x="190934" y="3304084"/>
            <a:ext cx="8375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/>
              <p:nvPr/>
            </p:nvSpPr>
            <p:spPr>
              <a:xfrm>
                <a:off x="6246660" y="798412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660" y="798412"/>
                <a:ext cx="9773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CDCAFC-03E6-425D-B0D4-9F5662EFB5F7}"/>
                  </a:ext>
                </a:extLst>
              </p:cNvPr>
              <p:cNvSpPr txBox="1"/>
              <p:nvPr/>
            </p:nvSpPr>
            <p:spPr>
              <a:xfrm>
                <a:off x="953152" y="1974774"/>
                <a:ext cx="52181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CDCAFC-03E6-425D-B0D4-9F5662EFB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52" y="1974774"/>
                <a:ext cx="521817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FECE5B7-6B69-4744-9190-78353F3749AC}"/>
                  </a:ext>
                </a:extLst>
              </p:cNvPr>
              <p:cNvSpPr txBox="1"/>
              <p:nvPr/>
            </p:nvSpPr>
            <p:spPr>
              <a:xfrm>
                <a:off x="3743324" y="2587649"/>
                <a:ext cx="23526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FECE5B7-6B69-4744-9190-78353F3749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3324" y="2587649"/>
                <a:ext cx="235267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CB53ADB-A1C1-4720-B4E1-F3F77884EFEA}"/>
                  </a:ext>
                </a:extLst>
              </p:cNvPr>
              <p:cNvSpPr txBox="1"/>
              <p:nvPr/>
            </p:nvSpPr>
            <p:spPr>
              <a:xfrm>
                <a:off x="6096000" y="2585205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CB53ADB-A1C1-4720-B4E1-F3F77884EF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2585205"/>
                <a:ext cx="97739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0E54957-1803-4814-A2F8-E062BF6233DA}"/>
                  </a:ext>
                </a:extLst>
              </p:cNvPr>
              <p:cNvSpPr txBox="1"/>
              <p:nvPr/>
            </p:nvSpPr>
            <p:spPr>
              <a:xfrm>
                <a:off x="7300726" y="2585205"/>
                <a:ext cx="6095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0E54957-1803-4814-A2F8-E062BF6233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0726" y="2585205"/>
                <a:ext cx="60959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A881714-765D-4B17-B6A1-32A32D0C1F1F}"/>
                  </a:ext>
                </a:extLst>
              </p:cNvPr>
              <p:cNvSpPr txBox="1"/>
              <p:nvPr/>
            </p:nvSpPr>
            <p:spPr>
              <a:xfrm>
                <a:off x="7794436" y="2389546"/>
                <a:ext cx="977393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A881714-765D-4B17-B6A1-32A32D0C1F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4436" y="2389546"/>
                <a:ext cx="977393" cy="89896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4">
                <a:extLst>
                  <a:ext uri="{FF2B5EF4-FFF2-40B4-BE49-F238E27FC236}">
                    <a16:creationId xmlns:a16="http://schemas.microsoft.com/office/drawing/2014/main" id="{92E38ED7-8240-4EB9-B2BA-C908D303DFD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3910113"/>
              <a:ext cx="9960617" cy="151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0900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−3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−2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−1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4">
                <a:extLst>
                  <a:ext uri="{FF2B5EF4-FFF2-40B4-BE49-F238E27FC236}">
                    <a16:creationId xmlns:a16="http://schemas.microsoft.com/office/drawing/2014/main" id="{92E38ED7-8240-4EB9-B2BA-C908D303DFD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36572716"/>
                  </p:ext>
                </p:extLst>
              </p:nvPr>
            </p:nvGraphicFramePr>
            <p:xfrm>
              <a:off x="309557" y="3910113"/>
              <a:ext cx="9960617" cy="151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0900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03" t="-2247" r="-396364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177957" t="-2247" r="-603226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276471" t="-2247" r="-500000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78495" t="-2247" r="-402688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475936" t="-2247" r="-300535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579032" t="-2247" r="-202151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675401" t="-2247" r="-101070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779570" t="-2247" r="-1613" b="-1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03" t="-56875" r="-396364" b="-18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5220574-0619-42CF-99E3-0366DDF88189}"/>
                  </a:ext>
                </a:extLst>
              </p:cNvPr>
              <p:cNvSpPr txBox="1"/>
              <p:nvPr/>
            </p:nvSpPr>
            <p:spPr>
              <a:xfrm>
                <a:off x="2375141" y="4474824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5220574-0619-42CF-99E3-0366DDF881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141" y="4474824"/>
                <a:ext cx="1001729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C29BE1C-628B-4FCE-86E2-8E70BB304409}"/>
                  </a:ext>
                </a:extLst>
              </p:cNvPr>
              <p:cNvSpPr txBox="1"/>
              <p:nvPr/>
            </p:nvSpPr>
            <p:spPr>
              <a:xfrm>
                <a:off x="3511692" y="4474823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C29BE1C-628B-4FCE-86E2-8E70BB3044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1692" y="4474823"/>
                <a:ext cx="1001729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6FA41B5-EA94-45D9-B59E-57EA0D4D5E47}"/>
                  </a:ext>
                </a:extLst>
              </p:cNvPr>
              <p:cNvSpPr txBox="1"/>
              <p:nvPr/>
            </p:nvSpPr>
            <p:spPr>
              <a:xfrm>
                <a:off x="4648243" y="4474822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6FA41B5-EA94-45D9-B59E-57EA0D4D5E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243" y="4474822"/>
                <a:ext cx="1001729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2E65DD3-907C-4759-9C66-A01379F975C1}"/>
                  </a:ext>
                </a:extLst>
              </p:cNvPr>
              <p:cNvSpPr txBox="1"/>
              <p:nvPr/>
            </p:nvSpPr>
            <p:spPr>
              <a:xfrm>
                <a:off x="5793834" y="4474821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2E65DD3-907C-4759-9C66-A01379F975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3834" y="4474821"/>
                <a:ext cx="1001729" cy="90178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5FFDCC9-0D65-465D-A093-37914E833C36}"/>
                  </a:ext>
                </a:extLst>
              </p:cNvPr>
              <p:cNvSpPr txBox="1"/>
              <p:nvPr/>
            </p:nvSpPr>
            <p:spPr>
              <a:xfrm>
                <a:off x="6921345" y="44748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5FFDCC9-0D65-465D-A093-37914E833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1345" y="4474820"/>
                <a:ext cx="1001729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4584C96-FF04-4CC8-A01C-BE5F77BAC03A}"/>
                  </a:ext>
                </a:extLst>
              </p:cNvPr>
              <p:cNvSpPr txBox="1"/>
              <p:nvPr/>
            </p:nvSpPr>
            <p:spPr>
              <a:xfrm>
                <a:off x="8057896" y="4474819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4584C96-FF04-4CC8-A01C-BE5F77BAC0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7896" y="4474819"/>
                <a:ext cx="1001729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100801E-FBE2-49B1-A660-3F33457E0DFC}"/>
                  </a:ext>
                </a:extLst>
              </p:cNvPr>
              <p:cNvSpPr txBox="1"/>
              <p:nvPr/>
            </p:nvSpPr>
            <p:spPr>
              <a:xfrm>
                <a:off x="9194445" y="4474818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100801E-FBE2-49B1-A660-3F33457E0D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445" y="4474818"/>
                <a:ext cx="1001729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D116EDE-71D4-4BFC-9D09-5D0DB07D84F3}"/>
                  </a:ext>
                </a:extLst>
              </p:cNvPr>
              <p:cNvSpPr txBox="1"/>
              <p:nvPr/>
            </p:nvSpPr>
            <p:spPr>
              <a:xfrm>
                <a:off x="6932932" y="2587649"/>
                <a:ext cx="5132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D116EDE-71D4-4BFC-9D09-5D0DB07D84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32" y="2587649"/>
                <a:ext cx="51326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A4104331-87EB-4F68-9D0D-76DB4C1B91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5422113"/>
              <a:ext cx="9960621" cy="97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14284">
                      <a:extLst>
                        <a:ext uri="{9D8B030D-6E8A-4147-A177-3AD203B41FA5}">
                          <a16:colId xmlns:a16="http://schemas.microsoft.com/office/drawing/2014/main" val="4214428969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050801041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87515900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5126673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3750154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7946555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665578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3745598535"/>
                        </a:ext>
                      </a:extLst>
                    </a:gridCol>
                  </a:tblGrid>
                  <a:tr h="972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𝐅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≤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1685940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A4104331-87EB-4F68-9D0D-76DB4C1B914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48783474"/>
                  </p:ext>
                </p:extLst>
              </p:nvPr>
            </p:nvGraphicFramePr>
            <p:xfrm>
              <a:off x="309557" y="5422113"/>
              <a:ext cx="9960621" cy="97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14284">
                      <a:extLst>
                        <a:ext uri="{9D8B030D-6E8A-4147-A177-3AD203B41FA5}">
                          <a16:colId xmlns:a16="http://schemas.microsoft.com/office/drawing/2014/main" val="4214428969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050801041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87515900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5126673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3750154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7946555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665578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3745598535"/>
                        </a:ext>
                      </a:extLst>
                    </a:gridCol>
                  </a:tblGrid>
                  <a:tr h="972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302" t="-1250" r="-394864" b="-25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16859406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041176B-C103-46B4-AF82-65328C768783}"/>
                  </a:ext>
                </a:extLst>
              </p:cNvPr>
              <p:cNvSpPr txBox="1"/>
              <p:nvPr/>
            </p:nvSpPr>
            <p:spPr>
              <a:xfrm>
                <a:off x="2375141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041176B-C103-46B4-AF82-65328C7687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141" y="5457220"/>
                <a:ext cx="1001729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72F86B5-8249-48A8-9925-B143B48E3406}"/>
                  </a:ext>
                </a:extLst>
              </p:cNvPr>
              <p:cNvSpPr txBox="1"/>
              <p:nvPr/>
            </p:nvSpPr>
            <p:spPr>
              <a:xfrm>
                <a:off x="3496854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72F86B5-8249-48A8-9925-B143B48E34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6854" y="5457220"/>
                <a:ext cx="1001729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6A348C6-4643-45C6-929A-27F8D080A96A}"/>
                  </a:ext>
                </a:extLst>
              </p:cNvPr>
              <p:cNvSpPr txBox="1"/>
              <p:nvPr/>
            </p:nvSpPr>
            <p:spPr>
              <a:xfrm>
                <a:off x="4648242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6A348C6-4643-45C6-929A-27F8D080A9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242" y="5457220"/>
                <a:ext cx="1001729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4F3099D-C0E0-4315-BADC-05C69989EE76}"/>
                  </a:ext>
                </a:extLst>
              </p:cNvPr>
              <p:cNvSpPr txBox="1"/>
              <p:nvPr/>
            </p:nvSpPr>
            <p:spPr>
              <a:xfrm>
                <a:off x="5793834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4F3099D-C0E0-4315-BADC-05C69989EE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3834" y="5457220"/>
                <a:ext cx="1001729" cy="90178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F12AC73-E867-4A2D-9500-50B0B3F8D753}"/>
                  </a:ext>
                </a:extLst>
              </p:cNvPr>
              <p:cNvSpPr txBox="1"/>
              <p:nvPr/>
            </p:nvSpPr>
            <p:spPr>
              <a:xfrm>
                <a:off x="6939426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F12AC73-E867-4A2D-9500-50B0B3F8D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9426" y="5457220"/>
                <a:ext cx="1001729" cy="90178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D12C0A1-753B-4173-85F0-24AD9E42F162}"/>
                  </a:ext>
                </a:extLst>
              </p:cNvPr>
              <p:cNvSpPr txBox="1"/>
              <p:nvPr/>
            </p:nvSpPr>
            <p:spPr>
              <a:xfrm>
                <a:off x="8056170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D12C0A1-753B-4173-85F0-24AD9E42F1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6170" y="5457220"/>
                <a:ext cx="1001729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45F153B-67BF-4560-81D0-472E2CE4C8A8}"/>
                  </a:ext>
                </a:extLst>
              </p:cNvPr>
              <p:cNvSpPr txBox="1"/>
              <p:nvPr/>
            </p:nvSpPr>
            <p:spPr>
              <a:xfrm>
                <a:off x="9194444" y="5646502"/>
                <a:ext cx="10017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45F153B-67BF-4560-81D0-472E2CE4C8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444" y="5646502"/>
                <a:ext cx="1001729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E24382B-CE27-4B1D-A854-2E492E1E4007}"/>
                  </a:ext>
                </a:extLst>
              </p:cNvPr>
              <p:cNvSpPr txBox="1"/>
              <p:nvPr/>
            </p:nvSpPr>
            <p:spPr>
              <a:xfrm>
                <a:off x="1028481" y="797217"/>
                <a:ext cx="52028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&gt;0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E24382B-CE27-4B1D-A854-2E492E1E4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481" y="797217"/>
                <a:ext cx="520282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066537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50"/>
                            </p:stCondLst>
                            <p:childTnLst>
                              <p:par>
                                <p:cTn id="6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2" grpId="0"/>
      <p:bldP spid="25" grpId="0"/>
      <p:bldP spid="26" grpId="0"/>
      <p:bldP spid="27" grpId="0"/>
      <p:bldP spid="29" grpId="0"/>
      <p:bldP spid="31" grpId="0"/>
      <p:bldP spid="35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</a:t>
            </a:r>
            <a:r>
              <a:rPr lang="en-US" dirty="0"/>
              <a:t>Continuous</a:t>
            </a:r>
            <a:r>
              <a:rPr lang="en-GB" dirty="0"/>
              <a:t>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11203"/>
                <a:ext cx="11929641" cy="4279085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:r>
                  <a:rPr lang="en-US" b="1" dirty="0"/>
                  <a:t>Continuous </a:t>
                </a:r>
                <a:r>
                  <a:rPr lang="en-IN" b="1" dirty="0"/>
                  <a:t>Distribution Function</a:t>
                </a:r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continuous random variable having the probability density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then the function </a:t>
                </a:r>
                <a:endParaRPr lang="en-IN" dirty="0"/>
              </a:p>
              <a:p>
                <a:pPr marL="628650" indent="0">
                  <a:lnSpc>
                    <a:spcPct val="13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dt</m:t>
                          </m:r>
                        </m:e>
                      </m:nary>
                      <m:r>
                        <a:rPr lang="en-US">
                          <a:latin typeface="Cambria Math" panose="02040503050406030204" pitchFamily="18" charset="0"/>
                        </a:rPr>
                        <m:t>  ;  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∞&lt;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&lt;∞</m:t>
                      </m:r>
                    </m:oMath>
                  </m:oMathPara>
                </a14:m>
                <a:endParaRPr lang="en-IN" dirty="0"/>
              </a:p>
              <a:p>
                <a:pPr marL="628650" indent="0">
                  <a:lnSpc>
                    <a:spcPct val="130000"/>
                  </a:lnSpc>
                  <a:buNone/>
                </a:pPr>
                <a:r>
                  <a:rPr lang="en-US" dirty="0"/>
                  <a:t>is known as the continuous distribution function.</a:t>
                </a:r>
              </a:p>
              <a:p>
                <a:pPr marL="622300" indent="0">
                  <a:lnSpc>
                    <a:spcPct val="110000"/>
                  </a:lnSpc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11203"/>
                <a:ext cx="11929641" cy="4279085"/>
              </a:xfrm>
              <a:blipFill>
                <a:blip r:embed="rId2"/>
                <a:stretch>
                  <a:fillRect l="-971" b="-71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10501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716E6F-B0E1-462E-6ADB-9A59E89339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129D3D-B648-F9D1-2FC8-B3059CD6D2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</a:t>
            </a:r>
            <a:r>
              <a:rPr lang="en-US" dirty="0"/>
              <a:t>Continuous</a:t>
            </a:r>
            <a:r>
              <a:rPr lang="en-GB" dirty="0"/>
              <a:t>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8D6EC075-FCEE-2FEE-E19C-D36C9B4F033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11203"/>
                <a:ext cx="11929641" cy="4755742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:r>
                  <a:rPr lang="en-US" dirty="0"/>
                  <a:t>So, to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endParaRPr lang="en-IN" dirty="0"/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We add all tiny probabilities from:</a:t>
                </a:r>
              </a:p>
              <a:p>
                <a:pPr lvl="2">
                  <a:lnSpc>
                    <a:spcPct val="130000"/>
                  </a:lnSpc>
                </a:pPr>
                <a:r>
                  <a:rPr lang="en-US" dirty="0"/>
                  <a:t>the smallest possible value (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−∞</m:t>
                    </m:r>
                  </m:oMath>
                </a14:m>
                <a:r>
                  <a:rPr lang="en-US" dirty="0"/>
                  <a:t>)</a:t>
                </a:r>
              </a:p>
              <a:p>
                <a:pPr lvl="2">
                  <a:lnSpc>
                    <a:spcPct val="130000"/>
                  </a:lnSpc>
                </a:pPr>
                <a:r>
                  <a:rPr lang="en-US" dirty="0"/>
                  <a:t>up to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US" dirty="0"/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That addition of infinitely small probabilities is done using integration.</a:t>
                </a:r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Note that, we use the lower limit as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−∞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because CDF must start counting from the very beginning of all possible values.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8D6EC075-FCEE-2FEE-E19C-D36C9B4F033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11203"/>
                <a:ext cx="11929641" cy="4755742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80755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544475"/>
              </a:xfrm>
            </p:spPr>
            <p:txBody>
              <a:bodyPr/>
              <a:lstStyle/>
              <a:p>
                <a:pPr lvl="0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Property : 1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For</m:t>
                    </m:r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∞&lt;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&lt;∞, </m:t>
                    </m:r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0≤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≤1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lvl="2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Because probability cannot exceed </a:t>
                </a:r>
                <a14:m>
                  <m:oMath xmlns:m="http://schemas.openxmlformats.org/officeDocument/2006/math">
                    <m:r>
                      <a:rPr lang="en-IN" i="1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</a:p>
              <a:p>
                <a:pPr fontAlgn="base">
                  <a:lnSpc>
                    <a:spcPct val="135000"/>
                  </a:lnSpc>
                  <a:spcBef>
                    <a:spcPts val="1600"/>
                  </a:spcBef>
                </a:pP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544475"/>
              </a:xfrm>
              <a:blipFill>
                <a:blip r:embed="rId2"/>
                <a:stretch>
                  <a:fillRect l="-971" b="-158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1">
            <a:extLst>
              <a:ext uri="{FF2B5EF4-FFF2-40B4-BE49-F238E27FC236}">
                <a16:creationId xmlns:a16="http://schemas.microsoft.com/office/drawing/2014/main" id="{0D3A56AB-F7CC-D8F9-3261-3DCC78892AF2}"/>
              </a:ext>
            </a:extLst>
          </p:cNvPr>
          <p:cNvSpPr txBox="1">
            <a:spLocks/>
          </p:cNvSpPr>
          <p:nvPr/>
        </p:nvSpPr>
        <p:spPr>
          <a:xfrm>
            <a:off x="131179" y="2407921"/>
            <a:ext cx="1192964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2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399444BD-FA0B-7F84-37AB-725C373A5F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5018" y="3119121"/>
                <a:ext cx="4461142" cy="113776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US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∞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IN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IN" i="1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IN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 → −∞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func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399444BD-FA0B-7F84-37AB-725C373A5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018" y="3119121"/>
                <a:ext cx="4461142" cy="113776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92ABC924-F11C-C51D-9A62-2B64EC42B0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3098" y="4104641"/>
                <a:ext cx="72865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because </a:t>
                </a:r>
                <a:r>
                  <a:rPr lang="en-US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before anything starts → probability</a:t>
                </a:r>
                <a14:m>
                  <m:oMath xmlns:m="http://schemas.openxmlformats.org/officeDocument/2006/math"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=0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92ABC924-F11C-C51D-9A62-2B64EC42B0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3098" y="4104641"/>
                <a:ext cx="7286522" cy="711200"/>
              </a:xfrm>
              <a:prstGeom prst="rect">
                <a:avLst/>
              </a:prstGeom>
              <a:blipFill>
                <a:blip r:embed="rId4"/>
                <a:stretch>
                  <a:fillRect l="-1757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7B1E7242-62DB-8EE2-A309-36EE9CC595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5018" y="4856791"/>
                <a:ext cx="3851542" cy="113776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US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∞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IN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IN" i="1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IN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 → ∞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func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7B1E7242-62DB-8EE2-A309-36EE9CC595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018" y="4856791"/>
                <a:ext cx="3851542" cy="11377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139F5E23-A4C6-9264-0780-63D1DCBD4A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59841" y="5791743"/>
                <a:ext cx="8209281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because 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after everything is included → probability </a:t>
                </a:r>
                <a14:m>
                  <m:oMath xmlns:m="http://schemas.openxmlformats.org/officeDocument/2006/math"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139F5E23-A4C6-9264-0780-63D1DCBD4A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9841" y="5791743"/>
                <a:ext cx="8209281" cy="711200"/>
              </a:xfrm>
              <a:prstGeom prst="rect">
                <a:avLst/>
              </a:prstGeom>
              <a:blipFill>
                <a:blip r:embed="rId6"/>
                <a:stretch>
                  <a:fillRect l="-1560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56234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D87686-51AA-9BED-4E9C-21F602B71F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07178DB-6D83-C591-B88B-284F5112FD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944CF53B-151B-3C99-9DEA-35EE2970D1C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1297237"/>
              </a:xfrm>
            </p:spPr>
            <p:txBody>
              <a:bodyPr/>
              <a:lstStyle/>
              <a:p>
                <a:pPr lvl="0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Property : 3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</a:t>
                </a:r>
                <a:r>
                  <a:rPr lang="en-US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For</a:t>
                </a: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 any</a:t>
                </a:r>
                <a14:m>
                  <m:oMath xmlns:m="http://schemas.openxmlformats.org/officeDocument/2006/math">
                    <m: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944CF53B-151B-3C99-9DEA-35EE2970D1C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1297237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1">
            <a:extLst>
              <a:ext uri="{FF2B5EF4-FFF2-40B4-BE49-F238E27FC236}">
                <a16:creationId xmlns:a16="http://schemas.microsoft.com/office/drawing/2014/main" id="{1E993B3C-10ED-B346-D3E3-026DD48BABB7}"/>
              </a:ext>
            </a:extLst>
          </p:cNvPr>
          <p:cNvSpPr txBox="1">
            <a:spLocks/>
          </p:cNvSpPr>
          <p:nvPr/>
        </p:nvSpPr>
        <p:spPr>
          <a:xfrm>
            <a:off x="131179" y="2054626"/>
            <a:ext cx="185002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fontAlgn="base">
              <a:lnSpc>
                <a:spcPct val="135000"/>
              </a:lnSpc>
              <a:spcBef>
                <a:spcPts val="1600"/>
              </a:spcBef>
            </a:pPr>
            <a:r>
              <a:rPr lang="en-IN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Proof: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D6E23461-7966-1072-DCD9-9F9878E7910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26298" y="2054626"/>
                <a:ext cx="989674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The event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are mutually exclusive.</a:t>
                </a:r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D6E23461-7966-1072-DCD9-9F9878E791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6298" y="2054626"/>
                <a:ext cx="9896742" cy="711200"/>
              </a:xfrm>
              <a:prstGeom prst="rect">
                <a:avLst/>
              </a:prstGeom>
              <a:blipFill>
                <a:blip r:embed="rId3"/>
                <a:stretch>
                  <a:fillRect l="-1232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C2B28EC7-424E-9949-EAFA-7A4AC1043A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26298" y="2813852"/>
                <a:ext cx="989674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Also,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C2B28EC7-424E-9949-EAFA-7A4AC1043A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6298" y="2813852"/>
                <a:ext cx="9896742" cy="711200"/>
              </a:xfrm>
              <a:prstGeom prst="rect">
                <a:avLst/>
              </a:prstGeom>
              <a:blipFill>
                <a:blip r:embed="rId4"/>
                <a:stretch>
                  <a:fillRect l="-1232" b="-1120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25F069CF-6261-F2DC-0036-B94B47CD5BB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354814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25F069CF-6261-F2DC-0036-B94B47CD5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3548146"/>
                <a:ext cx="7184022" cy="7112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5575C897-3F7D-FD22-A7DA-DD208F36632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433046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5575C897-3F7D-FD22-A7DA-DD208F3663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4330466"/>
                <a:ext cx="7184022" cy="7112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1">
                <a:extLst>
                  <a:ext uri="{FF2B5EF4-FFF2-40B4-BE49-F238E27FC236}">
                    <a16:creationId xmlns:a16="http://schemas.microsoft.com/office/drawing/2014/main" id="{00545C42-BE50-CFD2-1F26-D55C5A2F4D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511278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9" name="Content Placeholder 1">
                <a:extLst>
                  <a:ext uri="{FF2B5EF4-FFF2-40B4-BE49-F238E27FC236}">
                    <a16:creationId xmlns:a16="http://schemas.microsoft.com/office/drawing/2014/main" id="{00545C42-BE50-CFD2-1F26-D55C5A2F4D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5112786"/>
                <a:ext cx="7184022" cy="7112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44029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59751" y="867838"/>
            <a:ext cx="11929645" cy="46621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A discrete random variable X has the following distribution function: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573387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131176" y="1398342"/>
                <a:ext cx="4400552" cy="35720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3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1≤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4≤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&lt;6</m:t>
                              </m:r>
                            </m:e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5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6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6≤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&lt;10</m:t>
                              </m:r>
                            </m:e>
                            <m:e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398342"/>
                <a:ext cx="4400552" cy="357206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AE8ACC66-9495-434A-A4DF-815B37A71728}"/>
              </a:ext>
            </a:extLst>
          </p:cNvPr>
          <p:cNvSpPr txBox="1"/>
          <p:nvPr/>
        </p:nvSpPr>
        <p:spPr>
          <a:xfrm>
            <a:off x="131176" y="4962014"/>
            <a:ext cx="100433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Find			  ,	          ,		       ,		    ,		.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6502579-3CBA-45B3-B562-CD22F6CEAA77}"/>
                  </a:ext>
                </a:extLst>
              </p:cNvPr>
              <p:cNvSpPr txBox="1"/>
              <p:nvPr/>
            </p:nvSpPr>
            <p:spPr>
              <a:xfrm>
                <a:off x="1014943" y="4962014"/>
                <a:ext cx="22140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2&lt;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6502579-3CBA-45B3-B562-CD22F6CEA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4943" y="4962014"/>
                <a:ext cx="22140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09D69-E19A-454E-888F-F665FADCCDE7}"/>
                  </a:ext>
                </a:extLst>
              </p:cNvPr>
              <p:cNvSpPr txBox="1"/>
              <p:nvPr/>
            </p:nvSpPr>
            <p:spPr>
              <a:xfrm>
                <a:off x="3138936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 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=5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09D69-E19A-454E-888F-F665FADCCD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8936" y="4962014"/>
                <a:ext cx="166345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ED9EFC3-C8BE-4DFF-A6F5-E75231C057C5}"/>
                  </a:ext>
                </a:extLst>
              </p:cNvPr>
              <p:cNvSpPr txBox="1"/>
              <p:nvPr/>
            </p:nvSpPr>
            <p:spPr>
              <a:xfrm>
                <a:off x="4762667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ED9EFC3-C8BE-4DFF-A6F5-E75231C05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2667" y="4962014"/>
                <a:ext cx="166345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B5B27A-3458-4445-BF6A-43A21C09FC65}"/>
                  </a:ext>
                </a:extLst>
              </p:cNvPr>
              <p:cNvSpPr txBox="1"/>
              <p:nvPr/>
            </p:nvSpPr>
            <p:spPr>
              <a:xfrm>
                <a:off x="6364631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B5B27A-3458-4445-BF6A-43A21C09FC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4631" y="4962014"/>
                <a:ext cx="166345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22BC35F-E21D-4871-9D29-4C0111AB3EA5}"/>
                  </a:ext>
                </a:extLst>
              </p:cNvPr>
              <p:cNvSpPr txBox="1"/>
              <p:nvPr/>
            </p:nvSpPr>
            <p:spPr>
              <a:xfrm>
                <a:off x="7880165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22BC35F-E21D-4871-9D29-4C0111AB3E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0165" y="4962014"/>
                <a:ext cx="166345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1883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81699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3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1≤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4≤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&lt;6</m:t>
                              </m:r>
                            </m:e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5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6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6≤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&lt;10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17E159D-6B10-4F64-89B9-BE33CD94B8B3}"/>
                  </a:ext>
                </a:extLst>
              </p:cNvPr>
              <p:cNvSpPr txBox="1"/>
              <p:nvPr/>
            </p:nvSpPr>
            <p:spPr>
              <a:xfrm>
                <a:off x="114082" y="1470661"/>
                <a:ext cx="22140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2&lt;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17E159D-6B10-4F64-89B9-BE33CD94B8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082" y="1470661"/>
                <a:ext cx="22140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51D38E4-9406-4EBF-B566-61A7C504BD66}"/>
                  </a:ext>
                </a:extLst>
              </p:cNvPr>
              <p:cNvSpPr txBox="1"/>
              <p:nvPr/>
            </p:nvSpPr>
            <p:spPr>
              <a:xfrm>
                <a:off x="2328145" y="1470661"/>
                <a:ext cx="25181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51D38E4-9406-4EBF-B566-61A7C504B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1470661"/>
                <a:ext cx="251817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A83BD2-7121-4D3F-BAFB-6BCAB977458E}"/>
                  </a:ext>
                </a:extLst>
              </p:cNvPr>
              <p:cNvSpPr txBox="1"/>
              <p:nvPr/>
            </p:nvSpPr>
            <p:spPr>
              <a:xfrm>
                <a:off x="2328146" y="2076044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A83BD2-7121-4D3F-BAFB-6BCAB97745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6" y="2076044"/>
                <a:ext cx="1880998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3D83ED8-80A7-481B-84D9-7443E3360FDE}"/>
              </a:ext>
            </a:extLst>
          </p:cNvPr>
          <p:cNvSpPr/>
          <p:nvPr/>
        </p:nvSpPr>
        <p:spPr>
          <a:xfrm>
            <a:off x="9814323" y="262128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EA60E7A-1567-4772-B4F4-2B0AC2CD2574}"/>
              </a:ext>
            </a:extLst>
          </p:cNvPr>
          <p:cNvSpPr/>
          <p:nvPr/>
        </p:nvSpPr>
        <p:spPr>
          <a:xfrm>
            <a:off x="9814323" y="116459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E0E5922-7B8B-44C4-B143-6A2A20C0D058}"/>
                  </a:ext>
                </a:extLst>
              </p:cNvPr>
              <p:cNvSpPr txBox="1"/>
              <p:nvPr/>
            </p:nvSpPr>
            <p:spPr>
              <a:xfrm>
                <a:off x="4056206" y="2076044"/>
                <a:ext cx="109636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E0E5922-7B8B-44C4-B143-6A2A20C0D0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6206" y="2076044"/>
                <a:ext cx="1096365" cy="89915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/>
              <p:nvPr/>
            </p:nvSpPr>
            <p:spPr>
              <a:xfrm>
                <a:off x="769257" y="3243845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3243845"/>
                <a:ext cx="155888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/>
              <p:nvPr/>
            </p:nvSpPr>
            <p:spPr>
              <a:xfrm>
                <a:off x="2328145" y="3243845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243845"/>
                <a:ext cx="392751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/>
              <p:nvPr/>
            </p:nvSpPr>
            <p:spPr>
              <a:xfrm>
                <a:off x="2328145" y="5063973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5063973"/>
                <a:ext cx="1880998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/>
              <p:nvPr/>
            </p:nvSpPr>
            <p:spPr>
              <a:xfrm>
                <a:off x="2328145" y="6074905"/>
                <a:ext cx="790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6074905"/>
                <a:ext cx="79011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0EF67AF2-B7E0-4679-B61C-8D08A0B14467}"/>
              </a:ext>
            </a:extLst>
          </p:cNvPr>
          <p:cNvSpPr/>
          <p:nvPr/>
        </p:nvSpPr>
        <p:spPr>
          <a:xfrm>
            <a:off x="9814323" y="1885315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16564D-2875-44DB-B0CE-7850DC0254C3}"/>
                  </a:ext>
                </a:extLst>
              </p:cNvPr>
              <p:cNvSpPr txBox="1"/>
              <p:nvPr/>
            </p:nvSpPr>
            <p:spPr>
              <a:xfrm>
                <a:off x="2328145" y="3850554"/>
                <a:ext cx="35211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16564D-2875-44DB-B0CE-7850DC0254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850554"/>
                <a:ext cx="35211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/>
              <p:nvPr/>
            </p:nvSpPr>
            <p:spPr>
              <a:xfrm>
                <a:off x="2328145" y="4457263"/>
                <a:ext cx="35211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457263"/>
                <a:ext cx="35211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2E75D14-3314-4AEC-8ACC-1BA018F19435}"/>
                  </a:ext>
                </a:extLst>
              </p:cNvPr>
              <p:cNvSpPr txBox="1"/>
              <p:nvPr/>
            </p:nvSpPr>
            <p:spPr>
              <a:xfrm>
                <a:off x="1589000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2E75D14-3314-4AEC-8ACC-1BA018F19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000" y="829321"/>
                <a:ext cx="166345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BA469B7-1B72-4DED-9659-D0152860E69F}"/>
                  </a:ext>
                </a:extLst>
              </p:cNvPr>
              <p:cNvSpPr txBox="1"/>
              <p:nvPr/>
            </p:nvSpPr>
            <p:spPr>
              <a:xfrm>
                <a:off x="3589526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BA469B7-1B72-4DED-9659-D0152860E6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9526" y="829321"/>
                <a:ext cx="166345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5153AC-E70D-4519-853D-9C1F489B7087}"/>
                  </a:ext>
                </a:extLst>
              </p:cNvPr>
              <p:cNvSpPr txBox="1"/>
              <p:nvPr/>
            </p:nvSpPr>
            <p:spPr>
              <a:xfrm>
                <a:off x="5909221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5153AC-E70D-4519-853D-9C1F489B7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9221" y="829321"/>
                <a:ext cx="166345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45423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5" grpId="0" animBg="1"/>
      <p:bldP spid="5" grpId="1" animBg="1"/>
      <p:bldP spid="12" grpId="0" animBg="1"/>
      <p:bldP spid="12" grpId="1" animBg="1"/>
      <p:bldP spid="13" grpId="0"/>
      <p:bldP spid="16" grpId="0"/>
      <p:bldP spid="17" grpId="0"/>
      <p:bldP spid="18" grpId="0"/>
      <p:bldP spid="20" grpId="0" animBg="1"/>
      <p:bldP spid="20" grpId="1" animBg="1"/>
      <p:bldP spid="27" grpId="0"/>
      <p:bldP spid="28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3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1≤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4≤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&lt;6</m:t>
                              </m:r>
                            </m:e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5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6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6≤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&lt;10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3D83ED8-80A7-481B-84D9-7443E3360FDE}"/>
              </a:ext>
            </a:extLst>
          </p:cNvPr>
          <p:cNvSpPr/>
          <p:nvPr/>
        </p:nvSpPr>
        <p:spPr>
          <a:xfrm>
            <a:off x="9814323" y="262128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EA60E7A-1567-4772-B4F4-2B0AC2CD2574}"/>
              </a:ext>
            </a:extLst>
          </p:cNvPr>
          <p:cNvSpPr/>
          <p:nvPr/>
        </p:nvSpPr>
        <p:spPr>
          <a:xfrm>
            <a:off x="9814323" y="116459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/>
              <p:nvPr/>
            </p:nvSpPr>
            <p:spPr>
              <a:xfrm>
                <a:off x="769257" y="782122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782122"/>
                <a:ext cx="155888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/>
              <p:nvPr/>
            </p:nvSpPr>
            <p:spPr>
              <a:xfrm>
                <a:off x="2328145" y="782122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≤4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782122"/>
                <a:ext cx="392751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/>
              <p:nvPr/>
            </p:nvSpPr>
            <p:spPr>
              <a:xfrm>
                <a:off x="2328145" y="2027198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2027198"/>
                <a:ext cx="1880998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/>
              <p:nvPr/>
            </p:nvSpPr>
            <p:spPr>
              <a:xfrm>
                <a:off x="4048949" y="2020192"/>
                <a:ext cx="7901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949" y="2020192"/>
                <a:ext cx="790114" cy="901785"/>
              </a:xfrm>
              <a:prstGeom prst="rect">
                <a:avLst/>
              </a:prstGeom>
              <a:blipFill>
                <a:blip r:embed="rId6"/>
                <a:stretch>
                  <a:fillRect r="-307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0EF67AF2-B7E0-4679-B61C-8D08A0B14467}"/>
              </a:ext>
            </a:extLst>
          </p:cNvPr>
          <p:cNvSpPr/>
          <p:nvPr/>
        </p:nvSpPr>
        <p:spPr>
          <a:xfrm>
            <a:off x="9814323" y="1885315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/>
              <p:nvPr/>
            </p:nvSpPr>
            <p:spPr>
              <a:xfrm>
                <a:off x="2328145" y="1376263"/>
                <a:ext cx="25232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1376263"/>
                <a:ext cx="252325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2321587-5B73-4940-9E64-395C9A7F8697}"/>
                  </a:ext>
                </a:extLst>
              </p:cNvPr>
              <p:cNvSpPr txBox="1"/>
              <p:nvPr/>
            </p:nvSpPr>
            <p:spPr>
              <a:xfrm>
                <a:off x="769257" y="3365107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2321587-5B73-4940-9E64-395C9A7F86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3365107"/>
                <a:ext cx="155888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1EA920F-DFC4-4E4A-9B68-94F637148551}"/>
                  </a:ext>
                </a:extLst>
              </p:cNvPr>
              <p:cNvSpPr txBox="1"/>
              <p:nvPr/>
            </p:nvSpPr>
            <p:spPr>
              <a:xfrm>
                <a:off x="3583604" y="3175485"/>
                <a:ext cx="103411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1EA920F-DFC4-4E4A-9B68-94F637148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3604" y="3175485"/>
                <a:ext cx="1034116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32D1934-B132-45EB-91BF-66E95CC3CAB5}"/>
                  </a:ext>
                </a:extLst>
              </p:cNvPr>
              <p:cNvSpPr txBox="1"/>
              <p:nvPr/>
            </p:nvSpPr>
            <p:spPr>
              <a:xfrm>
                <a:off x="2328145" y="3365107"/>
                <a:ext cx="13980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32D1934-B132-45EB-91BF-66E95CC3CA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365107"/>
                <a:ext cx="13980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B408601-83B5-43B7-B926-886E1D03AD37}"/>
                  </a:ext>
                </a:extLst>
              </p:cNvPr>
              <p:cNvSpPr txBox="1"/>
              <p:nvPr/>
            </p:nvSpPr>
            <p:spPr>
              <a:xfrm>
                <a:off x="769257" y="4386915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B408601-83B5-43B7-B926-886E1D03AD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4386915"/>
                <a:ext cx="155888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3A74892C-073A-4477-8C5A-857833700D6B}"/>
                  </a:ext>
                </a:extLst>
              </p:cNvPr>
              <p:cNvSpPr txBox="1"/>
              <p:nvPr/>
            </p:nvSpPr>
            <p:spPr>
              <a:xfrm>
                <a:off x="2328145" y="4386915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3A74892C-073A-4477-8C5A-857833700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386915"/>
                <a:ext cx="39275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8951B5-5A24-4B6F-9EC5-D1FAD3C984B1}"/>
                  </a:ext>
                </a:extLst>
              </p:cNvPr>
              <p:cNvSpPr txBox="1"/>
              <p:nvPr/>
            </p:nvSpPr>
            <p:spPr>
              <a:xfrm>
                <a:off x="2328145" y="5631991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8951B5-5A24-4B6F-9EC5-D1FAD3C984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5631991"/>
                <a:ext cx="1880998" cy="91057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FA8A4A3C-0784-4C50-AFC8-215C51E66985}"/>
                  </a:ext>
                </a:extLst>
              </p:cNvPr>
              <p:cNvSpPr txBox="1"/>
              <p:nvPr/>
            </p:nvSpPr>
            <p:spPr>
              <a:xfrm>
                <a:off x="4048949" y="5624985"/>
                <a:ext cx="7901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FA8A4A3C-0784-4C50-AFC8-215C51E669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949" y="5624985"/>
                <a:ext cx="790114" cy="901785"/>
              </a:xfrm>
              <a:prstGeom prst="rect">
                <a:avLst/>
              </a:prstGeom>
              <a:blipFill>
                <a:blip r:embed="rId14"/>
                <a:stretch>
                  <a:fillRect r="-307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2017995-9E43-43C8-8B5C-F734427795F3}"/>
                  </a:ext>
                </a:extLst>
              </p:cNvPr>
              <p:cNvSpPr txBox="1"/>
              <p:nvPr/>
            </p:nvSpPr>
            <p:spPr>
              <a:xfrm>
                <a:off x="2328145" y="4981056"/>
                <a:ext cx="25232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2017995-9E43-43C8-8B5C-F734427795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981056"/>
                <a:ext cx="25232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742077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2" grpId="0" animBg="1"/>
      <p:bldP spid="12" grpId="1" animBg="1"/>
      <p:bldP spid="16" grpId="0"/>
      <p:bldP spid="17" grpId="0"/>
      <p:bldP spid="18" grpId="0"/>
      <p:bldP spid="20" grpId="0" animBg="1"/>
      <p:bldP spid="20" grpId="1" animBg="1"/>
      <p:bldP spid="28" grpId="0"/>
      <p:bldP spid="22" grpId="0"/>
      <p:bldP spid="26" grpId="0"/>
      <p:bldP spid="30" grpId="0"/>
      <p:bldP spid="31" grpId="0"/>
      <p:bldP spid="32" grpId="0"/>
      <p:bldP spid="33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3093A3-85F2-4892-C1CF-AF0FF509E0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B1729EE-D3DB-DAE2-EFA1-4142FAAF7E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76C4D424-2114-4133-D1BB-7FFCDB77C9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711201"/>
            <a:ext cx="2337700" cy="711201"/>
          </a:xfrm>
        </p:spPr>
        <p:txBody>
          <a:bodyPr/>
          <a:lstStyle/>
          <a:p>
            <a:pPr lvl="0"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4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1">
                <a:extLst>
                  <a:ext uri="{FF2B5EF4-FFF2-40B4-BE49-F238E27FC236}">
                    <a16:creationId xmlns:a16="http://schemas.microsoft.com/office/drawing/2014/main" id="{168C2C4B-C8B4-5FA6-BCAA-1910C534DE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89097" y="720929"/>
                <a:ext cx="4186820" cy="823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p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p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; 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2" name="Content Placeholder 1">
                <a:extLst>
                  <a:ext uri="{FF2B5EF4-FFF2-40B4-BE49-F238E27FC236}">
                    <a16:creationId xmlns:a16="http://schemas.microsoft.com/office/drawing/2014/main" id="{168C2C4B-C8B4-5FA6-BCAA-1910C534D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9097" y="720929"/>
                <a:ext cx="4186820" cy="82311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1">
                <a:extLst>
                  <a:ext uri="{FF2B5EF4-FFF2-40B4-BE49-F238E27FC236}">
                    <a16:creationId xmlns:a16="http://schemas.microsoft.com/office/drawing/2014/main" id="{A0A164F2-E647-FF2A-6734-D8327AD579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3" y="992470"/>
                <a:ext cx="11365814" cy="202310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dt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nor/>
                        </m:rPr>
                        <a:rPr lang="en-US" i="0"/>
                        <m:t>where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1" i="0">
                          <a:latin typeface="Cambria Math" panose="02040503050406030204" pitchFamily="18" charset="0"/>
                        </a:rPr>
                        <m:t>𝐟</m:t>
                      </m:r>
                      <m:d>
                        <m:dPr>
                          <m:ctrlPr>
                            <a:rPr lang="en-US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m:rPr>
                          <m:nor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b="0" i="0"/>
                        <m:t>is</m:t>
                      </m:r>
                      <m:r>
                        <m:rPr>
                          <m:nor/>
                        </m:rPr>
                        <a:rPr lang="en-US" b="0" i="0"/>
                        <m:t> </m:t>
                      </m:r>
                      <m:r>
                        <m:rPr>
                          <m:nor/>
                        </m:rPr>
                        <a:rPr lang="en-US" b="0" i="0"/>
                        <m:t>the</m:t>
                      </m:r>
                      <m:r>
                        <m:rPr>
                          <m:nor/>
                        </m:rPr>
                        <a:rPr lang="en-US" b="0" i="0"/>
                        <m:t> </m:t>
                      </m:r>
                      <m:r>
                        <m:rPr>
                          <m:nor/>
                        </m:rPr>
                        <a:rPr lang="en-US" b="0" i="0"/>
                        <m:t>Probability</m:t>
                      </m:r>
                      <m:r>
                        <m:rPr>
                          <m:nor/>
                        </m:rPr>
                        <a:rPr lang="en-US" b="0" i="0"/>
                        <m:t> </m:t>
                      </m:r>
                      <m:r>
                        <m:rPr>
                          <m:nor/>
                        </m:rPr>
                        <a:rPr lang="en-US" b="0" i="0"/>
                        <m:t>Density</m:t>
                      </m:r>
                      <m:r>
                        <m:rPr>
                          <m:nor/>
                        </m:rPr>
                        <a:rPr lang="en-US" b="0" i="0"/>
                        <m:t> </m:t>
                      </m:r>
                      <m:r>
                        <m:rPr>
                          <m:nor/>
                        </m:rPr>
                        <a:rPr lang="en-US" b="0" i="0"/>
                        <m:t>Function</m:t>
                      </m:r>
                      <m:r>
                        <m:rPr>
                          <m:nor/>
                        </m:rPr>
                        <a:rPr lang="en-US" b="0" i="0"/>
                        <m:t> (</m:t>
                      </m:r>
                      <m:r>
                        <m:rPr>
                          <m:nor/>
                        </m:rPr>
                        <a:rPr lang="en-US" b="0" i="0"/>
                        <m:t>PDF</m:t>
                      </m:r>
                      <m:r>
                        <m:rPr>
                          <m:nor/>
                        </m:rPr>
                        <a:rPr lang="en-US" b="0" i="0"/>
                        <m:t>).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1">
                <a:extLst>
                  <a:ext uri="{FF2B5EF4-FFF2-40B4-BE49-F238E27FC236}">
                    <a16:creationId xmlns:a16="http://schemas.microsoft.com/office/drawing/2014/main" id="{A0A164F2-E647-FF2A-6734-D8327AD579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3" y="992470"/>
                <a:ext cx="11365814" cy="202310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AB6AF934-9041-36D8-1DE3-3AEFFD8490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3" y="2913142"/>
                <a:ext cx="11365814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latin typeface="+mj-lt"/>
                  </a:rPr>
                  <a:t>Now, </a:t>
                </a:r>
                <a:r>
                  <a:rPr lang="en-US" i="0" dirty="0">
                    <a:latin typeface="+mj-lt"/>
                  </a:rPr>
                  <a:t>differentiating both sides with respect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latin typeface="Cambria Math" panose="02040503050406030204" pitchFamily="18" charset="0"/>
                      </a:rPr>
                      <m:t>: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AB6AF934-9041-36D8-1DE3-3AEFFD8490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3" y="2913142"/>
                <a:ext cx="11365814" cy="711201"/>
              </a:xfrm>
              <a:prstGeom prst="rect">
                <a:avLst/>
              </a:prstGeom>
              <a:blipFill>
                <a:blip r:embed="rId4"/>
                <a:stretch>
                  <a:fillRect l="-1127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6C25BD55-CDCD-F516-7A61-67F3A706FE0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2" y="3785509"/>
                <a:ext cx="3536337" cy="144161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d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dx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6C25BD55-CDCD-F516-7A61-67F3A706FE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2" y="3785509"/>
                <a:ext cx="3536337" cy="14416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5FEC1FFF-8A42-3F59-DDD4-914D6081480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125157" y="4160598"/>
                <a:ext cx="2760077" cy="823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p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p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5FEC1FFF-8A42-3F59-DDD4-914D608148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5157" y="4160598"/>
                <a:ext cx="2760077" cy="82311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20261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2FC2F-8953-5EE9-5A16-2F8B800818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D6DF0B5-2AAD-F607-28F9-B44EB95499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4B1F414-9745-D920-84A0-76A3CCCBEF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1"/>
            <a:ext cx="4110079" cy="711201"/>
          </a:xfrm>
        </p:spPr>
        <p:txBody>
          <a:bodyPr/>
          <a:lstStyle/>
          <a:p>
            <a:pPr lvl="0"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4 - </a:t>
            </a:r>
            <a:r>
              <a:rPr lang="en-US" b="1" dirty="0">
                <a:solidFill>
                  <a:srgbClr val="0070C0"/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Example</a:t>
            </a:r>
            <a:endParaRPr lang="en-IN" dirty="0">
              <a:solidFill>
                <a:srgbClr val="0070C0"/>
              </a:solidFill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35C67AF-21D5-2FC9-71FD-A038E7BC2273}"/>
              </a:ext>
            </a:extLst>
          </p:cNvPr>
          <p:cNvGrpSpPr/>
          <p:nvPr/>
        </p:nvGrpSpPr>
        <p:grpSpPr>
          <a:xfrm>
            <a:off x="377444" y="1027887"/>
            <a:ext cx="11479836" cy="2264531"/>
            <a:chOff x="377444" y="1027887"/>
            <a:chExt cx="11479836" cy="226453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" name="Content Placeholder 1">
                  <a:extLst>
                    <a:ext uri="{FF2B5EF4-FFF2-40B4-BE49-F238E27FC236}">
                      <a16:creationId xmlns:a16="http://schemas.microsoft.com/office/drawing/2014/main" id="{3DE36217-CB41-5A09-3762-26A8A1470E3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77444" y="1809729"/>
                  <a:ext cx="4856037" cy="778673"/>
                </a:xfrm>
                <a:prstGeom prst="rect">
                  <a:avLst/>
                </a:prstGeom>
              </p:spPr>
              <p:txBody>
                <a:bodyPr vert="horz" lIns="91440" tIns="45720" rIns="91440" bIns="45720" rtlCol="0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23888" indent="-352425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00113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262063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612900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lnSpc>
                      <a:spcPct val="135000"/>
                    </a:lnSpc>
                    <a:spcBef>
                      <a:spcPts val="1600"/>
                    </a:spcBef>
                    <a:buNone/>
                  </a:pPr>
                  <a:r>
                    <a:rPr lang="en-IN" dirty="0"/>
                    <a:t>If CDF of random variable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</m:oMath>
                  </a14:m>
                  <a:r>
                    <a:rPr lang="en-IN" dirty="0"/>
                    <a:t> is</a:t>
                  </a:r>
                </a:p>
              </p:txBody>
            </p:sp>
          </mc:Choice>
          <mc:Fallback xmlns="">
            <p:sp>
              <p:nvSpPr>
                <p:cNvPr id="3" name="Content Placeholder 1">
                  <a:extLst>
                    <a:ext uri="{FF2B5EF4-FFF2-40B4-BE49-F238E27FC236}">
                      <a16:creationId xmlns:a16="http://schemas.microsoft.com/office/drawing/2014/main" id="{3DE36217-CB41-5A09-3762-26A8A1470E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444" y="1809729"/>
                  <a:ext cx="4856037" cy="778673"/>
                </a:xfrm>
                <a:prstGeom prst="rect">
                  <a:avLst/>
                </a:prstGeom>
                <a:blipFill>
                  <a:blip r:embed="rId2"/>
                  <a:stretch>
                    <a:fillRect l="-2635" b="-781"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F3EF098-C3B3-1039-EB68-163F274C2F9F}"/>
                    </a:ext>
                  </a:extLst>
                </p:cNvPr>
                <p:cNvSpPr txBox="1"/>
                <p:nvPr/>
              </p:nvSpPr>
              <p:spPr>
                <a:xfrm>
                  <a:off x="4575979" y="1027887"/>
                  <a:ext cx="7281301" cy="2264531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>
                    <a:defRPr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F</m:t>
                        </m:r>
                        <m: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  <m: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)=</m:t>
                        </m:r>
                        <m:d>
                          <m:dPr>
                            <m:begChr m:val="{"/>
                            <m:endChr m:val=""/>
                            <m:ctrlPr>
                              <a:rPr kumimoji="0" lang="en-GB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kumimoji="0" lang="en-GB" sz="28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</m:ctrlPr>
                              </m:eqArrPr>
                              <m:e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0   ;          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&lt;0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p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;</m:t>
                                </m:r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≤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2 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1−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25</m:t>
                                    </m:r>
                                  </m:den>
                                </m:f>
                                <m:sSup>
                                  <m:sSup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i="1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800" i="0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3−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;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2 </m:t>
                                    </m:r>
                                  </m:den>
                                </m:f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≤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&lt;3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kumimoji="0" lang="en-IN" sz="2800" b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F3EF098-C3B3-1039-EB68-163F274C2F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75979" y="1027887"/>
                  <a:ext cx="7281301" cy="226453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" name="Content Placeholder 1">
            <a:extLst>
              <a:ext uri="{FF2B5EF4-FFF2-40B4-BE49-F238E27FC236}">
                <a16:creationId xmlns:a16="http://schemas.microsoft.com/office/drawing/2014/main" id="{AC018203-36FE-1CB2-0CA6-18F533893C3F}"/>
              </a:ext>
            </a:extLst>
          </p:cNvPr>
          <p:cNvSpPr txBox="1">
            <a:spLocks/>
          </p:cNvSpPr>
          <p:nvPr/>
        </p:nvSpPr>
        <p:spPr>
          <a:xfrm>
            <a:off x="377444" y="3370244"/>
            <a:ext cx="2492216" cy="77867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35000"/>
              </a:lnSpc>
              <a:spcBef>
                <a:spcPts val="1600"/>
              </a:spcBef>
              <a:buNone/>
            </a:pPr>
            <a:r>
              <a:rPr lang="en-IN" dirty="0"/>
              <a:t>then its PDF 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6649E7-594E-63A4-E3FA-2676D87E7419}"/>
                  </a:ext>
                </a:extLst>
              </p:cNvPr>
              <p:cNvSpPr txBox="1"/>
              <p:nvPr/>
            </p:nvSpPr>
            <p:spPr>
              <a:xfrm>
                <a:off x="2568839" y="3228053"/>
                <a:ext cx="2761920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d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dx</m:t>
                          </m:r>
                        </m:den>
                      </m:f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6649E7-594E-63A4-E3FA-2676D87E74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8839" y="3228053"/>
                <a:ext cx="2761920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2189FD3-FF42-0F23-94FC-4FC622C5732A}"/>
                  </a:ext>
                </a:extLst>
              </p:cNvPr>
              <p:cNvSpPr txBox="1"/>
              <p:nvPr/>
            </p:nvSpPr>
            <p:spPr>
              <a:xfrm>
                <a:off x="2260796" y="4280814"/>
                <a:ext cx="5929894" cy="22959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6</m:t>
                                  </m:r>
                                </m:num>
                                <m:den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25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&lt;3</m:t>
                              </m:r>
                            </m:e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</m:t>
                              </m:r>
                              <m:r>
                                <m:rPr>
                                  <m:nor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2189FD3-FF42-0F23-94FC-4FC622C573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0796" y="4280814"/>
                <a:ext cx="5929894" cy="22959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18488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allAtOnce"/>
      <p:bldP spid="11" grpId="0"/>
      <p:bldP spid="13" grpId="0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440889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A tube's lifetime X (in hours) is modeled by the following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 probability density function: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543337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8ACC66-9495-434A-A4DF-815B37A71728}"/>
                  </a:ext>
                </a:extLst>
              </p:cNvPr>
              <p:cNvSpPr txBox="1"/>
              <p:nvPr/>
            </p:nvSpPr>
            <p:spPr>
              <a:xfrm>
                <a:off x="161657" y="3214630"/>
                <a:ext cx="11786504" cy="10310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514350" marR="0" lvl="0" indent="-51435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AutoNum type="arabicParenBoth"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Find the distribution function and use it to determine the probability that the life</a:t>
                </a:r>
              </a:p>
              <a:p>
                <a:pPr marL="53340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of tube is more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150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hrs.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8ACC66-9495-434A-A4DF-815B37A71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57" y="3214630"/>
                <a:ext cx="11786504" cy="1031051"/>
              </a:xfrm>
              <a:prstGeom prst="rect">
                <a:avLst/>
              </a:prstGeom>
              <a:blipFill>
                <a:blip r:embed="rId2"/>
                <a:stretch>
                  <a:fillRect l="-1242" t="-10059" r="-466" b="-1242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/>
              <p:nvPr/>
            </p:nvSpPr>
            <p:spPr>
              <a:xfrm>
                <a:off x="3816592" y="1432511"/>
                <a:ext cx="4558811" cy="17038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8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8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6592" y="1432511"/>
                <a:ext cx="4558811" cy="17038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52AA81D-47C1-4B63-AF47-A49298DCA28C}"/>
                  </a:ext>
                </a:extLst>
              </p:cNvPr>
              <p:cNvSpPr txBox="1"/>
              <p:nvPr/>
            </p:nvSpPr>
            <p:spPr>
              <a:xfrm>
                <a:off x="161657" y="4245681"/>
                <a:ext cx="11786504" cy="10310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514350" marR="0" lvl="0" indent="-514350" algn="just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AutoNum type="arabicParenBoth" startAt="2"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What is the probability that a tube will last less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 if it is known that</a:t>
                </a:r>
              </a:p>
              <a:p>
                <a:pPr marL="53340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tube is still functioning after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150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 of service?</a:t>
                </a:r>
              </a:p>
            </p:txBody>
          </p:sp>
        </mc:Choice>
        <mc:Fallback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52AA81D-47C1-4B63-AF47-A49298DCA2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57" y="4245681"/>
                <a:ext cx="11786504" cy="1031051"/>
              </a:xfrm>
              <a:prstGeom prst="rect">
                <a:avLst/>
              </a:prstGeom>
              <a:blipFill>
                <a:blip r:embed="rId4"/>
                <a:stretch>
                  <a:fillRect l="-1242" t="-10000" b="-117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">
            <a:extLst>
              <a:ext uri="{FF2B5EF4-FFF2-40B4-BE49-F238E27FC236}">
                <a16:creationId xmlns:a16="http://schemas.microsoft.com/office/drawing/2014/main" id="{ADEF0452-B5B7-4DE2-927A-36F69E292571}"/>
              </a:ext>
            </a:extLst>
          </p:cNvPr>
          <p:cNvSpPr txBox="1"/>
          <p:nvPr/>
        </p:nvSpPr>
        <p:spPr>
          <a:xfrm>
            <a:off x="1920022" y="5433371"/>
            <a:ext cx="106701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Derive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7716620-169F-46C8-9336-96AC2DACBABC}"/>
                  </a:ext>
                </a:extLst>
              </p:cNvPr>
              <p:cNvSpPr txBox="1"/>
              <p:nvPr/>
            </p:nvSpPr>
            <p:spPr>
              <a:xfrm>
                <a:off x="1920022" y="5998622"/>
                <a:ext cx="2541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7716620-169F-46C8-9336-96AC2DACB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0022" y="5998622"/>
                <a:ext cx="254136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01BACC6-451C-48FF-B84F-200B5ACD949D}"/>
                  </a:ext>
                </a:extLst>
              </p:cNvPr>
              <p:cNvSpPr txBox="1"/>
              <p:nvPr/>
            </p:nvSpPr>
            <p:spPr>
              <a:xfrm>
                <a:off x="3727051" y="5998622"/>
                <a:ext cx="6581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01BACC6-451C-48FF-B84F-200B5ACD94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7051" y="5998622"/>
                <a:ext cx="65813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FD12D8-015A-4E22-B77E-3D8C616CC42C}"/>
                  </a:ext>
                </a:extLst>
              </p:cNvPr>
              <p:cNvSpPr txBox="1"/>
              <p:nvPr/>
            </p:nvSpPr>
            <p:spPr>
              <a:xfrm>
                <a:off x="4856155" y="5998622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FD12D8-015A-4E22-B77E-3D8C616CC4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6155" y="5998622"/>
                <a:ext cx="356394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643B7D9-70A0-4B30-97EA-8BD5E5024521}"/>
                  </a:ext>
                </a:extLst>
              </p:cNvPr>
              <p:cNvSpPr txBox="1"/>
              <p:nvPr/>
            </p:nvSpPr>
            <p:spPr>
              <a:xfrm>
                <a:off x="8396054" y="5998622"/>
                <a:ext cx="6581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643B7D9-70A0-4B30-97EA-8BD5E50245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96054" y="5998622"/>
                <a:ext cx="65813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!!CDF">
            <a:extLst>
              <a:ext uri="{FF2B5EF4-FFF2-40B4-BE49-F238E27FC236}">
                <a16:creationId xmlns:a16="http://schemas.microsoft.com/office/drawing/2014/main" id="{00AC1D45-2701-4E77-9BF0-43EE74A34ED7}"/>
              </a:ext>
            </a:extLst>
          </p:cNvPr>
          <p:cNvSpPr txBox="1"/>
          <p:nvPr/>
        </p:nvSpPr>
        <p:spPr>
          <a:xfrm>
            <a:off x="2989098" y="5433371"/>
            <a:ext cx="406702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</a:t>
            </a:r>
          </a:p>
        </p:txBody>
      </p:sp>
    </p:spTree>
    <p:extLst>
      <p:ext uri="{BB962C8B-B14F-4D97-AF65-F5344CB8AC3E}">
        <p14:creationId xmlns:p14="http://schemas.microsoft.com/office/powerpoint/2010/main" val="191294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5" grpId="0"/>
      <p:bldP spid="16" grpId="0"/>
      <p:bldP spid="17" grpId="0"/>
      <p:bldP spid="18" grpId="0"/>
      <p:bldP spid="20" grpId="0"/>
      <p:bldP spid="13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/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4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4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C6F3FA1-CE0C-47A7-BC43-EDDB5CF080CF}"/>
                  </a:ext>
                </a:extLst>
              </p:cNvPr>
              <p:cNvSpPr txBox="1"/>
              <p:nvPr/>
            </p:nvSpPr>
            <p:spPr>
              <a:xfrm>
                <a:off x="129726" y="3032983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C6F3FA1-CE0C-47A7-BC43-EDDB5CF080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726" y="3032983"/>
                <a:ext cx="7395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79C33CD-1179-4E3A-BD28-3243DCB55A05}"/>
                  </a:ext>
                </a:extLst>
              </p:cNvPr>
              <p:cNvSpPr txBox="1"/>
              <p:nvPr/>
            </p:nvSpPr>
            <p:spPr>
              <a:xfrm>
                <a:off x="869229" y="3032983"/>
                <a:ext cx="20277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79C33CD-1179-4E3A-BD28-3243DCB55A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229" y="3032983"/>
                <a:ext cx="202775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29726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2CBE56B-2FF5-4F44-B530-0F67D374EA6E}"/>
                  </a:ext>
                </a:extLst>
              </p:cNvPr>
              <p:cNvSpPr txBox="1"/>
              <p:nvPr/>
            </p:nvSpPr>
            <p:spPr>
              <a:xfrm>
                <a:off x="2695400" y="2620913"/>
                <a:ext cx="219055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2CBE56B-2FF5-4F44-B530-0F67D374EA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400" y="2620913"/>
                <a:ext cx="2190550" cy="135165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778C4F3-E5D3-4F1F-9EE8-A18087CD460E}"/>
                  </a:ext>
                </a:extLst>
              </p:cNvPr>
              <p:cNvSpPr txBox="1"/>
              <p:nvPr/>
            </p:nvSpPr>
            <p:spPr>
              <a:xfrm>
                <a:off x="129726" y="1285416"/>
                <a:ext cx="4928503" cy="11234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a continuous random variable, the CDF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  <m:d>
                      <m:dPr>
                        <m:ctrlPr>
                          <a:rPr kumimoji="0" lang="en-GB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x</m:t>
                        </m:r>
                      </m:e>
                    </m:d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defined as: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778C4F3-E5D3-4F1F-9EE8-A18087CD46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726" y="1285416"/>
                <a:ext cx="4928503" cy="1123449"/>
              </a:xfrm>
              <a:prstGeom prst="rect">
                <a:avLst/>
              </a:prstGeom>
              <a:blipFill>
                <a:blip r:embed="rId6"/>
                <a:stretch>
                  <a:fillRect l="-2472" r="-2472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CA33D721-0AE3-477A-8DF3-8C5E31C34D90}"/>
              </a:ext>
            </a:extLst>
          </p:cNvPr>
          <p:cNvSpPr txBox="1"/>
          <p:nvPr/>
        </p:nvSpPr>
        <p:spPr>
          <a:xfrm>
            <a:off x="129726" y="4261414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1: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/>
              <p:nvPr/>
            </p:nvSpPr>
            <p:spPr>
              <a:xfrm>
                <a:off x="1315829" y="4258161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&lt;100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5829" y="4258161"/>
                <a:ext cx="144315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009A7E3-8CB8-4825-B784-5B0D4C96783C}"/>
                  </a:ext>
                </a:extLst>
              </p:cNvPr>
              <p:cNvSpPr txBox="1"/>
              <p:nvPr/>
            </p:nvSpPr>
            <p:spPr>
              <a:xfrm>
                <a:off x="3139994" y="4263664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&lt;100,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009A7E3-8CB8-4825-B784-5B0D4C9678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9994" y="4263664"/>
                <a:ext cx="2190549" cy="523220"/>
              </a:xfrm>
              <a:prstGeom prst="rect">
                <a:avLst/>
              </a:prstGeom>
              <a:blipFill>
                <a:blip r:embed="rId8"/>
                <a:stretch>
                  <a:fillRect l="-5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/>
              <p:nvPr/>
            </p:nvSpPr>
            <p:spPr>
              <a:xfrm>
                <a:off x="5096813" y="4261136"/>
                <a:ext cx="21893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PDF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  <m:d>
                      <m:dPr>
                        <m:ctrlPr>
                          <a:rPr kumimoji="0" lang="en-GB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e>
                    </m:d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6813" y="4261136"/>
                <a:ext cx="2189304" cy="523220"/>
              </a:xfrm>
              <a:prstGeom prst="rect">
                <a:avLst/>
              </a:prstGeom>
              <a:blipFill>
                <a:blip r:embed="rId9"/>
                <a:stretch>
                  <a:fillRect l="-5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1427755" y="5667109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7755" y="5667109"/>
                <a:ext cx="7395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/>
              <p:nvPr/>
            </p:nvSpPr>
            <p:spPr>
              <a:xfrm>
                <a:off x="2182497" y="5255039"/>
                <a:ext cx="1763212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</m:t>
                          </m:r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2497" y="5255039"/>
                <a:ext cx="1763212" cy="135165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/>
              <p:nvPr/>
            </p:nvSpPr>
            <p:spPr>
              <a:xfrm>
                <a:off x="3830092" y="5667109"/>
                <a:ext cx="8103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0092" y="5667109"/>
                <a:ext cx="8103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78E2C8A-DFAE-4D8B-A39E-D2F14BD4CCB8}"/>
                  </a:ext>
                </a:extLst>
              </p:cNvPr>
              <p:cNvSpPr txBox="1"/>
              <p:nvPr/>
            </p:nvSpPr>
            <p:spPr>
              <a:xfrm>
                <a:off x="4853801" y="5667109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78E2C8A-DFAE-4D8B-A39E-D2F14BD4CC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801" y="5667109"/>
                <a:ext cx="55685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10E5E81-FA70-41D9-B24E-35F30FE15CE1}"/>
                  </a:ext>
                </a:extLst>
              </p:cNvPr>
              <p:cNvSpPr txBox="1"/>
              <p:nvPr/>
            </p:nvSpPr>
            <p:spPr>
              <a:xfrm>
                <a:off x="5410654" y="5667109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10E5E81-FA70-41D9-B24E-35F30FE15C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0654" y="5667109"/>
                <a:ext cx="15498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A71871D-635E-4935-80AF-4980F8254D78}"/>
                  </a:ext>
                </a:extLst>
              </p:cNvPr>
              <p:cNvSpPr txBox="1"/>
              <p:nvPr/>
            </p:nvSpPr>
            <p:spPr>
              <a:xfrm>
                <a:off x="6960511" y="5667109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A71871D-635E-4935-80AF-4980F8254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0511" y="5667109"/>
                <a:ext cx="2190549" cy="523220"/>
              </a:xfrm>
              <a:prstGeom prst="rect">
                <a:avLst/>
              </a:prstGeom>
              <a:blipFill>
                <a:blip r:embed="rId15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CDBC149-3566-488B-9CCD-A01371E13CEB}"/>
                  </a:ext>
                </a:extLst>
              </p:cNvPr>
              <p:cNvSpPr txBox="1"/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CDBC149-3566-488B-9CCD-A01371E13C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blipFill>
                <a:blip r:embed="rId16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BB1860D-8CFA-4DBB-9900-A4636988F170}"/>
                  </a:ext>
                </a:extLst>
              </p:cNvPr>
              <p:cNvSpPr txBox="1"/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BB1860D-8CFA-4DBB-9900-A4636988F1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8E462CF-FB95-4E5F-B9A0-5308D0DC19D1}"/>
                  </a:ext>
                </a:extLst>
              </p:cNvPr>
              <p:cNvSpPr txBox="1"/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8E462CF-FB95-4E5F-B9A0-5308D0DC19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blipFill>
                <a:blip r:embed="rId18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3181903-6C38-4028-AF66-E22C4B5BAA40}"/>
                  </a:ext>
                </a:extLst>
              </p:cNvPr>
              <p:cNvSpPr txBox="1"/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3181903-6C38-4028-AF66-E22C4B5BAA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729180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3" grpId="0"/>
      <p:bldP spid="14" grpId="0"/>
      <p:bldP spid="16" grpId="0"/>
      <p:bldP spid="17" grpId="0"/>
      <p:bldP spid="18" grpId="0"/>
      <p:bldP spid="20" grpId="0"/>
      <p:bldP spid="22" grpId="0"/>
      <p:bldP spid="23" grpId="0"/>
      <p:bldP spid="24" grpId="0"/>
      <p:bldP spid="27" grpId="0"/>
      <p:bldP spid="28" grpId="0"/>
      <p:bldP spid="30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A33D721-0AE3-477A-8DF3-8C5E31C34D90}"/>
              </a:ext>
            </a:extLst>
          </p:cNvPr>
          <p:cNvSpPr txBox="1"/>
          <p:nvPr/>
        </p:nvSpPr>
        <p:spPr>
          <a:xfrm>
            <a:off x="130233" y="1574163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2: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/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≥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/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PDF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is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64594" y="2803177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94" y="2803177"/>
                <a:ext cx="7395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/>
              <p:nvPr/>
            </p:nvSpPr>
            <p:spPr>
              <a:xfrm>
                <a:off x="819335" y="2391107"/>
                <a:ext cx="2190549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335" y="2391107"/>
                <a:ext cx="2190549" cy="135165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/>
              <p:nvPr/>
            </p:nvSpPr>
            <p:spPr>
              <a:xfrm>
                <a:off x="799666" y="3787797"/>
                <a:ext cx="1763212" cy="13872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100</m:t>
                          </m:r>
                        </m:sup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</m:t>
                          </m:r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66" y="3787797"/>
                <a:ext cx="1763212" cy="138723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6F37805-E837-4251-A20E-06B8E29851C0}"/>
                  </a:ext>
                </a:extLst>
              </p:cNvPr>
              <p:cNvSpPr txBox="1"/>
              <p:nvPr/>
            </p:nvSpPr>
            <p:spPr>
              <a:xfrm>
                <a:off x="2508062" y="3787797"/>
                <a:ext cx="2542047" cy="13872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100 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</m:e>
                                <m:sup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nary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6F37805-E837-4251-A20E-06B8E2985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8062" y="3787797"/>
                <a:ext cx="2542047" cy="138723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/>
              <p:nvPr/>
            </p:nvSpPr>
            <p:spPr>
              <a:xfrm>
                <a:off x="819335" y="5293400"/>
                <a:ext cx="2542047" cy="10563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Sup>
                        <m:sSub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sup>
                      </m:sSub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335" y="5293400"/>
                <a:ext cx="2542047" cy="105631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2D623C-77FF-4B60-A8D4-AF34BFA4009C}"/>
                  </a:ext>
                </a:extLst>
              </p:cNvPr>
              <p:cNvSpPr txBox="1"/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4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4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2D623C-77FF-4B60-A8D4-AF34BFA400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/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/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blipFill>
                <a:blip r:embed="rId18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/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blipFill>
                <a:blip r:embed="rId19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/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/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blipFill>
                <a:blip r:embed="rId21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/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39831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20" grpId="0"/>
      <p:bldP spid="22" grpId="0"/>
      <p:bldP spid="23" grpId="0"/>
      <p:bldP spid="24" grpId="0"/>
      <p:bldP spid="21" grpId="0"/>
      <p:bldP spid="25" grpId="0"/>
      <p:bldP spid="26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64594" y="2801045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94" y="2801045"/>
                <a:ext cx="739503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/>
              <p:nvPr/>
            </p:nvSpPr>
            <p:spPr>
              <a:xfrm>
                <a:off x="801194" y="2590341"/>
                <a:ext cx="2542047" cy="10563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Sup>
                        <m:sSub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sup>
                      </m:sSub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4" y="2590341"/>
                <a:ext cx="2542047" cy="10563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AD25D78-D273-4E8E-9BFA-1BF22C89EFE3}"/>
                  </a:ext>
                </a:extLst>
              </p:cNvPr>
              <p:cNvSpPr txBox="1"/>
              <p:nvPr/>
            </p:nvSpPr>
            <p:spPr>
              <a:xfrm>
                <a:off x="801194" y="3914510"/>
                <a:ext cx="3038512" cy="9133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+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AD25D78-D273-4E8E-9BFA-1BF22C89EF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4" y="3914510"/>
                <a:ext cx="3038512" cy="91332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26F4418-4BC7-48A8-B148-1196CCF509BB}"/>
                  </a:ext>
                </a:extLst>
              </p:cNvPr>
              <p:cNvSpPr txBox="1"/>
              <p:nvPr/>
            </p:nvSpPr>
            <p:spPr>
              <a:xfrm>
                <a:off x="801193" y="5095691"/>
                <a:ext cx="22257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26F4418-4BC7-48A8-B148-1196CCF50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3" y="5095691"/>
                <a:ext cx="2225705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290A991-2764-4367-B330-051F1BDCEA8B}"/>
                  </a:ext>
                </a:extLst>
              </p:cNvPr>
              <p:cNvSpPr txBox="1"/>
              <p:nvPr/>
            </p:nvSpPr>
            <p:spPr>
              <a:xfrm>
                <a:off x="5539147" y="2781799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290A991-2764-4367-B330-051F1BDCE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9147" y="2781799"/>
                <a:ext cx="55685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5446394-1E46-4C44-8D54-56CD53F41F9F}"/>
                  </a:ext>
                </a:extLst>
              </p:cNvPr>
              <p:cNvSpPr txBox="1"/>
              <p:nvPr/>
            </p:nvSpPr>
            <p:spPr>
              <a:xfrm>
                <a:off x="6096000" y="2593830"/>
                <a:ext cx="29652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5446394-1E46-4C44-8D54-56CD53F41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2593830"/>
                <a:ext cx="2965205" cy="89915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B99D1CB-E46C-4E8C-89C4-8860FDD2CB66}"/>
                  </a:ext>
                </a:extLst>
              </p:cNvPr>
              <p:cNvSpPr txBox="1"/>
              <p:nvPr/>
            </p:nvSpPr>
            <p:spPr>
              <a:xfrm>
                <a:off x="8850613" y="2793889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≥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  <m: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0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B99D1CB-E46C-4E8C-89C4-8860FDD2C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50613" y="2793889"/>
                <a:ext cx="2190549" cy="523220"/>
              </a:xfrm>
              <a:prstGeom prst="rect">
                <a:avLst/>
              </a:prstGeom>
              <a:blipFill>
                <a:blip r:embed="rId8"/>
                <a:stretch>
                  <a:fillRect l="-58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/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/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blipFill>
                <a:blip r:embed="rId10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/>
              <p:nvPr/>
            </p:nvSpPr>
            <p:spPr>
              <a:xfrm>
                <a:off x="10236396" y="743122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743122"/>
                <a:ext cx="2541361" cy="430887"/>
              </a:xfrm>
              <a:prstGeom prst="rect">
                <a:avLst/>
              </a:prstGeom>
              <a:blipFill>
                <a:blip r:embed="rId11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/>
              <p:nvPr/>
            </p:nvSpPr>
            <p:spPr>
              <a:xfrm>
                <a:off x="11654973" y="743122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743122"/>
                <a:ext cx="658132" cy="43088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/>
              <p:nvPr/>
            </p:nvSpPr>
            <p:spPr>
              <a:xfrm>
                <a:off x="8919052" y="1174263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1174263"/>
                <a:ext cx="3563946" cy="430887"/>
              </a:xfrm>
              <a:prstGeom prst="rect">
                <a:avLst/>
              </a:prstGeom>
              <a:blipFill>
                <a:blip r:embed="rId13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/>
              <p:nvPr/>
            </p:nvSpPr>
            <p:spPr>
              <a:xfrm>
                <a:off x="11654973" y="1174263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1174263"/>
                <a:ext cx="658132" cy="43088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C2D6CA46-1CE2-474A-85A7-FD1B42E24637}"/>
              </a:ext>
            </a:extLst>
          </p:cNvPr>
          <p:cNvSpPr txBox="1"/>
          <p:nvPr/>
        </p:nvSpPr>
        <p:spPr>
          <a:xfrm>
            <a:off x="130233" y="1574163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2: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39847F7-2483-4371-9EEA-8A278D7C79CA}"/>
                  </a:ext>
                </a:extLst>
              </p:cNvPr>
              <p:cNvSpPr txBox="1"/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≥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39847F7-2483-4371-9EEA-8A278D7C79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6FA1D1F-7875-11E2-DC8F-6C7E27432068}"/>
                  </a:ext>
                </a:extLst>
              </p:cNvPr>
              <p:cNvSpPr txBox="1"/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PDF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is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6FA1D1F-7875-11E2-DC8F-6C7E274320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5599793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5" grpId="0"/>
      <p:bldP spid="36" grpId="0"/>
      <p:bldP spid="38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937269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/>
              <p:nvPr/>
            </p:nvSpPr>
            <p:spPr>
              <a:xfrm>
                <a:off x="553736" y="3691164"/>
                <a:ext cx="5149442" cy="17038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</m:t>
                              </m:r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     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736" y="3691164"/>
                <a:ext cx="5149442" cy="17038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EE33F60-4A4F-4281-A2A5-98A913FD9737}"/>
                  </a:ext>
                </a:extLst>
              </p:cNvPr>
              <p:cNvSpPr txBox="1"/>
              <p:nvPr/>
            </p:nvSpPr>
            <p:spPr>
              <a:xfrm>
                <a:off x="54033" y="4281454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EE33F60-4A4F-4281-A2A5-98A913FD97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33" y="4281454"/>
                <a:ext cx="55685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91BCDB9-AA28-44BA-A685-1211FFE51243}"/>
                  </a:ext>
                </a:extLst>
              </p:cNvPr>
              <p:cNvSpPr txBox="1"/>
              <p:nvPr/>
            </p:nvSpPr>
            <p:spPr>
              <a:xfrm>
                <a:off x="237537" y="2492297"/>
                <a:ext cx="29652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91BCDB9-AA28-44BA-A685-1211FFE51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37" y="2492297"/>
                <a:ext cx="2965205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19E7909-5766-4ED0-8C9F-D1452DBA5B90}"/>
                  </a:ext>
                </a:extLst>
              </p:cNvPr>
              <p:cNvSpPr txBox="1"/>
              <p:nvPr/>
            </p:nvSpPr>
            <p:spPr>
              <a:xfrm>
                <a:off x="2992150" y="2692356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≥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  <m: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0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19E7909-5766-4ED0-8C9F-D1452DBA5B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2150" y="2692356"/>
                <a:ext cx="2190549" cy="523220"/>
              </a:xfrm>
              <a:prstGeom prst="rect">
                <a:avLst/>
              </a:prstGeom>
              <a:blipFill>
                <a:blip r:embed="rId5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A75CEDD-25F1-4E1F-A3DD-55CA2E66601B}"/>
                  </a:ext>
                </a:extLst>
              </p:cNvPr>
              <p:cNvSpPr txBox="1"/>
              <p:nvPr/>
            </p:nvSpPr>
            <p:spPr>
              <a:xfrm>
                <a:off x="237537" y="1714783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A75CEDD-25F1-4E1F-A3DD-55CA2E6660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37" y="1714783"/>
                <a:ext cx="154985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E5C177E-BC96-4249-8101-EA8E0EC8CC40}"/>
                  </a:ext>
                </a:extLst>
              </p:cNvPr>
              <p:cNvSpPr txBox="1"/>
              <p:nvPr/>
            </p:nvSpPr>
            <p:spPr>
              <a:xfrm>
                <a:off x="1787394" y="1714783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E5C177E-BC96-4249-8101-EA8E0EC8C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7394" y="1714783"/>
                <a:ext cx="2190549" cy="523220"/>
              </a:xfrm>
              <a:prstGeom prst="rect">
                <a:avLst/>
              </a:prstGeom>
              <a:blipFill>
                <a:blip r:embed="rId7"/>
                <a:stretch>
                  <a:fillRect l="-555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866B64CB-F648-480D-ABF8-609CA15094B0}"/>
              </a:ext>
            </a:extLst>
          </p:cNvPr>
          <p:cNvCxnSpPr>
            <a:cxnSpLocks/>
          </p:cNvCxnSpPr>
          <p:nvPr/>
        </p:nvCxnSpPr>
        <p:spPr>
          <a:xfrm>
            <a:off x="5703178" y="937269"/>
            <a:ext cx="0" cy="557329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7EB6DDF4-2D47-428A-A067-D8A710C621B9}"/>
                  </a:ext>
                </a:extLst>
              </p:cNvPr>
              <p:cNvSpPr txBox="1"/>
              <p:nvPr/>
            </p:nvSpPr>
            <p:spPr>
              <a:xfrm>
                <a:off x="7861301" y="937269"/>
                <a:ext cx="2958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7EB6DDF4-2D47-428A-A067-D8A710C621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937269"/>
                <a:ext cx="295889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548DD07-1B73-4180-914B-C1AA2B5F7E59}"/>
                  </a:ext>
                </a:extLst>
              </p:cNvPr>
              <p:cNvSpPr txBox="1"/>
              <p:nvPr/>
            </p:nvSpPr>
            <p:spPr>
              <a:xfrm>
                <a:off x="5985325" y="937269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548DD07-1B73-4180-914B-C1AA2B5F7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5325" y="937269"/>
                <a:ext cx="19614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93C3A6E-0497-4177-8351-3BAAC3AB92EE}"/>
                  </a:ext>
                </a:extLst>
              </p:cNvPr>
              <p:cNvSpPr txBox="1"/>
              <p:nvPr/>
            </p:nvSpPr>
            <p:spPr>
              <a:xfrm>
                <a:off x="7861301" y="1532818"/>
                <a:ext cx="2958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93C3A6E-0497-4177-8351-3BAAC3AB92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1532818"/>
                <a:ext cx="295889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9F9AC18-CEAC-4A16-8E05-17D08570F53F}"/>
                  </a:ext>
                </a:extLst>
              </p:cNvPr>
              <p:cNvSpPr txBox="1"/>
              <p:nvPr/>
            </p:nvSpPr>
            <p:spPr>
              <a:xfrm>
                <a:off x="7861301" y="2128367"/>
                <a:ext cx="295889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1−</m:t>
                          </m:r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100 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150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9F9AC18-CEAC-4A16-8E05-17D08570F5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2128367"/>
                <a:ext cx="2958894" cy="106048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56A3AEE-F04D-481B-B128-8675E2C50E4B}"/>
                  </a:ext>
                </a:extLst>
              </p:cNvPr>
              <p:cNvSpPr txBox="1"/>
              <p:nvPr/>
            </p:nvSpPr>
            <p:spPr>
              <a:xfrm>
                <a:off x="7861301" y="3290833"/>
                <a:ext cx="295889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1−</m:t>
                          </m:r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2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56A3AEE-F04D-481B-B128-8675E2C50E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3290833"/>
                <a:ext cx="2958894" cy="106048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8B4D36-9DB0-4E8E-AA6E-C7AE6B3833DB}"/>
                  </a:ext>
                </a:extLst>
              </p:cNvPr>
              <p:cNvSpPr txBox="1"/>
              <p:nvPr/>
            </p:nvSpPr>
            <p:spPr>
              <a:xfrm>
                <a:off x="7861301" y="4416623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8B4D36-9DB0-4E8E-AA6E-C7AE6B3833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4416623"/>
                <a:ext cx="932179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8919052" y="5497218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5497218"/>
                <a:ext cx="3563946" cy="430887"/>
              </a:xfrm>
              <a:prstGeom prst="rect">
                <a:avLst/>
              </a:prstGeom>
              <a:blipFill>
                <a:blip r:embed="rId14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792954B-6693-4B14-BBE4-898E682247E3}"/>
                  </a:ext>
                </a:extLst>
              </p:cNvPr>
              <p:cNvSpPr txBox="1"/>
              <p:nvPr/>
            </p:nvSpPr>
            <p:spPr>
              <a:xfrm>
                <a:off x="11654973" y="5497218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792954B-6693-4B14-BBE4-898E682247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5497218"/>
                <a:ext cx="658132" cy="43088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205450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9" grpId="0"/>
      <p:bldP spid="52" grpId="0"/>
      <p:bldP spid="57" grpId="0"/>
      <p:bldP spid="59" grpId="0"/>
      <p:bldP spid="60" grpId="0"/>
      <p:bldP spid="61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/>
              <p:nvPr/>
            </p:nvSpPr>
            <p:spPr>
              <a:xfrm>
                <a:off x="8178802" y="711201"/>
                <a:ext cx="4127498" cy="14160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3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3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1−</m:t>
                              </m:r>
                              <m:f>
                                <m:fPr>
                                  <m:ctrlPr>
                                    <a:rPr kumimoji="0" lang="en-GB" sz="23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3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IN" sz="23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</m:t>
                              </m:r>
                              <m:r>
                                <a:rPr kumimoji="0" lang="en-IN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     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8802" y="711201"/>
                <a:ext cx="4127498" cy="141602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98071" y="1127106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1127106"/>
                <a:ext cx="356394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/>
              <p:nvPr/>
            </p:nvSpPr>
            <p:spPr>
              <a:xfrm>
                <a:off x="3662017" y="1127106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1127106"/>
                <a:ext cx="4654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/>
              <p:nvPr/>
            </p:nvSpPr>
            <p:spPr>
              <a:xfrm>
                <a:off x="4050691" y="865496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0691" y="865496"/>
                <a:ext cx="375655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A84B164-5A04-429E-A451-32ACAB7AD537}"/>
              </a:ext>
            </a:extLst>
          </p:cNvPr>
          <p:cNvCxnSpPr>
            <a:cxnSpLocks/>
          </p:cNvCxnSpPr>
          <p:nvPr/>
        </p:nvCxnSpPr>
        <p:spPr>
          <a:xfrm>
            <a:off x="4079875" y="1397500"/>
            <a:ext cx="3602934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/>
              <p:nvPr/>
            </p:nvSpPr>
            <p:spPr>
              <a:xfrm>
                <a:off x="4868729" y="1426643"/>
                <a:ext cx="21204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8729" y="1426643"/>
                <a:ext cx="21204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/>
              <p:nvPr/>
            </p:nvSpPr>
            <p:spPr>
              <a:xfrm>
                <a:off x="9383845" y="2634335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3845" y="2634335"/>
                <a:ext cx="19614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/>
              <p:nvPr/>
            </p:nvSpPr>
            <p:spPr>
              <a:xfrm>
                <a:off x="11259821" y="2445053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59821" y="2445053"/>
                <a:ext cx="932179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/>
              <p:nvPr/>
            </p:nvSpPr>
            <p:spPr>
              <a:xfrm>
                <a:off x="98071" y="2445053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2445053"/>
                <a:ext cx="375655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5AF303E-FBD5-4960-AADD-5C6BF081A7E1}"/>
                  </a:ext>
                </a:extLst>
              </p:cNvPr>
              <p:cNvSpPr txBox="1"/>
              <p:nvPr/>
            </p:nvSpPr>
            <p:spPr>
              <a:xfrm>
                <a:off x="3662017" y="2445053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5AF303E-FBD5-4960-AADD-5C6BF081A7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2445053"/>
                <a:ext cx="4654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376EC6B-6837-4A57-ABE3-D77AF0637357}"/>
                  </a:ext>
                </a:extLst>
              </p:cNvPr>
              <p:cNvSpPr txBox="1"/>
              <p:nvPr/>
            </p:nvSpPr>
            <p:spPr>
              <a:xfrm>
                <a:off x="4079875" y="2445053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150&lt;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376EC6B-6837-4A57-ABE3-D77AF06373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9875" y="2445053"/>
                <a:ext cx="375655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A06E6A8-5C05-45E7-861A-088A0D772BDD}"/>
                  </a:ext>
                </a:extLst>
              </p:cNvPr>
              <p:cNvSpPr txBox="1"/>
              <p:nvPr/>
            </p:nvSpPr>
            <p:spPr>
              <a:xfrm>
                <a:off x="3662017" y="3006200"/>
                <a:ext cx="41744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A06E6A8-5C05-45E7-861A-088A0D772B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006200"/>
                <a:ext cx="41744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50BA639-2817-4802-BF92-DAC95ACEA7AB}"/>
                  </a:ext>
                </a:extLst>
              </p:cNvPr>
              <p:cNvSpPr txBox="1"/>
              <p:nvPr/>
            </p:nvSpPr>
            <p:spPr>
              <a:xfrm>
                <a:off x="3662017" y="3524059"/>
                <a:ext cx="255460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100</m:t>
                              </m:r>
                            </m:num>
                            <m:den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200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50BA639-2817-4802-BF92-DAC95ACEA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524059"/>
                <a:ext cx="2554603" cy="106048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F5229B7-8B9D-4ED2-AD95-20291D0FE255}"/>
                  </a:ext>
                </a:extLst>
              </p:cNvPr>
              <p:cNvSpPr txBox="1"/>
              <p:nvPr/>
            </p:nvSpPr>
            <p:spPr>
              <a:xfrm>
                <a:off x="5891857" y="3524059"/>
                <a:ext cx="246386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100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150 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F5229B7-8B9D-4ED2-AD95-20291D0FE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1857" y="3524059"/>
                <a:ext cx="2463868" cy="106048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88036D2-09B2-4D09-B2D3-17AE06955FF8}"/>
                  </a:ext>
                </a:extLst>
              </p:cNvPr>
              <p:cNvSpPr txBox="1"/>
              <p:nvPr/>
            </p:nvSpPr>
            <p:spPr>
              <a:xfrm>
                <a:off x="3661372" y="4666595"/>
                <a:ext cx="1044921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88036D2-09B2-4D09-B2D3-17AE06955F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372" y="4666595"/>
                <a:ext cx="1044921" cy="89915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7714ED7-FC08-456D-9EF3-0E5B61759F5B}"/>
                  </a:ext>
                </a:extLst>
              </p:cNvPr>
              <p:cNvSpPr txBox="1"/>
              <p:nvPr/>
            </p:nvSpPr>
            <p:spPr>
              <a:xfrm>
                <a:off x="4616768" y="4666595"/>
                <a:ext cx="104492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7714ED7-FC08-456D-9EF3-0E5B61759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6768" y="4666595"/>
                <a:ext cx="104492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374092-7156-4209-BDB6-1FC2DB140E49}"/>
                  </a:ext>
                </a:extLst>
              </p:cNvPr>
              <p:cNvSpPr txBox="1"/>
              <p:nvPr/>
            </p:nvSpPr>
            <p:spPr>
              <a:xfrm>
                <a:off x="3661373" y="5651537"/>
                <a:ext cx="1021562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374092-7156-4209-BDB6-1FC2DB140E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373" y="5651537"/>
                <a:ext cx="1021562" cy="89915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400439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3" grpId="0"/>
      <p:bldP spid="26" grpId="0"/>
      <p:bldP spid="28" grpId="0"/>
      <p:bldP spid="29" grpId="0"/>
      <p:bldP spid="32" grpId="0"/>
      <p:bldP spid="35" grpId="0"/>
      <p:bldP spid="36" grpId="0"/>
      <p:bldP spid="38" grpId="0"/>
      <p:bldP spid="40" grpId="0"/>
      <p:bldP spid="50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7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98071" y="2353655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2353655"/>
                <a:ext cx="35639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/>
              <p:nvPr/>
            </p:nvSpPr>
            <p:spPr>
              <a:xfrm>
                <a:off x="3662017" y="2353655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2353655"/>
                <a:ext cx="46548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/>
              <p:nvPr/>
            </p:nvSpPr>
            <p:spPr>
              <a:xfrm>
                <a:off x="4050691" y="2092045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0691" y="2092045"/>
                <a:ext cx="375655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A84B164-5A04-429E-A451-32ACAB7AD537}"/>
              </a:ext>
            </a:extLst>
          </p:cNvPr>
          <p:cNvCxnSpPr>
            <a:cxnSpLocks/>
          </p:cNvCxnSpPr>
          <p:nvPr/>
        </p:nvCxnSpPr>
        <p:spPr>
          <a:xfrm>
            <a:off x="4079875" y="2624049"/>
            <a:ext cx="3602934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/>
              <p:nvPr/>
            </p:nvSpPr>
            <p:spPr>
              <a:xfrm>
                <a:off x="4868729" y="2653192"/>
                <a:ext cx="21204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8729" y="2653192"/>
                <a:ext cx="212047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/>
              <p:nvPr/>
            </p:nvSpPr>
            <p:spPr>
              <a:xfrm>
                <a:off x="98071" y="1037290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1037290"/>
                <a:ext cx="19614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/>
              <p:nvPr/>
            </p:nvSpPr>
            <p:spPr>
              <a:xfrm>
                <a:off x="1974047" y="848008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047" y="848008"/>
                <a:ext cx="932179" cy="9017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/>
              <p:nvPr/>
            </p:nvSpPr>
            <p:spPr>
              <a:xfrm>
                <a:off x="3232652" y="1037290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2652" y="1037290"/>
                <a:ext cx="375655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0D09BA4-F7BB-422D-BABC-968173ABAE6A}"/>
                  </a:ext>
                </a:extLst>
              </p:cNvPr>
              <p:cNvSpPr txBox="1"/>
              <p:nvPr/>
            </p:nvSpPr>
            <p:spPr>
              <a:xfrm>
                <a:off x="6795954" y="849322"/>
                <a:ext cx="1021562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0D09BA4-F7BB-422D-BABC-968173ABAE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5954" y="849322"/>
                <a:ext cx="1021562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291A421-2A93-469E-9291-C314F5AF336C}"/>
                  </a:ext>
                </a:extLst>
              </p:cNvPr>
              <p:cNvSpPr txBox="1"/>
              <p:nvPr/>
            </p:nvSpPr>
            <p:spPr>
              <a:xfrm>
                <a:off x="3662017" y="3859334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291A421-2A93-469E-9291-C314F5AF3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859334"/>
                <a:ext cx="4654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13A11963-104A-4ED8-8752-9599E694CC5B}"/>
                  </a:ext>
                </a:extLst>
              </p:cNvPr>
              <p:cNvSpPr txBox="1"/>
              <p:nvPr/>
            </p:nvSpPr>
            <p:spPr>
              <a:xfrm>
                <a:off x="4127500" y="3480737"/>
                <a:ext cx="939800" cy="12804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num>
                            <m:den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13A11963-104A-4ED8-8752-9599E694CC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7500" y="3480737"/>
                <a:ext cx="939800" cy="128041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B0DA2A0-99ED-4AB3-B977-E8C2E39039DD}"/>
                  </a:ext>
                </a:extLst>
              </p:cNvPr>
              <p:cNvSpPr txBox="1"/>
              <p:nvPr/>
            </p:nvSpPr>
            <p:spPr>
              <a:xfrm>
                <a:off x="3662017" y="5254775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B0DA2A0-99ED-4AB3-B977-E8C2E39039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5254775"/>
                <a:ext cx="46548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B4EAE77-430B-40E0-B9EF-FEE8832813B2}"/>
                  </a:ext>
                </a:extLst>
              </p:cNvPr>
              <p:cNvSpPr txBox="1"/>
              <p:nvPr/>
            </p:nvSpPr>
            <p:spPr>
              <a:xfrm>
                <a:off x="4127500" y="5066807"/>
                <a:ext cx="55245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B4EAE77-430B-40E0-B9EF-FEE8832813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7500" y="5066807"/>
                <a:ext cx="552450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432617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9" grpId="0"/>
      <p:bldP spid="41" grpId="0"/>
      <p:bldP spid="42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Improper Integral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dirty="0"/>
              <a:t>If the </a:t>
            </a:r>
            <a:r>
              <a:rPr lang="en-US" b="1" dirty="0">
                <a:solidFill>
                  <a:srgbClr val="FF0000"/>
                </a:solidFill>
              </a:rPr>
              <a:t>limit</a:t>
            </a:r>
            <a:r>
              <a:rPr lang="en-US" dirty="0"/>
              <a:t> of integral is </a:t>
            </a:r>
            <a:r>
              <a:rPr lang="en-US" b="1" dirty="0">
                <a:solidFill>
                  <a:srgbClr val="FF0000"/>
                </a:solidFill>
              </a:rPr>
              <a:t>infinite</a:t>
            </a:r>
            <a:r>
              <a:rPr lang="en-US" dirty="0"/>
              <a:t> (one or both), and/or integrand function </a:t>
            </a:r>
            <a:r>
              <a:rPr lang="en-US" b="1" dirty="0">
                <a:solidFill>
                  <a:srgbClr val="FF0000"/>
                </a:solidFill>
              </a:rPr>
              <a:t>discontinues</a:t>
            </a:r>
            <a:r>
              <a:rPr lang="en-US" dirty="0"/>
              <a:t> for some values on the interval of given integral, then such integral is known as an improper integral.</a:t>
            </a:r>
          </a:p>
          <a:p>
            <a:pPr lvl="0">
              <a:lnSpc>
                <a:spcPct val="150000"/>
              </a:lnSpc>
            </a:pPr>
            <a:r>
              <a:rPr lang="en-US" dirty="0"/>
              <a:t> Improper integrals are classified into </a:t>
            </a:r>
            <a:r>
              <a:rPr lang="en-US" b="1" dirty="0">
                <a:solidFill>
                  <a:srgbClr val="FF0000"/>
                </a:solidFill>
              </a:rPr>
              <a:t>two</a:t>
            </a:r>
            <a:r>
              <a:rPr lang="en-US" dirty="0"/>
              <a:t> types.</a:t>
            </a:r>
          </a:p>
          <a:p>
            <a:pPr lvl="1">
              <a:lnSpc>
                <a:spcPct val="150000"/>
              </a:lnSpc>
            </a:pPr>
            <a:r>
              <a:rPr lang="en-US" dirty="0"/>
              <a:t>Improper integrals of </a:t>
            </a:r>
            <a:r>
              <a:rPr lang="en-US" b="1" dirty="0">
                <a:solidFill>
                  <a:srgbClr val="FF0000"/>
                </a:solidFill>
              </a:rPr>
              <a:t>type I</a:t>
            </a:r>
          </a:p>
          <a:p>
            <a:pPr lvl="1">
              <a:lnSpc>
                <a:spcPct val="150000"/>
              </a:lnSpc>
            </a:pPr>
            <a:r>
              <a:rPr lang="en-US" dirty="0"/>
              <a:t> Improper integrals of </a:t>
            </a:r>
            <a:r>
              <a:rPr lang="en-US" b="1" dirty="0">
                <a:solidFill>
                  <a:srgbClr val="FF0000"/>
                </a:solidFill>
              </a:rPr>
              <a:t>type II</a:t>
            </a:r>
          </a:p>
          <a:p>
            <a:pPr marL="0" lvl="0" indent="0">
              <a:lnSpc>
                <a:spcPct val="150000"/>
              </a:lnSpc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4699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2A58FD-91E7-1D81-0007-21B140A387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F7748-EDF5-A86B-2668-8F3CB4172F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Improper Integral – Type I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E9F6D3-A6DA-9092-AC3A-DED0FB8E12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5"/>
            <a:ext cx="11929641" cy="1259645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/>
              <a:t>If the </a:t>
            </a:r>
            <a:r>
              <a:rPr lang="en-US" b="1" dirty="0">
                <a:solidFill>
                  <a:srgbClr val="FF0000"/>
                </a:solidFill>
              </a:rPr>
              <a:t>limit</a:t>
            </a:r>
            <a:r>
              <a:rPr lang="en-US" dirty="0"/>
              <a:t> of integral is </a:t>
            </a:r>
            <a:r>
              <a:rPr lang="en-US" b="1" dirty="0">
                <a:solidFill>
                  <a:srgbClr val="FF0000"/>
                </a:solidFill>
              </a:rPr>
              <a:t>infinite</a:t>
            </a:r>
            <a:r>
              <a:rPr lang="en-US" dirty="0"/>
              <a:t> (one or both), then such integral is known as an improper integral of Type I.</a:t>
            </a:r>
          </a:p>
          <a:p>
            <a:pPr marL="0" lvl="0" indent="0">
              <a:lnSpc>
                <a:spcPct val="150000"/>
              </a:lnSpc>
              <a:buNone/>
            </a:pPr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58A4572A-B009-11A4-5AD9-F1EB598CDB88}"/>
              </a:ext>
            </a:extLst>
          </p:cNvPr>
          <p:cNvSpPr txBox="1">
            <a:spLocks/>
          </p:cNvSpPr>
          <p:nvPr/>
        </p:nvSpPr>
        <p:spPr>
          <a:xfrm>
            <a:off x="131179" y="1830551"/>
            <a:ext cx="8245565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dirty="0"/>
              <a:t>There are three </a:t>
            </a:r>
            <a:r>
              <a:rPr lang="en-US" b="1" dirty="0">
                <a:solidFill>
                  <a:srgbClr val="FF0000"/>
                </a:solidFill>
              </a:rPr>
              <a:t>cases</a:t>
            </a:r>
            <a:r>
              <a:rPr lang="en-US" dirty="0"/>
              <a:t> in Improper Integral – Type I.</a:t>
            </a:r>
            <a:endParaRPr lang="en-US" sz="3200" dirty="0"/>
          </a:p>
          <a:p>
            <a:pPr marL="0" indent="0">
              <a:lnSpc>
                <a:spcPct val="150000"/>
              </a:lnSpc>
              <a:buFont typeface="Wingdings 3" panose="05040102010807070707" pitchFamily="18" charset="2"/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187BF4A8-F2B8-74DE-298A-7CE018EC4E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9623" y="2487451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187BF4A8-F2B8-74DE-298A-7CE018EC4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9623" y="2487451"/>
                <a:ext cx="2690847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60AEFF8-D960-F361-FFC3-B16F917ABA9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0947" y="4645650"/>
                <a:ext cx="3274169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60AEFF8-D960-F361-FFC3-B16F917ABA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0947" y="4645650"/>
                <a:ext cx="3274169" cy="18745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FC1596E5-A901-5F07-5E43-E92B89C06FD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61032" y="2537529"/>
                <a:ext cx="3557750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3200" b="0" i="0" smtClean="0"/>
                        <m:t>  </m:t>
                      </m:r>
                      <m:nary>
                        <m:naryPr>
                          <m:limLoc m:val="undOvr"/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FC1596E5-A901-5F07-5E43-E92B89C06F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1032" y="2537529"/>
                <a:ext cx="3557750" cy="18745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8554A3D-5AF5-39DB-CED7-74EB09CA12B6}"/>
              </a:ext>
            </a:extLst>
          </p:cNvPr>
          <p:cNvSpPr txBox="1">
            <a:spLocks/>
          </p:cNvSpPr>
          <p:nvPr/>
        </p:nvSpPr>
        <p:spPr>
          <a:xfrm>
            <a:off x="131180" y="2865825"/>
            <a:ext cx="2107524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1:</a:t>
            </a:r>
            <a:endParaRPr lang="en-US" sz="3200" dirty="0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D53F27D-C566-8B0F-0165-B6C7F0F9FFE6}"/>
              </a:ext>
            </a:extLst>
          </p:cNvPr>
          <p:cNvSpPr txBox="1">
            <a:spLocks/>
          </p:cNvSpPr>
          <p:nvPr/>
        </p:nvSpPr>
        <p:spPr>
          <a:xfrm>
            <a:off x="131179" y="5074976"/>
            <a:ext cx="2107524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2:</a:t>
            </a:r>
            <a:endParaRPr lang="en-US" sz="3200" dirty="0"/>
          </a:p>
          <a:p>
            <a:pPr marL="0" indent="0">
              <a:lnSpc>
                <a:spcPct val="150000"/>
              </a:lnSpc>
              <a:buFont typeface="Wingdings 3" panose="05040102010807070707" pitchFamily="18" charset="2"/>
              <a:buNone/>
            </a:pPr>
            <a:endParaRPr lang="en-US" dirty="0"/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D54F8B9D-6223-86F6-45A2-2B3A52FB7E3B}"/>
              </a:ext>
            </a:extLst>
          </p:cNvPr>
          <p:cNvSpPr txBox="1">
            <a:spLocks/>
          </p:cNvSpPr>
          <p:nvPr/>
        </p:nvSpPr>
        <p:spPr>
          <a:xfrm>
            <a:off x="5205151" y="2864227"/>
            <a:ext cx="244638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3: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148648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 uiExpand="1" build="p"/>
      <p:bldP spid="7" grpId="0" uiExpand="1" build="p"/>
      <p:bldP spid="8" grpId="0" uiExpand="1" build="p"/>
      <p:bldP spid="9" grpId="0"/>
      <p:bldP spid="11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Case-1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/>
          <a:srcRect l="25707" t="24277" r="22928" b="15723"/>
          <a:stretch/>
        </p:blipFill>
        <p:spPr>
          <a:xfrm>
            <a:off x="6117220" y="1574645"/>
            <a:ext cx="5943600" cy="390530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2278646" y="1880959"/>
                <a:ext cx="3279103" cy="156818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en-US" sz="32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limLow>
                            <m:limLow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 b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→ 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8646" y="1880959"/>
                <a:ext cx="3279103" cy="15681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4FA0D153-933C-1B98-EB43-33CF220D97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4FA0D153-933C-1B98-EB43-33CF220D97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A6181E1F-C00B-51C1-1A5C-A46E460A062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3755459"/>
                <a:ext cx="6054158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5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is continuous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>
                  <a:lnSpc>
                    <a:spcPct val="150000"/>
                  </a:lnSpc>
                </a:pPr>
                <a:endParaRPr lang="en-IN" sz="3200" i="1" dirty="0">
                  <a:latin typeface="Cambria Math" panose="02040503050406030204" pitchFamily="18" charset="0"/>
                </a:endParaRPr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  <a:p>
                <a:pPr marL="288925" indent="0" algn="r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A6181E1F-C00B-51C1-1A5C-A46E460A06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3755459"/>
                <a:ext cx="6054158" cy="711200"/>
              </a:xfrm>
              <a:prstGeom prst="rect">
                <a:avLst/>
              </a:prstGeom>
              <a:blipFill>
                <a:blip r:embed="rId5"/>
                <a:stretch>
                  <a:fillRect l="-2115" b="-17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0477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/>
      <p:bldP spid="6" grpId="0" uiExpand="1" build="p"/>
      <p:bldP spid="7" grpId="0" uiExpand="1" build="p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7D3A05F0-7C7F-570F-B5D6-92083A5B40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1177B1-546C-CE80-DE36-A070B84816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16673C-4577-469C-9F37-26D42A10D9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Case-2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22D84513-ABF7-552E-AF7C-994F3DD4DF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dx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22D84513-ABF7-552E-AF7C-994F3DD4DF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C83690FF-74B0-66E1-6FB1-E6BEBEF5D9F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3755459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88925" indent="0" algn="l">
                  <a:lnSpc>
                    <a:spcPct val="15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is continuous on </a:t>
                </a:r>
                <a14:m>
                  <m:oMath xmlns:m="http://schemas.openxmlformats.org/officeDocument/2006/math">
                    <m:d>
                      <m:dPr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−∞,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 marL="288925" indent="0" algn="r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C83690FF-74B0-66E1-6FB1-E6BEBEF5D9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3755459"/>
                <a:ext cx="6253854" cy="711200"/>
              </a:xfrm>
              <a:prstGeom prst="rect">
                <a:avLst/>
              </a:prstGeom>
              <a:blipFill>
                <a:blip r:embed="rId3"/>
                <a:stretch>
                  <a:fillRect b="-17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DC3DC70-5DE5-731C-B2E0-85E0035B897B}"/>
                  </a:ext>
                </a:extLst>
              </p:cNvPr>
              <p:cNvSpPr/>
              <p:nvPr/>
            </p:nvSpPr>
            <p:spPr>
              <a:xfrm>
                <a:off x="2362861" y="1913876"/>
                <a:ext cx="3506729" cy="159851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→ </m:t>
                              </m:r>
                              <m: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 b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DC3DC70-5DE5-731C-B2E0-85E0035B89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2861" y="1913876"/>
                <a:ext cx="3506729" cy="15985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>
            <a:extLst>
              <a:ext uri="{FF2B5EF4-FFF2-40B4-BE49-F238E27FC236}">
                <a16:creationId xmlns:a16="http://schemas.microsoft.com/office/drawing/2014/main" id="{215FD54F-49EA-D976-07A2-FDD02A8C1BE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3230" t="10274" r="25232" b="20530"/>
          <a:stretch/>
        </p:blipFill>
        <p:spPr>
          <a:xfrm>
            <a:off x="6248400" y="1268017"/>
            <a:ext cx="5943600" cy="44887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1203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6" grpId="0" uiExpand="1" build="p"/>
      <p:bldP spid="7" grpId="0"/>
      <p:bldP spid="8" grpId="0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B11EBF6-CEC1-C430-AFB4-546D9D9D5C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3F7FFE-57D5-CAA9-C039-D440366E8C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E00145-1857-2718-C184-26C3D512CA9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Case-3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61083438-AF20-5657-8B27-DC91FB87DF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352664" y="1903366"/>
                <a:ext cx="2885659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 </m:t>
                          </m:r>
                        </m:sub>
                        <m:sup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dx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61083438-AF20-5657-8B27-DC91FB87DF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2664" y="1903366"/>
                <a:ext cx="2885659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6EE95FC1-7524-AF8C-E94D-983F7D0F6A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5638955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31775" indent="0" algn="l">
                  <a:lnSpc>
                    <a:spcPct val="10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is continuous 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−∞, 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6EE95FC1-7524-AF8C-E94D-983F7D0F6A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5638955"/>
                <a:ext cx="6253854" cy="711200"/>
              </a:xfrm>
              <a:prstGeom prst="rect">
                <a:avLst/>
              </a:prstGeom>
              <a:blipFill>
                <a:blip r:embed="rId3"/>
                <a:stretch>
                  <a:fillRect t="-8547" r="-1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979FD81-7775-F9FA-D24C-F447003396BA}"/>
                  </a:ext>
                </a:extLst>
              </p:cNvPr>
              <p:cNvSpPr/>
              <p:nvPr/>
            </p:nvSpPr>
            <p:spPr>
              <a:xfrm>
                <a:off x="1952958" y="3803745"/>
                <a:ext cx="7089313" cy="16266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32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𝐭</m:t>
                                  </m:r>
                                </m:e>
                                <m:sub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sub>
                              </m:sSub>
                              <m:r>
                                <a:rPr lang="en-US" sz="320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→ </m:t>
                              </m:r>
                              <m: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sSub>
                                <m:sSubPr>
                                  <m:ctrlPr>
                                    <a:rPr lang="en-US" sz="3200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𝐭</m:t>
                                  </m:r>
                                </m:e>
                                <m:sub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sub>
                              </m:sSub>
                            </m:sub>
                            <m:sup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+</m:t>
                              </m:r>
                              <m:func>
                                <m:func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limLow>
                                    <m:limLowPr>
                                      <m:ctrlPr>
                                        <a:rPr lang="en-US" sz="32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limLow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lim</m:t>
                                      </m:r>
                                    </m:e>
                                    <m:lim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US" sz="3200" b="1" i="1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𝐭</m:t>
                                          </m:r>
                                        </m:e>
                                        <m:sub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→ ∞ </m:t>
                                      </m:r>
                                    </m:lim>
                                  </m:limLow>
                                </m:fName>
                                <m:e>
                                  <m:nary>
                                    <m:naryPr>
                                      <m:limLoc m:val="undOvr"/>
                                      <m:ctrlPr>
                                        <a:rPr lang="en-US" sz="32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c</m:t>
                                      </m:r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sub>
                                    <m:sup>
                                      <m:sSub>
                                        <m:sSubPr>
                                          <m:ctrlPr>
                                            <a:rPr lang="en-US" sz="3200" b="1" i="1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𝐭</m:t>
                                          </m:r>
                                        </m:e>
                                        <m:sub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</m:sup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  <m:d>
                                        <m:dPr>
                                          <m:ctrlPr>
                                            <a:rPr lang="en-US" sz="32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32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d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dx</m:t>
                                      </m:r>
                                    </m:e>
                                  </m:nary>
                                </m:e>
                              </m:func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979FD81-7775-F9FA-D24C-F447003396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2958" y="3803745"/>
                <a:ext cx="7089313" cy="16266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B0620ECF-3C6E-88A8-2A9E-C0E2835BC0EA}"/>
              </a:ext>
            </a:extLst>
          </p:cNvPr>
          <p:cNvSpPr txBox="1">
            <a:spLocks/>
          </p:cNvSpPr>
          <p:nvPr/>
        </p:nvSpPr>
        <p:spPr>
          <a:xfrm>
            <a:off x="-158040" y="1726889"/>
            <a:ext cx="7179135" cy="1874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0">
              <a:lnSpc>
                <a:spcPct val="10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977FEB9B-1958-B4DF-625B-70CAAFDA2C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60437" y="2023007"/>
                <a:ext cx="4771896" cy="148889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∞ </m:t>
                          </m:r>
                        </m:sub>
                        <m:sup>
                          <m:r>
                            <a:rPr lang="en-US" b="1" i="1">
                              <a:latin typeface="Cambria Math" panose="02040503050406030204" pitchFamily="18" charset="0"/>
                            </a:rPr>
                            <m:t>𝐜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dx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+</m:t>
                          </m:r>
                          <m:func>
                            <m:func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nary>
                                <m:naryPr>
                                  <m:limLoc m:val="undOvr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b="1" i="1">
                                      <a:latin typeface="Cambria Math" panose="02040503050406030204" pitchFamily="18" charset="0"/>
                                    </a:rPr>
                                    <m:t>𝐜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sub>
                                <m:sup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∞ </m:t>
                                  </m:r>
                                </m:sup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  <m:d>
                                    <m:d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d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nary>
                            </m:fName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func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977FEB9B-1958-B4DF-625B-70CAAFDA2C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0437" y="2023007"/>
                <a:ext cx="4771896" cy="148889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Picture 10">
            <a:extLst>
              <a:ext uri="{FF2B5EF4-FFF2-40B4-BE49-F238E27FC236}">
                <a16:creationId xmlns:a16="http://schemas.microsoft.com/office/drawing/2014/main" id="{CC2D0BEC-54DD-DC9A-2AED-9F30D272A0A6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17846" t="12189" r="16923" b="26547"/>
          <a:stretch/>
        </p:blipFill>
        <p:spPr>
          <a:xfrm>
            <a:off x="6721553" y="863444"/>
            <a:ext cx="5308671" cy="280458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EC6A5EB-B9A1-410D-9D58-D08ECBA509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182711" y="5588310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31775" indent="0" algn="l">
                  <a:lnSpc>
                    <a:spcPct val="100000"/>
                  </a:lnSpc>
                  <a:buNone/>
                </a:pPr>
                <a:r>
                  <a:rPr lang="en-US" i="0" dirty="0">
                    <a:latin typeface="+mj-lt"/>
                  </a:rPr>
                  <a:t>w</a:t>
                </a:r>
                <a:r>
                  <a:rPr lang="en-IN" b="0" i="0" dirty="0">
                    <a:latin typeface="+mj-lt"/>
                  </a:rPr>
                  <a:t>here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∈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−∞, 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EC6A5EB-B9A1-410D-9D58-D08ECBA509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2711" y="5588310"/>
                <a:ext cx="6253854" cy="711200"/>
              </a:xfrm>
              <a:prstGeom prst="rect">
                <a:avLst/>
              </a:prstGeom>
              <a:blipFill>
                <a:blip r:embed="rId7"/>
                <a:stretch>
                  <a:fillRect t="-94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84368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6" grpId="0" uiExpand="1" build="p"/>
      <p:bldP spid="7" grpId="0"/>
      <p:bldP spid="8" grpId="0"/>
      <p:bldP spid="10" grpId="0" uiExpand="1" build="p"/>
      <p:bldP spid="5" grpId="0"/>
    </p:bld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6D1479-1AED-33D3-953E-5B8EA0DF1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FE6745E8-0FD4-F898-DCF5-660690138EE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dhvanik.zala@darshan.ac.in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B2CD44FE-613B-3D43-70CF-3193417CF14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8238588865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33FD515F-7A0D-25B1-1BCB-0901CA0C7DC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/>
              <a:t>Department of Humanities &amp; Science</a:t>
            </a:r>
            <a:endParaRPr lang="en-US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2130B8F4-37BD-86E4-CE3D-C0521772B68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Mr. Dhvanik H. Zala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1D5504D-B64D-5451-1180-644CB736329E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60EF66A-C580-B7E8-1A0E-0AD2613A96F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93" r="6193"/>
          <a:stretch>
            <a:fillRect/>
          </a:stretch>
        </p:blipFill>
        <p:spPr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prstClr val="white">
                <a:lumMod val="65000"/>
              </a:prstClr>
            </a:solidFill>
          </a:ln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58ED28A4-06BC-35FD-F484-48D9473C8B61}"/>
              </a:ext>
            </a:extLst>
          </p:cNvPr>
          <p:cNvGrpSpPr/>
          <p:nvPr/>
        </p:nvGrpSpPr>
        <p:grpSpPr>
          <a:xfrm>
            <a:off x="26704" y="1462475"/>
            <a:ext cx="8044476" cy="3103418"/>
            <a:chOff x="-12804" y="1537545"/>
            <a:chExt cx="8044476" cy="3103418"/>
          </a:xfrm>
        </p:grpSpPr>
        <p:sp>
          <p:nvSpPr>
            <p:cNvPr id="7" name="Title 1">
              <a:extLst>
                <a:ext uri="{FF2B5EF4-FFF2-40B4-BE49-F238E27FC236}">
                  <a16:creationId xmlns:a16="http://schemas.microsoft.com/office/drawing/2014/main" id="{CBA6DB37-87C2-7036-DE77-B11E7ABF3DA7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a16:creationId xmlns:a16="http://schemas.microsoft.com/office/drawing/2014/main" id="{69177019-5BD1-91E6-1993-86CB3E901923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B14440"/>
                  </a:solidFill>
                </a:rPr>
                <a:t>THANK YOU</a:t>
              </a:r>
            </a:p>
          </p:txBody>
        </p:sp>
        <p:sp>
          <p:nvSpPr>
            <p:cNvPr id="10" name="Title 1">
              <a:extLst>
                <a:ext uri="{FF2B5EF4-FFF2-40B4-BE49-F238E27FC236}">
                  <a16:creationId xmlns:a16="http://schemas.microsoft.com/office/drawing/2014/main" id="{5BD430E0-485D-CDF1-F61C-9A18CBA13629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34179978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60CB386-78CA-4575-9F5B-1025EB3E0C65}">
  <we:reference id="wa200005566" version="1.0.0.0" store="en-US" storeType="OMEX"/>
  <we:alternateReferences>
    <we:reference id="wa200005566" version="1.0.0.0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otalTime>35908</TotalTime>
  <Words>22277</Words>
  <Application>Microsoft Office PowerPoint</Application>
  <PresentationFormat>Widescreen</PresentationFormat>
  <Paragraphs>3920</Paragraphs>
  <Slides>314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314</vt:i4>
      </vt:variant>
    </vt:vector>
  </HeadingPairs>
  <TitlesOfParts>
    <vt:vector size="326" baseType="lpstr">
      <vt:lpstr>Cambria Math</vt:lpstr>
      <vt:lpstr>Roboto Condensed Light</vt:lpstr>
      <vt:lpstr>Cambria</vt:lpstr>
      <vt:lpstr>Calibri</vt:lpstr>
      <vt:lpstr>Arial</vt:lpstr>
      <vt:lpstr>Wingdings 3</vt:lpstr>
      <vt:lpstr>Times New Roman</vt:lpstr>
      <vt:lpstr>Wingdings</vt:lpstr>
      <vt:lpstr>Symbol</vt:lpstr>
      <vt:lpstr>Roboto Condensed</vt:lpstr>
      <vt:lpstr>1_Office Theme</vt:lpstr>
      <vt:lpstr>Office Theme</vt:lpstr>
      <vt:lpstr>Unit – 2 Probability</vt:lpstr>
      <vt:lpstr>PowerPoint Presentation</vt:lpstr>
      <vt:lpstr>PowerPoint Presentation</vt:lpstr>
      <vt:lpstr>PowerPoint Presentation</vt:lpstr>
      <vt:lpstr>Introduction </vt:lpstr>
      <vt:lpstr>Introduction</vt:lpstr>
      <vt:lpstr>Why Probability is Important?</vt:lpstr>
      <vt:lpstr>Why Probability is Important?</vt:lpstr>
      <vt:lpstr>Why Probability is Important?</vt:lpstr>
      <vt:lpstr>Method 1 Basic Terminologies</vt:lpstr>
      <vt:lpstr>Random Experiment</vt:lpstr>
      <vt:lpstr>Random Experiment</vt:lpstr>
      <vt:lpstr>Random Experiment</vt:lpstr>
      <vt:lpstr>Sample Space</vt:lpstr>
      <vt:lpstr>Sample Space</vt:lpstr>
      <vt:lpstr>Sample Space</vt:lpstr>
      <vt:lpstr>Sample Space</vt:lpstr>
      <vt:lpstr>Types of Sample Space</vt:lpstr>
      <vt:lpstr>Types of Sample Space</vt:lpstr>
      <vt:lpstr>Types of Sample Space</vt:lpstr>
      <vt:lpstr>Types of Sample Space</vt:lpstr>
      <vt:lpstr>Method 1 ⇝ Example 1</vt:lpstr>
      <vt:lpstr>Method 1⇝ Example 11</vt:lpstr>
      <vt:lpstr>Method 1⇝ Example 13</vt:lpstr>
      <vt:lpstr>Types of Random Experiments </vt:lpstr>
      <vt:lpstr>Types of Random Experiments </vt:lpstr>
      <vt:lpstr>Types of Random Experiments </vt:lpstr>
      <vt:lpstr>Types of Random Experiments </vt:lpstr>
      <vt:lpstr>Method 1 ⇝ Example 16 </vt:lpstr>
      <vt:lpstr>Method 1⇝ Example 18</vt:lpstr>
      <vt:lpstr>Summary</vt:lpstr>
      <vt:lpstr>Event</vt:lpstr>
      <vt:lpstr>Types of Events</vt:lpstr>
      <vt:lpstr>Types of Events</vt:lpstr>
      <vt:lpstr>Types of Events</vt:lpstr>
      <vt:lpstr>Types of Events</vt:lpstr>
      <vt:lpstr>Types of Events</vt:lpstr>
      <vt:lpstr>Method 1 ⇝ Example 20 </vt:lpstr>
      <vt:lpstr>Method 1 ⇝ Example 21 </vt:lpstr>
      <vt:lpstr>Types of Events</vt:lpstr>
      <vt:lpstr>Types of Events</vt:lpstr>
      <vt:lpstr>Types of Events</vt:lpstr>
      <vt:lpstr>Types of Events</vt:lpstr>
      <vt:lpstr>Types of Events</vt:lpstr>
      <vt:lpstr>Method 1⇝ Example 28</vt:lpstr>
      <vt:lpstr>Method 2 Probability of an Event</vt:lpstr>
      <vt:lpstr>Equally Likely Outcomes</vt:lpstr>
      <vt:lpstr>Remark</vt:lpstr>
      <vt:lpstr>Equally Likely Outcomes</vt:lpstr>
      <vt:lpstr>Classical Definition of Probability</vt:lpstr>
      <vt:lpstr>Example</vt:lpstr>
      <vt:lpstr>Basic Properties of Probability</vt:lpstr>
      <vt:lpstr>Basic Properties of Probability</vt:lpstr>
      <vt:lpstr>Basic Properties of Probability</vt:lpstr>
      <vt:lpstr>Method 2 ⇝ Example 1</vt:lpstr>
      <vt:lpstr>Method 2 ⇝ Example 1 (Continue)</vt:lpstr>
      <vt:lpstr>Some Important Results : For Two Events A and B</vt:lpstr>
      <vt:lpstr>Some Important Results : For Two Events A and B</vt:lpstr>
      <vt:lpstr>AI Recruitment Dataset</vt:lpstr>
      <vt:lpstr>Some Important Results : For Two Events A and B</vt:lpstr>
      <vt:lpstr>Some Important Results : For Two Events A and B</vt:lpstr>
      <vt:lpstr>Some Important Results : For Two Events A and B</vt:lpstr>
      <vt:lpstr>Some Important Results : For Two Events A and B</vt:lpstr>
      <vt:lpstr>Some Important Results : For Two Events A and B</vt:lpstr>
      <vt:lpstr>Some Important Results : For Two Events A and B</vt:lpstr>
      <vt:lpstr>PowerPoint Presentation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Two Events A and B</vt:lpstr>
      <vt:lpstr>De Morgan's Rules : For Two Events A and B</vt:lpstr>
      <vt:lpstr>Method 2 ⇝ Example 5</vt:lpstr>
      <vt:lpstr>Method 2 ⇝ Example 6</vt:lpstr>
      <vt:lpstr>De Morgan's Rules : For Two Events A and B</vt:lpstr>
      <vt:lpstr>Meaning of A^′∪B′</vt:lpstr>
      <vt:lpstr>De Morgan's Rules : For Three Events A, B and C</vt:lpstr>
      <vt:lpstr>De Morgan's Rules : For Three Events A, B and C</vt:lpstr>
      <vt:lpstr>Method 2 ⇝ Example 8</vt:lpstr>
      <vt:lpstr>Method 2 ⇝ Example 8 (Continue)</vt:lpstr>
      <vt:lpstr>Method 2 ⇝ Example 8 (Continue)</vt:lpstr>
      <vt:lpstr>Method 2 ⇝ Example 8 (Continue)</vt:lpstr>
      <vt:lpstr>Method 2 ⇝ Example 8 (Continue)</vt:lpstr>
      <vt:lpstr>Method 2 ⇝ Example 8 (Continue)</vt:lpstr>
      <vt:lpstr>Method 2 ⇝ Example 16</vt:lpstr>
      <vt:lpstr>Method 2 ⇝ Example 16 (Continue)</vt:lpstr>
      <vt:lpstr>Method 2 ⇝ Example 16 (Continue)</vt:lpstr>
      <vt:lpstr>Method 2 ⇝ Example 17</vt:lpstr>
      <vt:lpstr>Method 2 ⇝ Example 17 (Continue)</vt:lpstr>
      <vt:lpstr>Method 2 ⇝ Example 18</vt:lpstr>
      <vt:lpstr>Method 2 ⇝ Example 18 (Continue)</vt:lpstr>
      <vt:lpstr>Method 2 ⇝ Example 19</vt:lpstr>
      <vt:lpstr>Method 2 ⇝ Example 19 (Continue)</vt:lpstr>
      <vt:lpstr>Method 2 ⇝ Example 19 (Continue)</vt:lpstr>
      <vt:lpstr>Method 2 ⇝ Example 19 (Continue)</vt:lpstr>
      <vt:lpstr>Method 2 ⇝ Example 20</vt:lpstr>
      <vt:lpstr>Method 3 Conditional Probability and Independent Events</vt:lpstr>
      <vt:lpstr>Why do we need Conditional Probability?</vt:lpstr>
      <vt:lpstr>Why do we need Conditional Probability?</vt:lpstr>
      <vt:lpstr>Why do we need Conditional Probability?</vt:lpstr>
      <vt:lpstr>Why do we need Conditional Probability?</vt:lpstr>
      <vt:lpstr>Why do we need Conditional Probability?</vt:lpstr>
      <vt:lpstr>Why do we need Conditional Probability?</vt:lpstr>
      <vt:lpstr>Why do we need Conditional Probability?</vt:lpstr>
      <vt:lpstr>Conditional Probability</vt:lpstr>
      <vt:lpstr>Conditional Probability</vt:lpstr>
      <vt:lpstr>Conditional Probability</vt:lpstr>
      <vt:lpstr>Example</vt:lpstr>
      <vt:lpstr>Example</vt:lpstr>
      <vt:lpstr>Properties of Conditional Probability</vt:lpstr>
      <vt:lpstr>Method 3 ⇝ Example 1</vt:lpstr>
      <vt:lpstr>Method 3 ⇝ Example 2</vt:lpstr>
      <vt:lpstr>Method 3 ⇝ Example 2 (Continue)</vt:lpstr>
      <vt:lpstr>Multiplicative Law of Probability</vt:lpstr>
      <vt:lpstr>Example - 1</vt:lpstr>
      <vt:lpstr>Example - 1</vt:lpstr>
      <vt:lpstr>Example - 1</vt:lpstr>
      <vt:lpstr>Example - 2</vt:lpstr>
      <vt:lpstr>Example - 2</vt:lpstr>
      <vt:lpstr>Important Note </vt:lpstr>
      <vt:lpstr>Multiplicative Law of Probability</vt:lpstr>
      <vt:lpstr>Multiplicative Law of Probability</vt:lpstr>
      <vt:lpstr>Multiplicative Law of Probability</vt:lpstr>
      <vt:lpstr>Multiplicative Law of Probability</vt:lpstr>
      <vt:lpstr>Independent Events</vt:lpstr>
      <vt:lpstr>Independent Events</vt:lpstr>
      <vt:lpstr>Independent Events</vt:lpstr>
      <vt:lpstr>Remarks</vt:lpstr>
      <vt:lpstr>Remark</vt:lpstr>
      <vt:lpstr>Mutually Independent Events</vt:lpstr>
      <vt:lpstr>Method 3 ⇝ Example 3</vt:lpstr>
      <vt:lpstr>Method 3 ⇝ Example 4</vt:lpstr>
      <vt:lpstr>Method 3 ⇝ Example 4</vt:lpstr>
      <vt:lpstr>Method 3 ⇝ Example 5</vt:lpstr>
      <vt:lpstr>Method 3 ⇝ Example 5 (Continue)</vt:lpstr>
      <vt:lpstr>Method 3 ⇝ Example 6</vt:lpstr>
      <vt:lpstr>Method 3 ⇝ Example 6 (Continue)</vt:lpstr>
      <vt:lpstr>Method 3 ⇝ Example 6 (Continue)</vt:lpstr>
      <vt:lpstr>Method 3 ⇝ Example 7 </vt:lpstr>
      <vt:lpstr>Method 3 ⇝ Example 7 (Continue)</vt:lpstr>
      <vt:lpstr>Method 3 ⇝ Example 7 (Continue)</vt:lpstr>
      <vt:lpstr>Method 3 ⇝ Example 7 (Continue)</vt:lpstr>
      <vt:lpstr>Method 3 ⇝ Example 7 (Continue)</vt:lpstr>
      <vt:lpstr>Method 3 ⇝ Example 9</vt:lpstr>
      <vt:lpstr>Method 3 ⇝ Example 9 (Continue)</vt:lpstr>
      <vt:lpstr>Method 3 ⇝ Example 9 (Continue)</vt:lpstr>
      <vt:lpstr>Method 4 Bayes’ Theorem</vt:lpstr>
      <vt:lpstr>Need for the Law of Total Probability</vt:lpstr>
      <vt:lpstr>Problem Formulation</vt:lpstr>
      <vt:lpstr>Probability Tree Diagram</vt:lpstr>
      <vt:lpstr>Why is the Law of Total Probability Applicable?</vt:lpstr>
      <vt:lpstr>Derivation of the Law of Total Probability</vt:lpstr>
      <vt:lpstr>Practical Conclusion</vt:lpstr>
      <vt:lpstr>Law of Total Probability</vt:lpstr>
      <vt:lpstr>Law of Total Probability</vt:lpstr>
      <vt:lpstr>Example</vt:lpstr>
      <vt:lpstr>Example</vt:lpstr>
      <vt:lpstr>Example</vt:lpstr>
      <vt:lpstr>Example</vt:lpstr>
      <vt:lpstr>Method 4 ⇝ Example 1</vt:lpstr>
      <vt:lpstr>Method 4 ⇝ Example 1 (Continue)</vt:lpstr>
      <vt:lpstr>Method 4 ⇝ Example 5</vt:lpstr>
      <vt:lpstr>Method 4 ⇝ Example 5 (Continue)</vt:lpstr>
      <vt:lpstr>Method 4 ⇝ Example 5 (Continue)</vt:lpstr>
      <vt:lpstr>Method 4 ⇝ Example 5 (Continue)</vt:lpstr>
      <vt:lpstr>Method 4 ⇝ Example 5 (Continue)</vt:lpstr>
      <vt:lpstr>Example: Software Engineer Recruitment</vt:lpstr>
      <vt:lpstr>Prior Probability : Our Initial Belief</vt:lpstr>
      <vt:lpstr>Evidence : New Information</vt:lpstr>
      <vt:lpstr>Likelihood</vt:lpstr>
      <vt:lpstr>Bayes’ Theorem</vt:lpstr>
      <vt:lpstr>Bayes’ Theorem</vt:lpstr>
      <vt:lpstr>Bayes’ Theorem</vt:lpstr>
      <vt:lpstr>Bayes’ Theorem</vt:lpstr>
      <vt:lpstr>Posterior Probability.</vt:lpstr>
      <vt:lpstr>Bayes' Theorem</vt:lpstr>
      <vt:lpstr>Bayes’ Theorem</vt:lpstr>
      <vt:lpstr>Method 4 ⇝ Example 6</vt:lpstr>
      <vt:lpstr>Method 4 ⇝ Example 6 (Continue)</vt:lpstr>
      <vt:lpstr>Method 4 ⇝ Example 6 (Continue)</vt:lpstr>
      <vt:lpstr>Method 4 ⇝ Example 8</vt:lpstr>
      <vt:lpstr>Method 4 ⇝ Example 8 (Continue)</vt:lpstr>
      <vt:lpstr>Method 4 ⇝ Example 9</vt:lpstr>
      <vt:lpstr>Method 4 ⇝ Example 9</vt:lpstr>
      <vt:lpstr>Method 4 ⇝ Example 9 (Continue)</vt:lpstr>
      <vt:lpstr>Method 4 ⇝ Example 9 (Continue)</vt:lpstr>
      <vt:lpstr>Real-Life Application – Airport Security Screening</vt:lpstr>
      <vt:lpstr>Real-Life Application – Airport Security Screening</vt:lpstr>
      <vt:lpstr>Real-Life Application – Airport Security Screening</vt:lpstr>
      <vt:lpstr>Real-Life Application – Airport Security Screening</vt:lpstr>
      <vt:lpstr>Real-Life Application – Airport Security Screening</vt:lpstr>
      <vt:lpstr>Real-Life Application – Airport Security Screening</vt:lpstr>
      <vt:lpstr>Real-Life Application – Airport Security Screening</vt:lpstr>
      <vt:lpstr>Method 5 Random Variable  and Probability Function</vt:lpstr>
      <vt:lpstr>Introduction</vt:lpstr>
      <vt:lpstr>Random Variable</vt:lpstr>
      <vt:lpstr>Random Variable</vt:lpstr>
      <vt:lpstr>Discrete Random Variable</vt:lpstr>
      <vt:lpstr>Discrete Random Variable</vt:lpstr>
      <vt:lpstr>Continuous Random Variable</vt:lpstr>
      <vt:lpstr>Continuous Random Variable</vt:lpstr>
      <vt:lpstr>Probability Distribution of a Random Variable</vt:lpstr>
      <vt:lpstr>Probability Function</vt:lpstr>
      <vt:lpstr>Probability Function</vt:lpstr>
      <vt:lpstr>Example</vt:lpstr>
      <vt:lpstr>Example</vt:lpstr>
      <vt:lpstr>Method 5 ⇝ Example 1(Extra)</vt:lpstr>
      <vt:lpstr>Method 5 ⇝ Example 1 (Continue)</vt:lpstr>
      <vt:lpstr>Method 5 ⇝ Example 1 (Continue)</vt:lpstr>
      <vt:lpstr>Probability Mass Function</vt:lpstr>
      <vt:lpstr>Method 5 ⇝ Example 1</vt:lpstr>
      <vt:lpstr>Method 5 ⇝ Example 1 (Continue)</vt:lpstr>
      <vt:lpstr>Method 5 ⇝ Example 3</vt:lpstr>
      <vt:lpstr>Method 5 ⇝ Example 3 (Continue)</vt:lpstr>
      <vt:lpstr>Method 5 ⇝ Example 3 (Continue)</vt:lpstr>
      <vt:lpstr>Probability Mass Function</vt:lpstr>
      <vt:lpstr>Method 5 ⇝ Example 6</vt:lpstr>
      <vt:lpstr>Method 5 ⇝ Example 6 (Continue)</vt:lpstr>
      <vt:lpstr>Method 5 ⇝ Example 6 (Continue)</vt:lpstr>
      <vt:lpstr>Remark</vt:lpstr>
      <vt:lpstr>Probability Density Function</vt:lpstr>
      <vt:lpstr>Continuous Random Variable : Heights of Students</vt:lpstr>
      <vt:lpstr>PowerPoint Presentation</vt:lpstr>
      <vt:lpstr>Continuous Random Variable : Heights of Students</vt:lpstr>
      <vt:lpstr>Probability Density Function</vt:lpstr>
      <vt:lpstr>Remark (For Continuous Random Variable X )</vt:lpstr>
      <vt:lpstr>Method 5 ⇝ Example 8</vt:lpstr>
      <vt:lpstr>Method 5 ⇝ Example 8 (Continue)</vt:lpstr>
      <vt:lpstr>Method 5 ⇝ Example 8 (Continue)</vt:lpstr>
      <vt:lpstr>Method 5 ⇝ Example 8 (Continue)</vt:lpstr>
      <vt:lpstr>Method 5 ⇝ Example 8 (Continue)</vt:lpstr>
      <vt:lpstr>Method 5 ⇝ Example 8 (Continue)</vt:lpstr>
      <vt:lpstr>Method 5 ⇝ Example 10</vt:lpstr>
      <vt:lpstr>Method 5 ⇝ Example 10 (Continue)</vt:lpstr>
      <vt:lpstr>Method 6 Measures of Random Variables</vt:lpstr>
      <vt:lpstr>Mathematical Expectation (Expected Value)</vt:lpstr>
      <vt:lpstr>Mathematical Expectation (Expected Value or Mean)</vt:lpstr>
      <vt:lpstr>Mathematical Expectation</vt:lpstr>
      <vt:lpstr>Mathematical Expectation</vt:lpstr>
      <vt:lpstr>Why Casinos Always Win? </vt:lpstr>
      <vt:lpstr>Would you play this game?</vt:lpstr>
      <vt:lpstr>Expected Value</vt:lpstr>
      <vt:lpstr>The House Edge</vt:lpstr>
      <vt:lpstr>Casinos Win in the Long Run</vt:lpstr>
      <vt:lpstr>European Roulette Wheel</vt:lpstr>
      <vt:lpstr>European Roulette Wheel</vt:lpstr>
      <vt:lpstr>Why Add the Green 0?</vt:lpstr>
      <vt:lpstr>The House Edge</vt:lpstr>
      <vt:lpstr>Beyond Casinos: Mathematics in Everyday Decisions</vt:lpstr>
      <vt:lpstr>Mathematical Expectation</vt:lpstr>
      <vt:lpstr>Mathematical Expectation</vt:lpstr>
      <vt:lpstr>Note</vt:lpstr>
      <vt:lpstr>Properties of Mathematical Expectation</vt:lpstr>
      <vt:lpstr>Properties of Mathematical Expectation</vt:lpstr>
      <vt:lpstr>Properties of Mathematical Expectation</vt:lpstr>
      <vt:lpstr>Mathematical Expectation of X^2</vt:lpstr>
      <vt:lpstr>Variance of Random Variable</vt:lpstr>
      <vt:lpstr>Properties of Variance</vt:lpstr>
      <vt:lpstr>Method 6 ⇝ Example 1</vt:lpstr>
      <vt:lpstr>Method 6 ⇝ Example 1 (Continue)</vt:lpstr>
      <vt:lpstr>Method 6 ⇝ Example 2</vt:lpstr>
      <vt:lpstr>Method 6 ⇝ Example 3</vt:lpstr>
      <vt:lpstr>Method 6 ⇝ Example 3 (Continue)</vt:lpstr>
      <vt:lpstr>Method 6 ⇝ Example 5</vt:lpstr>
      <vt:lpstr>Method 6 ⇝ Example 5 (Continue)</vt:lpstr>
      <vt:lpstr>Method 6 ⇝ Example 5 (Continue)</vt:lpstr>
      <vt:lpstr>Method 6 ⇝ Example 6</vt:lpstr>
      <vt:lpstr>Method 6 ⇝ Example 6 (Continue)</vt:lpstr>
      <vt:lpstr>Method 6 ⇝ Example 6 (Continue)</vt:lpstr>
      <vt:lpstr>Method 6 ⇝ Example 6 (Continue)</vt:lpstr>
      <vt:lpstr>Method 6 ⇝ Example 6 (Continue)</vt:lpstr>
      <vt:lpstr>Method 7 Cumulative Distribution Function</vt:lpstr>
      <vt:lpstr>Why do we even need a CDF?</vt:lpstr>
      <vt:lpstr>Cumulative Distribution Function(CDF)</vt:lpstr>
      <vt:lpstr>Cumulative Distribution Function for Discrete Random Variable</vt:lpstr>
      <vt:lpstr>Cumulative Distribution Function for Discrete Random Variable</vt:lpstr>
      <vt:lpstr>Example</vt:lpstr>
      <vt:lpstr>Example</vt:lpstr>
      <vt:lpstr>Example</vt:lpstr>
      <vt:lpstr>Example</vt:lpstr>
      <vt:lpstr>Graph of CDF</vt:lpstr>
      <vt:lpstr>Method 7 ⇝ Example 1</vt:lpstr>
      <vt:lpstr>Method 7 ⇝ Example 1 (Continue)</vt:lpstr>
      <vt:lpstr>Cumulative Distribution Function for Continuous Random Variable</vt:lpstr>
      <vt:lpstr>Cumulative Distribution Function for Continuous Random Variable</vt:lpstr>
      <vt:lpstr>Properties</vt:lpstr>
      <vt:lpstr>Properties</vt:lpstr>
      <vt:lpstr>Method 7 ⇝ Example 2</vt:lpstr>
      <vt:lpstr>Method 7 ⇝ Example 2 (Continue)</vt:lpstr>
      <vt:lpstr>Method 7 ⇝ Example 2 (Continue)</vt:lpstr>
      <vt:lpstr>Properties</vt:lpstr>
      <vt:lpstr>Properties</vt:lpstr>
      <vt:lpstr>Method 7 ⇝ Example 3</vt:lpstr>
      <vt:lpstr>Method 7 ⇝ Example 3 (Continue)</vt:lpstr>
      <vt:lpstr>Method 7 ⇝ Example 3 (Continue)</vt:lpstr>
      <vt:lpstr>Method 7 ⇝ Example 3 (Continue)</vt:lpstr>
      <vt:lpstr>Method 7 ⇝ Example 3 (Continue)</vt:lpstr>
      <vt:lpstr>Method 7 ⇝ Example 3 (Continue)</vt:lpstr>
      <vt:lpstr>Method 7 ⇝ Example 3 (Continue)</vt:lpstr>
      <vt:lpstr>Improper Integral</vt:lpstr>
      <vt:lpstr>Improper Integral – Type I</vt:lpstr>
      <vt:lpstr>How to solve Improper Integral – Type I ?</vt:lpstr>
      <vt:lpstr>How to solve Improper Integral – Type I ?</vt:lpstr>
      <vt:lpstr>How to solve Improper Integral – Type I ?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Dhvanik Zala</cp:lastModifiedBy>
  <cp:revision>2043</cp:revision>
  <dcterms:created xsi:type="dcterms:W3CDTF">2020-05-01T05:09:15Z</dcterms:created>
  <dcterms:modified xsi:type="dcterms:W3CDTF">2026-08-06T14:49:09Z</dcterms:modified>
</cp:coreProperties>
</file>