
<file path=[Content_Types].xml><?xml version="1.0" encoding="utf-8"?>
<Types xmlns="http://schemas.openxmlformats.org/package/2006/content-types">
  <Default Extension="png" ContentType="image/png"/>
  <Default Extension="bin" ContentType="image/unknown"/>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19" r:id="rId1"/>
    <p:sldMasterId id="2147483740" r:id="rId2"/>
  </p:sldMasterIdLst>
  <p:notesMasterIdLst>
    <p:notesMasterId r:id="rId118"/>
  </p:notesMasterIdLst>
  <p:sldIdLst>
    <p:sldId id="283" r:id="rId3"/>
    <p:sldId id="292" r:id="rId4"/>
    <p:sldId id="1039" r:id="rId5"/>
    <p:sldId id="821" r:id="rId6"/>
    <p:sldId id="842" r:id="rId7"/>
    <p:sldId id="843" r:id="rId8"/>
    <p:sldId id="845" r:id="rId9"/>
    <p:sldId id="846" r:id="rId10"/>
    <p:sldId id="847" r:id="rId11"/>
    <p:sldId id="848" r:id="rId12"/>
    <p:sldId id="849" r:id="rId13"/>
    <p:sldId id="830" r:id="rId14"/>
    <p:sldId id="831" r:id="rId15"/>
    <p:sldId id="832" r:id="rId16"/>
    <p:sldId id="833" r:id="rId17"/>
    <p:sldId id="834" r:id="rId18"/>
    <p:sldId id="835" r:id="rId19"/>
    <p:sldId id="836" r:id="rId20"/>
    <p:sldId id="837" r:id="rId21"/>
    <p:sldId id="838" r:id="rId22"/>
    <p:sldId id="839" r:id="rId23"/>
    <p:sldId id="840" r:id="rId24"/>
    <p:sldId id="851" r:id="rId25"/>
    <p:sldId id="1040" r:id="rId26"/>
    <p:sldId id="1026" r:id="rId27"/>
    <p:sldId id="1027" r:id="rId28"/>
    <p:sldId id="551" r:id="rId29"/>
    <p:sldId id="552" r:id="rId30"/>
    <p:sldId id="1028" r:id="rId31"/>
    <p:sldId id="407" r:id="rId32"/>
    <p:sldId id="1029" r:id="rId33"/>
    <p:sldId id="408" r:id="rId34"/>
    <p:sldId id="410" r:id="rId35"/>
    <p:sldId id="1030" r:id="rId36"/>
    <p:sldId id="409" r:id="rId37"/>
    <p:sldId id="1021" r:id="rId38"/>
    <p:sldId id="1031" r:id="rId39"/>
    <p:sldId id="1032" r:id="rId40"/>
    <p:sldId id="411" r:id="rId41"/>
    <p:sldId id="1041" r:id="rId42"/>
    <p:sldId id="978" r:id="rId43"/>
    <p:sldId id="1034" r:id="rId44"/>
    <p:sldId id="1035" r:id="rId45"/>
    <p:sldId id="1036" r:id="rId46"/>
    <p:sldId id="983" r:id="rId47"/>
    <p:sldId id="984" r:id="rId48"/>
    <p:sldId id="1037" r:id="rId49"/>
    <p:sldId id="986" r:id="rId50"/>
    <p:sldId id="1042" r:id="rId51"/>
    <p:sldId id="952" r:id="rId52"/>
    <p:sldId id="953" r:id="rId53"/>
    <p:sldId id="954" r:id="rId54"/>
    <p:sldId id="955" r:id="rId55"/>
    <p:sldId id="956" r:id="rId56"/>
    <p:sldId id="957" r:id="rId57"/>
    <p:sldId id="958" r:id="rId58"/>
    <p:sldId id="959" r:id="rId59"/>
    <p:sldId id="960" r:id="rId60"/>
    <p:sldId id="961" r:id="rId61"/>
    <p:sldId id="1019" r:id="rId62"/>
    <p:sldId id="1020" r:id="rId63"/>
    <p:sldId id="1022" r:id="rId64"/>
    <p:sldId id="962" r:id="rId65"/>
    <p:sldId id="963" r:id="rId66"/>
    <p:sldId id="964" r:id="rId67"/>
    <p:sldId id="965" r:id="rId68"/>
    <p:sldId id="966" r:id="rId69"/>
    <p:sldId id="967" r:id="rId70"/>
    <p:sldId id="969" r:id="rId71"/>
    <p:sldId id="970" r:id="rId72"/>
    <p:sldId id="971" r:id="rId73"/>
    <p:sldId id="561" r:id="rId74"/>
    <p:sldId id="1043" r:id="rId75"/>
    <p:sldId id="557" r:id="rId76"/>
    <p:sldId id="979" r:id="rId77"/>
    <p:sldId id="400" r:id="rId78"/>
    <p:sldId id="980" r:id="rId79"/>
    <p:sldId id="981" r:id="rId80"/>
    <p:sldId id="988" r:id="rId81"/>
    <p:sldId id="989" r:id="rId82"/>
    <p:sldId id="991" r:id="rId83"/>
    <p:sldId id="990" r:id="rId84"/>
    <p:sldId id="1000" r:id="rId85"/>
    <p:sldId id="982" r:id="rId86"/>
    <p:sldId id="992" r:id="rId87"/>
    <p:sldId id="993" r:id="rId88"/>
    <p:sldId id="399" r:id="rId89"/>
    <p:sldId id="401" r:id="rId90"/>
    <p:sldId id="985" r:id="rId91"/>
    <p:sldId id="987" r:id="rId92"/>
    <p:sldId id="1046" r:id="rId93"/>
    <p:sldId id="994" r:id="rId94"/>
    <p:sldId id="974" r:id="rId95"/>
    <p:sldId id="975" r:id="rId96"/>
    <p:sldId id="976" r:id="rId97"/>
    <p:sldId id="977" r:id="rId98"/>
    <p:sldId id="1014" r:id="rId99"/>
    <p:sldId id="1015" r:id="rId100"/>
    <p:sldId id="1016" r:id="rId101"/>
    <p:sldId id="1017" r:id="rId102"/>
    <p:sldId id="1018" r:id="rId103"/>
    <p:sldId id="996" r:id="rId104"/>
    <p:sldId id="972" r:id="rId105"/>
    <p:sldId id="1045" r:id="rId106"/>
    <p:sldId id="1004" r:id="rId107"/>
    <p:sldId id="1005" r:id="rId108"/>
    <p:sldId id="1008" r:id="rId109"/>
    <p:sldId id="1006" r:id="rId110"/>
    <p:sldId id="1007" r:id="rId111"/>
    <p:sldId id="1009" r:id="rId112"/>
    <p:sldId id="1010" r:id="rId113"/>
    <p:sldId id="1011" r:id="rId114"/>
    <p:sldId id="1012" r:id="rId115"/>
    <p:sldId id="1013" r:id="rId116"/>
    <p:sldId id="1044" r:id="rId117"/>
  </p:sldIdLst>
  <p:sldSz cx="12192000" cy="6858000"/>
  <p:notesSz cx="6858000" cy="9144000"/>
  <p:embeddedFontLst>
    <p:embeddedFont>
      <p:font typeface="Consolas" panose="020B0609020204030204" pitchFamily="49" charset="0"/>
      <p:regular r:id="rId119"/>
      <p:bold r:id="rId120"/>
      <p:italic r:id="rId121"/>
      <p:boldItalic r:id="rId122"/>
    </p:embeddedFont>
    <p:embeddedFont>
      <p:font typeface="Roboto Condensed" panose="02000000000000000000" pitchFamily="2" charset="0"/>
      <p:regular r:id="rId123"/>
      <p:bold r:id="rId124"/>
      <p:italic r:id="rId125"/>
      <p:boldItalic r:id="rId126"/>
    </p:embeddedFont>
    <p:embeddedFont>
      <p:font typeface="Segoe UI Black" panose="020B0A02040204020203" pitchFamily="34" charset="0"/>
      <p:bold r:id="rId127"/>
      <p:boldItalic r:id="rId128"/>
    </p:embeddedFont>
    <p:embeddedFont>
      <p:font typeface="Wingdings 3" panose="05040102010807070707" pitchFamily="18" charset="2"/>
      <p:regular r:id="rId129"/>
    </p:embeddedFont>
    <p:embeddedFont>
      <p:font typeface="Roboto Condensed Light" panose="02000000000000000000" pitchFamily="2" charset="0"/>
      <p:regular r:id="rId130"/>
      <p:italic r:id="rId131"/>
    </p:embeddedFont>
    <p:embeddedFont>
      <p:font typeface="open sans" panose="020B0604020202020204" charset="0"/>
      <p:regular r:id="rId132"/>
      <p:bold r:id="rId133"/>
      <p:italic r:id="rId134"/>
      <p:boldItalic r:id="rId135"/>
    </p:embeddedFont>
    <p:embeddedFont>
      <p:font typeface="Wingdings 2" panose="05020102010507070707" pitchFamily="18" charset="2"/>
      <p:regular r:id="rId136"/>
    </p:embeddedFont>
    <p:embeddedFont>
      <p:font typeface="Calibri" panose="020F0502020204030204" pitchFamily="34" charset="0"/>
      <p:regular r:id="rId137"/>
      <p:bold r:id="rId138"/>
      <p:italic r:id="rId139"/>
      <p:boldItalic r:id="rId1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e1We5ruaMMdxfgpNb3sc5g==" hashData="ugMolcI7/Mm60B4ryb8CSNSsbFIlQgqMq8ALh6kIEGvmX13Fe3e0BYR7Lhcgo2nB5ZpBARnHvrskNSxb9P+3cw=="/>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xita kagathara" initials="dk" lastIdx="1" clrIdx="0">
    <p:extLst>
      <p:ext uri="{19B8F6BF-5375-455C-9EA6-DF929625EA0E}">
        <p15:presenceInfo xmlns:p15="http://schemas.microsoft.com/office/powerpoint/2012/main" userId="dixita kagathar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47A1"/>
    <a:srgbClr val="D81A60"/>
    <a:srgbClr val="0D4991"/>
    <a:srgbClr val="B71B1C"/>
    <a:srgbClr val="0972C6"/>
    <a:srgbClr val="E8D9F3"/>
    <a:srgbClr val="B686DA"/>
    <a:srgbClr val="300D57"/>
    <a:srgbClr val="EF7DA6"/>
    <a:srgbClr val="301B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50" autoAdjust="0"/>
    <p:restoredTop sz="94660"/>
  </p:normalViewPr>
  <p:slideViewPr>
    <p:cSldViewPr snapToGrid="0">
      <p:cViewPr varScale="1">
        <p:scale>
          <a:sx n="83" d="100"/>
          <a:sy n="83" d="100"/>
        </p:scale>
        <p:origin x="379" y="8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font" Target="fonts/font20.fntdata"/><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font" Target="fonts/font10.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notesMaster" Target="notesMasters/notesMaster1.xml"/><Relationship Id="rId134" Type="http://schemas.openxmlformats.org/officeDocument/2006/relationships/font" Target="fonts/font16.fntdata"/><Relationship Id="rId139" Type="http://schemas.openxmlformats.org/officeDocument/2006/relationships/font" Target="fonts/font21.fnt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font" Target="fonts/font6.fntdata"/><Relationship Id="rId129" Type="http://schemas.openxmlformats.org/officeDocument/2006/relationships/font" Target="fonts/font11.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font" Target="fonts/font22.fntdata"/><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font" Target="fonts/font1.fntdata"/><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font" Target="fonts/font12.fntdata"/><Relationship Id="rId135" Type="http://schemas.openxmlformats.org/officeDocument/2006/relationships/font" Target="fonts/font17.fntdata"/><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font" Target="fonts/font2.fntdata"/><Relationship Id="rId125" Type="http://schemas.openxmlformats.org/officeDocument/2006/relationships/font" Target="fonts/font7.fntdata"/><Relationship Id="rId141"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font" Target="fonts/font13.fntdata"/><Relationship Id="rId136" Type="http://schemas.openxmlformats.org/officeDocument/2006/relationships/font" Target="fonts/font18.fnt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font" Target="fonts/font8.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font" Target="fonts/font3.fntdata"/><Relationship Id="rId142"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font" Target="fonts/font19.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font" Target="fonts/font14.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font" Target="fonts/font9.fntdata"/><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font" Target="fonts/font4.fntdata"/><Relationship Id="rId14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font" Target="fonts/font15.fntdata"/><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font" Target="fonts/font5.fntdata"/><Relationship Id="rId14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A0C08D-EB8C-4769-90D5-CA3C15703B9C}" type="doc">
      <dgm:prSet loTypeId="urn:microsoft.com/office/officeart/2005/8/layout/orgChart1" loCatId="hierarchy" qsTypeId="urn:microsoft.com/office/officeart/2005/8/quickstyle/3d1" qsCatId="3D" csTypeId="urn:microsoft.com/office/officeart/2005/8/colors/colorful3" csCatId="colorful" phldr="1"/>
      <dgm:spPr/>
      <dgm:t>
        <a:bodyPr/>
        <a:lstStyle/>
        <a:p>
          <a:endParaRPr lang="en-US"/>
        </a:p>
      </dgm:t>
    </dgm:pt>
    <dgm:pt modelId="{539386DD-9639-4D7C-8318-087A5C7E9B1F}">
      <dgm:prSet phldrT="[Text]" custT="1"/>
      <dgm:spPr>
        <a:solidFill>
          <a:schemeClr val="accent6">
            <a:lumMod val="60000"/>
            <a:lumOff val="40000"/>
          </a:schemeClr>
        </a:solidFill>
        <a:ln>
          <a:solidFill>
            <a:schemeClr val="accent6">
              <a:lumMod val="75000"/>
            </a:schemeClr>
          </a:solidFill>
        </a:ln>
        <a:effectLst/>
        <a:scene3d>
          <a:camera prst="orthographicFront"/>
          <a:lightRig rig="flat" dir="t"/>
        </a:scene3d>
        <a:sp3d prstMaterial="plastic">
          <a:bevelB w="88900" h="31750" prst="angle"/>
        </a:sp3d>
      </dgm:spPr>
      <dgm:t>
        <a:bodyPr/>
        <a:lstStyle/>
        <a:p>
          <a:r>
            <a:rPr lang="en-US" sz="1900" dirty="0">
              <a:solidFill>
                <a:schemeClr val="tx1"/>
              </a:solidFill>
            </a:rPr>
            <a:t>Types of View</a:t>
          </a:r>
        </a:p>
      </dgm:t>
    </dgm:pt>
    <dgm:pt modelId="{8088D360-C676-4245-94C5-EBE212D7D9F7}" type="parTrans" cxnId="{431E3356-46D2-4311-80CF-8F2934669DDB}">
      <dgm:prSet/>
      <dgm:spPr/>
      <dgm:t>
        <a:bodyPr/>
        <a:lstStyle/>
        <a:p>
          <a:endParaRPr lang="en-US" sz="1900"/>
        </a:p>
      </dgm:t>
    </dgm:pt>
    <dgm:pt modelId="{1560D5AA-B695-4A35-8F2A-CADE29BF2CDE}" type="sibTrans" cxnId="{431E3356-46D2-4311-80CF-8F2934669DDB}">
      <dgm:prSet/>
      <dgm:spPr/>
      <dgm:t>
        <a:bodyPr/>
        <a:lstStyle/>
        <a:p>
          <a:endParaRPr lang="en-US" sz="1900"/>
        </a:p>
      </dgm:t>
    </dgm:pt>
    <dgm:pt modelId="{17591018-E642-4254-8B74-C81BED1E25FD}">
      <dgm:prSet phldrT="[Text]" custT="1"/>
      <dgm:spPr>
        <a:solidFill>
          <a:srgbClr val="6CB5E6">
            <a:alpha val="44000"/>
          </a:srgbClr>
        </a:solidFill>
        <a:ln>
          <a:solidFill>
            <a:schemeClr val="tx2"/>
          </a:solidFill>
        </a:ln>
        <a:effectLst/>
        <a:scene3d>
          <a:camera prst="orthographicFront"/>
          <a:lightRig rig="flat" dir="t"/>
        </a:scene3d>
        <a:sp3d prstMaterial="plastic">
          <a:bevelB w="88900" h="31750" prst="angle"/>
        </a:sp3d>
      </dgm:spPr>
      <dgm:t>
        <a:bodyPr/>
        <a:lstStyle/>
        <a:p>
          <a:r>
            <a:rPr lang="en-US" sz="1900" dirty="0">
              <a:solidFill>
                <a:schemeClr val="tx1"/>
              </a:solidFill>
            </a:rPr>
            <a:t>Simple View</a:t>
          </a:r>
        </a:p>
      </dgm:t>
    </dgm:pt>
    <dgm:pt modelId="{C0DA9596-DA4E-4D75-80DE-6F7340CF7E5E}" type="parTrans" cxnId="{DE32BAC1-9358-47D0-9BDA-92596F5919A4}">
      <dgm:prSet/>
      <dgm:spPr>
        <a:solidFill>
          <a:schemeClr val="tx2">
            <a:lumMod val="40000"/>
            <a:lumOff val="60000"/>
          </a:schemeClr>
        </a:solidFill>
        <a:ln>
          <a:solidFill>
            <a:schemeClr val="tx2">
              <a:alpha val="82000"/>
            </a:schemeClr>
          </a:solidFill>
        </a:ln>
        <a:scene3d>
          <a:camera prst="orthographicFront"/>
          <a:lightRig rig="flat" dir="t"/>
        </a:scene3d>
      </dgm:spPr>
      <dgm:t>
        <a:bodyPr/>
        <a:lstStyle/>
        <a:p>
          <a:endParaRPr lang="en-US" sz="1900"/>
        </a:p>
      </dgm:t>
    </dgm:pt>
    <dgm:pt modelId="{D81B448F-380F-4506-AD5B-1931F9D1A27E}" type="sibTrans" cxnId="{DE32BAC1-9358-47D0-9BDA-92596F5919A4}">
      <dgm:prSet/>
      <dgm:spPr/>
      <dgm:t>
        <a:bodyPr/>
        <a:lstStyle/>
        <a:p>
          <a:endParaRPr lang="en-US" sz="1900"/>
        </a:p>
      </dgm:t>
    </dgm:pt>
    <dgm:pt modelId="{EE4EB127-A6F8-495D-8F0C-A6313C50B29D}">
      <dgm:prSet phldrT="[Text]" custT="1"/>
      <dgm:spPr>
        <a:solidFill>
          <a:srgbClr val="6CB5E6">
            <a:alpha val="44000"/>
          </a:srgbClr>
        </a:solidFill>
        <a:ln>
          <a:solidFill>
            <a:schemeClr val="tx2"/>
          </a:solidFill>
        </a:ln>
        <a:effectLst/>
        <a:scene3d>
          <a:camera prst="orthographicFront"/>
          <a:lightRig rig="flat" dir="t"/>
        </a:scene3d>
        <a:sp3d prstMaterial="plastic">
          <a:bevelB w="88900" h="31750" prst="angle"/>
        </a:sp3d>
      </dgm:spPr>
      <dgm:t>
        <a:bodyPr/>
        <a:lstStyle/>
        <a:p>
          <a:r>
            <a:rPr lang="en-US" sz="1900" dirty="0">
              <a:solidFill>
                <a:schemeClr val="tx1"/>
              </a:solidFill>
            </a:rPr>
            <a:t>Complex View</a:t>
          </a:r>
        </a:p>
      </dgm:t>
    </dgm:pt>
    <dgm:pt modelId="{9AA32AAE-FE65-4F6E-BBCF-C4B2A3388A9B}" type="parTrans" cxnId="{8920EDA8-5FD7-4323-A844-C737B2752B95}">
      <dgm:prSet/>
      <dgm:spPr>
        <a:solidFill>
          <a:schemeClr val="tx2">
            <a:lumMod val="40000"/>
            <a:lumOff val="60000"/>
          </a:schemeClr>
        </a:solidFill>
        <a:ln>
          <a:solidFill>
            <a:schemeClr val="tx2">
              <a:alpha val="82000"/>
            </a:schemeClr>
          </a:solidFill>
        </a:ln>
        <a:scene3d>
          <a:camera prst="orthographicFront"/>
          <a:lightRig rig="flat" dir="t"/>
        </a:scene3d>
      </dgm:spPr>
      <dgm:t>
        <a:bodyPr/>
        <a:lstStyle/>
        <a:p>
          <a:endParaRPr lang="en-US" sz="1900"/>
        </a:p>
      </dgm:t>
    </dgm:pt>
    <dgm:pt modelId="{6412F5D1-D993-42B0-ACAA-CB9A45D484A4}" type="sibTrans" cxnId="{8920EDA8-5FD7-4323-A844-C737B2752B95}">
      <dgm:prSet/>
      <dgm:spPr/>
      <dgm:t>
        <a:bodyPr/>
        <a:lstStyle/>
        <a:p>
          <a:endParaRPr lang="en-US" sz="1900"/>
        </a:p>
      </dgm:t>
    </dgm:pt>
    <dgm:pt modelId="{0AA7A122-E511-4C85-936C-4E2B973A087B}">
      <dgm:prSet custT="1"/>
      <dgm:spPr>
        <a:solidFill>
          <a:schemeClr val="accent3">
            <a:lumMod val="60000"/>
            <a:lumOff val="40000"/>
          </a:schemeClr>
        </a:solidFill>
        <a:ln>
          <a:solidFill>
            <a:schemeClr val="accent3">
              <a:lumMod val="75000"/>
            </a:schemeClr>
          </a:solidFill>
        </a:ln>
        <a:effectLst/>
        <a:scene3d>
          <a:camera prst="orthographicFront"/>
          <a:lightRig rig="flat" dir="t"/>
        </a:scene3d>
        <a:sp3d prstMaterial="plastic">
          <a:bevelB w="88900" h="31750" prst="angle"/>
        </a:sp3d>
      </dgm:spPr>
      <dgm:t>
        <a:bodyPr/>
        <a:lstStyle/>
        <a:p>
          <a:r>
            <a:rPr lang="en-US" sz="1900" dirty="0">
              <a:solidFill>
                <a:schemeClr val="tx1"/>
              </a:solidFill>
            </a:rPr>
            <a:t>When we create a view on a single table</a:t>
          </a:r>
          <a:endParaRPr lang="en-IN" sz="1900" dirty="0">
            <a:solidFill>
              <a:schemeClr val="tx1"/>
            </a:solidFill>
          </a:endParaRPr>
        </a:p>
      </dgm:t>
    </dgm:pt>
    <dgm:pt modelId="{6B458E3D-C2D2-4208-AAD6-98A6B301D192}" type="parTrans" cxnId="{E3870D1D-2EA1-43CE-91F5-048DC722C737}">
      <dgm:prSet/>
      <dgm:spPr>
        <a:solidFill>
          <a:schemeClr val="accent3">
            <a:lumMod val="60000"/>
            <a:lumOff val="40000"/>
          </a:schemeClr>
        </a:solidFill>
        <a:ln>
          <a:solidFill>
            <a:schemeClr val="accent3">
              <a:lumMod val="75000"/>
            </a:schemeClr>
          </a:solidFill>
        </a:ln>
        <a:scene3d>
          <a:camera prst="orthographicFront"/>
          <a:lightRig rig="flat" dir="t"/>
        </a:scene3d>
      </dgm:spPr>
      <dgm:t>
        <a:bodyPr/>
        <a:lstStyle/>
        <a:p>
          <a:endParaRPr lang="en-IN" sz="1900"/>
        </a:p>
      </dgm:t>
    </dgm:pt>
    <dgm:pt modelId="{362C6C7F-1FFD-4665-9615-E9B538D89364}" type="sibTrans" cxnId="{E3870D1D-2EA1-43CE-91F5-048DC722C737}">
      <dgm:prSet/>
      <dgm:spPr/>
      <dgm:t>
        <a:bodyPr/>
        <a:lstStyle/>
        <a:p>
          <a:endParaRPr lang="en-IN" sz="1900"/>
        </a:p>
      </dgm:t>
    </dgm:pt>
    <dgm:pt modelId="{3D1CEB49-018C-4988-931A-0518B9834D0D}">
      <dgm:prSet custT="1"/>
      <dgm:spPr>
        <a:solidFill>
          <a:schemeClr val="accent3">
            <a:lumMod val="60000"/>
            <a:lumOff val="40000"/>
          </a:schemeClr>
        </a:solidFill>
        <a:ln>
          <a:solidFill>
            <a:schemeClr val="accent3">
              <a:lumMod val="75000"/>
            </a:schemeClr>
          </a:solidFill>
        </a:ln>
        <a:effectLst/>
        <a:scene3d>
          <a:camera prst="orthographicFront"/>
          <a:lightRig rig="flat" dir="t"/>
        </a:scene3d>
        <a:sp3d prstMaterial="plastic">
          <a:bevelB w="88900" h="31750" prst="angle"/>
        </a:sp3d>
      </dgm:spPr>
      <dgm:t>
        <a:bodyPr/>
        <a:lstStyle/>
        <a:p>
          <a:r>
            <a:rPr lang="en-US" sz="1900" dirty="0">
              <a:solidFill>
                <a:schemeClr val="tx1"/>
              </a:solidFill>
            </a:rPr>
            <a:t>When we create a view on more than one table</a:t>
          </a:r>
          <a:endParaRPr lang="en-IN" sz="1900" dirty="0">
            <a:solidFill>
              <a:schemeClr val="tx1"/>
            </a:solidFill>
          </a:endParaRPr>
        </a:p>
      </dgm:t>
    </dgm:pt>
    <dgm:pt modelId="{0F27523B-9921-4B46-A7D4-CD31B448D9F3}" type="parTrans" cxnId="{3257BBBD-B2E0-4406-A558-EBB42AF2F9B5}">
      <dgm:prSet/>
      <dgm:spPr>
        <a:solidFill>
          <a:schemeClr val="accent3">
            <a:lumMod val="60000"/>
            <a:lumOff val="40000"/>
          </a:schemeClr>
        </a:solidFill>
        <a:ln>
          <a:solidFill>
            <a:schemeClr val="accent3">
              <a:lumMod val="75000"/>
            </a:schemeClr>
          </a:solidFill>
        </a:ln>
        <a:scene3d>
          <a:camera prst="orthographicFront"/>
          <a:lightRig rig="flat" dir="t"/>
        </a:scene3d>
      </dgm:spPr>
      <dgm:t>
        <a:bodyPr/>
        <a:lstStyle/>
        <a:p>
          <a:endParaRPr lang="en-IN" sz="1900"/>
        </a:p>
      </dgm:t>
    </dgm:pt>
    <dgm:pt modelId="{601F2771-EB7D-4EAA-BECF-622FEF27868D}" type="sibTrans" cxnId="{3257BBBD-B2E0-4406-A558-EBB42AF2F9B5}">
      <dgm:prSet/>
      <dgm:spPr/>
      <dgm:t>
        <a:bodyPr/>
        <a:lstStyle/>
        <a:p>
          <a:endParaRPr lang="en-IN" sz="1900"/>
        </a:p>
      </dgm:t>
    </dgm:pt>
    <dgm:pt modelId="{27E4E3AC-7EF2-4B00-BB27-1427FC52C3F6}" type="pres">
      <dgm:prSet presAssocID="{E0A0C08D-EB8C-4769-90D5-CA3C15703B9C}" presName="hierChild1" presStyleCnt="0">
        <dgm:presLayoutVars>
          <dgm:orgChart val="1"/>
          <dgm:chPref val="1"/>
          <dgm:dir/>
          <dgm:animOne val="branch"/>
          <dgm:animLvl val="lvl"/>
          <dgm:resizeHandles/>
        </dgm:presLayoutVars>
      </dgm:prSet>
      <dgm:spPr/>
      <dgm:t>
        <a:bodyPr/>
        <a:lstStyle/>
        <a:p>
          <a:endParaRPr lang="en-US"/>
        </a:p>
      </dgm:t>
    </dgm:pt>
    <dgm:pt modelId="{F5624DC8-3E53-4C8B-A97D-7D450DA5D23D}" type="pres">
      <dgm:prSet presAssocID="{539386DD-9639-4D7C-8318-087A5C7E9B1F}" presName="hierRoot1" presStyleCnt="0">
        <dgm:presLayoutVars>
          <dgm:hierBranch val="init"/>
        </dgm:presLayoutVars>
      </dgm:prSet>
      <dgm:spPr/>
    </dgm:pt>
    <dgm:pt modelId="{4CF45C5F-D945-40FC-A23D-4C91C8A4F31E}" type="pres">
      <dgm:prSet presAssocID="{539386DD-9639-4D7C-8318-087A5C7E9B1F}" presName="rootComposite1" presStyleCnt="0"/>
      <dgm:spPr/>
    </dgm:pt>
    <dgm:pt modelId="{71E6D025-8110-4342-B884-B9AA94376600}" type="pres">
      <dgm:prSet presAssocID="{539386DD-9639-4D7C-8318-087A5C7E9B1F}" presName="rootText1" presStyleLbl="node0" presStyleIdx="0" presStyleCnt="1" custScaleX="75383" custScaleY="31908" custLinFactNeighborX="23187" custLinFactNeighborY="-219">
        <dgm:presLayoutVars>
          <dgm:chPref val="3"/>
        </dgm:presLayoutVars>
      </dgm:prSet>
      <dgm:spPr/>
      <dgm:t>
        <a:bodyPr/>
        <a:lstStyle/>
        <a:p>
          <a:endParaRPr lang="en-US"/>
        </a:p>
      </dgm:t>
    </dgm:pt>
    <dgm:pt modelId="{D9E65A8B-1D6F-4534-8338-2FC79FE046E7}" type="pres">
      <dgm:prSet presAssocID="{539386DD-9639-4D7C-8318-087A5C7E9B1F}" presName="rootConnector1" presStyleLbl="node1" presStyleIdx="0" presStyleCnt="0"/>
      <dgm:spPr/>
      <dgm:t>
        <a:bodyPr/>
        <a:lstStyle/>
        <a:p>
          <a:endParaRPr lang="en-US"/>
        </a:p>
      </dgm:t>
    </dgm:pt>
    <dgm:pt modelId="{A9449A16-F807-45F8-9E7A-5FB1D10D912F}" type="pres">
      <dgm:prSet presAssocID="{539386DD-9639-4D7C-8318-087A5C7E9B1F}" presName="hierChild2" presStyleCnt="0"/>
      <dgm:spPr/>
    </dgm:pt>
    <dgm:pt modelId="{C7D7DD72-2165-489B-A2ED-5679FDD93B2C}" type="pres">
      <dgm:prSet presAssocID="{C0DA9596-DA4E-4D75-80DE-6F7340CF7E5E}" presName="Name37" presStyleLbl="parChTrans1D2" presStyleIdx="0" presStyleCnt="2" custSzY="579600"/>
      <dgm:spPr/>
      <dgm:t>
        <a:bodyPr/>
        <a:lstStyle/>
        <a:p>
          <a:endParaRPr lang="en-US"/>
        </a:p>
      </dgm:t>
    </dgm:pt>
    <dgm:pt modelId="{A37B168E-B53B-4A76-9085-7527D88953AA}" type="pres">
      <dgm:prSet presAssocID="{17591018-E642-4254-8B74-C81BED1E25FD}" presName="hierRoot2" presStyleCnt="0">
        <dgm:presLayoutVars>
          <dgm:hierBranch val="init"/>
        </dgm:presLayoutVars>
      </dgm:prSet>
      <dgm:spPr/>
    </dgm:pt>
    <dgm:pt modelId="{81B682DD-B3B8-44D9-AD22-1663B53622F3}" type="pres">
      <dgm:prSet presAssocID="{17591018-E642-4254-8B74-C81BED1E25FD}" presName="rootComposite" presStyleCnt="0"/>
      <dgm:spPr/>
    </dgm:pt>
    <dgm:pt modelId="{200A4A31-4F6B-4EAD-8F1A-CD765DFBF62F}" type="pres">
      <dgm:prSet presAssocID="{17591018-E642-4254-8B74-C81BED1E25FD}" presName="rootText" presStyleLbl="node2" presStyleIdx="0" presStyleCnt="2" custScaleX="59208" custScaleY="28597" custLinFactNeighborX="26790">
        <dgm:presLayoutVars>
          <dgm:chPref val="3"/>
        </dgm:presLayoutVars>
      </dgm:prSet>
      <dgm:spPr/>
      <dgm:t>
        <a:bodyPr/>
        <a:lstStyle/>
        <a:p>
          <a:endParaRPr lang="en-US"/>
        </a:p>
      </dgm:t>
    </dgm:pt>
    <dgm:pt modelId="{375385C8-9C66-44F3-9E73-A0743BCD5BA1}" type="pres">
      <dgm:prSet presAssocID="{17591018-E642-4254-8B74-C81BED1E25FD}" presName="rootConnector" presStyleLbl="node2" presStyleIdx="0" presStyleCnt="2"/>
      <dgm:spPr/>
      <dgm:t>
        <a:bodyPr/>
        <a:lstStyle/>
        <a:p>
          <a:endParaRPr lang="en-US"/>
        </a:p>
      </dgm:t>
    </dgm:pt>
    <dgm:pt modelId="{5EAD4426-6791-4AFB-A08D-77C5D9A43733}" type="pres">
      <dgm:prSet presAssocID="{17591018-E642-4254-8B74-C81BED1E25FD}" presName="hierChild4" presStyleCnt="0"/>
      <dgm:spPr/>
    </dgm:pt>
    <dgm:pt modelId="{B5BA1634-CBBB-4126-ADAA-F3EEEB85D6AC}" type="pres">
      <dgm:prSet presAssocID="{6B458E3D-C2D2-4208-AAD6-98A6B301D192}" presName="Name37" presStyleLbl="parChTrans1D3" presStyleIdx="0" presStyleCnt="2" custSzY="579600"/>
      <dgm:spPr/>
      <dgm:t>
        <a:bodyPr/>
        <a:lstStyle/>
        <a:p>
          <a:endParaRPr lang="en-US"/>
        </a:p>
      </dgm:t>
    </dgm:pt>
    <dgm:pt modelId="{E20FB949-B497-45AA-A173-FDD52B0886BA}" type="pres">
      <dgm:prSet presAssocID="{0AA7A122-E511-4C85-936C-4E2B973A087B}" presName="hierRoot2" presStyleCnt="0">
        <dgm:presLayoutVars>
          <dgm:hierBranch val="init"/>
        </dgm:presLayoutVars>
      </dgm:prSet>
      <dgm:spPr/>
    </dgm:pt>
    <dgm:pt modelId="{E8B6F30F-9E4C-47B1-A1A7-B2FA7F1141A3}" type="pres">
      <dgm:prSet presAssocID="{0AA7A122-E511-4C85-936C-4E2B973A087B}" presName="rootComposite" presStyleCnt="0"/>
      <dgm:spPr/>
    </dgm:pt>
    <dgm:pt modelId="{18AB2D9B-EAF6-492A-9F80-DD99F5C3840B}" type="pres">
      <dgm:prSet presAssocID="{0AA7A122-E511-4C85-936C-4E2B973A087B}" presName="rootText" presStyleLbl="node3" presStyleIdx="0" presStyleCnt="2" custScaleX="52779" custScaleY="63548" custLinFactNeighborX="22708" custLinFactNeighborY="-13424">
        <dgm:presLayoutVars>
          <dgm:chPref val="3"/>
        </dgm:presLayoutVars>
      </dgm:prSet>
      <dgm:spPr/>
      <dgm:t>
        <a:bodyPr/>
        <a:lstStyle/>
        <a:p>
          <a:endParaRPr lang="en-US"/>
        </a:p>
      </dgm:t>
    </dgm:pt>
    <dgm:pt modelId="{83BD59B4-17EE-42F7-AAC3-8ED480373AB7}" type="pres">
      <dgm:prSet presAssocID="{0AA7A122-E511-4C85-936C-4E2B973A087B}" presName="rootConnector" presStyleLbl="node3" presStyleIdx="0" presStyleCnt="2"/>
      <dgm:spPr/>
      <dgm:t>
        <a:bodyPr/>
        <a:lstStyle/>
        <a:p>
          <a:endParaRPr lang="en-US"/>
        </a:p>
      </dgm:t>
    </dgm:pt>
    <dgm:pt modelId="{17C90664-5CE2-456F-B19A-F6EF0A4749C4}" type="pres">
      <dgm:prSet presAssocID="{0AA7A122-E511-4C85-936C-4E2B973A087B}" presName="hierChild4" presStyleCnt="0"/>
      <dgm:spPr/>
    </dgm:pt>
    <dgm:pt modelId="{50E8E805-6D8F-4549-88A8-F12A168897E6}" type="pres">
      <dgm:prSet presAssocID="{0AA7A122-E511-4C85-936C-4E2B973A087B}" presName="hierChild5" presStyleCnt="0"/>
      <dgm:spPr/>
    </dgm:pt>
    <dgm:pt modelId="{AE821415-8027-4252-8DB3-5825AEA662AA}" type="pres">
      <dgm:prSet presAssocID="{17591018-E642-4254-8B74-C81BED1E25FD}" presName="hierChild5" presStyleCnt="0"/>
      <dgm:spPr/>
    </dgm:pt>
    <dgm:pt modelId="{7600C79C-2F4D-4CEF-B5C8-1C6658ADA8B8}" type="pres">
      <dgm:prSet presAssocID="{9AA32AAE-FE65-4F6E-BBCF-C4B2A3388A9B}" presName="Name37" presStyleLbl="parChTrans1D2" presStyleIdx="1" presStyleCnt="2" custSzY="579600"/>
      <dgm:spPr/>
      <dgm:t>
        <a:bodyPr/>
        <a:lstStyle/>
        <a:p>
          <a:endParaRPr lang="en-US"/>
        </a:p>
      </dgm:t>
    </dgm:pt>
    <dgm:pt modelId="{532E1075-5DC9-4256-BCEF-04AECB764DBA}" type="pres">
      <dgm:prSet presAssocID="{EE4EB127-A6F8-495D-8F0C-A6313C50B29D}" presName="hierRoot2" presStyleCnt="0">
        <dgm:presLayoutVars>
          <dgm:hierBranch val="init"/>
        </dgm:presLayoutVars>
      </dgm:prSet>
      <dgm:spPr/>
    </dgm:pt>
    <dgm:pt modelId="{3690C105-C2B9-4D70-8344-E6D9F107DE11}" type="pres">
      <dgm:prSet presAssocID="{EE4EB127-A6F8-495D-8F0C-A6313C50B29D}" presName="rootComposite" presStyleCnt="0"/>
      <dgm:spPr/>
    </dgm:pt>
    <dgm:pt modelId="{DD7B4604-2C93-4058-BE6E-CAB99816B53E}" type="pres">
      <dgm:prSet presAssocID="{EE4EB127-A6F8-495D-8F0C-A6313C50B29D}" presName="rootText" presStyleLbl="node2" presStyleIdx="1" presStyleCnt="2" custScaleX="55257" custScaleY="29008" custLinFactNeighborX="19584">
        <dgm:presLayoutVars>
          <dgm:chPref val="3"/>
        </dgm:presLayoutVars>
      </dgm:prSet>
      <dgm:spPr/>
      <dgm:t>
        <a:bodyPr/>
        <a:lstStyle/>
        <a:p>
          <a:endParaRPr lang="en-US"/>
        </a:p>
      </dgm:t>
    </dgm:pt>
    <dgm:pt modelId="{3ED6CB1A-2ACD-4626-B6B7-D85C1EC1BD5C}" type="pres">
      <dgm:prSet presAssocID="{EE4EB127-A6F8-495D-8F0C-A6313C50B29D}" presName="rootConnector" presStyleLbl="node2" presStyleIdx="1" presStyleCnt="2"/>
      <dgm:spPr/>
      <dgm:t>
        <a:bodyPr/>
        <a:lstStyle/>
        <a:p>
          <a:endParaRPr lang="en-US"/>
        </a:p>
      </dgm:t>
    </dgm:pt>
    <dgm:pt modelId="{7899DFEA-3352-4296-A5FF-A790ED55EFF4}" type="pres">
      <dgm:prSet presAssocID="{EE4EB127-A6F8-495D-8F0C-A6313C50B29D}" presName="hierChild4" presStyleCnt="0"/>
      <dgm:spPr/>
    </dgm:pt>
    <dgm:pt modelId="{D1751498-47B5-455C-A570-D8F86548E0E5}" type="pres">
      <dgm:prSet presAssocID="{0F27523B-9921-4B46-A7D4-CD31B448D9F3}" presName="Name37" presStyleLbl="parChTrans1D3" presStyleIdx="1" presStyleCnt="2" custSzY="579600"/>
      <dgm:spPr/>
      <dgm:t>
        <a:bodyPr/>
        <a:lstStyle/>
        <a:p>
          <a:endParaRPr lang="en-US"/>
        </a:p>
      </dgm:t>
    </dgm:pt>
    <dgm:pt modelId="{F8955B15-BD11-4E7D-AA1B-D3BB53094037}" type="pres">
      <dgm:prSet presAssocID="{3D1CEB49-018C-4988-931A-0518B9834D0D}" presName="hierRoot2" presStyleCnt="0">
        <dgm:presLayoutVars>
          <dgm:hierBranch val="init"/>
        </dgm:presLayoutVars>
      </dgm:prSet>
      <dgm:spPr/>
    </dgm:pt>
    <dgm:pt modelId="{9907B9B3-E5A9-4017-9F91-21C12A4D3D05}" type="pres">
      <dgm:prSet presAssocID="{3D1CEB49-018C-4988-931A-0518B9834D0D}" presName="rootComposite" presStyleCnt="0"/>
      <dgm:spPr/>
    </dgm:pt>
    <dgm:pt modelId="{8D9B2EEA-C805-45BF-A2C5-9003451E2E08}" type="pres">
      <dgm:prSet presAssocID="{3D1CEB49-018C-4988-931A-0518B9834D0D}" presName="rootText" presStyleLbl="node3" presStyleIdx="1" presStyleCnt="2" custScaleX="54746" custScaleY="63548" custLinFactNeighborX="16502" custLinFactNeighborY="-14390">
        <dgm:presLayoutVars>
          <dgm:chPref val="3"/>
        </dgm:presLayoutVars>
      </dgm:prSet>
      <dgm:spPr/>
      <dgm:t>
        <a:bodyPr/>
        <a:lstStyle/>
        <a:p>
          <a:endParaRPr lang="en-US"/>
        </a:p>
      </dgm:t>
    </dgm:pt>
    <dgm:pt modelId="{B7C25768-B8D5-4EB0-BAEB-FE6CEDDE5E55}" type="pres">
      <dgm:prSet presAssocID="{3D1CEB49-018C-4988-931A-0518B9834D0D}" presName="rootConnector" presStyleLbl="node3" presStyleIdx="1" presStyleCnt="2"/>
      <dgm:spPr/>
      <dgm:t>
        <a:bodyPr/>
        <a:lstStyle/>
        <a:p>
          <a:endParaRPr lang="en-US"/>
        </a:p>
      </dgm:t>
    </dgm:pt>
    <dgm:pt modelId="{41F5983B-1038-486B-9A18-0A84B3F99400}" type="pres">
      <dgm:prSet presAssocID="{3D1CEB49-018C-4988-931A-0518B9834D0D}" presName="hierChild4" presStyleCnt="0"/>
      <dgm:spPr/>
    </dgm:pt>
    <dgm:pt modelId="{4E6DC011-E485-4584-9C2D-B5D8D5EACECA}" type="pres">
      <dgm:prSet presAssocID="{3D1CEB49-018C-4988-931A-0518B9834D0D}" presName="hierChild5" presStyleCnt="0"/>
      <dgm:spPr/>
    </dgm:pt>
    <dgm:pt modelId="{63D925A0-6A82-45EF-8BA8-FA1A105ECB1A}" type="pres">
      <dgm:prSet presAssocID="{EE4EB127-A6F8-495D-8F0C-A6313C50B29D}" presName="hierChild5" presStyleCnt="0"/>
      <dgm:spPr/>
    </dgm:pt>
    <dgm:pt modelId="{00794B66-2285-443D-95F9-0B4E58300F2D}" type="pres">
      <dgm:prSet presAssocID="{539386DD-9639-4D7C-8318-087A5C7E9B1F}" presName="hierChild3" presStyleCnt="0"/>
      <dgm:spPr/>
    </dgm:pt>
  </dgm:ptLst>
  <dgm:cxnLst>
    <dgm:cxn modelId="{431E3356-46D2-4311-80CF-8F2934669DDB}" srcId="{E0A0C08D-EB8C-4769-90D5-CA3C15703B9C}" destId="{539386DD-9639-4D7C-8318-087A5C7E9B1F}" srcOrd="0" destOrd="0" parTransId="{8088D360-C676-4245-94C5-EBE212D7D9F7}" sibTransId="{1560D5AA-B695-4A35-8F2A-CADE29BF2CDE}"/>
    <dgm:cxn modelId="{8920EDA8-5FD7-4323-A844-C737B2752B95}" srcId="{539386DD-9639-4D7C-8318-087A5C7E9B1F}" destId="{EE4EB127-A6F8-495D-8F0C-A6313C50B29D}" srcOrd="1" destOrd="0" parTransId="{9AA32AAE-FE65-4F6E-BBCF-C4B2A3388A9B}" sibTransId="{6412F5D1-D993-42B0-ACAA-CB9A45D484A4}"/>
    <dgm:cxn modelId="{952B8786-7B75-4E32-8D68-1F7142769FA2}" type="presOf" srcId="{9AA32AAE-FE65-4F6E-BBCF-C4B2A3388A9B}" destId="{7600C79C-2F4D-4CEF-B5C8-1C6658ADA8B8}" srcOrd="0" destOrd="0" presId="urn:microsoft.com/office/officeart/2005/8/layout/orgChart1"/>
    <dgm:cxn modelId="{B53D6F26-BFF1-47AB-A3C4-E8299E98EAA0}" type="presOf" srcId="{E0A0C08D-EB8C-4769-90D5-CA3C15703B9C}" destId="{27E4E3AC-7EF2-4B00-BB27-1427FC52C3F6}" srcOrd="0" destOrd="0" presId="urn:microsoft.com/office/officeart/2005/8/layout/orgChart1"/>
    <dgm:cxn modelId="{8AB2ABAA-75B4-4B13-AB53-0D24E382BFD2}" type="presOf" srcId="{3D1CEB49-018C-4988-931A-0518B9834D0D}" destId="{8D9B2EEA-C805-45BF-A2C5-9003451E2E08}" srcOrd="0" destOrd="0" presId="urn:microsoft.com/office/officeart/2005/8/layout/orgChart1"/>
    <dgm:cxn modelId="{8A2729D7-D637-4FC1-B6BB-FDA5C44A59A3}" type="presOf" srcId="{6B458E3D-C2D2-4208-AAD6-98A6B301D192}" destId="{B5BA1634-CBBB-4126-ADAA-F3EEEB85D6AC}" srcOrd="0" destOrd="0" presId="urn:microsoft.com/office/officeart/2005/8/layout/orgChart1"/>
    <dgm:cxn modelId="{68F31E88-3AF7-4876-9869-8F4EDA017A2E}" type="presOf" srcId="{0AA7A122-E511-4C85-936C-4E2B973A087B}" destId="{18AB2D9B-EAF6-492A-9F80-DD99F5C3840B}" srcOrd="0" destOrd="0" presId="urn:microsoft.com/office/officeart/2005/8/layout/orgChart1"/>
    <dgm:cxn modelId="{196E8BDF-6BBB-4570-B61D-F5D12D5F4E07}" type="presOf" srcId="{0AA7A122-E511-4C85-936C-4E2B973A087B}" destId="{83BD59B4-17EE-42F7-AAC3-8ED480373AB7}" srcOrd="1" destOrd="0" presId="urn:microsoft.com/office/officeart/2005/8/layout/orgChart1"/>
    <dgm:cxn modelId="{E3870D1D-2EA1-43CE-91F5-048DC722C737}" srcId="{17591018-E642-4254-8B74-C81BED1E25FD}" destId="{0AA7A122-E511-4C85-936C-4E2B973A087B}" srcOrd="0" destOrd="0" parTransId="{6B458E3D-C2D2-4208-AAD6-98A6B301D192}" sibTransId="{362C6C7F-1FFD-4665-9615-E9B538D89364}"/>
    <dgm:cxn modelId="{EB90997A-9970-4398-9E71-1FA935CAD79F}" type="presOf" srcId="{EE4EB127-A6F8-495D-8F0C-A6313C50B29D}" destId="{3ED6CB1A-2ACD-4626-B6B7-D85C1EC1BD5C}" srcOrd="1" destOrd="0" presId="urn:microsoft.com/office/officeart/2005/8/layout/orgChart1"/>
    <dgm:cxn modelId="{3257BBBD-B2E0-4406-A558-EBB42AF2F9B5}" srcId="{EE4EB127-A6F8-495D-8F0C-A6313C50B29D}" destId="{3D1CEB49-018C-4988-931A-0518B9834D0D}" srcOrd="0" destOrd="0" parTransId="{0F27523B-9921-4B46-A7D4-CD31B448D9F3}" sibTransId="{601F2771-EB7D-4EAA-BECF-622FEF27868D}"/>
    <dgm:cxn modelId="{98F91096-035C-4455-81F6-2E13B1CB4048}" type="presOf" srcId="{17591018-E642-4254-8B74-C81BED1E25FD}" destId="{375385C8-9C66-44F3-9E73-A0743BCD5BA1}" srcOrd="1" destOrd="0" presId="urn:microsoft.com/office/officeart/2005/8/layout/orgChart1"/>
    <dgm:cxn modelId="{8F673790-B515-47DE-8FEC-F9CF812C7449}" type="presOf" srcId="{3D1CEB49-018C-4988-931A-0518B9834D0D}" destId="{B7C25768-B8D5-4EB0-BAEB-FE6CEDDE5E55}" srcOrd="1" destOrd="0" presId="urn:microsoft.com/office/officeart/2005/8/layout/orgChart1"/>
    <dgm:cxn modelId="{3952EAC5-732D-4986-9EF9-8983BF08C542}" type="presOf" srcId="{17591018-E642-4254-8B74-C81BED1E25FD}" destId="{200A4A31-4F6B-4EAD-8F1A-CD765DFBF62F}" srcOrd="0" destOrd="0" presId="urn:microsoft.com/office/officeart/2005/8/layout/orgChart1"/>
    <dgm:cxn modelId="{9DA0ABD8-DEA8-4472-8F8E-F678D3E6EB2C}" type="presOf" srcId="{0F27523B-9921-4B46-A7D4-CD31B448D9F3}" destId="{D1751498-47B5-455C-A570-D8F86548E0E5}" srcOrd="0" destOrd="0" presId="urn:microsoft.com/office/officeart/2005/8/layout/orgChart1"/>
    <dgm:cxn modelId="{21D1B24A-221D-4C5E-853B-2BC1C8723B6C}" type="presOf" srcId="{539386DD-9639-4D7C-8318-087A5C7E9B1F}" destId="{71E6D025-8110-4342-B884-B9AA94376600}" srcOrd="0" destOrd="0" presId="urn:microsoft.com/office/officeart/2005/8/layout/orgChart1"/>
    <dgm:cxn modelId="{DE32BAC1-9358-47D0-9BDA-92596F5919A4}" srcId="{539386DD-9639-4D7C-8318-087A5C7E9B1F}" destId="{17591018-E642-4254-8B74-C81BED1E25FD}" srcOrd="0" destOrd="0" parTransId="{C0DA9596-DA4E-4D75-80DE-6F7340CF7E5E}" sibTransId="{D81B448F-380F-4506-AD5B-1931F9D1A27E}"/>
    <dgm:cxn modelId="{885B0CBA-7D18-4BA8-BB49-BADD4FB42D1F}" type="presOf" srcId="{C0DA9596-DA4E-4D75-80DE-6F7340CF7E5E}" destId="{C7D7DD72-2165-489B-A2ED-5679FDD93B2C}" srcOrd="0" destOrd="0" presId="urn:microsoft.com/office/officeart/2005/8/layout/orgChart1"/>
    <dgm:cxn modelId="{719A731C-4A82-4081-BA6C-CA61FD1A6E33}" type="presOf" srcId="{EE4EB127-A6F8-495D-8F0C-A6313C50B29D}" destId="{DD7B4604-2C93-4058-BE6E-CAB99816B53E}" srcOrd="0" destOrd="0" presId="urn:microsoft.com/office/officeart/2005/8/layout/orgChart1"/>
    <dgm:cxn modelId="{834D4AC8-A3A3-4876-806A-D1C96E44E010}" type="presOf" srcId="{539386DD-9639-4D7C-8318-087A5C7E9B1F}" destId="{D9E65A8B-1D6F-4534-8338-2FC79FE046E7}" srcOrd="1" destOrd="0" presId="urn:microsoft.com/office/officeart/2005/8/layout/orgChart1"/>
    <dgm:cxn modelId="{A2E15FFE-BBC3-4CC3-BB20-CF0D46CEA5B1}" type="presParOf" srcId="{27E4E3AC-7EF2-4B00-BB27-1427FC52C3F6}" destId="{F5624DC8-3E53-4C8B-A97D-7D450DA5D23D}" srcOrd="0" destOrd="0" presId="urn:microsoft.com/office/officeart/2005/8/layout/orgChart1"/>
    <dgm:cxn modelId="{0243A637-84A5-4F75-8A2D-395F4D18D606}" type="presParOf" srcId="{F5624DC8-3E53-4C8B-A97D-7D450DA5D23D}" destId="{4CF45C5F-D945-40FC-A23D-4C91C8A4F31E}" srcOrd="0" destOrd="0" presId="urn:microsoft.com/office/officeart/2005/8/layout/orgChart1"/>
    <dgm:cxn modelId="{869F75F9-7383-4D80-924E-404CE9DF37EF}" type="presParOf" srcId="{4CF45C5F-D945-40FC-A23D-4C91C8A4F31E}" destId="{71E6D025-8110-4342-B884-B9AA94376600}" srcOrd="0" destOrd="0" presId="urn:microsoft.com/office/officeart/2005/8/layout/orgChart1"/>
    <dgm:cxn modelId="{5E84BA02-2AFD-4FDD-A542-DE107C65D564}" type="presParOf" srcId="{4CF45C5F-D945-40FC-A23D-4C91C8A4F31E}" destId="{D9E65A8B-1D6F-4534-8338-2FC79FE046E7}" srcOrd="1" destOrd="0" presId="urn:microsoft.com/office/officeart/2005/8/layout/orgChart1"/>
    <dgm:cxn modelId="{728080C1-7958-45CC-92FC-EF0D72A1214D}" type="presParOf" srcId="{F5624DC8-3E53-4C8B-A97D-7D450DA5D23D}" destId="{A9449A16-F807-45F8-9E7A-5FB1D10D912F}" srcOrd="1" destOrd="0" presId="urn:microsoft.com/office/officeart/2005/8/layout/orgChart1"/>
    <dgm:cxn modelId="{5196173A-5FB5-40E1-A0A6-45DAFB938AFE}" type="presParOf" srcId="{A9449A16-F807-45F8-9E7A-5FB1D10D912F}" destId="{C7D7DD72-2165-489B-A2ED-5679FDD93B2C}" srcOrd="0" destOrd="0" presId="urn:microsoft.com/office/officeart/2005/8/layout/orgChart1"/>
    <dgm:cxn modelId="{BAF853CB-4780-434D-A9DC-1AE84140BAB6}" type="presParOf" srcId="{A9449A16-F807-45F8-9E7A-5FB1D10D912F}" destId="{A37B168E-B53B-4A76-9085-7527D88953AA}" srcOrd="1" destOrd="0" presId="urn:microsoft.com/office/officeart/2005/8/layout/orgChart1"/>
    <dgm:cxn modelId="{3B0FE007-005D-47F2-908E-86DCB986E148}" type="presParOf" srcId="{A37B168E-B53B-4A76-9085-7527D88953AA}" destId="{81B682DD-B3B8-44D9-AD22-1663B53622F3}" srcOrd="0" destOrd="0" presId="urn:microsoft.com/office/officeart/2005/8/layout/orgChart1"/>
    <dgm:cxn modelId="{D486994F-2F5B-4F21-B698-30458CF1A238}" type="presParOf" srcId="{81B682DD-B3B8-44D9-AD22-1663B53622F3}" destId="{200A4A31-4F6B-4EAD-8F1A-CD765DFBF62F}" srcOrd="0" destOrd="0" presId="urn:microsoft.com/office/officeart/2005/8/layout/orgChart1"/>
    <dgm:cxn modelId="{EF84BCCD-F794-485E-A25E-27CC859E76CD}" type="presParOf" srcId="{81B682DD-B3B8-44D9-AD22-1663B53622F3}" destId="{375385C8-9C66-44F3-9E73-A0743BCD5BA1}" srcOrd="1" destOrd="0" presId="urn:microsoft.com/office/officeart/2005/8/layout/orgChart1"/>
    <dgm:cxn modelId="{5532092E-507F-4EE1-94D8-81F3BAF22AA4}" type="presParOf" srcId="{A37B168E-B53B-4A76-9085-7527D88953AA}" destId="{5EAD4426-6791-4AFB-A08D-77C5D9A43733}" srcOrd="1" destOrd="0" presId="urn:microsoft.com/office/officeart/2005/8/layout/orgChart1"/>
    <dgm:cxn modelId="{77E281E4-1DB4-4AB1-A3B8-A037EA473705}" type="presParOf" srcId="{5EAD4426-6791-4AFB-A08D-77C5D9A43733}" destId="{B5BA1634-CBBB-4126-ADAA-F3EEEB85D6AC}" srcOrd="0" destOrd="0" presId="urn:microsoft.com/office/officeart/2005/8/layout/orgChart1"/>
    <dgm:cxn modelId="{F8BDC509-D76A-4874-97F9-D54641A8C921}" type="presParOf" srcId="{5EAD4426-6791-4AFB-A08D-77C5D9A43733}" destId="{E20FB949-B497-45AA-A173-FDD52B0886BA}" srcOrd="1" destOrd="0" presId="urn:microsoft.com/office/officeart/2005/8/layout/orgChart1"/>
    <dgm:cxn modelId="{4E51D856-92EB-4759-A82C-CA090CCA51B1}" type="presParOf" srcId="{E20FB949-B497-45AA-A173-FDD52B0886BA}" destId="{E8B6F30F-9E4C-47B1-A1A7-B2FA7F1141A3}" srcOrd="0" destOrd="0" presId="urn:microsoft.com/office/officeart/2005/8/layout/orgChart1"/>
    <dgm:cxn modelId="{7DDDF9BC-BA85-4E07-8A81-AD6152E97BC7}" type="presParOf" srcId="{E8B6F30F-9E4C-47B1-A1A7-B2FA7F1141A3}" destId="{18AB2D9B-EAF6-492A-9F80-DD99F5C3840B}" srcOrd="0" destOrd="0" presId="urn:microsoft.com/office/officeart/2005/8/layout/orgChart1"/>
    <dgm:cxn modelId="{AB25AD04-14B8-4633-AFC8-D58B98E43684}" type="presParOf" srcId="{E8B6F30F-9E4C-47B1-A1A7-B2FA7F1141A3}" destId="{83BD59B4-17EE-42F7-AAC3-8ED480373AB7}" srcOrd="1" destOrd="0" presId="urn:microsoft.com/office/officeart/2005/8/layout/orgChart1"/>
    <dgm:cxn modelId="{D70B9C1E-2F5C-48E0-810F-2FE419F31FF5}" type="presParOf" srcId="{E20FB949-B497-45AA-A173-FDD52B0886BA}" destId="{17C90664-5CE2-456F-B19A-F6EF0A4749C4}" srcOrd="1" destOrd="0" presId="urn:microsoft.com/office/officeart/2005/8/layout/orgChart1"/>
    <dgm:cxn modelId="{CA452A26-2542-4EF6-86BB-2502DD801870}" type="presParOf" srcId="{E20FB949-B497-45AA-A173-FDD52B0886BA}" destId="{50E8E805-6D8F-4549-88A8-F12A168897E6}" srcOrd="2" destOrd="0" presId="urn:microsoft.com/office/officeart/2005/8/layout/orgChart1"/>
    <dgm:cxn modelId="{54455812-3646-40C3-A687-BA1654672BAB}" type="presParOf" srcId="{A37B168E-B53B-4A76-9085-7527D88953AA}" destId="{AE821415-8027-4252-8DB3-5825AEA662AA}" srcOrd="2" destOrd="0" presId="urn:microsoft.com/office/officeart/2005/8/layout/orgChart1"/>
    <dgm:cxn modelId="{9E50EBA4-22E0-4A49-9FCD-CB9A4E16E6A6}" type="presParOf" srcId="{A9449A16-F807-45F8-9E7A-5FB1D10D912F}" destId="{7600C79C-2F4D-4CEF-B5C8-1C6658ADA8B8}" srcOrd="2" destOrd="0" presId="urn:microsoft.com/office/officeart/2005/8/layout/orgChart1"/>
    <dgm:cxn modelId="{0C9FD3F1-3600-463D-B48B-E7374528BEA0}" type="presParOf" srcId="{A9449A16-F807-45F8-9E7A-5FB1D10D912F}" destId="{532E1075-5DC9-4256-BCEF-04AECB764DBA}" srcOrd="3" destOrd="0" presId="urn:microsoft.com/office/officeart/2005/8/layout/orgChart1"/>
    <dgm:cxn modelId="{1D7564A9-A627-4CA3-80DB-54483FC0BFE3}" type="presParOf" srcId="{532E1075-5DC9-4256-BCEF-04AECB764DBA}" destId="{3690C105-C2B9-4D70-8344-E6D9F107DE11}" srcOrd="0" destOrd="0" presId="urn:microsoft.com/office/officeart/2005/8/layout/orgChart1"/>
    <dgm:cxn modelId="{0191BB32-616C-4488-BFB9-F12CF4B433D0}" type="presParOf" srcId="{3690C105-C2B9-4D70-8344-E6D9F107DE11}" destId="{DD7B4604-2C93-4058-BE6E-CAB99816B53E}" srcOrd="0" destOrd="0" presId="urn:microsoft.com/office/officeart/2005/8/layout/orgChart1"/>
    <dgm:cxn modelId="{5BFA5A57-D16E-4C80-9607-14801F416F4C}" type="presParOf" srcId="{3690C105-C2B9-4D70-8344-E6D9F107DE11}" destId="{3ED6CB1A-2ACD-4626-B6B7-D85C1EC1BD5C}" srcOrd="1" destOrd="0" presId="urn:microsoft.com/office/officeart/2005/8/layout/orgChart1"/>
    <dgm:cxn modelId="{47A596B2-E957-4BDB-B657-5AD245366431}" type="presParOf" srcId="{532E1075-5DC9-4256-BCEF-04AECB764DBA}" destId="{7899DFEA-3352-4296-A5FF-A790ED55EFF4}" srcOrd="1" destOrd="0" presId="urn:microsoft.com/office/officeart/2005/8/layout/orgChart1"/>
    <dgm:cxn modelId="{F6A15FF1-8AB9-41AA-90D8-35FA57510332}" type="presParOf" srcId="{7899DFEA-3352-4296-A5FF-A790ED55EFF4}" destId="{D1751498-47B5-455C-A570-D8F86548E0E5}" srcOrd="0" destOrd="0" presId="urn:microsoft.com/office/officeart/2005/8/layout/orgChart1"/>
    <dgm:cxn modelId="{521C6A91-4057-45E6-8F01-AB45602A5482}" type="presParOf" srcId="{7899DFEA-3352-4296-A5FF-A790ED55EFF4}" destId="{F8955B15-BD11-4E7D-AA1B-D3BB53094037}" srcOrd="1" destOrd="0" presId="urn:microsoft.com/office/officeart/2005/8/layout/orgChart1"/>
    <dgm:cxn modelId="{A6C40B56-323D-43D6-B96A-11CD59618031}" type="presParOf" srcId="{F8955B15-BD11-4E7D-AA1B-D3BB53094037}" destId="{9907B9B3-E5A9-4017-9F91-21C12A4D3D05}" srcOrd="0" destOrd="0" presId="urn:microsoft.com/office/officeart/2005/8/layout/orgChart1"/>
    <dgm:cxn modelId="{0D5893B4-CDA5-4D62-A2B9-AF5B40839941}" type="presParOf" srcId="{9907B9B3-E5A9-4017-9F91-21C12A4D3D05}" destId="{8D9B2EEA-C805-45BF-A2C5-9003451E2E08}" srcOrd="0" destOrd="0" presId="urn:microsoft.com/office/officeart/2005/8/layout/orgChart1"/>
    <dgm:cxn modelId="{E5D7562A-9E97-446A-8596-FE2991EF4BB6}" type="presParOf" srcId="{9907B9B3-E5A9-4017-9F91-21C12A4D3D05}" destId="{B7C25768-B8D5-4EB0-BAEB-FE6CEDDE5E55}" srcOrd="1" destOrd="0" presId="urn:microsoft.com/office/officeart/2005/8/layout/orgChart1"/>
    <dgm:cxn modelId="{8376229F-8475-4966-977C-523D27A1C390}" type="presParOf" srcId="{F8955B15-BD11-4E7D-AA1B-D3BB53094037}" destId="{41F5983B-1038-486B-9A18-0A84B3F99400}" srcOrd="1" destOrd="0" presId="urn:microsoft.com/office/officeart/2005/8/layout/orgChart1"/>
    <dgm:cxn modelId="{AA2418D5-E8B2-4575-A3E3-68AA0FB7618C}" type="presParOf" srcId="{F8955B15-BD11-4E7D-AA1B-D3BB53094037}" destId="{4E6DC011-E485-4584-9C2D-B5D8D5EACECA}" srcOrd="2" destOrd="0" presId="urn:microsoft.com/office/officeart/2005/8/layout/orgChart1"/>
    <dgm:cxn modelId="{2757332A-5BB1-4AE4-B160-E0F41696AF07}" type="presParOf" srcId="{532E1075-5DC9-4256-BCEF-04AECB764DBA}" destId="{63D925A0-6A82-45EF-8BA8-FA1A105ECB1A}" srcOrd="2" destOrd="0" presId="urn:microsoft.com/office/officeart/2005/8/layout/orgChart1"/>
    <dgm:cxn modelId="{7E3BF154-D602-44B4-B6F5-F1ED27F5A3AE}" type="presParOf" srcId="{F5624DC8-3E53-4C8B-A97D-7D450DA5D23D}" destId="{00794B66-2285-443D-95F9-0B4E58300F2D}" srcOrd="2" destOrd="0" presId="urn:microsoft.com/office/officeart/2005/8/layout/orgChart1"/>
  </dgm:cxnLst>
  <dgm:bg>
    <a:effect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751498-47B5-455C-A570-D8F86548E0E5}">
      <dsp:nvSpPr>
        <dsp:cNvPr id="0" name=""/>
        <dsp:cNvSpPr/>
      </dsp:nvSpPr>
      <dsp:spPr>
        <a:xfrm>
          <a:off x="5968041" y="2536264"/>
          <a:ext cx="223674" cy="1462628"/>
        </a:xfrm>
        <a:custGeom>
          <a:avLst/>
          <a:gdLst/>
          <a:ahLst/>
          <a:cxnLst/>
          <a:rect l="0" t="0" r="0" b="0"/>
          <a:pathLst>
            <a:path>
              <a:moveTo>
                <a:pt x="0" y="0"/>
              </a:moveTo>
              <a:lnTo>
                <a:pt x="0" y="1462628"/>
              </a:lnTo>
              <a:lnTo>
                <a:pt x="223674" y="1462628"/>
              </a:lnTo>
            </a:path>
          </a:pathLst>
        </a:custGeom>
        <a:noFill/>
        <a:ln w="12700" cap="flat" cmpd="sng" algn="ctr">
          <a:solidFill>
            <a:schemeClr val="accent3">
              <a:lumMod val="7500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600C79C-2F4D-4CEF-B5C8-1C6658ADA8B8}">
      <dsp:nvSpPr>
        <dsp:cNvPr id="0" name=""/>
        <dsp:cNvSpPr/>
      </dsp:nvSpPr>
      <dsp:spPr>
        <a:xfrm>
          <a:off x="5258786" y="785894"/>
          <a:ext cx="1798040" cy="1035902"/>
        </a:xfrm>
        <a:custGeom>
          <a:avLst/>
          <a:gdLst/>
          <a:ahLst/>
          <a:cxnLst/>
          <a:rect l="0" t="0" r="0" b="0"/>
          <a:pathLst>
            <a:path>
              <a:moveTo>
                <a:pt x="0" y="0"/>
              </a:moveTo>
              <a:lnTo>
                <a:pt x="0" y="518672"/>
              </a:lnTo>
              <a:lnTo>
                <a:pt x="1798040" y="518672"/>
              </a:lnTo>
              <a:lnTo>
                <a:pt x="1798040" y="1035902"/>
              </a:lnTo>
            </a:path>
          </a:pathLst>
        </a:custGeom>
        <a:noFill/>
        <a:ln w="12700" cap="flat" cmpd="sng" algn="ctr">
          <a:solidFill>
            <a:schemeClr val="tx2">
              <a:alpha val="8200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5BA1634-CBBB-4126-ADAA-F3EEEB85D6AC}">
      <dsp:nvSpPr>
        <dsp:cNvPr id="0" name=""/>
        <dsp:cNvSpPr/>
      </dsp:nvSpPr>
      <dsp:spPr>
        <a:xfrm>
          <a:off x="2391423" y="2526141"/>
          <a:ext cx="236408" cy="1486421"/>
        </a:xfrm>
        <a:custGeom>
          <a:avLst/>
          <a:gdLst/>
          <a:ahLst/>
          <a:cxnLst/>
          <a:rect l="0" t="0" r="0" b="0"/>
          <a:pathLst>
            <a:path>
              <a:moveTo>
                <a:pt x="0" y="0"/>
              </a:moveTo>
              <a:lnTo>
                <a:pt x="0" y="1486421"/>
              </a:lnTo>
              <a:lnTo>
                <a:pt x="236408" y="1486421"/>
              </a:lnTo>
            </a:path>
          </a:pathLst>
        </a:custGeom>
        <a:noFill/>
        <a:ln w="12700" cap="flat" cmpd="sng" algn="ctr">
          <a:solidFill>
            <a:schemeClr val="accent3">
              <a:lumMod val="7500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7D7DD72-2165-489B-A2ED-5679FDD93B2C}">
      <dsp:nvSpPr>
        <dsp:cNvPr id="0" name=""/>
        <dsp:cNvSpPr/>
      </dsp:nvSpPr>
      <dsp:spPr>
        <a:xfrm>
          <a:off x="3558058" y="785894"/>
          <a:ext cx="1700727" cy="1035902"/>
        </a:xfrm>
        <a:custGeom>
          <a:avLst/>
          <a:gdLst/>
          <a:ahLst/>
          <a:cxnLst/>
          <a:rect l="0" t="0" r="0" b="0"/>
          <a:pathLst>
            <a:path>
              <a:moveTo>
                <a:pt x="1700727" y="0"/>
              </a:moveTo>
              <a:lnTo>
                <a:pt x="1700727" y="518672"/>
              </a:lnTo>
              <a:lnTo>
                <a:pt x="0" y="518672"/>
              </a:lnTo>
              <a:lnTo>
                <a:pt x="0" y="1035902"/>
              </a:lnTo>
            </a:path>
          </a:pathLst>
        </a:custGeom>
        <a:noFill/>
        <a:ln w="12700" cap="flat" cmpd="sng" algn="ctr">
          <a:solidFill>
            <a:schemeClr val="tx2">
              <a:alpha val="8200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1E6D025-8110-4342-B884-B9AA94376600}">
      <dsp:nvSpPr>
        <dsp:cNvPr id="0" name=""/>
        <dsp:cNvSpPr/>
      </dsp:nvSpPr>
      <dsp:spPr>
        <a:xfrm>
          <a:off x="3402101" y="0"/>
          <a:ext cx="3713368" cy="785894"/>
        </a:xfrm>
        <a:prstGeom prst="rect">
          <a:avLst/>
        </a:prstGeom>
        <a:solidFill>
          <a:schemeClr val="accent6">
            <a:lumMod val="60000"/>
            <a:lumOff val="40000"/>
          </a:schemeClr>
        </a:solidFill>
        <a:ln>
          <a:solidFill>
            <a:schemeClr val="accent6">
              <a:lumMod val="75000"/>
            </a:schemeClr>
          </a:solidFill>
        </a:ln>
        <a:effectLst/>
        <a:scene3d>
          <a:camera prst="orthographicFront"/>
          <a:lightRig rig="flat" dir="t"/>
        </a:scene3d>
        <a:sp3d prstMaterial="plastic">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a:solidFill>
                <a:schemeClr val="tx1"/>
              </a:solidFill>
            </a:rPr>
            <a:t>Types of View</a:t>
          </a:r>
        </a:p>
      </dsp:txBody>
      <dsp:txXfrm>
        <a:off x="3402101" y="0"/>
        <a:ext cx="3713368" cy="785894"/>
      </dsp:txXfrm>
    </dsp:sp>
    <dsp:sp modelId="{200A4A31-4F6B-4EAD-8F1A-CD765DFBF62F}">
      <dsp:nvSpPr>
        <dsp:cNvPr id="0" name=""/>
        <dsp:cNvSpPr/>
      </dsp:nvSpPr>
      <dsp:spPr>
        <a:xfrm>
          <a:off x="2099764" y="1821797"/>
          <a:ext cx="2916587" cy="704344"/>
        </a:xfrm>
        <a:prstGeom prst="rect">
          <a:avLst/>
        </a:prstGeom>
        <a:solidFill>
          <a:srgbClr val="6CB5E6">
            <a:alpha val="44000"/>
          </a:srgbClr>
        </a:solidFill>
        <a:ln>
          <a:solidFill>
            <a:schemeClr val="tx2"/>
          </a:solidFill>
        </a:ln>
        <a:effectLst/>
        <a:scene3d>
          <a:camera prst="orthographicFront"/>
          <a:lightRig rig="flat" dir="t"/>
        </a:scene3d>
        <a:sp3d prstMaterial="plastic">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a:solidFill>
                <a:schemeClr val="tx1"/>
              </a:solidFill>
            </a:rPr>
            <a:t>Simple View</a:t>
          </a:r>
        </a:p>
      </dsp:txBody>
      <dsp:txXfrm>
        <a:off x="2099764" y="1821797"/>
        <a:ext cx="2916587" cy="704344"/>
      </dsp:txXfrm>
    </dsp:sp>
    <dsp:sp modelId="{18AB2D9B-EAF6-492A-9F80-DD99F5C3840B}">
      <dsp:nvSpPr>
        <dsp:cNvPr id="0" name=""/>
        <dsp:cNvSpPr/>
      </dsp:nvSpPr>
      <dsp:spPr>
        <a:xfrm>
          <a:off x="2627832" y="3229969"/>
          <a:ext cx="2599895" cy="1565188"/>
        </a:xfrm>
        <a:prstGeom prst="rect">
          <a:avLst/>
        </a:prstGeom>
        <a:solidFill>
          <a:schemeClr val="accent3">
            <a:lumMod val="60000"/>
            <a:lumOff val="40000"/>
          </a:schemeClr>
        </a:solidFill>
        <a:ln>
          <a:solidFill>
            <a:schemeClr val="accent3">
              <a:lumMod val="75000"/>
            </a:schemeClr>
          </a:solidFill>
        </a:ln>
        <a:effectLst/>
        <a:scene3d>
          <a:camera prst="orthographicFront"/>
          <a:lightRig rig="flat" dir="t"/>
        </a:scene3d>
        <a:sp3d prstMaterial="plastic">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a:solidFill>
                <a:schemeClr val="tx1"/>
              </a:solidFill>
            </a:rPr>
            <a:t>When we create a view on a single table</a:t>
          </a:r>
          <a:endParaRPr lang="en-IN" sz="1900" kern="1200" dirty="0">
            <a:solidFill>
              <a:schemeClr val="tx1"/>
            </a:solidFill>
          </a:endParaRPr>
        </a:p>
      </dsp:txBody>
      <dsp:txXfrm>
        <a:off x="2627832" y="3229969"/>
        <a:ext cx="2599895" cy="1565188"/>
      </dsp:txXfrm>
    </dsp:sp>
    <dsp:sp modelId="{DD7B4604-2C93-4058-BE6E-CAB99816B53E}">
      <dsp:nvSpPr>
        <dsp:cNvPr id="0" name=""/>
        <dsp:cNvSpPr/>
      </dsp:nvSpPr>
      <dsp:spPr>
        <a:xfrm>
          <a:off x="5695845" y="1821797"/>
          <a:ext cx="2721961" cy="714467"/>
        </a:xfrm>
        <a:prstGeom prst="rect">
          <a:avLst/>
        </a:prstGeom>
        <a:solidFill>
          <a:srgbClr val="6CB5E6">
            <a:alpha val="44000"/>
          </a:srgbClr>
        </a:solidFill>
        <a:ln>
          <a:solidFill>
            <a:schemeClr val="tx2"/>
          </a:solidFill>
        </a:ln>
        <a:effectLst/>
        <a:scene3d>
          <a:camera prst="orthographicFront"/>
          <a:lightRig rig="flat" dir="t"/>
        </a:scene3d>
        <a:sp3d prstMaterial="plastic">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a:solidFill>
                <a:schemeClr val="tx1"/>
              </a:solidFill>
            </a:rPr>
            <a:t>Complex View</a:t>
          </a:r>
        </a:p>
      </dsp:txBody>
      <dsp:txXfrm>
        <a:off x="5695845" y="1821797"/>
        <a:ext cx="2721961" cy="714467"/>
      </dsp:txXfrm>
    </dsp:sp>
    <dsp:sp modelId="{8D9B2EEA-C805-45BF-A2C5-9003451E2E08}">
      <dsp:nvSpPr>
        <dsp:cNvPr id="0" name=""/>
        <dsp:cNvSpPr/>
      </dsp:nvSpPr>
      <dsp:spPr>
        <a:xfrm>
          <a:off x="6191716" y="3216299"/>
          <a:ext cx="2696789" cy="1565188"/>
        </a:xfrm>
        <a:prstGeom prst="rect">
          <a:avLst/>
        </a:prstGeom>
        <a:solidFill>
          <a:schemeClr val="accent3">
            <a:lumMod val="60000"/>
            <a:lumOff val="40000"/>
          </a:schemeClr>
        </a:solidFill>
        <a:ln>
          <a:solidFill>
            <a:schemeClr val="accent3">
              <a:lumMod val="75000"/>
            </a:schemeClr>
          </a:solidFill>
        </a:ln>
        <a:effectLst/>
        <a:scene3d>
          <a:camera prst="orthographicFront"/>
          <a:lightRig rig="flat" dir="t"/>
        </a:scene3d>
        <a:sp3d prstMaterial="plastic">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a:solidFill>
                <a:schemeClr val="tx1"/>
              </a:solidFill>
            </a:rPr>
            <a:t>When we create a view on more than one table</a:t>
          </a:r>
          <a:endParaRPr lang="en-IN" sz="1900" kern="1200" dirty="0">
            <a:solidFill>
              <a:schemeClr val="tx1"/>
            </a:solidFill>
          </a:endParaRPr>
        </a:p>
      </dsp:txBody>
      <dsp:txXfrm>
        <a:off x="6191716" y="3216299"/>
        <a:ext cx="2696789" cy="156518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3.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1.png"/><Relationship Id="rId4" Type="http://schemas.microsoft.com/office/2007/relationships/hdphoto" Target="../media/hdphoto1.wdp"/></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B8961EB9-3BA2-B72E-11E5-1A931889BBD3}"/>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96736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B985968E-5769-B4EE-68D6-24E5D0D3CE44}"/>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DD907A96-9207-6FDA-B923-3BF8B0C64B74}"/>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208274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63F52789-B056-877D-995D-1DAB6C50DC12}"/>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2DA91D39-9A10-64AD-A167-7258C69E9909}"/>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3941258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Freeform 17">
            <a:extLst>
              <a:ext uri="{FF2B5EF4-FFF2-40B4-BE49-F238E27FC236}">
                <a16:creationId xmlns:a16="http://schemas.microsoft.com/office/drawing/2014/main" id="{830E9B56-6CD2-0324-CBA9-D4D9040D1D12}"/>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5" name="Title 1">
            <a:extLst>
              <a:ext uri="{FF2B5EF4-FFF2-40B4-BE49-F238E27FC236}">
                <a16:creationId xmlns:a16="http://schemas.microsoft.com/office/drawing/2014/main" id="{0BE67A2A-C110-D13B-20C2-A9C8F8165A3D}"/>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0E47A1"/>
                    </a:gs>
                    <a:gs pos="100000">
                      <a:srgbClr val="03A9F5"/>
                    </a:gs>
                  </a:gsLst>
                  <a:lin ang="0" scaled="1"/>
                  <a:tileRect/>
                </a:gradFill>
                <a:effectLst/>
                <a:latin typeface="+mn-lt"/>
                <a:ea typeface="+mn-ea"/>
                <a:cs typeface="+mn-cs"/>
              </a:defRPr>
            </a:lvl1pPr>
          </a:lstStyle>
          <a:p>
            <a:r>
              <a:rPr lang="en-US" dirty="0"/>
              <a:t>Write here Section Title</a:t>
            </a:r>
          </a:p>
        </p:txBody>
      </p:sp>
    </p:spTree>
    <p:extLst>
      <p:ext uri="{BB962C8B-B14F-4D97-AF65-F5344CB8AC3E}">
        <p14:creationId xmlns:p14="http://schemas.microsoft.com/office/powerpoint/2010/main" val="1565973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8C07BBD1-A6AB-1B39-1406-A1449B1A4C17}"/>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3628365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CE452D7E-F84B-1894-DE0E-D3237EFEFCD8}"/>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1154741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727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071377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935002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77050">
                <a:srgbClr val="0690E0"/>
              </a:gs>
              <a:gs pos="10000">
                <a:srgbClr val="0E47A1"/>
              </a:gs>
              <a:gs pos="49425">
                <a:srgbClr val="0972C6"/>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02384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61158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882823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a:extLst>
              <a:ext uri="{FF2B5EF4-FFF2-40B4-BE49-F238E27FC236}">
                <a16:creationId xmlns:a16="http://schemas.microsoft.com/office/drawing/2014/main" id="{22364D95-B329-9454-0C65-6DD9D28321C5}"/>
              </a:ext>
            </a:extLst>
          </p:cNvPr>
          <p:cNvSpPr txBox="1">
            <a:spLocks/>
          </p:cNvSpPr>
          <p:nvPr userDrawn="1"/>
        </p:nvSpPr>
        <p:spPr>
          <a:xfrm>
            <a:off x="4038599" y="6604000"/>
            <a:ext cx="481178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5421600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81178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tx2"/>
              </a:buClr>
              <a:buFont typeface="Wingdings 3" panose="05040102010807070707" pitchFamily="18" charset="2"/>
              <a:buChar char=""/>
              <a:defRPr sz="2400">
                <a:solidFill>
                  <a:schemeClr val="tx1"/>
                </a:solidFill>
              </a:defRPr>
            </a:lvl1pPr>
            <a:lvl2pPr marL="809625" indent="-352425" algn="just">
              <a:buClr>
                <a:schemeClr val="tx2"/>
              </a:buClr>
              <a:buFont typeface="Wingdings 3" panose="05040102010807070707" pitchFamily="18" charset="2"/>
              <a:buChar char=""/>
              <a:defRPr sz="2000">
                <a:solidFill>
                  <a:schemeClr val="tx1"/>
                </a:solidFill>
              </a:defRPr>
            </a:lvl2pPr>
            <a:lvl3pPr marL="1143000" indent="-228600" algn="just">
              <a:buClr>
                <a:schemeClr val="tx2"/>
              </a:buClr>
              <a:buFont typeface="Wingdings" panose="05000000000000000000" pitchFamily="2" charset="2"/>
              <a:buChar char="§"/>
              <a:defRPr sz="1800">
                <a:solidFill>
                  <a:schemeClr val="tx1"/>
                </a:solidFill>
              </a:defRPr>
            </a:lvl3pPr>
            <a:lvl4pPr algn="just">
              <a:buClr>
                <a:schemeClr val="tx2"/>
              </a:buClr>
              <a:defRPr sz="1600">
                <a:solidFill>
                  <a:schemeClr val="tx1"/>
                </a:solidFill>
              </a:defRPr>
            </a:lvl4pPr>
            <a:lvl5pPr algn="just">
              <a:buClr>
                <a:schemeClr val="tx2"/>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2676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045141CA-3257-6BFB-BB04-3762FEDA1C9B}"/>
              </a:ext>
            </a:extLst>
          </p:cNvPr>
          <p:cNvSpPr txBox="1">
            <a:spLocks/>
          </p:cNvSpPr>
          <p:nvPr userDrawn="1"/>
        </p:nvSpPr>
        <p:spPr>
          <a:xfrm>
            <a:off x="4038599" y="6604000"/>
            <a:ext cx="481178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28904574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41324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7AB458A6-BA3D-1695-F4B0-6ACF702C5664}"/>
              </a:ext>
            </a:extLst>
          </p:cNvPr>
          <p:cNvSpPr txBox="1">
            <a:spLocks/>
          </p:cNvSpPr>
          <p:nvPr userDrawn="1"/>
        </p:nvSpPr>
        <p:spPr>
          <a:xfrm>
            <a:off x="4038599" y="6604000"/>
            <a:ext cx="481178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26649795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FC9FED5C-F4D5-E957-DC81-3C6139158BA8}"/>
              </a:ext>
            </a:extLst>
          </p:cNvPr>
          <p:cNvSpPr txBox="1">
            <a:spLocks/>
          </p:cNvSpPr>
          <p:nvPr userDrawn="1"/>
        </p:nvSpPr>
        <p:spPr>
          <a:xfrm>
            <a:off x="4038599" y="6604000"/>
            <a:ext cx="481178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19583563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9195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253016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7/14/2026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43802853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8" r:id="rId7"/>
    <p:sldLayoutId id="2147483729" r:id="rId8"/>
    <p:sldLayoutId id="2147483738" r:id="rId9"/>
    <p:sldLayoutId id="2147483716" r:id="rId10"/>
    <p:sldLayoutId id="2147483673" r:id="rId11"/>
    <p:sldLayoutId id="214748373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7/14/2026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2458675687"/>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3.png"/><Relationship Id="rId5" Type="http://schemas.microsoft.com/office/2007/relationships/hdphoto" Target="../media/hdphoto7.wdp"/><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mailto:priti@gmail.com" TargetMode="External"/><Relationship Id="rId3" Type="http://schemas.openxmlformats.org/officeDocument/2006/relationships/hyperlink" Target="mailto:mahesh@gmail.com" TargetMode="External"/><Relationship Id="rId7" Type="http://schemas.openxmlformats.org/officeDocument/2006/relationships/hyperlink" Target="mailto:pritesh@gmail.com" TargetMode="Externa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hyperlink" Target="mailto:kirit@gmail.com" TargetMode="External"/><Relationship Id="rId5" Type="http://schemas.openxmlformats.org/officeDocument/2006/relationships/hyperlink" Target="mailto:mukesh@gmail.com" TargetMode="External"/><Relationship Id="rId4" Type="http://schemas.openxmlformats.org/officeDocument/2006/relationships/hyperlink" Target="mailto:rakesh@gmail.com" TargetMode="External"/><Relationship Id="rId9" Type="http://schemas.openxmlformats.org/officeDocument/2006/relationships/hyperlink" Target="mailto:hitesh@gmail.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mailto:priti@gmail.com" TargetMode="External"/><Relationship Id="rId3" Type="http://schemas.openxmlformats.org/officeDocument/2006/relationships/hyperlink" Target="mailto:mahesh@gmail.com" TargetMode="External"/><Relationship Id="rId7" Type="http://schemas.openxmlformats.org/officeDocument/2006/relationships/hyperlink" Target="mailto:pritesh@gmail.com" TargetMode="Externa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hyperlink" Target="mailto:kirit@gmail.com" TargetMode="External"/><Relationship Id="rId5" Type="http://schemas.openxmlformats.org/officeDocument/2006/relationships/hyperlink" Target="mailto:mukesh@gmail.com" TargetMode="External"/><Relationship Id="rId4" Type="http://schemas.openxmlformats.org/officeDocument/2006/relationships/hyperlink" Target="mailto:rakesh@gmail.com" TargetMode="External"/><Relationship Id="rId9" Type="http://schemas.openxmlformats.org/officeDocument/2006/relationships/hyperlink" Target="mailto:hitesh@gmail.com" TargetMode="External"/></Relationships>
</file>

<file path=ppt/slides/_rels/slide36.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38.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image" Target="../media/image40.bin"/><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9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9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0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8.png"/></Relationships>
</file>

<file path=ppt/slides/_rels/slide10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p:txBody>
          <a:bodyPr/>
          <a:lstStyle/>
          <a:p>
            <a:r>
              <a:rPr lang="en-US" sz="4800" b="0" dirty="0">
                <a:latin typeface="Roboto Condensed Light" panose="02000000000000000000" pitchFamily="2" charset="0"/>
                <a:ea typeface="Roboto Condensed Light" panose="02000000000000000000" pitchFamily="2" charset="0"/>
              </a:rPr>
              <a:t>Unit-2</a:t>
            </a:r>
            <a:r>
              <a:rPr lang="en-US" dirty="0"/>
              <a:t> </a:t>
            </a:r>
            <a:br>
              <a:rPr lang="en-US" dirty="0"/>
            </a:br>
            <a:r>
              <a:rPr lang="en-IN" sz="6000" dirty="0"/>
              <a:t>SQL Constraints, Joins &amp; Views </a:t>
            </a:r>
            <a:endParaRPr lang="en-US" sz="6000"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deep.padaliya@darshan.ac.in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+91 - 98981 88771 (CSE Department)</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a:xfrm>
            <a:off x="1837677" y="5290584"/>
            <a:ext cx="5581039" cy="290081"/>
          </a:xfrm>
        </p:spPr>
        <p:txBody>
          <a:bodyPr/>
          <a:lstStyle/>
          <a:p>
            <a:r>
              <a:rPr lang="en-US" dirty="0"/>
              <a:t>Prof. Deep C. Padaliya</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IN" dirty="0"/>
              <a:t>T-SQL Querying</a:t>
            </a:r>
            <a:endParaRPr lang="en-US" b="1" dirty="0"/>
          </a:p>
          <a:p>
            <a:r>
              <a:rPr lang="en-US" dirty="0">
                <a:latin typeface="Roboto Condensed Light" panose="02000000000000000000" pitchFamily="2" charset="0"/>
                <a:ea typeface="Roboto Condensed Light" panose="02000000000000000000" pitchFamily="2" charset="0"/>
              </a:rPr>
              <a:t>#</a:t>
            </a:r>
            <a:r>
              <a:rPr lang="en-IN" dirty="0"/>
              <a:t> 2501CS302</a:t>
            </a:r>
            <a:endParaRPr lang="en-US" dirty="0">
              <a:latin typeface="Roboto Condensed Light" panose="02000000000000000000" pitchFamily="2" charset="0"/>
              <a:ea typeface="Roboto Condensed Light" panose="02000000000000000000" pitchFamily="2" charset="0"/>
            </a:endParaRP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Picture Placeholder 7">
            <a:extLst>
              <a:ext uri="{FF2B5EF4-FFF2-40B4-BE49-F238E27FC236}">
                <a16:creationId xmlns:a16="http://schemas.microsoft.com/office/drawing/2014/main" id="{6BD07797-CD7D-9C19-F71F-5A0B5F8E94D9}"/>
              </a:ext>
            </a:extLst>
          </p:cNvPr>
          <p:cNvSpPr>
            <a:spLocks noGrp="1"/>
          </p:cNvSpPr>
          <p:nvPr>
            <p:ph type="pic" sz="quarter" idx="10"/>
          </p:nvPr>
        </p:nvSpPr>
        <p:spPr/>
      </p:sp>
      <p:pic>
        <p:nvPicPr>
          <p:cNvPr id="9" name="Picture Placeholder 15">
            <a:extLst>
              <a:ext uri="{FF2B5EF4-FFF2-40B4-BE49-F238E27FC236}">
                <a16:creationId xmlns:a16="http://schemas.microsoft.com/office/drawing/2014/main" id="{854331BB-7A2C-061A-95EC-40A445B3A054}"/>
              </a:ext>
            </a:extLst>
          </p:cNvPr>
          <p:cNvPicPr>
            <a:picLocks noChangeAspect="1"/>
          </p:cNvPicPr>
          <p:nvPr/>
        </p:nvPicPr>
        <p:blipFill>
          <a:blip r:embed="rId2">
            <a:extLst>
              <a:ext uri="{28A0092B-C50C-407E-A947-70E740481C1C}">
                <a14:useLocalDpi xmlns:a14="http://schemas.microsoft.com/office/drawing/2010/main" val="0"/>
              </a:ext>
            </a:extLst>
          </a:blip>
          <a:srcRect l="5231" r="5231"/>
          <a:stretch>
            <a:fillRect/>
          </a:stretch>
        </p:blipFill>
        <p:spPr>
          <a:xfrm>
            <a:off x="354013" y="5211763"/>
            <a:ext cx="1352550" cy="1352550"/>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661001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3429000"/>
            <a:ext cx="0" cy="3429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Roboto Condensed"/>
                <a:ea typeface="+mn-ea"/>
                <a:cs typeface="+mn-cs"/>
                <a:sym typeface="Wingdings 2" panose="05020102010507070707" pitchFamily="18" charset="2"/>
              </a:rPr>
              <a:t></a:t>
            </a:r>
            <a:endParaRPr kumimoji="0" lang="en-US" sz="28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Roboto Condensed"/>
                <a:ea typeface="+mn-ea"/>
                <a:cs typeface="+mn-cs"/>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680024"/>
            <a:ext cx="10733037" cy="59400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12121"/>
                </a:solidFill>
                <a:effectLst/>
                <a:uLnTx/>
                <a:uFillTx/>
                <a:latin typeface="Roboto Condensed"/>
                <a:ea typeface="+mn-ea"/>
                <a:cs typeface="+mn-cs"/>
              </a:rPr>
              <a:t>Outline</a:t>
            </a:r>
          </a:p>
          <a:p>
            <a:pPr marL="742950" lvl="1" indent="-285750">
              <a:lnSpc>
                <a:spcPct val="150000"/>
              </a:lnSpc>
              <a:buFont typeface="Arial" panose="020B0604020202020204" pitchFamily="34" charset="0"/>
              <a:buChar char="•"/>
            </a:pPr>
            <a:r>
              <a:rPr lang="en-US" sz="2400" dirty="0"/>
              <a:t>Introduction of Views</a:t>
            </a:r>
          </a:p>
          <a:p>
            <a:pPr marL="742950" lvl="1" indent="-285750">
              <a:lnSpc>
                <a:spcPct val="150000"/>
              </a:lnSpc>
              <a:buFont typeface="Arial" panose="020B0604020202020204" pitchFamily="34" charset="0"/>
              <a:buChar char="•"/>
            </a:pPr>
            <a:r>
              <a:rPr lang="en-US" sz="2400" dirty="0"/>
              <a:t>Types of Views</a:t>
            </a:r>
          </a:p>
          <a:p>
            <a:pPr marL="742950" lvl="1" indent="-285750">
              <a:lnSpc>
                <a:spcPct val="150000"/>
              </a:lnSpc>
              <a:buFont typeface="Arial" panose="020B0604020202020204" pitchFamily="34" charset="0"/>
              <a:buChar char="•"/>
            </a:pPr>
            <a:r>
              <a:rPr lang="en-US" sz="2400" dirty="0"/>
              <a:t>Creating, Renaming, Dropping &amp; Updating a View</a:t>
            </a:r>
          </a:p>
          <a:p>
            <a:pPr marL="742950" lvl="1" indent="-285750">
              <a:lnSpc>
                <a:spcPct val="150000"/>
              </a:lnSpc>
              <a:buFont typeface="Arial" panose="020B0604020202020204" pitchFamily="34" charset="0"/>
              <a:buChar char="•"/>
            </a:pPr>
            <a:r>
              <a:rPr lang="en-US" sz="2400" dirty="0"/>
              <a:t>Advantages and Disadvantages of Views</a:t>
            </a:r>
          </a:p>
          <a:p>
            <a:pPr marL="742950" lvl="1" indent="-285750">
              <a:lnSpc>
                <a:spcPct val="150000"/>
              </a:lnSpc>
              <a:buFont typeface="Arial" panose="020B0604020202020204" pitchFamily="34" charset="0"/>
              <a:buChar char="•"/>
            </a:pPr>
            <a:r>
              <a:rPr lang="en-US" sz="2400" dirty="0"/>
              <a:t>Table v/s View</a:t>
            </a:r>
          </a:p>
          <a:p>
            <a:pPr marL="742950" lvl="1" indent="-285750">
              <a:lnSpc>
                <a:spcPct val="150000"/>
              </a:lnSpc>
              <a:buFont typeface="Arial" panose="020B0604020202020204" pitchFamily="34" charset="0"/>
              <a:buChar char="•"/>
            </a:pPr>
            <a:r>
              <a:rPr lang="en-US" sz="2400" dirty="0"/>
              <a:t>Subqueries</a:t>
            </a:r>
          </a:p>
          <a:p>
            <a:pPr marL="742950" lvl="1" indent="-285750">
              <a:lnSpc>
                <a:spcPct val="150000"/>
              </a:lnSpc>
              <a:buFont typeface="Arial" panose="020B0604020202020204" pitchFamily="34" charset="0"/>
              <a:buChar char="•"/>
            </a:pPr>
            <a:r>
              <a:rPr lang="en-US" sz="2400" dirty="0"/>
              <a:t>Limitations of Subqueries</a:t>
            </a:r>
          </a:p>
          <a:p>
            <a:pPr marL="742950" lvl="1" indent="-285750">
              <a:lnSpc>
                <a:spcPct val="150000"/>
              </a:lnSpc>
              <a:buFont typeface="Arial" panose="020B0604020202020204" pitchFamily="34" charset="0"/>
              <a:buChar char="•"/>
            </a:pPr>
            <a:r>
              <a:rPr lang="en-US" sz="2400" dirty="0"/>
              <a:t>Introduction of Joins</a:t>
            </a:r>
          </a:p>
          <a:p>
            <a:pPr marL="742950" lvl="1" indent="-285750">
              <a:lnSpc>
                <a:spcPct val="150000"/>
              </a:lnSpc>
              <a:buFont typeface="Arial" panose="020B0604020202020204" pitchFamily="34" charset="0"/>
              <a:buChar char="•"/>
            </a:pPr>
            <a:r>
              <a:rPr lang="en-US" sz="2400" dirty="0"/>
              <a:t>Types of Joins</a:t>
            </a:r>
          </a:p>
          <a:p>
            <a:pPr marL="742950" lvl="1" indent="-285750">
              <a:lnSpc>
                <a:spcPct val="150000"/>
              </a:lnSpc>
              <a:buFont typeface="Arial" panose="020B0604020202020204" pitchFamily="34" charset="0"/>
              <a:buChar char="•"/>
            </a:pPr>
            <a:r>
              <a:rPr lang="en-US" sz="2400" dirty="0"/>
              <a:t>Set Operators</a:t>
            </a: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55C57-C02F-A994-5141-82B03B1F63D2}"/>
              </a:ext>
            </a:extLst>
          </p:cNvPr>
          <p:cNvSpPr>
            <a:spLocks noGrp="1"/>
          </p:cNvSpPr>
          <p:nvPr>
            <p:ph type="title"/>
          </p:nvPr>
        </p:nvSpPr>
        <p:spPr/>
        <p:txBody>
          <a:bodyPr/>
          <a:lstStyle/>
          <a:p>
            <a:r>
              <a:rPr lang="en-US" dirty="0"/>
              <a:t>SQL in-built Functions</a:t>
            </a:r>
            <a:endParaRPr lang="en-IN" dirty="0"/>
          </a:p>
        </p:txBody>
      </p:sp>
      <p:sp>
        <p:nvSpPr>
          <p:cNvPr id="3" name="Text Placeholder 2">
            <a:extLst>
              <a:ext uri="{FF2B5EF4-FFF2-40B4-BE49-F238E27FC236}">
                <a16:creationId xmlns:a16="http://schemas.microsoft.com/office/drawing/2014/main" id="{40413D00-496D-7544-D7C3-EDB71DE9628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631287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SQL in-built Functions</a:t>
            </a:r>
          </a:p>
        </p:txBody>
      </p:sp>
      <p:pic>
        <p:nvPicPr>
          <p:cNvPr id="4" name="Picture 3">
            <a:extLst>
              <a:ext uri="{FF2B5EF4-FFF2-40B4-BE49-F238E27FC236}">
                <a16:creationId xmlns:a16="http://schemas.microsoft.com/office/drawing/2014/main" id="{C8FF3D11-D760-1536-4DFB-3F9B3E6BF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865038"/>
            <a:ext cx="4271963" cy="5440951"/>
          </a:xfrm>
          <a:prstGeom prst="rect">
            <a:avLst/>
          </a:prstGeom>
        </p:spPr>
      </p:pic>
      <p:sp>
        <p:nvSpPr>
          <p:cNvPr id="5" name="Rectangle 4">
            <a:extLst>
              <a:ext uri="{FF2B5EF4-FFF2-40B4-BE49-F238E27FC236}">
                <a16:creationId xmlns:a16="http://schemas.microsoft.com/office/drawing/2014/main" id="{6043E1DE-D336-27E2-6E73-0D010F2AF74E}"/>
              </a:ext>
            </a:extLst>
          </p:cNvPr>
          <p:cNvSpPr/>
          <p:nvPr/>
        </p:nvSpPr>
        <p:spPr>
          <a:xfrm>
            <a:off x="7430813" y="3342289"/>
            <a:ext cx="1865587" cy="2183196"/>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Arrow: Left 3">
            <a:extLst>
              <a:ext uri="{FF2B5EF4-FFF2-40B4-BE49-F238E27FC236}">
                <a16:creationId xmlns:a16="http://schemas.microsoft.com/office/drawing/2014/main" id="{0A8696B3-C7C3-43DD-0940-820E303B2436}"/>
              </a:ext>
            </a:extLst>
          </p:cNvPr>
          <p:cNvSpPr/>
          <p:nvPr/>
        </p:nvSpPr>
        <p:spPr>
          <a:xfrm>
            <a:off x="9514175" y="4312037"/>
            <a:ext cx="439449" cy="243699"/>
          </a:xfrm>
          <a:prstGeom prst="leftArrow">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p:cNvSpPr txBox="1"/>
          <p:nvPr/>
        </p:nvSpPr>
        <p:spPr>
          <a:xfrm>
            <a:off x="189186" y="865038"/>
            <a:ext cx="5906814" cy="1200329"/>
          </a:xfrm>
          <a:prstGeom prst="rect">
            <a:avLst/>
          </a:prstGeom>
          <a:noFill/>
        </p:spPr>
        <p:txBody>
          <a:bodyPr wrap="square" rtlCol="0">
            <a:spAutoFit/>
          </a:bodyPr>
          <a:lstStyle/>
          <a:p>
            <a:pPr algn="just">
              <a:buClr>
                <a:schemeClr val="tx2"/>
              </a:buClr>
            </a:pPr>
            <a:r>
              <a:rPr lang="en-US" sz="2400" dirty="0"/>
              <a:t>Built-in or System functions are available with every database, we can use it as per our requirement. </a:t>
            </a:r>
          </a:p>
        </p:txBody>
      </p:sp>
      <p:graphicFrame>
        <p:nvGraphicFramePr>
          <p:cNvPr id="10" name="Table 2">
            <a:extLst>
              <a:ext uri="{FF2B5EF4-FFF2-40B4-BE49-F238E27FC236}">
                <a16:creationId xmlns:a16="http://schemas.microsoft.com/office/drawing/2014/main" id="{A53AC5F8-58AB-4FFD-AC38-4C4939B55090}"/>
              </a:ext>
            </a:extLst>
          </p:cNvPr>
          <p:cNvGraphicFramePr>
            <a:graphicFrameLocks noGrp="1"/>
          </p:cNvGraphicFramePr>
          <p:nvPr/>
        </p:nvGraphicFramePr>
        <p:xfrm>
          <a:off x="555070" y="2229769"/>
          <a:ext cx="4681060" cy="2225040"/>
        </p:xfrm>
        <a:graphic>
          <a:graphicData uri="http://schemas.openxmlformats.org/drawingml/2006/table">
            <a:tbl>
              <a:tblPr firstRow="1" bandRow="1">
                <a:tableStyleId>{5940675A-B579-460E-94D1-54222C63F5DA}</a:tableStyleId>
              </a:tblPr>
              <a:tblGrid>
                <a:gridCol w="627118">
                  <a:extLst>
                    <a:ext uri="{9D8B030D-6E8A-4147-A177-3AD203B41FA5}">
                      <a16:colId xmlns:a16="http://schemas.microsoft.com/office/drawing/2014/main" val="1785440712"/>
                    </a:ext>
                  </a:extLst>
                </a:gridCol>
                <a:gridCol w="4053942">
                  <a:extLst>
                    <a:ext uri="{9D8B030D-6E8A-4147-A177-3AD203B41FA5}">
                      <a16:colId xmlns:a16="http://schemas.microsoft.com/office/drawing/2014/main" val="1774611958"/>
                    </a:ext>
                  </a:extLst>
                </a:gridCol>
              </a:tblGrid>
              <a:tr h="370840">
                <a:tc>
                  <a:txBody>
                    <a:bodyPr/>
                    <a:lstStyle/>
                    <a:p>
                      <a:pPr algn="l"/>
                      <a:r>
                        <a:rPr lang="en-US" b="1" dirty="0"/>
                        <a:t>Sr.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US" b="1" dirty="0"/>
                        <a:t>System</a:t>
                      </a:r>
                      <a:r>
                        <a:rPr lang="en-US" b="1" baseline="0" dirty="0"/>
                        <a:t> Functions</a:t>
                      </a:r>
                      <a:endParaRPr lang="en-US"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70840">
                <a:tc>
                  <a:txBody>
                    <a:bodyPr/>
                    <a:lstStyle/>
                    <a:p>
                      <a:pPr algn="l"/>
                      <a:r>
                        <a:rPr lang="en-US" dirty="0"/>
                        <a:t>1</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Aggregate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r h="370840">
                <a:tc>
                  <a:txBody>
                    <a:bodyPr/>
                    <a:lstStyle/>
                    <a:p>
                      <a:pPr algn="l"/>
                      <a:r>
                        <a:rPr lang="en-US" dirty="0"/>
                        <a:t>2</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Date</a:t>
                      </a:r>
                      <a:r>
                        <a:rPr lang="en-US" baseline="0" dirty="0"/>
                        <a:t> and Time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59207211"/>
                  </a:ext>
                </a:extLst>
              </a:tr>
              <a:tr h="370840">
                <a:tc>
                  <a:txBody>
                    <a:bodyPr/>
                    <a:lstStyle/>
                    <a:p>
                      <a:pPr algn="l"/>
                      <a:r>
                        <a:rPr lang="en-US" dirty="0"/>
                        <a:t>3</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Mathematical</a:t>
                      </a:r>
                      <a:r>
                        <a:rPr lang="en-US" baseline="0" dirty="0"/>
                        <a:t>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46811671"/>
                  </a:ext>
                </a:extLst>
              </a:tr>
              <a:tr h="370840">
                <a:tc>
                  <a:txBody>
                    <a:bodyPr/>
                    <a:lstStyle/>
                    <a:p>
                      <a:pPr algn="l"/>
                      <a:r>
                        <a:rPr lang="en-US" dirty="0"/>
                        <a:t>4</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String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2685385"/>
                  </a:ext>
                </a:extLst>
              </a:tr>
              <a:tr h="370840">
                <a:tc>
                  <a:txBody>
                    <a:bodyPr/>
                    <a:lstStyle/>
                    <a:p>
                      <a:pPr algn="l"/>
                      <a:r>
                        <a:rPr lang="en-US" dirty="0"/>
                        <a:t>5</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Other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Rectangle 10"/>
          <p:cNvSpPr/>
          <p:nvPr/>
        </p:nvSpPr>
        <p:spPr>
          <a:xfrm>
            <a:off x="7641771" y="3494314"/>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p:cNvSpPr/>
          <p:nvPr/>
        </p:nvSpPr>
        <p:spPr>
          <a:xfrm>
            <a:off x="7641770" y="3951514"/>
            <a:ext cx="1513115" cy="182626"/>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Rectangle 12"/>
          <p:cNvSpPr/>
          <p:nvPr/>
        </p:nvSpPr>
        <p:spPr>
          <a:xfrm>
            <a:off x="7641769" y="4134140"/>
            <a:ext cx="1513115"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p:cNvSpPr/>
          <p:nvPr/>
        </p:nvSpPr>
        <p:spPr>
          <a:xfrm>
            <a:off x="7641769" y="5034849"/>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14"/>
          <p:cNvSpPr/>
          <p:nvPr/>
        </p:nvSpPr>
        <p:spPr>
          <a:xfrm>
            <a:off x="7641769" y="4417168"/>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6989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11" grpId="0" animBg="1"/>
      <p:bldP spid="12" grpId="0" animBg="1"/>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buClr>
                <a:schemeClr val="tx2"/>
              </a:buClr>
            </a:pPr>
            <a:r>
              <a:rPr lang="en-GB" sz="2000" b="0" i="0" dirty="0">
                <a:solidFill>
                  <a:srgbClr val="000000"/>
                </a:solidFill>
                <a:effectLst/>
                <a:latin typeface="+mj-lt"/>
              </a:rPr>
              <a:t>SQL Server Math/Numeric Functions</a:t>
            </a:r>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Mathematical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454052" y="1596155"/>
          <a:ext cx="11411376" cy="99822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25962218"/>
                    </a:ext>
                  </a:extLst>
                </a:gridCol>
                <a:gridCol w="8238561">
                  <a:extLst>
                    <a:ext uri="{9D8B030D-6E8A-4147-A177-3AD203B41FA5}">
                      <a16:colId xmlns:a16="http://schemas.microsoft.com/office/drawing/2014/main" val="2387673325"/>
                    </a:ext>
                  </a:extLst>
                </a:gridCol>
                <a:gridCol w="1361831">
                  <a:extLst>
                    <a:ext uri="{9D8B030D-6E8A-4147-A177-3AD203B41FA5}">
                      <a16:colId xmlns:a16="http://schemas.microsoft.com/office/drawing/2014/main" val="20002"/>
                    </a:ext>
                  </a:extLst>
                </a:gridCol>
              </a:tblGrid>
              <a:tr h="348907">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623579">
                <a:tc>
                  <a:txBody>
                    <a:bodyPr/>
                    <a:lstStyle/>
                    <a:p>
                      <a:r>
                        <a:rPr lang="en-GB" sz="1800" dirty="0">
                          <a:solidFill>
                            <a:srgbClr val="FF00FF"/>
                          </a:solidFill>
                          <a:latin typeface="Consolas" panose="020B0609020204030204" pitchFamily="49" charset="0"/>
                        </a:rPr>
                        <a:t>ABS</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absolute value of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ABS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ABS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50</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20, 50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454052" y="1270535"/>
            <a:ext cx="1043203" cy="325620"/>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graphicFrame>
        <p:nvGraphicFramePr>
          <p:cNvPr id="3" name="Table 2">
            <a:extLst>
              <a:ext uri="{FF2B5EF4-FFF2-40B4-BE49-F238E27FC236}">
                <a16:creationId xmlns:a16="http://schemas.microsoft.com/office/drawing/2014/main" id="{1FDBD009-C938-69FB-F0A3-6F94046BE88F}"/>
              </a:ext>
            </a:extLst>
          </p:cNvPr>
          <p:cNvGraphicFramePr>
            <a:graphicFrameLocks noGrp="1"/>
          </p:cNvGraphicFramePr>
          <p:nvPr/>
        </p:nvGraphicFramePr>
        <p:xfrm>
          <a:off x="454052" y="2594375"/>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3066520557"/>
                    </a:ext>
                  </a:extLst>
                </a:gridCol>
                <a:gridCol w="8238561">
                  <a:extLst>
                    <a:ext uri="{9D8B030D-6E8A-4147-A177-3AD203B41FA5}">
                      <a16:colId xmlns:a16="http://schemas.microsoft.com/office/drawing/2014/main" val="866923530"/>
                    </a:ext>
                  </a:extLst>
                </a:gridCol>
                <a:gridCol w="1361831">
                  <a:extLst>
                    <a:ext uri="{9D8B030D-6E8A-4147-A177-3AD203B41FA5}">
                      <a16:colId xmlns:a16="http://schemas.microsoft.com/office/drawing/2014/main" val="2534147422"/>
                    </a:ext>
                  </a:extLst>
                </a:gridCol>
              </a:tblGrid>
              <a:tr h="623579">
                <a:tc>
                  <a:txBody>
                    <a:bodyPr/>
                    <a:lstStyle/>
                    <a:p>
                      <a:r>
                        <a:rPr lang="en-GB" sz="1800" dirty="0">
                          <a:solidFill>
                            <a:srgbClr val="FF00FF"/>
                          </a:solidFill>
                          <a:latin typeface="Consolas" panose="020B0609020204030204" pitchFamily="49" charset="0"/>
                        </a:rPr>
                        <a:t>CEILING</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smallest integer value that is &gt;=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CEILING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13.5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CEILING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-13, 25</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74488521"/>
                  </a:ext>
                </a:extLst>
              </a:tr>
            </a:tbl>
          </a:graphicData>
        </a:graphic>
      </p:graphicFrame>
      <p:graphicFrame>
        <p:nvGraphicFramePr>
          <p:cNvPr id="4" name="Table 3">
            <a:extLst>
              <a:ext uri="{FF2B5EF4-FFF2-40B4-BE49-F238E27FC236}">
                <a16:creationId xmlns:a16="http://schemas.microsoft.com/office/drawing/2014/main" id="{3F229C6A-FB65-DF55-9DBF-79825EB751F8}"/>
              </a:ext>
            </a:extLst>
          </p:cNvPr>
          <p:cNvGraphicFramePr>
            <a:graphicFrameLocks noGrp="1"/>
          </p:cNvGraphicFramePr>
          <p:nvPr/>
        </p:nvGraphicFramePr>
        <p:xfrm>
          <a:off x="454052" y="3234455"/>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3145668237"/>
                    </a:ext>
                  </a:extLst>
                </a:gridCol>
                <a:gridCol w="8238561">
                  <a:extLst>
                    <a:ext uri="{9D8B030D-6E8A-4147-A177-3AD203B41FA5}">
                      <a16:colId xmlns:a16="http://schemas.microsoft.com/office/drawing/2014/main" val="2479236369"/>
                    </a:ext>
                  </a:extLst>
                </a:gridCol>
                <a:gridCol w="1361831">
                  <a:extLst>
                    <a:ext uri="{9D8B030D-6E8A-4147-A177-3AD203B41FA5}">
                      <a16:colId xmlns:a16="http://schemas.microsoft.com/office/drawing/2014/main" val="3506510724"/>
                    </a:ext>
                  </a:extLst>
                </a:gridCol>
              </a:tblGrid>
              <a:tr h="623579">
                <a:tc>
                  <a:txBody>
                    <a:bodyPr/>
                    <a:lstStyle/>
                    <a:p>
                      <a:r>
                        <a:rPr lang="en-GB" sz="1800" dirty="0">
                          <a:solidFill>
                            <a:srgbClr val="FF00FF"/>
                          </a:solidFill>
                          <a:latin typeface="Consolas" panose="020B0609020204030204" pitchFamily="49" charset="0"/>
                        </a:rPr>
                        <a:t>FLOOR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largest integer value that is &lt;= to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FLOOR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13.5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FLOOR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25.75</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-14, 25</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14550459"/>
                  </a:ext>
                </a:extLst>
              </a:tr>
            </a:tbl>
          </a:graphicData>
        </a:graphic>
      </p:graphicFrame>
      <p:graphicFrame>
        <p:nvGraphicFramePr>
          <p:cNvPr id="5" name="Table 4">
            <a:extLst>
              <a:ext uri="{FF2B5EF4-FFF2-40B4-BE49-F238E27FC236}">
                <a16:creationId xmlns:a16="http://schemas.microsoft.com/office/drawing/2014/main" id="{DE928BA6-41DF-8798-4A3C-8D21E473A056}"/>
              </a:ext>
            </a:extLst>
          </p:cNvPr>
          <p:cNvGraphicFramePr>
            <a:graphicFrameLocks noGrp="1"/>
          </p:cNvGraphicFramePr>
          <p:nvPr/>
        </p:nvGraphicFramePr>
        <p:xfrm>
          <a:off x="454052" y="3884112"/>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942130432"/>
                    </a:ext>
                  </a:extLst>
                </a:gridCol>
                <a:gridCol w="8238561">
                  <a:extLst>
                    <a:ext uri="{9D8B030D-6E8A-4147-A177-3AD203B41FA5}">
                      <a16:colId xmlns:a16="http://schemas.microsoft.com/office/drawing/2014/main" val="2697228006"/>
                    </a:ext>
                  </a:extLst>
                </a:gridCol>
                <a:gridCol w="1361831">
                  <a:extLst>
                    <a:ext uri="{9D8B030D-6E8A-4147-A177-3AD203B41FA5}">
                      <a16:colId xmlns:a16="http://schemas.microsoft.com/office/drawing/2014/main" val="1754399812"/>
                    </a:ext>
                  </a:extLst>
                </a:gridCol>
              </a:tblGrid>
              <a:tr h="623579">
                <a:tc>
                  <a:txBody>
                    <a:bodyPr/>
                    <a:lstStyle/>
                    <a:p>
                      <a:r>
                        <a:rPr lang="en-GB" sz="1800" dirty="0">
                          <a:solidFill>
                            <a:srgbClr val="FF00FF"/>
                          </a:solidFill>
                          <a:latin typeface="Consolas" panose="020B0609020204030204" pitchFamily="49" charset="0"/>
                        </a:rPr>
                        <a:t>PI</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value of PI</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PI</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3.14159265358979</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34816299"/>
                  </a:ext>
                </a:extLst>
              </a:tr>
            </a:tbl>
          </a:graphicData>
        </a:graphic>
      </p:graphicFrame>
      <p:graphicFrame>
        <p:nvGraphicFramePr>
          <p:cNvPr id="6" name="Table 5">
            <a:extLst>
              <a:ext uri="{FF2B5EF4-FFF2-40B4-BE49-F238E27FC236}">
                <a16:creationId xmlns:a16="http://schemas.microsoft.com/office/drawing/2014/main" id="{721E0298-83B9-4B1F-9E2F-54C1ACFE586C}"/>
              </a:ext>
            </a:extLst>
          </p:cNvPr>
          <p:cNvGraphicFramePr>
            <a:graphicFrameLocks noGrp="1"/>
          </p:cNvGraphicFramePr>
          <p:nvPr/>
        </p:nvGraphicFramePr>
        <p:xfrm>
          <a:off x="454052" y="4533769"/>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1305766804"/>
                    </a:ext>
                  </a:extLst>
                </a:gridCol>
                <a:gridCol w="8238561">
                  <a:extLst>
                    <a:ext uri="{9D8B030D-6E8A-4147-A177-3AD203B41FA5}">
                      <a16:colId xmlns:a16="http://schemas.microsoft.com/office/drawing/2014/main" val="2306710898"/>
                    </a:ext>
                  </a:extLst>
                </a:gridCol>
                <a:gridCol w="1361831">
                  <a:extLst>
                    <a:ext uri="{9D8B030D-6E8A-4147-A177-3AD203B41FA5}">
                      <a16:colId xmlns:a16="http://schemas.microsoft.com/office/drawing/2014/main" val="2554578954"/>
                    </a:ext>
                  </a:extLst>
                </a:gridCol>
              </a:tblGrid>
              <a:tr h="623579">
                <a:tc>
                  <a:txBody>
                    <a:bodyPr/>
                    <a:lstStyle/>
                    <a:p>
                      <a:r>
                        <a:rPr lang="en-GB" sz="1800" dirty="0">
                          <a:solidFill>
                            <a:srgbClr val="FF00FF"/>
                          </a:solidFill>
                          <a:latin typeface="Consolas" panose="020B0609020204030204" pitchFamily="49" charset="0"/>
                        </a:rPr>
                        <a:t>POWER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value of a number raised to the power of another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POWER</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4</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2</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16</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79983654"/>
                  </a:ext>
                </a:extLst>
              </a:tr>
            </a:tbl>
          </a:graphicData>
        </a:graphic>
      </p:graphicFrame>
    </p:spTree>
    <p:extLst>
      <p:ext uri="{BB962C8B-B14F-4D97-AF65-F5344CB8AC3E}">
        <p14:creationId xmlns:p14="http://schemas.microsoft.com/office/powerpoint/2010/main" val="1713408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buClr>
                <a:schemeClr val="tx2"/>
              </a:buClr>
            </a:pPr>
            <a:r>
              <a:rPr lang="en-GB" sz="2000" b="0" i="0" dirty="0">
                <a:solidFill>
                  <a:srgbClr val="000000"/>
                </a:solidFill>
                <a:effectLst/>
                <a:latin typeface="+mj-lt"/>
              </a:rPr>
              <a:t>SQL Server Math/Numeric Functions</a:t>
            </a:r>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Mathematical Functions (Cont..)</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454052" y="1609988"/>
          <a:ext cx="11411375" cy="127254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25962218"/>
                    </a:ext>
                  </a:extLst>
                </a:gridCol>
                <a:gridCol w="8280593">
                  <a:extLst>
                    <a:ext uri="{9D8B030D-6E8A-4147-A177-3AD203B41FA5}">
                      <a16:colId xmlns:a16="http://schemas.microsoft.com/office/drawing/2014/main" val="2387673325"/>
                    </a:ext>
                  </a:extLst>
                </a:gridCol>
                <a:gridCol w="1361831">
                  <a:extLst>
                    <a:ext uri="{9D8B030D-6E8A-4147-A177-3AD203B41FA5}">
                      <a16:colId xmlns:a16="http://schemas.microsoft.com/office/drawing/2014/main" val="20002"/>
                    </a:ext>
                  </a:extLst>
                </a:gridCol>
              </a:tblGrid>
              <a:tr h="345154">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876691">
                <a:tc>
                  <a:txBody>
                    <a:bodyPr/>
                    <a:lstStyle/>
                    <a:p>
                      <a:r>
                        <a:rPr lang="en-GB" sz="1800" dirty="0">
                          <a:solidFill>
                            <a:srgbClr val="FF00FF"/>
                          </a:solidFill>
                          <a:latin typeface="Consolas" panose="020B0609020204030204" pitchFamily="49" charset="0"/>
                        </a:rPr>
                        <a:t>ROUND</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Rounds a number to a specified number of decimal places</a:t>
                      </a:r>
                    </a:p>
                    <a:p>
                      <a:r>
                        <a:rPr lang="en-US" sz="1700" dirty="0">
                          <a:solidFill>
                            <a:srgbClr val="0000FF"/>
                          </a:solidFill>
                          <a:latin typeface="Consolas" panose="020B0609020204030204" pitchFamily="49" charset="0"/>
                        </a:rPr>
                        <a:t>SELECT</a:t>
                      </a:r>
                      <a:r>
                        <a:rPr lang="en-US" sz="1700" dirty="0">
                          <a:solidFill>
                            <a:srgbClr val="000000"/>
                          </a:solidFill>
                          <a:latin typeface="Consolas" panose="020B0609020204030204" pitchFamily="49" charset="0"/>
                        </a:rPr>
                        <a:t> </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0</a:t>
                      </a:r>
                      <a:r>
                        <a:rPr lang="en-US" sz="1700" dirty="0">
                          <a:solidFill>
                            <a:srgbClr val="808080"/>
                          </a:solidFill>
                          <a:latin typeface="Consolas" panose="020B0609020204030204" pitchFamily="49" charset="0"/>
                        </a:rPr>
                        <a:t>),</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2</a:t>
                      </a:r>
                      <a:r>
                        <a:rPr lang="en-US" sz="17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235.000</a:t>
                      </a:r>
                    </a:p>
                    <a:p>
                      <a:pPr algn="ctr"/>
                      <a:r>
                        <a:rPr lang="en-IN" dirty="0"/>
                        <a:t>235.400</a:t>
                      </a:r>
                    </a:p>
                    <a:p>
                      <a:pPr algn="ctr"/>
                      <a:r>
                        <a:rPr lang="en-IN" dirty="0"/>
                        <a:t>235.420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454051" y="1280804"/>
            <a:ext cx="1044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graphicFrame>
        <p:nvGraphicFramePr>
          <p:cNvPr id="3" name="Table 2">
            <a:extLst>
              <a:ext uri="{FF2B5EF4-FFF2-40B4-BE49-F238E27FC236}">
                <a16:creationId xmlns:a16="http://schemas.microsoft.com/office/drawing/2014/main" id="{65A75AF7-DF18-F45B-EC6D-F75A2F71FEC6}"/>
              </a:ext>
            </a:extLst>
          </p:cNvPr>
          <p:cNvGraphicFramePr>
            <a:graphicFrameLocks noGrp="1"/>
          </p:cNvGraphicFramePr>
          <p:nvPr/>
        </p:nvGraphicFramePr>
        <p:xfrm>
          <a:off x="454052" y="2878193"/>
          <a:ext cx="11411375" cy="91440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1220902706"/>
                    </a:ext>
                  </a:extLst>
                </a:gridCol>
                <a:gridCol w="8280593">
                  <a:extLst>
                    <a:ext uri="{9D8B030D-6E8A-4147-A177-3AD203B41FA5}">
                      <a16:colId xmlns:a16="http://schemas.microsoft.com/office/drawing/2014/main" val="2263798256"/>
                    </a:ext>
                  </a:extLst>
                </a:gridCol>
                <a:gridCol w="1361831">
                  <a:extLst>
                    <a:ext uri="{9D8B030D-6E8A-4147-A177-3AD203B41FA5}">
                      <a16:colId xmlns:a16="http://schemas.microsoft.com/office/drawing/2014/main" val="2292017487"/>
                    </a:ext>
                  </a:extLst>
                </a:gridCol>
              </a:tblGrid>
              <a:tr h="876691">
                <a:tc>
                  <a:txBody>
                    <a:bodyPr/>
                    <a:lstStyle/>
                    <a:p>
                      <a:r>
                        <a:rPr lang="en-GB" sz="1800" dirty="0">
                          <a:solidFill>
                            <a:srgbClr val="FF00FF"/>
                          </a:solidFill>
                          <a:latin typeface="Consolas" panose="020B0609020204030204" pitchFamily="49" charset="0"/>
                        </a:rPr>
                        <a:t>SIGN</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sign of a number (If number &gt; 0, it returns 1, If number = 0, it returns 0, If number &lt; 0, it returns -1)</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0</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-1</a:t>
                      </a:r>
                    </a:p>
                    <a:p>
                      <a:pPr algn="ctr"/>
                      <a:r>
                        <a:rPr lang="en-IN" dirty="0"/>
                        <a:t>1</a:t>
                      </a:r>
                    </a:p>
                    <a:p>
                      <a:pPr algn="ctr"/>
                      <a:r>
                        <a:rPr lang="en-IN"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0722563"/>
                  </a:ext>
                </a:extLst>
              </a:tr>
            </a:tbl>
          </a:graphicData>
        </a:graphic>
      </p:graphicFrame>
      <p:graphicFrame>
        <p:nvGraphicFramePr>
          <p:cNvPr id="4" name="Table 3">
            <a:extLst>
              <a:ext uri="{FF2B5EF4-FFF2-40B4-BE49-F238E27FC236}">
                <a16:creationId xmlns:a16="http://schemas.microsoft.com/office/drawing/2014/main" id="{738FDF43-DB4F-8166-D14C-E2E427F9CDE2}"/>
              </a:ext>
            </a:extLst>
          </p:cNvPr>
          <p:cNvGraphicFramePr>
            <a:graphicFrameLocks noGrp="1"/>
          </p:cNvGraphicFramePr>
          <p:nvPr/>
        </p:nvGraphicFramePr>
        <p:xfrm>
          <a:off x="454052" y="3792593"/>
          <a:ext cx="11411375" cy="64008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1630190672"/>
                    </a:ext>
                  </a:extLst>
                </a:gridCol>
                <a:gridCol w="8280593">
                  <a:extLst>
                    <a:ext uri="{9D8B030D-6E8A-4147-A177-3AD203B41FA5}">
                      <a16:colId xmlns:a16="http://schemas.microsoft.com/office/drawing/2014/main" val="2374297072"/>
                    </a:ext>
                  </a:extLst>
                </a:gridCol>
                <a:gridCol w="1361831">
                  <a:extLst>
                    <a:ext uri="{9D8B030D-6E8A-4147-A177-3AD203B41FA5}">
                      <a16:colId xmlns:a16="http://schemas.microsoft.com/office/drawing/2014/main" val="187157459"/>
                    </a:ext>
                  </a:extLst>
                </a:gridCol>
              </a:tblGrid>
              <a:tr h="613684">
                <a:tc>
                  <a:txBody>
                    <a:bodyPr/>
                    <a:lstStyle/>
                    <a:p>
                      <a:r>
                        <a:rPr lang="en-GB" sz="1800" dirty="0">
                          <a:solidFill>
                            <a:srgbClr val="FF00FF"/>
                          </a:solidFill>
                          <a:latin typeface="Consolas" panose="020B0609020204030204" pitchFamily="49" charset="0"/>
                        </a:rPr>
                        <a:t>SQRT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square root of a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SQRT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64</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8</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37743025"/>
                  </a:ext>
                </a:extLst>
              </a:tr>
            </a:tbl>
          </a:graphicData>
        </a:graphic>
      </p:graphicFrame>
      <p:graphicFrame>
        <p:nvGraphicFramePr>
          <p:cNvPr id="5" name="Table 4">
            <a:extLst>
              <a:ext uri="{FF2B5EF4-FFF2-40B4-BE49-F238E27FC236}">
                <a16:creationId xmlns:a16="http://schemas.microsoft.com/office/drawing/2014/main" id="{C72C4B20-CCAB-5F6C-8763-630E3DA45945}"/>
              </a:ext>
            </a:extLst>
          </p:cNvPr>
          <p:cNvGraphicFramePr>
            <a:graphicFrameLocks noGrp="1"/>
          </p:cNvGraphicFramePr>
          <p:nvPr/>
        </p:nvGraphicFramePr>
        <p:xfrm>
          <a:off x="454052" y="4420718"/>
          <a:ext cx="11411375" cy="64008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1737776765"/>
                    </a:ext>
                  </a:extLst>
                </a:gridCol>
                <a:gridCol w="8280593">
                  <a:extLst>
                    <a:ext uri="{9D8B030D-6E8A-4147-A177-3AD203B41FA5}">
                      <a16:colId xmlns:a16="http://schemas.microsoft.com/office/drawing/2014/main" val="944195782"/>
                    </a:ext>
                  </a:extLst>
                </a:gridCol>
                <a:gridCol w="1361831">
                  <a:extLst>
                    <a:ext uri="{9D8B030D-6E8A-4147-A177-3AD203B41FA5}">
                      <a16:colId xmlns:a16="http://schemas.microsoft.com/office/drawing/2014/main" val="1714723101"/>
                    </a:ext>
                  </a:extLst>
                </a:gridCol>
              </a:tblGrid>
              <a:tr h="613684">
                <a:tc>
                  <a:txBody>
                    <a:bodyPr/>
                    <a:lstStyle/>
                    <a:p>
                      <a:r>
                        <a:rPr lang="en-GB" sz="1800" dirty="0">
                          <a:solidFill>
                            <a:srgbClr val="FF00FF"/>
                          </a:solidFill>
                          <a:latin typeface="Consolas" panose="020B0609020204030204" pitchFamily="49" charset="0"/>
                        </a:rPr>
                        <a:t>SQUARE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square of a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SQUARE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8</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64</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21407777"/>
                  </a:ext>
                </a:extLst>
              </a:tr>
            </a:tbl>
          </a:graphicData>
        </a:graphic>
      </p:graphicFrame>
    </p:spTree>
    <p:extLst>
      <p:ext uri="{BB962C8B-B14F-4D97-AF65-F5344CB8AC3E}">
        <p14:creationId xmlns:p14="http://schemas.microsoft.com/office/powerpoint/2010/main" val="292012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451373"/>
          <a:ext cx="11486023" cy="127254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4918">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880642">
                <a:tc>
                  <a:txBody>
                    <a:bodyPr/>
                    <a:lstStyle/>
                    <a:p>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 ASCII() function accepts a character expression and returns the ASCII code value of the leftmost character of the character expression.</a:t>
                      </a:r>
                    </a:p>
                    <a:p>
                      <a:pPr>
                        <a:lnSpc>
                          <a:spcPct val="100000"/>
                        </a:lnSpc>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'A'</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'a'</a:t>
                      </a:r>
                      <a:r>
                        <a:rPr lang="en-GB" sz="1800" dirty="0">
                          <a:solidFill>
                            <a:srgbClr val="808080"/>
                          </a:solidFill>
                          <a:latin typeface="Consolas" panose="020B0609020204030204" pitchFamily="49" charset="0"/>
                        </a:rPr>
                        <a:t>)</a:t>
                      </a: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65, 97</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22189"/>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D31A4BDB-0EC3-2345-0F46-75C9E1CEC6AE}"/>
              </a:ext>
            </a:extLst>
          </p:cNvPr>
          <p:cNvGraphicFramePr>
            <a:graphicFrameLocks noGrp="1"/>
          </p:cNvGraphicFramePr>
          <p:nvPr/>
        </p:nvGraphicFramePr>
        <p:xfrm>
          <a:off x="379404" y="2723913"/>
          <a:ext cx="11486023" cy="25603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905325814"/>
                    </a:ext>
                  </a:extLst>
                </a:gridCol>
                <a:gridCol w="8360228">
                  <a:extLst>
                    <a:ext uri="{9D8B030D-6E8A-4147-A177-3AD203B41FA5}">
                      <a16:colId xmlns:a16="http://schemas.microsoft.com/office/drawing/2014/main" val="1528750059"/>
                    </a:ext>
                  </a:extLst>
                </a:gridCol>
                <a:gridCol w="1377819">
                  <a:extLst>
                    <a:ext uri="{9D8B030D-6E8A-4147-A177-3AD203B41FA5}">
                      <a16:colId xmlns:a16="http://schemas.microsoft.com/office/drawing/2014/main" val="2143774291"/>
                    </a:ext>
                  </a:extLst>
                </a:gridCol>
              </a:tblGrid>
              <a:tr h="2465798">
                <a:tc>
                  <a:txBody>
                    <a:bodyPr/>
                    <a:lstStyle/>
                    <a:p>
                      <a:r>
                        <a:rPr lang="en-GB" sz="1800" dirty="0">
                          <a:solidFill>
                            <a:srgbClr val="FF00FF"/>
                          </a:solidFill>
                          <a:latin typeface="Consolas" panose="020B0609020204030204" pitchFamily="49" charset="0"/>
                        </a:rPr>
                        <a:t>CONCAT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To join two or more strings into one, you use the </a:t>
                      </a:r>
                      <a:r>
                        <a:rPr lang="en-US" dirty="0"/>
                        <a:t>CONCAT()</a:t>
                      </a:r>
                      <a:r>
                        <a:rPr lang="en-US" sz="1800" b="0" i="0" kern="1200" dirty="0">
                          <a:solidFill>
                            <a:schemeClr val="tx1"/>
                          </a:solidFill>
                          <a:effectLst/>
                          <a:latin typeface="+mn-lt"/>
                          <a:ea typeface="+mn-ea"/>
                          <a:cs typeface="+mn-cs"/>
                        </a:rPr>
                        <a:t> function, The </a:t>
                      </a:r>
                      <a:r>
                        <a:rPr lang="en-US" dirty="0"/>
                        <a:t>CONCAT()</a:t>
                      </a:r>
                      <a:r>
                        <a:rPr lang="en-US" sz="1800" b="0" i="0" kern="1200" dirty="0">
                          <a:solidFill>
                            <a:schemeClr val="tx1"/>
                          </a:solidFill>
                          <a:effectLst/>
                          <a:latin typeface="+mn-lt"/>
                          <a:ea typeface="+mn-ea"/>
                          <a:cs typeface="+mn-cs"/>
                        </a:rPr>
                        <a:t> takes two up to 255 input strings and joins them into one.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requires at least two input strings. If you pass one input string, the </a:t>
                      </a:r>
                      <a:r>
                        <a:rPr lang="en-US" dirty="0"/>
                        <a:t>CONCAT()</a:t>
                      </a:r>
                      <a:r>
                        <a:rPr lang="en-US" sz="1800" b="0" i="0" kern="1200" dirty="0">
                          <a:solidFill>
                            <a:schemeClr val="tx1"/>
                          </a:solidFill>
                          <a:effectLst/>
                          <a:latin typeface="+mn-lt"/>
                          <a:ea typeface="+mn-ea"/>
                          <a:cs typeface="+mn-cs"/>
                        </a:rPr>
                        <a:t> function will raise an error.</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If you pass non-character string values, the </a:t>
                      </a:r>
                      <a:r>
                        <a:rPr lang="en-US" dirty="0"/>
                        <a:t>CONCAT()</a:t>
                      </a:r>
                      <a:r>
                        <a:rPr lang="en-US" sz="1800" b="0" i="0" kern="1200" dirty="0">
                          <a:solidFill>
                            <a:schemeClr val="tx1"/>
                          </a:solidFill>
                          <a:effectLst/>
                          <a:latin typeface="+mn-lt"/>
                          <a:ea typeface="+mn-ea"/>
                          <a:cs typeface="+mn-cs"/>
                        </a:rPr>
                        <a:t> function will implicitly convert those values into strings before concatenating.</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 </a:t>
                      </a:r>
                      <a:r>
                        <a:rPr lang="en-US" dirty="0"/>
                        <a:t>CONCAT()</a:t>
                      </a:r>
                      <a:r>
                        <a:rPr lang="en-US" sz="1800" b="0" i="0" kern="1200" dirty="0">
                          <a:solidFill>
                            <a:schemeClr val="tx1"/>
                          </a:solidFill>
                          <a:effectLst/>
                          <a:latin typeface="+mn-lt"/>
                          <a:ea typeface="+mn-ea"/>
                          <a:cs typeface="+mn-cs"/>
                        </a:rPr>
                        <a:t> function also converts NULL into an empty string with the type </a:t>
                      </a:r>
                      <a:r>
                        <a:rPr lang="en-US" u="none" strike="noStrike" dirty="0">
                          <a:effectLst/>
                        </a:rPr>
                        <a:t>VARCHAR(1).</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CONCAT</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'University'</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Darshan University</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43812523"/>
                  </a:ext>
                </a:extLst>
              </a:tr>
            </a:tbl>
          </a:graphicData>
        </a:graphic>
      </p:graphicFrame>
      <p:graphicFrame>
        <p:nvGraphicFramePr>
          <p:cNvPr id="4" name="Table 3">
            <a:extLst>
              <a:ext uri="{FF2B5EF4-FFF2-40B4-BE49-F238E27FC236}">
                <a16:creationId xmlns:a16="http://schemas.microsoft.com/office/drawing/2014/main" id="{324770DE-9A13-50C0-D6D1-74809F9BB80C}"/>
              </a:ext>
            </a:extLst>
          </p:cNvPr>
          <p:cNvGraphicFramePr>
            <a:graphicFrameLocks noGrp="1"/>
          </p:cNvGraphicFramePr>
          <p:nvPr/>
        </p:nvGraphicFramePr>
        <p:xfrm>
          <a:off x="379404" y="5284233"/>
          <a:ext cx="11486023" cy="11887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697162967"/>
                    </a:ext>
                  </a:extLst>
                </a:gridCol>
                <a:gridCol w="8360228">
                  <a:extLst>
                    <a:ext uri="{9D8B030D-6E8A-4147-A177-3AD203B41FA5}">
                      <a16:colId xmlns:a16="http://schemas.microsoft.com/office/drawing/2014/main" val="737732784"/>
                    </a:ext>
                  </a:extLst>
                </a:gridCol>
                <a:gridCol w="1377819">
                  <a:extLst>
                    <a:ext uri="{9D8B030D-6E8A-4147-A177-3AD203B41FA5}">
                      <a16:colId xmlns:a16="http://schemas.microsoft.com/office/drawing/2014/main" val="658159874"/>
                    </a:ext>
                  </a:extLst>
                </a:gridCol>
              </a:tblGrid>
              <a:tr h="880642">
                <a:tc>
                  <a:txBody>
                    <a:bodyPr/>
                    <a:lstStyle/>
                    <a:p>
                      <a:r>
                        <a:rPr lang="en-GB" sz="1800" dirty="0">
                          <a:solidFill>
                            <a:srgbClr val="FF00FF"/>
                          </a:solidFill>
                          <a:latin typeface="Consolas" panose="020B0609020204030204" pitchFamily="49" charset="0"/>
                        </a:rPr>
                        <a:t>CONCAT_WS</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CONCAT_WS() is very similar to CONCAT() function, but it allows the user to specify a separator between the concatenated input strings.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can be used to generate comma-separated values.</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CONCAT_WS</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Darshan'</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'University</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Darshan,University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33661840"/>
                  </a:ext>
                </a:extLst>
              </a:tr>
            </a:tbl>
          </a:graphicData>
        </a:graphic>
      </p:graphicFrame>
    </p:spTree>
    <p:extLst>
      <p:ext uri="{BB962C8B-B14F-4D97-AF65-F5344CB8AC3E}">
        <p14:creationId xmlns:p14="http://schemas.microsoft.com/office/powerpoint/2010/main" val="298618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637979"/>
          <a:ext cx="11486023" cy="28270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5306">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2204082">
                <a:tc>
                  <a:txBody>
                    <a:bodyPr/>
                    <a:lstStyle/>
                    <a:p>
                      <a:r>
                        <a:rPr lang="en-GB" sz="1800" kern="1200" dirty="0">
                          <a:solidFill>
                            <a:srgbClr val="FF00FF"/>
                          </a:solidFill>
                          <a:latin typeface="Consolas" panose="020B0609020204030204" pitchFamily="49" charset="0"/>
                          <a:ea typeface="+mn-ea"/>
                          <a:cs typeface="+mn-cs"/>
                        </a:rPr>
                        <a:t>CHARINDEX</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CHARINDEX() is a scalar SQL string function used to return the index of a specific string expression within a given string.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CHARINDEX() has 2 required parameters which are the input string and character and one optional parameter which is the starting index of the search operation (If this argument is not specified or is less or equal than zero (0) value, the search starts at the beginning of input string).</a:t>
                      </a:r>
                    </a:p>
                    <a:p>
                      <a:pPr marL="0" indent="0" algn="l">
                        <a:lnSpc>
                          <a:spcPct val="100000"/>
                        </a:lnSpc>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CHARINDEX</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'Customer’</a:t>
                      </a:r>
                      <a:r>
                        <a:rPr lang="en-GB" sz="1800" dirty="0">
                          <a:solidFill>
                            <a:srgbClr val="808080"/>
                          </a:solidFill>
                          <a:latin typeface="Consolas" panose="020B0609020204030204" pitchFamily="49" charset="0"/>
                        </a:rPr>
                        <a:t>), </a:t>
                      </a:r>
                      <a:r>
                        <a:rPr lang="en-US" sz="1800" dirty="0">
                          <a:solidFill>
                            <a:srgbClr val="FF00FF"/>
                          </a:solidFill>
                          <a:latin typeface="Consolas" panose="020B0609020204030204" pitchFamily="49" charset="0"/>
                        </a:rPr>
                        <a:t>CHARINDEX</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'World'</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'Hello World'</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4, 7</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308795"/>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50991B62-0EC5-C49D-1EBA-A7533751C936}"/>
              </a:ext>
            </a:extLst>
          </p:cNvPr>
          <p:cNvGraphicFramePr>
            <a:graphicFrameLocks noGrp="1"/>
          </p:cNvGraphicFramePr>
          <p:nvPr/>
        </p:nvGraphicFramePr>
        <p:xfrm>
          <a:off x="379404" y="4464999"/>
          <a:ext cx="11486023" cy="16459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081823498"/>
                    </a:ext>
                  </a:extLst>
                </a:gridCol>
                <a:gridCol w="8360228">
                  <a:extLst>
                    <a:ext uri="{9D8B030D-6E8A-4147-A177-3AD203B41FA5}">
                      <a16:colId xmlns:a16="http://schemas.microsoft.com/office/drawing/2014/main" val="1375070925"/>
                    </a:ext>
                  </a:extLst>
                </a:gridCol>
                <a:gridCol w="1377819">
                  <a:extLst>
                    <a:ext uri="{9D8B030D-6E8A-4147-A177-3AD203B41FA5}">
                      <a16:colId xmlns:a16="http://schemas.microsoft.com/office/drawing/2014/main" val="2855993839"/>
                    </a:ext>
                  </a:extLst>
                </a:gridCol>
              </a:tblGrid>
              <a:tr h="1235827">
                <a:tc>
                  <a:txBody>
                    <a:bodyPr/>
                    <a:lstStyle/>
                    <a:p>
                      <a:r>
                        <a:rPr lang="en-GB" sz="1800" kern="1200" dirty="0">
                          <a:solidFill>
                            <a:srgbClr val="FF00FF"/>
                          </a:solidFill>
                          <a:latin typeface="Consolas" panose="020B0609020204030204" pitchFamily="49" charset="0"/>
                          <a:ea typeface="+mn-ea"/>
                          <a:cs typeface="+mn-cs"/>
                        </a:rPr>
                        <a:t>LEFT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kern="1200" dirty="0">
                          <a:solidFill>
                            <a:srgbClr val="FF00FF"/>
                          </a:solidFill>
                          <a:latin typeface="Consolas" panose="020B0609020204030204" pitchFamily="49" charset="0"/>
                          <a:ea typeface="+mn-ea"/>
                          <a:cs typeface="+mn-cs"/>
                        </a:rPr>
                        <a:t>RIGHT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LEFT() and RIGHT() functions are one of the most popular SQL string functions.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They are used to extract a specific number of characters from the left-side or right-side of a string.</a:t>
                      </a:r>
                    </a:p>
                    <a:p>
                      <a:pPr marL="0" indent="0" algn="l">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LEFT(</a:t>
                      </a:r>
                      <a:r>
                        <a:rPr lang="en-US" sz="1800" dirty="0">
                          <a:solidFill>
                            <a:srgbClr val="FF0000"/>
                          </a:solidFill>
                          <a:latin typeface="Consolas" panose="020B0609020204030204" pitchFamily="49" charset="0"/>
                        </a:rPr>
                        <a:t>'Darshan University'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RIGHT(</a:t>
                      </a:r>
                      <a:r>
                        <a:rPr lang="en-US" sz="1800" dirty="0">
                          <a:solidFill>
                            <a:srgbClr val="FF0000"/>
                          </a:solidFill>
                          <a:latin typeface="Consolas" panose="020B0609020204030204" pitchFamily="49" charset="0"/>
                        </a:rPr>
                        <a:t>'Darshan University'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Darsh, </a:t>
                      </a:r>
                      <a:r>
                        <a:rPr lang="en-US" sz="1800" dirty="0" err="1">
                          <a:solidFill>
                            <a:schemeClr val="tx1"/>
                          </a:solidFill>
                          <a:latin typeface="+mj-lt"/>
                        </a:rPr>
                        <a:t>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49183648"/>
                  </a:ext>
                </a:extLst>
              </a:tr>
            </a:tbl>
          </a:graphicData>
        </a:graphic>
      </p:graphicFrame>
    </p:spTree>
    <p:extLst>
      <p:ext uri="{BB962C8B-B14F-4D97-AF65-F5344CB8AC3E}">
        <p14:creationId xmlns:p14="http://schemas.microsoft.com/office/powerpoint/2010/main" val="246571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563339"/>
          <a:ext cx="11486023" cy="14554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LOWER</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UPPER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LOWER() is used to change the letter case to a lower case.</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UPPER() is used to change the case of the letters into upper case.</a:t>
                      </a:r>
                    </a:p>
                    <a:p>
                      <a:pPr marL="0" indent="0" algn="just">
                        <a:lnSpc>
                          <a:spcPct val="100000"/>
                        </a:lnSpc>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LOWER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UPPER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darshan</a:t>
                      </a:r>
                    </a:p>
                    <a:p>
                      <a:r>
                        <a:rPr lang="en-US" sz="1700" dirty="0">
                          <a:solidFill>
                            <a:schemeClr val="tx1"/>
                          </a:solidFill>
                          <a:latin typeface="+mj-lt"/>
                        </a:rPr>
                        <a:t>DARSHAN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234155"/>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A75F2903-2893-1FF9-21DF-D631E0DB6407}"/>
              </a:ext>
            </a:extLst>
          </p:cNvPr>
          <p:cNvGraphicFramePr>
            <a:graphicFrameLocks noGrp="1"/>
          </p:cNvGraphicFramePr>
          <p:nvPr/>
        </p:nvGraphicFramePr>
        <p:xfrm>
          <a:off x="379404" y="3018759"/>
          <a:ext cx="11486023" cy="10972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767358702"/>
                    </a:ext>
                  </a:extLst>
                </a:gridCol>
                <a:gridCol w="8360228">
                  <a:extLst>
                    <a:ext uri="{9D8B030D-6E8A-4147-A177-3AD203B41FA5}">
                      <a16:colId xmlns:a16="http://schemas.microsoft.com/office/drawing/2014/main" val="1765477643"/>
                    </a:ext>
                  </a:extLst>
                </a:gridCol>
                <a:gridCol w="1377819">
                  <a:extLst>
                    <a:ext uri="{9D8B030D-6E8A-4147-A177-3AD203B41FA5}">
                      <a16:colId xmlns:a16="http://schemas.microsoft.com/office/drawing/2014/main" val="4272056940"/>
                    </a:ext>
                  </a:extLst>
                </a:gridCol>
              </a:tblGrid>
              <a:tr h="1052275">
                <a:tc>
                  <a:txBody>
                    <a:bodyPr/>
                    <a:lstStyle/>
                    <a:p>
                      <a:r>
                        <a:rPr lang="en-GB" sz="1800" dirty="0">
                          <a:solidFill>
                            <a:srgbClr val="FF00FF"/>
                          </a:solidFill>
                          <a:latin typeface="Consolas" panose="020B0609020204030204" pitchFamily="49" charset="0"/>
                        </a:rPr>
                        <a:t>LTRIM</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RTRIM</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LTRIM() and RTRIM() function are used to remove additional spaces from the left side or right side of an input string.</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RTRIM</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  '</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LTRIM</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    University'</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DarshanUniversity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25013566"/>
                  </a:ext>
                </a:extLst>
              </a:tr>
            </a:tbl>
          </a:graphicData>
        </a:graphic>
      </p:graphicFrame>
      <p:graphicFrame>
        <p:nvGraphicFramePr>
          <p:cNvPr id="4" name="Table 3">
            <a:extLst>
              <a:ext uri="{FF2B5EF4-FFF2-40B4-BE49-F238E27FC236}">
                <a16:creationId xmlns:a16="http://schemas.microsoft.com/office/drawing/2014/main" id="{5C66E91B-DCBF-C98A-A29D-1BD0D4A71AD8}"/>
              </a:ext>
            </a:extLst>
          </p:cNvPr>
          <p:cNvGraphicFramePr>
            <a:graphicFrameLocks noGrp="1"/>
          </p:cNvGraphicFramePr>
          <p:nvPr/>
        </p:nvGraphicFramePr>
        <p:xfrm>
          <a:off x="379404" y="4116039"/>
          <a:ext cx="11486023" cy="16459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1175501904"/>
                    </a:ext>
                  </a:extLst>
                </a:gridCol>
                <a:gridCol w="8360228">
                  <a:extLst>
                    <a:ext uri="{9D8B030D-6E8A-4147-A177-3AD203B41FA5}">
                      <a16:colId xmlns:a16="http://schemas.microsoft.com/office/drawing/2014/main" val="3721598331"/>
                    </a:ext>
                  </a:extLst>
                </a:gridCol>
                <a:gridCol w="1377819">
                  <a:extLst>
                    <a:ext uri="{9D8B030D-6E8A-4147-A177-3AD203B41FA5}">
                      <a16:colId xmlns:a16="http://schemas.microsoft.com/office/drawing/2014/main" val="2000731883"/>
                    </a:ext>
                  </a:extLst>
                </a:gridCol>
              </a:tblGrid>
              <a:tr h="1052275">
                <a:tc>
                  <a:txBody>
                    <a:bodyPr/>
                    <a:lstStyle/>
                    <a:p>
                      <a:r>
                        <a:rPr lang="en-GB" sz="1800" dirty="0">
                          <a:solidFill>
                            <a:srgbClr val="FF00FF"/>
                          </a:solidFill>
                          <a:latin typeface="Consolas" panose="020B0609020204030204" pitchFamily="49" charset="0"/>
                        </a:rPr>
                        <a:t>STRING_SPLIT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is a table-valued function that splits a string into a table that consists of rows of substrings based on a specified separator.</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a:t>
                      </a:r>
                      <a:r>
                        <a:rPr lang="en-GB" sz="1800" b="0" i="0" kern="1200" dirty="0">
                          <a:solidFill>
                            <a:schemeClr val="tx1"/>
                          </a:solidFill>
                          <a:effectLst/>
                          <a:latin typeface="+mn-lt"/>
                          <a:ea typeface="+mn-ea"/>
                          <a:cs typeface="+mn-cs"/>
                        </a:rPr>
                        <a:t>STRING_SPLIT ( </a:t>
                      </a:r>
                      <a:r>
                        <a:rPr lang="en-GB" sz="1800" b="0" i="0" kern="1200" dirty="0" err="1">
                          <a:solidFill>
                            <a:schemeClr val="tx1"/>
                          </a:solidFill>
                          <a:effectLst/>
                          <a:latin typeface="+mn-lt"/>
                          <a:ea typeface="+mn-ea"/>
                          <a:cs typeface="+mn-cs"/>
                        </a:rPr>
                        <a:t>input_string</a:t>
                      </a:r>
                      <a:r>
                        <a:rPr lang="en-GB" sz="1800" b="0" i="0" kern="1200" dirty="0">
                          <a:solidFill>
                            <a:schemeClr val="tx1"/>
                          </a:solidFill>
                          <a:effectLst/>
                          <a:latin typeface="+mn-lt"/>
                          <a:ea typeface="+mn-ea"/>
                          <a:cs typeface="+mn-cs"/>
                        </a:rPr>
                        <a:t> , separator )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returns a single-column table, whose column name is </a:t>
                      </a:r>
                      <a:r>
                        <a:rPr lang="en-US" b="1" dirty="0"/>
                        <a:t>value.</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value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STRING_SPLIT</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red,green,,blue</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US" sz="1800" b="1"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2829693"/>
                  </a:ext>
                </a:extLst>
              </a:tr>
            </a:tbl>
          </a:graphicData>
        </a:graphic>
      </p:graphicFrame>
      <p:pic>
        <p:nvPicPr>
          <p:cNvPr id="5" name="Picture 4">
            <a:extLst>
              <a:ext uri="{FF2B5EF4-FFF2-40B4-BE49-F238E27FC236}">
                <a16:creationId xmlns:a16="http://schemas.microsoft.com/office/drawing/2014/main" id="{9AB37931-3A12-2231-726D-64FAFC93AA60}"/>
              </a:ext>
            </a:extLst>
          </p:cNvPr>
          <p:cNvPicPr>
            <a:picLocks noChangeAspect="1"/>
          </p:cNvPicPr>
          <p:nvPr/>
        </p:nvPicPr>
        <p:blipFill>
          <a:blip r:embed="rId2"/>
          <a:stretch>
            <a:fillRect/>
          </a:stretch>
        </p:blipFill>
        <p:spPr>
          <a:xfrm>
            <a:off x="10570867" y="4223901"/>
            <a:ext cx="1241729" cy="1347558"/>
          </a:xfrm>
          <a:prstGeom prst="rect">
            <a:avLst/>
          </a:prstGeom>
        </p:spPr>
      </p:pic>
    </p:spTree>
    <p:extLst>
      <p:ext uri="{BB962C8B-B14F-4D97-AF65-F5344CB8AC3E}">
        <p14:creationId xmlns:p14="http://schemas.microsoft.com/office/powerpoint/2010/main" val="291048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526017"/>
          <a:ext cx="11486023" cy="14554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REPLACE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l">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To replace all occurrences of a substring within a string with a new substring.</a:t>
                      </a:r>
                    </a:p>
                    <a:p>
                      <a:pPr marL="0" indent="0" algn="l">
                        <a:lnSpc>
                          <a:spcPct val="100000"/>
                        </a:lnSpc>
                        <a:buClr>
                          <a:schemeClr val="tx2"/>
                        </a:buClr>
                        <a:buFont typeface="Wingdings" panose="05000000000000000000" pitchFamily="2" charset="2"/>
                        <a:buNone/>
                      </a:pPr>
                      <a:r>
                        <a:rPr lang="en-US" sz="1800" b="1" i="0" kern="1200" dirty="0">
                          <a:solidFill>
                            <a:schemeClr val="tx1"/>
                          </a:solidFill>
                          <a:effectLst/>
                          <a:latin typeface="+mn-lt"/>
                          <a:ea typeface="+mn-ea"/>
                          <a:cs typeface="+mn-cs"/>
                        </a:rPr>
                        <a:t>Syntax: </a:t>
                      </a:r>
                      <a:r>
                        <a:rPr lang="en-US" sz="1800" b="0" i="0" kern="1200" dirty="0">
                          <a:solidFill>
                            <a:schemeClr val="tx1"/>
                          </a:solidFill>
                          <a:effectLst/>
                          <a:latin typeface="+mn-lt"/>
                          <a:ea typeface="+mn-ea"/>
                          <a:cs typeface="+mn-cs"/>
                        </a:rPr>
                        <a:t>REPLACE(</a:t>
                      </a:r>
                      <a:r>
                        <a:rPr lang="en-US" sz="1800" b="0" i="0" kern="1200" dirty="0" err="1">
                          <a:solidFill>
                            <a:schemeClr val="tx1"/>
                          </a:solidFill>
                          <a:effectLst/>
                          <a:latin typeface="+mn-lt"/>
                          <a:ea typeface="+mn-ea"/>
                          <a:cs typeface="+mn-cs"/>
                        </a:rPr>
                        <a:t>input_string</a:t>
                      </a:r>
                      <a:r>
                        <a:rPr lang="en-US" sz="1800" b="0" i="0" kern="1200" dirty="0">
                          <a:solidFill>
                            <a:schemeClr val="tx1"/>
                          </a:solidFill>
                          <a:effectLst/>
                          <a:latin typeface="+mn-lt"/>
                          <a:ea typeface="+mn-ea"/>
                          <a:cs typeface="+mn-cs"/>
                        </a:rPr>
                        <a:t>, substring, </a:t>
                      </a:r>
                      <a:r>
                        <a:rPr lang="en-US" sz="1800" b="0" i="0" kern="1200" dirty="0" err="1">
                          <a:solidFill>
                            <a:schemeClr val="tx1"/>
                          </a:solidFill>
                          <a:effectLst/>
                          <a:latin typeface="+mn-lt"/>
                          <a:ea typeface="+mn-ea"/>
                          <a:cs typeface="+mn-cs"/>
                        </a:rPr>
                        <a:t>new_substring</a:t>
                      </a:r>
                      <a:r>
                        <a:rPr lang="en-US" sz="1800" b="0" i="0" kern="1200" dirty="0">
                          <a:solidFill>
                            <a:schemeClr val="tx1"/>
                          </a:solidFill>
                          <a:effectLst/>
                          <a:latin typeface="+mn-lt"/>
                          <a:ea typeface="+mn-ea"/>
                          <a:cs typeface="+mn-cs"/>
                        </a:rPr>
                        <a:t>);</a:t>
                      </a:r>
                    </a:p>
                    <a:p>
                      <a:pPr marL="0" indent="0" algn="l">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REPLACE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 </a:t>
                      </a:r>
                      <a:r>
                        <a:rPr lang="en-US" sz="1800" dirty="0" err="1">
                          <a:solidFill>
                            <a:srgbClr val="FF0000"/>
                          </a:solidFill>
                          <a:latin typeface="Consolas" panose="020B0609020204030204" pitchFamily="49" charset="0"/>
                        </a:rPr>
                        <a:t>Institute'</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'Institute'</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'University</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Darshan University</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96833"/>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7BDFAAD0-10AC-C89C-E415-BCAEF3DCC42B}"/>
              </a:ext>
            </a:extLst>
          </p:cNvPr>
          <p:cNvGraphicFramePr>
            <a:graphicFrameLocks noGrp="1"/>
          </p:cNvGraphicFramePr>
          <p:nvPr/>
        </p:nvGraphicFramePr>
        <p:xfrm>
          <a:off x="379404" y="2981437"/>
          <a:ext cx="11486023" cy="1052275"/>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255328540"/>
                    </a:ext>
                  </a:extLst>
                </a:gridCol>
                <a:gridCol w="8360228">
                  <a:extLst>
                    <a:ext uri="{9D8B030D-6E8A-4147-A177-3AD203B41FA5}">
                      <a16:colId xmlns:a16="http://schemas.microsoft.com/office/drawing/2014/main" val="4133160770"/>
                    </a:ext>
                  </a:extLst>
                </a:gridCol>
                <a:gridCol w="1377819">
                  <a:extLst>
                    <a:ext uri="{9D8B030D-6E8A-4147-A177-3AD203B41FA5}">
                      <a16:colId xmlns:a16="http://schemas.microsoft.com/office/drawing/2014/main" val="436465514"/>
                    </a:ext>
                  </a:extLst>
                </a:gridCol>
              </a:tblGrid>
              <a:tr h="1052275">
                <a:tc>
                  <a:txBody>
                    <a:bodyPr/>
                    <a:lstStyle/>
                    <a:p>
                      <a:r>
                        <a:rPr lang="en-GB" sz="1800" dirty="0">
                          <a:solidFill>
                            <a:srgbClr val="FF00FF"/>
                          </a:solidFill>
                          <a:latin typeface="Consolas" panose="020B0609020204030204" pitchFamily="49" charset="0"/>
                        </a:rPr>
                        <a:t>REPLICATE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repeats a string a specified number of times.</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REPLICATE</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2</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DarshanDarshan</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42389341"/>
                  </a:ext>
                </a:extLst>
              </a:tr>
            </a:tbl>
          </a:graphicData>
        </a:graphic>
      </p:graphicFrame>
      <p:graphicFrame>
        <p:nvGraphicFramePr>
          <p:cNvPr id="4" name="Table 3">
            <a:extLst>
              <a:ext uri="{FF2B5EF4-FFF2-40B4-BE49-F238E27FC236}">
                <a16:creationId xmlns:a16="http://schemas.microsoft.com/office/drawing/2014/main" id="{6880134E-CEED-7A21-E570-2349DACAE138}"/>
              </a:ext>
            </a:extLst>
          </p:cNvPr>
          <p:cNvGraphicFramePr>
            <a:graphicFrameLocks noGrp="1"/>
          </p:cNvGraphicFramePr>
          <p:nvPr/>
        </p:nvGraphicFramePr>
        <p:xfrm>
          <a:off x="379403" y="4033712"/>
          <a:ext cx="11486023" cy="1052275"/>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477662377"/>
                    </a:ext>
                  </a:extLst>
                </a:gridCol>
                <a:gridCol w="8360228">
                  <a:extLst>
                    <a:ext uri="{9D8B030D-6E8A-4147-A177-3AD203B41FA5}">
                      <a16:colId xmlns:a16="http://schemas.microsoft.com/office/drawing/2014/main" val="2463255124"/>
                    </a:ext>
                  </a:extLst>
                </a:gridCol>
                <a:gridCol w="1377819">
                  <a:extLst>
                    <a:ext uri="{9D8B030D-6E8A-4147-A177-3AD203B41FA5}">
                      <a16:colId xmlns:a16="http://schemas.microsoft.com/office/drawing/2014/main" val="1606056104"/>
                    </a:ext>
                  </a:extLst>
                </a:gridCol>
              </a:tblGrid>
              <a:tr h="1052275">
                <a:tc>
                  <a:txBody>
                    <a:bodyPr/>
                    <a:lstStyle/>
                    <a:p>
                      <a:r>
                        <a:rPr lang="en-GB" sz="1800" dirty="0">
                          <a:solidFill>
                            <a:srgbClr val="FF00FF"/>
                          </a:solidFill>
                          <a:latin typeface="Consolas" panose="020B0609020204030204" pitchFamily="49" charset="0"/>
                        </a:rPr>
                        <a:t>REVERSE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accepts a string argument and returns the reverse order of that string.</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REVERSE</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nahsraD</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3306600"/>
                  </a:ext>
                </a:extLst>
              </a:tr>
            </a:tbl>
          </a:graphicData>
        </a:graphic>
      </p:graphicFrame>
      <p:graphicFrame>
        <p:nvGraphicFramePr>
          <p:cNvPr id="5" name="Table 4">
            <a:extLst>
              <a:ext uri="{FF2B5EF4-FFF2-40B4-BE49-F238E27FC236}">
                <a16:creationId xmlns:a16="http://schemas.microsoft.com/office/drawing/2014/main" id="{98F6D47B-E089-F4C5-650A-DA590D3EDB44}"/>
              </a:ext>
            </a:extLst>
          </p:cNvPr>
          <p:cNvGraphicFramePr>
            <a:graphicFrameLocks noGrp="1"/>
          </p:cNvGraphicFramePr>
          <p:nvPr/>
        </p:nvGraphicFramePr>
        <p:xfrm>
          <a:off x="379402" y="5085987"/>
          <a:ext cx="11486023" cy="1052275"/>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1299506623"/>
                    </a:ext>
                  </a:extLst>
                </a:gridCol>
                <a:gridCol w="8360228">
                  <a:extLst>
                    <a:ext uri="{9D8B030D-6E8A-4147-A177-3AD203B41FA5}">
                      <a16:colId xmlns:a16="http://schemas.microsoft.com/office/drawing/2014/main" val="2874343776"/>
                    </a:ext>
                  </a:extLst>
                </a:gridCol>
                <a:gridCol w="1377819">
                  <a:extLst>
                    <a:ext uri="{9D8B030D-6E8A-4147-A177-3AD203B41FA5}">
                      <a16:colId xmlns:a16="http://schemas.microsoft.com/office/drawing/2014/main" val="3502859607"/>
                    </a:ext>
                  </a:extLst>
                </a:gridCol>
              </a:tblGrid>
              <a:tr h="1052275">
                <a:tc>
                  <a:txBody>
                    <a:bodyPr/>
                    <a:lstStyle/>
                    <a:p>
                      <a:r>
                        <a:rPr lang="en-GB" sz="1800" dirty="0">
                          <a:solidFill>
                            <a:srgbClr val="FF00FF"/>
                          </a:solidFill>
                          <a:latin typeface="Consolas" panose="020B0609020204030204" pitchFamily="49" charset="0"/>
                        </a:rPr>
                        <a:t>SPACE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returns a string of repeated spaces.</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SPACE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5</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'Darshan'</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     Darshan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52009171"/>
                  </a:ext>
                </a:extLst>
              </a:tr>
            </a:tbl>
          </a:graphicData>
        </a:graphic>
      </p:graphicFrame>
    </p:spTree>
    <p:extLst>
      <p:ext uri="{BB962C8B-B14F-4D97-AF65-F5344CB8AC3E}">
        <p14:creationId xmlns:p14="http://schemas.microsoft.com/office/powerpoint/2010/main" val="289869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535350"/>
          <a:ext cx="11486023" cy="36499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Description</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SUBSTRING</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extracts a substring with a specified length starting from a location in an input string.</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a:t>
                      </a:r>
                      <a:r>
                        <a:rPr lang="en-GB" sz="1800" b="0" i="0" kern="1200" dirty="0">
                          <a:solidFill>
                            <a:schemeClr val="tx1"/>
                          </a:solidFill>
                          <a:effectLst/>
                          <a:latin typeface="+mn-lt"/>
                          <a:ea typeface="+mn-ea"/>
                          <a:cs typeface="+mn-cs"/>
                        </a:rPr>
                        <a:t>SUBSTRING(</a:t>
                      </a:r>
                      <a:r>
                        <a:rPr lang="en-GB" sz="1800" b="0" i="0" kern="1200" dirty="0" err="1">
                          <a:solidFill>
                            <a:schemeClr val="tx1"/>
                          </a:solidFill>
                          <a:effectLst/>
                          <a:latin typeface="+mn-lt"/>
                          <a:ea typeface="+mn-ea"/>
                          <a:cs typeface="+mn-cs"/>
                        </a:rPr>
                        <a:t>input_string</a:t>
                      </a:r>
                      <a:r>
                        <a:rPr lang="en-GB" sz="1800" b="0" i="0" kern="1200" dirty="0">
                          <a:solidFill>
                            <a:schemeClr val="tx1"/>
                          </a:solidFill>
                          <a:effectLst/>
                          <a:latin typeface="+mn-lt"/>
                          <a:ea typeface="+mn-ea"/>
                          <a:cs typeface="+mn-cs"/>
                        </a:rPr>
                        <a:t>, </a:t>
                      </a:r>
                      <a:r>
                        <a:rPr lang="en-GB" sz="1800" b="1" i="0" kern="1200" dirty="0">
                          <a:solidFill>
                            <a:schemeClr val="tx1"/>
                          </a:solidFill>
                          <a:effectLst/>
                          <a:latin typeface="+mn-lt"/>
                          <a:ea typeface="+mn-ea"/>
                          <a:cs typeface="+mn-cs"/>
                        </a:rPr>
                        <a:t>Start</a:t>
                      </a:r>
                      <a:r>
                        <a:rPr lang="en-GB" sz="1800" b="0" i="0" kern="1200" dirty="0">
                          <a:solidFill>
                            <a:schemeClr val="tx1"/>
                          </a:solidFill>
                          <a:effectLst/>
                          <a:latin typeface="+mn-lt"/>
                          <a:ea typeface="+mn-ea"/>
                          <a:cs typeface="+mn-cs"/>
                        </a:rPr>
                        <a:t>, </a:t>
                      </a:r>
                      <a:r>
                        <a:rPr lang="en-GB" sz="1800" b="1" i="0" kern="1200" dirty="0">
                          <a:solidFill>
                            <a:schemeClr val="tx1"/>
                          </a:solidFill>
                          <a:effectLst/>
                          <a:latin typeface="+mn-lt"/>
                          <a:ea typeface="+mn-ea"/>
                          <a:cs typeface="+mn-cs"/>
                        </a:rPr>
                        <a:t>Length</a:t>
                      </a:r>
                      <a:r>
                        <a:rPr lang="en-GB" sz="1800" b="0" i="0" kern="1200" dirty="0">
                          <a:solidFill>
                            <a:schemeClr val="tx1"/>
                          </a:solidFill>
                          <a:effectLst/>
                          <a:latin typeface="+mn-lt"/>
                          <a:ea typeface="+mn-ea"/>
                          <a:cs typeface="+mn-cs"/>
                        </a:rPr>
                        <a:t>);</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1" i="0" kern="1200" dirty="0">
                          <a:solidFill>
                            <a:schemeClr val="tx1"/>
                          </a:solidFill>
                          <a:effectLst/>
                          <a:latin typeface="+mn-lt"/>
                          <a:ea typeface="+mn-ea"/>
                          <a:cs typeface="+mn-cs"/>
                        </a:rPr>
                        <a:t>Start</a:t>
                      </a:r>
                      <a:r>
                        <a:rPr lang="en-US" sz="1800" b="0" i="0" kern="1200" dirty="0">
                          <a:solidFill>
                            <a:schemeClr val="tx1"/>
                          </a:solidFill>
                          <a:effectLst/>
                          <a:latin typeface="+mn-lt"/>
                          <a:ea typeface="+mn-ea"/>
                          <a:cs typeface="+mn-cs"/>
                        </a:rPr>
                        <a:t> is an integer that specifies the location where the returned substring starts. Note that the first character in the </a:t>
                      </a:r>
                      <a:r>
                        <a:rPr lang="en-US" sz="1800" b="0" i="0" kern="1200" dirty="0" err="1">
                          <a:solidFill>
                            <a:schemeClr val="tx1"/>
                          </a:solidFill>
                          <a:effectLst/>
                          <a:latin typeface="+mn-lt"/>
                          <a:ea typeface="+mn-ea"/>
                          <a:cs typeface="+mn-cs"/>
                        </a:rPr>
                        <a:t>input_string</a:t>
                      </a:r>
                      <a:r>
                        <a:rPr lang="en-US" sz="1800" b="0" i="0" kern="1200" dirty="0">
                          <a:solidFill>
                            <a:schemeClr val="tx1"/>
                          </a:solidFill>
                          <a:effectLst/>
                          <a:latin typeface="+mn-lt"/>
                          <a:ea typeface="+mn-ea"/>
                          <a:cs typeface="+mn-cs"/>
                        </a:rPr>
                        <a:t> is 1, not zero.</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b="1" dirty="0"/>
                        <a:t>Length</a:t>
                      </a:r>
                      <a:r>
                        <a:rPr lang="en-US" sz="1800" b="0" i="0" kern="1200" dirty="0">
                          <a:solidFill>
                            <a:schemeClr val="tx1"/>
                          </a:solidFill>
                          <a:effectLst/>
                          <a:latin typeface="+mn-lt"/>
                          <a:ea typeface="+mn-ea"/>
                          <a:cs typeface="+mn-cs"/>
                        </a:rPr>
                        <a:t> is a positive integer that specifies the number of characters of the substring to be returned. </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The </a:t>
                      </a:r>
                      <a:r>
                        <a:rPr lang="en-US" dirty="0"/>
                        <a:t>SUBSTRING()</a:t>
                      </a:r>
                      <a:r>
                        <a:rPr lang="en-US" sz="1800" b="0" i="0" kern="1200" dirty="0">
                          <a:solidFill>
                            <a:schemeClr val="tx1"/>
                          </a:solidFill>
                          <a:effectLst/>
                          <a:latin typeface="+mn-lt"/>
                          <a:ea typeface="+mn-ea"/>
                          <a:cs typeface="+mn-cs"/>
                        </a:rPr>
                        <a:t> function raises an error if the </a:t>
                      </a:r>
                      <a:r>
                        <a:rPr lang="en-US" dirty="0"/>
                        <a:t>length</a:t>
                      </a:r>
                      <a:r>
                        <a:rPr lang="en-US" sz="1800" b="0" i="0" kern="1200" dirty="0">
                          <a:solidFill>
                            <a:schemeClr val="tx1"/>
                          </a:solidFill>
                          <a:effectLst/>
                          <a:latin typeface="+mn-lt"/>
                          <a:ea typeface="+mn-ea"/>
                          <a:cs typeface="+mn-cs"/>
                        </a:rPr>
                        <a:t> is negative. </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If </a:t>
                      </a:r>
                      <a:r>
                        <a:rPr lang="en-US" dirty="0"/>
                        <a:t>start</a:t>
                      </a:r>
                      <a:r>
                        <a:rPr lang="en-US" sz="1800" b="0" i="0" kern="1200" dirty="0">
                          <a:solidFill>
                            <a:schemeClr val="tx1"/>
                          </a:solidFill>
                          <a:effectLst/>
                          <a:latin typeface="+mn-lt"/>
                          <a:ea typeface="+mn-ea"/>
                          <a:cs typeface="+mn-cs"/>
                        </a:rPr>
                        <a:t> + </a:t>
                      </a:r>
                      <a:r>
                        <a:rPr lang="en-US" dirty="0"/>
                        <a:t>length</a:t>
                      </a:r>
                      <a:r>
                        <a:rPr lang="en-US" sz="1800" b="0" i="0" kern="1200" dirty="0">
                          <a:solidFill>
                            <a:schemeClr val="tx1"/>
                          </a:solidFill>
                          <a:effectLst/>
                          <a:latin typeface="+mn-lt"/>
                          <a:ea typeface="+mn-ea"/>
                          <a:cs typeface="+mn-cs"/>
                        </a:rPr>
                        <a:t> &gt; the length of </a:t>
                      </a:r>
                      <a:r>
                        <a:rPr lang="en-US" dirty="0" err="1"/>
                        <a:t>input_string</a:t>
                      </a:r>
                      <a:r>
                        <a:rPr lang="en-US" sz="1800" b="0" i="0" kern="1200" dirty="0">
                          <a:solidFill>
                            <a:schemeClr val="tx1"/>
                          </a:solidFill>
                          <a:effectLst/>
                          <a:latin typeface="+mn-lt"/>
                          <a:ea typeface="+mn-ea"/>
                          <a:cs typeface="+mn-cs"/>
                        </a:rPr>
                        <a:t>, the substring will begin at the </a:t>
                      </a:r>
                      <a:r>
                        <a:rPr lang="en-US" dirty="0"/>
                        <a:t>start</a:t>
                      </a:r>
                      <a:r>
                        <a:rPr lang="en-US" sz="1800" b="0" i="0" kern="1200" dirty="0">
                          <a:solidFill>
                            <a:schemeClr val="tx1"/>
                          </a:solidFill>
                          <a:effectLst/>
                          <a:latin typeface="+mn-lt"/>
                          <a:ea typeface="+mn-ea"/>
                          <a:cs typeface="+mn-cs"/>
                        </a:rPr>
                        <a:t> and include the remaining characters of the </a:t>
                      </a:r>
                      <a:r>
                        <a:rPr lang="en-US" dirty="0" err="1"/>
                        <a:t>input_string</a:t>
                      </a:r>
                      <a:r>
                        <a:rPr lang="en-US" dirty="0"/>
                        <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SUBSTRING</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'SQL Server SUBSTRING'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6</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Server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203102"/>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14D0BAC8-03A3-066A-1D9C-9D05F5BC94F6}"/>
              </a:ext>
            </a:extLst>
          </p:cNvPr>
          <p:cNvGraphicFramePr>
            <a:graphicFrameLocks noGrp="1"/>
          </p:cNvGraphicFramePr>
          <p:nvPr/>
        </p:nvGraphicFramePr>
        <p:xfrm>
          <a:off x="379404" y="5185330"/>
          <a:ext cx="11486023" cy="10972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162166619"/>
                    </a:ext>
                  </a:extLst>
                </a:gridCol>
                <a:gridCol w="8360228">
                  <a:extLst>
                    <a:ext uri="{9D8B030D-6E8A-4147-A177-3AD203B41FA5}">
                      <a16:colId xmlns:a16="http://schemas.microsoft.com/office/drawing/2014/main" val="273497690"/>
                    </a:ext>
                  </a:extLst>
                </a:gridCol>
                <a:gridCol w="1377819">
                  <a:extLst>
                    <a:ext uri="{9D8B030D-6E8A-4147-A177-3AD203B41FA5}">
                      <a16:colId xmlns:a16="http://schemas.microsoft.com/office/drawing/2014/main" val="982091311"/>
                    </a:ext>
                  </a:extLst>
                </a:gridCol>
              </a:tblGrid>
              <a:tr h="1052275">
                <a:tc>
                  <a:txBody>
                    <a:bodyPr/>
                    <a:lstStyle/>
                    <a:p>
                      <a:r>
                        <a:rPr lang="en-GB" sz="1800" dirty="0">
                          <a:solidFill>
                            <a:srgbClr val="FF00FF"/>
                          </a:solidFill>
                          <a:latin typeface="Consolas" panose="020B0609020204030204" pitchFamily="49" charset="0"/>
                        </a:rPr>
                        <a:t>LEN</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The LEN function is used to provide the number of characters in a string without including trailing spaces.</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LEN</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 University'</a:t>
                      </a:r>
                      <a:r>
                        <a:rPr lang="en-GB"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18</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13988475"/>
                  </a:ext>
                </a:extLst>
              </a:tr>
            </a:tbl>
          </a:graphicData>
        </a:graphic>
      </p:graphicFrame>
    </p:spTree>
    <p:extLst>
      <p:ext uri="{BB962C8B-B14F-4D97-AF65-F5344CB8AC3E}">
        <p14:creationId xmlns:p14="http://schemas.microsoft.com/office/powerpoint/2010/main" val="3087733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Date &amp; Time Functions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11929641" cy="5648191"/>
          </a:xfrm>
        </p:spPr>
        <p:txBody>
          <a:bodyPr/>
          <a:lstStyle/>
          <a:p>
            <a:r>
              <a:rPr lang="en-US" b="1" dirty="0"/>
              <a:t>SQL Server</a:t>
            </a:r>
            <a:r>
              <a:rPr lang="en-US" dirty="0"/>
              <a:t> comes with the following data types for storing a date or a date/time value in the database:</a:t>
            </a:r>
          </a:p>
          <a:p>
            <a:pPr lvl="1"/>
            <a:r>
              <a:rPr lang="en-IN" dirty="0">
                <a:solidFill>
                  <a:srgbClr val="0000FF"/>
                </a:solidFill>
                <a:latin typeface="Consolas" panose="020B0609020204030204" pitchFamily="49" charset="0"/>
              </a:rPr>
              <a:t>DATE</a:t>
            </a:r>
            <a:r>
              <a:rPr lang="en-US" dirty="0"/>
              <a:t>– format YYYY-MM-DD</a:t>
            </a:r>
          </a:p>
          <a:p>
            <a:pPr lvl="1"/>
            <a:r>
              <a:rPr lang="en-US" dirty="0">
                <a:solidFill>
                  <a:srgbClr val="0000FF"/>
                </a:solidFill>
                <a:latin typeface="Consolas" panose="020B0609020204030204" pitchFamily="49" charset="0"/>
              </a:rPr>
              <a:t>DATETIME</a:t>
            </a:r>
            <a:r>
              <a:rPr lang="en-US" dirty="0"/>
              <a:t> – format YYYY-MM-DD HH:MI:SS</a:t>
            </a:r>
          </a:p>
          <a:p>
            <a:pPr lvl="1"/>
            <a:r>
              <a:rPr lang="en-US" dirty="0">
                <a:solidFill>
                  <a:srgbClr val="0000FF"/>
                </a:solidFill>
                <a:latin typeface="Consolas" panose="020B0609020204030204" pitchFamily="49" charset="0"/>
              </a:rPr>
              <a:t>SMALLDATETIME</a:t>
            </a:r>
            <a:r>
              <a:rPr lang="en-US" dirty="0"/>
              <a:t> – format: YYYY-MM-DD HH:MI:SS</a:t>
            </a:r>
          </a:p>
          <a:p>
            <a:pPr lvl="1"/>
            <a:r>
              <a:rPr lang="en-US" dirty="0">
                <a:solidFill>
                  <a:srgbClr val="0000FF"/>
                </a:solidFill>
                <a:latin typeface="Consolas" panose="020B0609020204030204" pitchFamily="49" charset="0"/>
              </a:rPr>
              <a:t>TIMESTAMP</a:t>
            </a:r>
            <a:r>
              <a:rPr lang="en-US" dirty="0"/>
              <a:t> – format: a unique identifier</a:t>
            </a:r>
          </a:p>
          <a:p>
            <a:r>
              <a:rPr lang="en-US" dirty="0"/>
              <a:t>To retrieve current date time, we can use GETDATE():</a:t>
            </a:r>
          </a:p>
          <a:p>
            <a:endParaRPr lang="en-US" dirty="0"/>
          </a:p>
          <a:p>
            <a:endParaRPr lang="en-US" dirty="0"/>
          </a:p>
          <a:p>
            <a:endParaRPr lang="en-US" dirty="0"/>
          </a:p>
          <a:p>
            <a:endParaRPr lang="en-US" dirty="0"/>
          </a:p>
          <a:p>
            <a:endParaRPr lang="en-US" dirty="0"/>
          </a:p>
        </p:txBody>
      </p:sp>
      <p:sp>
        <p:nvSpPr>
          <p:cNvPr id="10" name="Rectangle 9">
            <a:extLst>
              <a:ext uri="{FF2B5EF4-FFF2-40B4-BE49-F238E27FC236}">
                <a16:creationId xmlns:a16="http://schemas.microsoft.com/office/drawing/2014/main" id="{C4A6F3DF-2EB8-43CF-3795-79063F5A0067}"/>
              </a:ext>
            </a:extLst>
          </p:cNvPr>
          <p:cNvSpPr/>
          <p:nvPr/>
        </p:nvSpPr>
        <p:spPr>
          <a:xfrm>
            <a:off x="512179" y="3836632"/>
            <a:ext cx="4201334" cy="338554"/>
          </a:xfrm>
          <a:prstGeom prst="rect">
            <a:avLst/>
          </a:prstGeom>
          <a:solidFill>
            <a:schemeClr val="bg1">
              <a:lumMod val="95000"/>
            </a:schemeClr>
          </a:solidFill>
          <a:ln>
            <a:noFill/>
          </a:ln>
        </p:spPr>
        <p:txBody>
          <a:bodyPr wrap="square">
            <a:spAutoFit/>
          </a:bodyPr>
          <a:lstStyle/>
          <a:p>
            <a:r>
              <a:rPr lang="en-IN" sz="1600" dirty="0">
                <a:solidFill>
                  <a:srgbClr val="0000FF"/>
                </a:solidFill>
                <a:latin typeface="Consolas" panose="020B0609020204030204" pitchFamily="49" charset="0"/>
              </a:rPr>
              <a:t>Select</a:t>
            </a:r>
            <a:r>
              <a:rPr lang="en-IN" sz="1600" dirty="0">
                <a:solidFill>
                  <a:prstClr val="black"/>
                </a:solidFill>
                <a:latin typeface="Consolas" panose="020B0609020204030204" pitchFamily="49" charset="0"/>
              </a:rPr>
              <a:t> </a:t>
            </a:r>
            <a:r>
              <a:rPr lang="en-IN" sz="1600" dirty="0">
                <a:solidFill>
                  <a:srgbClr val="FF00FF"/>
                </a:solidFill>
                <a:latin typeface="Consolas" panose="020B0609020204030204" pitchFamily="49" charset="0"/>
              </a:rPr>
              <a:t>GETDATE</a:t>
            </a:r>
            <a:r>
              <a:rPr lang="en-IN" sz="1600" dirty="0">
                <a:solidFill>
                  <a:srgbClr val="808080"/>
                </a:solidFill>
                <a:latin typeface="Consolas" panose="020B0609020204030204" pitchFamily="49" charset="0"/>
              </a:rPr>
              <a:t>()</a:t>
            </a:r>
            <a:r>
              <a:rPr lang="en-IN" sz="1600" dirty="0">
                <a:solidFill>
                  <a:prstClr val="black"/>
                </a:solidFill>
                <a:latin typeface="Consolas" panose="020B0609020204030204" pitchFamily="49" charset="0"/>
              </a:rPr>
              <a:t> </a:t>
            </a:r>
            <a:r>
              <a:rPr lang="en-IN" sz="1600" dirty="0">
                <a:solidFill>
                  <a:srgbClr val="0000FF"/>
                </a:solidFill>
                <a:latin typeface="Consolas" panose="020B0609020204030204" pitchFamily="49" charset="0"/>
              </a:rPr>
              <a:t>AS</a:t>
            </a:r>
            <a:r>
              <a:rPr lang="en-IN" sz="1600" dirty="0">
                <a:solidFill>
                  <a:prstClr val="black"/>
                </a:solidFill>
                <a:latin typeface="Consolas" panose="020B0609020204030204" pitchFamily="49" charset="0"/>
              </a:rPr>
              <a:t> </a:t>
            </a:r>
            <a:r>
              <a:rPr lang="en-IN" sz="1600" dirty="0" err="1">
                <a:solidFill>
                  <a:prstClr val="black"/>
                </a:solidFill>
                <a:latin typeface="Consolas" panose="020B0609020204030204" pitchFamily="49" charset="0"/>
              </a:rPr>
              <a:t>CurrentDateTime</a:t>
            </a:r>
            <a:endParaRPr lang="en-IN" sz="1600" dirty="0">
              <a:solidFill>
                <a:prstClr val="black"/>
              </a:solidFill>
              <a:latin typeface="Consolas" panose="020B0609020204030204" pitchFamily="49" charset="0"/>
            </a:endParaRP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512179" y="3507448"/>
            <a:ext cx="18282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1600" dirty="0">
                <a:solidFill>
                  <a:schemeClr val="bg1"/>
                </a:solidFill>
              </a:rPr>
              <a:t>Current Date &amp; Time</a:t>
            </a:r>
          </a:p>
        </p:txBody>
      </p:sp>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5094512" y="3822712"/>
            <a:ext cx="2282595" cy="612000"/>
          </a:xfrm>
          <a:prstGeom prst="rect">
            <a:avLst/>
          </a:prstGeom>
        </p:spPr>
      </p:pic>
      <p:sp>
        <p:nvSpPr>
          <p:cNvPr id="14" name="Rectangle: Top Corners Rounded 6">
            <a:extLst>
              <a:ext uri="{FF2B5EF4-FFF2-40B4-BE49-F238E27FC236}">
                <a16:creationId xmlns:a16="http://schemas.microsoft.com/office/drawing/2014/main" id="{72A86601-7B9C-F9F6-5604-2455DAE19E61}"/>
              </a:ext>
            </a:extLst>
          </p:cNvPr>
          <p:cNvSpPr/>
          <p:nvPr/>
        </p:nvSpPr>
        <p:spPr>
          <a:xfrm>
            <a:off x="5094512" y="3507448"/>
            <a:ext cx="76200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1600" dirty="0">
                <a:solidFill>
                  <a:schemeClr val="bg1"/>
                </a:solidFill>
              </a:rPr>
              <a:t>Output</a:t>
            </a:r>
          </a:p>
        </p:txBody>
      </p:sp>
    </p:spTree>
    <p:extLst>
      <p:ext uri="{BB962C8B-B14F-4D97-AF65-F5344CB8AC3E}">
        <p14:creationId xmlns:p14="http://schemas.microsoft.com/office/powerpoint/2010/main" val="168493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bg/>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animBg="1"/>
      <p:bldP spid="11"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119A4-733F-4E7B-9F9C-2C44E3B6661B}"/>
              </a:ext>
            </a:extLst>
          </p:cNvPr>
          <p:cNvSpPr>
            <a:spLocks noGrp="1"/>
          </p:cNvSpPr>
          <p:nvPr>
            <p:ph type="title"/>
          </p:nvPr>
        </p:nvSpPr>
        <p:spPr/>
        <p:txBody>
          <a:bodyPr/>
          <a:lstStyle/>
          <a:p>
            <a:r>
              <a:rPr lang="en-US" sz="3600" dirty="0"/>
              <a:t>Date &amp; Time Functions</a:t>
            </a:r>
            <a:endParaRPr lang="en-US" dirty="0"/>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08186" y="1339761"/>
          <a:ext cx="11765992" cy="71628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gridCol w="2873829">
                  <a:extLst>
                    <a:ext uri="{9D8B030D-6E8A-4147-A177-3AD203B41FA5}">
                      <a16:colId xmlns:a16="http://schemas.microsoft.com/office/drawing/2014/main" val="20002"/>
                    </a:ext>
                  </a:extLst>
                </a:gridCol>
              </a:tblGrid>
              <a:tr h="363243">
                <a:tc>
                  <a:txBody>
                    <a:bodyPr/>
                    <a:lstStyle/>
                    <a:p>
                      <a:pPr algn="l"/>
                      <a:r>
                        <a:rPr lang="en-US" b="1" u="none" dirty="0">
                          <a:solidFill>
                            <a:schemeClr val="tx1"/>
                          </a:solidFill>
                        </a:rPr>
                        <a:t>Date Functions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Return Value</a:t>
                      </a:r>
                      <a:r>
                        <a:rPr lang="en-US" b="1" u="none" baseline="0" dirty="0">
                          <a:solidFill>
                            <a:schemeClr val="tx1"/>
                          </a:solidFill>
                        </a:rPr>
                        <a:t> Data Type</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48108">
                <a:tc>
                  <a:txBody>
                    <a:bodyPr/>
                    <a:lstStyle/>
                    <a:p>
                      <a:r>
                        <a:rPr lang="en-IN" sz="1700" dirty="0">
                          <a:solidFill>
                            <a:srgbClr val="FF00FF"/>
                          </a:solidFill>
                          <a:latin typeface="Consolas" panose="020B0609020204030204" pitchFamily="49" charset="0"/>
                        </a:rPr>
                        <a:t>DAY </a:t>
                      </a:r>
                      <a:r>
                        <a:rPr lang="en-IN" sz="1700" b="0" i="0" kern="1200" dirty="0">
                          <a:solidFill>
                            <a:schemeClr val="dk1"/>
                          </a:solidFill>
                          <a:effectLst/>
                          <a:latin typeface="+mn-lt"/>
                          <a:ea typeface="+mn-ea"/>
                          <a:cs typeface="+mn-cs"/>
                        </a:rPr>
                        <a:t>(date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day of the week for a given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Integer like 1 - 31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08186" y="948368"/>
          <a:ext cx="3245719" cy="396240"/>
        </p:xfrm>
        <a:graphic>
          <a:graphicData uri="http://schemas.openxmlformats.org/drawingml/2006/table">
            <a:tbl>
              <a:tblPr firstRow="1" bandRow="1">
                <a:tableStyleId>{8EC20E35-A176-4012-BC5E-935CFFF8708E}</a:tableStyleId>
              </a:tblPr>
              <a:tblGrid>
                <a:gridCol w="3245719">
                  <a:extLst>
                    <a:ext uri="{9D8B030D-6E8A-4147-A177-3AD203B41FA5}">
                      <a16:colId xmlns:a16="http://schemas.microsoft.com/office/drawing/2014/main" val="20000"/>
                    </a:ext>
                  </a:extLst>
                </a:gridCol>
              </a:tblGrid>
              <a:tr h="285488">
                <a:tc>
                  <a:txBody>
                    <a:bodyPr/>
                    <a:lstStyle/>
                    <a:p>
                      <a:pPr algn="l"/>
                      <a:r>
                        <a:rPr lang="en-US" sz="2000" b="1" dirty="0">
                          <a:solidFill>
                            <a:schemeClr val="tx1"/>
                          </a:solidFill>
                        </a:rPr>
                        <a:t>List of SQL DATE Functions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3" name="Table 2">
            <a:extLst>
              <a:ext uri="{FF2B5EF4-FFF2-40B4-BE49-F238E27FC236}">
                <a16:creationId xmlns:a16="http://schemas.microsoft.com/office/drawing/2014/main" id="{C57DF6A1-B4A1-DFA1-13CD-1F0F72702CF0}"/>
              </a:ext>
            </a:extLst>
          </p:cNvPr>
          <p:cNvGraphicFramePr>
            <a:graphicFrameLocks noGrp="1"/>
          </p:cNvGraphicFramePr>
          <p:nvPr/>
        </p:nvGraphicFramePr>
        <p:xfrm>
          <a:off x="308186" y="2056041"/>
          <a:ext cx="11765992" cy="35052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414105014"/>
                    </a:ext>
                  </a:extLst>
                </a:gridCol>
                <a:gridCol w="5638800">
                  <a:extLst>
                    <a:ext uri="{9D8B030D-6E8A-4147-A177-3AD203B41FA5}">
                      <a16:colId xmlns:a16="http://schemas.microsoft.com/office/drawing/2014/main" val="190687775"/>
                    </a:ext>
                  </a:extLst>
                </a:gridCol>
                <a:gridCol w="2873829">
                  <a:extLst>
                    <a:ext uri="{9D8B030D-6E8A-4147-A177-3AD203B41FA5}">
                      <a16:colId xmlns:a16="http://schemas.microsoft.com/office/drawing/2014/main" val="3065887276"/>
                    </a:ext>
                  </a:extLst>
                </a:gridCol>
              </a:tblGrid>
              <a:tr h="348108">
                <a:tc>
                  <a:txBody>
                    <a:bodyPr/>
                    <a:lstStyle/>
                    <a:p>
                      <a:r>
                        <a:rPr lang="en-IN" sz="1700" kern="1200" dirty="0">
                          <a:solidFill>
                            <a:srgbClr val="FF00FF"/>
                          </a:solidFill>
                          <a:latin typeface="Consolas" panose="020B0609020204030204" pitchFamily="49" charset="0"/>
                          <a:ea typeface="+mn-ea"/>
                          <a:cs typeface="+mn-cs"/>
                        </a:rPr>
                        <a:t>MONTH</a:t>
                      </a:r>
                      <a:r>
                        <a:rPr lang="en-IN" sz="1700" b="0" i="0" kern="1200" dirty="0">
                          <a:solidFill>
                            <a:schemeClr val="dk1"/>
                          </a:solidFill>
                          <a:effectLst/>
                          <a:latin typeface="+mn-lt"/>
                          <a:ea typeface="+mn-ea"/>
                          <a:cs typeface="+mn-cs"/>
                        </a:rPr>
                        <a: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month of a given date</a:t>
                      </a:r>
                      <a:r>
                        <a:rPr lang="en-US" sz="1700" kern="1200" dirty="0"/>
                        <a:t> </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Integer like 1 - 12</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2485672"/>
                  </a:ext>
                </a:extLst>
              </a:tr>
            </a:tbl>
          </a:graphicData>
        </a:graphic>
      </p:graphicFrame>
      <p:graphicFrame>
        <p:nvGraphicFramePr>
          <p:cNvPr id="6" name="Table 5">
            <a:extLst>
              <a:ext uri="{FF2B5EF4-FFF2-40B4-BE49-F238E27FC236}">
                <a16:creationId xmlns:a16="http://schemas.microsoft.com/office/drawing/2014/main" id="{2F45F049-7333-5345-B437-4177C92FC915}"/>
              </a:ext>
            </a:extLst>
          </p:cNvPr>
          <p:cNvGraphicFramePr>
            <a:graphicFrameLocks noGrp="1"/>
          </p:cNvGraphicFramePr>
          <p:nvPr/>
        </p:nvGraphicFramePr>
        <p:xfrm>
          <a:off x="308186" y="2406561"/>
          <a:ext cx="11765992" cy="35052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1828346620"/>
                    </a:ext>
                  </a:extLst>
                </a:gridCol>
                <a:gridCol w="5638800">
                  <a:extLst>
                    <a:ext uri="{9D8B030D-6E8A-4147-A177-3AD203B41FA5}">
                      <a16:colId xmlns:a16="http://schemas.microsoft.com/office/drawing/2014/main" val="1084912759"/>
                    </a:ext>
                  </a:extLst>
                </a:gridCol>
                <a:gridCol w="2873829">
                  <a:extLst>
                    <a:ext uri="{9D8B030D-6E8A-4147-A177-3AD203B41FA5}">
                      <a16:colId xmlns:a16="http://schemas.microsoft.com/office/drawing/2014/main" val="4068610606"/>
                    </a:ext>
                  </a:extLst>
                </a:gridCol>
              </a:tblGrid>
              <a:tr h="348108">
                <a:tc>
                  <a:txBody>
                    <a:bodyPr/>
                    <a:lstStyle/>
                    <a:p>
                      <a:r>
                        <a:rPr lang="en-IN" sz="1700" kern="1200" dirty="0">
                          <a:solidFill>
                            <a:srgbClr val="FF00FF"/>
                          </a:solidFill>
                          <a:latin typeface="Consolas" panose="020B0609020204030204" pitchFamily="49" charset="0"/>
                          <a:ea typeface="+mn-ea"/>
                          <a:cs typeface="+mn-cs"/>
                        </a:rPr>
                        <a:t>YEAR</a:t>
                      </a:r>
                      <a:r>
                        <a:rPr lang="en-IN" sz="1700" b="0" i="0" kern="1200" dirty="0">
                          <a:solidFill>
                            <a:schemeClr val="dk1"/>
                          </a:solidFill>
                          <a:effectLst/>
                          <a:latin typeface="+mn-lt"/>
                          <a:ea typeface="+mn-ea"/>
                          <a:cs typeface="+mn-cs"/>
                        </a:rPr>
                        <a: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year of a given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for year like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18794799"/>
                  </a:ext>
                </a:extLst>
              </a:tr>
            </a:tbl>
          </a:graphicData>
        </a:graphic>
      </p:graphicFrame>
      <p:graphicFrame>
        <p:nvGraphicFramePr>
          <p:cNvPr id="7" name="Table 6">
            <a:extLst>
              <a:ext uri="{FF2B5EF4-FFF2-40B4-BE49-F238E27FC236}">
                <a16:creationId xmlns:a16="http://schemas.microsoft.com/office/drawing/2014/main" id="{7C880C17-3C05-9BE7-DBCA-C09B2CF79C2A}"/>
              </a:ext>
            </a:extLst>
          </p:cNvPr>
          <p:cNvGraphicFramePr>
            <a:graphicFrameLocks noGrp="1"/>
          </p:cNvGraphicFramePr>
          <p:nvPr/>
        </p:nvGraphicFramePr>
        <p:xfrm>
          <a:off x="308186" y="27570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1722068931"/>
                    </a:ext>
                  </a:extLst>
                </a:gridCol>
                <a:gridCol w="5638800">
                  <a:extLst>
                    <a:ext uri="{9D8B030D-6E8A-4147-A177-3AD203B41FA5}">
                      <a16:colId xmlns:a16="http://schemas.microsoft.com/office/drawing/2014/main" val="1990340677"/>
                    </a:ext>
                  </a:extLst>
                </a:gridCol>
                <a:gridCol w="2873829">
                  <a:extLst>
                    <a:ext uri="{9D8B030D-6E8A-4147-A177-3AD203B41FA5}">
                      <a16:colId xmlns:a16="http://schemas.microsoft.com/office/drawing/2014/main" val="4267089980"/>
                    </a:ext>
                  </a:extLst>
                </a:gridCol>
              </a:tblGrid>
              <a:tr h="605405">
                <a:tc>
                  <a:txBody>
                    <a:bodyPr/>
                    <a:lstStyle/>
                    <a:p>
                      <a:r>
                        <a:rPr lang="en-IN" sz="1700" kern="1200" dirty="0">
                          <a:solidFill>
                            <a:srgbClr val="FF00FF"/>
                          </a:solidFill>
                          <a:latin typeface="Consolas" panose="020B0609020204030204" pitchFamily="49" charset="0"/>
                          <a:ea typeface="+mn-ea"/>
                          <a:cs typeface="+mn-cs"/>
                        </a:rPr>
                        <a:t>DATEPART</a:t>
                      </a:r>
                      <a:r>
                        <a:rPr lang="en-IN" sz="1700" b="0" i="0" kern="1200" dirty="0">
                          <a:solidFill>
                            <a:schemeClr val="dk1"/>
                          </a:solidFill>
                          <a:effectLst/>
                          <a:latin typeface="+mn-lt"/>
                          <a:ea typeface="+mn-ea"/>
                          <a:cs typeface="+mn-cs"/>
                        </a:rPr>
                        <a:t> (date part,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date part specified in </a:t>
                      </a:r>
                      <a:r>
                        <a:rPr lang="en-US" sz="1700" b="0" i="0" kern="1200" dirty="0" err="1">
                          <a:solidFill>
                            <a:schemeClr val="dk1"/>
                          </a:solidFill>
                          <a:effectLst/>
                          <a:latin typeface="+mn-lt"/>
                          <a:ea typeface="+mn-ea"/>
                          <a:cs typeface="+mn-cs"/>
                        </a:rPr>
                        <a:t>int</a:t>
                      </a:r>
                      <a:r>
                        <a:rPr lang="en-US" sz="1700" b="0" i="0" kern="1200" dirty="0">
                          <a:solidFill>
                            <a:schemeClr val="dk1"/>
                          </a:solidFill>
                          <a:effectLst/>
                          <a:latin typeface="+mn-lt"/>
                          <a:ea typeface="+mn-ea"/>
                          <a:cs typeface="+mn-cs"/>
                        </a:rPr>
                        <a:t> format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like 1 – 12 for month, 1 – 31 for day, or year like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59633549"/>
                  </a:ext>
                </a:extLst>
              </a:tr>
            </a:tbl>
          </a:graphicData>
        </a:graphic>
      </p:graphicFrame>
      <p:graphicFrame>
        <p:nvGraphicFramePr>
          <p:cNvPr id="8" name="Table 7">
            <a:extLst>
              <a:ext uri="{FF2B5EF4-FFF2-40B4-BE49-F238E27FC236}">
                <a16:creationId xmlns:a16="http://schemas.microsoft.com/office/drawing/2014/main" id="{DC766DF2-6B07-5958-5FF5-65F1D34C9C30}"/>
              </a:ext>
            </a:extLst>
          </p:cNvPr>
          <p:cNvGraphicFramePr>
            <a:graphicFrameLocks noGrp="1"/>
          </p:cNvGraphicFramePr>
          <p:nvPr/>
        </p:nvGraphicFramePr>
        <p:xfrm>
          <a:off x="308186" y="33666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291368403"/>
                    </a:ext>
                  </a:extLst>
                </a:gridCol>
                <a:gridCol w="5638800">
                  <a:extLst>
                    <a:ext uri="{9D8B030D-6E8A-4147-A177-3AD203B41FA5}">
                      <a16:colId xmlns:a16="http://schemas.microsoft.com/office/drawing/2014/main" val="40026789"/>
                    </a:ext>
                  </a:extLst>
                </a:gridCol>
                <a:gridCol w="2873829">
                  <a:extLst>
                    <a:ext uri="{9D8B030D-6E8A-4147-A177-3AD203B41FA5}">
                      <a16:colId xmlns:a16="http://schemas.microsoft.com/office/drawing/2014/main" val="630440507"/>
                    </a:ext>
                  </a:extLst>
                </a:gridCol>
              </a:tblGrid>
              <a:tr h="605405">
                <a:tc>
                  <a:txBody>
                    <a:bodyPr/>
                    <a:lstStyle/>
                    <a:p>
                      <a:r>
                        <a:rPr lang="en-IN" sz="1700" kern="1200" dirty="0">
                          <a:solidFill>
                            <a:srgbClr val="FF00FF"/>
                          </a:solidFill>
                          <a:latin typeface="Consolas" panose="020B0609020204030204" pitchFamily="49" charset="0"/>
                          <a:ea typeface="+mn-ea"/>
                          <a:cs typeface="+mn-cs"/>
                        </a:rPr>
                        <a:t>DATENAME</a:t>
                      </a:r>
                      <a:r>
                        <a:rPr lang="en-IN" sz="1700" b="0" i="0" kern="1200" dirty="0">
                          <a:solidFill>
                            <a:schemeClr val="dk1"/>
                          </a:solidFill>
                          <a:effectLst/>
                          <a:latin typeface="+mn-lt"/>
                          <a:ea typeface="+mn-ea"/>
                          <a:cs typeface="+mn-cs"/>
                        </a:rPr>
                        <a:t> (date part,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date part specified in character format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Character like April, May, ‘1’, ‘2’, ‘31’, ‘2020’,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06045645"/>
                  </a:ext>
                </a:extLst>
              </a:tr>
            </a:tbl>
          </a:graphicData>
        </a:graphic>
      </p:graphicFrame>
      <p:graphicFrame>
        <p:nvGraphicFramePr>
          <p:cNvPr id="9" name="Table 8">
            <a:extLst>
              <a:ext uri="{FF2B5EF4-FFF2-40B4-BE49-F238E27FC236}">
                <a16:creationId xmlns:a16="http://schemas.microsoft.com/office/drawing/2014/main" id="{0176FFE0-0823-A9EE-DC33-CDAD89A0DDBE}"/>
              </a:ext>
            </a:extLst>
          </p:cNvPr>
          <p:cNvGraphicFramePr>
            <a:graphicFrameLocks noGrp="1"/>
          </p:cNvGraphicFramePr>
          <p:nvPr/>
        </p:nvGraphicFramePr>
        <p:xfrm>
          <a:off x="308186" y="39762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345736139"/>
                    </a:ext>
                  </a:extLst>
                </a:gridCol>
                <a:gridCol w="5638800">
                  <a:extLst>
                    <a:ext uri="{9D8B030D-6E8A-4147-A177-3AD203B41FA5}">
                      <a16:colId xmlns:a16="http://schemas.microsoft.com/office/drawing/2014/main" val="834645638"/>
                    </a:ext>
                  </a:extLst>
                </a:gridCol>
                <a:gridCol w="2873829">
                  <a:extLst>
                    <a:ext uri="{9D8B030D-6E8A-4147-A177-3AD203B41FA5}">
                      <a16:colId xmlns:a16="http://schemas.microsoft.com/office/drawing/2014/main" val="4082545301"/>
                    </a:ext>
                  </a:extLst>
                </a:gridCol>
              </a:tblGrid>
              <a:tr h="605405">
                <a:tc>
                  <a:txBody>
                    <a:bodyPr/>
                    <a:lstStyle/>
                    <a:p>
                      <a:r>
                        <a:rPr lang="en-US" sz="1700" kern="1200" dirty="0">
                          <a:solidFill>
                            <a:srgbClr val="FF00FF"/>
                          </a:solidFill>
                          <a:latin typeface="Consolas" panose="020B0609020204030204" pitchFamily="49" charset="0"/>
                          <a:ea typeface="+mn-ea"/>
                          <a:cs typeface="+mn-cs"/>
                        </a:rPr>
                        <a:t>EOMONTH</a:t>
                      </a:r>
                      <a:r>
                        <a:rPr lang="en-US" sz="1700" b="0" i="0" kern="1200" dirty="0">
                          <a:solidFill>
                            <a:schemeClr val="dk1"/>
                          </a:solidFill>
                          <a:effectLst/>
                          <a:latin typeface="+mn-lt"/>
                          <a:ea typeface="+mn-ea"/>
                          <a:cs typeface="+mn-cs"/>
                        </a:rPr>
                        <a:t> (date [,months to add)</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last do of the month with an optional parameter to add months (+ or -).</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dirty="0"/>
                        <a:t>Returns</a:t>
                      </a:r>
                      <a:r>
                        <a:rPr lang="en-US" sz="1700" baseline="0" dirty="0"/>
                        <a:t> end date of specified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60284478"/>
                  </a:ext>
                </a:extLst>
              </a:tr>
            </a:tbl>
          </a:graphicData>
        </a:graphic>
      </p:graphicFrame>
      <p:graphicFrame>
        <p:nvGraphicFramePr>
          <p:cNvPr id="10" name="Table 9">
            <a:extLst>
              <a:ext uri="{FF2B5EF4-FFF2-40B4-BE49-F238E27FC236}">
                <a16:creationId xmlns:a16="http://schemas.microsoft.com/office/drawing/2014/main" id="{22C06D17-CF8B-983B-3624-AE7530ACDF78}"/>
              </a:ext>
            </a:extLst>
          </p:cNvPr>
          <p:cNvGraphicFramePr>
            <a:graphicFrameLocks noGrp="1"/>
          </p:cNvGraphicFramePr>
          <p:nvPr/>
        </p:nvGraphicFramePr>
        <p:xfrm>
          <a:off x="308186" y="45858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3222986287"/>
                    </a:ext>
                  </a:extLst>
                </a:gridCol>
                <a:gridCol w="5638800">
                  <a:extLst>
                    <a:ext uri="{9D8B030D-6E8A-4147-A177-3AD203B41FA5}">
                      <a16:colId xmlns:a16="http://schemas.microsoft.com/office/drawing/2014/main" val="2118871988"/>
                    </a:ext>
                  </a:extLst>
                </a:gridCol>
                <a:gridCol w="2873829">
                  <a:extLst>
                    <a:ext uri="{9D8B030D-6E8A-4147-A177-3AD203B41FA5}">
                      <a16:colId xmlns:a16="http://schemas.microsoft.com/office/drawing/2014/main" val="1071128600"/>
                    </a:ext>
                  </a:extLst>
                </a:gridCol>
              </a:tblGrid>
              <a:tr h="605405">
                <a:tc>
                  <a:txBody>
                    <a:bodyPr/>
                    <a:lstStyle/>
                    <a:p>
                      <a:r>
                        <a:rPr lang="en-US" sz="1700" kern="1200" dirty="0">
                          <a:solidFill>
                            <a:srgbClr val="FF00FF"/>
                          </a:solidFill>
                          <a:latin typeface="Consolas" panose="020B0609020204030204" pitchFamily="49" charset="0"/>
                          <a:ea typeface="+mn-ea"/>
                          <a:cs typeface="+mn-cs"/>
                        </a:rPr>
                        <a:t>DATEADD</a:t>
                      </a:r>
                      <a:r>
                        <a:rPr lang="en-US" sz="1700" b="0" i="0" kern="1200" dirty="0">
                          <a:solidFill>
                            <a:schemeClr val="dk1"/>
                          </a:solidFill>
                          <a:effectLst/>
                          <a:latin typeface="+mn-lt"/>
                          <a:ea typeface="+mn-ea"/>
                          <a:cs typeface="+mn-cs"/>
                        </a:rPr>
                        <a:t> (date part, units,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Return date math results</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2962117"/>
                  </a:ext>
                </a:extLst>
              </a:tr>
            </a:tbl>
          </a:graphicData>
        </a:graphic>
      </p:graphicFrame>
      <p:graphicFrame>
        <p:nvGraphicFramePr>
          <p:cNvPr id="11" name="Table 10">
            <a:extLst>
              <a:ext uri="{FF2B5EF4-FFF2-40B4-BE49-F238E27FC236}">
                <a16:creationId xmlns:a16="http://schemas.microsoft.com/office/drawing/2014/main" id="{386F4256-91A1-C7A0-8118-32471E0EDAF6}"/>
              </a:ext>
            </a:extLst>
          </p:cNvPr>
          <p:cNvGraphicFramePr>
            <a:graphicFrameLocks noGrp="1"/>
          </p:cNvGraphicFramePr>
          <p:nvPr/>
        </p:nvGraphicFramePr>
        <p:xfrm>
          <a:off x="308186" y="51954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3029321278"/>
                    </a:ext>
                  </a:extLst>
                </a:gridCol>
                <a:gridCol w="5638800">
                  <a:extLst>
                    <a:ext uri="{9D8B030D-6E8A-4147-A177-3AD203B41FA5}">
                      <a16:colId xmlns:a16="http://schemas.microsoft.com/office/drawing/2014/main" val="570193047"/>
                    </a:ext>
                  </a:extLst>
                </a:gridCol>
                <a:gridCol w="2873829">
                  <a:extLst>
                    <a:ext uri="{9D8B030D-6E8A-4147-A177-3AD203B41FA5}">
                      <a16:colId xmlns:a16="http://schemas.microsoft.com/office/drawing/2014/main" val="2730194913"/>
                    </a:ext>
                  </a:extLst>
                </a:gridCol>
              </a:tblGrid>
              <a:tr h="605405">
                <a:tc>
                  <a:txBody>
                    <a:bodyPr/>
                    <a:lstStyle/>
                    <a:p>
                      <a:r>
                        <a:rPr lang="en-US" sz="1700" kern="1200" dirty="0">
                          <a:solidFill>
                            <a:srgbClr val="FF00FF"/>
                          </a:solidFill>
                          <a:latin typeface="Consolas" panose="020B0609020204030204" pitchFamily="49" charset="0"/>
                          <a:ea typeface="+mn-ea"/>
                          <a:cs typeface="+mn-cs"/>
                        </a:rPr>
                        <a:t>DATEDIFF</a:t>
                      </a:r>
                      <a:r>
                        <a:rPr lang="en-US" sz="1700" b="0" i="0" kern="1200" dirty="0">
                          <a:solidFill>
                            <a:schemeClr val="dk1"/>
                          </a:solidFill>
                          <a:effectLst/>
                          <a:latin typeface="+mn-lt"/>
                          <a:ea typeface="+mn-ea"/>
                          <a:cs typeface="+mn-cs"/>
                        </a:rPr>
                        <a:t> (date part, start date, end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Give the difference between 2 dates in units specified by date part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of date part units</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21580180"/>
                  </a:ext>
                </a:extLst>
              </a:tr>
            </a:tbl>
          </a:graphicData>
        </a:graphic>
      </p:graphicFrame>
      <p:graphicFrame>
        <p:nvGraphicFramePr>
          <p:cNvPr id="12" name="Table 11">
            <a:extLst>
              <a:ext uri="{FF2B5EF4-FFF2-40B4-BE49-F238E27FC236}">
                <a16:creationId xmlns:a16="http://schemas.microsoft.com/office/drawing/2014/main" id="{DE69357A-2750-931B-CA35-7E19D4E8182D}"/>
              </a:ext>
            </a:extLst>
          </p:cNvPr>
          <p:cNvGraphicFramePr>
            <a:graphicFrameLocks noGrp="1"/>
          </p:cNvGraphicFramePr>
          <p:nvPr/>
        </p:nvGraphicFramePr>
        <p:xfrm>
          <a:off x="308186" y="58050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197992960"/>
                    </a:ext>
                  </a:extLst>
                </a:gridCol>
                <a:gridCol w="5638800">
                  <a:extLst>
                    <a:ext uri="{9D8B030D-6E8A-4147-A177-3AD203B41FA5}">
                      <a16:colId xmlns:a16="http://schemas.microsoft.com/office/drawing/2014/main" val="149241725"/>
                    </a:ext>
                  </a:extLst>
                </a:gridCol>
                <a:gridCol w="2873829">
                  <a:extLst>
                    <a:ext uri="{9D8B030D-6E8A-4147-A177-3AD203B41FA5}">
                      <a16:colId xmlns:a16="http://schemas.microsoft.com/office/drawing/2014/main" val="3701442752"/>
                    </a:ext>
                  </a:extLst>
                </a:gridCol>
              </a:tblGrid>
              <a:tr h="605405">
                <a:tc>
                  <a:txBody>
                    <a:bodyPr/>
                    <a:lstStyle/>
                    <a:p>
                      <a:r>
                        <a:rPr lang="en-IN" sz="1700" kern="1200" dirty="0">
                          <a:solidFill>
                            <a:srgbClr val="FF00FF"/>
                          </a:solidFill>
                          <a:latin typeface="Consolas" panose="020B0609020204030204" pitchFamily="49" charset="0"/>
                          <a:ea typeface="+mn-ea"/>
                          <a:cs typeface="+mn-cs"/>
                        </a:rPr>
                        <a:t>ISDATE</a:t>
                      </a:r>
                      <a:r>
                        <a:rPr lang="en-IN" sz="1700" b="0" i="0" kern="1200" dirty="0">
                          <a:solidFill>
                            <a:schemeClr val="dk1"/>
                          </a:solidFill>
                          <a:effectLst/>
                          <a:latin typeface="+mn-lt"/>
                          <a:ea typeface="+mn-ea"/>
                          <a:cs typeface="+mn-cs"/>
                        </a:rPr>
                        <a:t> (potential date string)</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Use to validate a date string</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1 if the string is a valid date or 0 if not a valid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3145220"/>
                  </a:ext>
                </a:extLst>
              </a:tr>
            </a:tbl>
          </a:graphicData>
        </a:graphic>
      </p:graphicFrame>
    </p:spTree>
    <p:extLst>
      <p:ext uri="{BB962C8B-B14F-4D97-AF65-F5344CB8AC3E}">
        <p14:creationId xmlns:p14="http://schemas.microsoft.com/office/powerpoint/2010/main" val="138089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DAY()</a:t>
            </a:r>
          </a:p>
        </p:txBody>
      </p:sp>
      <p:sp>
        <p:nvSpPr>
          <p:cNvPr id="5" name="Rectangle 4">
            <a:extLst>
              <a:ext uri="{FF2B5EF4-FFF2-40B4-BE49-F238E27FC236}">
                <a16:creationId xmlns:a16="http://schemas.microsoft.com/office/drawing/2014/main" id="{C4A6F3DF-2EB8-43CF-3795-79063F5A0067}"/>
              </a:ext>
            </a:extLst>
          </p:cNvPr>
          <p:cNvSpPr/>
          <p:nvPr/>
        </p:nvSpPr>
        <p:spPr>
          <a:xfrm>
            <a:off x="224485" y="4558975"/>
            <a:ext cx="6345820"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224485" y="4229791"/>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DAY</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DAY </a:t>
            </a:r>
            <a:r>
              <a:rPr lang="en-US" b="1" dirty="0"/>
              <a:t>accepts a date, datetime, or valid date string </a:t>
            </a:r>
            <a:r>
              <a:rPr lang="en-US" dirty="0"/>
              <a:t>and returns the </a:t>
            </a:r>
            <a:r>
              <a:rPr lang="en-US" b="1" dirty="0">
                <a:solidFill>
                  <a:schemeClr val="tx2"/>
                </a:solidFill>
              </a:rPr>
              <a:t>Day part as an </a:t>
            </a:r>
          </a:p>
          <a:p>
            <a:pPr lvl="2"/>
            <a:r>
              <a:rPr lang="en-US" b="1" dirty="0">
                <a:solidFill>
                  <a:schemeClr val="tx2"/>
                </a:solidFill>
              </a:rPr>
              <a:t>    integer value</a:t>
            </a:r>
            <a:r>
              <a:rPr lang="en-US" dirty="0"/>
              <a:t>.</a:t>
            </a:r>
            <a:r>
              <a:rPr lang="en-IN" dirty="0">
                <a:solidFill>
                  <a:srgbClr val="808080"/>
                </a:solidFill>
                <a:latin typeface="Consolas" panose="020B0609020204030204" pitchFamily="49" charset="0"/>
              </a:rPr>
              <a:t> </a:t>
            </a: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104257" y="4261165"/>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15" name="Picture 1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104257" y="4590349"/>
            <a:ext cx="3550316" cy="611610"/>
          </a:xfrm>
          <a:prstGeom prst="rect">
            <a:avLst/>
          </a:prstGeom>
        </p:spPr>
      </p:pic>
      <p:sp>
        <p:nvSpPr>
          <p:cNvPr id="17" name="Rectangle 16">
            <a:extLst>
              <a:ext uri="{FF2B5EF4-FFF2-40B4-BE49-F238E27FC236}">
                <a16:creationId xmlns:a16="http://schemas.microsoft.com/office/drawing/2014/main" id="{C4A6F3DF-2EB8-43CF-3795-79063F5A0067}"/>
              </a:ext>
            </a:extLst>
          </p:cNvPr>
          <p:cNvSpPr/>
          <p:nvPr/>
        </p:nvSpPr>
        <p:spPr>
          <a:xfrm>
            <a:off x="224485" y="2006529"/>
            <a:ext cx="6345820"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224485" y="1677345"/>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104257" y="1677345"/>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224485" y="3205053"/>
            <a:ext cx="6345820"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104257" y="290724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25" name="Pictur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4257" y="3257233"/>
            <a:ext cx="3151803" cy="612000"/>
          </a:xfrm>
          <a:prstGeom prst="rect">
            <a:avLst/>
          </a:prstGeom>
        </p:spPr>
      </p:pic>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4257" y="2037903"/>
            <a:ext cx="2520856" cy="612000"/>
          </a:xfrm>
          <a:prstGeom prst="rect">
            <a:avLst/>
          </a:prstGeom>
        </p:spPr>
      </p:pic>
      <p:sp>
        <p:nvSpPr>
          <p:cNvPr id="27" name="Rectangle: Top Corners Rounded 6">
            <a:extLst>
              <a:ext uri="{FF2B5EF4-FFF2-40B4-BE49-F238E27FC236}">
                <a16:creationId xmlns:a16="http://schemas.microsoft.com/office/drawing/2014/main" id="{72A86601-7B9C-F9F6-5604-2455DAE19E61}"/>
              </a:ext>
            </a:extLst>
          </p:cNvPr>
          <p:cNvSpPr/>
          <p:nvPr/>
        </p:nvSpPr>
        <p:spPr>
          <a:xfrm>
            <a:off x="224485" y="2873107"/>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spTree>
    <p:extLst>
      <p:ext uri="{BB962C8B-B14F-4D97-AF65-F5344CB8AC3E}">
        <p14:creationId xmlns:p14="http://schemas.microsoft.com/office/powerpoint/2010/main" val="273674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MONTH ()</a:t>
            </a:r>
          </a:p>
        </p:txBody>
      </p:sp>
      <p:sp>
        <p:nvSpPr>
          <p:cNvPr id="5" name="Rectangle 4">
            <a:extLst>
              <a:ext uri="{FF2B5EF4-FFF2-40B4-BE49-F238E27FC236}">
                <a16:creationId xmlns:a16="http://schemas.microsoft.com/office/drawing/2014/main" id="{C4A6F3DF-2EB8-43CF-3795-79063F5A0067}"/>
              </a:ext>
            </a:extLst>
          </p:cNvPr>
          <p:cNvSpPr/>
          <p:nvPr/>
        </p:nvSpPr>
        <p:spPr>
          <a:xfrm>
            <a:off x="198460" y="4575022"/>
            <a:ext cx="6527765"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98461" y="4245838"/>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MONTH</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MONTH </a:t>
            </a:r>
            <a:r>
              <a:rPr lang="en-US" b="1" dirty="0"/>
              <a:t>accepts a date, datetime, or valid date string </a:t>
            </a:r>
            <a:r>
              <a:rPr lang="en-US" dirty="0"/>
              <a:t>and returns the </a:t>
            </a:r>
            <a:r>
              <a:rPr lang="en-US" b="1" dirty="0">
                <a:solidFill>
                  <a:schemeClr val="tx2"/>
                </a:solidFill>
              </a:rPr>
              <a:t>Month 		         part as an integer value</a:t>
            </a:r>
            <a:r>
              <a:rPr lang="en-US" dirty="0"/>
              <a:t>.</a:t>
            </a:r>
            <a:endParaRPr lang="en-IN" dirty="0">
              <a:solidFill>
                <a:srgbClr val="808080"/>
              </a:solidFill>
              <a:latin typeface="Consolas" panose="020B0609020204030204" pitchFamily="49" charset="0"/>
            </a:endParaRP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078233" y="427721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7" name="Rectangle 16">
            <a:extLst>
              <a:ext uri="{FF2B5EF4-FFF2-40B4-BE49-F238E27FC236}">
                <a16:creationId xmlns:a16="http://schemas.microsoft.com/office/drawing/2014/main" id="{C4A6F3DF-2EB8-43CF-3795-79063F5A0067}"/>
              </a:ext>
            </a:extLst>
          </p:cNvPr>
          <p:cNvSpPr/>
          <p:nvPr/>
        </p:nvSpPr>
        <p:spPr>
          <a:xfrm>
            <a:off x="198460" y="2022576"/>
            <a:ext cx="6527767"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1" y="1693392"/>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69339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221100"/>
            <a:ext cx="6527766"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078233" y="2889154"/>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2889154"/>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4" name="Picture 3">
            <a:extLst>
              <a:ext uri="{FF2B5EF4-FFF2-40B4-BE49-F238E27FC236}">
                <a16:creationId xmlns:a16="http://schemas.microsoft.com/office/drawing/2014/main" id="{4FF37C29-4F71-3147-8D41-F217E6D0A79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2022381"/>
            <a:ext cx="3046980" cy="612000"/>
          </a:xfrm>
          <a:prstGeom prst="rect">
            <a:avLst/>
          </a:prstGeom>
        </p:spPr>
      </p:pic>
      <p:pic>
        <p:nvPicPr>
          <p:cNvPr id="8" name="Picture 7">
            <a:extLst>
              <a:ext uri="{FF2B5EF4-FFF2-40B4-BE49-F238E27FC236}">
                <a16:creationId xmlns:a16="http://schemas.microsoft.com/office/drawing/2014/main" id="{31BF6C00-EB79-6B1F-6575-CEA10FF3355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3213132"/>
            <a:ext cx="3671997" cy="612000"/>
          </a:xfrm>
          <a:prstGeom prst="rect">
            <a:avLst/>
          </a:prstGeom>
        </p:spPr>
      </p:pic>
      <p:pic>
        <p:nvPicPr>
          <p:cNvPr id="10" name="Picture 9">
            <a:extLst>
              <a:ext uri="{FF2B5EF4-FFF2-40B4-BE49-F238E27FC236}">
                <a16:creationId xmlns:a16="http://schemas.microsoft.com/office/drawing/2014/main" id="{F6A60A8E-584C-918B-10FB-8C7EC22F5409}"/>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4601424"/>
            <a:ext cx="4787195" cy="612000"/>
          </a:xfrm>
          <a:prstGeom prst="rect">
            <a:avLst/>
          </a:prstGeom>
        </p:spPr>
      </p:pic>
    </p:spTree>
    <p:extLst>
      <p:ext uri="{BB962C8B-B14F-4D97-AF65-F5344CB8AC3E}">
        <p14:creationId xmlns:p14="http://schemas.microsoft.com/office/powerpoint/2010/main" val="174983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YEAR ()</a:t>
            </a:r>
          </a:p>
        </p:txBody>
      </p:sp>
      <p:sp>
        <p:nvSpPr>
          <p:cNvPr id="5" name="Rectangle 4">
            <a:extLst>
              <a:ext uri="{FF2B5EF4-FFF2-40B4-BE49-F238E27FC236}">
                <a16:creationId xmlns:a16="http://schemas.microsoft.com/office/drawing/2014/main" id="{C4A6F3DF-2EB8-43CF-3795-79063F5A0067}"/>
              </a:ext>
            </a:extLst>
          </p:cNvPr>
          <p:cNvSpPr/>
          <p:nvPr/>
        </p:nvSpPr>
        <p:spPr>
          <a:xfrm>
            <a:off x="198460" y="4575022"/>
            <a:ext cx="6527765"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98461" y="4245838"/>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YEAR</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YEAR </a:t>
            </a:r>
            <a:r>
              <a:rPr lang="en-US" b="1" dirty="0"/>
              <a:t>accepts a date, datetime, or valid date string </a:t>
            </a:r>
            <a:r>
              <a:rPr lang="en-US" dirty="0"/>
              <a:t>and returns the </a:t>
            </a:r>
            <a:r>
              <a:rPr lang="en-US" b="1" dirty="0">
                <a:solidFill>
                  <a:schemeClr val="tx2"/>
                </a:solidFill>
              </a:rPr>
              <a:t>Year part as    	      an integer value</a:t>
            </a:r>
            <a:r>
              <a:rPr lang="en-US" dirty="0"/>
              <a:t>.</a:t>
            </a:r>
            <a:endParaRPr lang="en-IN" dirty="0">
              <a:solidFill>
                <a:srgbClr val="808080"/>
              </a:solidFill>
              <a:latin typeface="Consolas" panose="020B0609020204030204" pitchFamily="49" charset="0"/>
            </a:endParaRP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078233" y="427721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7" name="Rectangle 16">
            <a:extLst>
              <a:ext uri="{FF2B5EF4-FFF2-40B4-BE49-F238E27FC236}">
                <a16:creationId xmlns:a16="http://schemas.microsoft.com/office/drawing/2014/main" id="{C4A6F3DF-2EB8-43CF-3795-79063F5A0067}"/>
              </a:ext>
            </a:extLst>
          </p:cNvPr>
          <p:cNvSpPr/>
          <p:nvPr/>
        </p:nvSpPr>
        <p:spPr>
          <a:xfrm>
            <a:off x="198460" y="2022576"/>
            <a:ext cx="6527767"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1" y="1693392"/>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69339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221100"/>
            <a:ext cx="6527766"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078233" y="2889154"/>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2889154"/>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6" name="Picture 5">
            <a:extLst>
              <a:ext uri="{FF2B5EF4-FFF2-40B4-BE49-F238E27FC236}">
                <a16:creationId xmlns:a16="http://schemas.microsoft.com/office/drawing/2014/main" id="{44B127CF-A2B4-C301-5C23-6FA165059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233" y="2018268"/>
            <a:ext cx="3099917" cy="612000"/>
          </a:xfrm>
          <a:prstGeom prst="rect">
            <a:avLst/>
          </a:prstGeom>
        </p:spPr>
      </p:pic>
      <p:pic>
        <p:nvPicPr>
          <p:cNvPr id="15" name="Picture 14">
            <a:extLst>
              <a:ext uri="{FF2B5EF4-FFF2-40B4-BE49-F238E27FC236}">
                <a16:creationId xmlns:a16="http://schemas.microsoft.com/office/drawing/2014/main" id="{9E8B019E-3F26-E8ED-16FD-24166CF9D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8232" y="3220399"/>
            <a:ext cx="3645958" cy="612000"/>
          </a:xfrm>
          <a:prstGeom prst="rect">
            <a:avLst/>
          </a:prstGeom>
        </p:spPr>
      </p:pic>
      <p:pic>
        <p:nvPicPr>
          <p:cNvPr id="20" name="Picture 19">
            <a:extLst>
              <a:ext uri="{FF2B5EF4-FFF2-40B4-BE49-F238E27FC236}">
                <a16:creationId xmlns:a16="http://schemas.microsoft.com/office/drawing/2014/main" id="{195C1E1A-4118-D8D2-4424-2FD7E5ADD5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8232" y="4597447"/>
            <a:ext cx="4270980" cy="612000"/>
          </a:xfrm>
          <a:prstGeom prst="rect">
            <a:avLst/>
          </a:prstGeom>
        </p:spPr>
      </p:pic>
    </p:spTree>
    <p:extLst>
      <p:ext uri="{BB962C8B-B14F-4D97-AF65-F5344CB8AC3E}">
        <p14:creationId xmlns:p14="http://schemas.microsoft.com/office/powerpoint/2010/main" val="81392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DATEPART ()</a:t>
            </a:r>
          </a:p>
        </p:txBody>
      </p:sp>
      <p:sp>
        <p:nvSpPr>
          <p:cNvPr id="13" name="Rectangle 12"/>
          <p:cNvSpPr/>
          <p:nvPr/>
        </p:nvSpPr>
        <p:spPr>
          <a:xfrm>
            <a:off x="131179" y="855719"/>
            <a:ext cx="10251525" cy="400110"/>
          </a:xfrm>
          <a:prstGeom prst="rect">
            <a:avLst/>
          </a:prstGeom>
        </p:spPr>
        <p:txBody>
          <a:bodyPr wrap="square">
            <a:spAutoFit/>
          </a:bodyPr>
          <a:lstStyle/>
          <a:p>
            <a:r>
              <a:rPr lang="en-IN" sz="2000" dirty="0">
                <a:solidFill>
                  <a:srgbClr val="FF00FF"/>
                </a:solidFill>
                <a:latin typeface="Consolas" panose="020B0609020204030204" pitchFamily="49" charset="0"/>
              </a:rPr>
              <a:t>DATEPART</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an integer corresponding to the datepart specified in DATEPART function.</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0" y="1682107"/>
            <a:ext cx="6527767" cy="1600438"/>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DATEPART</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DATEPART</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1352923"/>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35292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4" name="Picture 3">
            <a:extLst>
              <a:ext uri="{FF2B5EF4-FFF2-40B4-BE49-F238E27FC236}">
                <a16:creationId xmlns:a16="http://schemas.microsoft.com/office/drawing/2014/main" id="{3F2BCC9E-F3C4-866E-9808-E3822D192EF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1" y="1682106"/>
            <a:ext cx="900000" cy="4227633"/>
          </a:xfrm>
          <a:prstGeom prst="rect">
            <a:avLst/>
          </a:prstGeom>
        </p:spPr>
      </p:pic>
    </p:spTree>
    <p:extLst>
      <p:ext uri="{BB962C8B-B14F-4D97-AF65-F5344CB8AC3E}">
        <p14:creationId xmlns:p14="http://schemas.microsoft.com/office/powerpoint/2010/main" val="2789763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DATENAME ()</a:t>
            </a:r>
          </a:p>
        </p:txBody>
      </p:sp>
      <p:sp>
        <p:nvSpPr>
          <p:cNvPr id="13" name="Rectangle 12"/>
          <p:cNvSpPr/>
          <p:nvPr/>
        </p:nvSpPr>
        <p:spPr>
          <a:xfrm>
            <a:off x="131179" y="855719"/>
            <a:ext cx="10251525" cy="400110"/>
          </a:xfrm>
          <a:prstGeom prst="rect">
            <a:avLst/>
          </a:prstGeom>
        </p:spPr>
        <p:txBody>
          <a:bodyPr wrap="square">
            <a:spAutoFit/>
          </a:bodyPr>
          <a:lstStyle/>
          <a:p>
            <a:r>
              <a:rPr lang="en-IN" sz="2000" dirty="0">
                <a:solidFill>
                  <a:srgbClr val="FF00FF"/>
                </a:solidFill>
                <a:latin typeface="Consolas" panose="020B0609020204030204" pitchFamily="49" charset="0"/>
              </a:rPr>
              <a:t>DATENAME</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a string corresponding to the datepart specified for the given date</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0" y="1682107"/>
            <a:ext cx="6527767" cy="1600438"/>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DATENAME</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DATENAME</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'Second'</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1352923"/>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35292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5" name="Picture 4">
            <a:extLst>
              <a:ext uri="{FF2B5EF4-FFF2-40B4-BE49-F238E27FC236}">
                <a16:creationId xmlns:a16="http://schemas.microsoft.com/office/drawing/2014/main" id="{2023D4DB-0CB3-CD59-19FB-3BC51C7633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232" y="1682107"/>
            <a:ext cx="900000" cy="4376711"/>
          </a:xfrm>
          <a:prstGeom prst="rect">
            <a:avLst/>
          </a:prstGeom>
        </p:spPr>
      </p:pic>
      <p:sp>
        <p:nvSpPr>
          <p:cNvPr id="6" name="Rectangle 5">
            <a:extLst>
              <a:ext uri="{FF2B5EF4-FFF2-40B4-BE49-F238E27FC236}">
                <a16:creationId xmlns:a16="http://schemas.microsoft.com/office/drawing/2014/main" id="{BED2EAB1-4283-20F6-F589-2A40D1CA6BF9}"/>
              </a:ext>
            </a:extLst>
          </p:cNvPr>
          <p:cNvSpPr/>
          <p:nvPr/>
        </p:nvSpPr>
        <p:spPr>
          <a:xfrm>
            <a:off x="7078232" y="2577830"/>
            <a:ext cx="655257" cy="301557"/>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2617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EOMONTH ()</a:t>
            </a:r>
          </a:p>
        </p:txBody>
      </p:sp>
      <p:sp>
        <p:nvSpPr>
          <p:cNvPr id="13" name="Rectangle 12"/>
          <p:cNvSpPr/>
          <p:nvPr/>
        </p:nvSpPr>
        <p:spPr>
          <a:xfrm>
            <a:off x="131179" y="855719"/>
            <a:ext cx="10251525" cy="1231106"/>
          </a:xfrm>
          <a:prstGeom prst="rect">
            <a:avLst/>
          </a:prstGeom>
        </p:spPr>
        <p:txBody>
          <a:bodyPr wrap="square">
            <a:spAutoFit/>
          </a:bodyPr>
          <a:lstStyle/>
          <a:p>
            <a:pPr algn="just"/>
            <a:r>
              <a:rPr lang="en-IN" sz="2000" dirty="0">
                <a:solidFill>
                  <a:srgbClr val="FF00FF"/>
                </a:solidFill>
                <a:latin typeface="Consolas" panose="020B0609020204030204" pitchFamily="49" charset="0"/>
              </a:rPr>
              <a:t>EOMONTH</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The date function EOMONTH </a:t>
            </a:r>
            <a:r>
              <a:rPr lang="en-US" b="1" dirty="0"/>
              <a:t>accepts a date, datetime, or valid date string </a:t>
            </a:r>
            <a:r>
              <a:rPr lang="en-US" dirty="0"/>
              <a:t>and returns the end of month date as a datetime.</a:t>
            </a:r>
          </a:p>
          <a:p>
            <a:pPr marL="285750" indent="-285750" algn="just">
              <a:buFont typeface="Wingdings" panose="05000000000000000000" pitchFamily="2" charset="2"/>
              <a:buChar char="ü"/>
            </a:pPr>
            <a:r>
              <a:rPr lang="en-US" dirty="0"/>
              <a:t>It can also take an optional offset that basically adds or subtracts months from the current passed date.</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1" y="2646585"/>
            <a:ext cx="7424650"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EOM</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'March 1, 2022'</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EOM</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2317401"/>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992635" y="2317401"/>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869359"/>
            <a:ext cx="5204563" cy="954107"/>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Current Month'</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Previous Month'</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3</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6+ Month'</a:t>
            </a:r>
            <a:r>
              <a:rPr lang="en-US" sz="1400" dirty="0">
                <a:solidFill>
                  <a:srgbClr val="808080"/>
                </a:solidFill>
                <a:latin typeface="Consolas" panose="020B0609020204030204" pitchFamily="49" charset="0"/>
              </a:rPr>
              <a:t>;</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5809263" y="353741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3537413"/>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4" name="Picture 3">
            <a:extLst>
              <a:ext uri="{FF2B5EF4-FFF2-40B4-BE49-F238E27FC236}">
                <a16:creationId xmlns:a16="http://schemas.microsoft.com/office/drawing/2014/main" id="{200E17A6-3EDA-E9DC-6ADB-335240150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2635" y="2646584"/>
            <a:ext cx="4062639" cy="612000"/>
          </a:xfrm>
          <a:prstGeom prst="rect">
            <a:avLst/>
          </a:prstGeom>
        </p:spPr>
      </p:pic>
      <p:pic>
        <p:nvPicPr>
          <p:cNvPr id="16" name="Picture 15">
            <a:extLst>
              <a:ext uri="{FF2B5EF4-FFF2-40B4-BE49-F238E27FC236}">
                <a16:creationId xmlns:a16="http://schemas.microsoft.com/office/drawing/2014/main" id="{4EA2770F-EF68-9B12-EB9D-3A695150C2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9263" y="3876033"/>
            <a:ext cx="5911661" cy="612000"/>
          </a:xfrm>
          <a:prstGeom prst="rect">
            <a:avLst/>
          </a:prstGeom>
        </p:spPr>
      </p:pic>
    </p:spTree>
    <p:extLst>
      <p:ext uri="{BB962C8B-B14F-4D97-AF65-F5344CB8AC3E}">
        <p14:creationId xmlns:p14="http://schemas.microsoft.com/office/powerpoint/2010/main" val="191750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P spid="21" grpId="0" animBg="1"/>
      <p:bldP spid="23"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DATEADD ()</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1" y="863444"/>
            <a:ext cx="6658726" cy="392385"/>
          </a:xfrm>
        </p:spPr>
        <p:txBody>
          <a:bodyPr/>
          <a:lstStyle/>
          <a:p>
            <a:endParaRPr lang="en-US" dirty="0"/>
          </a:p>
          <a:p>
            <a:endParaRPr lang="en-US" dirty="0"/>
          </a:p>
          <a:p>
            <a:endParaRPr lang="en-US" dirty="0"/>
          </a:p>
          <a:p>
            <a:endParaRPr lang="en-US" dirty="0"/>
          </a:p>
        </p:txBody>
      </p:sp>
      <p:sp>
        <p:nvSpPr>
          <p:cNvPr id="13" name="Rectangle 12"/>
          <p:cNvSpPr/>
          <p:nvPr/>
        </p:nvSpPr>
        <p:spPr>
          <a:xfrm>
            <a:off x="131179" y="855719"/>
            <a:ext cx="10251525" cy="400110"/>
          </a:xfrm>
          <a:prstGeom prst="rect">
            <a:avLst/>
          </a:prstGeom>
        </p:spPr>
        <p:txBody>
          <a:bodyPr wrap="square">
            <a:spAutoFit/>
          </a:bodyPr>
          <a:lstStyle/>
          <a:p>
            <a:pPr algn="just"/>
            <a:r>
              <a:rPr lang="en-IN" sz="2000" dirty="0">
                <a:solidFill>
                  <a:srgbClr val="FF00FF"/>
                </a:solidFill>
                <a:latin typeface="Consolas" panose="020B0609020204030204" pitchFamily="49" charset="0"/>
              </a:rPr>
              <a:t>DATEADD</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datepart with added interval as a datetime.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202126" y="1657456"/>
          <a:ext cx="11240314" cy="72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785440712"/>
                    </a:ext>
                  </a:extLst>
                </a:gridCol>
                <a:gridCol w="7704307">
                  <a:extLst>
                    <a:ext uri="{9D8B030D-6E8A-4147-A177-3AD203B41FA5}">
                      <a16:colId xmlns:a16="http://schemas.microsoft.com/office/drawing/2014/main" val="25962218"/>
                    </a:ext>
                  </a:extLst>
                </a:gridCol>
                <a:gridCol w="2580542">
                  <a:extLst>
                    <a:ext uri="{9D8B030D-6E8A-4147-A177-3AD203B41FA5}">
                      <a16:colId xmlns:a16="http://schemas.microsoft.com/office/drawing/2014/main" val="20002"/>
                    </a:ext>
                  </a:extLst>
                </a:gridCol>
              </a:tblGrid>
              <a:tr h="360000">
                <a:tc>
                  <a:txBody>
                    <a:bodyPr/>
                    <a:lstStyle/>
                    <a:p>
                      <a:pPr algn="l"/>
                      <a:r>
                        <a:rPr lang="en-US" sz="1750" b="1" dirty="0"/>
                        <a:t>Datepart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gridSpan="3">
                  <a:txBody>
                    <a:bodyPr/>
                    <a:lstStyle/>
                    <a:p>
                      <a:pPr algn="l"/>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D</a:t>
                      </a:r>
                      <a:r>
                        <a:rPr lang="en-IN" b="1" dirty="0"/>
                        <a:t>ay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a:txBody>
                    <a:bodyPr/>
                    <a:lstStyle/>
                    <a:p>
                      <a:endParaRPr lang="en-GB"/>
                    </a:p>
                  </a:txBody>
                  <a:tcPr/>
                </a:tc>
                <a:tc hMerge="1">
                  <a:txBody>
                    <a:bodyPr/>
                    <a:lstStyle/>
                    <a:p>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44312518"/>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328272"/>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5" name="Rectangle 4">
            <a:extLst>
              <a:ext uri="{FF2B5EF4-FFF2-40B4-BE49-F238E27FC236}">
                <a16:creationId xmlns:a16="http://schemas.microsoft.com/office/drawing/2014/main" id="{48662EDF-3990-3D63-09E7-465DB409DD95}"/>
              </a:ext>
            </a:extLst>
          </p:cNvPr>
          <p:cNvSpPr/>
          <p:nvPr/>
        </p:nvSpPr>
        <p:spPr>
          <a:xfrm>
            <a:off x="9737387" y="2383277"/>
            <a:ext cx="262647"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47242BCB-2A76-98F1-5C35-589A8BE3A012}"/>
              </a:ext>
            </a:extLst>
          </p:cNvPr>
          <p:cNvSpPr/>
          <p:nvPr/>
        </p:nvSpPr>
        <p:spPr>
          <a:xfrm>
            <a:off x="9445556" y="3859811"/>
            <a:ext cx="262647"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182603D4-5713-3CE5-6F29-73A51B5D1404}"/>
              </a:ext>
            </a:extLst>
          </p:cNvPr>
          <p:cNvSpPr/>
          <p:nvPr/>
        </p:nvSpPr>
        <p:spPr>
          <a:xfrm>
            <a:off x="8907293" y="5321941"/>
            <a:ext cx="538263"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3" name="Table 2">
            <a:extLst>
              <a:ext uri="{FF2B5EF4-FFF2-40B4-BE49-F238E27FC236}">
                <a16:creationId xmlns:a16="http://schemas.microsoft.com/office/drawing/2014/main" id="{FA61450F-277E-C307-E176-00D12F5FA0E7}"/>
              </a:ext>
            </a:extLst>
          </p:cNvPr>
          <p:cNvGraphicFramePr>
            <a:graphicFrameLocks noGrp="1"/>
          </p:cNvGraphicFramePr>
          <p:nvPr/>
        </p:nvGraphicFramePr>
        <p:xfrm>
          <a:off x="202126" y="238321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978297475"/>
                    </a:ext>
                  </a:extLst>
                </a:gridCol>
                <a:gridCol w="7704307">
                  <a:extLst>
                    <a:ext uri="{9D8B030D-6E8A-4147-A177-3AD203B41FA5}">
                      <a16:colId xmlns:a16="http://schemas.microsoft.com/office/drawing/2014/main" val="2544107614"/>
                    </a:ext>
                  </a:extLst>
                </a:gridCol>
                <a:gridCol w="2580542">
                  <a:extLst>
                    <a:ext uri="{9D8B030D-6E8A-4147-A177-3AD203B41FA5}">
                      <a16:colId xmlns:a16="http://schemas.microsoft.com/office/drawing/2014/main" val="304742976"/>
                    </a:ext>
                  </a:extLst>
                </a:gridCol>
              </a:tblGrid>
              <a:tr h="360000">
                <a:tc>
                  <a:txBody>
                    <a:bodyPr/>
                    <a:lstStyle/>
                    <a:p>
                      <a:pPr algn="l"/>
                      <a:r>
                        <a:rPr lang="en-IN" dirty="0"/>
                        <a:t>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8830658"/>
                  </a:ext>
                </a:extLst>
              </a:tr>
            </a:tbl>
          </a:graphicData>
        </a:graphic>
      </p:graphicFrame>
      <p:graphicFrame>
        <p:nvGraphicFramePr>
          <p:cNvPr id="4" name="Table 3">
            <a:extLst>
              <a:ext uri="{FF2B5EF4-FFF2-40B4-BE49-F238E27FC236}">
                <a16:creationId xmlns:a16="http://schemas.microsoft.com/office/drawing/2014/main" id="{D5AD895B-9E34-4FCB-7001-3FA1DF071F07}"/>
              </a:ext>
            </a:extLst>
          </p:cNvPr>
          <p:cNvGraphicFramePr>
            <a:graphicFrameLocks noGrp="1"/>
          </p:cNvGraphicFramePr>
          <p:nvPr/>
        </p:nvGraphicFramePr>
        <p:xfrm>
          <a:off x="202126" y="274897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713463280"/>
                    </a:ext>
                  </a:extLst>
                </a:gridCol>
                <a:gridCol w="7704307">
                  <a:extLst>
                    <a:ext uri="{9D8B030D-6E8A-4147-A177-3AD203B41FA5}">
                      <a16:colId xmlns:a16="http://schemas.microsoft.com/office/drawing/2014/main" val="3170846000"/>
                    </a:ext>
                  </a:extLst>
                </a:gridCol>
                <a:gridCol w="2580542">
                  <a:extLst>
                    <a:ext uri="{9D8B030D-6E8A-4147-A177-3AD203B41FA5}">
                      <a16:colId xmlns:a16="http://schemas.microsoft.com/office/drawing/2014/main" val="394843679"/>
                    </a:ext>
                  </a:extLst>
                </a:gridCol>
              </a:tblGrid>
              <a:tr h="360000">
                <a:tc>
                  <a:txBody>
                    <a:bodyPr/>
                    <a:lstStyle/>
                    <a:p>
                      <a:pPr algn="l"/>
                      <a:r>
                        <a:rPr lang="en-IN" dirty="0"/>
                        <a:t>dd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8603440"/>
                  </a:ext>
                </a:extLst>
              </a:tr>
            </a:tbl>
          </a:graphicData>
        </a:graphic>
      </p:graphicFrame>
      <p:graphicFrame>
        <p:nvGraphicFramePr>
          <p:cNvPr id="6" name="Table 5">
            <a:extLst>
              <a:ext uri="{FF2B5EF4-FFF2-40B4-BE49-F238E27FC236}">
                <a16:creationId xmlns:a16="http://schemas.microsoft.com/office/drawing/2014/main" id="{CBBC78F2-3C81-03E1-99EF-E1EA58B0F066}"/>
              </a:ext>
            </a:extLst>
          </p:cNvPr>
          <p:cNvGraphicFramePr>
            <a:graphicFrameLocks noGrp="1"/>
          </p:cNvGraphicFramePr>
          <p:nvPr/>
        </p:nvGraphicFramePr>
        <p:xfrm>
          <a:off x="202126" y="310897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475378179"/>
                    </a:ext>
                  </a:extLst>
                </a:gridCol>
                <a:gridCol w="7704307">
                  <a:extLst>
                    <a:ext uri="{9D8B030D-6E8A-4147-A177-3AD203B41FA5}">
                      <a16:colId xmlns:a16="http://schemas.microsoft.com/office/drawing/2014/main" val="3194369090"/>
                    </a:ext>
                  </a:extLst>
                </a:gridCol>
                <a:gridCol w="2580542">
                  <a:extLst>
                    <a:ext uri="{9D8B030D-6E8A-4147-A177-3AD203B41FA5}">
                      <a16:colId xmlns:a16="http://schemas.microsoft.com/office/drawing/2014/main" val="1136741183"/>
                    </a:ext>
                  </a:extLst>
                </a:gridCol>
              </a:tblGrid>
              <a:tr h="360000">
                <a:tc>
                  <a:txBody>
                    <a:bodyPr/>
                    <a:lstStyle/>
                    <a:p>
                      <a:pPr algn="l"/>
                      <a:r>
                        <a:rPr lang="en-IN" dirty="0"/>
                        <a:t>day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kern="1200" dirty="0">
                          <a:solidFill>
                            <a:srgbClr val="FF00FF"/>
                          </a:solidFill>
                          <a:latin typeface="Consolas" panose="020B0609020204030204" pitchFamily="49" charset="0"/>
                          <a:ea typeface="+mn-ea"/>
                          <a:cs typeface="+mn-cs"/>
                        </a:rPr>
                        <a:t>day</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064680920"/>
                  </a:ext>
                </a:extLst>
              </a:tr>
            </a:tbl>
          </a:graphicData>
        </a:graphic>
      </p:graphicFrame>
      <p:graphicFrame>
        <p:nvGraphicFramePr>
          <p:cNvPr id="7" name="Table 6">
            <a:extLst>
              <a:ext uri="{FF2B5EF4-FFF2-40B4-BE49-F238E27FC236}">
                <a16:creationId xmlns:a16="http://schemas.microsoft.com/office/drawing/2014/main" id="{F81E2202-88C5-C97E-7B34-24E1D7C2D160}"/>
              </a:ext>
            </a:extLst>
          </p:cNvPr>
          <p:cNvGraphicFramePr>
            <a:graphicFrameLocks noGrp="1"/>
          </p:cNvGraphicFramePr>
          <p:nvPr/>
        </p:nvGraphicFramePr>
        <p:xfrm>
          <a:off x="202126" y="3474736"/>
          <a:ext cx="11240314" cy="365760"/>
        </p:xfrm>
        <a:graphic>
          <a:graphicData uri="http://schemas.openxmlformats.org/drawingml/2006/table">
            <a:tbl>
              <a:tblPr firstRow="1" bandRow="1">
                <a:tableStyleId>{5940675A-B579-460E-94D1-54222C63F5DA}</a:tableStyleId>
              </a:tblPr>
              <a:tblGrid>
                <a:gridCol w="11240314">
                  <a:extLst>
                    <a:ext uri="{9D8B030D-6E8A-4147-A177-3AD203B41FA5}">
                      <a16:colId xmlns:a16="http://schemas.microsoft.com/office/drawing/2014/main" val="3859115394"/>
                    </a:ext>
                  </a:extLst>
                </a:gridCol>
              </a:tblGrid>
              <a:tr h="36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a:t>
                      </a:r>
                      <a:r>
                        <a:rPr lang="en-IN" b="1" dirty="0"/>
                        <a:t>Month</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36371901"/>
                  </a:ext>
                </a:extLst>
              </a:tr>
            </a:tbl>
          </a:graphicData>
        </a:graphic>
      </p:graphicFrame>
      <p:graphicFrame>
        <p:nvGraphicFramePr>
          <p:cNvPr id="8" name="Table 7">
            <a:extLst>
              <a:ext uri="{FF2B5EF4-FFF2-40B4-BE49-F238E27FC236}">
                <a16:creationId xmlns:a16="http://schemas.microsoft.com/office/drawing/2014/main" id="{34AB156A-24D1-9C80-262F-EC076893CC32}"/>
              </a:ext>
            </a:extLst>
          </p:cNvPr>
          <p:cNvGraphicFramePr>
            <a:graphicFrameLocks noGrp="1"/>
          </p:cNvGraphicFramePr>
          <p:nvPr/>
        </p:nvGraphicFramePr>
        <p:xfrm>
          <a:off x="202126" y="383473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718089566"/>
                    </a:ext>
                  </a:extLst>
                </a:gridCol>
                <a:gridCol w="7704307">
                  <a:extLst>
                    <a:ext uri="{9D8B030D-6E8A-4147-A177-3AD203B41FA5}">
                      <a16:colId xmlns:a16="http://schemas.microsoft.com/office/drawing/2014/main" val="390134108"/>
                    </a:ext>
                  </a:extLst>
                </a:gridCol>
                <a:gridCol w="2580542">
                  <a:extLst>
                    <a:ext uri="{9D8B030D-6E8A-4147-A177-3AD203B41FA5}">
                      <a16:colId xmlns:a16="http://schemas.microsoft.com/office/drawing/2014/main" val="9756790"/>
                    </a:ext>
                  </a:extLst>
                </a:gridCol>
              </a:tblGrid>
              <a:tr h="360000">
                <a:tc>
                  <a:txBody>
                    <a:bodyPr/>
                    <a:lstStyle/>
                    <a:p>
                      <a:r>
                        <a:rPr lang="en-US" dirty="0"/>
                        <a:t>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m</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65984289"/>
                  </a:ext>
                </a:extLst>
              </a:tr>
            </a:tbl>
          </a:graphicData>
        </a:graphic>
      </p:graphicFrame>
      <p:graphicFrame>
        <p:nvGraphicFramePr>
          <p:cNvPr id="9" name="Table 8">
            <a:extLst>
              <a:ext uri="{FF2B5EF4-FFF2-40B4-BE49-F238E27FC236}">
                <a16:creationId xmlns:a16="http://schemas.microsoft.com/office/drawing/2014/main" id="{C39668DC-F3DD-09AC-59BB-439599B04BCF}"/>
              </a:ext>
            </a:extLst>
          </p:cNvPr>
          <p:cNvGraphicFramePr>
            <a:graphicFrameLocks noGrp="1"/>
          </p:cNvGraphicFramePr>
          <p:nvPr/>
        </p:nvGraphicFramePr>
        <p:xfrm>
          <a:off x="202126" y="4192560"/>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653572306"/>
                    </a:ext>
                  </a:extLst>
                </a:gridCol>
                <a:gridCol w="7704307">
                  <a:extLst>
                    <a:ext uri="{9D8B030D-6E8A-4147-A177-3AD203B41FA5}">
                      <a16:colId xmlns:a16="http://schemas.microsoft.com/office/drawing/2014/main" val="1264089077"/>
                    </a:ext>
                  </a:extLst>
                </a:gridCol>
                <a:gridCol w="2580542">
                  <a:extLst>
                    <a:ext uri="{9D8B030D-6E8A-4147-A177-3AD203B41FA5}">
                      <a16:colId xmlns:a16="http://schemas.microsoft.com/office/drawing/2014/main" val="1447286426"/>
                    </a:ext>
                  </a:extLst>
                </a:gridCol>
              </a:tblGrid>
              <a:tr h="360000">
                <a:tc>
                  <a:txBody>
                    <a:bodyPr/>
                    <a:lstStyle/>
                    <a:p>
                      <a:r>
                        <a:rPr lang="en-US" dirty="0"/>
                        <a:t>mm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mm</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90800707"/>
                  </a:ext>
                </a:extLst>
              </a:tr>
            </a:tbl>
          </a:graphicData>
        </a:graphic>
      </p:graphicFrame>
      <p:graphicFrame>
        <p:nvGraphicFramePr>
          <p:cNvPr id="10" name="Table 9">
            <a:extLst>
              <a:ext uri="{FF2B5EF4-FFF2-40B4-BE49-F238E27FC236}">
                <a16:creationId xmlns:a16="http://schemas.microsoft.com/office/drawing/2014/main" id="{23CE5762-AB23-852E-938A-C7CCD70444A6}"/>
              </a:ext>
            </a:extLst>
          </p:cNvPr>
          <p:cNvGraphicFramePr>
            <a:graphicFrameLocks noGrp="1"/>
          </p:cNvGraphicFramePr>
          <p:nvPr/>
        </p:nvGraphicFramePr>
        <p:xfrm>
          <a:off x="202126" y="456049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405226092"/>
                    </a:ext>
                  </a:extLst>
                </a:gridCol>
                <a:gridCol w="7704307">
                  <a:extLst>
                    <a:ext uri="{9D8B030D-6E8A-4147-A177-3AD203B41FA5}">
                      <a16:colId xmlns:a16="http://schemas.microsoft.com/office/drawing/2014/main" val="4083694410"/>
                    </a:ext>
                  </a:extLst>
                </a:gridCol>
                <a:gridCol w="2580542">
                  <a:extLst>
                    <a:ext uri="{9D8B030D-6E8A-4147-A177-3AD203B41FA5}">
                      <a16:colId xmlns:a16="http://schemas.microsoft.com/office/drawing/2014/main" val="2254304880"/>
                    </a:ext>
                  </a:extLst>
                </a:gridCol>
              </a:tblGrid>
              <a:tr h="360000">
                <a:tc>
                  <a:txBody>
                    <a:bodyPr/>
                    <a:lstStyle/>
                    <a:p>
                      <a:r>
                        <a:rPr lang="en-US" dirty="0"/>
                        <a:t>month</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kern="1200" dirty="0">
                          <a:solidFill>
                            <a:srgbClr val="FF00FF"/>
                          </a:solidFill>
                          <a:latin typeface="Consolas" panose="020B0609020204030204" pitchFamily="49" charset="0"/>
                          <a:ea typeface="+mn-ea"/>
                          <a:cs typeface="+mn-cs"/>
                        </a:rPr>
                        <a:t>month</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93346888"/>
                  </a:ext>
                </a:extLst>
              </a:tr>
            </a:tbl>
          </a:graphicData>
        </a:graphic>
      </p:graphicFrame>
      <p:graphicFrame>
        <p:nvGraphicFramePr>
          <p:cNvPr id="11" name="Table 10">
            <a:extLst>
              <a:ext uri="{FF2B5EF4-FFF2-40B4-BE49-F238E27FC236}">
                <a16:creationId xmlns:a16="http://schemas.microsoft.com/office/drawing/2014/main" id="{5CAA425C-AE9E-6B9D-DCA0-A84B5E968A2D}"/>
              </a:ext>
            </a:extLst>
          </p:cNvPr>
          <p:cNvGraphicFramePr>
            <a:graphicFrameLocks noGrp="1"/>
          </p:cNvGraphicFramePr>
          <p:nvPr/>
        </p:nvGraphicFramePr>
        <p:xfrm>
          <a:off x="202126" y="4924990"/>
          <a:ext cx="11240314" cy="365760"/>
        </p:xfrm>
        <a:graphic>
          <a:graphicData uri="http://schemas.openxmlformats.org/drawingml/2006/table">
            <a:tbl>
              <a:tblPr firstRow="1" bandRow="1">
                <a:tableStyleId>{5940675A-B579-460E-94D1-54222C63F5DA}</a:tableStyleId>
              </a:tblPr>
              <a:tblGrid>
                <a:gridCol w="11240314">
                  <a:extLst>
                    <a:ext uri="{9D8B030D-6E8A-4147-A177-3AD203B41FA5}">
                      <a16:colId xmlns:a16="http://schemas.microsoft.com/office/drawing/2014/main" val="622151165"/>
                    </a:ext>
                  </a:extLst>
                </a:gridCol>
              </a:tblGrid>
              <a:tr h="36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a:t>
                      </a:r>
                      <a:r>
                        <a:rPr lang="en-IN" b="1" dirty="0"/>
                        <a:t>Year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31410139"/>
                  </a:ext>
                </a:extLst>
              </a:tr>
            </a:tbl>
          </a:graphicData>
        </a:graphic>
      </p:graphicFrame>
      <p:graphicFrame>
        <p:nvGraphicFramePr>
          <p:cNvPr id="14" name="Table 13">
            <a:extLst>
              <a:ext uri="{FF2B5EF4-FFF2-40B4-BE49-F238E27FC236}">
                <a16:creationId xmlns:a16="http://schemas.microsoft.com/office/drawing/2014/main" id="{567A5C74-AD97-8B1D-9A52-BE7867A255DB}"/>
              </a:ext>
            </a:extLst>
          </p:cNvPr>
          <p:cNvGraphicFramePr>
            <a:graphicFrameLocks noGrp="1"/>
          </p:cNvGraphicFramePr>
          <p:nvPr/>
        </p:nvGraphicFramePr>
        <p:xfrm>
          <a:off x="202126" y="5289484"/>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2154273548"/>
                    </a:ext>
                  </a:extLst>
                </a:gridCol>
                <a:gridCol w="7704307">
                  <a:extLst>
                    <a:ext uri="{9D8B030D-6E8A-4147-A177-3AD203B41FA5}">
                      <a16:colId xmlns:a16="http://schemas.microsoft.com/office/drawing/2014/main" val="2492506119"/>
                    </a:ext>
                  </a:extLst>
                </a:gridCol>
                <a:gridCol w="2580542">
                  <a:extLst>
                    <a:ext uri="{9D8B030D-6E8A-4147-A177-3AD203B41FA5}">
                      <a16:colId xmlns:a16="http://schemas.microsoft.com/office/drawing/2014/main" val="377598377"/>
                    </a:ext>
                  </a:extLst>
                </a:gridCol>
              </a:tblGrid>
              <a:tr h="360000">
                <a:tc>
                  <a:txBody>
                    <a:bodyPr/>
                    <a:lstStyle/>
                    <a:p>
                      <a:r>
                        <a:rPr lang="en-US" dirty="0" err="1"/>
                        <a:t>yy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dirty="0" err="1">
                          <a:solidFill>
                            <a:prstClr val="black"/>
                          </a:solidFill>
                          <a:latin typeface="Consolas" panose="020B0609020204030204" pitchFamily="49" charset="0"/>
                        </a:rPr>
                        <a:t>yy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40632395"/>
                  </a:ext>
                </a:extLst>
              </a:tr>
            </a:tbl>
          </a:graphicData>
        </a:graphic>
      </p:graphicFrame>
      <p:graphicFrame>
        <p:nvGraphicFramePr>
          <p:cNvPr id="16" name="Table 15">
            <a:extLst>
              <a:ext uri="{FF2B5EF4-FFF2-40B4-BE49-F238E27FC236}">
                <a16:creationId xmlns:a16="http://schemas.microsoft.com/office/drawing/2014/main" id="{21C3E91F-E7EB-9E84-5567-0D08DFDCFB38}"/>
              </a:ext>
            </a:extLst>
          </p:cNvPr>
          <p:cNvGraphicFramePr>
            <a:graphicFrameLocks noGrp="1"/>
          </p:cNvGraphicFramePr>
          <p:nvPr/>
        </p:nvGraphicFramePr>
        <p:xfrm>
          <a:off x="202126" y="5652712"/>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832824358"/>
                    </a:ext>
                  </a:extLst>
                </a:gridCol>
                <a:gridCol w="7704307">
                  <a:extLst>
                    <a:ext uri="{9D8B030D-6E8A-4147-A177-3AD203B41FA5}">
                      <a16:colId xmlns:a16="http://schemas.microsoft.com/office/drawing/2014/main" val="198325493"/>
                    </a:ext>
                  </a:extLst>
                </a:gridCol>
                <a:gridCol w="2580542">
                  <a:extLst>
                    <a:ext uri="{9D8B030D-6E8A-4147-A177-3AD203B41FA5}">
                      <a16:colId xmlns:a16="http://schemas.microsoft.com/office/drawing/2014/main" val="397982778"/>
                    </a:ext>
                  </a:extLst>
                </a:gridCol>
              </a:tblGrid>
              <a:tr h="360000">
                <a:tc>
                  <a:txBody>
                    <a:bodyPr/>
                    <a:lstStyle/>
                    <a:p>
                      <a:r>
                        <a:rPr lang="en-US" dirty="0" err="1"/>
                        <a:t>yyyy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dirty="0" err="1">
                          <a:solidFill>
                            <a:prstClr val="black"/>
                          </a:solidFill>
                          <a:latin typeface="Consolas" panose="020B0609020204030204" pitchFamily="49" charset="0"/>
                        </a:rPr>
                        <a:t>yyyy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77033307"/>
                  </a:ext>
                </a:extLst>
              </a:tr>
            </a:tbl>
          </a:graphicData>
        </a:graphic>
      </p:graphicFrame>
      <p:graphicFrame>
        <p:nvGraphicFramePr>
          <p:cNvPr id="17" name="Table 16">
            <a:extLst>
              <a:ext uri="{FF2B5EF4-FFF2-40B4-BE49-F238E27FC236}">
                <a16:creationId xmlns:a16="http://schemas.microsoft.com/office/drawing/2014/main" id="{9F9136DC-E834-04C7-9D57-89910CD605B0}"/>
              </a:ext>
            </a:extLst>
          </p:cNvPr>
          <p:cNvGraphicFramePr>
            <a:graphicFrameLocks noGrp="1"/>
          </p:cNvGraphicFramePr>
          <p:nvPr/>
        </p:nvGraphicFramePr>
        <p:xfrm>
          <a:off x="202126" y="6013075"/>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330664241"/>
                    </a:ext>
                  </a:extLst>
                </a:gridCol>
                <a:gridCol w="7704307">
                  <a:extLst>
                    <a:ext uri="{9D8B030D-6E8A-4147-A177-3AD203B41FA5}">
                      <a16:colId xmlns:a16="http://schemas.microsoft.com/office/drawing/2014/main" val="1131446907"/>
                    </a:ext>
                  </a:extLst>
                </a:gridCol>
                <a:gridCol w="2580542">
                  <a:extLst>
                    <a:ext uri="{9D8B030D-6E8A-4147-A177-3AD203B41FA5}">
                      <a16:colId xmlns:a16="http://schemas.microsoft.com/office/drawing/2014/main" val="2187498469"/>
                    </a:ext>
                  </a:extLst>
                </a:gridCol>
              </a:tblGrid>
              <a:tr h="360000">
                <a:tc>
                  <a:txBody>
                    <a:bodyPr/>
                    <a:lstStyle/>
                    <a:p>
                      <a:r>
                        <a:rPr lang="en-US" dirty="0"/>
                        <a:t>year</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kern="1200" dirty="0">
                          <a:solidFill>
                            <a:srgbClr val="FF00FF"/>
                          </a:solidFill>
                          <a:latin typeface="Consolas" panose="020B0609020204030204" pitchFamily="49" charset="0"/>
                          <a:ea typeface="+mn-ea"/>
                          <a:cs typeface="+mn-cs"/>
                        </a:rPr>
                        <a:t>year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56445490"/>
                  </a:ext>
                </a:extLst>
              </a:tr>
            </a:tbl>
          </a:graphicData>
        </a:graphic>
      </p:graphicFrame>
    </p:spTree>
    <p:extLst>
      <p:ext uri="{BB962C8B-B14F-4D97-AF65-F5344CB8AC3E}">
        <p14:creationId xmlns:p14="http://schemas.microsoft.com/office/powerpoint/2010/main" val="34942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P spid="5" grpId="0" animBg="1"/>
      <p:bldP spid="22" grpId="0" animBg="1"/>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13" name="Rectangle 12"/>
          <p:cNvSpPr/>
          <p:nvPr/>
        </p:nvSpPr>
        <p:spPr>
          <a:xfrm>
            <a:off x="131179" y="855719"/>
            <a:ext cx="10251525" cy="954107"/>
          </a:xfrm>
          <a:prstGeom prst="rect">
            <a:avLst/>
          </a:prstGeom>
        </p:spPr>
        <p:txBody>
          <a:bodyPr wrap="square">
            <a:spAutoFit/>
          </a:bodyPr>
          <a:lstStyle/>
          <a:p>
            <a:pPr algn="just"/>
            <a:r>
              <a:rPr lang="en-IN" sz="2000" dirty="0">
                <a:solidFill>
                  <a:srgbClr val="FF00FF"/>
                </a:solidFill>
                <a:latin typeface="Consolas" panose="020B0609020204030204" pitchFamily="49" charset="0"/>
              </a:rPr>
              <a:t>DATEDIFF</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It gets the difference between two dates with the results returned in date units specified as years, months days, minutes, seconds as an integer value.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202126" y="2163294"/>
          <a:ext cx="11240314" cy="72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785440712"/>
                    </a:ext>
                  </a:extLst>
                </a:gridCol>
                <a:gridCol w="8550613">
                  <a:extLst>
                    <a:ext uri="{9D8B030D-6E8A-4147-A177-3AD203B41FA5}">
                      <a16:colId xmlns:a16="http://schemas.microsoft.com/office/drawing/2014/main" val="25962218"/>
                    </a:ext>
                  </a:extLst>
                </a:gridCol>
                <a:gridCol w="1734236">
                  <a:extLst>
                    <a:ext uri="{9D8B030D-6E8A-4147-A177-3AD203B41FA5}">
                      <a16:colId xmlns:a16="http://schemas.microsoft.com/office/drawing/2014/main" val="20002"/>
                    </a:ext>
                  </a:extLst>
                </a:gridCol>
              </a:tblGrid>
              <a:tr h="360000">
                <a:tc>
                  <a:txBody>
                    <a:bodyPr/>
                    <a:lstStyle/>
                    <a:p>
                      <a:pPr algn="l"/>
                      <a:r>
                        <a:rPr lang="en-US" sz="1750" b="1" dirty="0" err="1"/>
                        <a:t>DiffPart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a:txBody>
                    <a:bodyPr/>
                    <a:lstStyle/>
                    <a:p>
                      <a:pPr algn="l"/>
                      <a:r>
                        <a:rPr lang="en-GB" sz="1800" b="0" i="0" kern="1200" dirty="0">
                          <a:solidFill>
                            <a:schemeClr val="tx1"/>
                          </a:solidFill>
                          <a:effectLst/>
                          <a:latin typeface="+mn-lt"/>
                          <a:ea typeface="+mn-ea"/>
                          <a:cs typeface="+mn-cs"/>
                        </a:rPr>
                        <a:t>Minutes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MINUTE</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'2022-07-13'</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1440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834110"/>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4" name="Title 3">
            <a:extLst>
              <a:ext uri="{FF2B5EF4-FFF2-40B4-BE49-F238E27FC236}">
                <a16:creationId xmlns:a16="http://schemas.microsoft.com/office/drawing/2014/main" id="{6CEFD954-3236-5D34-A6D6-D03510064BCE}"/>
              </a:ext>
            </a:extLst>
          </p:cNvPr>
          <p:cNvSpPr>
            <a:spLocks noGrp="1"/>
          </p:cNvSpPr>
          <p:nvPr>
            <p:ph type="title"/>
          </p:nvPr>
        </p:nvSpPr>
        <p:spPr/>
        <p:txBody>
          <a:bodyPr/>
          <a:lstStyle/>
          <a:p>
            <a:r>
              <a:rPr lang="en-US" dirty="0"/>
              <a:t>Date &amp; Time Functions | DATEDIFF ()</a:t>
            </a:r>
            <a:endParaRPr lang="en-IN" dirty="0"/>
          </a:p>
        </p:txBody>
      </p:sp>
      <p:graphicFrame>
        <p:nvGraphicFramePr>
          <p:cNvPr id="2" name="Table 1">
            <a:extLst>
              <a:ext uri="{FF2B5EF4-FFF2-40B4-BE49-F238E27FC236}">
                <a16:creationId xmlns:a16="http://schemas.microsoft.com/office/drawing/2014/main" id="{92D27209-0B34-648E-C241-97AAB7225F43}"/>
              </a:ext>
            </a:extLst>
          </p:cNvPr>
          <p:cNvGraphicFramePr>
            <a:graphicFrameLocks noGrp="1"/>
          </p:cNvGraphicFramePr>
          <p:nvPr/>
        </p:nvGraphicFramePr>
        <p:xfrm>
          <a:off x="202126" y="2889054"/>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069867408"/>
                    </a:ext>
                  </a:extLst>
                </a:gridCol>
                <a:gridCol w="8550613">
                  <a:extLst>
                    <a:ext uri="{9D8B030D-6E8A-4147-A177-3AD203B41FA5}">
                      <a16:colId xmlns:a16="http://schemas.microsoft.com/office/drawing/2014/main" val="2547946156"/>
                    </a:ext>
                  </a:extLst>
                </a:gridCol>
                <a:gridCol w="1734236">
                  <a:extLst>
                    <a:ext uri="{9D8B030D-6E8A-4147-A177-3AD203B41FA5}">
                      <a16:colId xmlns:a16="http://schemas.microsoft.com/office/drawing/2014/main" val="1887712299"/>
                    </a:ext>
                  </a:extLst>
                </a:gridCol>
              </a:tblGrid>
              <a:tr h="360000">
                <a:tc>
                  <a:txBody>
                    <a:bodyPr/>
                    <a:lstStyle/>
                    <a:p>
                      <a:pPr algn="l"/>
                      <a:r>
                        <a:rPr lang="en-IN" dirty="0"/>
                        <a:t>Hours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HOUR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'2022-07-13'</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24</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32337240"/>
                  </a:ext>
                </a:extLst>
              </a:tr>
            </a:tbl>
          </a:graphicData>
        </a:graphic>
      </p:graphicFrame>
      <p:graphicFrame>
        <p:nvGraphicFramePr>
          <p:cNvPr id="3" name="Table 2">
            <a:extLst>
              <a:ext uri="{FF2B5EF4-FFF2-40B4-BE49-F238E27FC236}">
                <a16:creationId xmlns:a16="http://schemas.microsoft.com/office/drawing/2014/main" id="{53BC7693-85E2-CC75-00EE-D544F944E301}"/>
              </a:ext>
            </a:extLst>
          </p:cNvPr>
          <p:cNvGraphicFramePr>
            <a:graphicFrameLocks noGrp="1"/>
          </p:cNvGraphicFramePr>
          <p:nvPr/>
        </p:nvGraphicFramePr>
        <p:xfrm>
          <a:off x="202126" y="3252992"/>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136999241"/>
                    </a:ext>
                  </a:extLst>
                </a:gridCol>
                <a:gridCol w="8550613">
                  <a:extLst>
                    <a:ext uri="{9D8B030D-6E8A-4147-A177-3AD203B41FA5}">
                      <a16:colId xmlns:a16="http://schemas.microsoft.com/office/drawing/2014/main" val="1240897674"/>
                    </a:ext>
                  </a:extLst>
                </a:gridCol>
                <a:gridCol w="1734236">
                  <a:extLst>
                    <a:ext uri="{9D8B030D-6E8A-4147-A177-3AD203B41FA5}">
                      <a16:colId xmlns:a16="http://schemas.microsoft.com/office/drawing/2014/main" val="309324345"/>
                    </a:ext>
                  </a:extLst>
                </a:gridCol>
              </a:tblGrid>
              <a:tr h="360000">
                <a:tc>
                  <a:txBody>
                    <a:bodyPr/>
                    <a:lstStyle/>
                    <a:p>
                      <a:pPr algn="l"/>
                      <a:r>
                        <a:rPr lang="en-IN" dirty="0"/>
                        <a:t>Days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DAY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13</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1039970"/>
                  </a:ext>
                </a:extLst>
              </a:tr>
            </a:tbl>
          </a:graphicData>
        </a:graphic>
      </p:graphicFrame>
      <p:graphicFrame>
        <p:nvGraphicFramePr>
          <p:cNvPr id="5" name="Table 4">
            <a:extLst>
              <a:ext uri="{FF2B5EF4-FFF2-40B4-BE49-F238E27FC236}">
                <a16:creationId xmlns:a16="http://schemas.microsoft.com/office/drawing/2014/main" id="{A601B5EF-A8B3-44E3-4A9B-C9826219D835}"/>
              </a:ext>
            </a:extLst>
          </p:cNvPr>
          <p:cNvGraphicFramePr>
            <a:graphicFrameLocks noGrp="1"/>
          </p:cNvGraphicFramePr>
          <p:nvPr/>
        </p:nvGraphicFramePr>
        <p:xfrm>
          <a:off x="202126" y="3614814"/>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784289672"/>
                    </a:ext>
                  </a:extLst>
                </a:gridCol>
                <a:gridCol w="8550613">
                  <a:extLst>
                    <a:ext uri="{9D8B030D-6E8A-4147-A177-3AD203B41FA5}">
                      <a16:colId xmlns:a16="http://schemas.microsoft.com/office/drawing/2014/main" val="2126364920"/>
                    </a:ext>
                  </a:extLst>
                </a:gridCol>
                <a:gridCol w="1734236">
                  <a:extLst>
                    <a:ext uri="{9D8B030D-6E8A-4147-A177-3AD203B41FA5}">
                      <a16:colId xmlns:a16="http://schemas.microsoft.com/office/drawing/2014/main" val="1437287145"/>
                    </a:ext>
                  </a:extLst>
                </a:gridCol>
              </a:tblGrid>
              <a:tr h="360000">
                <a:tc>
                  <a:txBody>
                    <a:bodyPr/>
                    <a:lstStyle/>
                    <a:p>
                      <a:pPr algn="l"/>
                      <a:r>
                        <a:rPr lang="en-IN" dirty="0"/>
                        <a:t>Months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MONTH</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'2022-08-14'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5524955"/>
                  </a:ext>
                </a:extLst>
              </a:tr>
            </a:tbl>
          </a:graphicData>
        </a:graphic>
      </p:graphicFrame>
      <p:graphicFrame>
        <p:nvGraphicFramePr>
          <p:cNvPr id="6" name="Table 5">
            <a:extLst>
              <a:ext uri="{FF2B5EF4-FFF2-40B4-BE49-F238E27FC236}">
                <a16:creationId xmlns:a16="http://schemas.microsoft.com/office/drawing/2014/main" id="{04CF6930-979F-1984-497C-89FF2304EC45}"/>
              </a:ext>
            </a:extLst>
          </p:cNvPr>
          <p:cNvGraphicFramePr>
            <a:graphicFrameLocks noGrp="1"/>
          </p:cNvGraphicFramePr>
          <p:nvPr/>
        </p:nvGraphicFramePr>
        <p:xfrm>
          <a:off x="202126" y="3984062"/>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667163563"/>
                    </a:ext>
                  </a:extLst>
                </a:gridCol>
                <a:gridCol w="8550613">
                  <a:extLst>
                    <a:ext uri="{9D8B030D-6E8A-4147-A177-3AD203B41FA5}">
                      <a16:colId xmlns:a16="http://schemas.microsoft.com/office/drawing/2014/main" val="1638758465"/>
                    </a:ext>
                  </a:extLst>
                </a:gridCol>
                <a:gridCol w="1734236">
                  <a:extLst>
                    <a:ext uri="{9D8B030D-6E8A-4147-A177-3AD203B41FA5}">
                      <a16:colId xmlns:a16="http://schemas.microsoft.com/office/drawing/2014/main" val="2977512349"/>
                    </a:ext>
                  </a:extLst>
                </a:gridCol>
              </a:tblGrid>
              <a:tr h="360000">
                <a:tc>
                  <a:txBody>
                    <a:bodyPr/>
                    <a:lstStyle/>
                    <a:p>
                      <a:pPr algn="l"/>
                      <a:r>
                        <a:rPr lang="en-IN" dirty="0"/>
                        <a:t>Years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YEAR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'2025-08-14'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3</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01566997"/>
                  </a:ext>
                </a:extLst>
              </a:tr>
            </a:tbl>
          </a:graphicData>
        </a:graphic>
      </p:graphicFrame>
    </p:spTree>
    <p:extLst>
      <p:ext uri="{BB962C8B-B14F-4D97-AF65-F5344CB8AC3E}">
        <p14:creationId xmlns:p14="http://schemas.microsoft.com/office/powerpoint/2010/main" val="324577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ISDATE ()</a:t>
            </a:r>
          </a:p>
        </p:txBody>
      </p:sp>
      <p:sp>
        <p:nvSpPr>
          <p:cNvPr id="13" name="Rectangle 12"/>
          <p:cNvSpPr/>
          <p:nvPr/>
        </p:nvSpPr>
        <p:spPr>
          <a:xfrm>
            <a:off x="131179" y="855719"/>
            <a:ext cx="10251525" cy="954107"/>
          </a:xfrm>
          <a:prstGeom prst="rect">
            <a:avLst/>
          </a:prstGeom>
        </p:spPr>
        <p:txBody>
          <a:bodyPr wrap="square">
            <a:spAutoFit/>
          </a:bodyPr>
          <a:lstStyle/>
          <a:p>
            <a:pPr algn="just"/>
            <a:r>
              <a:rPr lang="en-IN" sz="2000" dirty="0">
                <a:solidFill>
                  <a:srgbClr val="FF00FF"/>
                </a:solidFill>
                <a:latin typeface="Consolas" panose="020B0609020204030204" pitchFamily="49" charset="0"/>
              </a:rPr>
              <a:t>ISDATE</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To check a string to see if it is a valid Date or Datetime field. </a:t>
            </a:r>
          </a:p>
          <a:p>
            <a:pPr marL="285750" indent="-285750" algn="just">
              <a:buFont typeface="Wingdings" panose="05000000000000000000" pitchFamily="2" charset="2"/>
              <a:buChar char="ü"/>
            </a:pPr>
            <a:r>
              <a:rPr lang="en-US" dirty="0"/>
              <a:t>ISDATE return 1 if true or 0 if false.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202126" y="2231390"/>
          <a:ext cx="10284849" cy="72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25962218"/>
                    </a:ext>
                  </a:extLst>
                </a:gridCol>
                <a:gridCol w="1734236">
                  <a:extLst>
                    <a:ext uri="{9D8B030D-6E8A-4147-A177-3AD203B41FA5}">
                      <a16:colId xmlns:a16="http://schemas.microsoft.com/office/drawing/2014/main" val="20002"/>
                    </a:ext>
                  </a:extLst>
                </a:gridCol>
              </a:tblGrid>
              <a:tr h="360000">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'20220101'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902206"/>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graphicFrame>
        <p:nvGraphicFramePr>
          <p:cNvPr id="3" name="Table 2">
            <a:extLst>
              <a:ext uri="{FF2B5EF4-FFF2-40B4-BE49-F238E27FC236}">
                <a16:creationId xmlns:a16="http://schemas.microsoft.com/office/drawing/2014/main" id="{C6588383-B7A2-5803-F996-8D90BB83A115}"/>
              </a:ext>
            </a:extLst>
          </p:cNvPr>
          <p:cNvGraphicFramePr>
            <a:graphicFrameLocks noGrp="1"/>
          </p:cNvGraphicFramePr>
          <p:nvPr/>
        </p:nvGraphicFramePr>
        <p:xfrm>
          <a:off x="202125" y="2957150"/>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2167237504"/>
                    </a:ext>
                  </a:extLst>
                </a:gridCol>
                <a:gridCol w="1734236">
                  <a:extLst>
                    <a:ext uri="{9D8B030D-6E8A-4147-A177-3AD203B41FA5}">
                      <a16:colId xmlns:a16="http://schemas.microsoft.com/office/drawing/2014/main" val="820653230"/>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'01/01/22'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43338829"/>
                  </a:ext>
                </a:extLst>
              </a:tr>
            </a:tbl>
          </a:graphicData>
        </a:graphic>
      </p:graphicFrame>
      <p:graphicFrame>
        <p:nvGraphicFramePr>
          <p:cNvPr id="4" name="Table 3">
            <a:extLst>
              <a:ext uri="{FF2B5EF4-FFF2-40B4-BE49-F238E27FC236}">
                <a16:creationId xmlns:a16="http://schemas.microsoft.com/office/drawing/2014/main" id="{2D93A68B-A6E9-7CF9-AB9D-0D9D17572844}"/>
              </a:ext>
            </a:extLst>
          </p:cNvPr>
          <p:cNvGraphicFramePr>
            <a:graphicFrameLocks noGrp="1"/>
          </p:cNvGraphicFramePr>
          <p:nvPr/>
        </p:nvGraphicFramePr>
        <p:xfrm>
          <a:off x="202125" y="3330635"/>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3510296191"/>
                    </a:ext>
                  </a:extLst>
                </a:gridCol>
                <a:gridCol w="1734236">
                  <a:extLst>
                    <a:ext uri="{9D8B030D-6E8A-4147-A177-3AD203B41FA5}">
                      <a16:colId xmlns:a16="http://schemas.microsoft.com/office/drawing/2014/main" val="697991873"/>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'13/01/2022'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'Not 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02308742"/>
                  </a:ext>
                </a:extLst>
              </a:tr>
            </a:tbl>
          </a:graphicData>
        </a:graphic>
      </p:graphicFrame>
      <p:graphicFrame>
        <p:nvGraphicFramePr>
          <p:cNvPr id="5" name="Table 4">
            <a:extLst>
              <a:ext uri="{FF2B5EF4-FFF2-40B4-BE49-F238E27FC236}">
                <a16:creationId xmlns:a16="http://schemas.microsoft.com/office/drawing/2014/main" id="{E784DACE-6069-4E13-707C-4AE6E7AD46AE}"/>
              </a:ext>
            </a:extLst>
          </p:cNvPr>
          <p:cNvGraphicFramePr>
            <a:graphicFrameLocks noGrp="1"/>
          </p:cNvGraphicFramePr>
          <p:nvPr/>
        </p:nvGraphicFramePr>
        <p:xfrm>
          <a:off x="202125" y="3700440"/>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1812315069"/>
                    </a:ext>
                  </a:extLst>
                </a:gridCol>
                <a:gridCol w="1734236">
                  <a:extLst>
                    <a:ext uri="{9D8B030D-6E8A-4147-A177-3AD203B41FA5}">
                      <a16:colId xmlns:a16="http://schemas.microsoft.com/office/drawing/2014/main" val="4077138188"/>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04138366"/>
                  </a:ext>
                </a:extLst>
              </a:tr>
            </a:tbl>
          </a:graphicData>
        </a:graphic>
      </p:graphicFrame>
      <p:graphicFrame>
        <p:nvGraphicFramePr>
          <p:cNvPr id="6" name="Table 5">
            <a:extLst>
              <a:ext uri="{FF2B5EF4-FFF2-40B4-BE49-F238E27FC236}">
                <a16:creationId xmlns:a16="http://schemas.microsoft.com/office/drawing/2014/main" id="{EE8B6E47-6EB7-6955-B632-14008BE27037}"/>
              </a:ext>
            </a:extLst>
          </p:cNvPr>
          <p:cNvGraphicFramePr>
            <a:graphicFrameLocks noGrp="1"/>
          </p:cNvGraphicFramePr>
          <p:nvPr/>
        </p:nvGraphicFramePr>
        <p:xfrm>
          <a:off x="202125" y="4068306"/>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1884994189"/>
                    </a:ext>
                  </a:extLst>
                </a:gridCol>
                <a:gridCol w="1734236">
                  <a:extLst>
                    <a:ext uri="{9D8B030D-6E8A-4147-A177-3AD203B41FA5}">
                      <a16:colId xmlns:a16="http://schemas.microsoft.com/office/drawing/2014/main" val="410222135"/>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'2022-13-01'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'Not 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881287575"/>
                  </a:ext>
                </a:extLst>
              </a:tr>
            </a:tbl>
          </a:graphicData>
        </a:graphic>
      </p:graphicFrame>
    </p:spTree>
    <p:extLst>
      <p:ext uri="{BB962C8B-B14F-4D97-AF65-F5344CB8AC3E}">
        <p14:creationId xmlns:p14="http://schemas.microsoft.com/office/powerpoint/2010/main" val="135293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Conversion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460704"/>
          <a:ext cx="11486023" cy="14554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Description</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CAST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converts a value (of any type) into a specified datatype.</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CAST(</a:t>
                      </a:r>
                      <a:r>
                        <a:rPr lang="en-US" sz="1800" b="0" i="1" kern="1200" dirty="0">
                          <a:solidFill>
                            <a:schemeClr val="tx1"/>
                          </a:solidFill>
                          <a:effectLst/>
                          <a:latin typeface="+mn-lt"/>
                          <a:ea typeface="+mn-ea"/>
                          <a:cs typeface="+mn-cs"/>
                        </a:rPr>
                        <a:t>expression</a:t>
                      </a:r>
                      <a:r>
                        <a:rPr lang="en-US" sz="1800" b="0" i="0" kern="1200" dirty="0">
                          <a:solidFill>
                            <a:schemeClr val="tx1"/>
                          </a:solidFill>
                          <a:effectLst/>
                          <a:latin typeface="+mn-lt"/>
                          <a:ea typeface="+mn-ea"/>
                          <a:cs typeface="+mn-cs"/>
                        </a:rPr>
                        <a:t> AS </a:t>
                      </a:r>
                      <a:r>
                        <a:rPr lang="en-US" sz="1800" b="0" i="1" kern="1200" dirty="0">
                          <a:solidFill>
                            <a:schemeClr val="tx1"/>
                          </a:solidFill>
                          <a:effectLst/>
                          <a:latin typeface="+mn-lt"/>
                          <a:ea typeface="+mn-ea"/>
                          <a:cs typeface="+mn-cs"/>
                        </a:rPr>
                        <a:t>datatype(length)</a:t>
                      </a:r>
                      <a:r>
                        <a:rPr lang="en-US" sz="1800" b="0" i="0" kern="1200" dirty="0">
                          <a:solidFill>
                            <a:schemeClr val="tx1"/>
                          </a:solidFill>
                          <a:effectLst/>
                          <a:latin typeface="+mn-lt"/>
                          <a:ea typeface="+mn-ea"/>
                          <a:cs typeface="+mn-cs"/>
                        </a:rPr>
                        <a:t>)</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CAST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25.65 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700" dirty="0">
                        <a:solidFill>
                          <a:schemeClr val="tx1"/>
                        </a:solidFill>
                        <a:latin typeface="+mj-lt"/>
                      </a:endParaRPr>
                    </a:p>
                    <a:p>
                      <a:endParaRPr lang="en-US" sz="1700" dirty="0">
                        <a:solidFill>
                          <a:schemeClr val="tx1"/>
                        </a:solidFill>
                        <a:latin typeface="+mj-lt"/>
                      </a:endParaRPr>
                    </a:p>
                    <a:p>
                      <a:r>
                        <a:rPr lang="en-US" sz="1700" dirty="0">
                          <a:solidFill>
                            <a:schemeClr val="tx1"/>
                          </a:solidFill>
                          <a:latin typeface="+mj-lt"/>
                        </a:rPr>
                        <a:t>25.65</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31520"/>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Other Functions</a:t>
            </a:r>
          </a:p>
        </p:txBody>
      </p:sp>
      <p:graphicFrame>
        <p:nvGraphicFramePr>
          <p:cNvPr id="3" name="Table 2">
            <a:extLst>
              <a:ext uri="{FF2B5EF4-FFF2-40B4-BE49-F238E27FC236}">
                <a16:creationId xmlns:a16="http://schemas.microsoft.com/office/drawing/2014/main" id="{DBD573E6-6E92-2865-87B5-14B0E6B8AAB7}"/>
              </a:ext>
            </a:extLst>
          </p:cNvPr>
          <p:cNvGraphicFramePr>
            <a:graphicFrameLocks noGrp="1"/>
          </p:cNvGraphicFramePr>
          <p:nvPr/>
        </p:nvGraphicFramePr>
        <p:xfrm>
          <a:off x="379404" y="2916124"/>
          <a:ext cx="11486023" cy="192024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329802204"/>
                    </a:ext>
                  </a:extLst>
                </a:gridCol>
                <a:gridCol w="8360228">
                  <a:extLst>
                    <a:ext uri="{9D8B030D-6E8A-4147-A177-3AD203B41FA5}">
                      <a16:colId xmlns:a16="http://schemas.microsoft.com/office/drawing/2014/main" val="1807913285"/>
                    </a:ext>
                  </a:extLst>
                </a:gridCol>
                <a:gridCol w="1377819">
                  <a:extLst>
                    <a:ext uri="{9D8B030D-6E8A-4147-A177-3AD203B41FA5}">
                      <a16:colId xmlns:a16="http://schemas.microsoft.com/office/drawing/2014/main" val="3233084187"/>
                    </a:ext>
                  </a:extLst>
                </a:gridCol>
              </a:tblGrid>
              <a:tr h="1052275">
                <a:tc>
                  <a:txBody>
                    <a:bodyPr/>
                    <a:lstStyle/>
                    <a:p>
                      <a:r>
                        <a:rPr lang="en-GB" sz="1800" dirty="0">
                          <a:solidFill>
                            <a:srgbClr val="FF00FF"/>
                          </a:solidFill>
                          <a:latin typeface="Consolas" panose="020B0609020204030204" pitchFamily="49" charset="0"/>
                        </a:rPr>
                        <a:t>CONVERT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It converts a value (of any type) into a specified datatype.</a:t>
                      </a:r>
                      <a:endParaRPr lang="en-GB" sz="1800" b="0" i="0" kern="1200" dirty="0">
                        <a:solidFill>
                          <a:schemeClr val="tx1"/>
                        </a:solidFill>
                        <a:effectLst/>
                        <a:latin typeface="+mn-lt"/>
                        <a:ea typeface="+mn-ea"/>
                        <a:cs typeface="+mn-cs"/>
                      </a:endParaRP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GB" sz="1800" b="1" i="0" kern="1200" dirty="0">
                          <a:solidFill>
                            <a:schemeClr val="tx1"/>
                          </a:solidFill>
                          <a:effectLst/>
                          <a:latin typeface="+mn-lt"/>
                          <a:ea typeface="+mn-ea"/>
                          <a:cs typeface="+mn-cs"/>
                        </a:rPr>
                        <a:t>Syntax: </a:t>
                      </a:r>
                      <a:r>
                        <a:rPr lang="en-GB" sz="1800" b="0" i="0" kern="1200" dirty="0">
                          <a:solidFill>
                            <a:schemeClr val="tx1"/>
                          </a:solidFill>
                          <a:effectLst/>
                          <a:latin typeface="+mn-lt"/>
                          <a:ea typeface="+mn-ea"/>
                          <a:cs typeface="+mn-cs"/>
                        </a:rPr>
                        <a:t>CONVERT(</a:t>
                      </a:r>
                      <a:r>
                        <a:rPr lang="en-GB" sz="1800" b="0" i="1" kern="1200" dirty="0">
                          <a:solidFill>
                            <a:schemeClr val="tx1"/>
                          </a:solidFill>
                          <a:effectLst/>
                          <a:latin typeface="+mn-lt"/>
                          <a:ea typeface="+mn-ea"/>
                          <a:cs typeface="+mn-cs"/>
                        </a:rPr>
                        <a:t>data_type(length), expression, style</a:t>
                      </a:r>
                      <a:r>
                        <a:rPr lang="en-GB" sz="1800" b="0" i="0" kern="1200" dirty="0">
                          <a:solidFill>
                            <a:schemeClr val="tx1"/>
                          </a:solidFill>
                          <a:effectLst/>
                          <a:latin typeface="+mn-lt"/>
                          <a:ea typeface="+mn-ea"/>
                          <a:cs typeface="+mn-cs"/>
                        </a:rPr>
                        <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CONVERT</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varchar</a:t>
                      </a:r>
                      <a:r>
                        <a:rPr lang="en-US" sz="1800" dirty="0">
                          <a:solidFill>
                            <a:schemeClr val="tx1"/>
                          </a:solidFill>
                          <a:latin typeface="Consolas" panose="020B0609020204030204" pitchFamily="49" charset="0"/>
                        </a:rPr>
                        <a:t>,25.65</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GB" sz="1800" b="0" i="0" kern="1200" dirty="0">
                          <a:solidFill>
                            <a:schemeClr val="tx1"/>
                          </a:solidFill>
                          <a:effectLst/>
                          <a:latin typeface="+mn-lt"/>
                          <a:ea typeface="+mn-ea"/>
                          <a:cs typeface="+mn-cs"/>
                        </a:rPr>
                        <a:t>Style is optional, </a:t>
                      </a:r>
                      <a:r>
                        <a:rPr lang="en-US" sz="1800" b="0" i="0" kern="1200" dirty="0">
                          <a:solidFill>
                            <a:schemeClr val="tx1"/>
                          </a:solidFill>
                          <a:effectLst/>
                          <a:latin typeface="+mn-lt"/>
                          <a:ea typeface="+mn-ea"/>
                          <a:cs typeface="+mn-cs"/>
                        </a:rPr>
                        <a:t>The format used to convert between data types, such as a date or string format.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kern="1200" dirty="0">
                          <a:solidFill>
                            <a:srgbClr val="0000FF"/>
                          </a:solidFill>
                          <a:latin typeface="Consolas" panose="020B0609020204030204" pitchFamily="49" charset="0"/>
                          <a:ea typeface="+mn-ea"/>
                          <a:cs typeface="+mn-cs"/>
                        </a:rPr>
                        <a:t>SELECT</a:t>
                      </a:r>
                      <a:r>
                        <a:rPr lang="en-US" sz="1800" kern="1200" dirty="0">
                          <a:solidFill>
                            <a:schemeClr val="tx1"/>
                          </a:solidFill>
                          <a:latin typeface="+mn-lt"/>
                          <a:ea typeface="+mn-ea"/>
                          <a:cs typeface="+mn-cs"/>
                        </a:rPr>
                        <a:t> </a:t>
                      </a:r>
                      <a:r>
                        <a:rPr lang="en-US" sz="1800" kern="1200" dirty="0">
                          <a:solidFill>
                            <a:srgbClr val="FF00FF"/>
                          </a:solidFill>
                          <a:latin typeface="Consolas" panose="020B0609020204030204" pitchFamily="49" charset="0"/>
                          <a:ea typeface="+mn-ea"/>
                          <a:cs typeface="+mn-cs"/>
                        </a:rPr>
                        <a:t>CONVERT</a:t>
                      </a:r>
                      <a:r>
                        <a:rPr lang="en-US" sz="1800" dirty="0">
                          <a:solidFill>
                            <a:srgbClr val="808080"/>
                          </a:solidFill>
                          <a:latin typeface="Consolas" panose="020B0609020204030204" pitchFamily="49" charset="0"/>
                        </a:rPr>
                        <a:t>(</a:t>
                      </a:r>
                      <a:r>
                        <a:rPr lang="en-US" sz="1800" kern="1200" dirty="0">
                          <a:solidFill>
                            <a:srgbClr val="0000FF"/>
                          </a:solidFill>
                          <a:latin typeface="Consolas" panose="020B0609020204030204" pitchFamily="49" charset="0"/>
                          <a:ea typeface="+mn-ea"/>
                          <a:cs typeface="+mn-cs"/>
                        </a:rPr>
                        <a:t>varchar</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20</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 </a:t>
                      </a:r>
                      <a:r>
                        <a:rPr lang="en-US" sz="1800" kern="1200" dirty="0" err="1">
                          <a:solidFill>
                            <a:srgbClr val="FF00FF"/>
                          </a:solidFill>
                          <a:latin typeface="Consolas" panose="020B0609020204030204" pitchFamily="49" charset="0"/>
                          <a:ea typeface="+mn-ea"/>
                          <a:cs typeface="+mn-cs"/>
                        </a:rPr>
                        <a:t>getdate</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 100</a:t>
                      </a:r>
                      <a:r>
                        <a:rPr lang="en-US" sz="1800" dirty="0">
                          <a:solidFill>
                            <a:srgbClr val="808080"/>
                          </a:solidFill>
                          <a:latin typeface="Consolas" panose="020B0609020204030204" pitchFamily="49" charset="0"/>
                        </a:rPr>
                        <a:t>)</a:t>
                      </a:r>
                      <a:endParaRPr lang="en-GB"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700" dirty="0">
                        <a:solidFill>
                          <a:schemeClr val="tx1"/>
                        </a:solidFill>
                        <a:latin typeface="+mj-lt"/>
                      </a:endParaRPr>
                    </a:p>
                    <a:p>
                      <a:endParaRPr lang="en-US" sz="1700" dirty="0">
                        <a:solidFill>
                          <a:schemeClr val="tx1"/>
                        </a:solidFill>
                        <a:latin typeface="+mj-lt"/>
                      </a:endParaRPr>
                    </a:p>
                    <a:p>
                      <a:r>
                        <a:rPr lang="en-US" sz="1700" dirty="0">
                          <a:solidFill>
                            <a:schemeClr val="tx1"/>
                          </a:solidFill>
                          <a:latin typeface="+mj-lt"/>
                        </a:rPr>
                        <a:t>25.65</a:t>
                      </a:r>
                    </a:p>
                    <a:p>
                      <a:r>
                        <a:rPr lang="en-US" sz="1700" dirty="0">
                          <a:solidFill>
                            <a:schemeClr val="tx1"/>
                          </a:solidFill>
                          <a:latin typeface="+mj-lt"/>
                        </a:rPr>
                        <a:t>----------------</a:t>
                      </a:r>
                    </a:p>
                    <a:p>
                      <a:r>
                        <a:rPr lang="en-US" sz="1700" dirty="0">
                          <a:solidFill>
                            <a:schemeClr val="tx1"/>
                          </a:solidFill>
                          <a:latin typeface="+mj-lt"/>
                        </a:rPr>
                        <a:t>Jul 14 2022 10:59AM</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18155967"/>
                  </a:ext>
                </a:extLst>
              </a:tr>
            </a:tbl>
          </a:graphicData>
        </a:graphic>
      </p:graphicFrame>
    </p:spTree>
    <p:extLst>
      <p:ext uri="{BB962C8B-B14F-4D97-AF65-F5344CB8AC3E}">
        <p14:creationId xmlns:p14="http://schemas.microsoft.com/office/powerpoint/2010/main" val="1692759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1A398-A41D-0E37-92D4-12EB99C8BA2A}"/>
              </a:ext>
            </a:extLst>
          </p:cNvPr>
          <p:cNvSpPr>
            <a:spLocks noGrp="1"/>
          </p:cNvSpPr>
          <p:nvPr>
            <p:ph type="title"/>
          </p:nvPr>
        </p:nvSpPr>
        <p:spPr/>
        <p:txBody>
          <a:bodyPr/>
          <a:lstStyle/>
          <a:p>
            <a:r>
              <a:rPr lang="en-US" dirty="0"/>
              <a:t>Keys</a:t>
            </a:r>
            <a:endParaRPr lang="en-IN" dirty="0"/>
          </a:p>
        </p:txBody>
      </p:sp>
      <p:sp>
        <p:nvSpPr>
          <p:cNvPr id="3" name="Text Placeholder 2">
            <a:extLst>
              <a:ext uri="{FF2B5EF4-FFF2-40B4-BE49-F238E27FC236}">
                <a16:creationId xmlns:a16="http://schemas.microsoft.com/office/drawing/2014/main" id="{4F46B8AD-CA64-229D-75BB-2974179FAE9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35851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What is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a:xfrm>
            <a:off x="131181" y="863444"/>
            <a:ext cx="11767594" cy="5590565"/>
          </a:xfrm>
        </p:spPr>
        <p:txBody>
          <a:bodyPr/>
          <a:lstStyle/>
          <a:p>
            <a:r>
              <a:rPr lang="en-GB" b="1" dirty="0">
                <a:solidFill>
                  <a:srgbClr val="C00000"/>
                </a:solidFill>
              </a:rPr>
              <a:t>Key</a:t>
            </a:r>
            <a:r>
              <a:rPr lang="en-GB" dirty="0"/>
              <a:t> is an attribute or a set of attribute that </a:t>
            </a:r>
            <a:r>
              <a:rPr lang="en-GB" b="1" dirty="0">
                <a:solidFill>
                  <a:srgbClr val="C00000"/>
                </a:solidFill>
              </a:rPr>
              <a:t>uniquely identify</a:t>
            </a:r>
            <a:r>
              <a:rPr lang="en-GB" dirty="0"/>
              <a:t> each record of a table.</a:t>
            </a:r>
          </a:p>
          <a:p>
            <a:r>
              <a:rPr lang="en-GB" dirty="0"/>
              <a:t>It is also used to find or create the relation between two or more tables. </a:t>
            </a:r>
          </a:p>
          <a:p>
            <a:endParaRPr lang="en-US" dirty="0"/>
          </a:p>
        </p:txBody>
      </p:sp>
      <p:graphicFrame>
        <p:nvGraphicFramePr>
          <p:cNvPr id="4" name="Table 3">
            <a:extLst>
              <a:ext uri="{FF2B5EF4-FFF2-40B4-BE49-F238E27FC236}">
                <a16:creationId xmlns:a16="http://schemas.microsoft.com/office/drawing/2014/main" id="{DE55B5B2-4908-0F2C-21C6-0CD868CC962A}"/>
              </a:ext>
            </a:extLst>
          </p:cNvPr>
          <p:cNvGraphicFramePr>
            <a:graphicFrameLocks noGrp="1"/>
          </p:cNvGraphicFramePr>
          <p:nvPr/>
        </p:nvGraphicFramePr>
        <p:xfrm>
          <a:off x="3562501" y="3017806"/>
          <a:ext cx="4904954" cy="2368030"/>
        </p:xfrm>
        <a:graphic>
          <a:graphicData uri="http://schemas.openxmlformats.org/drawingml/2006/table">
            <a:tbl>
              <a:tblPr firstRow="1" bandRow="1">
                <a:tableStyleId>{073A0DAA-6AF3-43AB-8588-CEC1D06C72B9}</a:tableStyleId>
              </a:tblPr>
              <a:tblGrid>
                <a:gridCol w="544830">
                  <a:extLst>
                    <a:ext uri="{9D8B030D-6E8A-4147-A177-3AD203B41FA5}">
                      <a16:colId xmlns:a16="http://schemas.microsoft.com/office/drawing/2014/main" val="3494103671"/>
                    </a:ext>
                  </a:extLst>
                </a:gridCol>
                <a:gridCol w="1357630">
                  <a:extLst>
                    <a:ext uri="{9D8B030D-6E8A-4147-A177-3AD203B41FA5}">
                      <a16:colId xmlns:a16="http://schemas.microsoft.com/office/drawing/2014/main" val="3563248749"/>
                    </a:ext>
                  </a:extLst>
                </a:gridCol>
                <a:gridCol w="738505">
                  <a:extLst>
                    <a:ext uri="{9D8B030D-6E8A-4147-A177-3AD203B41FA5}">
                      <a16:colId xmlns:a16="http://schemas.microsoft.com/office/drawing/2014/main" val="3075158583"/>
                    </a:ext>
                  </a:extLst>
                </a:gridCol>
                <a:gridCol w="1030605">
                  <a:extLst>
                    <a:ext uri="{9D8B030D-6E8A-4147-A177-3AD203B41FA5}">
                      <a16:colId xmlns:a16="http://schemas.microsoft.com/office/drawing/2014/main" val="3754116018"/>
                    </a:ext>
                  </a:extLst>
                </a:gridCol>
                <a:gridCol w="1233384">
                  <a:extLst>
                    <a:ext uri="{9D8B030D-6E8A-4147-A177-3AD203B41FA5}">
                      <a16:colId xmlns:a16="http://schemas.microsoft.com/office/drawing/2014/main" val="1321371382"/>
                    </a:ext>
                  </a:extLst>
                </a:gridCol>
              </a:tblGrid>
              <a:tr h="339494">
                <a:tc>
                  <a:txBody>
                    <a:bodyPr/>
                    <a:lstStyle/>
                    <a:p>
                      <a:pPr algn="ctr"/>
                      <a:r>
                        <a:rPr lang="en-US" sz="1600" b="1" dirty="0">
                          <a:solidFill>
                            <a:schemeClr val="bg1"/>
                          </a:solidFill>
                        </a:rPr>
                        <a:t>ID </a:t>
                      </a:r>
                    </a:p>
                  </a:txBody>
                  <a:tcPr anchor="ctr"/>
                </a:tc>
                <a:tc>
                  <a:txBody>
                    <a:bodyPr/>
                    <a:lstStyle/>
                    <a:p>
                      <a:pPr algn="ctr"/>
                      <a:r>
                        <a:rPr lang="en-US" sz="1600" b="1" dirty="0">
                          <a:solidFill>
                            <a:schemeClr val="bg1"/>
                          </a:solidFill>
                        </a:rPr>
                        <a:t>Name</a:t>
                      </a:r>
                    </a:p>
                  </a:txBody>
                  <a:tcPr anchor="ctr"/>
                </a:tc>
                <a:tc>
                  <a:txBody>
                    <a:bodyPr/>
                    <a:lstStyle/>
                    <a:p>
                      <a:pPr algn="ctr"/>
                      <a:r>
                        <a:rPr lang="en-US" sz="1600" kern="1200" dirty="0">
                          <a:solidFill>
                            <a:schemeClr val="bg1"/>
                          </a:solidFill>
                        </a:rPr>
                        <a:t>Salary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City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Branch</a:t>
                      </a:r>
                      <a:endParaRPr lang="en-US" sz="16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600" b="0" u="none" strike="noStrike" dirty="0">
                          <a:solidFill>
                            <a:srgbClr val="C00000"/>
                          </a:solidFill>
                          <a:effectLst/>
                        </a:rPr>
                        <a:t>258</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Ankit Patel</a:t>
                      </a:r>
                      <a:endParaRPr lang="en-US" sz="1600" b="0" i="0" u="none" strike="noStrike" dirty="0">
                        <a:solidFill>
                          <a:srgbClr val="C00000"/>
                        </a:solidFill>
                        <a:effectLst/>
                        <a:latin typeface="+mn-lt"/>
                      </a:endParaRPr>
                    </a:p>
                  </a:txBody>
                  <a:tcPr anchor="ctr"/>
                </a:tc>
                <a:tc>
                  <a:txBody>
                    <a:bodyPr/>
                    <a:lstStyle/>
                    <a:p>
                      <a:pPr algn="ctr" fontAlgn="b"/>
                      <a:r>
                        <a:rPr lang="en-US" sz="1600" b="0" i="0" u="none" strike="noStrike" dirty="0">
                          <a:solidFill>
                            <a:srgbClr val="C00000"/>
                          </a:solidFill>
                          <a:effectLst/>
                          <a:latin typeface="+mn-lt"/>
                        </a:rPr>
                        <a:t>50000</a:t>
                      </a:r>
                    </a:p>
                  </a:txBody>
                  <a:tcPr anchor="b"/>
                </a:tc>
                <a:tc>
                  <a:txBody>
                    <a:bodyPr/>
                    <a:lstStyle/>
                    <a:p>
                      <a:pPr algn="l" fontAlgn="b"/>
                      <a:r>
                        <a:rPr lang="en-US" sz="1600" b="0" u="none" strike="noStrike" dirty="0" err="1">
                          <a:solidFill>
                            <a:srgbClr val="C00000"/>
                          </a:solidFill>
                          <a:effectLst/>
                        </a:rPr>
                        <a:t>Jetpur</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Electrical</a:t>
                      </a:r>
                      <a:endParaRPr lang="en-US" sz="1600" b="0" i="0" u="none" strike="noStrike" dirty="0">
                        <a:solidFill>
                          <a:srgbClr val="C00000"/>
                        </a:solidFill>
                        <a:effectLst/>
                        <a:latin typeface="+mn-lt"/>
                      </a:endParaRPr>
                    </a:p>
                  </a:txBody>
                  <a:tcPr anchor="ctr"/>
                </a:tc>
                <a:extLst>
                  <a:ext uri="{0D108BD9-81ED-4DB2-BD59-A6C34878D82A}">
                    <a16:rowId xmlns:a16="http://schemas.microsoft.com/office/drawing/2014/main" val="3729563750"/>
                  </a:ext>
                </a:extLst>
              </a:tr>
              <a:tr h="202347">
                <a:tc>
                  <a:txBody>
                    <a:bodyPr/>
                    <a:lstStyle/>
                    <a:p>
                      <a:pPr algn="ctr" fontAlgn="b"/>
                      <a:r>
                        <a:rPr lang="en-US" sz="1600" b="0" u="none" strike="noStrike" dirty="0">
                          <a:solidFill>
                            <a:srgbClr val="000000"/>
                          </a:solidFill>
                          <a:effectLst/>
                        </a:rPr>
                        <a:t>742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Parmar</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75000</a:t>
                      </a:r>
                    </a:p>
                  </a:txBody>
                  <a:tcPr anchor="b"/>
                </a:tc>
                <a:tc>
                  <a:txBody>
                    <a:bodyPr/>
                    <a:lstStyle/>
                    <a:p>
                      <a:pPr algn="l" fontAlgn="b"/>
                      <a:r>
                        <a:rPr lang="en-US" sz="1600" b="0" u="none" strike="noStrike" dirty="0">
                          <a:solidFill>
                            <a:srgbClr val="000000"/>
                          </a:solidFill>
                          <a:effectLst/>
                        </a:rPr>
                        <a:t>Baroda</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600" b="0" u="none" strike="noStrike" dirty="0">
                          <a:solidFill>
                            <a:srgbClr val="C00000"/>
                          </a:solidFill>
                          <a:effectLst/>
                        </a:rPr>
                        <a:t>329</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Ankit Patel</a:t>
                      </a:r>
                      <a:endParaRPr lang="en-US" sz="1600" b="0" i="0" u="none" strike="noStrike" dirty="0">
                        <a:solidFill>
                          <a:srgbClr val="C00000"/>
                        </a:solidFill>
                        <a:effectLst/>
                        <a:latin typeface="+mn-lt"/>
                      </a:endParaRPr>
                    </a:p>
                  </a:txBody>
                  <a:tcPr anchor="ctr"/>
                </a:tc>
                <a:tc>
                  <a:txBody>
                    <a:bodyPr/>
                    <a:lstStyle/>
                    <a:p>
                      <a:pPr algn="ctr" fontAlgn="b"/>
                      <a:r>
                        <a:rPr lang="en-US" sz="1600" b="0" i="0" u="none" strike="noStrike" dirty="0">
                          <a:solidFill>
                            <a:srgbClr val="C00000"/>
                          </a:solidFill>
                          <a:effectLst/>
                          <a:latin typeface="+mn-lt"/>
                        </a:rPr>
                        <a:t>60000</a:t>
                      </a:r>
                    </a:p>
                  </a:txBody>
                  <a:tcPr anchor="b"/>
                </a:tc>
                <a:tc>
                  <a:txBody>
                    <a:bodyPr/>
                    <a:lstStyle/>
                    <a:p>
                      <a:pPr algn="l" fontAlgn="b"/>
                      <a:r>
                        <a:rPr lang="en-US" sz="1600" b="0" i="0" u="none" strike="noStrike" dirty="0">
                          <a:solidFill>
                            <a:srgbClr val="C00000"/>
                          </a:solidFill>
                          <a:effectLst/>
                          <a:latin typeface="+mn-lt"/>
                        </a:rPr>
                        <a:t>Baroda</a:t>
                      </a:r>
                    </a:p>
                  </a:txBody>
                  <a:tcPr anchor="ctr"/>
                </a:tc>
                <a:tc>
                  <a:txBody>
                    <a:bodyPr/>
                    <a:lstStyle/>
                    <a:p>
                      <a:pPr algn="l" fontAlgn="b"/>
                      <a:r>
                        <a:rPr lang="en-US" sz="1600" b="0" u="none" strike="noStrike" dirty="0">
                          <a:solidFill>
                            <a:srgbClr val="C00000"/>
                          </a:solidFill>
                          <a:effectLst/>
                        </a:rPr>
                        <a:t>Electrical</a:t>
                      </a:r>
                      <a:endParaRPr lang="en-US" sz="1600" b="0" i="0" u="none" strike="noStrike" dirty="0">
                        <a:solidFill>
                          <a:srgbClr val="C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600" b="0" u="none" strike="noStrike" dirty="0">
                          <a:solidFill>
                            <a:srgbClr val="000000"/>
                          </a:solidFill>
                          <a:effectLst/>
                        </a:rPr>
                        <a:t>125</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Mitesh Manek</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55000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600" b="0" u="none" strike="noStrike" dirty="0">
                          <a:solidFill>
                            <a:srgbClr val="000000"/>
                          </a:solidFill>
                          <a:effectLst/>
                        </a:rPr>
                        <a:t>312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Akbari</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28000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Civil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600" b="0" u="none" strike="noStrike" dirty="0">
                          <a:solidFill>
                            <a:srgbClr val="C00000"/>
                          </a:solidFill>
                          <a:effectLst/>
                        </a:rPr>
                        <a:t>459</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Ankit Patel</a:t>
                      </a:r>
                      <a:endParaRPr lang="en-US" sz="1600" b="0" i="0" u="none" strike="noStrike" dirty="0">
                        <a:solidFill>
                          <a:srgbClr val="C00000"/>
                        </a:solidFill>
                        <a:effectLst/>
                        <a:latin typeface="+mn-lt"/>
                      </a:endParaRPr>
                    </a:p>
                  </a:txBody>
                  <a:tcPr anchor="ctr"/>
                </a:tc>
                <a:tc>
                  <a:txBody>
                    <a:bodyPr/>
                    <a:lstStyle/>
                    <a:p>
                      <a:pPr algn="ctr" fontAlgn="b"/>
                      <a:r>
                        <a:rPr lang="en-US" sz="1600" b="0" i="0" u="none" strike="noStrike" dirty="0">
                          <a:solidFill>
                            <a:srgbClr val="C00000"/>
                          </a:solidFill>
                          <a:effectLst/>
                          <a:latin typeface="+mn-lt"/>
                        </a:rPr>
                        <a:t>70000</a:t>
                      </a:r>
                    </a:p>
                  </a:txBody>
                  <a:tcPr anchor="b"/>
                </a:tc>
                <a:tc>
                  <a:txBody>
                    <a:bodyPr/>
                    <a:lstStyle/>
                    <a:p>
                      <a:pPr algn="l" fontAlgn="b"/>
                      <a:r>
                        <a:rPr lang="en-US" sz="1600" b="0" u="none" strike="noStrike" dirty="0">
                          <a:solidFill>
                            <a:srgbClr val="C00000"/>
                          </a:solidFill>
                          <a:effectLst/>
                        </a:rPr>
                        <a:t>Jamnagar</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Electrical</a:t>
                      </a:r>
                      <a:endParaRPr lang="en-US" sz="1600" b="0" i="0" u="none" strike="noStrike" dirty="0">
                        <a:solidFill>
                          <a:srgbClr val="C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6" name="Rectangle 5">
            <a:extLst>
              <a:ext uri="{FF2B5EF4-FFF2-40B4-BE49-F238E27FC236}">
                <a16:creationId xmlns:a16="http://schemas.microsoft.com/office/drawing/2014/main" id="{7F794EB0-A4EC-BC62-6445-DB53B624A0F2}"/>
              </a:ext>
            </a:extLst>
          </p:cNvPr>
          <p:cNvSpPr/>
          <p:nvPr/>
        </p:nvSpPr>
        <p:spPr>
          <a:xfrm>
            <a:off x="3490783" y="2719287"/>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
        <p:nvSpPr>
          <p:cNvPr id="7" name="Rectangle 6">
            <a:extLst>
              <a:ext uri="{FF2B5EF4-FFF2-40B4-BE49-F238E27FC236}">
                <a16:creationId xmlns:a16="http://schemas.microsoft.com/office/drawing/2014/main" id="{56F2923F-11D5-D3A4-B32E-234CBF2770E4}"/>
              </a:ext>
            </a:extLst>
          </p:cNvPr>
          <p:cNvSpPr/>
          <p:nvPr/>
        </p:nvSpPr>
        <p:spPr>
          <a:xfrm>
            <a:off x="3562501" y="4058993"/>
            <a:ext cx="525405" cy="24652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12FE5866-6382-FBC7-E33D-E0E1F8FC9129}"/>
              </a:ext>
            </a:extLst>
          </p:cNvPr>
          <p:cNvSpPr/>
          <p:nvPr/>
        </p:nvSpPr>
        <p:spPr>
          <a:xfrm>
            <a:off x="3582417" y="3393219"/>
            <a:ext cx="525405" cy="24652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686AD99-1356-6936-DDB6-8950FDF04BC1}"/>
              </a:ext>
            </a:extLst>
          </p:cNvPr>
          <p:cNvSpPr/>
          <p:nvPr/>
        </p:nvSpPr>
        <p:spPr>
          <a:xfrm>
            <a:off x="3582416" y="5093272"/>
            <a:ext cx="525405" cy="24652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4452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Types of Keys</a:t>
            </a:r>
          </a:p>
        </p:txBody>
      </p:sp>
      <p:pic>
        <p:nvPicPr>
          <p:cNvPr id="5" name="Picture 4">
            <a:extLst>
              <a:ext uri="{FF2B5EF4-FFF2-40B4-BE49-F238E27FC236}">
                <a16:creationId xmlns:a16="http://schemas.microsoft.com/office/drawing/2014/main" id="{D09AB082-0187-C8B1-D723-7A5A27E1BCC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133913" y="2905718"/>
            <a:ext cx="1278636" cy="1278636"/>
          </a:xfrm>
          <a:prstGeom prst="rect">
            <a:avLst/>
          </a:prstGeom>
        </p:spPr>
      </p:pic>
      <p:sp>
        <p:nvSpPr>
          <p:cNvPr id="14" name="Oval 13">
            <a:extLst>
              <a:ext uri="{FF2B5EF4-FFF2-40B4-BE49-F238E27FC236}">
                <a16:creationId xmlns:a16="http://schemas.microsoft.com/office/drawing/2014/main" id="{E68086E8-D926-DF8A-C30F-39D062271697}"/>
              </a:ext>
            </a:extLst>
          </p:cNvPr>
          <p:cNvSpPr/>
          <p:nvPr/>
        </p:nvSpPr>
        <p:spPr>
          <a:xfrm>
            <a:off x="6984479" y="2829676"/>
            <a:ext cx="1160275" cy="1052275"/>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lIns="0" tIns="0" rIns="0" bIns="0" rtlCol="0" anchor="ctr"/>
          <a:lstStyle/>
          <a:p>
            <a:pPr algn="ctr"/>
            <a:r>
              <a:rPr lang="en-US" sz="1400" b="1" dirty="0"/>
              <a:t>Composite Key</a:t>
            </a:r>
            <a:endParaRPr lang="en-IN" sz="1400" b="1" dirty="0"/>
          </a:p>
        </p:txBody>
      </p:sp>
      <p:sp>
        <p:nvSpPr>
          <p:cNvPr id="15" name="Oval 14">
            <a:extLst>
              <a:ext uri="{FF2B5EF4-FFF2-40B4-BE49-F238E27FC236}">
                <a16:creationId xmlns:a16="http://schemas.microsoft.com/office/drawing/2014/main" id="{92BBDDDF-48BE-29D3-C68C-F4374881D158}"/>
              </a:ext>
            </a:extLst>
          </p:cNvPr>
          <p:cNvSpPr/>
          <p:nvPr/>
        </p:nvSpPr>
        <p:spPr>
          <a:xfrm>
            <a:off x="5093359" y="4644160"/>
            <a:ext cx="1160276" cy="10522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sz="1400" b="1" dirty="0"/>
              <a:t>Alternate</a:t>
            </a:r>
          </a:p>
          <a:p>
            <a:pPr algn="ctr"/>
            <a:r>
              <a:rPr lang="en-US" sz="1400" b="1" dirty="0"/>
              <a:t>Key</a:t>
            </a:r>
            <a:endParaRPr lang="en-IN" sz="1400" b="1" dirty="0"/>
          </a:p>
        </p:txBody>
      </p:sp>
      <p:sp>
        <p:nvSpPr>
          <p:cNvPr id="16" name="Oval 15">
            <a:extLst>
              <a:ext uri="{FF2B5EF4-FFF2-40B4-BE49-F238E27FC236}">
                <a16:creationId xmlns:a16="http://schemas.microsoft.com/office/drawing/2014/main" id="{D401DB0F-E062-F48A-EE53-7BFEFB3EB423}"/>
              </a:ext>
            </a:extLst>
          </p:cNvPr>
          <p:cNvSpPr/>
          <p:nvPr/>
        </p:nvSpPr>
        <p:spPr>
          <a:xfrm>
            <a:off x="3801448" y="3881951"/>
            <a:ext cx="1147276" cy="1138309"/>
          </a:xfrm>
          <a:prstGeom prst="ellipse">
            <a:avLst/>
          </a:prstGeom>
          <a:solidFill>
            <a:srgbClr val="EF7DA6"/>
          </a:solidFill>
        </p:spPr>
        <p:style>
          <a:lnRef idx="2">
            <a:schemeClr val="accent3">
              <a:shade val="15000"/>
            </a:schemeClr>
          </a:lnRef>
          <a:fillRef idx="1">
            <a:schemeClr val="accent3"/>
          </a:fillRef>
          <a:effectRef idx="0">
            <a:schemeClr val="accent3"/>
          </a:effectRef>
          <a:fontRef idx="minor">
            <a:schemeClr val="lt1"/>
          </a:fontRef>
        </p:style>
        <p:txBody>
          <a:bodyPr lIns="0" tIns="0" rIns="0" bIns="0" rtlCol="0" anchor="ctr"/>
          <a:lstStyle/>
          <a:p>
            <a:pPr algn="ctr"/>
            <a:r>
              <a:rPr lang="en-US" sz="1400" b="1" dirty="0"/>
              <a:t>Primary</a:t>
            </a:r>
          </a:p>
          <a:p>
            <a:pPr algn="ctr"/>
            <a:r>
              <a:rPr lang="en-US" sz="1400" b="1" dirty="0"/>
              <a:t>Key</a:t>
            </a:r>
            <a:endParaRPr lang="en-IN" sz="1400" b="1" dirty="0"/>
          </a:p>
        </p:txBody>
      </p:sp>
      <p:sp>
        <p:nvSpPr>
          <p:cNvPr id="17" name="Oval 16">
            <a:extLst>
              <a:ext uri="{FF2B5EF4-FFF2-40B4-BE49-F238E27FC236}">
                <a16:creationId xmlns:a16="http://schemas.microsoft.com/office/drawing/2014/main" id="{5235723D-BB14-742E-E90E-266D4DB4F90C}"/>
              </a:ext>
            </a:extLst>
          </p:cNvPr>
          <p:cNvSpPr/>
          <p:nvPr/>
        </p:nvSpPr>
        <p:spPr>
          <a:xfrm>
            <a:off x="6345882" y="1625158"/>
            <a:ext cx="1147275" cy="10522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t>Foreign Key</a:t>
            </a:r>
            <a:endParaRPr lang="en-IN" sz="1400" b="1" dirty="0"/>
          </a:p>
        </p:txBody>
      </p:sp>
      <p:sp>
        <p:nvSpPr>
          <p:cNvPr id="18" name="Oval 17">
            <a:extLst>
              <a:ext uri="{FF2B5EF4-FFF2-40B4-BE49-F238E27FC236}">
                <a16:creationId xmlns:a16="http://schemas.microsoft.com/office/drawing/2014/main" id="{7B2F8576-F7D6-25AA-2089-B584B752408E}"/>
              </a:ext>
            </a:extLst>
          </p:cNvPr>
          <p:cNvSpPr/>
          <p:nvPr/>
        </p:nvSpPr>
        <p:spPr>
          <a:xfrm>
            <a:off x="6542906" y="4184354"/>
            <a:ext cx="1160276" cy="1052275"/>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lIns="0" tIns="0" rIns="0" bIns="0" rtlCol="0" anchor="ctr"/>
          <a:lstStyle/>
          <a:p>
            <a:pPr algn="ctr"/>
            <a:r>
              <a:rPr lang="en-US" sz="1400" b="1" dirty="0"/>
              <a:t>Unique </a:t>
            </a:r>
          </a:p>
          <a:p>
            <a:pPr algn="ctr"/>
            <a:r>
              <a:rPr lang="en-US" sz="1400" b="1" dirty="0"/>
              <a:t>key</a:t>
            </a:r>
            <a:endParaRPr lang="en-IN" sz="1400" b="1" dirty="0"/>
          </a:p>
        </p:txBody>
      </p:sp>
      <p:sp>
        <p:nvSpPr>
          <p:cNvPr id="19" name="Oval 18">
            <a:extLst>
              <a:ext uri="{FF2B5EF4-FFF2-40B4-BE49-F238E27FC236}">
                <a16:creationId xmlns:a16="http://schemas.microsoft.com/office/drawing/2014/main" id="{0520FDAD-EDC5-4662-531D-15ED28281BD3}"/>
              </a:ext>
            </a:extLst>
          </p:cNvPr>
          <p:cNvSpPr/>
          <p:nvPr/>
        </p:nvSpPr>
        <p:spPr>
          <a:xfrm>
            <a:off x="3801448" y="2342391"/>
            <a:ext cx="1147276" cy="1138309"/>
          </a:xfrm>
          <a:prstGeom prst="ellipse">
            <a:avLst/>
          </a:prstGeom>
          <a:solidFill>
            <a:srgbClr val="92D050"/>
          </a:solidFill>
        </p:spPr>
        <p:style>
          <a:lnRef idx="2">
            <a:schemeClr val="accent6">
              <a:shade val="15000"/>
            </a:schemeClr>
          </a:lnRef>
          <a:fillRef idx="1">
            <a:schemeClr val="accent6"/>
          </a:fillRef>
          <a:effectRef idx="0">
            <a:schemeClr val="accent6"/>
          </a:effectRef>
          <a:fontRef idx="minor">
            <a:schemeClr val="lt1"/>
          </a:fontRef>
        </p:style>
        <p:txBody>
          <a:bodyPr lIns="0" tIns="0" rIns="0" bIns="0" rtlCol="0" anchor="ctr"/>
          <a:lstStyle/>
          <a:p>
            <a:pPr algn="ctr"/>
            <a:r>
              <a:rPr lang="en-US" sz="1400" b="1" dirty="0"/>
              <a:t>Candidate</a:t>
            </a:r>
          </a:p>
          <a:p>
            <a:pPr algn="ctr"/>
            <a:r>
              <a:rPr lang="en-US" sz="1400" b="1" dirty="0"/>
              <a:t>Key</a:t>
            </a:r>
            <a:endParaRPr lang="en-IN" sz="1400" b="1" dirty="0"/>
          </a:p>
        </p:txBody>
      </p:sp>
      <p:sp>
        <p:nvSpPr>
          <p:cNvPr id="20" name="Oval 19">
            <a:extLst>
              <a:ext uri="{FF2B5EF4-FFF2-40B4-BE49-F238E27FC236}">
                <a16:creationId xmlns:a16="http://schemas.microsoft.com/office/drawing/2014/main" id="{1A4B640B-8FB9-AE46-17C0-4952377D6D78}"/>
              </a:ext>
            </a:extLst>
          </p:cNvPr>
          <p:cNvSpPr/>
          <p:nvPr/>
        </p:nvSpPr>
        <p:spPr>
          <a:xfrm>
            <a:off x="4948724" y="1405046"/>
            <a:ext cx="1147276" cy="1052274"/>
          </a:xfrm>
          <a:prstGeom prst="ellipse">
            <a:avLst/>
          </a:prstGeom>
          <a:solidFill>
            <a:srgbClr val="7030A0"/>
          </a:solidFill>
        </p:spPr>
        <p:style>
          <a:lnRef idx="2">
            <a:schemeClr val="accent6">
              <a:shade val="15000"/>
            </a:schemeClr>
          </a:lnRef>
          <a:fillRef idx="1">
            <a:schemeClr val="accent6"/>
          </a:fillRef>
          <a:effectRef idx="0">
            <a:schemeClr val="accent6"/>
          </a:effectRef>
          <a:fontRef idx="minor">
            <a:schemeClr val="lt1"/>
          </a:fontRef>
        </p:style>
        <p:txBody>
          <a:bodyPr lIns="0" tIns="0" rIns="0" bIns="0" rtlCol="0" anchor="ctr"/>
          <a:lstStyle/>
          <a:p>
            <a:pPr algn="ctr"/>
            <a:r>
              <a:rPr lang="en-US" sz="1400" b="1" dirty="0"/>
              <a:t>Super</a:t>
            </a:r>
          </a:p>
          <a:p>
            <a:pPr algn="ctr"/>
            <a:r>
              <a:rPr lang="en-US" sz="1400" b="1" dirty="0"/>
              <a:t>Key</a:t>
            </a:r>
            <a:endParaRPr lang="en-IN" sz="1400" b="1" dirty="0"/>
          </a:p>
        </p:txBody>
      </p:sp>
    </p:spTree>
    <p:extLst>
      <p:ext uri="{BB962C8B-B14F-4D97-AF65-F5344CB8AC3E}">
        <p14:creationId xmlns:p14="http://schemas.microsoft.com/office/powerpoint/2010/main" val="7457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down)">
                                      <p:cBhvr>
                                        <p:cTn id="11" dur="5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down)">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down)">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down)">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down)">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Super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dirty="0"/>
              <a:t>A super key is a </a:t>
            </a:r>
            <a:r>
              <a:rPr lang="en-US" b="1" dirty="0">
                <a:solidFill>
                  <a:srgbClr val="C00000"/>
                </a:solidFill>
              </a:rPr>
              <a:t>set of one or more attributes </a:t>
            </a:r>
            <a:r>
              <a:rPr lang="en-US" dirty="0"/>
              <a:t>that allow us to </a:t>
            </a:r>
            <a:r>
              <a:rPr lang="en-US" b="1" dirty="0">
                <a:solidFill>
                  <a:srgbClr val="C00000"/>
                </a:solidFill>
              </a:rPr>
              <a:t>identify each tuple uniquely </a:t>
            </a:r>
            <a:r>
              <a:rPr lang="en-US" dirty="0"/>
              <a:t>in a relation.</a:t>
            </a:r>
          </a:p>
        </p:txBody>
      </p:sp>
      <p:graphicFrame>
        <p:nvGraphicFramePr>
          <p:cNvPr id="6" name="Content Placeholder 4">
            <a:extLst>
              <a:ext uri="{FF2B5EF4-FFF2-40B4-BE49-F238E27FC236}">
                <a16:creationId xmlns:a16="http://schemas.microsoft.com/office/drawing/2014/main" id="{D1D5F25D-BE88-4620-8222-2417B2CF4B2A}"/>
              </a:ext>
            </a:extLst>
          </p:cNvPr>
          <p:cNvGraphicFramePr>
            <a:graphicFrameLocks/>
          </p:cNvGraphicFramePr>
          <p:nvPr/>
        </p:nvGraphicFramePr>
        <p:xfrm>
          <a:off x="2593586" y="2430910"/>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7" name="Speech Bubble: Rectangle with Corners Rounded 6">
            <a:extLst>
              <a:ext uri="{FF2B5EF4-FFF2-40B4-BE49-F238E27FC236}">
                <a16:creationId xmlns:a16="http://schemas.microsoft.com/office/drawing/2014/main" id="{D564E63B-5605-4657-94E3-EB642055B948}"/>
              </a:ext>
            </a:extLst>
          </p:cNvPr>
          <p:cNvSpPr/>
          <p:nvPr/>
        </p:nvSpPr>
        <p:spPr>
          <a:xfrm>
            <a:off x="1515887" y="1543559"/>
            <a:ext cx="1496290" cy="721826"/>
          </a:xfrm>
          <a:prstGeom prst="wedgeRoundRectCallout">
            <a:avLst>
              <a:gd name="adj1" fmla="val 72520"/>
              <a:gd name="adj2" fmla="val 66528"/>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Emp_SSN</a:t>
            </a:r>
            <a:endParaRPr lang="en-US" dirty="0">
              <a:solidFill>
                <a:schemeClr val="tx2"/>
              </a:solidFill>
            </a:endParaRPr>
          </a:p>
        </p:txBody>
      </p:sp>
      <p:sp>
        <p:nvSpPr>
          <p:cNvPr id="8" name="Rectangle: Rounded Corners 7">
            <a:extLst>
              <a:ext uri="{FF2B5EF4-FFF2-40B4-BE49-F238E27FC236}">
                <a16:creationId xmlns:a16="http://schemas.microsoft.com/office/drawing/2014/main" id="{DFA3A7FD-A839-4743-83FF-27C765C725AF}"/>
              </a:ext>
            </a:extLst>
          </p:cNvPr>
          <p:cNvSpPr/>
          <p:nvPr/>
        </p:nvSpPr>
        <p:spPr>
          <a:xfrm>
            <a:off x="3051214" y="2309532"/>
            <a:ext cx="2660252" cy="3515642"/>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380C0C5B-2E64-4753-B5CF-25B46B50FCD0}"/>
              </a:ext>
            </a:extLst>
          </p:cNvPr>
          <p:cNvSpPr/>
          <p:nvPr/>
        </p:nvSpPr>
        <p:spPr>
          <a:xfrm>
            <a:off x="4603754" y="2459040"/>
            <a:ext cx="1028420" cy="3240981"/>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peech Bubble: Rectangle with Corners Rounded 14">
            <a:extLst>
              <a:ext uri="{FF2B5EF4-FFF2-40B4-BE49-F238E27FC236}">
                <a16:creationId xmlns:a16="http://schemas.microsoft.com/office/drawing/2014/main" id="{FFEC7D3B-5700-408C-9CE0-A60800AEEFA0}"/>
              </a:ext>
            </a:extLst>
          </p:cNvPr>
          <p:cNvSpPr/>
          <p:nvPr/>
        </p:nvSpPr>
        <p:spPr>
          <a:xfrm>
            <a:off x="3908223" y="1322472"/>
            <a:ext cx="1496290" cy="721826"/>
          </a:xfrm>
          <a:prstGeom prst="wedgeRoundRectCallout">
            <a:avLst>
              <a:gd name="adj1" fmla="val 57423"/>
              <a:gd name="adj2" fmla="val 114224"/>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Emp_ID</a:t>
            </a:r>
            <a:endParaRPr lang="en-US" dirty="0">
              <a:solidFill>
                <a:schemeClr val="tx2"/>
              </a:solidFill>
            </a:endParaRPr>
          </a:p>
        </p:txBody>
      </p:sp>
      <p:sp>
        <p:nvSpPr>
          <p:cNvPr id="16" name="Rectangle: Rounded Corners 15">
            <a:extLst>
              <a:ext uri="{FF2B5EF4-FFF2-40B4-BE49-F238E27FC236}">
                <a16:creationId xmlns:a16="http://schemas.microsoft.com/office/drawing/2014/main" id="{A185518C-CC25-4E47-9029-B705B48419DF}"/>
              </a:ext>
            </a:extLst>
          </p:cNvPr>
          <p:cNvSpPr/>
          <p:nvPr/>
        </p:nvSpPr>
        <p:spPr>
          <a:xfrm>
            <a:off x="3191542" y="2460210"/>
            <a:ext cx="1160162" cy="3291840"/>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peech Bubble: Rectangle with Corners Rounded 16">
            <a:extLst>
              <a:ext uri="{FF2B5EF4-FFF2-40B4-BE49-F238E27FC236}">
                <a16:creationId xmlns:a16="http://schemas.microsoft.com/office/drawing/2014/main" id="{C493009C-86EC-48B3-8437-071367C2EF9D}"/>
              </a:ext>
            </a:extLst>
          </p:cNvPr>
          <p:cNvSpPr/>
          <p:nvPr/>
        </p:nvSpPr>
        <p:spPr>
          <a:xfrm>
            <a:off x="9515587" y="1447280"/>
            <a:ext cx="1496290" cy="721826"/>
          </a:xfrm>
          <a:prstGeom prst="wedgeRoundRectCallout">
            <a:avLst>
              <a:gd name="adj1" fmla="val -45436"/>
              <a:gd name="adj2" fmla="val 87387"/>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Emp_EmailID</a:t>
            </a:r>
            <a:endParaRPr lang="en-US" dirty="0">
              <a:solidFill>
                <a:schemeClr val="tx2"/>
              </a:solidFill>
            </a:endParaRPr>
          </a:p>
        </p:txBody>
      </p:sp>
      <p:sp>
        <p:nvSpPr>
          <p:cNvPr id="18" name="Rectangle: Rounded Corners 17">
            <a:extLst>
              <a:ext uri="{FF2B5EF4-FFF2-40B4-BE49-F238E27FC236}">
                <a16:creationId xmlns:a16="http://schemas.microsoft.com/office/drawing/2014/main" id="{66A34143-D53B-437E-BA3B-26DB09B1362D}"/>
              </a:ext>
            </a:extLst>
          </p:cNvPr>
          <p:cNvSpPr/>
          <p:nvPr/>
        </p:nvSpPr>
        <p:spPr>
          <a:xfrm>
            <a:off x="4469098" y="2394929"/>
            <a:ext cx="2723295" cy="3369232"/>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peech Bubble: Rectangle with Corners Rounded 18">
            <a:extLst>
              <a:ext uri="{FF2B5EF4-FFF2-40B4-BE49-F238E27FC236}">
                <a16:creationId xmlns:a16="http://schemas.microsoft.com/office/drawing/2014/main" id="{7C2578ED-BAB6-4143-88CD-3A22310ECC85}"/>
              </a:ext>
            </a:extLst>
          </p:cNvPr>
          <p:cNvSpPr/>
          <p:nvPr/>
        </p:nvSpPr>
        <p:spPr>
          <a:xfrm>
            <a:off x="616180" y="5848750"/>
            <a:ext cx="2232030" cy="721826"/>
          </a:xfrm>
          <a:prstGeom prst="wedgeRoundRectCallout">
            <a:avLst>
              <a:gd name="adj1" fmla="val 70899"/>
              <a:gd name="adj2" fmla="val -49766"/>
              <a:gd name="adj3" fmla="val 16667"/>
            </a:avLst>
          </a:prstGeom>
          <a:solidFill>
            <a:schemeClr val="accent1">
              <a:lumMod val="20000"/>
              <a:lumOff val="80000"/>
            </a:schemeClr>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Emp_SSN</a:t>
            </a:r>
            <a:r>
              <a:rPr lang="en-US" dirty="0">
                <a:solidFill>
                  <a:schemeClr val="tx2"/>
                </a:solidFill>
              </a:rPr>
              <a:t>, </a:t>
            </a:r>
            <a:r>
              <a:rPr lang="en-US" dirty="0" err="1">
                <a:solidFill>
                  <a:schemeClr val="tx2"/>
                </a:solidFill>
              </a:rPr>
              <a:t>Emp_ID</a:t>
            </a:r>
            <a:endParaRPr lang="en-US" dirty="0">
              <a:solidFill>
                <a:schemeClr val="tx2"/>
              </a:solidFill>
            </a:endParaRPr>
          </a:p>
        </p:txBody>
      </p:sp>
      <p:sp>
        <p:nvSpPr>
          <p:cNvPr id="20" name="Rectangle: Rounded Corners 19">
            <a:extLst>
              <a:ext uri="{FF2B5EF4-FFF2-40B4-BE49-F238E27FC236}">
                <a16:creationId xmlns:a16="http://schemas.microsoft.com/office/drawing/2014/main" id="{0656A145-4F08-49CE-8B9E-B8C49678055F}"/>
              </a:ext>
            </a:extLst>
          </p:cNvPr>
          <p:cNvSpPr/>
          <p:nvPr/>
        </p:nvSpPr>
        <p:spPr>
          <a:xfrm>
            <a:off x="7275037" y="2389239"/>
            <a:ext cx="2493778" cy="3333511"/>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peech Bubble: Rectangle with Corners Rounded 20">
            <a:extLst>
              <a:ext uri="{FF2B5EF4-FFF2-40B4-BE49-F238E27FC236}">
                <a16:creationId xmlns:a16="http://schemas.microsoft.com/office/drawing/2014/main" id="{A2C66A9D-98E9-4B3C-8D04-7833286CDFB8}"/>
              </a:ext>
            </a:extLst>
          </p:cNvPr>
          <p:cNvSpPr/>
          <p:nvPr/>
        </p:nvSpPr>
        <p:spPr>
          <a:xfrm>
            <a:off x="6989563" y="5866997"/>
            <a:ext cx="2232030" cy="721826"/>
          </a:xfrm>
          <a:prstGeom prst="wedgeRoundRectCallout">
            <a:avLst>
              <a:gd name="adj1" fmla="val -55153"/>
              <a:gd name="adj2" fmla="val -60391"/>
              <a:gd name="adj3" fmla="val 16667"/>
            </a:avLst>
          </a:prstGeom>
          <a:solidFill>
            <a:schemeClr val="accent1">
              <a:lumMod val="20000"/>
              <a:lumOff val="80000"/>
            </a:schemeClr>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Emp_ID</a:t>
            </a:r>
            <a:r>
              <a:rPr lang="en-US" dirty="0">
                <a:solidFill>
                  <a:schemeClr val="tx2"/>
                </a:solidFill>
              </a:rPr>
              <a:t>, </a:t>
            </a:r>
            <a:r>
              <a:rPr lang="en-US" dirty="0" err="1">
                <a:solidFill>
                  <a:schemeClr val="tx2"/>
                </a:solidFill>
              </a:rPr>
              <a:t>Emp_Name</a:t>
            </a:r>
            <a:endParaRPr lang="en-US" dirty="0">
              <a:solidFill>
                <a:schemeClr val="tx2"/>
              </a:solidFill>
            </a:endParaRPr>
          </a:p>
        </p:txBody>
      </p:sp>
      <p:sp>
        <p:nvSpPr>
          <p:cNvPr id="2" name="Rectangle: Rounded Corners 1">
            <a:extLst>
              <a:ext uri="{FF2B5EF4-FFF2-40B4-BE49-F238E27FC236}">
                <a16:creationId xmlns:a16="http://schemas.microsoft.com/office/drawing/2014/main" id="{C807E580-0312-87A0-AFF0-FA74032E25EA}"/>
              </a:ext>
            </a:extLst>
          </p:cNvPr>
          <p:cNvSpPr/>
          <p:nvPr/>
        </p:nvSpPr>
        <p:spPr>
          <a:xfrm>
            <a:off x="5759068" y="2436311"/>
            <a:ext cx="1370281" cy="3240981"/>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peech Bubble: Rectangle with Corners Rounded 2">
            <a:extLst>
              <a:ext uri="{FF2B5EF4-FFF2-40B4-BE49-F238E27FC236}">
                <a16:creationId xmlns:a16="http://schemas.microsoft.com/office/drawing/2014/main" id="{63F84651-D162-91C0-A2E9-71A78E82FF15}"/>
              </a:ext>
            </a:extLst>
          </p:cNvPr>
          <p:cNvSpPr/>
          <p:nvPr/>
        </p:nvSpPr>
        <p:spPr>
          <a:xfrm>
            <a:off x="5759069" y="1325877"/>
            <a:ext cx="1723951" cy="721826"/>
          </a:xfrm>
          <a:prstGeom prst="wedgeRoundRectCallout">
            <a:avLst>
              <a:gd name="adj1" fmla="val 6462"/>
              <a:gd name="adj2" fmla="val 99320"/>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Not Super Key</a:t>
            </a:r>
          </a:p>
          <a:p>
            <a:pPr algn="ctr"/>
            <a:r>
              <a:rPr lang="en-US" dirty="0" err="1">
                <a:solidFill>
                  <a:schemeClr val="tx2"/>
                </a:solidFill>
              </a:rPr>
              <a:t>Emp_Name</a:t>
            </a:r>
            <a:endParaRPr lang="en-US" dirty="0">
              <a:solidFill>
                <a:schemeClr val="tx2"/>
              </a:solidFill>
            </a:endParaRPr>
          </a:p>
        </p:txBody>
      </p:sp>
    </p:spTree>
    <p:extLst>
      <p:ext uri="{BB962C8B-B14F-4D97-AF65-F5344CB8AC3E}">
        <p14:creationId xmlns:p14="http://schemas.microsoft.com/office/powerpoint/2010/main" val="316255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7"/>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20"/>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8"/>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par>
                                <p:cTn id="63" presetID="1" presetClass="exit" presetSubtype="0" fill="hold" grpId="1" nodeType="withEffect">
                                  <p:stCondLst>
                                    <p:cond delay="0"/>
                                  </p:stCondLst>
                                  <p:childTnLst>
                                    <p:set>
                                      <p:cBhvr>
                                        <p:cTn id="64" dur="1" fill="hold">
                                          <p:stCondLst>
                                            <p:cond delay="0"/>
                                          </p:stCondLst>
                                        </p:cTn>
                                        <p:tgtEl>
                                          <p:spTgt spid="18"/>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21"/>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 grpId="0" animBg="1"/>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Super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dirty="0"/>
              <a:t>A super key is a </a:t>
            </a:r>
            <a:r>
              <a:rPr lang="en-US" b="1" dirty="0">
                <a:solidFill>
                  <a:srgbClr val="C00000"/>
                </a:solidFill>
              </a:rPr>
              <a:t>set of one or more attributes </a:t>
            </a:r>
            <a:r>
              <a:rPr lang="en-US" dirty="0"/>
              <a:t>that allow us to </a:t>
            </a:r>
            <a:r>
              <a:rPr lang="en-US" b="1" dirty="0">
                <a:solidFill>
                  <a:srgbClr val="C00000"/>
                </a:solidFill>
              </a:rPr>
              <a:t>identify each tuple uniquely </a:t>
            </a:r>
            <a:r>
              <a:rPr lang="en-US" dirty="0"/>
              <a:t>in a relation.</a:t>
            </a:r>
          </a:p>
        </p:txBody>
      </p:sp>
      <p:graphicFrame>
        <p:nvGraphicFramePr>
          <p:cNvPr id="22" name="Content Placeholder 4">
            <a:extLst>
              <a:ext uri="{FF2B5EF4-FFF2-40B4-BE49-F238E27FC236}">
                <a16:creationId xmlns:a16="http://schemas.microsoft.com/office/drawing/2014/main" id="{B06B88DD-4A3E-4670-BF78-29F35CD6BF5C}"/>
              </a:ext>
            </a:extLst>
          </p:cNvPr>
          <p:cNvGraphicFramePr>
            <a:graphicFrameLocks/>
          </p:cNvGraphicFramePr>
          <p:nvPr/>
        </p:nvGraphicFramePr>
        <p:xfrm>
          <a:off x="6153796" y="2465426"/>
          <a:ext cx="573830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graphicFrame>
        <p:nvGraphicFramePr>
          <p:cNvPr id="23" name="Content Placeholder 4">
            <a:extLst>
              <a:ext uri="{FF2B5EF4-FFF2-40B4-BE49-F238E27FC236}">
                <a16:creationId xmlns:a16="http://schemas.microsoft.com/office/drawing/2014/main" id="{8F60D1A3-8F8F-4EC6-8C10-45735D13BCCA}"/>
              </a:ext>
            </a:extLst>
          </p:cNvPr>
          <p:cNvGraphicFramePr>
            <a:graphicFrameLocks/>
          </p:cNvGraphicFramePr>
          <p:nvPr/>
        </p:nvGraphicFramePr>
        <p:xfrm>
          <a:off x="299897" y="2379854"/>
          <a:ext cx="4793889"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1266520">
                  <a:extLst>
                    <a:ext uri="{9D8B030D-6E8A-4147-A177-3AD203B41FA5}">
                      <a16:colId xmlns:a16="http://schemas.microsoft.com/office/drawing/2014/main" val="20002"/>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9FD5325F-2FF6-4B49-B8FB-FC90DF209425}"/>
              </a:ext>
            </a:extLst>
          </p:cNvPr>
          <p:cNvSpPr/>
          <p:nvPr/>
        </p:nvSpPr>
        <p:spPr>
          <a:xfrm>
            <a:off x="8207547" y="1428856"/>
            <a:ext cx="3853273" cy="711200"/>
          </a:xfrm>
          <a:prstGeom prst="wedgeRoundRectCallout">
            <a:avLst>
              <a:gd name="adj1" fmla="val -51086"/>
              <a:gd name="adj2" fmla="val 9302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 </a:t>
            </a:r>
            <a:endParaRPr lang="en-US" dirty="0">
              <a:solidFill>
                <a:schemeClr val="tx2"/>
              </a:solidFill>
            </a:endParaRPr>
          </a:p>
          <a:p>
            <a:pPr algn="ctr"/>
            <a:r>
              <a:rPr lang="en-US" dirty="0" err="1">
                <a:solidFill>
                  <a:schemeClr val="tx2"/>
                </a:solidFill>
              </a:rPr>
              <a:t>Emp_SSN</a:t>
            </a:r>
            <a:r>
              <a:rPr lang="en-US" dirty="0">
                <a:solidFill>
                  <a:schemeClr val="tx2"/>
                </a:solidFill>
              </a:rPr>
              <a:t>, </a:t>
            </a:r>
            <a:r>
              <a:rPr lang="en-US" dirty="0" err="1">
                <a:solidFill>
                  <a:schemeClr val="tx2"/>
                </a:solidFill>
              </a:rPr>
              <a:t>Emp_ID</a:t>
            </a:r>
            <a:r>
              <a:rPr lang="en-US" dirty="0">
                <a:solidFill>
                  <a:schemeClr val="tx2"/>
                </a:solidFill>
              </a:rPr>
              <a:t>, </a:t>
            </a:r>
            <a:r>
              <a:rPr lang="en-US" dirty="0" err="1">
                <a:solidFill>
                  <a:schemeClr val="tx2"/>
                </a:solidFill>
              </a:rPr>
              <a:t>Emp_EmailID</a:t>
            </a:r>
            <a:endParaRPr lang="en-US" dirty="0">
              <a:solidFill>
                <a:schemeClr val="tx2"/>
              </a:solidFill>
            </a:endParaRPr>
          </a:p>
        </p:txBody>
      </p:sp>
      <p:sp>
        <p:nvSpPr>
          <p:cNvPr id="25" name="Speech Bubble: Rectangle with Corners Rounded 24">
            <a:extLst>
              <a:ext uri="{FF2B5EF4-FFF2-40B4-BE49-F238E27FC236}">
                <a16:creationId xmlns:a16="http://schemas.microsoft.com/office/drawing/2014/main" id="{A09BD42B-B281-4549-ACFF-50E4C11B2892}"/>
              </a:ext>
            </a:extLst>
          </p:cNvPr>
          <p:cNvSpPr/>
          <p:nvPr/>
        </p:nvSpPr>
        <p:spPr>
          <a:xfrm>
            <a:off x="2988228" y="1341302"/>
            <a:ext cx="3853273" cy="798754"/>
          </a:xfrm>
          <a:prstGeom prst="wedgeRoundRectCallout">
            <a:avLst>
              <a:gd name="adj1" fmla="val -59190"/>
              <a:gd name="adj2" fmla="val 7816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Emp_SSN</a:t>
            </a:r>
            <a:r>
              <a:rPr lang="en-US" dirty="0">
                <a:solidFill>
                  <a:schemeClr val="tx2"/>
                </a:solidFill>
              </a:rPr>
              <a:t>, </a:t>
            </a:r>
            <a:r>
              <a:rPr lang="en-US" dirty="0" err="1">
                <a:solidFill>
                  <a:schemeClr val="tx2"/>
                </a:solidFill>
              </a:rPr>
              <a:t>Emp_Name</a:t>
            </a:r>
            <a:r>
              <a:rPr lang="en-US" dirty="0">
                <a:solidFill>
                  <a:schemeClr val="tx2"/>
                </a:solidFill>
              </a:rPr>
              <a:t>, </a:t>
            </a:r>
            <a:r>
              <a:rPr lang="en-US" dirty="0" err="1">
                <a:solidFill>
                  <a:schemeClr val="tx2"/>
                </a:solidFill>
              </a:rPr>
              <a:t>Emp_ID</a:t>
            </a:r>
            <a:endParaRPr lang="en-US" dirty="0">
              <a:solidFill>
                <a:schemeClr val="tx2"/>
              </a:solidFill>
            </a:endParaRPr>
          </a:p>
        </p:txBody>
      </p:sp>
    </p:spTree>
    <p:extLst>
      <p:ext uri="{BB962C8B-B14F-4D97-AF65-F5344CB8AC3E}">
        <p14:creationId xmlns:p14="http://schemas.microsoft.com/office/powerpoint/2010/main" val="104305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3"/>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5"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Super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xmlns=""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86344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Super keys</a:t>
            </a:r>
          </a:p>
          <a:p>
            <a:pPr lvl="1"/>
            <a:r>
              <a:rPr lang="en-US" dirty="0"/>
              <a:t>Enrollment no</a:t>
            </a:r>
          </a:p>
          <a:p>
            <a:pPr lvl="1"/>
            <a:r>
              <a:rPr lang="en-US" dirty="0"/>
              <a:t>Aadhar no</a:t>
            </a:r>
          </a:p>
          <a:p>
            <a:pPr lvl="1"/>
            <a:r>
              <a:rPr lang="en-US" dirty="0"/>
              <a:t>{Enrollment no, name}</a:t>
            </a:r>
          </a:p>
          <a:p>
            <a:pPr lvl="1"/>
            <a:r>
              <a:rPr lang="en-US" dirty="0"/>
              <a:t>{Enrollment no, Aadhar no}</a:t>
            </a:r>
          </a:p>
          <a:p>
            <a:pPr lvl="1"/>
            <a:r>
              <a:rPr lang="en-US" dirty="0"/>
              <a:t>{Enrollment no, phone}</a:t>
            </a:r>
          </a:p>
          <a:p>
            <a:pPr lvl="1"/>
            <a:r>
              <a:rPr lang="en-US" dirty="0"/>
              <a:t>{Enrollment no, email}</a:t>
            </a:r>
          </a:p>
          <a:p>
            <a:pPr lvl="1"/>
            <a:r>
              <a:rPr lang="en-US" dirty="0"/>
              <a:t>{phone}</a:t>
            </a:r>
          </a:p>
          <a:p>
            <a:pPr lvl="1"/>
            <a:r>
              <a:rPr lang="en-US" dirty="0"/>
              <a:t>{name, phone, Aadhar no}</a:t>
            </a:r>
          </a:p>
          <a:p>
            <a:pPr lvl="1"/>
            <a:r>
              <a:rPr lang="en-US" dirty="0"/>
              <a:t>{Enrollment no, Aadhar no, phone}</a:t>
            </a:r>
          </a:p>
          <a:p>
            <a:pPr lvl="1"/>
            <a:r>
              <a:rPr lang="en-US" dirty="0"/>
              <a:t>…….</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298978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Candidate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b="1" dirty="0">
                <a:solidFill>
                  <a:srgbClr val="C00000"/>
                </a:solidFill>
              </a:rPr>
              <a:t>Minimal super key is called Candidate key.</a:t>
            </a:r>
          </a:p>
          <a:p>
            <a:r>
              <a:rPr lang="en-US" dirty="0"/>
              <a:t>A candidate key is a </a:t>
            </a:r>
            <a:r>
              <a:rPr lang="en-US" dirty="0">
                <a:solidFill>
                  <a:srgbClr val="C00000"/>
                </a:solidFill>
              </a:rPr>
              <a:t>subset</a:t>
            </a:r>
            <a:r>
              <a:rPr lang="en-US" dirty="0"/>
              <a:t> of a </a:t>
            </a:r>
            <a:r>
              <a:rPr lang="en-US" dirty="0">
                <a:solidFill>
                  <a:srgbClr val="C00000"/>
                </a:solidFill>
              </a:rPr>
              <a:t>super key</a:t>
            </a:r>
            <a:r>
              <a:rPr lang="en-US" dirty="0"/>
              <a:t>.</a:t>
            </a:r>
          </a:p>
          <a:p>
            <a:r>
              <a:rPr lang="en-US" dirty="0"/>
              <a:t>A candidate key is the </a:t>
            </a:r>
            <a:r>
              <a:rPr lang="en-US" dirty="0">
                <a:solidFill>
                  <a:srgbClr val="C00000"/>
                </a:solidFill>
              </a:rPr>
              <a:t>least combination of attribute </a:t>
            </a:r>
            <a:r>
              <a:rPr lang="en-US" dirty="0"/>
              <a:t>that uniquely identifies each record in the table.</a:t>
            </a:r>
          </a:p>
          <a:p>
            <a:r>
              <a:rPr lang="en-US" b="1" dirty="0">
                <a:solidFill>
                  <a:srgbClr val="0E47A1"/>
                </a:solidFill>
              </a:rPr>
              <a:t>Every candidate key is a super key </a:t>
            </a:r>
            <a:r>
              <a:rPr lang="en-US" dirty="0">
                <a:solidFill>
                  <a:srgbClr val="0E47A1"/>
                </a:solidFill>
              </a:rPr>
              <a:t>but </a:t>
            </a:r>
            <a:r>
              <a:rPr lang="en-US" b="1" dirty="0">
                <a:solidFill>
                  <a:srgbClr val="0E47A1"/>
                </a:solidFill>
              </a:rPr>
              <a:t>every super key is not a candidate key</a:t>
            </a:r>
            <a:r>
              <a:rPr lang="en-US" dirty="0"/>
              <a:t>. </a:t>
            </a:r>
          </a:p>
        </p:txBody>
      </p:sp>
      <p:graphicFrame>
        <p:nvGraphicFramePr>
          <p:cNvPr id="10" name="Content Placeholder 4">
            <a:extLst>
              <a:ext uri="{FF2B5EF4-FFF2-40B4-BE49-F238E27FC236}">
                <a16:creationId xmlns:a16="http://schemas.microsoft.com/office/drawing/2014/main" id="{0289F45B-E4DD-4405-9020-7F887F17D7E3}"/>
              </a:ext>
            </a:extLst>
          </p:cNvPr>
          <p:cNvGraphicFramePr>
            <a:graphicFrameLocks/>
          </p:cNvGraphicFramePr>
          <p:nvPr/>
        </p:nvGraphicFramePr>
        <p:xfrm>
          <a:off x="2388870" y="3191351"/>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1" name="Speech Bubble: Rectangle with Corners Rounded 10">
            <a:extLst>
              <a:ext uri="{FF2B5EF4-FFF2-40B4-BE49-F238E27FC236}">
                <a16:creationId xmlns:a16="http://schemas.microsoft.com/office/drawing/2014/main" id="{F9B3FCD7-9EC3-425E-9AC7-E00654096F44}"/>
              </a:ext>
            </a:extLst>
          </p:cNvPr>
          <p:cNvSpPr/>
          <p:nvPr/>
        </p:nvSpPr>
        <p:spPr>
          <a:xfrm>
            <a:off x="956488" y="2897677"/>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Candidate Key</a:t>
            </a:r>
          </a:p>
          <a:p>
            <a:pPr algn="ctr"/>
            <a:r>
              <a:rPr lang="en-US" dirty="0" err="1">
                <a:solidFill>
                  <a:schemeClr val="tx2"/>
                </a:solidFill>
              </a:rPr>
              <a:t>Emp_SSN</a:t>
            </a:r>
            <a:endParaRPr lang="en-US" dirty="0">
              <a:solidFill>
                <a:schemeClr val="tx2"/>
              </a:solidFill>
            </a:endParaRPr>
          </a:p>
        </p:txBody>
      </p:sp>
      <p:sp>
        <p:nvSpPr>
          <p:cNvPr id="13" name="Rectangle: Rounded Corners 12">
            <a:extLst>
              <a:ext uri="{FF2B5EF4-FFF2-40B4-BE49-F238E27FC236}">
                <a16:creationId xmlns:a16="http://schemas.microsoft.com/office/drawing/2014/main" id="{EF0ADD49-C59D-49EF-888A-0C9EBA0D04FD}"/>
              </a:ext>
            </a:extLst>
          </p:cNvPr>
          <p:cNvSpPr/>
          <p:nvPr/>
        </p:nvSpPr>
        <p:spPr>
          <a:xfrm>
            <a:off x="4358371" y="3191351"/>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peech Bubble: Rectangle with Corners Rounded 15">
            <a:extLst>
              <a:ext uri="{FF2B5EF4-FFF2-40B4-BE49-F238E27FC236}">
                <a16:creationId xmlns:a16="http://schemas.microsoft.com/office/drawing/2014/main" id="{38D1CF9C-491B-40EB-8B8A-05D0F9D03F73}"/>
              </a:ext>
            </a:extLst>
          </p:cNvPr>
          <p:cNvSpPr/>
          <p:nvPr/>
        </p:nvSpPr>
        <p:spPr>
          <a:xfrm>
            <a:off x="488600" y="5790665"/>
            <a:ext cx="1627796" cy="721826"/>
          </a:xfrm>
          <a:prstGeom prst="wedgeRoundRectCallout">
            <a:avLst>
              <a:gd name="adj1" fmla="val 183713"/>
              <a:gd name="adj2" fmla="val -15935"/>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Candidate Key</a:t>
            </a:r>
          </a:p>
          <a:p>
            <a:pPr algn="ctr"/>
            <a:r>
              <a:rPr lang="en-US" dirty="0" err="1">
                <a:solidFill>
                  <a:schemeClr val="tx2"/>
                </a:solidFill>
              </a:rPr>
              <a:t>Emp_ID</a:t>
            </a:r>
            <a:endParaRPr lang="en-US" dirty="0">
              <a:solidFill>
                <a:schemeClr val="tx2"/>
              </a:solidFill>
            </a:endParaRPr>
          </a:p>
        </p:txBody>
      </p:sp>
      <p:sp>
        <p:nvSpPr>
          <p:cNvPr id="17" name="Rectangle: Rounded Corners 16">
            <a:extLst>
              <a:ext uri="{FF2B5EF4-FFF2-40B4-BE49-F238E27FC236}">
                <a16:creationId xmlns:a16="http://schemas.microsoft.com/office/drawing/2014/main" id="{7CF3DFC1-23EC-427C-A34F-9B39FCBA5EEE}"/>
              </a:ext>
            </a:extLst>
          </p:cNvPr>
          <p:cNvSpPr/>
          <p:nvPr/>
        </p:nvSpPr>
        <p:spPr>
          <a:xfrm>
            <a:off x="2926912" y="3206001"/>
            <a:ext cx="1295222"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peech Bubble: Rectangle with Corners Rounded 17">
            <a:extLst>
              <a:ext uri="{FF2B5EF4-FFF2-40B4-BE49-F238E27FC236}">
                <a16:creationId xmlns:a16="http://schemas.microsoft.com/office/drawing/2014/main" id="{AF8C488B-D652-4A42-8F38-D55B89C2960D}"/>
              </a:ext>
            </a:extLst>
          </p:cNvPr>
          <p:cNvSpPr/>
          <p:nvPr/>
        </p:nvSpPr>
        <p:spPr>
          <a:xfrm>
            <a:off x="9463588" y="3088363"/>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Candidate Key</a:t>
            </a:r>
          </a:p>
          <a:p>
            <a:pPr algn="ctr"/>
            <a:r>
              <a:rPr lang="en-US" dirty="0" err="1">
                <a:solidFill>
                  <a:schemeClr val="tx2"/>
                </a:solidFill>
              </a:rPr>
              <a:t>Emp_EmailID</a:t>
            </a:r>
            <a:endParaRPr lang="en-US" dirty="0">
              <a:solidFill>
                <a:schemeClr val="tx2"/>
              </a:solidFill>
            </a:endParaRPr>
          </a:p>
        </p:txBody>
      </p:sp>
      <p:sp>
        <p:nvSpPr>
          <p:cNvPr id="21" name="Rectangle: Rounded Corners 20">
            <a:extLst>
              <a:ext uri="{FF2B5EF4-FFF2-40B4-BE49-F238E27FC236}">
                <a16:creationId xmlns:a16="http://schemas.microsoft.com/office/drawing/2014/main" id="{C67CAD56-9EE5-4DE5-A357-1F25FABE37A7}"/>
              </a:ext>
            </a:extLst>
          </p:cNvPr>
          <p:cNvSpPr/>
          <p:nvPr/>
        </p:nvSpPr>
        <p:spPr>
          <a:xfrm>
            <a:off x="7165075" y="3149680"/>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313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6" grpId="0" animBg="1"/>
      <p:bldP spid="17" grpId="0" animBg="1"/>
      <p:bldP spid="18" grpId="0" animBg="1"/>
      <p:bldP spid="2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Candidate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xmlns=""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743376"/>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E47A1"/>
                </a:solidFill>
              </a:rPr>
              <a:t>Super keys</a:t>
            </a:r>
          </a:p>
          <a:p>
            <a:pPr lvl="1"/>
            <a:r>
              <a:rPr lang="en-US" dirty="0"/>
              <a:t>Enrollment no</a:t>
            </a:r>
          </a:p>
          <a:p>
            <a:pPr lvl="1"/>
            <a:r>
              <a:rPr lang="en-US" dirty="0"/>
              <a:t>Aadhar no</a:t>
            </a:r>
          </a:p>
          <a:p>
            <a:pPr lvl="1"/>
            <a:r>
              <a:rPr lang="en-US" dirty="0"/>
              <a:t>{Enrollment no, name}</a:t>
            </a:r>
          </a:p>
          <a:p>
            <a:pPr lvl="1"/>
            <a:r>
              <a:rPr lang="en-US" dirty="0"/>
              <a:t>{Enrollment no, Aadhar no}</a:t>
            </a:r>
          </a:p>
          <a:p>
            <a:pPr lvl="1"/>
            <a:r>
              <a:rPr lang="en-US" dirty="0"/>
              <a:t>{Enrollment no, phone}</a:t>
            </a:r>
          </a:p>
          <a:p>
            <a:pPr lvl="1"/>
            <a:r>
              <a:rPr lang="en-US" dirty="0"/>
              <a:t>{Enrollment no, email}</a:t>
            </a:r>
          </a:p>
          <a:p>
            <a:pPr lvl="1"/>
            <a:r>
              <a:rPr lang="en-US" dirty="0"/>
              <a:t>Phone</a:t>
            </a:r>
          </a:p>
          <a:p>
            <a:pPr lvl="1"/>
            <a:r>
              <a:rPr lang="en-US" dirty="0"/>
              <a:t>Email</a:t>
            </a:r>
          </a:p>
          <a:p>
            <a:pPr lvl="1"/>
            <a:r>
              <a:rPr lang="en-US" dirty="0"/>
              <a:t>{name, phone, Aadhar no}</a:t>
            </a:r>
          </a:p>
          <a:p>
            <a:pPr lvl="1"/>
            <a:r>
              <a:rPr lang="en-US" dirty="0"/>
              <a:t>{Enrollment no, Aadhar no, phone}</a:t>
            </a:r>
          </a:p>
          <a:p>
            <a:pPr lvl="1"/>
            <a:r>
              <a:rPr lang="en-US" dirty="0"/>
              <a:t>…….</a:t>
            </a:r>
          </a:p>
          <a:p>
            <a:r>
              <a:rPr lang="en-US" b="1" dirty="0">
                <a:solidFill>
                  <a:srgbClr val="0E47A1"/>
                </a:solidFill>
              </a:rPr>
              <a:t>Candidate keys</a:t>
            </a:r>
          </a:p>
          <a:p>
            <a:pPr lvl="1"/>
            <a:r>
              <a:rPr lang="en-US" dirty="0"/>
              <a:t>Enrollment no</a:t>
            </a:r>
          </a:p>
          <a:p>
            <a:pPr lvl="1"/>
            <a:r>
              <a:rPr lang="en-US" dirty="0"/>
              <a:t>Aadhar no</a:t>
            </a:r>
          </a:p>
          <a:p>
            <a:pPr lvl="1"/>
            <a:r>
              <a:rPr lang="en-US" dirty="0"/>
              <a:t>Phone</a:t>
            </a:r>
          </a:p>
          <a:p>
            <a:pPr lvl="1"/>
            <a:r>
              <a:rPr lang="en-US" dirty="0"/>
              <a:t>Email</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37429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12">
                                            <p:txEl>
                                              <p:pRg st="1" end="1"/>
                                            </p:txEl>
                                          </p:spTgt>
                                        </p:tgtEl>
                                        <p:attrNameLst>
                                          <p:attrName>style.color</p:attrName>
                                        </p:attrNameLst>
                                      </p:cBhvr>
                                      <p:to>
                                        <a:srgbClr val="00B05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2000" fill="hold"/>
                                        <p:tgtEl>
                                          <p:spTgt spid="12">
                                            <p:txEl>
                                              <p:pRg st="2" end="2"/>
                                            </p:txEl>
                                          </p:spTgt>
                                        </p:tgtEl>
                                        <p:attrNameLst>
                                          <p:attrName>style.color</p:attrName>
                                        </p:attrNameLst>
                                      </p:cBhvr>
                                      <p:to>
                                        <a:srgbClr val="00B050"/>
                                      </p:to>
                                    </p:animClr>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4" end="1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2000" fill="hold"/>
                                        <p:tgtEl>
                                          <p:spTgt spid="12">
                                            <p:txEl>
                                              <p:pRg st="3" end="3"/>
                                            </p:txEl>
                                          </p:spTgt>
                                        </p:tgtEl>
                                        <p:attrNameLst>
                                          <p:attrName>style.color</p:attrName>
                                        </p:attrNameLst>
                                      </p:cBhvr>
                                      <p:to>
                                        <a:srgbClr val="C00000"/>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2000" fill="hold"/>
                                        <p:tgtEl>
                                          <p:spTgt spid="12">
                                            <p:txEl>
                                              <p:pRg st="4" end="4"/>
                                            </p:txEl>
                                          </p:spTgt>
                                        </p:tgtEl>
                                        <p:attrNameLst>
                                          <p:attrName>style.color</p:attrName>
                                        </p:attrNameLst>
                                      </p:cBhvr>
                                      <p:to>
                                        <a:srgbClr val="C00000"/>
                                      </p:to>
                                    </p:animClr>
                                  </p:childTnLst>
                                </p:cTn>
                              </p:par>
                            </p:childTnLst>
                          </p:cTn>
                        </p:par>
                      </p:childTnLst>
                    </p:cTn>
                  </p:par>
                  <p:par>
                    <p:cTn id="31" fill="hold">
                      <p:stCondLst>
                        <p:cond delay="indefinite"/>
                      </p:stCondLst>
                      <p:childTnLst>
                        <p:par>
                          <p:cTn id="32" fill="hold">
                            <p:stCondLst>
                              <p:cond delay="0"/>
                            </p:stCondLst>
                            <p:childTnLst>
                              <p:par>
                                <p:cTn id="33" presetID="3" presetClass="emph" presetSubtype="2" fill="hold" nodeType="clickEffect">
                                  <p:stCondLst>
                                    <p:cond delay="0"/>
                                  </p:stCondLst>
                                  <p:childTnLst>
                                    <p:animClr clrSpc="rgb" dir="cw">
                                      <p:cBhvr override="childStyle">
                                        <p:cTn id="34" dur="2000" fill="hold"/>
                                        <p:tgtEl>
                                          <p:spTgt spid="12">
                                            <p:txEl>
                                              <p:pRg st="5" end="5"/>
                                            </p:txEl>
                                          </p:spTgt>
                                        </p:tgtEl>
                                        <p:attrNameLst>
                                          <p:attrName>style.color</p:attrName>
                                        </p:attrNameLst>
                                      </p:cBhvr>
                                      <p:to>
                                        <a:srgbClr val="C00000"/>
                                      </p:to>
                                    </p:animClr>
                                  </p:childTnLst>
                                </p:cTn>
                              </p:par>
                            </p:childTnLst>
                          </p:cTn>
                        </p:par>
                      </p:childTnLst>
                    </p:cTn>
                  </p:par>
                  <p:par>
                    <p:cTn id="35" fill="hold">
                      <p:stCondLst>
                        <p:cond delay="indefinite"/>
                      </p:stCondLst>
                      <p:childTnLst>
                        <p:par>
                          <p:cTn id="36" fill="hold">
                            <p:stCondLst>
                              <p:cond delay="0"/>
                            </p:stCondLst>
                            <p:childTnLst>
                              <p:par>
                                <p:cTn id="37" presetID="3" presetClass="emph" presetSubtype="2" fill="hold" nodeType="clickEffect">
                                  <p:stCondLst>
                                    <p:cond delay="0"/>
                                  </p:stCondLst>
                                  <p:childTnLst>
                                    <p:animClr clrSpc="rgb" dir="cw">
                                      <p:cBhvr override="childStyle">
                                        <p:cTn id="38" dur="2000" fill="hold"/>
                                        <p:tgtEl>
                                          <p:spTgt spid="12">
                                            <p:txEl>
                                              <p:pRg st="6" end="6"/>
                                            </p:txEl>
                                          </p:spTgt>
                                        </p:tgtEl>
                                        <p:attrNameLst>
                                          <p:attrName>style.color</p:attrName>
                                        </p:attrNameLst>
                                      </p:cBhvr>
                                      <p:to>
                                        <a:srgbClr val="C00000"/>
                                      </p:to>
                                    </p:animClr>
                                  </p:childTnLst>
                                </p:cTn>
                              </p:par>
                            </p:childTnLst>
                          </p:cTn>
                        </p:par>
                      </p:childTnLst>
                    </p:cTn>
                  </p:par>
                  <p:par>
                    <p:cTn id="39" fill="hold">
                      <p:stCondLst>
                        <p:cond delay="indefinite"/>
                      </p:stCondLst>
                      <p:childTnLst>
                        <p:par>
                          <p:cTn id="40" fill="hold">
                            <p:stCondLst>
                              <p:cond delay="0"/>
                            </p:stCondLst>
                            <p:childTnLst>
                              <p:par>
                                <p:cTn id="41" presetID="3" presetClass="emph" presetSubtype="2" fill="hold" nodeType="clickEffect">
                                  <p:stCondLst>
                                    <p:cond delay="0"/>
                                  </p:stCondLst>
                                  <p:childTnLst>
                                    <p:animClr clrSpc="rgb" dir="cw">
                                      <p:cBhvr override="childStyle">
                                        <p:cTn id="42" dur="2000" fill="hold"/>
                                        <p:tgtEl>
                                          <p:spTgt spid="12">
                                            <p:txEl>
                                              <p:pRg st="7" end="7"/>
                                            </p:txEl>
                                          </p:spTgt>
                                        </p:tgtEl>
                                        <p:attrNameLst>
                                          <p:attrName>style.color</p:attrName>
                                        </p:attrNameLst>
                                      </p:cBhvr>
                                      <p:to>
                                        <a:srgbClr val="00B050"/>
                                      </p:to>
                                    </p:animClr>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15" end="1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3" presetClass="emph" presetSubtype="2" fill="hold" nodeType="clickEffect">
                                  <p:stCondLst>
                                    <p:cond delay="0"/>
                                  </p:stCondLst>
                                  <p:childTnLst>
                                    <p:animClr clrSpc="rgb" dir="cw">
                                      <p:cBhvr override="childStyle">
                                        <p:cTn id="50" dur="2000" fill="hold"/>
                                        <p:tgtEl>
                                          <p:spTgt spid="12">
                                            <p:txEl>
                                              <p:pRg st="8" end="8"/>
                                            </p:txEl>
                                          </p:spTgt>
                                        </p:tgtEl>
                                        <p:attrNameLst>
                                          <p:attrName>style.color</p:attrName>
                                        </p:attrNameLst>
                                      </p:cBhvr>
                                      <p:to>
                                        <a:srgbClr val="00B050"/>
                                      </p:to>
                                    </p:animClr>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mph" presetSubtype="2" fill="hold" nodeType="clickEffect">
                                  <p:stCondLst>
                                    <p:cond delay="0"/>
                                  </p:stCondLst>
                                  <p:childTnLst>
                                    <p:animClr clrSpc="rgb" dir="cw">
                                      <p:cBhvr override="childStyle">
                                        <p:cTn id="58" dur="2000" fill="hold"/>
                                        <p:tgtEl>
                                          <p:spTgt spid="12">
                                            <p:txEl>
                                              <p:pRg st="9" end="9"/>
                                            </p:txEl>
                                          </p:spTgt>
                                        </p:tgtEl>
                                        <p:attrNameLst>
                                          <p:attrName>style.color</p:attrName>
                                        </p:attrNameLst>
                                      </p:cBhvr>
                                      <p:to>
                                        <a:srgbClr val="C00000"/>
                                      </p:to>
                                    </p:animClr>
                                  </p:childTnLst>
                                </p:cTn>
                              </p:par>
                            </p:childTnLst>
                          </p:cTn>
                        </p:par>
                      </p:childTnLst>
                    </p:cTn>
                  </p:par>
                  <p:par>
                    <p:cTn id="59" fill="hold">
                      <p:stCondLst>
                        <p:cond delay="indefinite"/>
                      </p:stCondLst>
                      <p:childTnLst>
                        <p:par>
                          <p:cTn id="60" fill="hold">
                            <p:stCondLst>
                              <p:cond delay="0"/>
                            </p:stCondLst>
                            <p:childTnLst>
                              <p:par>
                                <p:cTn id="61" presetID="3" presetClass="emph" presetSubtype="2" fill="hold" nodeType="clickEffect">
                                  <p:stCondLst>
                                    <p:cond delay="0"/>
                                  </p:stCondLst>
                                  <p:childTnLst>
                                    <p:animClr clrSpc="rgb" dir="cw">
                                      <p:cBhvr override="childStyle">
                                        <p:cTn id="62" dur="2000" fill="hold"/>
                                        <p:tgtEl>
                                          <p:spTgt spid="12">
                                            <p:txEl>
                                              <p:pRg st="10" end="10"/>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D3F3A-DFFF-4F14-ACA3-5A8D3A2C44AA}"/>
              </a:ext>
            </a:extLst>
          </p:cNvPr>
          <p:cNvSpPr>
            <a:spLocks noGrp="1"/>
          </p:cNvSpPr>
          <p:nvPr>
            <p:ph type="title"/>
          </p:nvPr>
        </p:nvSpPr>
        <p:spPr/>
        <p:txBody>
          <a:bodyPr/>
          <a:lstStyle/>
          <a:p>
            <a:r>
              <a:rPr lang="en-US" dirty="0"/>
              <a:t>Primary Key </a:t>
            </a:r>
          </a:p>
        </p:txBody>
      </p:sp>
      <p:sp>
        <p:nvSpPr>
          <p:cNvPr id="3" name="Content Placeholder 2">
            <a:extLst>
              <a:ext uri="{FF2B5EF4-FFF2-40B4-BE49-F238E27FC236}">
                <a16:creationId xmlns:a16="http://schemas.microsoft.com/office/drawing/2014/main" id="{548D414F-EDDF-4FE5-BB8A-DB447B25FD76}"/>
              </a:ext>
            </a:extLst>
          </p:cNvPr>
          <p:cNvSpPr>
            <a:spLocks noGrp="1"/>
          </p:cNvSpPr>
          <p:nvPr>
            <p:ph idx="1"/>
          </p:nvPr>
        </p:nvSpPr>
        <p:spPr/>
        <p:txBody>
          <a:bodyPr/>
          <a:lstStyle/>
          <a:p>
            <a:r>
              <a:rPr lang="en-US" dirty="0"/>
              <a:t>A Primary key is a </a:t>
            </a:r>
            <a:r>
              <a:rPr lang="en-US" b="1" dirty="0">
                <a:solidFill>
                  <a:srgbClr val="C00000"/>
                </a:solidFill>
              </a:rPr>
              <a:t>candidate key that is chosen by database designer </a:t>
            </a:r>
            <a:r>
              <a:rPr lang="en-US" dirty="0"/>
              <a:t>to identify tuples uniquely in a relation. </a:t>
            </a:r>
          </a:p>
        </p:txBody>
      </p:sp>
      <p:pic>
        <p:nvPicPr>
          <p:cNvPr id="9" name="Picture 8">
            <a:extLst>
              <a:ext uri="{FF2B5EF4-FFF2-40B4-BE49-F238E27FC236}">
                <a16:creationId xmlns:a16="http://schemas.microsoft.com/office/drawing/2014/main" id="{BA44A27F-2892-4B91-84C3-AA42966EA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0920" y="1503872"/>
            <a:ext cx="1188000" cy="783206"/>
          </a:xfrm>
          <a:prstGeom prst="rect">
            <a:avLst/>
          </a:prstGeom>
        </p:spPr>
      </p:pic>
      <p:sp>
        <p:nvSpPr>
          <p:cNvPr id="10" name="Rounded Rectangular Callout 14">
            <a:extLst>
              <a:ext uri="{FF2B5EF4-FFF2-40B4-BE49-F238E27FC236}">
                <a16:creationId xmlns:a16="http://schemas.microsoft.com/office/drawing/2014/main" id="{68B13D2D-0A53-4466-940F-066DEFB07C93}"/>
              </a:ext>
            </a:extLst>
          </p:cNvPr>
          <p:cNvSpPr/>
          <p:nvPr/>
        </p:nvSpPr>
        <p:spPr>
          <a:xfrm>
            <a:off x="6039610" y="1450633"/>
            <a:ext cx="1512000" cy="468000"/>
          </a:xfrm>
          <a:prstGeom prst="wedgeRoundRectCallout">
            <a:avLst>
              <a:gd name="adj1" fmla="val -69375"/>
              <a:gd name="adj2" fmla="val 39655"/>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rPr>
              <a:t>Primary Key</a:t>
            </a:r>
          </a:p>
        </p:txBody>
      </p:sp>
      <p:graphicFrame>
        <p:nvGraphicFramePr>
          <p:cNvPr id="11" name="Content Placeholder 4">
            <a:extLst>
              <a:ext uri="{FF2B5EF4-FFF2-40B4-BE49-F238E27FC236}">
                <a16:creationId xmlns:a16="http://schemas.microsoft.com/office/drawing/2014/main" id="{A2AC130D-37E3-4324-9665-FEC5FDC26ECA}"/>
              </a:ext>
            </a:extLst>
          </p:cNvPr>
          <p:cNvGraphicFramePr>
            <a:graphicFrameLocks/>
          </p:cNvGraphicFramePr>
          <p:nvPr/>
        </p:nvGraphicFramePr>
        <p:xfrm>
          <a:off x="2213462" y="2353856"/>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7"/>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9"/>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2" name="Speech Bubble: Rectangle with Corners Rounded 11">
            <a:extLst>
              <a:ext uri="{FF2B5EF4-FFF2-40B4-BE49-F238E27FC236}">
                <a16:creationId xmlns:a16="http://schemas.microsoft.com/office/drawing/2014/main" id="{CE23188F-3566-4257-810B-CFCC60FA820A}"/>
              </a:ext>
            </a:extLst>
          </p:cNvPr>
          <p:cNvSpPr/>
          <p:nvPr/>
        </p:nvSpPr>
        <p:spPr>
          <a:xfrm>
            <a:off x="766288" y="2201612"/>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Emp_SSN</a:t>
            </a:r>
            <a:endParaRPr lang="en-US" dirty="0">
              <a:solidFill>
                <a:schemeClr val="tx2"/>
              </a:solidFill>
            </a:endParaRPr>
          </a:p>
        </p:txBody>
      </p:sp>
      <p:sp>
        <p:nvSpPr>
          <p:cNvPr id="13" name="Rectangle: Rounded Corners 12">
            <a:extLst>
              <a:ext uri="{FF2B5EF4-FFF2-40B4-BE49-F238E27FC236}">
                <a16:creationId xmlns:a16="http://schemas.microsoft.com/office/drawing/2014/main" id="{69B69643-4814-4489-9047-2558C968C640}"/>
              </a:ext>
            </a:extLst>
          </p:cNvPr>
          <p:cNvSpPr/>
          <p:nvPr/>
        </p:nvSpPr>
        <p:spPr>
          <a:xfrm>
            <a:off x="4182963" y="2353856"/>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peech Bubble: Rectangle with Corners Rounded 13">
            <a:extLst>
              <a:ext uri="{FF2B5EF4-FFF2-40B4-BE49-F238E27FC236}">
                <a16:creationId xmlns:a16="http://schemas.microsoft.com/office/drawing/2014/main" id="{A88519DC-AE0F-4928-8523-3316F7237A56}"/>
              </a:ext>
            </a:extLst>
          </p:cNvPr>
          <p:cNvSpPr/>
          <p:nvPr/>
        </p:nvSpPr>
        <p:spPr>
          <a:xfrm>
            <a:off x="5573769" y="5812045"/>
            <a:ext cx="1627796" cy="721826"/>
          </a:xfrm>
          <a:prstGeom prst="wedgeRoundRectCallout">
            <a:avLst>
              <a:gd name="adj1" fmla="val -77619"/>
              <a:gd name="adj2" fmla="val -67341"/>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Emp_ID</a:t>
            </a:r>
            <a:endParaRPr lang="en-US" dirty="0">
              <a:solidFill>
                <a:schemeClr val="tx2"/>
              </a:solidFill>
            </a:endParaRPr>
          </a:p>
        </p:txBody>
      </p:sp>
      <p:sp>
        <p:nvSpPr>
          <p:cNvPr id="15" name="Rectangle: Rounded Corners 14">
            <a:extLst>
              <a:ext uri="{FF2B5EF4-FFF2-40B4-BE49-F238E27FC236}">
                <a16:creationId xmlns:a16="http://schemas.microsoft.com/office/drawing/2014/main" id="{3B418D18-A058-4D49-B9D1-3CDF420C1078}"/>
              </a:ext>
            </a:extLst>
          </p:cNvPr>
          <p:cNvSpPr/>
          <p:nvPr/>
        </p:nvSpPr>
        <p:spPr>
          <a:xfrm>
            <a:off x="2758410" y="2383156"/>
            <a:ext cx="1320536"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peech Bubble: Rectangle with Corners Rounded 15">
            <a:extLst>
              <a:ext uri="{FF2B5EF4-FFF2-40B4-BE49-F238E27FC236}">
                <a16:creationId xmlns:a16="http://schemas.microsoft.com/office/drawing/2014/main" id="{50802F88-E57E-403B-BCBB-B29D7B1BB3A9}"/>
              </a:ext>
            </a:extLst>
          </p:cNvPr>
          <p:cNvSpPr/>
          <p:nvPr/>
        </p:nvSpPr>
        <p:spPr>
          <a:xfrm>
            <a:off x="9288180" y="2250868"/>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Emp_EmailID</a:t>
            </a:r>
            <a:endParaRPr lang="en-US" dirty="0">
              <a:solidFill>
                <a:schemeClr val="tx2"/>
              </a:solidFill>
            </a:endParaRPr>
          </a:p>
        </p:txBody>
      </p:sp>
      <p:sp>
        <p:nvSpPr>
          <p:cNvPr id="17" name="Rectangle: Rounded Corners 16">
            <a:extLst>
              <a:ext uri="{FF2B5EF4-FFF2-40B4-BE49-F238E27FC236}">
                <a16:creationId xmlns:a16="http://schemas.microsoft.com/office/drawing/2014/main" id="{D3728A00-40E2-436E-887E-70449B57C663}"/>
              </a:ext>
            </a:extLst>
          </p:cNvPr>
          <p:cNvSpPr/>
          <p:nvPr/>
        </p:nvSpPr>
        <p:spPr>
          <a:xfrm>
            <a:off x="6989667" y="2312185"/>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peech Bubble: Rectangle with Corners Rounded 3">
            <a:extLst>
              <a:ext uri="{FF2B5EF4-FFF2-40B4-BE49-F238E27FC236}">
                <a16:creationId xmlns:a16="http://schemas.microsoft.com/office/drawing/2014/main" id="{A6D01B4B-C42D-6610-7E15-5B8A09E81F21}"/>
              </a:ext>
            </a:extLst>
          </p:cNvPr>
          <p:cNvSpPr/>
          <p:nvPr/>
        </p:nvSpPr>
        <p:spPr>
          <a:xfrm>
            <a:off x="9900387" y="3861882"/>
            <a:ext cx="1843377" cy="1265930"/>
          </a:xfrm>
          <a:prstGeom prst="wedgeRoundRectCallout">
            <a:avLst>
              <a:gd name="adj1" fmla="val -85625"/>
              <a:gd name="adj2" fmla="val 37668"/>
              <a:gd name="adj3" fmla="val 16667"/>
            </a:avLst>
          </a:prstGeom>
          <a:solidFill>
            <a:schemeClr val="bg1"/>
          </a:solidFill>
          <a:ln w="285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Can we make</a:t>
            </a:r>
          </a:p>
          <a:p>
            <a:pPr algn="ctr"/>
            <a:r>
              <a:rPr lang="en-US" dirty="0" err="1">
                <a:solidFill>
                  <a:srgbClr val="C00000"/>
                </a:solidFill>
              </a:rPr>
              <a:t>Emp_EmailID</a:t>
            </a:r>
            <a:endParaRPr lang="en-US" dirty="0">
              <a:solidFill>
                <a:srgbClr val="C00000"/>
              </a:solidFill>
            </a:endParaRPr>
          </a:p>
          <a:p>
            <a:pPr algn="ctr"/>
            <a:r>
              <a:rPr lang="en-US" dirty="0">
                <a:solidFill>
                  <a:srgbClr val="C00000"/>
                </a:solidFill>
              </a:rPr>
              <a:t>As Primary key?</a:t>
            </a:r>
          </a:p>
        </p:txBody>
      </p:sp>
      <p:sp>
        <p:nvSpPr>
          <p:cNvPr id="5" name="Rectangle 4">
            <a:extLst>
              <a:ext uri="{FF2B5EF4-FFF2-40B4-BE49-F238E27FC236}">
                <a16:creationId xmlns:a16="http://schemas.microsoft.com/office/drawing/2014/main" id="{3395AB9C-1E0B-1C75-4B64-D4ACDABF9239}"/>
              </a:ext>
            </a:extLst>
          </p:cNvPr>
          <p:cNvSpPr/>
          <p:nvPr/>
        </p:nvSpPr>
        <p:spPr>
          <a:xfrm>
            <a:off x="7571764" y="1477252"/>
            <a:ext cx="3457597" cy="4147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000" b="1" dirty="0">
                <a:solidFill>
                  <a:srgbClr val="FF0000"/>
                </a:solidFill>
              </a:rPr>
              <a:t>Unique + Not Null</a:t>
            </a:r>
            <a:endParaRPr lang="en-IN" sz="3000" b="1" dirty="0">
              <a:solidFill>
                <a:srgbClr val="FF0000"/>
              </a:solidFill>
            </a:endParaRPr>
          </a:p>
        </p:txBody>
      </p:sp>
      <p:sp>
        <p:nvSpPr>
          <p:cNvPr id="6" name="Multiply 10">
            <a:extLst>
              <a:ext uri="{FF2B5EF4-FFF2-40B4-BE49-F238E27FC236}">
                <a16:creationId xmlns:a16="http://schemas.microsoft.com/office/drawing/2014/main" id="{AFC96291-6D63-5F49-A6C0-AFFC7FC4B0A2}"/>
              </a:ext>
            </a:extLst>
          </p:cNvPr>
          <p:cNvSpPr/>
          <p:nvPr/>
        </p:nvSpPr>
        <p:spPr>
          <a:xfrm>
            <a:off x="10483608" y="3389483"/>
            <a:ext cx="676934" cy="785074"/>
          </a:xfrm>
          <a:prstGeom prst="mathMultiply">
            <a:avLst/>
          </a:prstGeom>
          <a:solidFill>
            <a:srgbClr val="FF0000"/>
          </a:solidFill>
          <a:ln>
            <a:solidFill>
              <a:schemeClr val="accent3">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3598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17" grpId="0" animBg="1"/>
      <p:bldP spid="4" grpId="0" animBg="1"/>
      <p:bldP spid="5" grpId="0"/>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Key rules</a:t>
            </a:r>
          </a:p>
        </p:txBody>
      </p:sp>
      <p:sp>
        <p:nvSpPr>
          <p:cNvPr id="3" name="Content Placeholder 2"/>
          <p:cNvSpPr>
            <a:spLocks noGrp="1"/>
          </p:cNvSpPr>
          <p:nvPr>
            <p:ph idx="1"/>
          </p:nvPr>
        </p:nvSpPr>
        <p:spPr/>
        <p:txBody>
          <a:bodyPr/>
          <a:lstStyle/>
          <a:p>
            <a:r>
              <a:rPr lang="en-US" dirty="0"/>
              <a:t>A primary key </a:t>
            </a:r>
            <a:r>
              <a:rPr lang="en-US" b="1" dirty="0">
                <a:solidFill>
                  <a:srgbClr val="C00000"/>
                </a:solidFill>
              </a:rPr>
              <a:t>may have one or more attributes</a:t>
            </a:r>
            <a:r>
              <a:rPr lang="en-US" dirty="0"/>
              <a:t>.</a:t>
            </a:r>
          </a:p>
          <a:p>
            <a:r>
              <a:rPr lang="en-US" dirty="0"/>
              <a:t>There is </a:t>
            </a:r>
            <a:r>
              <a:rPr lang="en-US" b="1" dirty="0">
                <a:solidFill>
                  <a:srgbClr val="C00000"/>
                </a:solidFill>
              </a:rPr>
              <a:t>only one primary key </a:t>
            </a:r>
            <a:r>
              <a:rPr lang="en-US" dirty="0"/>
              <a:t>in the relation (table).</a:t>
            </a:r>
          </a:p>
          <a:p>
            <a:r>
              <a:rPr lang="en-US" dirty="0"/>
              <a:t>A primary key </a:t>
            </a:r>
            <a:r>
              <a:rPr lang="en-US" b="1" dirty="0">
                <a:solidFill>
                  <a:srgbClr val="C00000"/>
                </a:solidFill>
              </a:rPr>
              <a:t>attribute value cannot be NULL</a:t>
            </a:r>
            <a:r>
              <a:rPr lang="en-US" dirty="0"/>
              <a:t>.</a:t>
            </a:r>
          </a:p>
          <a:p>
            <a:r>
              <a:rPr lang="en-US" dirty="0"/>
              <a:t>Generally, the </a:t>
            </a:r>
            <a:r>
              <a:rPr lang="en-US" b="1" dirty="0">
                <a:solidFill>
                  <a:srgbClr val="C00000"/>
                </a:solidFill>
              </a:rPr>
              <a:t>value of a primary key attribute does not change or very rarely change</a:t>
            </a:r>
            <a:r>
              <a:rPr lang="en-US" dirty="0"/>
              <a:t>.</a:t>
            </a:r>
          </a:p>
          <a:p>
            <a:r>
              <a:rPr lang="en-US" dirty="0"/>
              <a:t>Primary key = </a:t>
            </a:r>
            <a:r>
              <a:rPr lang="en-US" b="1" dirty="0">
                <a:solidFill>
                  <a:srgbClr val="0E47A1"/>
                </a:solidFill>
              </a:rPr>
              <a:t>unique + not null</a:t>
            </a:r>
          </a:p>
          <a:p>
            <a:endParaRPr lang="en-US" dirty="0"/>
          </a:p>
        </p:txBody>
      </p:sp>
    </p:spTree>
    <p:extLst>
      <p:ext uri="{BB962C8B-B14F-4D97-AF65-F5344CB8AC3E}">
        <p14:creationId xmlns:p14="http://schemas.microsoft.com/office/powerpoint/2010/main" val="1983918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Primary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xmlns=""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743376"/>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E47A1"/>
                </a:solidFill>
              </a:rPr>
              <a:t>Candidate keys</a:t>
            </a:r>
          </a:p>
          <a:p>
            <a:pPr lvl="1"/>
            <a:r>
              <a:rPr lang="en-US" dirty="0"/>
              <a:t>Enrollment no</a:t>
            </a:r>
          </a:p>
          <a:p>
            <a:pPr lvl="1"/>
            <a:r>
              <a:rPr lang="en-US" dirty="0"/>
              <a:t>Aadhar no</a:t>
            </a:r>
          </a:p>
          <a:p>
            <a:pPr lvl="1"/>
            <a:r>
              <a:rPr lang="en-US" dirty="0"/>
              <a:t>Phone</a:t>
            </a:r>
          </a:p>
          <a:p>
            <a:pPr lvl="1"/>
            <a:r>
              <a:rPr lang="en-US" dirty="0"/>
              <a:t>Email</a:t>
            </a:r>
          </a:p>
          <a:p>
            <a:r>
              <a:rPr lang="en-US" b="1" dirty="0">
                <a:solidFill>
                  <a:srgbClr val="0E47A1"/>
                </a:solidFill>
              </a:rPr>
              <a:t>Primary key</a:t>
            </a:r>
          </a:p>
          <a:p>
            <a:pPr marL="887412" lvl="1" indent="-342900"/>
            <a:r>
              <a:rPr lang="en-US" dirty="0"/>
              <a:t>Enrollment no</a:t>
            </a:r>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062497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12">
                                            <p:txEl>
                                              <p:pRg st="1" end="1"/>
                                            </p:txEl>
                                          </p:spTgt>
                                        </p:tgtEl>
                                        <p:attrNameLst>
                                          <p:attrName>style.color</p:attrName>
                                        </p:attrNameLst>
                                      </p:cBhvr>
                                      <p:to>
                                        <a:srgbClr val="00B05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5B97B-FE2C-4E82-A587-FEB4626751D9}"/>
              </a:ext>
            </a:extLst>
          </p:cNvPr>
          <p:cNvSpPr>
            <a:spLocks noGrp="1"/>
          </p:cNvSpPr>
          <p:nvPr>
            <p:ph type="title"/>
          </p:nvPr>
        </p:nvSpPr>
        <p:spPr/>
        <p:txBody>
          <a:bodyPr/>
          <a:lstStyle/>
          <a:p>
            <a:r>
              <a:rPr lang="en-US" dirty="0"/>
              <a:t>Alternate Key </a:t>
            </a:r>
          </a:p>
        </p:txBody>
      </p:sp>
      <p:sp>
        <p:nvSpPr>
          <p:cNvPr id="3" name="Content Placeholder 2">
            <a:extLst>
              <a:ext uri="{FF2B5EF4-FFF2-40B4-BE49-F238E27FC236}">
                <a16:creationId xmlns:a16="http://schemas.microsoft.com/office/drawing/2014/main" id="{F662791B-DDC4-4532-A660-DF0EB12A3D10}"/>
              </a:ext>
            </a:extLst>
          </p:cNvPr>
          <p:cNvSpPr>
            <a:spLocks noGrp="1"/>
          </p:cNvSpPr>
          <p:nvPr>
            <p:ph idx="1"/>
          </p:nvPr>
        </p:nvSpPr>
        <p:spPr/>
        <p:txBody>
          <a:bodyPr/>
          <a:lstStyle/>
          <a:p>
            <a:r>
              <a:rPr lang="en-US" dirty="0"/>
              <a:t>If any table have </a:t>
            </a:r>
            <a:r>
              <a:rPr lang="en-US" dirty="0">
                <a:solidFill>
                  <a:srgbClr val="C00000"/>
                </a:solidFill>
              </a:rPr>
              <a:t>more than one candidate key</a:t>
            </a:r>
            <a:r>
              <a:rPr lang="en-US" dirty="0"/>
              <a:t>, then </a:t>
            </a:r>
            <a:r>
              <a:rPr lang="en-US" dirty="0">
                <a:solidFill>
                  <a:srgbClr val="0E47A1"/>
                </a:solidFill>
              </a:rPr>
              <a:t>after choosing primary key </a:t>
            </a:r>
            <a:r>
              <a:rPr lang="en-US" dirty="0"/>
              <a:t>from those candidate key, </a:t>
            </a:r>
            <a:r>
              <a:rPr lang="en-US" dirty="0">
                <a:solidFill>
                  <a:srgbClr val="C00000"/>
                </a:solidFill>
              </a:rPr>
              <a:t>rest of candidate keys </a:t>
            </a:r>
            <a:r>
              <a:rPr lang="en-US" dirty="0"/>
              <a:t>are known as an </a:t>
            </a:r>
            <a:r>
              <a:rPr lang="en-US" b="1" dirty="0">
                <a:solidFill>
                  <a:srgbClr val="C00000"/>
                </a:solidFill>
              </a:rPr>
              <a:t>alternate key </a:t>
            </a:r>
            <a:r>
              <a:rPr lang="en-US" dirty="0"/>
              <a:t>of that table. </a:t>
            </a:r>
          </a:p>
        </p:txBody>
      </p:sp>
      <p:pic>
        <p:nvPicPr>
          <p:cNvPr id="21" name="Picture 20">
            <a:extLst>
              <a:ext uri="{FF2B5EF4-FFF2-40B4-BE49-F238E27FC236}">
                <a16:creationId xmlns:a16="http://schemas.microsoft.com/office/drawing/2014/main" id="{8AB5BC32-B013-4E54-8C73-D69022A202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7243" y="1678722"/>
            <a:ext cx="1026984" cy="677054"/>
          </a:xfrm>
          <a:prstGeom prst="rect">
            <a:avLst/>
          </a:prstGeom>
        </p:spPr>
      </p:pic>
      <p:sp>
        <p:nvSpPr>
          <p:cNvPr id="22" name="Rounded Rectangular Callout 14">
            <a:extLst>
              <a:ext uri="{FF2B5EF4-FFF2-40B4-BE49-F238E27FC236}">
                <a16:creationId xmlns:a16="http://schemas.microsoft.com/office/drawing/2014/main" id="{61F18A55-83DF-476D-B302-AA2D64A09121}"/>
              </a:ext>
            </a:extLst>
          </p:cNvPr>
          <p:cNvSpPr/>
          <p:nvPr/>
        </p:nvSpPr>
        <p:spPr>
          <a:xfrm>
            <a:off x="6086177" y="1747586"/>
            <a:ext cx="1512000" cy="468000"/>
          </a:xfrm>
          <a:prstGeom prst="wedgeRoundRectCallout">
            <a:avLst>
              <a:gd name="adj1" fmla="val -75511"/>
              <a:gd name="adj2" fmla="val -5652"/>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rPr>
              <a:t>Primary Key</a:t>
            </a:r>
          </a:p>
        </p:txBody>
      </p:sp>
      <p:graphicFrame>
        <p:nvGraphicFramePr>
          <p:cNvPr id="23" name="Content Placeholder 4">
            <a:extLst>
              <a:ext uri="{FF2B5EF4-FFF2-40B4-BE49-F238E27FC236}">
                <a16:creationId xmlns:a16="http://schemas.microsoft.com/office/drawing/2014/main" id="{0589B6AC-4280-45AD-8C67-FEE0A5B4DE56}"/>
              </a:ext>
            </a:extLst>
          </p:cNvPr>
          <p:cNvGraphicFramePr>
            <a:graphicFrameLocks/>
          </p:cNvGraphicFramePr>
          <p:nvPr/>
        </p:nvGraphicFramePr>
        <p:xfrm>
          <a:off x="2172123" y="2376611"/>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7"/>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9"/>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7A34FB89-50D4-488E-A9BB-8CD384FAAE45}"/>
              </a:ext>
            </a:extLst>
          </p:cNvPr>
          <p:cNvSpPr/>
          <p:nvPr/>
        </p:nvSpPr>
        <p:spPr>
          <a:xfrm>
            <a:off x="724949" y="2224367"/>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Emp_SSN</a:t>
            </a:r>
            <a:endParaRPr lang="en-US" dirty="0">
              <a:solidFill>
                <a:schemeClr val="tx2"/>
              </a:solidFill>
            </a:endParaRPr>
          </a:p>
        </p:txBody>
      </p:sp>
      <p:sp>
        <p:nvSpPr>
          <p:cNvPr id="25" name="Rectangle: Rounded Corners 24">
            <a:extLst>
              <a:ext uri="{FF2B5EF4-FFF2-40B4-BE49-F238E27FC236}">
                <a16:creationId xmlns:a16="http://schemas.microsoft.com/office/drawing/2014/main" id="{6A243C23-0242-40A3-A1E0-5E9ED7B5A62F}"/>
              </a:ext>
            </a:extLst>
          </p:cNvPr>
          <p:cNvSpPr/>
          <p:nvPr/>
        </p:nvSpPr>
        <p:spPr>
          <a:xfrm>
            <a:off x="4141624" y="2376611"/>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peech Bubble: Rectangle with Corners Rounded 25">
            <a:extLst>
              <a:ext uri="{FF2B5EF4-FFF2-40B4-BE49-F238E27FC236}">
                <a16:creationId xmlns:a16="http://schemas.microsoft.com/office/drawing/2014/main" id="{55125AF3-4A64-4061-A4DE-0A1703A4D5C0}"/>
              </a:ext>
            </a:extLst>
          </p:cNvPr>
          <p:cNvSpPr/>
          <p:nvPr/>
        </p:nvSpPr>
        <p:spPr>
          <a:xfrm>
            <a:off x="5320532" y="5805315"/>
            <a:ext cx="1627796" cy="721826"/>
          </a:xfrm>
          <a:prstGeom prst="wedgeRoundRectCallout">
            <a:avLst>
              <a:gd name="adj1" fmla="val -70292"/>
              <a:gd name="adj2" fmla="val -61833"/>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Emp_ID</a:t>
            </a:r>
            <a:endParaRPr lang="en-US" dirty="0">
              <a:solidFill>
                <a:schemeClr val="tx2"/>
              </a:solidFill>
            </a:endParaRPr>
          </a:p>
        </p:txBody>
      </p:sp>
      <p:sp>
        <p:nvSpPr>
          <p:cNvPr id="27" name="Rectangle: Rounded Corners 26">
            <a:extLst>
              <a:ext uri="{FF2B5EF4-FFF2-40B4-BE49-F238E27FC236}">
                <a16:creationId xmlns:a16="http://schemas.microsoft.com/office/drawing/2014/main" id="{30E7922E-678F-4921-B28F-BD5AAF8CF89F}"/>
              </a:ext>
            </a:extLst>
          </p:cNvPr>
          <p:cNvSpPr/>
          <p:nvPr/>
        </p:nvSpPr>
        <p:spPr>
          <a:xfrm>
            <a:off x="2717071" y="2405911"/>
            <a:ext cx="1320536"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peech Bubble: Rectangle with Corners Rounded 27">
            <a:extLst>
              <a:ext uri="{FF2B5EF4-FFF2-40B4-BE49-F238E27FC236}">
                <a16:creationId xmlns:a16="http://schemas.microsoft.com/office/drawing/2014/main" id="{DE6FEBFE-D6CD-4D7E-99A5-7D2C4B84C36C}"/>
              </a:ext>
            </a:extLst>
          </p:cNvPr>
          <p:cNvSpPr/>
          <p:nvPr/>
        </p:nvSpPr>
        <p:spPr>
          <a:xfrm>
            <a:off x="9246841" y="2273623"/>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Emp_EmailID</a:t>
            </a:r>
            <a:endParaRPr lang="en-US" dirty="0">
              <a:solidFill>
                <a:schemeClr val="tx2"/>
              </a:solidFill>
            </a:endParaRPr>
          </a:p>
        </p:txBody>
      </p:sp>
      <p:sp>
        <p:nvSpPr>
          <p:cNvPr id="29" name="Rectangle: Rounded Corners 28">
            <a:extLst>
              <a:ext uri="{FF2B5EF4-FFF2-40B4-BE49-F238E27FC236}">
                <a16:creationId xmlns:a16="http://schemas.microsoft.com/office/drawing/2014/main" id="{EE6D77E5-D60A-43D8-B24C-139DC2EEFCC0}"/>
              </a:ext>
            </a:extLst>
          </p:cNvPr>
          <p:cNvSpPr/>
          <p:nvPr/>
        </p:nvSpPr>
        <p:spPr>
          <a:xfrm>
            <a:off x="6948328" y="2334940"/>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ular Callout 14">
            <a:extLst>
              <a:ext uri="{FF2B5EF4-FFF2-40B4-BE49-F238E27FC236}">
                <a16:creationId xmlns:a16="http://schemas.microsoft.com/office/drawing/2014/main" id="{85F96480-FD4D-46F4-952C-B170EDF4A2F5}"/>
              </a:ext>
            </a:extLst>
          </p:cNvPr>
          <p:cNvSpPr/>
          <p:nvPr/>
        </p:nvSpPr>
        <p:spPr>
          <a:xfrm>
            <a:off x="10724633" y="3429000"/>
            <a:ext cx="1243838" cy="721826"/>
          </a:xfrm>
          <a:prstGeom prst="wedgeRoundRectCallout">
            <a:avLst>
              <a:gd name="adj1" fmla="val -55487"/>
              <a:gd name="adj2" fmla="val -103957"/>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Alternate Key</a:t>
            </a:r>
          </a:p>
        </p:txBody>
      </p:sp>
      <p:sp>
        <p:nvSpPr>
          <p:cNvPr id="4" name="Rounded Rectangular Callout 14">
            <a:extLst>
              <a:ext uri="{FF2B5EF4-FFF2-40B4-BE49-F238E27FC236}">
                <a16:creationId xmlns:a16="http://schemas.microsoft.com/office/drawing/2014/main" id="{43FA64D2-7539-3F58-924C-46438C7B4FF3}"/>
              </a:ext>
            </a:extLst>
          </p:cNvPr>
          <p:cNvSpPr/>
          <p:nvPr/>
        </p:nvSpPr>
        <p:spPr>
          <a:xfrm>
            <a:off x="624441" y="3429000"/>
            <a:ext cx="1239084" cy="721826"/>
          </a:xfrm>
          <a:prstGeom prst="wedgeRoundRectCallout">
            <a:avLst>
              <a:gd name="adj1" fmla="val 59411"/>
              <a:gd name="adj2" fmla="val -111975"/>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Alternate Key</a:t>
            </a:r>
          </a:p>
        </p:txBody>
      </p:sp>
    </p:spTree>
    <p:extLst>
      <p:ext uri="{BB962C8B-B14F-4D97-AF65-F5344CB8AC3E}">
        <p14:creationId xmlns:p14="http://schemas.microsoft.com/office/powerpoint/2010/main" val="192575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30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30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P spid="26" grpId="0" animBg="1"/>
      <p:bldP spid="27" grpId="0" animBg="1"/>
      <p:bldP spid="28" grpId="0" animBg="1"/>
      <p:bldP spid="29" grpId="0" animBg="1"/>
      <p:bldP spid="31" grpId="0" animBg="1"/>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Alternate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xmlns=""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743376"/>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E47A1"/>
                </a:solidFill>
              </a:rPr>
              <a:t>Candidate keys</a:t>
            </a:r>
          </a:p>
          <a:p>
            <a:pPr lvl="1"/>
            <a:r>
              <a:rPr lang="en-US" dirty="0">
                <a:solidFill>
                  <a:srgbClr val="00B050"/>
                </a:solidFill>
              </a:rPr>
              <a:t>Enrollment no</a:t>
            </a:r>
          </a:p>
          <a:p>
            <a:pPr lvl="1"/>
            <a:r>
              <a:rPr lang="en-US" dirty="0"/>
              <a:t>Aadhar no</a:t>
            </a:r>
          </a:p>
          <a:p>
            <a:pPr lvl="1"/>
            <a:r>
              <a:rPr lang="en-US" dirty="0"/>
              <a:t>Phone</a:t>
            </a:r>
          </a:p>
          <a:p>
            <a:pPr lvl="1"/>
            <a:r>
              <a:rPr lang="en-US" dirty="0"/>
              <a:t>Email</a:t>
            </a:r>
          </a:p>
          <a:p>
            <a:r>
              <a:rPr lang="en-US" b="1" dirty="0">
                <a:solidFill>
                  <a:srgbClr val="0E47A1"/>
                </a:solidFill>
              </a:rPr>
              <a:t>Primary key</a:t>
            </a:r>
          </a:p>
          <a:p>
            <a:pPr marL="887412" lvl="1" indent="-342900"/>
            <a:r>
              <a:rPr lang="en-US" dirty="0">
                <a:solidFill>
                  <a:srgbClr val="00B050"/>
                </a:solidFill>
              </a:rPr>
              <a:t>Enrollment no</a:t>
            </a:r>
          </a:p>
          <a:p>
            <a:r>
              <a:rPr lang="en-US" b="1" dirty="0">
                <a:solidFill>
                  <a:srgbClr val="0E47A1"/>
                </a:solidFill>
              </a:rPr>
              <a:t>Alternate key</a:t>
            </a:r>
          </a:p>
          <a:p>
            <a:pPr lvl="1"/>
            <a:r>
              <a:rPr lang="en-US" dirty="0">
                <a:solidFill>
                  <a:srgbClr val="C00000"/>
                </a:solidFill>
              </a:rPr>
              <a:t>Aadhar no</a:t>
            </a:r>
          </a:p>
          <a:p>
            <a:pPr lvl="1"/>
            <a:r>
              <a:rPr lang="en-US" dirty="0">
                <a:solidFill>
                  <a:srgbClr val="C00000"/>
                </a:solidFill>
              </a:rPr>
              <a:t>Phone</a:t>
            </a:r>
          </a:p>
          <a:p>
            <a:pPr lvl="1"/>
            <a:r>
              <a:rPr lang="en-US" dirty="0">
                <a:solidFill>
                  <a:srgbClr val="C00000"/>
                </a:solidFill>
              </a:rPr>
              <a:t>Email</a:t>
            </a:r>
          </a:p>
          <a:p>
            <a:pPr marL="887412" lvl="1" indent="-342900"/>
            <a:endParaRPr lang="en-US" dirty="0"/>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3902737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12">
                                            <p:txEl>
                                              <p:pRg st="2" end="2"/>
                                            </p:txEl>
                                          </p:spTgt>
                                        </p:tgtEl>
                                        <p:attrNameLst>
                                          <p:attrName>style.color</p:attrName>
                                        </p:attrNameLst>
                                      </p:cBhvr>
                                      <p:to>
                                        <a:srgbClr val="C00000"/>
                                      </p:to>
                                    </p:animClr>
                                  </p:childTnLst>
                                </p:cTn>
                              </p:par>
                              <p:par>
                                <p:cTn id="7" presetID="3" presetClass="emph" presetSubtype="2" fill="hold" nodeType="withEffect">
                                  <p:stCondLst>
                                    <p:cond delay="0"/>
                                  </p:stCondLst>
                                  <p:childTnLst>
                                    <p:animClr clrSpc="rgb" dir="cw">
                                      <p:cBhvr override="childStyle">
                                        <p:cTn id="8" dur="2000" fill="hold"/>
                                        <p:tgtEl>
                                          <p:spTgt spid="12">
                                            <p:txEl>
                                              <p:pRg st="3" end="3"/>
                                            </p:txEl>
                                          </p:spTgt>
                                        </p:tgtEl>
                                        <p:attrNameLst>
                                          <p:attrName>style.color</p:attrName>
                                        </p:attrNameLst>
                                      </p:cBhvr>
                                      <p:to>
                                        <a:srgbClr val="C00000"/>
                                      </p:to>
                                    </p:animClr>
                                  </p:childTnLst>
                                </p:cTn>
                              </p:par>
                              <p:par>
                                <p:cTn id="9" presetID="3" presetClass="emph" presetSubtype="2" fill="hold" nodeType="withEffect">
                                  <p:stCondLst>
                                    <p:cond delay="0"/>
                                  </p:stCondLst>
                                  <p:childTnLst>
                                    <p:animClr clrSpc="rgb" dir="cw">
                                      <p:cBhvr override="childStyle">
                                        <p:cTn id="10" dur="2000" fill="hold"/>
                                        <p:tgtEl>
                                          <p:spTgt spid="12">
                                            <p:txEl>
                                              <p:pRg st="4" end="4"/>
                                            </p:txEl>
                                          </p:spTgt>
                                        </p:tgtEl>
                                        <p:attrNameLst>
                                          <p:attrName>style.color</p:attrName>
                                        </p:attrNameLst>
                                      </p:cBhvr>
                                      <p:to>
                                        <a:srgbClr val="C0000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5B97B-FE2C-4E82-A587-FEB4626751D9}"/>
              </a:ext>
            </a:extLst>
          </p:cNvPr>
          <p:cNvSpPr>
            <a:spLocks noGrp="1"/>
          </p:cNvSpPr>
          <p:nvPr>
            <p:ph type="title"/>
          </p:nvPr>
        </p:nvSpPr>
        <p:spPr/>
        <p:txBody>
          <a:bodyPr/>
          <a:lstStyle/>
          <a:p>
            <a:r>
              <a:rPr lang="en-US" dirty="0"/>
              <a:t>Unique Key</a:t>
            </a:r>
          </a:p>
        </p:txBody>
      </p:sp>
      <p:sp>
        <p:nvSpPr>
          <p:cNvPr id="3" name="Content Placeholder 2">
            <a:extLst>
              <a:ext uri="{FF2B5EF4-FFF2-40B4-BE49-F238E27FC236}">
                <a16:creationId xmlns:a16="http://schemas.microsoft.com/office/drawing/2014/main" id="{F662791B-DDC4-4532-A660-DF0EB12A3D10}"/>
              </a:ext>
            </a:extLst>
          </p:cNvPr>
          <p:cNvSpPr>
            <a:spLocks noGrp="1"/>
          </p:cNvSpPr>
          <p:nvPr>
            <p:ph idx="1"/>
          </p:nvPr>
        </p:nvSpPr>
        <p:spPr/>
        <p:txBody>
          <a:bodyPr/>
          <a:lstStyle/>
          <a:p>
            <a:r>
              <a:rPr lang="en-US" dirty="0"/>
              <a:t>It uniquely identify the tuple but it may contain </a:t>
            </a:r>
            <a:r>
              <a:rPr lang="en-US" b="1" dirty="0">
                <a:solidFill>
                  <a:srgbClr val="C00000"/>
                </a:solidFill>
              </a:rPr>
              <a:t>NULL value</a:t>
            </a:r>
            <a:r>
              <a:rPr lang="en-US" dirty="0"/>
              <a:t>.</a:t>
            </a:r>
          </a:p>
          <a:p>
            <a:r>
              <a:rPr lang="en-US" dirty="0"/>
              <a:t>NULL is also allowed only </a:t>
            </a:r>
            <a:r>
              <a:rPr lang="en-US" dirty="0">
                <a:solidFill>
                  <a:srgbClr val="C00000"/>
                </a:solidFill>
              </a:rPr>
              <a:t>once</a:t>
            </a:r>
            <a:r>
              <a:rPr lang="en-US" dirty="0"/>
              <a:t>.</a:t>
            </a:r>
          </a:p>
        </p:txBody>
      </p:sp>
      <p:graphicFrame>
        <p:nvGraphicFramePr>
          <p:cNvPr id="23" name="Content Placeholder 4">
            <a:extLst>
              <a:ext uri="{FF2B5EF4-FFF2-40B4-BE49-F238E27FC236}">
                <a16:creationId xmlns:a16="http://schemas.microsoft.com/office/drawing/2014/main" id="{0589B6AC-4280-45AD-8C67-FEE0A5B4DE56}"/>
              </a:ext>
            </a:extLst>
          </p:cNvPr>
          <p:cNvGraphicFramePr>
            <a:graphicFrameLocks/>
          </p:cNvGraphicFramePr>
          <p:nvPr/>
        </p:nvGraphicFramePr>
        <p:xfrm>
          <a:off x="2172123" y="2376611"/>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7A34FB89-50D4-488E-A9BB-8CD384FAAE45}"/>
              </a:ext>
            </a:extLst>
          </p:cNvPr>
          <p:cNvSpPr/>
          <p:nvPr/>
        </p:nvSpPr>
        <p:spPr>
          <a:xfrm>
            <a:off x="724949" y="2224367"/>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Unique Key</a:t>
            </a:r>
          </a:p>
          <a:p>
            <a:pPr algn="ctr"/>
            <a:r>
              <a:rPr lang="en-US" dirty="0" err="1">
                <a:solidFill>
                  <a:schemeClr val="tx2"/>
                </a:solidFill>
              </a:rPr>
              <a:t>Emp_SSN</a:t>
            </a:r>
            <a:endParaRPr lang="en-US" dirty="0">
              <a:solidFill>
                <a:schemeClr val="tx2"/>
              </a:solidFill>
            </a:endParaRPr>
          </a:p>
        </p:txBody>
      </p:sp>
      <p:sp>
        <p:nvSpPr>
          <p:cNvPr id="25" name="Rectangle: Rounded Corners 24">
            <a:extLst>
              <a:ext uri="{FF2B5EF4-FFF2-40B4-BE49-F238E27FC236}">
                <a16:creationId xmlns:a16="http://schemas.microsoft.com/office/drawing/2014/main" id="{6A243C23-0242-40A3-A1E0-5E9ED7B5A62F}"/>
              </a:ext>
            </a:extLst>
          </p:cNvPr>
          <p:cNvSpPr/>
          <p:nvPr/>
        </p:nvSpPr>
        <p:spPr>
          <a:xfrm>
            <a:off x="4141624" y="2376611"/>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peech Bubble: Rectangle with Corners Rounded 25">
            <a:extLst>
              <a:ext uri="{FF2B5EF4-FFF2-40B4-BE49-F238E27FC236}">
                <a16:creationId xmlns:a16="http://schemas.microsoft.com/office/drawing/2014/main" id="{55125AF3-4A64-4061-A4DE-0A1703A4D5C0}"/>
              </a:ext>
            </a:extLst>
          </p:cNvPr>
          <p:cNvSpPr/>
          <p:nvPr/>
        </p:nvSpPr>
        <p:spPr>
          <a:xfrm>
            <a:off x="5320532" y="5805315"/>
            <a:ext cx="1627796" cy="721826"/>
          </a:xfrm>
          <a:prstGeom prst="wedgeRoundRectCallout">
            <a:avLst>
              <a:gd name="adj1" fmla="val -70292"/>
              <a:gd name="adj2" fmla="val -61833"/>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Unique Key</a:t>
            </a:r>
          </a:p>
          <a:p>
            <a:pPr algn="ctr"/>
            <a:r>
              <a:rPr lang="en-US" dirty="0" err="1">
                <a:solidFill>
                  <a:schemeClr val="tx2"/>
                </a:solidFill>
              </a:rPr>
              <a:t>Emp_ID</a:t>
            </a:r>
            <a:endParaRPr lang="en-US" dirty="0">
              <a:solidFill>
                <a:schemeClr val="tx2"/>
              </a:solidFill>
            </a:endParaRPr>
          </a:p>
        </p:txBody>
      </p:sp>
      <p:sp>
        <p:nvSpPr>
          <p:cNvPr id="27" name="Rectangle: Rounded Corners 26">
            <a:extLst>
              <a:ext uri="{FF2B5EF4-FFF2-40B4-BE49-F238E27FC236}">
                <a16:creationId xmlns:a16="http://schemas.microsoft.com/office/drawing/2014/main" id="{30E7922E-678F-4921-B28F-BD5AAF8CF89F}"/>
              </a:ext>
            </a:extLst>
          </p:cNvPr>
          <p:cNvSpPr/>
          <p:nvPr/>
        </p:nvSpPr>
        <p:spPr>
          <a:xfrm>
            <a:off x="2717071" y="2405911"/>
            <a:ext cx="1320536"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peech Bubble: Rectangle with Corners Rounded 27">
            <a:extLst>
              <a:ext uri="{FF2B5EF4-FFF2-40B4-BE49-F238E27FC236}">
                <a16:creationId xmlns:a16="http://schemas.microsoft.com/office/drawing/2014/main" id="{DE6FEBFE-D6CD-4D7E-99A5-7D2C4B84C36C}"/>
              </a:ext>
            </a:extLst>
          </p:cNvPr>
          <p:cNvSpPr/>
          <p:nvPr/>
        </p:nvSpPr>
        <p:spPr>
          <a:xfrm>
            <a:off x="9246841" y="2273623"/>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Unique Key</a:t>
            </a:r>
          </a:p>
          <a:p>
            <a:pPr algn="ctr"/>
            <a:r>
              <a:rPr lang="en-US" dirty="0" err="1">
                <a:solidFill>
                  <a:schemeClr val="tx2"/>
                </a:solidFill>
              </a:rPr>
              <a:t>Emp_EmailID</a:t>
            </a:r>
            <a:endParaRPr lang="en-US" dirty="0">
              <a:solidFill>
                <a:schemeClr val="tx2"/>
              </a:solidFill>
            </a:endParaRPr>
          </a:p>
        </p:txBody>
      </p:sp>
      <p:sp>
        <p:nvSpPr>
          <p:cNvPr id="29" name="Rectangle: Rounded Corners 28">
            <a:extLst>
              <a:ext uri="{FF2B5EF4-FFF2-40B4-BE49-F238E27FC236}">
                <a16:creationId xmlns:a16="http://schemas.microsoft.com/office/drawing/2014/main" id="{EE6D77E5-D60A-43D8-B24C-139DC2EEFCC0}"/>
              </a:ext>
            </a:extLst>
          </p:cNvPr>
          <p:cNvSpPr/>
          <p:nvPr/>
        </p:nvSpPr>
        <p:spPr>
          <a:xfrm>
            <a:off x="6948328" y="2334940"/>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263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Composite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dirty="0"/>
              <a:t>If any key consist of </a:t>
            </a:r>
            <a:r>
              <a:rPr lang="en-US" b="1" dirty="0">
                <a:solidFill>
                  <a:srgbClr val="C00000"/>
                </a:solidFill>
              </a:rPr>
              <a:t>more then one attribute </a:t>
            </a:r>
            <a:r>
              <a:rPr lang="en-US" dirty="0"/>
              <a:t>then it is called </a:t>
            </a:r>
            <a:r>
              <a:rPr lang="en-US" b="1" dirty="0">
                <a:solidFill>
                  <a:srgbClr val="C00000"/>
                </a:solidFill>
              </a:rPr>
              <a:t>Composite Key</a:t>
            </a:r>
            <a:r>
              <a:rPr lang="en-US" dirty="0"/>
              <a:t>.</a:t>
            </a:r>
          </a:p>
        </p:txBody>
      </p:sp>
      <p:graphicFrame>
        <p:nvGraphicFramePr>
          <p:cNvPr id="22" name="Content Placeholder 4">
            <a:extLst>
              <a:ext uri="{FF2B5EF4-FFF2-40B4-BE49-F238E27FC236}">
                <a16:creationId xmlns:a16="http://schemas.microsoft.com/office/drawing/2014/main" id="{B06B88DD-4A3E-4670-BF78-29F35CD6BF5C}"/>
              </a:ext>
            </a:extLst>
          </p:cNvPr>
          <p:cNvGraphicFramePr>
            <a:graphicFrameLocks/>
          </p:cNvGraphicFramePr>
          <p:nvPr/>
        </p:nvGraphicFramePr>
        <p:xfrm>
          <a:off x="6153796" y="2465426"/>
          <a:ext cx="573830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graphicFrame>
        <p:nvGraphicFramePr>
          <p:cNvPr id="23" name="Content Placeholder 4">
            <a:extLst>
              <a:ext uri="{FF2B5EF4-FFF2-40B4-BE49-F238E27FC236}">
                <a16:creationId xmlns:a16="http://schemas.microsoft.com/office/drawing/2014/main" id="{8F60D1A3-8F8F-4EC6-8C10-45735D13BCCA}"/>
              </a:ext>
            </a:extLst>
          </p:cNvPr>
          <p:cNvGraphicFramePr>
            <a:graphicFrameLocks/>
          </p:cNvGraphicFramePr>
          <p:nvPr/>
        </p:nvGraphicFramePr>
        <p:xfrm>
          <a:off x="299897" y="2379854"/>
          <a:ext cx="4793889"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1266520">
                  <a:extLst>
                    <a:ext uri="{9D8B030D-6E8A-4147-A177-3AD203B41FA5}">
                      <a16:colId xmlns:a16="http://schemas.microsoft.com/office/drawing/2014/main" val="20002"/>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9FD5325F-2FF6-4B49-B8FB-FC90DF209425}"/>
              </a:ext>
            </a:extLst>
          </p:cNvPr>
          <p:cNvSpPr/>
          <p:nvPr/>
        </p:nvSpPr>
        <p:spPr>
          <a:xfrm>
            <a:off x="8207547" y="1428856"/>
            <a:ext cx="3853273" cy="711200"/>
          </a:xfrm>
          <a:prstGeom prst="wedgeRoundRectCallout">
            <a:avLst>
              <a:gd name="adj1" fmla="val -51086"/>
              <a:gd name="adj2" fmla="val 9302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Composite Key </a:t>
            </a:r>
            <a:r>
              <a:rPr lang="en-US" dirty="0">
                <a:solidFill>
                  <a:schemeClr val="tx2"/>
                </a:solidFill>
              </a:rPr>
              <a:t> </a:t>
            </a:r>
          </a:p>
          <a:p>
            <a:pPr algn="ctr"/>
            <a:r>
              <a:rPr lang="en-US" dirty="0" err="1">
                <a:solidFill>
                  <a:schemeClr val="tx2"/>
                </a:solidFill>
              </a:rPr>
              <a:t>Emp_SSN</a:t>
            </a:r>
            <a:r>
              <a:rPr lang="en-US" dirty="0">
                <a:solidFill>
                  <a:schemeClr val="tx2"/>
                </a:solidFill>
              </a:rPr>
              <a:t>, </a:t>
            </a:r>
            <a:r>
              <a:rPr lang="en-US" dirty="0" err="1">
                <a:solidFill>
                  <a:schemeClr val="tx2"/>
                </a:solidFill>
              </a:rPr>
              <a:t>Emp_ID</a:t>
            </a:r>
            <a:r>
              <a:rPr lang="en-US" dirty="0">
                <a:solidFill>
                  <a:schemeClr val="tx2"/>
                </a:solidFill>
              </a:rPr>
              <a:t>, </a:t>
            </a:r>
            <a:r>
              <a:rPr lang="en-US" dirty="0" err="1">
                <a:solidFill>
                  <a:schemeClr val="tx2"/>
                </a:solidFill>
              </a:rPr>
              <a:t>Emp_EmailID</a:t>
            </a:r>
            <a:endParaRPr lang="en-US" dirty="0">
              <a:solidFill>
                <a:schemeClr val="tx2"/>
              </a:solidFill>
            </a:endParaRPr>
          </a:p>
        </p:txBody>
      </p:sp>
      <p:sp>
        <p:nvSpPr>
          <p:cNvPr id="25" name="Speech Bubble: Rectangle with Corners Rounded 24">
            <a:extLst>
              <a:ext uri="{FF2B5EF4-FFF2-40B4-BE49-F238E27FC236}">
                <a16:creationId xmlns:a16="http://schemas.microsoft.com/office/drawing/2014/main" id="{A09BD42B-B281-4549-ACFF-50E4C11B2892}"/>
              </a:ext>
            </a:extLst>
          </p:cNvPr>
          <p:cNvSpPr/>
          <p:nvPr/>
        </p:nvSpPr>
        <p:spPr>
          <a:xfrm>
            <a:off x="2988228" y="1341302"/>
            <a:ext cx="3853273" cy="798754"/>
          </a:xfrm>
          <a:prstGeom prst="wedgeRoundRectCallout">
            <a:avLst>
              <a:gd name="adj1" fmla="val -59190"/>
              <a:gd name="adj2" fmla="val 7816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Composite Key</a:t>
            </a:r>
          </a:p>
          <a:p>
            <a:pPr algn="ctr"/>
            <a:r>
              <a:rPr lang="en-US" dirty="0" err="1">
                <a:solidFill>
                  <a:schemeClr val="tx2"/>
                </a:solidFill>
              </a:rPr>
              <a:t>Emp_SSN</a:t>
            </a:r>
            <a:r>
              <a:rPr lang="en-US" dirty="0">
                <a:solidFill>
                  <a:schemeClr val="tx2"/>
                </a:solidFill>
              </a:rPr>
              <a:t>, </a:t>
            </a:r>
            <a:r>
              <a:rPr lang="en-US" dirty="0" err="1">
                <a:solidFill>
                  <a:schemeClr val="tx2"/>
                </a:solidFill>
              </a:rPr>
              <a:t>Emp_Name</a:t>
            </a:r>
            <a:r>
              <a:rPr lang="en-US" dirty="0">
                <a:solidFill>
                  <a:schemeClr val="tx2"/>
                </a:solidFill>
              </a:rPr>
              <a:t>, </a:t>
            </a:r>
            <a:r>
              <a:rPr lang="en-US" dirty="0" err="1">
                <a:solidFill>
                  <a:schemeClr val="tx2"/>
                </a:solidFill>
              </a:rPr>
              <a:t>Emp_ID</a:t>
            </a:r>
            <a:endParaRPr lang="en-US" dirty="0">
              <a:solidFill>
                <a:schemeClr val="tx2"/>
              </a:solidFill>
            </a:endParaRPr>
          </a:p>
        </p:txBody>
      </p:sp>
    </p:spTree>
    <p:extLst>
      <p:ext uri="{BB962C8B-B14F-4D97-AF65-F5344CB8AC3E}">
        <p14:creationId xmlns:p14="http://schemas.microsoft.com/office/powerpoint/2010/main" val="322639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3"/>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5"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7494-CE77-4975-9426-8946E6D78810}"/>
              </a:ext>
            </a:extLst>
          </p:cNvPr>
          <p:cNvSpPr>
            <a:spLocks noGrp="1"/>
          </p:cNvSpPr>
          <p:nvPr>
            <p:ph type="title"/>
          </p:nvPr>
        </p:nvSpPr>
        <p:spPr/>
        <p:txBody>
          <a:bodyPr/>
          <a:lstStyle/>
          <a:p>
            <a:r>
              <a:rPr lang="en-US" dirty="0"/>
              <a:t>Foreign Key </a:t>
            </a:r>
          </a:p>
        </p:txBody>
      </p:sp>
      <p:sp>
        <p:nvSpPr>
          <p:cNvPr id="3" name="Content Placeholder 2">
            <a:extLst>
              <a:ext uri="{FF2B5EF4-FFF2-40B4-BE49-F238E27FC236}">
                <a16:creationId xmlns:a16="http://schemas.microsoft.com/office/drawing/2014/main" id="{15CCE986-6CC4-4DE8-BEE1-6D22D5BB4B83}"/>
              </a:ext>
            </a:extLst>
          </p:cNvPr>
          <p:cNvSpPr>
            <a:spLocks noGrp="1"/>
          </p:cNvSpPr>
          <p:nvPr>
            <p:ph idx="1"/>
          </p:nvPr>
        </p:nvSpPr>
        <p:spPr/>
        <p:txBody>
          <a:bodyPr/>
          <a:lstStyle/>
          <a:p>
            <a:r>
              <a:rPr lang="en-US" dirty="0"/>
              <a:t>Foreign key provides the </a:t>
            </a:r>
            <a:r>
              <a:rPr lang="en-US" b="1" dirty="0">
                <a:solidFill>
                  <a:srgbClr val="C00000"/>
                </a:solidFill>
              </a:rPr>
              <a:t>link between two relation</a:t>
            </a:r>
            <a:r>
              <a:rPr lang="en-US" dirty="0"/>
              <a:t>(table). </a:t>
            </a:r>
          </a:p>
          <a:p>
            <a:r>
              <a:rPr lang="en-US" dirty="0"/>
              <a:t>A foreign key is a </a:t>
            </a:r>
            <a:r>
              <a:rPr lang="en-US" b="1" dirty="0">
                <a:solidFill>
                  <a:srgbClr val="C00000"/>
                </a:solidFill>
              </a:rPr>
              <a:t>set of one or more attributes </a:t>
            </a:r>
            <a:r>
              <a:rPr lang="en-US" dirty="0"/>
              <a:t>whose values are </a:t>
            </a:r>
            <a:r>
              <a:rPr lang="en-US" b="1" dirty="0">
                <a:solidFill>
                  <a:srgbClr val="C00000"/>
                </a:solidFill>
              </a:rPr>
              <a:t>derived from the primary key </a:t>
            </a:r>
            <a:r>
              <a:rPr lang="en-US" dirty="0"/>
              <a:t>attribute of another relation. </a:t>
            </a:r>
          </a:p>
          <a:p>
            <a:r>
              <a:rPr lang="en-US" dirty="0"/>
              <a:t>A table containing </a:t>
            </a:r>
            <a:r>
              <a:rPr lang="en-US" b="1" dirty="0">
                <a:solidFill>
                  <a:srgbClr val="C00000"/>
                </a:solidFill>
              </a:rPr>
              <a:t>foreign key </a:t>
            </a:r>
            <a:r>
              <a:rPr lang="en-US" dirty="0"/>
              <a:t>is known as </a:t>
            </a:r>
            <a:r>
              <a:rPr lang="en-US" b="1" dirty="0">
                <a:solidFill>
                  <a:srgbClr val="00B050"/>
                </a:solidFill>
              </a:rPr>
              <a:t>child table </a:t>
            </a:r>
            <a:r>
              <a:rPr lang="en-US" dirty="0"/>
              <a:t>and a table containing </a:t>
            </a:r>
            <a:r>
              <a:rPr lang="en-US" b="1" dirty="0">
                <a:solidFill>
                  <a:srgbClr val="C00000"/>
                </a:solidFill>
              </a:rPr>
              <a:t>primary key </a:t>
            </a:r>
            <a:r>
              <a:rPr lang="en-US" dirty="0"/>
              <a:t>is known as </a:t>
            </a:r>
            <a:r>
              <a:rPr lang="en-US" b="1" dirty="0">
                <a:solidFill>
                  <a:srgbClr val="00B050"/>
                </a:solidFill>
              </a:rPr>
              <a:t>parent table</a:t>
            </a:r>
            <a:r>
              <a:rPr lang="en-US" dirty="0"/>
              <a:t>. </a:t>
            </a:r>
          </a:p>
          <a:p>
            <a:endParaRPr lang="en-US" dirty="0"/>
          </a:p>
        </p:txBody>
      </p:sp>
      <p:graphicFrame>
        <p:nvGraphicFramePr>
          <p:cNvPr id="4" name="Content Placeholder 4">
            <a:extLst>
              <a:ext uri="{FF2B5EF4-FFF2-40B4-BE49-F238E27FC236}">
                <a16:creationId xmlns:a16="http://schemas.microsoft.com/office/drawing/2014/main" id="{0F02B256-9846-4DFD-A50A-488D27EAB52A}"/>
              </a:ext>
            </a:extLst>
          </p:cNvPr>
          <p:cNvGraphicFramePr>
            <a:graphicFrameLocks/>
          </p:cNvGraphicFramePr>
          <p:nvPr>
            <p:extLst>
              <p:ext uri="{D42A27DB-BD31-4B8C-83A1-F6EECF244321}">
                <p14:modId xmlns:p14="http://schemas.microsoft.com/office/powerpoint/2010/main" val="1545585372"/>
              </p:ext>
            </p:extLst>
          </p:nvPr>
        </p:nvGraphicFramePr>
        <p:xfrm>
          <a:off x="131179" y="3858269"/>
          <a:ext cx="4054723" cy="2057400"/>
        </p:xfrm>
        <a:graphic>
          <a:graphicData uri="http://schemas.openxmlformats.org/drawingml/2006/table">
            <a:tbl>
              <a:tblPr firstRow="1" bandRow="1">
                <a:tableStyleId>{8EC20E35-A176-4012-BC5E-935CFFF8708E}</a:tableStyleId>
              </a:tblPr>
              <a:tblGrid>
                <a:gridCol w="421195">
                  <a:extLst>
                    <a:ext uri="{9D8B030D-6E8A-4147-A177-3AD203B41FA5}">
                      <a16:colId xmlns:a16="http://schemas.microsoft.com/office/drawing/2014/main" val="804896088"/>
                    </a:ext>
                  </a:extLst>
                </a:gridCol>
                <a:gridCol w="1887855">
                  <a:extLst>
                    <a:ext uri="{9D8B030D-6E8A-4147-A177-3AD203B41FA5}">
                      <a16:colId xmlns:a16="http://schemas.microsoft.com/office/drawing/2014/main" val="2766505883"/>
                    </a:ext>
                  </a:extLst>
                </a:gridCol>
                <a:gridCol w="845127">
                  <a:extLst>
                    <a:ext uri="{9D8B030D-6E8A-4147-A177-3AD203B41FA5}">
                      <a16:colId xmlns:a16="http://schemas.microsoft.com/office/drawing/2014/main" val="20000"/>
                    </a:ext>
                  </a:extLst>
                </a:gridCol>
                <a:gridCol w="900546">
                  <a:extLst>
                    <a:ext uri="{9D8B030D-6E8A-4147-A177-3AD203B41FA5}">
                      <a16:colId xmlns:a16="http://schemas.microsoft.com/office/drawing/2014/main" val="20002"/>
                    </a:ext>
                  </a:extLst>
                </a:gridCol>
              </a:tblGrid>
              <a:tr h="411480">
                <a:tc rowSpan="5">
                  <a:txBody>
                    <a:bodyPr/>
                    <a:lstStyle/>
                    <a:p>
                      <a:pPr algn="l"/>
                      <a:r>
                        <a:rPr lang="en-US" b="1" dirty="0">
                          <a:solidFill>
                            <a:schemeClr val="tx2"/>
                          </a:solidFill>
                        </a:rPr>
                        <a:t>Student</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EnrollmentNo</a:t>
                      </a:r>
                      <a:r>
                        <a:rPr lang="en-US" b="1" dirty="0">
                          <a:solidFill>
                            <a:schemeClr val="tx1"/>
                          </a:solidFill>
                        </a:rPr>
                        <a:t>(PK)</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RollNo</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Branch</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21020201096</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21020201014</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21020201036</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21020201078</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5" name="Content Placeholder 4">
            <a:extLst>
              <a:ext uri="{FF2B5EF4-FFF2-40B4-BE49-F238E27FC236}">
                <a16:creationId xmlns:a16="http://schemas.microsoft.com/office/drawing/2014/main" id="{5F25D315-03E7-4463-B990-18C4C51A7CC5}"/>
              </a:ext>
            </a:extLst>
          </p:cNvPr>
          <p:cNvGraphicFramePr>
            <a:graphicFrameLocks/>
          </p:cNvGraphicFramePr>
          <p:nvPr>
            <p:extLst>
              <p:ext uri="{D42A27DB-BD31-4B8C-83A1-F6EECF244321}">
                <p14:modId xmlns:p14="http://schemas.microsoft.com/office/powerpoint/2010/main" val="1067954828"/>
              </p:ext>
            </p:extLst>
          </p:nvPr>
        </p:nvGraphicFramePr>
        <p:xfrm>
          <a:off x="7315200" y="3687968"/>
          <a:ext cx="3593888" cy="2057400"/>
        </p:xfrm>
        <a:graphic>
          <a:graphicData uri="http://schemas.openxmlformats.org/drawingml/2006/table">
            <a:tbl>
              <a:tblPr firstRow="1" bandRow="1">
                <a:tableStyleId>{8EC20E35-A176-4012-BC5E-935CFFF8708E}</a:tableStyleId>
              </a:tblPr>
              <a:tblGrid>
                <a:gridCol w="452582">
                  <a:extLst>
                    <a:ext uri="{9D8B030D-6E8A-4147-A177-3AD203B41FA5}">
                      <a16:colId xmlns:a16="http://schemas.microsoft.com/office/drawing/2014/main" val="804896088"/>
                    </a:ext>
                  </a:extLst>
                </a:gridCol>
                <a:gridCol w="1274088">
                  <a:extLst>
                    <a:ext uri="{9D8B030D-6E8A-4147-A177-3AD203B41FA5}">
                      <a16:colId xmlns:a16="http://schemas.microsoft.com/office/drawing/2014/main" val="20002"/>
                    </a:ext>
                  </a:extLst>
                </a:gridCol>
                <a:gridCol w="1867218">
                  <a:extLst>
                    <a:ext uri="{9D8B030D-6E8A-4147-A177-3AD203B41FA5}">
                      <a16:colId xmlns:a16="http://schemas.microsoft.com/office/drawing/2014/main" val="20003"/>
                    </a:ext>
                  </a:extLst>
                </a:gridCol>
              </a:tblGrid>
              <a:tr h="411480">
                <a:tc rowSpan="5">
                  <a:txBody>
                    <a:bodyPr/>
                    <a:lstStyle/>
                    <a:p>
                      <a:pPr algn="l"/>
                      <a:r>
                        <a:rPr lang="en-US" b="1" dirty="0">
                          <a:solidFill>
                            <a:schemeClr val="tx2"/>
                          </a:solidFill>
                        </a:rPr>
                        <a:t>Result</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SPI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EnrollmentNo</a:t>
                      </a:r>
                      <a:r>
                        <a:rPr lang="en-US" b="1" dirty="0">
                          <a:solidFill>
                            <a:schemeClr val="tx1"/>
                          </a:solidFill>
                        </a:rPr>
                        <a:t>(FK)</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8.80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21020201096</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9.60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21020201014</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7.70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21020201036</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5.50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21020201078</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11" name="Rounded Rectangular Callout 14">
            <a:extLst>
              <a:ext uri="{FF2B5EF4-FFF2-40B4-BE49-F238E27FC236}">
                <a16:creationId xmlns:a16="http://schemas.microsoft.com/office/drawing/2014/main" id="{B2EA5052-120E-48DD-926F-7A810486C673}"/>
              </a:ext>
            </a:extLst>
          </p:cNvPr>
          <p:cNvSpPr/>
          <p:nvPr/>
        </p:nvSpPr>
        <p:spPr>
          <a:xfrm>
            <a:off x="6538056" y="6044491"/>
            <a:ext cx="1395401" cy="468000"/>
          </a:xfrm>
          <a:prstGeom prst="wedgeRoundRectCallout">
            <a:avLst>
              <a:gd name="adj1" fmla="val 47177"/>
              <a:gd name="adj2" fmla="val -109325"/>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Child Table</a:t>
            </a:r>
          </a:p>
        </p:txBody>
      </p:sp>
      <p:sp>
        <p:nvSpPr>
          <p:cNvPr id="12" name="Rounded Rectangular Callout 14">
            <a:extLst>
              <a:ext uri="{FF2B5EF4-FFF2-40B4-BE49-F238E27FC236}">
                <a16:creationId xmlns:a16="http://schemas.microsoft.com/office/drawing/2014/main" id="{5CA00FF4-9B40-49AD-9231-F126E8422BF0}"/>
              </a:ext>
            </a:extLst>
          </p:cNvPr>
          <p:cNvSpPr/>
          <p:nvPr/>
        </p:nvSpPr>
        <p:spPr>
          <a:xfrm>
            <a:off x="877333" y="6044491"/>
            <a:ext cx="1533359" cy="468000"/>
          </a:xfrm>
          <a:prstGeom prst="wedgeRoundRectCallout">
            <a:avLst>
              <a:gd name="adj1" fmla="val -55204"/>
              <a:gd name="adj2" fmla="val -69424"/>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Parent Table</a:t>
            </a:r>
          </a:p>
        </p:txBody>
      </p:sp>
      <p:sp>
        <p:nvSpPr>
          <p:cNvPr id="13" name="Arc 12">
            <a:extLst>
              <a:ext uri="{FF2B5EF4-FFF2-40B4-BE49-F238E27FC236}">
                <a16:creationId xmlns:a16="http://schemas.microsoft.com/office/drawing/2014/main" id="{116DD5CA-0A81-46AD-B148-C073239BC2F3}"/>
              </a:ext>
            </a:extLst>
          </p:cNvPr>
          <p:cNvSpPr/>
          <p:nvPr/>
        </p:nvSpPr>
        <p:spPr>
          <a:xfrm>
            <a:off x="1302327" y="2950034"/>
            <a:ext cx="9171709" cy="1821998"/>
          </a:xfrm>
          <a:prstGeom prst="arc">
            <a:avLst>
              <a:gd name="adj1" fmla="val 10817153"/>
              <a:gd name="adj2" fmla="val 21490033"/>
            </a:avLst>
          </a:prstGeom>
          <a:ln w="28575" cap="flat" cmpd="sng" algn="ctr">
            <a:solidFill>
              <a:schemeClr val="tx2"/>
            </a:solidFill>
            <a:prstDash val="solid"/>
            <a:round/>
            <a:headEnd type="none" w="med" len="med"/>
            <a:tailEnd type="stealth" w="lg" len="lg"/>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0682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BB408-EF73-7085-6A5C-8D035B625042}"/>
              </a:ext>
            </a:extLst>
          </p:cNvPr>
          <p:cNvSpPr>
            <a:spLocks noGrp="1"/>
          </p:cNvSpPr>
          <p:nvPr>
            <p:ph type="title"/>
          </p:nvPr>
        </p:nvSpPr>
        <p:spPr/>
        <p:txBody>
          <a:bodyPr/>
          <a:lstStyle/>
          <a:p>
            <a:r>
              <a:rPr lang="en-US" dirty="0"/>
              <a:t>Constraints</a:t>
            </a:r>
            <a:endParaRPr lang="en-IN" dirty="0"/>
          </a:p>
        </p:txBody>
      </p:sp>
      <p:sp>
        <p:nvSpPr>
          <p:cNvPr id="3" name="Text Placeholder 2">
            <a:extLst>
              <a:ext uri="{FF2B5EF4-FFF2-40B4-BE49-F238E27FC236}">
                <a16:creationId xmlns:a16="http://schemas.microsoft.com/office/drawing/2014/main" id="{9DC26AD1-0CCB-027D-4E21-7B57939408B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6650101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What is Constraints?</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SQL constraints are used to </a:t>
            </a:r>
            <a:r>
              <a:rPr lang="en-GB" b="1" dirty="0">
                <a:solidFill>
                  <a:srgbClr val="C00000"/>
                </a:solidFill>
              </a:rPr>
              <a:t>specify rules </a:t>
            </a:r>
            <a:r>
              <a:rPr lang="en-GB" dirty="0"/>
              <a:t>for data in a table.</a:t>
            </a:r>
          </a:p>
          <a:p>
            <a:r>
              <a:rPr lang="en-GB" dirty="0"/>
              <a:t>Constraints are used to </a:t>
            </a:r>
            <a:r>
              <a:rPr lang="en-GB" b="1" dirty="0">
                <a:solidFill>
                  <a:srgbClr val="C00000"/>
                </a:solidFill>
              </a:rPr>
              <a:t>limit the type of data </a:t>
            </a:r>
            <a:r>
              <a:rPr lang="en-GB" dirty="0"/>
              <a:t>that can go into a table. </a:t>
            </a:r>
          </a:p>
          <a:p>
            <a:r>
              <a:rPr lang="en-GB" dirty="0"/>
              <a:t>This </a:t>
            </a:r>
            <a:r>
              <a:rPr lang="en-GB" b="1" dirty="0">
                <a:solidFill>
                  <a:srgbClr val="0E47A1"/>
                </a:solidFill>
              </a:rPr>
              <a:t>ensures</a:t>
            </a:r>
            <a:r>
              <a:rPr lang="en-GB" dirty="0"/>
              <a:t> the </a:t>
            </a:r>
            <a:r>
              <a:rPr lang="en-GB" b="1" dirty="0">
                <a:solidFill>
                  <a:srgbClr val="C00000"/>
                </a:solidFill>
              </a:rPr>
              <a:t>accuracy</a:t>
            </a:r>
            <a:r>
              <a:rPr lang="en-GB" dirty="0"/>
              <a:t> and </a:t>
            </a:r>
            <a:r>
              <a:rPr lang="en-GB" b="1" dirty="0">
                <a:solidFill>
                  <a:srgbClr val="C00000"/>
                </a:solidFill>
              </a:rPr>
              <a:t>reliability</a:t>
            </a:r>
            <a:r>
              <a:rPr lang="en-GB" dirty="0"/>
              <a:t> of the data in the table. </a:t>
            </a:r>
          </a:p>
          <a:p>
            <a:r>
              <a:rPr lang="en-GB" dirty="0"/>
              <a:t>If there is any </a:t>
            </a:r>
            <a:r>
              <a:rPr lang="en-GB" b="1" dirty="0">
                <a:solidFill>
                  <a:srgbClr val="C00000"/>
                </a:solidFill>
              </a:rPr>
              <a:t>violation</a:t>
            </a:r>
            <a:r>
              <a:rPr lang="en-GB" dirty="0"/>
              <a:t> between the constraint and the data action, the action is </a:t>
            </a:r>
            <a:r>
              <a:rPr lang="en-GB" b="1" dirty="0">
                <a:solidFill>
                  <a:srgbClr val="C00000"/>
                </a:solidFill>
              </a:rPr>
              <a:t>aborted</a:t>
            </a:r>
            <a:r>
              <a:rPr lang="en-GB" dirty="0"/>
              <a:t>.</a:t>
            </a:r>
          </a:p>
          <a:p>
            <a:r>
              <a:rPr lang="en-GB" dirty="0"/>
              <a:t>Constraints can be </a:t>
            </a:r>
            <a:r>
              <a:rPr lang="en-GB" b="1" dirty="0">
                <a:solidFill>
                  <a:srgbClr val="0E47A1"/>
                </a:solidFill>
              </a:rPr>
              <a:t>column level </a:t>
            </a:r>
            <a:r>
              <a:rPr lang="en-GB" dirty="0"/>
              <a:t>or </a:t>
            </a:r>
            <a:r>
              <a:rPr lang="en-GB" b="1" dirty="0">
                <a:solidFill>
                  <a:srgbClr val="0E47A1"/>
                </a:solidFill>
              </a:rPr>
              <a:t>table level</a:t>
            </a:r>
            <a:r>
              <a:rPr lang="en-GB" dirty="0"/>
              <a:t>. </a:t>
            </a:r>
          </a:p>
          <a:p>
            <a:r>
              <a:rPr lang="en-GB" dirty="0"/>
              <a:t>Constraints can be specified when the table is created with the </a:t>
            </a:r>
            <a:r>
              <a:rPr lang="en-GB" b="1" dirty="0">
                <a:solidFill>
                  <a:srgbClr val="0E47A1"/>
                </a:solidFill>
              </a:rPr>
              <a:t>CREATE TABLE </a:t>
            </a:r>
            <a:r>
              <a:rPr lang="en-GB" dirty="0"/>
              <a:t>statement, or after the table is created with the </a:t>
            </a:r>
            <a:r>
              <a:rPr lang="en-GB" b="1" dirty="0">
                <a:solidFill>
                  <a:srgbClr val="0E47A1"/>
                </a:solidFill>
              </a:rPr>
              <a:t>ALTER TABLE </a:t>
            </a:r>
            <a:r>
              <a:rPr lang="en-GB" dirty="0"/>
              <a:t>statement.</a:t>
            </a:r>
            <a:endParaRPr lang="en-US" dirty="0"/>
          </a:p>
        </p:txBody>
      </p:sp>
    </p:spTree>
    <p:extLst>
      <p:ext uri="{BB962C8B-B14F-4D97-AF65-F5344CB8AC3E}">
        <p14:creationId xmlns:p14="http://schemas.microsoft.com/office/powerpoint/2010/main" val="234673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Constraints used in SQL</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pPr>
              <a:lnSpc>
                <a:spcPct val="150000"/>
              </a:lnSpc>
            </a:pPr>
            <a:r>
              <a:rPr lang="en-GB" dirty="0"/>
              <a:t>The following constraints are commonly used in SQL:</a:t>
            </a:r>
          </a:p>
          <a:p>
            <a:pPr lvl="1">
              <a:lnSpc>
                <a:spcPct val="150000"/>
              </a:lnSpc>
            </a:pPr>
            <a:r>
              <a:rPr lang="en-GB" b="1" dirty="0">
                <a:solidFill>
                  <a:srgbClr val="C00000"/>
                </a:solidFill>
              </a:rPr>
              <a:t>NOT NULL constraint </a:t>
            </a:r>
            <a:r>
              <a:rPr lang="en-GB" dirty="0"/>
              <a:t>- Ensures that a column </a:t>
            </a:r>
            <a:r>
              <a:rPr lang="en-GB" b="1" dirty="0">
                <a:solidFill>
                  <a:srgbClr val="0E47A1"/>
                </a:solidFill>
              </a:rPr>
              <a:t>cannot have a </a:t>
            </a:r>
            <a:r>
              <a:rPr lang="en-GB" b="1" dirty="0">
                <a:solidFill>
                  <a:srgbClr val="0D4991"/>
                </a:solidFill>
              </a:rPr>
              <a:t>NULL</a:t>
            </a:r>
            <a:r>
              <a:rPr lang="en-GB" b="1" dirty="0">
                <a:solidFill>
                  <a:srgbClr val="0E47A1"/>
                </a:solidFill>
              </a:rPr>
              <a:t> value</a:t>
            </a:r>
            <a:endParaRPr lang="en-GB" sz="2400" b="1" dirty="0">
              <a:solidFill>
                <a:srgbClr val="0E47A1"/>
              </a:solidFill>
            </a:endParaRPr>
          </a:p>
          <a:p>
            <a:pPr lvl="1">
              <a:lnSpc>
                <a:spcPct val="150000"/>
              </a:lnSpc>
            </a:pPr>
            <a:r>
              <a:rPr lang="en-GB" b="1" dirty="0">
                <a:solidFill>
                  <a:srgbClr val="C00000"/>
                </a:solidFill>
              </a:rPr>
              <a:t>UNIQUE KEY constraint </a:t>
            </a:r>
            <a:r>
              <a:rPr lang="en-GB" dirty="0"/>
              <a:t>- Ensures that </a:t>
            </a:r>
            <a:r>
              <a:rPr lang="en-GB" b="1" dirty="0">
                <a:solidFill>
                  <a:srgbClr val="0E47A1"/>
                </a:solidFill>
              </a:rPr>
              <a:t>all values in a column are different/unique</a:t>
            </a:r>
          </a:p>
          <a:p>
            <a:pPr lvl="1">
              <a:lnSpc>
                <a:spcPct val="150000"/>
              </a:lnSpc>
            </a:pPr>
            <a:r>
              <a:rPr lang="en-GB" b="1" dirty="0">
                <a:solidFill>
                  <a:srgbClr val="C00000"/>
                </a:solidFill>
              </a:rPr>
              <a:t>PRIMARY KEY constraint </a:t>
            </a:r>
            <a:r>
              <a:rPr lang="en-GB" dirty="0"/>
              <a:t>- A </a:t>
            </a:r>
            <a:r>
              <a:rPr lang="en-GB" b="1" dirty="0">
                <a:solidFill>
                  <a:srgbClr val="0E47A1"/>
                </a:solidFill>
              </a:rPr>
              <a:t>combination</a:t>
            </a:r>
            <a:r>
              <a:rPr lang="en-GB" dirty="0"/>
              <a:t> of a </a:t>
            </a:r>
            <a:r>
              <a:rPr lang="en-GB" b="1" dirty="0">
                <a:solidFill>
                  <a:srgbClr val="0E47A1"/>
                </a:solidFill>
              </a:rPr>
              <a:t>NOT NULL and UNIQUE</a:t>
            </a:r>
            <a:r>
              <a:rPr lang="en-GB" dirty="0"/>
              <a:t>. Uniquely identifies each row in a table</a:t>
            </a:r>
          </a:p>
          <a:p>
            <a:pPr lvl="1">
              <a:lnSpc>
                <a:spcPct val="150000"/>
              </a:lnSpc>
            </a:pPr>
            <a:r>
              <a:rPr lang="en-GB" b="1" dirty="0">
                <a:solidFill>
                  <a:srgbClr val="C00000"/>
                </a:solidFill>
              </a:rPr>
              <a:t>FOREIGN KEY constraint </a:t>
            </a:r>
            <a:r>
              <a:rPr lang="en-GB" dirty="0"/>
              <a:t>- </a:t>
            </a:r>
            <a:r>
              <a:rPr lang="en-GB" b="1" dirty="0">
                <a:solidFill>
                  <a:srgbClr val="0E47A1"/>
                </a:solidFill>
              </a:rPr>
              <a:t>Prevents actions that would destroy links between tables</a:t>
            </a:r>
          </a:p>
          <a:p>
            <a:pPr lvl="1">
              <a:lnSpc>
                <a:spcPct val="150000"/>
              </a:lnSpc>
            </a:pPr>
            <a:r>
              <a:rPr lang="en-GB" b="1" dirty="0">
                <a:solidFill>
                  <a:srgbClr val="C00000"/>
                </a:solidFill>
              </a:rPr>
              <a:t>CHECK constraint </a:t>
            </a:r>
            <a:r>
              <a:rPr lang="en-GB" dirty="0"/>
              <a:t>- Ensures that the </a:t>
            </a:r>
            <a:r>
              <a:rPr lang="en-GB" b="1" dirty="0">
                <a:solidFill>
                  <a:srgbClr val="0E47A1"/>
                </a:solidFill>
              </a:rPr>
              <a:t>values in a column satisfies a specific condition</a:t>
            </a:r>
          </a:p>
          <a:p>
            <a:pPr lvl="1">
              <a:lnSpc>
                <a:spcPct val="150000"/>
              </a:lnSpc>
            </a:pPr>
            <a:r>
              <a:rPr lang="en-GB" b="1" dirty="0">
                <a:solidFill>
                  <a:srgbClr val="C00000"/>
                </a:solidFill>
              </a:rPr>
              <a:t>DEFAULT constraint </a:t>
            </a:r>
            <a:r>
              <a:rPr lang="en-GB" dirty="0"/>
              <a:t>- Sets </a:t>
            </a:r>
            <a:r>
              <a:rPr lang="en-GB" b="1" dirty="0">
                <a:solidFill>
                  <a:srgbClr val="0E47A1"/>
                </a:solidFill>
              </a:rPr>
              <a:t>a default value </a:t>
            </a:r>
            <a:r>
              <a:rPr lang="en-GB" dirty="0"/>
              <a:t>for a column if no value is specified</a:t>
            </a:r>
          </a:p>
        </p:txBody>
      </p:sp>
    </p:spTree>
    <p:extLst>
      <p:ext uri="{BB962C8B-B14F-4D97-AF65-F5344CB8AC3E}">
        <p14:creationId xmlns:p14="http://schemas.microsoft.com/office/powerpoint/2010/main" val="384617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NOT NULL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By default, a column can hold NULL values.</a:t>
            </a:r>
          </a:p>
          <a:p>
            <a:r>
              <a:rPr lang="en-GB" dirty="0"/>
              <a:t>The NOT NULL constraint </a:t>
            </a:r>
            <a:r>
              <a:rPr lang="en-GB" b="1" dirty="0">
                <a:solidFill>
                  <a:srgbClr val="C00000"/>
                </a:solidFill>
              </a:rPr>
              <a:t>enforces a column to NOT accept NULL values</a:t>
            </a:r>
            <a:r>
              <a:rPr lang="en-GB" dirty="0"/>
              <a:t>.</a:t>
            </a:r>
          </a:p>
          <a:p>
            <a:r>
              <a:rPr lang="en-GB" dirty="0"/>
              <a:t>This enforces a field to always contain a value, which means that you cannot insert a new record, or update a record without adding a value to this field.</a:t>
            </a:r>
          </a:p>
          <a:p>
            <a:r>
              <a:rPr lang="en-GB" dirty="0">
                <a:solidFill>
                  <a:prstClr val="black"/>
                </a:solidFill>
              </a:rPr>
              <a:t>Example: Create a table “Person” in which "ID", "</a:t>
            </a:r>
            <a:r>
              <a:rPr lang="en-GB" dirty="0" err="1">
                <a:solidFill>
                  <a:prstClr val="black"/>
                </a:solidFill>
              </a:rPr>
              <a:t>LastName</a:t>
            </a:r>
            <a:r>
              <a:rPr lang="en-GB" dirty="0">
                <a:solidFill>
                  <a:prstClr val="black"/>
                </a:solidFill>
              </a:rPr>
              <a:t>", and "</a:t>
            </a:r>
            <a:r>
              <a:rPr lang="en-GB" dirty="0" err="1">
                <a:solidFill>
                  <a:prstClr val="black"/>
                </a:solidFill>
              </a:rPr>
              <a:t>FirstName</a:t>
            </a:r>
            <a:r>
              <a:rPr lang="en-GB" dirty="0">
                <a:solidFill>
                  <a:prstClr val="black"/>
                </a:solidFill>
              </a:rPr>
              <a:t>" columns will NOT accept NULL values.</a:t>
            </a:r>
            <a:endParaRPr lang="en-GB" dirty="0"/>
          </a:p>
          <a:p>
            <a:endParaRPr lang="en-GB" dirty="0"/>
          </a:p>
          <a:p>
            <a:endParaRPr lang="en-GB" dirty="0"/>
          </a:p>
          <a:p>
            <a:endParaRPr lang="en-GB" dirty="0"/>
          </a:p>
          <a:p>
            <a:r>
              <a:rPr lang="en-GB" dirty="0"/>
              <a:t>Example: Create a NOT NULL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554879"/>
            <a:ext cx="3960000" cy="1169551"/>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3225695"/>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738318"/>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ALTER COLUMN </a:t>
            </a:r>
            <a:r>
              <a:rPr lang="en-GB" sz="1400" dirty="0">
                <a:solidFill>
                  <a:prstClr val="black"/>
                </a:solidFill>
                <a:latin typeface="Consolas" panose="020B0609020204030204" pitchFamily="49" charset="0"/>
              </a:rPr>
              <a:t>Age</a:t>
            </a:r>
            <a:r>
              <a:rPr lang="en-GB" sz="1400" dirty="0">
                <a:solidFill>
                  <a:srgbClr val="0000FF"/>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srgbClr val="0000FF"/>
                </a:solidFill>
                <a:latin typeface="Consolas" panose="020B0609020204030204" pitchFamily="49" charset="0"/>
              </a:rPr>
              <a:t> NOT NULL</a:t>
            </a:r>
            <a:r>
              <a:rPr lang="en-GB" sz="1400" dirty="0">
                <a:solidFill>
                  <a:prstClr val="black"/>
                </a:solidFill>
                <a:latin typeface="Consolas" panose="020B0609020204030204" pitchFamily="49" charset="0"/>
              </a:rPr>
              <a:t>;</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40913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148800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CHECK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CHECK constraint is used to </a:t>
            </a:r>
            <a:r>
              <a:rPr lang="en-GB" b="1" dirty="0">
                <a:solidFill>
                  <a:srgbClr val="C00000"/>
                </a:solidFill>
              </a:rPr>
              <a:t>limit the value range </a:t>
            </a:r>
            <a:r>
              <a:rPr lang="en-GB" dirty="0"/>
              <a:t>that can be placed in a column.</a:t>
            </a:r>
          </a:p>
          <a:p>
            <a:r>
              <a:rPr lang="en-GB" dirty="0"/>
              <a:t>If you define a CHECK constraint on a column it will allow only certain values for this column.</a:t>
            </a:r>
          </a:p>
          <a:p>
            <a:r>
              <a:rPr lang="en-GB" dirty="0">
                <a:solidFill>
                  <a:prstClr val="black"/>
                </a:solidFill>
              </a:rPr>
              <a:t>Example: Create a table “Person” with </a:t>
            </a:r>
            <a:r>
              <a:rPr lang="en-GB" dirty="0"/>
              <a:t>CHECK constraint on the "Age" column. The CHECK constraint ensures that the age of a person must be 18, or older:</a:t>
            </a:r>
          </a:p>
          <a:p>
            <a:endParaRPr lang="en-GB" dirty="0"/>
          </a:p>
          <a:p>
            <a:endParaRPr lang="en-GB" dirty="0"/>
          </a:p>
          <a:p>
            <a:pPr marL="0" indent="0">
              <a:buNone/>
            </a:pPr>
            <a:endParaRPr lang="en-GB" dirty="0"/>
          </a:p>
          <a:p>
            <a:endParaRPr lang="en-GB" dirty="0"/>
          </a:p>
          <a:p>
            <a:r>
              <a:rPr lang="en-GB" dirty="0"/>
              <a:t>Example: Create a CHECK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2789950"/>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CHECK</a:t>
            </a:r>
            <a:r>
              <a:rPr lang="en-GB" sz="1400" dirty="0">
                <a:solidFill>
                  <a:prstClr val="black"/>
                </a:solidFill>
                <a:latin typeface="Consolas" panose="020B0609020204030204" pitchFamily="49" charset="0"/>
              </a:rPr>
              <a:t> (Age&gt;=18)</a:t>
            </a: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46076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430590"/>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CHECK </a:t>
            </a:r>
            <a:r>
              <a:rPr lang="en-GB" sz="1400" dirty="0">
                <a:solidFill>
                  <a:prstClr val="black"/>
                </a:solidFill>
                <a:latin typeface="Consolas" panose="020B0609020204030204" pitchFamily="49" charset="0"/>
              </a:rPr>
              <a:t>(Age&gt;=18);</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10140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214777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DEFAULT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DEFAULT constraint is used to </a:t>
            </a:r>
            <a:r>
              <a:rPr lang="en-GB" b="1" dirty="0">
                <a:solidFill>
                  <a:srgbClr val="C00000"/>
                </a:solidFill>
              </a:rPr>
              <a:t>set a default value </a:t>
            </a:r>
            <a:r>
              <a:rPr lang="en-GB" dirty="0"/>
              <a:t>for a column.</a:t>
            </a:r>
          </a:p>
          <a:p>
            <a:r>
              <a:rPr lang="en-GB" dirty="0"/>
              <a:t>The default value will be added to all new records, if no other value is specified.</a:t>
            </a:r>
          </a:p>
          <a:p>
            <a:r>
              <a:rPr lang="en-GB" dirty="0">
                <a:solidFill>
                  <a:prstClr val="black"/>
                </a:solidFill>
              </a:rPr>
              <a:t>Example: Create a table “Person” with </a:t>
            </a:r>
            <a:r>
              <a:rPr lang="en-GB" dirty="0"/>
              <a:t>DEFAULT constraint on the "Age" column. The DEFAULT constraint will insert default age of a person as 18:</a:t>
            </a:r>
          </a:p>
          <a:p>
            <a:endParaRPr lang="en-GB" dirty="0"/>
          </a:p>
          <a:p>
            <a:endParaRPr lang="en-GB" dirty="0"/>
          </a:p>
          <a:p>
            <a:pPr marL="0" indent="0">
              <a:buNone/>
            </a:pPr>
            <a:endParaRPr lang="en-GB" dirty="0"/>
          </a:p>
          <a:p>
            <a:endParaRPr lang="en-GB" dirty="0"/>
          </a:p>
          <a:p>
            <a:r>
              <a:rPr lang="en-GB" dirty="0"/>
              <a:t>Example: Create a DEFAULT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2789950"/>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DEFAULT</a:t>
            </a:r>
            <a:r>
              <a:rPr lang="en-GB" sz="1400" dirty="0">
                <a:solidFill>
                  <a:prstClr val="black"/>
                </a:solidFill>
                <a:latin typeface="Consolas" panose="020B0609020204030204" pitchFamily="49" charset="0"/>
              </a:rPr>
              <a:t> 18</a:t>
            </a: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46076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430590"/>
            <a:ext cx="3960000" cy="738664"/>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df_Age</a:t>
            </a:r>
            <a:endParaRPr lang="en-GB" sz="1400" dirty="0">
              <a:solidFill>
                <a:prstClr val="black"/>
              </a:solidFill>
              <a:latin typeface="Consolas" panose="020B0609020204030204" pitchFamily="49" charset="0"/>
            </a:endParaRPr>
          </a:p>
          <a:p>
            <a:r>
              <a:rPr lang="en-GB" sz="1400" dirty="0">
                <a:solidFill>
                  <a:srgbClr val="0000FF"/>
                </a:solidFill>
                <a:latin typeface="Consolas" panose="020B0609020204030204" pitchFamily="49" charset="0"/>
              </a:rPr>
              <a:t>DEFAULT</a:t>
            </a:r>
            <a:r>
              <a:rPr lang="en-GB" sz="1400" dirty="0">
                <a:solidFill>
                  <a:prstClr val="black"/>
                </a:solidFill>
                <a:latin typeface="Consolas" panose="020B0609020204030204" pitchFamily="49" charset="0"/>
              </a:rPr>
              <a:t> 18 FOR Age;</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10140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161585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UNIQUE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UNIQUE constraint </a:t>
            </a:r>
            <a:r>
              <a:rPr lang="en-GB" b="1" dirty="0">
                <a:solidFill>
                  <a:schemeClr val="tx2">
                    <a:lumMod val="75000"/>
                  </a:schemeClr>
                </a:solidFill>
              </a:rPr>
              <a:t>ensures that all values in a column are different/Unique</a:t>
            </a:r>
            <a:r>
              <a:rPr lang="en-GB" dirty="0"/>
              <a:t>.</a:t>
            </a:r>
          </a:p>
          <a:p>
            <a:r>
              <a:rPr lang="en-GB" dirty="0"/>
              <a:t>Both the UNIQUE KEY and PRIMARY KEY constraints provide a guarantee for uniqueness for a column or set of columns.</a:t>
            </a:r>
          </a:p>
          <a:p>
            <a:r>
              <a:rPr lang="en-GB" dirty="0"/>
              <a:t>However, you can have many UNIQUE KEY per table, but only one PRIMARY KEY per table.</a:t>
            </a:r>
          </a:p>
          <a:p>
            <a:r>
              <a:rPr lang="en-GB" dirty="0">
                <a:solidFill>
                  <a:prstClr val="black"/>
                </a:solidFill>
              </a:rPr>
              <a:t>Example: Create a table “Person” with </a:t>
            </a:r>
            <a:r>
              <a:rPr lang="en-GB" dirty="0"/>
              <a:t>UNIQUE KEY on the "ID" column:</a:t>
            </a:r>
          </a:p>
          <a:p>
            <a:endParaRPr lang="en-GB" dirty="0"/>
          </a:p>
          <a:p>
            <a:endParaRPr lang="en-GB" dirty="0"/>
          </a:p>
          <a:p>
            <a:pPr marL="0" indent="0">
              <a:buNone/>
            </a:pPr>
            <a:endParaRPr lang="en-GB" dirty="0"/>
          </a:p>
          <a:p>
            <a:pPr marL="0" indent="0">
              <a:buNone/>
            </a:pPr>
            <a:endParaRPr lang="en-GB" dirty="0"/>
          </a:p>
          <a:p>
            <a:endParaRPr lang="en-GB" dirty="0"/>
          </a:p>
          <a:p>
            <a:r>
              <a:rPr lang="en-GB" dirty="0"/>
              <a:t>Example: Create a UNIQUE KEY on the “ID"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273528"/>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UNIQUE</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endParaRPr lang="en-GB" sz="1400" dirty="0">
              <a:solidFill>
                <a:prstClr val="black"/>
              </a:solidFill>
              <a:latin typeface="Consolas" panose="020B0609020204030204" pitchFamily="49" charset="0"/>
            </a:endParaRP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990073"/>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UNIQUE</a:t>
            </a:r>
            <a:r>
              <a:rPr lang="en-GB" sz="1400" dirty="0">
                <a:solidFill>
                  <a:prstClr val="black"/>
                </a:solidFill>
                <a:latin typeface="Consolas" panose="020B0609020204030204" pitchFamily="49" charset="0"/>
              </a:rPr>
              <a:t> (ID);</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8" name="Rectangle 7">
            <a:extLst>
              <a:ext uri="{FF2B5EF4-FFF2-40B4-BE49-F238E27FC236}">
                <a16:creationId xmlns:a16="http://schemas.microsoft.com/office/drawing/2014/main" id="{C4A6F3DF-2EB8-43CF-3795-79063F5A0067}"/>
              </a:ext>
            </a:extLst>
          </p:cNvPr>
          <p:cNvSpPr/>
          <p:nvPr/>
        </p:nvSpPr>
        <p:spPr>
          <a:xfrm>
            <a:off x="5107498" y="3273528"/>
            <a:ext cx="4860000" cy="1815882"/>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a:p>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UC_Person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UNIQUE</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p>
        </p:txBody>
      </p:sp>
      <p:sp>
        <p:nvSpPr>
          <p:cNvPr id="9" name="Rectangle: Top Corners Rounded 6">
            <a:extLst>
              <a:ext uri="{FF2B5EF4-FFF2-40B4-BE49-F238E27FC236}">
                <a16:creationId xmlns:a16="http://schemas.microsoft.com/office/drawing/2014/main" id="{72A86601-7B9C-F9F6-5604-2455DAE19E61}"/>
              </a:ext>
            </a:extLst>
          </p:cNvPr>
          <p:cNvSpPr/>
          <p:nvPr/>
        </p:nvSpPr>
        <p:spPr>
          <a:xfrm>
            <a:off x="5107501"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0" name="Rectangle 9">
            <a:extLst>
              <a:ext uri="{FF2B5EF4-FFF2-40B4-BE49-F238E27FC236}">
                <a16:creationId xmlns:a16="http://schemas.microsoft.com/office/drawing/2014/main" id="{C4A6F3DF-2EB8-43CF-3795-79063F5A0067}"/>
              </a:ext>
            </a:extLst>
          </p:cNvPr>
          <p:cNvSpPr/>
          <p:nvPr/>
        </p:nvSpPr>
        <p:spPr>
          <a:xfrm>
            <a:off x="5107498" y="5990073"/>
            <a:ext cx="500469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 </a:t>
            </a:r>
            <a:r>
              <a:rPr lang="en-GB" sz="1400" dirty="0" err="1">
                <a:solidFill>
                  <a:prstClr val="black"/>
                </a:solidFill>
                <a:latin typeface="Consolas" panose="020B0609020204030204" pitchFamily="49" charset="0"/>
              </a:rPr>
              <a:t>UC_Persons</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UNIQUE</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5107501"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2" name="Rectangle: Top Corners Rounded 6">
            <a:extLst>
              <a:ext uri="{FF2B5EF4-FFF2-40B4-BE49-F238E27FC236}">
                <a16:creationId xmlns:a16="http://schemas.microsoft.com/office/drawing/2014/main" id="{72A86601-7B9C-F9F6-5604-2455DAE19E61}"/>
              </a:ext>
            </a:extLst>
          </p:cNvPr>
          <p:cNvSpPr/>
          <p:nvPr/>
        </p:nvSpPr>
        <p:spPr>
          <a:xfrm>
            <a:off x="6975485" y="2944344"/>
            <a:ext cx="299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UNIQUE KEY on multiple columns</a:t>
            </a:r>
            <a:endParaRPr lang="en-US" sz="1600" dirty="0">
              <a:solidFill>
                <a:schemeClr val="bg1"/>
              </a:solidFill>
            </a:endParaRPr>
          </a:p>
        </p:txBody>
      </p:sp>
      <p:sp>
        <p:nvSpPr>
          <p:cNvPr id="13" name="Rectangle: Top Corners Rounded 6">
            <a:extLst>
              <a:ext uri="{FF2B5EF4-FFF2-40B4-BE49-F238E27FC236}">
                <a16:creationId xmlns:a16="http://schemas.microsoft.com/office/drawing/2014/main" id="{72A86601-7B9C-F9F6-5604-2455DAE19E61}"/>
              </a:ext>
            </a:extLst>
          </p:cNvPr>
          <p:cNvSpPr/>
          <p:nvPr/>
        </p:nvSpPr>
        <p:spPr>
          <a:xfrm>
            <a:off x="6975485" y="5660889"/>
            <a:ext cx="299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UNIQUE KEY on multiple columns</a:t>
            </a:r>
            <a:endParaRPr lang="en-US" sz="1600" dirty="0">
              <a:solidFill>
                <a:schemeClr val="bg1"/>
              </a:solidFill>
            </a:endParaRPr>
          </a:p>
        </p:txBody>
      </p:sp>
    </p:spTree>
    <p:extLst>
      <p:ext uri="{BB962C8B-B14F-4D97-AF65-F5344CB8AC3E}">
        <p14:creationId xmlns:p14="http://schemas.microsoft.com/office/powerpoint/2010/main" val="409910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8" grpId="0" animBg="1"/>
      <p:bldP spid="9" grpId="0" animBg="1"/>
      <p:bldP spid="10" grpId="0" animBg="1"/>
      <p:bldP spid="11" grpId="0" animBg="1"/>
      <p:bldP spid="12" grpId="0" animBg="1"/>
      <p:bldP spid="1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PRIMARY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PRIMARY KEY constraint </a:t>
            </a:r>
            <a:r>
              <a:rPr lang="en-GB" b="1" dirty="0">
                <a:solidFill>
                  <a:schemeClr val="tx2">
                    <a:lumMod val="75000"/>
                  </a:schemeClr>
                </a:solidFill>
              </a:rPr>
              <a:t>uniquely identifies each record in a table</a:t>
            </a:r>
            <a:r>
              <a:rPr lang="en-GB" dirty="0"/>
              <a:t>.</a:t>
            </a:r>
          </a:p>
          <a:p>
            <a:r>
              <a:rPr lang="en-GB" dirty="0"/>
              <a:t>Primary keys must contain </a:t>
            </a:r>
            <a:r>
              <a:rPr lang="en-GB" b="1" dirty="0">
                <a:solidFill>
                  <a:schemeClr val="tx2">
                    <a:lumMod val="75000"/>
                  </a:schemeClr>
                </a:solidFill>
              </a:rPr>
              <a:t>UNIQUE values</a:t>
            </a:r>
            <a:r>
              <a:rPr lang="en-GB" dirty="0"/>
              <a:t>, and </a:t>
            </a:r>
            <a:r>
              <a:rPr lang="en-GB" b="1" dirty="0">
                <a:solidFill>
                  <a:schemeClr val="tx2">
                    <a:lumMod val="75000"/>
                  </a:schemeClr>
                </a:solidFill>
              </a:rPr>
              <a:t>cannot contain NULL values</a:t>
            </a:r>
            <a:r>
              <a:rPr lang="en-GB" dirty="0"/>
              <a:t>.</a:t>
            </a:r>
          </a:p>
          <a:p>
            <a:r>
              <a:rPr lang="en-GB" dirty="0"/>
              <a:t>A table can have only </a:t>
            </a:r>
            <a:r>
              <a:rPr lang="en-GB" b="1" dirty="0">
                <a:solidFill>
                  <a:schemeClr val="tx2">
                    <a:lumMod val="75000"/>
                  </a:schemeClr>
                </a:solidFill>
              </a:rPr>
              <a:t>ONE primary key</a:t>
            </a:r>
            <a:r>
              <a:rPr lang="en-GB" dirty="0"/>
              <a:t>; and in the table, this </a:t>
            </a:r>
            <a:r>
              <a:rPr lang="en-GB" b="1" dirty="0">
                <a:solidFill>
                  <a:schemeClr val="tx2">
                    <a:lumMod val="75000"/>
                  </a:schemeClr>
                </a:solidFill>
              </a:rPr>
              <a:t>primary key can consist of single or multiple columns</a:t>
            </a:r>
            <a:r>
              <a:rPr lang="en-GB" dirty="0"/>
              <a:t> (fields).</a:t>
            </a:r>
          </a:p>
          <a:p>
            <a:r>
              <a:rPr lang="en-GB" dirty="0">
                <a:solidFill>
                  <a:prstClr val="black"/>
                </a:solidFill>
              </a:rPr>
              <a:t>Example: Create a table “Person” with </a:t>
            </a:r>
            <a:r>
              <a:rPr lang="en-GB" dirty="0"/>
              <a:t>PRIMARY KEY on the "ID" column:</a:t>
            </a:r>
          </a:p>
          <a:p>
            <a:endParaRPr lang="en-GB" dirty="0"/>
          </a:p>
          <a:p>
            <a:endParaRPr lang="en-GB" dirty="0"/>
          </a:p>
          <a:p>
            <a:pPr marL="0" indent="0">
              <a:buNone/>
            </a:pPr>
            <a:endParaRPr lang="en-GB" dirty="0"/>
          </a:p>
          <a:p>
            <a:pPr marL="0" indent="0">
              <a:buNone/>
            </a:pPr>
            <a:endParaRPr lang="en-GB" dirty="0"/>
          </a:p>
          <a:p>
            <a:r>
              <a:rPr lang="en-GB" dirty="0"/>
              <a:t>Example: Create a PRIMARY KEY on the “ID"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273528"/>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PRIMARY KEY</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endParaRPr lang="en-GB" sz="1400" dirty="0">
              <a:solidFill>
                <a:prstClr val="black"/>
              </a:solidFill>
              <a:latin typeface="Consolas" panose="020B0609020204030204" pitchFamily="49" charset="0"/>
            </a:endParaRP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990073"/>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PRIMARY KEY</a:t>
            </a:r>
            <a:r>
              <a:rPr lang="en-GB" sz="1400" dirty="0">
                <a:solidFill>
                  <a:prstClr val="black"/>
                </a:solidFill>
                <a:latin typeface="Consolas" panose="020B0609020204030204" pitchFamily="49" charset="0"/>
              </a:rPr>
              <a:t> (ID);</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8" name="Rectangle 7">
            <a:extLst>
              <a:ext uri="{FF2B5EF4-FFF2-40B4-BE49-F238E27FC236}">
                <a16:creationId xmlns:a16="http://schemas.microsoft.com/office/drawing/2014/main" id="{C4A6F3DF-2EB8-43CF-3795-79063F5A0067}"/>
              </a:ext>
            </a:extLst>
          </p:cNvPr>
          <p:cNvSpPr/>
          <p:nvPr/>
        </p:nvSpPr>
        <p:spPr>
          <a:xfrm>
            <a:off x="4939545" y="3273528"/>
            <a:ext cx="5540196"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a:p>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PK_Person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PRIMARY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 );</a:t>
            </a:r>
          </a:p>
        </p:txBody>
      </p:sp>
      <p:sp>
        <p:nvSpPr>
          <p:cNvPr id="9" name="Rectangle: Top Corners Rounded 6">
            <a:extLst>
              <a:ext uri="{FF2B5EF4-FFF2-40B4-BE49-F238E27FC236}">
                <a16:creationId xmlns:a16="http://schemas.microsoft.com/office/drawing/2014/main" id="{72A86601-7B9C-F9F6-5604-2455DAE19E61}"/>
              </a:ext>
            </a:extLst>
          </p:cNvPr>
          <p:cNvSpPr/>
          <p:nvPr/>
        </p:nvSpPr>
        <p:spPr>
          <a:xfrm>
            <a:off x="4939548"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0" name="Rectangle 9">
            <a:extLst>
              <a:ext uri="{FF2B5EF4-FFF2-40B4-BE49-F238E27FC236}">
                <a16:creationId xmlns:a16="http://schemas.microsoft.com/office/drawing/2014/main" id="{C4A6F3DF-2EB8-43CF-3795-79063F5A0067}"/>
              </a:ext>
            </a:extLst>
          </p:cNvPr>
          <p:cNvSpPr/>
          <p:nvPr/>
        </p:nvSpPr>
        <p:spPr>
          <a:xfrm>
            <a:off x="4939545" y="5990073"/>
            <a:ext cx="5328000" cy="52200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 </a:t>
            </a:r>
            <a:r>
              <a:rPr lang="en-GB" sz="1400" dirty="0" err="1">
                <a:solidFill>
                  <a:prstClr val="black"/>
                </a:solidFill>
                <a:latin typeface="Consolas" panose="020B0609020204030204" pitchFamily="49" charset="0"/>
              </a:rPr>
              <a:t>PK_Person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PRIMARY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4939548"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2" name="Rectangle: Top Corners Rounded 6">
            <a:extLst>
              <a:ext uri="{FF2B5EF4-FFF2-40B4-BE49-F238E27FC236}">
                <a16:creationId xmlns:a16="http://schemas.microsoft.com/office/drawing/2014/main" id="{72A86601-7B9C-F9F6-5604-2455DAE19E61}"/>
              </a:ext>
            </a:extLst>
          </p:cNvPr>
          <p:cNvSpPr/>
          <p:nvPr/>
        </p:nvSpPr>
        <p:spPr>
          <a:xfrm>
            <a:off x="6915532" y="2944344"/>
            <a:ext cx="335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PRIMARY KEY on multiple columns</a:t>
            </a:r>
            <a:endParaRPr lang="en-US" sz="1600" dirty="0">
              <a:solidFill>
                <a:schemeClr val="bg1"/>
              </a:solidFill>
            </a:endParaRPr>
          </a:p>
        </p:txBody>
      </p:sp>
      <p:sp>
        <p:nvSpPr>
          <p:cNvPr id="13" name="Rectangle: Top Corners Rounded 6">
            <a:extLst>
              <a:ext uri="{FF2B5EF4-FFF2-40B4-BE49-F238E27FC236}">
                <a16:creationId xmlns:a16="http://schemas.microsoft.com/office/drawing/2014/main" id="{72A86601-7B9C-F9F6-5604-2455DAE19E61}"/>
              </a:ext>
            </a:extLst>
          </p:cNvPr>
          <p:cNvSpPr/>
          <p:nvPr/>
        </p:nvSpPr>
        <p:spPr>
          <a:xfrm>
            <a:off x="6915532" y="5660889"/>
            <a:ext cx="335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PRIMARY KEY on multiple columns</a:t>
            </a:r>
            <a:endParaRPr lang="en-US" sz="1600" dirty="0">
              <a:solidFill>
                <a:schemeClr val="bg1"/>
              </a:solidFill>
            </a:endParaRPr>
          </a:p>
        </p:txBody>
      </p:sp>
    </p:spTree>
    <p:extLst>
      <p:ext uri="{BB962C8B-B14F-4D97-AF65-F5344CB8AC3E}">
        <p14:creationId xmlns:p14="http://schemas.microsoft.com/office/powerpoint/2010/main" val="21473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8" grpId="0" animBg="1"/>
      <p:bldP spid="9" grpId="0" animBg="1"/>
      <p:bldP spid="10" grpId="0" animBg="1"/>
      <p:bldP spid="11" grpId="0" animBg="1"/>
      <p:bldP spid="12" grpId="0" animBg="1"/>
      <p:bldP spid="1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FOREIGN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FOREIGN KEY constraint is used to </a:t>
            </a:r>
            <a:r>
              <a:rPr lang="en-GB" b="1" dirty="0">
                <a:solidFill>
                  <a:schemeClr val="tx2">
                    <a:lumMod val="75000"/>
                  </a:schemeClr>
                </a:solidFill>
              </a:rPr>
              <a:t>prevent actions that would destroy links between tables</a:t>
            </a:r>
            <a:r>
              <a:rPr lang="en-GB" dirty="0"/>
              <a:t>.</a:t>
            </a:r>
          </a:p>
          <a:p>
            <a:r>
              <a:rPr lang="en-GB" dirty="0"/>
              <a:t>A FOREIGN KEY is a </a:t>
            </a:r>
            <a:r>
              <a:rPr lang="en-GB" b="1" dirty="0">
                <a:solidFill>
                  <a:schemeClr val="tx2">
                    <a:lumMod val="75000"/>
                  </a:schemeClr>
                </a:solidFill>
              </a:rPr>
              <a:t>field (or collection of fields) in one table, that refers to the PRIMARY KEY in another table</a:t>
            </a:r>
            <a:r>
              <a:rPr lang="en-GB" dirty="0"/>
              <a:t>.</a:t>
            </a:r>
          </a:p>
          <a:p>
            <a:r>
              <a:rPr lang="en-GB" dirty="0"/>
              <a:t>The table with the foreign key is called the child table, and the table with the primary key is called the referenced or parent table.</a:t>
            </a:r>
          </a:p>
          <a:p>
            <a:r>
              <a:rPr lang="en-GB" dirty="0">
                <a:solidFill>
                  <a:prstClr val="black"/>
                </a:solidFill>
              </a:rPr>
              <a:t>Example: Create a table “Order” with </a:t>
            </a:r>
            <a:r>
              <a:rPr lang="en-GB" dirty="0"/>
              <a:t>FOREIGN KEY on the “Person ID" column:</a:t>
            </a:r>
          </a:p>
          <a:p>
            <a:endParaRPr lang="en-GB" dirty="0"/>
          </a:p>
          <a:p>
            <a:endParaRPr lang="en-GB" dirty="0"/>
          </a:p>
          <a:p>
            <a:pPr marL="0" indent="0">
              <a:buNone/>
            </a:pPr>
            <a:endParaRPr lang="en-GB" dirty="0"/>
          </a:p>
          <a:p>
            <a:r>
              <a:rPr lang="en-GB" dirty="0"/>
              <a:t>Example: Create a FOREIGN KEY on the “ID" column when the “Order"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5" y="3880019"/>
            <a:ext cx="5796000" cy="1169551"/>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Orders (</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OrderID</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PRIMARY KEY</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OrderNo</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srgbClr val="0000FF"/>
                </a:solidFill>
                <a:latin typeface="Consolas" panose="020B0609020204030204" pitchFamily="49" charset="0"/>
              </a:rPr>
              <a:t> 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FOREIGN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KEY</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REFERENCES</a:t>
            </a:r>
            <a:r>
              <a:rPr lang="en-GB" sz="1400" dirty="0">
                <a:solidFill>
                  <a:prstClr val="black"/>
                </a:solidFill>
                <a:latin typeface="Consolas" panose="020B0609020204030204" pitchFamily="49" charset="0"/>
              </a:rPr>
              <a:t> Persons(</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3550835"/>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803453"/>
            <a:ext cx="5796000" cy="52200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Orders</a:t>
            </a:r>
          </a:p>
          <a:p>
            <a:r>
              <a:rPr lang="en-GB" sz="1400" dirty="0">
                <a:solidFill>
                  <a:srgbClr val="0000FF"/>
                </a:solidFill>
                <a:latin typeface="Consolas" panose="020B0609020204030204" pitchFamily="49" charset="0"/>
              </a:rPr>
              <a:t>ADD FOREIGN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REFERENCES</a:t>
            </a:r>
            <a:r>
              <a:rPr lang="en-GB" sz="1400" dirty="0">
                <a:solidFill>
                  <a:prstClr val="black"/>
                </a:solidFill>
                <a:latin typeface="Consolas" panose="020B0609020204030204" pitchFamily="49" charset="0"/>
              </a:rPr>
              <a:t> Persons(</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47426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389079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DD04E-D742-4A18-CC02-4E15FA796355}"/>
              </a:ext>
            </a:extLst>
          </p:cNvPr>
          <p:cNvSpPr>
            <a:spLocks noGrp="1"/>
          </p:cNvSpPr>
          <p:nvPr>
            <p:ph type="title"/>
          </p:nvPr>
        </p:nvSpPr>
        <p:spPr/>
        <p:txBody>
          <a:bodyPr/>
          <a:lstStyle/>
          <a:p>
            <a:r>
              <a:rPr lang="en-US" dirty="0"/>
              <a:t>Joins</a:t>
            </a:r>
            <a:endParaRPr lang="en-IN" dirty="0"/>
          </a:p>
        </p:txBody>
      </p:sp>
      <p:sp>
        <p:nvSpPr>
          <p:cNvPr id="3" name="Text Placeholder 2">
            <a:extLst>
              <a:ext uri="{FF2B5EF4-FFF2-40B4-BE49-F238E27FC236}">
                <a16:creationId xmlns:a16="http://schemas.microsoft.com/office/drawing/2014/main" id="{32892903-3872-9B56-8DB9-113CB0CD67CB}"/>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33853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7"/>
          <p:cNvSpPr/>
          <p:nvPr/>
        </p:nvSpPr>
        <p:spPr>
          <a:xfrm>
            <a:off x="4262623" y="3678861"/>
            <a:ext cx="304296" cy="2496612"/>
          </a:xfrm>
          <a:custGeom>
            <a:avLst/>
            <a:gdLst/>
            <a:ahLst/>
            <a:cxnLst/>
            <a:rect l="0" t="0" r="0" b="0"/>
            <a:pathLst>
              <a:path>
                <a:moveTo>
                  <a:pt x="0" y="0"/>
                </a:moveTo>
                <a:lnTo>
                  <a:pt x="0" y="2407894"/>
                </a:lnTo>
                <a:lnTo>
                  <a:pt x="304296" y="240789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9" name="Freeform 8"/>
          <p:cNvSpPr/>
          <p:nvPr/>
        </p:nvSpPr>
        <p:spPr>
          <a:xfrm>
            <a:off x="4262623" y="3678861"/>
            <a:ext cx="304296" cy="1571562"/>
          </a:xfrm>
          <a:custGeom>
            <a:avLst/>
            <a:gdLst/>
            <a:ahLst/>
            <a:cxnLst/>
            <a:rect l="0" t="0" r="0" b="0"/>
            <a:pathLst>
              <a:path>
                <a:moveTo>
                  <a:pt x="0" y="0"/>
                </a:moveTo>
                <a:lnTo>
                  <a:pt x="0" y="1515716"/>
                </a:lnTo>
                <a:lnTo>
                  <a:pt x="304296" y="1515716"/>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0" name="Freeform 9"/>
          <p:cNvSpPr/>
          <p:nvPr/>
        </p:nvSpPr>
        <p:spPr>
          <a:xfrm>
            <a:off x="4262623" y="3678861"/>
            <a:ext cx="304296" cy="646513"/>
          </a:xfrm>
          <a:custGeom>
            <a:avLst/>
            <a:gdLst/>
            <a:ahLst/>
            <a:cxnLst/>
            <a:rect l="0" t="0" r="0" b="0"/>
            <a:pathLst>
              <a:path>
                <a:moveTo>
                  <a:pt x="0" y="0"/>
                </a:moveTo>
                <a:lnTo>
                  <a:pt x="0" y="623539"/>
                </a:lnTo>
                <a:lnTo>
                  <a:pt x="304296" y="623539"/>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5" name="Freeform 14"/>
          <p:cNvSpPr/>
          <p:nvPr/>
        </p:nvSpPr>
        <p:spPr>
          <a:xfrm>
            <a:off x="4627346" y="1558615"/>
            <a:ext cx="2937308" cy="876135"/>
          </a:xfrm>
          <a:custGeom>
            <a:avLst/>
            <a:gdLst>
              <a:gd name="connsiteX0" fmla="*/ 0 w 2937308"/>
              <a:gd name="connsiteY0" fmla="*/ 0 h 845001"/>
              <a:gd name="connsiteX1" fmla="*/ 2937308 w 2937308"/>
              <a:gd name="connsiteY1" fmla="*/ 0 h 845001"/>
              <a:gd name="connsiteX2" fmla="*/ 2937308 w 2937308"/>
              <a:gd name="connsiteY2" fmla="*/ 845001 h 845001"/>
              <a:gd name="connsiteX3" fmla="*/ 0 w 2937308"/>
              <a:gd name="connsiteY3" fmla="*/ 845001 h 845001"/>
              <a:gd name="connsiteX4" fmla="*/ 0 w 2937308"/>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7308" h="845001">
                <a:moveTo>
                  <a:pt x="0" y="0"/>
                </a:moveTo>
                <a:lnTo>
                  <a:pt x="2937308" y="0"/>
                </a:lnTo>
                <a:lnTo>
                  <a:pt x="2937308" y="845001"/>
                </a:lnTo>
                <a:lnTo>
                  <a:pt x="0" y="845001"/>
                </a:lnTo>
                <a:lnTo>
                  <a:pt x="0" y="0"/>
                </a:lnTo>
                <a:close/>
              </a:path>
            </a:pathLst>
          </a:custGeom>
          <a:solidFill>
            <a:schemeClr val="tx2">
              <a:lumMod val="60000"/>
              <a:lumOff val="40000"/>
            </a:schemeClr>
          </a:solidFill>
          <a:ln>
            <a:solidFill>
              <a:schemeClr val="tx2">
                <a:lumMod val="50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1" kern="1200" dirty="0">
                <a:solidFill>
                  <a:schemeClr val="tx1"/>
                </a:solidFill>
              </a:rPr>
              <a:t>Types of Join</a:t>
            </a:r>
            <a:endParaRPr lang="en-US" sz="2200" kern="1200" dirty="0"/>
          </a:p>
        </p:txBody>
      </p:sp>
      <p:sp>
        <p:nvSpPr>
          <p:cNvPr id="16" name="Freeform 15"/>
          <p:cNvSpPr/>
          <p:nvPr/>
        </p:nvSpPr>
        <p:spPr>
          <a:xfrm>
            <a:off x="2013791" y="2834477"/>
            <a:ext cx="1691066" cy="876135"/>
          </a:xfrm>
          <a:custGeom>
            <a:avLst/>
            <a:gdLst>
              <a:gd name="connsiteX0" fmla="*/ 0 w 1691066"/>
              <a:gd name="connsiteY0" fmla="*/ 0 h 845001"/>
              <a:gd name="connsiteX1" fmla="*/ 1691066 w 1691066"/>
              <a:gd name="connsiteY1" fmla="*/ 0 h 845001"/>
              <a:gd name="connsiteX2" fmla="*/ 1691066 w 1691066"/>
              <a:gd name="connsiteY2" fmla="*/ 845001 h 845001"/>
              <a:gd name="connsiteX3" fmla="*/ 0 w 1691066"/>
              <a:gd name="connsiteY3" fmla="*/ 845001 h 845001"/>
              <a:gd name="connsiteX4" fmla="*/ 0 w 1691066"/>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1066" h="845001">
                <a:moveTo>
                  <a:pt x="0" y="0"/>
                </a:moveTo>
                <a:lnTo>
                  <a:pt x="1691066" y="0"/>
                </a:lnTo>
                <a:lnTo>
                  <a:pt x="1691066"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0" kern="1200" dirty="0">
                <a:solidFill>
                  <a:schemeClr val="tx1"/>
                </a:solidFill>
              </a:rPr>
              <a:t>Inner Join</a:t>
            </a:r>
          </a:p>
        </p:txBody>
      </p:sp>
      <p:sp>
        <p:nvSpPr>
          <p:cNvPr id="19" name="Freeform 18"/>
          <p:cNvSpPr/>
          <p:nvPr/>
        </p:nvSpPr>
        <p:spPr>
          <a:xfrm>
            <a:off x="4059758" y="2834477"/>
            <a:ext cx="2028644" cy="876135"/>
          </a:xfrm>
          <a:custGeom>
            <a:avLst/>
            <a:gdLst>
              <a:gd name="connsiteX0" fmla="*/ 0 w 2028644"/>
              <a:gd name="connsiteY0" fmla="*/ 0 h 845001"/>
              <a:gd name="connsiteX1" fmla="*/ 2028644 w 2028644"/>
              <a:gd name="connsiteY1" fmla="*/ 0 h 845001"/>
              <a:gd name="connsiteX2" fmla="*/ 2028644 w 2028644"/>
              <a:gd name="connsiteY2" fmla="*/ 845001 h 845001"/>
              <a:gd name="connsiteX3" fmla="*/ 0 w 2028644"/>
              <a:gd name="connsiteY3" fmla="*/ 845001 h 845001"/>
              <a:gd name="connsiteX4" fmla="*/ 0 w 2028644"/>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8644" h="845001">
                <a:moveTo>
                  <a:pt x="0" y="0"/>
                </a:moveTo>
                <a:lnTo>
                  <a:pt x="2028644" y="0"/>
                </a:lnTo>
                <a:lnTo>
                  <a:pt x="2028644"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0" kern="1200" dirty="0">
                <a:solidFill>
                  <a:schemeClr val="tx1"/>
                </a:solidFill>
              </a:rPr>
              <a:t>Outer Join</a:t>
            </a:r>
          </a:p>
        </p:txBody>
      </p:sp>
      <p:sp>
        <p:nvSpPr>
          <p:cNvPr id="20" name="Freeform 19"/>
          <p:cNvSpPr/>
          <p:nvPr/>
        </p:nvSpPr>
        <p:spPr>
          <a:xfrm>
            <a:off x="4566920" y="4046838"/>
            <a:ext cx="2132850" cy="557073"/>
          </a:xfrm>
          <a:custGeom>
            <a:avLst/>
            <a:gdLst>
              <a:gd name="connsiteX0" fmla="*/ 0 w 2132850"/>
              <a:gd name="connsiteY0" fmla="*/ 0 h 537277"/>
              <a:gd name="connsiteX1" fmla="*/ 2132850 w 2132850"/>
              <a:gd name="connsiteY1" fmla="*/ 0 h 537277"/>
              <a:gd name="connsiteX2" fmla="*/ 2132850 w 2132850"/>
              <a:gd name="connsiteY2" fmla="*/ 537277 h 537277"/>
              <a:gd name="connsiteX3" fmla="*/ 0 w 2132850"/>
              <a:gd name="connsiteY3" fmla="*/ 537277 h 537277"/>
              <a:gd name="connsiteX4" fmla="*/ 0 w 2132850"/>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2850" h="537277">
                <a:moveTo>
                  <a:pt x="0" y="0"/>
                </a:moveTo>
                <a:lnTo>
                  <a:pt x="2132850" y="0"/>
                </a:lnTo>
                <a:lnTo>
                  <a:pt x="2132850"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solidFill>
                  <a:schemeClr val="tx1"/>
                </a:solidFill>
              </a:rPr>
              <a:t>Left Outer Join</a:t>
            </a:r>
          </a:p>
        </p:txBody>
      </p:sp>
      <p:sp>
        <p:nvSpPr>
          <p:cNvPr id="21" name="Freeform 20"/>
          <p:cNvSpPr/>
          <p:nvPr/>
        </p:nvSpPr>
        <p:spPr>
          <a:xfrm>
            <a:off x="4566920" y="4971887"/>
            <a:ext cx="2094335" cy="557073"/>
          </a:xfrm>
          <a:custGeom>
            <a:avLst/>
            <a:gdLst>
              <a:gd name="connsiteX0" fmla="*/ 0 w 2094335"/>
              <a:gd name="connsiteY0" fmla="*/ 0 h 537277"/>
              <a:gd name="connsiteX1" fmla="*/ 2094335 w 2094335"/>
              <a:gd name="connsiteY1" fmla="*/ 0 h 537277"/>
              <a:gd name="connsiteX2" fmla="*/ 2094335 w 2094335"/>
              <a:gd name="connsiteY2" fmla="*/ 537277 h 537277"/>
              <a:gd name="connsiteX3" fmla="*/ 0 w 2094335"/>
              <a:gd name="connsiteY3" fmla="*/ 537277 h 537277"/>
              <a:gd name="connsiteX4" fmla="*/ 0 w 2094335"/>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4335" h="537277">
                <a:moveTo>
                  <a:pt x="0" y="0"/>
                </a:moveTo>
                <a:lnTo>
                  <a:pt x="2094335" y="0"/>
                </a:lnTo>
                <a:lnTo>
                  <a:pt x="2094335"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solidFill>
                  <a:schemeClr val="tx1"/>
                </a:solidFill>
              </a:rPr>
              <a:t>Right Outer Join</a:t>
            </a:r>
          </a:p>
        </p:txBody>
      </p:sp>
      <p:sp>
        <p:nvSpPr>
          <p:cNvPr id="22" name="Freeform 21"/>
          <p:cNvSpPr/>
          <p:nvPr/>
        </p:nvSpPr>
        <p:spPr>
          <a:xfrm>
            <a:off x="4566920" y="5896936"/>
            <a:ext cx="2055837" cy="557073"/>
          </a:xfrm>
          <a:custGeom>
            <a:avLst/>
            <a:gdLst>
              <a:gd name="connsiteX0" fmla="*/ 0 w 2055837"/>
              <a:gd name="connsiteY0" fmla="*/ 0 h 537277"/>
              <a:gd name="connsiteX1" fmla="*/ 2055837 w 2055837"/>
              <a:gd name="connsiteY1" fmla="*/ 0 h 537277"/>
              <a:gd name="connsiteX2" fmla="*/ 2055837 w 2055837"/>
              <a:gd name="connsiteY2" fmla="*/ 537277 h 537277"/>
              <a:gd name="connsiteX3" fmla="*/ 0 w 2055837"/>
              <a:gd name="connsiteY3" fmla="*/ 537277 h 537277"/>
              <a:gd name="connsiteX4" fmla="*/ 0 w 2055837"/>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5837" h="537277">
                <a:moveTo>
                  <a:pt x="0" y="0"/>
                </a:moveTo>
                <a:lnTo>
                  <a:pt x="2055837" y="0"/>
                </a:lnTo>
                <a:lnTo>
                  <a:pt x="2055837"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solidFill>
                  <a:schemeClr val="tx1"/>
                </a:solidFill>
              </a:rPr>
              <a:t>Full Outer Join</a:t>
            </a:r>
          </a:p>
        </p:txBody>
      </p:sp>
      <p:sp>
        <p:nvSpPr>
          <p:cNvPr id="23" name="Freeform 22"/>
          <p:cNvSpPr/>
          <p:nvPr/>
        </p:nvSpPr>
        <p:spPr>
          <a:xfrm>
            <a:off x="6443303" y="2834477"/>
            <a:ext cx="1690002" cy="876135"/>
          </a:xfrm>
          <a:custGeom>
            <a:avLst/>
            <a:gdLst>
              <a:gd name="connsiteX0" fmla="*/ 0 w 1690002"/>
              <a:gd name="connsiteY0" fmla="*/ 0 h 845001"/>
              <a:gd name="connsiteX1" fmla="*/ 1690002 w 1690002"/>
              <a:gd name="connsiteY1" fmla="*/ 0 h 845001"/>
              <a:gd name="connsiteX2" fmla="*/ 1690002 w 1690002"/>
              <a:gd name="connsiteY2" fmla="*/ 845001 h 845001"/>
              <a:gd name="connsiteX3" fmla="*/ 0 w 1690002"/>
              <a:gd name="connsiteY3" fmla="*/ 845001 h 845001"/>
              <a:gd name="connsiteX4" fmla="*/ 0 w 1690002"/>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002" h="845001">
                <a:moveTo>
                  <a:pt x="0" y="0"/>
                </a:moveTo>
                <a:lnTo>
                  <a:pt x="1690002" y="0"/>
                </a:lnTo>
                <a:lnTo>
                  <a:pt x="1690002"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IN" sz="2200" b="0" kern="1200" dirty="0">
                <a:solidFill>
                  <a:schemeClr val="tx1"/>
                </a:solidFill>
                <a:latin typeface="+mj-lt"/>
                <a:ea typeface="+mn-ea"/>
                <a:cs typeface="+mn-cs"/>
              </a:rPr>
              <a:t>Cross Join</a:t>
            </a:r>
            <a:endParaRPr lang="en-US" sz="2200" b="0" kern="1200" dirty="0">
              <a:solidFill>
                <a:schemeClr val="tx1"/>
              </a:solidFill>
              <a:latin typeface="+mj-lt"/>
              <a:ea typeface="+mn-ea"/>
              <a:cs typeface="+mn-cs"/>
            </a:endParaRPr>
          </a:p>
        </p:txBody>
      </p:sp>
      <p:sp>
        <p:nvSpPr>
          <p:cNvPr id="24" name="Freeform 23"/>
          <p:cNvSpPr/>
          <p:nvPr/>
        </p:nvSpPr>
        <p:spPr>
          <a:xfrm>
            <a:off x="8488207" y="2834477"/>
            <a:ext cx="1690002" cy="876135"/>
          </a:xfrm>
          <a:custGeom>
            <a:avLst/>
            <a:gdLst>
              <a:gd name="connsiteX0" fmla="*/ 0 w 1690002"/>
              <a:gd name="connsiteY0" fmla="*/ 0 h 845001"/>
              <a:gd name="connsiteX1" fmla="*/ 1690002 w 1690002"/>
              <a:gd name="connsiteY1" fmla="*/ 0 h 845001"/>
              <a:gd name="connsiteX2" fmla="*/ 1690002 w 1690002"/>
              <a:gd name="connsiteY2" fmla="*/ 845001 h 845001"/>
              <a:gd name="connsiteX3" fmla="*/ 0 w 1690002"/>
              <a:gd name="connsiteY3" fmla="*/ 845001 h 845001"/>
              <a:gd name="connsiteX4" fmla="*/ 0 w 1690002"/>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002" h="845001">
                <a:moveTo>
                  <a:pt x="0" y="0"/>
                </a:moveTo>
                <a:lnTo>
                  <a:pt x="1690002" y="0"/>
                </a:lnTo>
                <a:lnTo>
                  <a:pt x="1690002"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IN" sz="2200" b="0" kern="1200" dirty="0">
                <a:solidFill>
                  <a:schemeClr val="tx1"/>
                </a:solidFill>
                <a:latin typeface="+mj-lt"/>
                <a:ea typeface="+mn-ea"/>
                <a:cs typeface="+mn-cs"/>
              </a:rPr>
              <a:t>Self Join</a:t>
            </a:r>
            <a:endParaRPr lang="en-US" sz="2200" b="0" kern="1200" dirty="0">
              <a:solidFill>
                <a:schemeClr val="tx1"/>
              </a:solidFill>
              <a:latin typeface="+mj-lt"/>
              <a:ea typeface="+mn-ea"/>
              <a:cs typeface="+mn-cs"/>
            </a:endParaRPr>
          </a:p>
        </p:txBody>
      </p:sp>
      <p:sp>
        <p:nvSpPr>
          <p:cNvPr id="3" name="Content Placeholder 2"/>
          <p:cNvSpPr>
            <a:spLocks noGrp="1"/>
          </p:cNvSpPr>
          <p:nvPr>
            <p:ph idx="1"/>
          </p:nvPr>
        </p:nvSpPr>
        <p:spPr/>
        <p:txBody>
          <a:bodyPr/>
          <a:lstStyle/>
          <a:p>
            <a:r>
              <a:rPr lang="en-US" altLang="en-US" dirty="0"/>
              <a:t>An SQL JOIN clause is used to </a:t>
            </a:r>
            <a:r>
              <a:rPr lang="en-US" altLang="en-US" b="1" dirty="0">
                <a:solidFill>
                  <a:srgbClr val="0E47A1"/>
                </a:solidFill>
              </a:rPr>
              <a:t>combine rows</a:t>
            </a:r>
            <a:r>
              <a:rPr lang="en-US" altLang="en-US" b="1" dirty="0">
                <a:solidFill>
                  <a:schemeClr val="tx2"/>
                </a:solidFill>
              </a:rPr>
              <a:t> </a:t>
            </a:r>
            <a:r>
              <a:rPr lang="en-US" altLang="en-US" dirty="0">
                <a:solidFill>
                  <a:srgbClr val="C00000"/>
                </a:solidFill>
              </a:rPr>
              <a:t>from two or more tables</a:t>
            </a:r>
            <a:r>
              <a:rPr lang="en-US" altLang="en-US" dirty="0"/>
              <a:t>, </a:t>
            </a:r>
            <a:r>
              <a:rPr lang="en-US" altLang="en-US" b="1" dirty="0">
                <a:solidFill>
                  <a:srgbClr val="0E47A1"/>
                </a:solidFill>
              </a:rPr>
              <a:t>based on a common field</a:t>
            </a:r>
            <a:r>
              <a:rPr lang="en-US" altLang="en-US" b="1" dirty="0">
                <a:solidFill>
                  <a:schemeClr val="tx2"/>
                </a:solidFill>
              </a:rPr>
              <a:t> </a:t>
            </a:r>
            <a:r>
              <a:rPr lang="en-US" altLang="en-US" dirty="0"/>
              <a:t>between them.</a:t>
            </a:r>
          </a:p>
          <a:p>
            <a:endParaRPr lang="en-US" dirty="0"/>
          </a:p>
        </p:txBody>
      </p:sp>
      <p:sp>
        <p:nvSpPr>
          <p:cNvPr id="2" name="Title 1"/>
          <p:cNvSpPr>
            <a:spLocks noGrp="1"/>
          </p:cNvSpPr>
          <p:nvPr>
            <p:ph type="title"/>
          </p:nvPr>
        </p:nvSpPr>
        <p:spPr/>
        <p:txBody>
          <a:bodyPr/>
          <a:lstStyle/>
          <a:p>
            <a:r>
              <a:rPr lang="en-US" dirty="0"/>
              <a:t>Joins</a:t>
            </a:r>
          </a:p>
        </p:txBody>
      </p:sp>
      <p:cxnSp>
        <p:nvCxnSpPr>
          <p:cNvPr id="26" name="Straight Connector 25"/>
          <p:cNvCxnSpPr>
            <a:cxnSpLocks/>
          </p:cNvCxnSpPr>
          <p:nvPr/>
        </p:nvCxnSpPr>
        <p:spPr>
          <a:xfrm>
            <a:off x="6088403" y="2434750"/>
            <a:ext cx="0" cy="188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790673" y="2623643"/>
            <a:ext cx="662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790673" y="2623643"/>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147793" y="2623643"/>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7307724" y="2625378"/>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9410718" y="2624743"/>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272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up)">
                                      <p:cBhvr>
                                        <p:cTn id="11" dur="500"/>
                                        <p:tgtEl>
                                          <p:spTgt spid="15"/>
                                        </p:tgtEl>
                                      </p:cBhvr>
                                    </p:animEffect>
                                  </p:childTnLst>
                                </p:cTn>
                              </p:par>
                              <p:par>
                                <p:cTn id="12" presetID="22" presetClass="entr" presetSubtype="1" fill="hold" nodeType="withEffect">
                                  <p:stCondLst>
                                    <p:cond delay="500"/>
                                  </p:stCondLst>
                                  <p:childTnLst>
                                    <p:set>
                                      <p:cBhvr>
                                        <p:cTn id="13" dur="1" fill="hold">
                                          <p:stCondLst>
                                            <p:cond delay="0"/>
                                          </p:stCondLst>
                                        </p:cTn>
                                        <p:tgtEl>
                                          <p:spTgt spid="26"/>
                                        </p:tgtEl>
                                        <p:attrNameLst>
                                          <p:attrName>style.visibility</p:attrName>
                                        </p:attrNameLst>
                                      </p:cBhvr>
                                      <p:to>
                                        <p:strVal val="visible"/>
                                      </p:to>
                                    </p:set>
                                    <p:animEffect transition="in" filter="wipe(up)">
                                      <p:cBhvr>
                                        <p:cTn id="14" dur="500"/>
                                        <p:tgtEl>
                                          <p:spTgt spid="26"/>
                                        </p:tgtEl>
                                      </p:cBhvr>
                                    </p:animEffect>
                                  </p:childTnLst>
                                </p:cTn>
                              </p:par>
                              <p:par>
                                <p:cTn id="15" presetID="22" presetClass="entr" presetSubtype="1" fill="hold" nodeType="withEffect">
                                  <p:stCondLst>
                                    <p:cond delay="500"/>
                                  </p:stCondLst>
                                  <p:childTnLst>
                                    <p:set>
                                      <p:cBhvr>
                                        <p:cTn id="16" dur="1" fill="hold">
                                          <p:stCondLst>
                                            <p:cond delay="0"/>
                                          </p:stCondLst>
                                        </p:cTn>
                                        <p:tgtEl>
                                          <p:spTgt spid="28"/>
                                        </p:tgtEl>
                                        <p:attrNameLst>
                                          <p:attrName>style.visibility</p:attrName>
                                        </p:attrNameLst>
                                      </p:cBhvr>
                                      <p:to>
                                        <p:strVal val="visible"/>
                                      </p:to>
                                    </p:set>
                                    <p:animEffect transition="in" filter="wipe(up)">
                                      <p:cBhvr>
                                        <p:cTn id="17" dur="500"/>
                                        <p:tgtEl>
                                          <p:spTgt spid="28"/>
                                        </p:tgtEl>
                                      </p:cBhvr>
                                    </p:animEffect>
                                  </p:childTnLst>
                                </p:cTn>
                              </p:par>
                              <p:par>
                                <p:cTn id="18" presetID="22" presetClass="entr" presetSubtype="1" fill="hold" nodeType="withEffect">
                                  <p:stCondLst>
                                    <p:cond delay="500"/>
                                  </p:stCondLst>
                                  <p:childTnLst>
                                    <p:set>
                                      <p:cBhvr>
                                        <p:cTn id="19" dur="1" fill="hold">
                                          <p:stCondLst>
                                            <p:cond delay="0"/>
                                          </p:stCondLst>
                                        </p:cTn>
                                        <p:tgtEl>
                                          <p:spTgt spid="30"/>
                                        </p:tgtEl>
                                        <p:attrNameLst>
                                          <p:attrName>style.visibility</p:attrName>
                                        </p:attrNameLst>
                                      </p:cBhvr>
                                      <p:to>
                                        <p:strVal val="visible"/>
                                      </p:to>
                                    </p:set>
                                    <p:animEffect transition="in" filter="wipe(up)">
                                      <p:cBhvr>
                                        <p:cTn id="20" dur="500"/>
                                        <p:tgtEl>
                                          <p:spTgt spid="30"/>
                                        </p:tgtEl>
                                      </p:cBhvr>
                                    </p:animEffect>
                                  </p:childTnLst>
                                </p:cTn>
                              </p:par>
                              <p:par>
                                <p:cTn id="21" presetID="22" presetClass="entr" presetSubtype="1" fill="hold" nodeType="withEffect">
                                  <p:stCondLst>
                                    <p:cond delay="500"/>
                                  </p:stCondLst>
                                  <p:childTnLst>
                                    <p:set>
                                      <p:cBhvr>
                                        <p:cTn id="22" dur="1" fill="hold">
                                          <p:stCondLst>
                                            <p:cond delay="0"/>
                                          </p:stCondLst>
                                        </p:cTn>
                                        <p:tgtEl>
                                          <p:spTgt spid="31"/>
                                        </p:tgtEl>
                                        <p:attrNameLst>
                                          <p:attrName>style.visibility</p:attrName>
                                        </p:attrNameLst>
                                      </p:cBhvr>
                                      <p:to>
                                        <p:strVal val="visible"/>
                                      </p:to>
                                    </p:set>
                                    <p:animEffect transition="in" filter="wipe(up)">
                                      <p:cBhvr>
                                        <p:cTn id="23" dur="500"/>
                                        <p:tgtEl>
                                          <p:spTgt spid="31"/>
                                        </p:tgtEl>
                                      </p:cBhvr>
                                    </p:animEffect>
                                  </p:childTnLst>
                                </p:cTn>
                              </p:par>
                              <p:par>
                                <p:cTn id="24" presetID="22" presetClass="entr" presetSubtype="1" fill="hold" nodeType="withEffect">
                                  <p:stCondLst>
                                    <p:cond delay="500"/>
                                  </p:stCondLst>
                                  <p:childTnLst>
                                    <p:set>
                                      <p:cBhvr>
                                        <p:cTn id="25" dur="1" fill="hold">
                                          <p:stCondLst>
                                            <p:cond delay="0"/>
                                          </p:stCondLst>
                                        </p:cTn>
                                        <p:tgtEl>
                                          <p:spTgt spid="32"/>
                                        </p:tgtEl>
                                        <p:attrNameLst>
                                          <p:attrName>style.visibility</p:attrName>
                                        </p:attrNameLst>
                                      </p:cBhvr>
                                      <p:to>
                                        <p:strVal val="visible"/>
                                      </p:to>
                                    </p:set>
                                    <p:animEffect transition="in" filter="wipe(up)">
                                      <p:cBhvr>
                                        <p:cTn id="26" dur="500"/>
                                        <p:tgtEl>
                                          <p:spTgt spid="32"/>
                                        </p:tgtEl>
                                      </p:cBhvr>
                                    </p:animEffect>
                                  </p:childTnLst>
                                </p:cTn>
                              </p:par>
                              <p:par>
                                <p:cTn id="27" presetID="22" presetClass="entr" presetSubtype="1" fill="hold" nodeType="withEffect">
                                  <p:stCondLst>
                                    <p:cond delay="500"/>
                                  </p:stCondLst>
                                  <p:childTnLst>
                                    <p:set>
                                      <p:cBhvr>
                                        <p:cTn id="28" dur="1" fill="hold">
                                          <p:stCondLst>
                                            <p:cond delay="0"/>
                                          </p:stCondLst>
                                        </p:cTn>
                                        <p:tgtEl>
                                          <p:spTgt spid="33"/>
                                        </p:tgtEl>
                                        <p:attrNameLst>
                                          <p:attrName>style.visibility</p:attrName>
                                        </p:attrNameLst>
                                      </p:cBhvr>
                                      <p:to>
                                        <p:strVal val="visible"/>
                                      </p:to>
                                    </p:set>
                                    <p:animEffect transition="in" filter="wipe(up)">
                                      <p:cBhvr>
                                        <p:cTn id="29" dur="500"/>
                                        <p:tgtEl>
                                          <p:spTgt spid="33"/>
                                        </p:tgtEl>
                                      </p:cBhvr>
                                    </p:animEffect>
                                  </p:childTnLst>
                                </p:cTn>
                              </p:par>
                              <p:par>
                                <p:cTn id="30" presetID="22" presetClass="entr" presetSubtype="1" fill="hold" grpId="0" nodeType="withEffect">
                                  <p:stCondLst>
                                    <p:cond delay="500"/>
                                  </p:stCondLst>
                                  <p:childTnLst>
                                    <p:set>
                                      <p:cBhvr>
                                        <p:cTn id="31" dur="1" fill="hold">
                                          <p:stCondLst>
                                            <p:cond delay="0"/>
                                          </p:stCondLst>
                                        </p:cTn>
                                        <p:tgtEl>
                                          <p:spTgt spid="16"/>
                                        </p:tgtEl>
                                        <p:attrNameLst>
                                          <p:attrName>style.visibility</p:attrName>
                                        </p:attrNameLst>
                                      </p:cBhvr>
                                      <p:to>
                                        <p:strVal val="visible"/>
                                      </p:to>
                                    </p:set>
                                    <p:animEffect transition="in" filter="wipe(up)">
                                      <p:cBhvr>
                                        <p:cTn id="32" dur="500"/>
                                        <p:tgtEl>
                                          <p:spTgt spid="16"/>
                                        </p:tgtEl>
                                      </p:cBhvr>
                                    </p:animEffect>
                                  </p:childTnLst>
                                </p:cTn>
                              </p:par>
                              <p:par>
                                <p:cTn id="33" presetID="22" presetClass="entr" presetSubtype="1" fill="hold" grpId="0" nodeType="withEffect">
                                  <p:stCondLst>
                                    <p:cond delay="500"/>
                                  </p:stCondLst>
                                  <p:childTnLst>
                                    <p:set>
                                      <p:cBhvr>
                                        <p:cTn id="34" dur="1" fill="hold">
                                          <p:stCondLst>
                                            <p:cond delay="0"/>
                                          </p:stCondLst>
                                        </p:cTn>
                                        <p:tgtEl>
                                          <p:spTgt spid="19"/>
                                        </p:tgtEl>
                                        <p:attrNameLst>
                                          <p:attrName>style.visibility</p:attrName>
                                        </p:attrNameLst>
                                      </p:cBhvr>
                                      <p:to>
                                        <p:strVal val="visible"/>
                                      </p:to>
                                    </p:set>
                                    <p:animEffect transition="in" filter="wipe(up)">
                                      <p:cBhvr>
                                        <p:cTn id="35" dur="500"/>
                                        <p:tgtEl>
                                          <p:spTgt spid="19"/>
                                        </p:tgtEl>
                                      </p:cBhvr>
                                    </p:animEffect>
                                  </p:childTnLst>
                                </p:cTn>
                              </p:par>
                              <p:par>
                                <p:cTn id="36" presetID="22" presetClass="entr" presetSubtype="1" fill="hold" grpId="0" nodeType="withEffect">
                                  <p:stCondLst>
                                    <p:cond delay="500"/>
                                  </p:stCondLst>
                                  <p:childTnLst>
                                    <p:set>
                                      <p:cBhvr>
                                        <p:cTn id="37" dur="1" fill="hold">
                                          <p:stCondLst>
                                            <p:cond delay="0"/>
                                          </p:stCondLst>
                                        </p:cTn>
                                        <p:tgtEl>
                                          <p:spTgt spid="23"/>
                                        </p:tgtEl>
                                        <p:attrNameLst>
                                          <p:attrName>style.visibility</p:attrName>
                                        </p:attrNameLst>
                                      </p:cBhvr>
                                      <p:to>
                                        <p:strVal val="visible"/>
                                      </p:to>
                                    </p:set>
                                    <p:animEffect transition="in" filter="wipe(up)">
                                      <p:cBhvr>
                                        <p:cTn id="38" dur="500"/>
                                        <p:tgtEl>
                                          <p:spTgt spid="23"/>
                                        </p:tgtEl>
                                      </p:cBhvr>
                                    </p:animEffect>
                                  </p:childTnLst>
                                </p:cTn>
                              </p:par>
                              <p:par>
                                <p:cTn id="39" presetID="22" presetClass="entr" presetSubtype="1" fill="hold" grpId="0" nodeType="withEffect">
                                  <p:stCondLst>
                                    <p:cond delay="500"/>
                                  </p:stCondLst>
                                  <p:childTnLst>
                                    <p:set>
                                      <p:cBhvr>
                                        <p:cTn id="40" dur="1" fill="hold">
                                          <p:stCondLst>
                                            <p:cond delay="0"/>
                                          </p:stCondLst>
                                        </p:cTn>
                                        <p:tgtEl>
                                          <p:spTgt spid="24"/>
                                        </p:tgtEl>
                                        <p:attrNameLst>
                                          <p:attrName>style.visibility</p:attrName>
                                        </p:attrNameLst>
                                      </p:cBhvr>
                                      <p:to>
                                        <p:strVal val="visible"/>
                                      </p:to>
                                    </p:set>
                                    <p:animEffect transition="in" filter="wipe(up)">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par>
                                <p:cTn id="47" presetID="22" presetClass="entr" presetSubtype="8" fill="hold"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left)">
                                      <p:cBhvr>
                                        <p:cTn id="49" dur="500"/>
                                        <p:tgtEl>
                                          <p:spTgt spid="9"/>
                                        </p:tgtEl>
                                      </p:cBhvr>
                                    </p:animEffect>
                                  </p:childTnLst>
                                </p:cTn>
                              </p:par>
                              <p:par>
                                <p:cTn id="50" presetID="22" presetClass="entr" presetSubtype="8" fill="hold"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left)">
                                      <p:cBhvr>
                                        <p:cTn id="52" dur="500"/>
                                        <p:tgtEl>
                                          <p:spTgt spid="8"/>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P spid="20" grpId="0" animBg="1"/>
      <p:bldP spid="21" grpId="0" animBg="1"/>
      <p:bldP spid="22" grpId="0" animBg="1"/>
      <p:bldP spid="23" grpId="0" animBg="1"/>
      <p:bldP spid="2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Inner Join</a:t>
            </a:r>
            <a:endParaRPr lang="en-US" dirty="0"/>
          </a:p>
        </p:txBody>
      </p:sp>
      <p:sp>
        <p:nvSpPr>
          <p:cNvPr id="3" name="Content Placeholder 2"/>
          <p:cNvSpPr>
            <a:spLocks noGrp="1"/>
          </p:cNvSpPr>
          <p:nvPr>
            <p:ph idx="1"/>
          </p:nvPr>
        </p:nvSpPr>
        <p:spPr/>
        <p:txBody>
          <a:bodyPr/>
          <a:lstStyle/>
          <a:p>
            <a:r>
              <a:rPr lang="en-US" dirty="0">
                <a:solidFill>
                  <a:srgbClr val="C00000"/>
                </a:solidFill>
              </a:rPr>
              <a:t>Inner Join returns</a:t>
            </a:r>
            <a:r>
              <a:rPr lang="en-US" dirty="0"/>
              <a:t> records that have </a:t>
            </a:r>
            <a:r>
              <a:rPr lang="en-US" b="1" dirty="0">
                <a:solidFill>
                  <a:srgbClr val="C00000"/>
                </a:solidFill>
              </a:rPr>
              <a:t>matching values </a:t>
            </a:r>
            <a:r>
              <a:rPr lang="en-US" dirty="0"/>
              <a:t>in </a:t>
            </a:r>
            <a:r>
              <a:rPr lang="en-US" b="1" dirty="0">
                <a:solidFill>
                  <a:srgbClr val="C00000"/>
                </a:solidFill>
              </a:rPr>
              <a:t>both tables</a:t>
            </a:r>
            <a:r>
              <a:rPr lang="en-US" dirty="0"/>
              <a:t>.</a:t>
            </a:r>
          </a:p>
          <a:p>
            <a:endParaRPr lang="en-US" dirty="0"/>
          </a:p>
        </p:txBody>
      </p:sp>
      <p:sp>
        <p:nvSpPr>
          <p:cNvPr id="4" name="Oval 3"/>
          <p:cNvSpPr/>
          <p:nvPr/>
        </p:nvSpPr>
        <p:spPr>
          <a:xfrm>
            <a:off x="936154" y="1826400"/>
            <a:ext cx="118138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5" name="Oval 4"/>
          <p:cNvSpPr/>
          <p:nvPr/>
        </p:nvSpPr>
        <p:spPr>
          <a:xfrm>
            <a:off x="2209770" y="1826400"/>
            <a:ext cx="1167177"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6" name="Right Arrow 5"/>
          <p:cNvSpPr/>
          <p:nvPr/>
        </p:nvSpPr>
        <p:spPr>
          <a:xfrm>
            <a:off x="3580096" y="2127024"/>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7" name="Left-Right Arrow 6"/>
          <p:cNvSpPr/>
          <p:nvPr/>
        </p:nvSpPr>
        <p:spPr>
          <a:xfrm>
            <a:off x="6771930" y="2127024"/>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8" name="Freeform 7"/>
          <p:cNvSpPr/>
          <p:nvPr/>
        </p:nvSpPr>
        <p:spPr>
          <a:xfrm>
            <a:off x="5492286" y="1900986"/>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9" name="Freeform 8"/>
          <p:cNvSpPr/>
          <p:nvPr/>
        </p:nvSpPr>
        <p:spPr>
          <a:xfrm>
            <a:off x="4926803" y="1826400"/>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10" name="Freeform 9"/>
          <p:cNvSpPr/>
          <p:nvPr/>
        </p:nvSpPr>
        <p:spPr>
          <a:xfrm>
            <a:off x="5775307" y="1826400"/>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11" name="TextBox 10">
            <a:extLst>
              <a:ext uri="{FF2B5EF4-FFF2-40B4-BE49-F238E27FC236}">
                <a16:creationId xmlns:a16="http://schemas.microsoft.com/office/drawing/2014/main" id="{B8BDCC25-1E44-48A0-8550-F89E768A4A30}"/>
              </a:ext>
            </a:extLst>
          </p:cNvPr>
          <p:cNvSpPr txBox="1"/>
          <p:nvPr/>
        </p:nvSpPr>
        <p:spPr>
          <a:xfrm>
            <a:off x="342900" y="3518800"/>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533400" y="3982450"/>
            <a:ext cx="7962900" cy="18288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723900" y="413456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4" name="Rectangle 13"/>
          <p:cNvSpPr/>
          <p:nvPr/>
        </p:nvSpPr>
        <p:spPr>
          <a:xfrm>
            <a:off x="1827509" y="4134564"/>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723900" y="469525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6" name="Rectangle 15"/>
          <p:cNvSpPr/>
          <p:nvPr/>
        </p:nvSpPr>
        <p:spPr>
          <a:xfrm>
            <a:off x="1827508" y="4695259"/>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328351" y="5255812"/>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723900" y="5255954"/>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4508995" y="5255812"/>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0" name="Rectangle 19"/>
          <p:cNvSpPr/>
          <p:nvPr/>
        </p:nvSpPr>
        <p:spPr>
          <a:xfrm>
            <a:off x="3009023" y="4697818"/>
            <a:ext cx="1371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INNER JOIN</a:t>
            </a:r>
            <a:endParaRPr lang="en-US" b="1" dirty="0">
              <a:solidFill>
                <a:schemeClr val="tx1"/>
              </a:solidFill>
            </a:endParaRPr>
          </a:p>
        </p:txBody>
      </p:sp>
      <p:sp>
        <p:nvSpPr>
          <p:cNvPr id="21" name="Rectangle 20"/>
          <p:cNvSpPr/>
          <p:nvPr/>
        </p:nvSpPr>
        <p:spPr>
          <a:xfrm>
            <a:off x="4493882" y="4697818"/>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175136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fltVal val="0"/>
                                          </p:val>
                                        </p:tav>
                                        <p:tav tm="100000">
                                          <p:val>
                                            <p:strVal val="#ppt_w"/>
                                          </p:val>
                                        </p:tav>
                                      </p:tavLst>
                                    </p:anim>
                                    <p:anim calcmode="lin" valueType="num">
                                      <p:cBhvr>
                                        <p:cTn id="24" dur="1000" fill="hold"/>
                                        <p:tgtEl>
                                          <p:spTgt spid="9"/>
                                        </p:tgtEl>
                                        <p:attrNameLst>
                                          <p:attrName>ppt_h</p:attrName>
                                        </p:attrNameLst>
                                      </p:cBhvr>
                                      <p:tavLst>
                                        <p:tav tm="0">
                                          <p:val>
                                            <p:fltVal val="0"/>
                                          </p:val>
                                        </p:tav>
                                        <p:tav tm="100000">
                                          <p:val>
                                            <p:strVal val="#ppt_h"/>
                                          </p:val>
                                        </p:tav>
                                      </p:tavLst>
                                    </p:anim>
                                    <p:anim calcmode="lin" valueType="num">
                                      <p:cBhvr>
                                        <p:cTn id="25" dur="1000" fill="hold"/>
                                        <p:tgtEl>
                                          <p:spTgt spid="9"/>
                                        </p:tgtEl>
                                        <p:attrNameLst>
                                          <p:attrName>style.rotation</p:attrName>
                                        </p:attrNameLst>
                                      </p:cBhvr>
                                      <p:tavLst>
                                        <p:tav tm="0">
                                          <p:val>
                                            <p:fltVal val="90"/>
                                          </p:val>
                                        </p:tav>
                                        <p:tav tm="100000">
                                          <p:val>
                                            <p:fltVal val="0"/>
                                          </p:val>
                                        </p:tav>
                                      </p:tavLst>
                                    </p:anim>
                                    <p:animEffect transition="in" filter="fade">
                                      <p:cBhvr>
                                        <p:cTn id="26" dur="1000"/>
                                        <p:tgtEl>
                                          <p:spTgt spid="9"/>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fltVal val="0"/>
                                          </p:val>
                                        </p:tav>
                                        <p:tav tm="100000">
                                          <p:val>
                                            <p:strVal val="#ppt_w"/>
                                          </p:val>
                                        </p:tav>
                                      </p:tavLst>
                                    </p:anim>
                                    <p:anim calcmode="lin" valueType="num">
                                      <p:cBhvr>
                                        <p:cTn id="30" dur="1000" fill="hold"/>
                                        <p:tgtEl>
                                          <p:spTgt spid="8"/>
                                        </p:tgtEl>
                                        <p:attrNameLst>
                                          <p:attrName>ppt_h</p:attrName>
                                        </p:attrNameLst>
                                      </p:cBhvr>
                                      <p:tavLst>
                                        <p:tav tm="0">
                                          <p:val>
                                            <p:fltVal val="0"/>
                                          </p:val>
                                        </p:tav>
                                        <p:tav tm="100000">
                                          <p:val>
                                            <p:strVal val="#ppt_h"/>
                                          </p:val>
                                        </p:tav>
                                      </p:tavLst>
                                    </p:anim>
                                    <p:anim calcmode="lin" valueType="num">
                                      <p:cBhvr>
                                        <p:cTn id="31" dur="1000" fill="hold"/>
                                        <p:tgtEl>
                                          <p:spTgt spid="8"/>
                                        </p:tgtEl>
                                        <p:attrNameLst>
                                          <p:attrName>style.rotation</p:attrName>
                                        </p:attrNameLst>
                                      </p:cBhvr>
                                      <p:tavLst>
                                        <p:tav tm="0">
                                          <p:val>
                                            <p:fltVal val="90"/>
                                          </p:val>
                                        </p:tav>
                                        <p:tav tm="100000">
                                          <p:val>
                                            <p:fltVal val="0"/>
                                          </p:val>
                                        </p:tav>
                                      </p:tavLst>
                                    </p:anim>
                                    <p:animEffect transition="in" filter="fade">
                                      <p:cBhvr>
                                        <p:cTn id="32" dur="1000"/>
                                        <p:tgtEl>
                                          <p:spTgt spid="8"/>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1000" fill="hold"/>
                                        <p:tgtEl>
                                          <p:spTgt spid="10"/>
                                        </p:tgtEl>
                                        <p:attrNameLst>
                                          <p:attrName>ppt_w</p:attrName>
                                        </p:attrNameLst>
                                      </p:cBhvr>
                                      <p:tavLst>
                                        <p:tav tm="0">
                                          <p:val>
                                            <p:fltVal val="0"/>
                                          </p:val>
                                        </p:tav>
                                        <p:tav tm="100000">
                                          <p:val>
                                            <p:strVal val="#ppt_w"/>
                                          </p:val>
                                        </p:tav>
                                      </p:tavLst>
                                    </p:anim>
                                    <p:anim calcmode="lin" valueType="num">
                                      <p:cBhvr>
                                        <p:cTn id="36" dur="1000" fill="hold"/>
                                        <p:tgtEl>
                                          <p:spTgt spid="10"/>
                                        </p:tgtEl>
                                        <p:attrNameLst>
                                          <p:attrName>ppt_h</p:attrName>
                                        </p:attrNameLst>
                                      </p:cBhvr>
                                      <p:tavLst>
                                        <p:tav tm="0">
                                          <p:val>
                                            <p:fltVal val="0"/>
                                          </p:val>
                                        </p:tav>
                                        <p:tav tm="100000">
                                          <p:val>
                                            <p:strVal val="#ppt_h"/>
                                          </p:val>
                                        </p:tav>
                                      </p:tavLst>
                                    </p:anim>
                                    <p:anim calcmode="lin" valueType="num">
                                      <p:cBhvr>
                                        <p:cTn id="37" dur="1000" fill="hold"/>
                                        <p:tgtEl>
                                          <p:spTgt spid="10"/>
                                        </p:tgtEl>
                                        <p:attrNameLst>
                                          <p:attrName>style.rotation</p:attrName>
                                        </p:attrNameLst>
                                      </p:cBhvr>
                                      <p:tavLst>
                                        <p:tav tm="0">
                                          <p:val>
                                            <p:fltVal val="90"/>
                                          </p:val>
                                        </p:tav>
                                        <p:tav tm="100000">
                                          <p:val>
                                            <p:fltVal val="0"/>
                                          </p:val>
                                        </p:tav>
                                      </p:tavLst>
                                    </p:anim>
                                    <p:animEffect transition="in" filter="fade">
                                      <p:cBhvr>
                                        <p:cTn id="38" dur="1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3.05556E-6 -7.40741E-7 L 0.0882 0.04005 C 0.1066 0.04907 0.13438 0.05394 0.1632 0.05394 C 0.19601 0.05394 0.2224 0.04907 0.2408 0.04005 L 0.32934 -7.40741E-7 " pathEditMode="relative" rAng="0" ptsTypes="AAAAA">
                                      <p:cBhvr>
                                        <p:cTn id="48" dur="2000" fill="hold"/>
                                        <p:tgtEl>
                                          <p:spTgt spid="8"/>
                                        </p:tgtEl>
                                        <p:attrNameLst>
                                          <p:attrName>ppt_x</p:attrName>
                                          <p:attrName>ppt_y</p:attrName>
                                        </p:attrNameLst>
                                      </p:cBhvr>
                                      <p:rCtr x="16458" y="2685"/>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8" grpId="1"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Inner Join</a:t>
            </a:r>
            <a:endParaRPr lang="en-US" dirty="0"/>
          </a:p>
        </p:txBody>
      </p:sp>
      <p:sp>
        <p:nvSpPr>
          <p:cNvPr id="4" name="TextBox 3"/>
          <p:cNvSpPr txBox="1"/>
          <p:nvPr/>
        </p:nvSpPr>
        <p:spPr>
          <a:xfrm>
            <a:off x="182777" y="844054"/>
            <a:ext cx="1080000" cy="360000"/>
          </a:xfrm>
          <a:prstGeom prst="rect">
            <a:avLst/>
          </a:prstGeom>
          <a:noFill/>
        </p:spPr>
        <p:txBody>
          <a:bodyPr wrap="square" rtlCol="0">
            <a:spAutoFit/>
          </a:bodyPr>
          <a:lstStyle/>
          <a:p>
            <a:r>
              <a:rPr lang="en-US" b="1" u="sng" dirty="0"/>
              <a:t>Example</a:t>
            </a:r>
          </a:p>
        </p:txBody>
      </p:sp>
      <p:sp>
        <p:nvSpPr>
          <p:cNvPr id="5" name="Rectangle 4"/>
          <p:cNvSpPr/>
          <p:nvPr/>
        </p:nvSpPr>
        <p:spPr>
          <a:xfrm>
            <a:off x="342900" y="1295400"/>
            <a:ext cx="9294876" cy="18205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533400" y="144793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p:cNvSpPr/>
          <p:nvPr/>
        </p:nvSpPr>
        <p:spPr>
          <a:xfrm>
            <a:off x="1635736" y="1447936"/>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r>
              <a:rPr lang="en-US" dirty="0">
                <a:solidFill>
                  <a:srgbClr val="808080"/>
                </a:solidFill>
              </a:rPr>
              <a:t>,</a:t>
            </a:r>
          </a:p>
        </p:txBody>
      </p:sp>
      <p:sp>
        <p:nvSpPr>
          <p:cNvPr id="8" name="Rectangle 7"/>
          <p:cNvSpPr/>
          <p:nvPr/>
        </p:nvSpPr>
        <p:spPr>
          <a:xfrm>
            <a:off x="3203958" y="1447936"/>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r>
              <a:rPr lang="en-US" dirty="0">
                <a:solidFill>
                  <a:srgbClr val="808080"/>
                </a:solidFill>
              </a:rPr>
              <a:t>,</a:t>
            </a:r>
          </a:p>
        </p:txBody>
      </p:sp>
      <p:sp>
        <p:nvSpPr>
          <p:cNvPr id="9" name="Rectangle 8"/>
          <p:cNvSpPr/>
          <p:nvPr/>
        </p:nvSpPr>
        <p:spPr>
          <a:xfrm>
            <a:off x="4922725" y="1447936"/>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r>
              <a:rPr lang="en-US" dirty="0">
                <a:solidFill>
                  <a:srgbClr val="808080"/>
                </a:solidFill>
              </a:rPr>
              <a:t>,</a:t>
            </a:r>
          </a:p>
        </p:txBody>
      </p:sp>
      <p:sp>
        <p:nvSpPr>
          <p:cNvPr id="10" name="Rectangle 9"/>
          <p:cNvSpPr/>
          <p:nvPr/>
        </p:nvSpPr>
        <p:spPr>
          <a:xfrm>
            <a:off x="8323332" y="1447936"/>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546572" y="2026444"/>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2" name="Rectangle 11"/>
          <p:cNvSpPr/>
          <p:nvPr/>
        </p:nvSpPr>
        <p:spPr>
          <a:xfrm>
            <a:off x="1640042" y="2026444"/>
            <a:ext cx="1181514" cy="42252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2937882" y="2026444"/>
            <a:ext cx="1371600"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INNER JOIN</a:t>
            </a:r>
            <a:endParaRPr lang="en-US" b="1" dirty="0">
              <a:solidFill>
                <a:schemeClr val="tx1"/>
              </a:solidFill>
            </a:endParaRPr>
          </a:p>
        </p:txBody>
      </p:sp>
      <p:sp>
        <p:nvSpPr>
          <p:cNvPr id="14" name="Rectangle 13"/>
          <p:cNvSpPr/>
          <p:nvPr/>
        </p:nvSpPr>
        <p:spPr>
          <a:xfrm>
            <a:off x="4425807" y="2026444"/>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553158" y="258853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6" name="Rectangle 15"/>
          <p:cNvSpPr/>
          <p:nvPr/>
        </p:nvSpPr>
        <p:spPr>
          <a:xfrm>
            <a:off x="1133812" y="2573739"/>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3972020" y="2575470"/>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351646" y="4498474"/>
            <a:ext cx="997774" cy="901583"/>
          </a:xfrm>
          <a:prstGeom prst="rect">
            <a:avLst/>
          </a:prstGeom>
        </p:spPr>
      </p:pic>
      <p:graphicFrame>
        <p:nvGraphicFramePr>
          <p:cNvPr id="19" name="Table 18"/>
          <p:cNvGraphicFramePr>
            <a:graphicFrameLocks noGrp="1"/>
          </p:cNvGraphicFramePr>
          <p:nvPr/>
        </p:nvGraphicFramePr>
        <p:xfrm>
          <a:off x="351448" y="3527152"/>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mn-lt"/>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dirty="0">
                          <a:solidFill>
                            <a:srgbClr val="00B05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1" i="0" u="none" strike="noStrike" kern="1200" dirty="0">
                          <a:solidFill>
                            <a:srgbClr val="00B050"/>
                          </a:solidFill>
                          <a:effectLst/>
                          <a:latin typeface="+mj-lt"/>
                          <a:ea typeface="+mn-ea"/>
                          <a:cs typeface="+mn-cs"/>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nvGraphicFramePr>
        <p:xfrm>
          <a:off x="2736044" y="3546670"/>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mn-lt"/>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kern="1200" dirty="0">
                          <a:solidFill>
                            <a:srgbClr val="0E47A1"/>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noChangeAspect="1"/>
          </p:cNvGraphicFramePr>
          <p:nvPr/>
        </p:nvGraphicFramePr>
        <p:xfrm>
          <a:off x="5497432" y="3733799"/>
          <a:ext cx="5042840" cy="1853007"/>
        </p:xfrm>
        <a:graphic>
          <a:graphicData uri="http://schemas.openxmlformats.org/drawingml/2006/table">
            <a:tbl>
              <a:tblPr bandRow="1">
                <a:tableStyleId>{073A0DAA-6AF3-43AB-8588-CEC1D06C72B9}</a:tableStyleId>
              </a:tblPr>
              <a:tblGrid>
                <a:gridCol w="944769">
                  <a:extLst>
                    <a:ext uri="{9D8B030D-6E8A-4147-A177-3AD203B41FA5}">
                      <a16:colId xmlns:a16="http://schemas.microsoft.com/office/drawing/2014/main" val="20000"/>
                    </a:ext>
                  </a:extLst>
                </a:gridCol>
                <a:gridCol w="927863">
                  <a:extLst>
                    <a:ext uri="{9D8B030D-6E8A-4147-A177-3AD203B41FA5}">
                      <a16:colId xmlns:a16="http://schemas.microsoft.com/office/drawing/2014/main" val="20001"/>
                    </a:ext>
                  </a:extLst>
                </a:gridCol>
                <a:gridCol w="1058551">
                  <a:extLst>
                    <a:ext uri="{9D8B030D-6E8A-4147-A177-3AD203B41FA5}">
                      <a16:colId xmlns:a16="http://schemas.microsoft.com/office/drawing/2014/main" val="20002"/>
                    </a:ext>
                  </a:extLst>
                </a:gridCol>
                <a:gridCol w="1264025">
                  <a:extLst>
                    <a:ext uri="{9D8B030D-6E8A-4147-A177-3AD203B41FA5}">
                      <a16:colId xmlns:a16="http://schemas.microsoft.com/office/drawing/2014/main" val="20003"/>
                    </a:ext>
                  </a:extLst>
                </a:gridCol>
                <a:gridCol w="847632">
                  <a:extLst>
                    <a:ext uri="{9D8B030D-6E8A-4147-A177-3AD203B41FA5}">
                      <a16:colId xmlns:a16="http://schemas.microsoft.com/office/drawing/2014/main" val="75949050"/>
                    </a:ext>
                  </a:extLst>
                </a:gridCol>
              </a:tblGrid>
              <a:tr h="301753">
                <a:tc gridSpan="3">
                  <a:txBody>
                    <a:bodyPr/>
                    <a:lstStyle/>
                    <a:p>
                      <a:pPr marL="36000" algn="l" fontAlgn="b"/>
                      <a:r>
                        <a:rPr lang="en-US" sz="1600" b="1" i="0" u="none" strike="noStrike" dirty="0">
                          <a:solidFill>
                            <a:srgbClr val="000000"/>
                          </a:solidFill>
                          <a:effectLst/>
                          <a:latin typeface="+mn-lt"/>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gridSpan="2">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IN"/>
                    </a:p>
                  </a:txBody>
                  <a:tcPr/>
                </a:tc>
                <a:extLst>
                  <a:ext uri="{0D108BD9-81ED-4DB2-BD59-A6C34878D82A}">
                    <a16:rowId xmlns:a16="http://schemas.microsoft.com/office/drawing/2014/main" val="10000"/>
                  </a:ext>
                </a:extLst>
              </a:tr>
              <a:tr h="317663">
                <a:tc>
                  <a:txBody>
                    <a:bodyPr/>
                    <a:lstStyle/>
                    <a:p>
                      <a:pPr marL="36000" algn="l" fontAlgn="b">
                        <a:spcBef>
                          <a:spcPts val="600"/>
                        </a:spcBef>
                      </a:pPr>
                      <a:r>
                        <a:rPr lang="en-US" sz="1600" b="1" i="0" u="none" strike="noStrike" dirty="0">
                          <a:solidFill>
                            <a:srgbClr val="FFFFFF"/>
                          </a:solidFill>
                          <a:effectLst/>
                          <a:latin typeface="+mj-lt"/>
                        </a:rPr>
                        <a:t>RNO (STU)</a:t>
                      </a:r>
                    </a:p>
                  </a:txBody>
                  <a:tcPr marL="9525" marR="9525" marT="9525" marB="0" anchor="b">
                    <a:solidFill>
                      <a:schemeClr val="tx1"/>
                    </a:solidFill>
                  </a:tcPr>
                </a:tc>
                <a:tc>
                  <a:txBody>
                    <a:bodyPr/>
                    <a:lstStyle/>
                    <a:p>
                      <a:pPr marL="36000" algn="l" fontAlgn="b">
                        <a:spcBef>
                          <a:spcPts val="600"/>
                        </a:spcBef>
                      </a:pPr>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spcBef>
                          <a:spcPts val="600"/>
                        </a:spcBef>
                      </a:pPr>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marR="0" lvl="0" indent="0" algn="l" defTabSz="914400" rtl="0" eaLnBrk="1" fontAlgn="b" latinLnBrk="0" hangingPunct="1">
                        <a:lnSpc>
                          <a:spcPct val="100000"/>
                        </a:lnSpc>
                        <a:spcBef>
                          <a:spcPts val="600"/>
                        </a:spcBef>
                        <a:spcAft>
                          <a:spcPts val="0"/>
                        </a:spcAft>
                        <a:buClrTx/>
                        <a:buSzTx/>
                        <a:buFontTx/>
                        <a:buNone/>
                        <a:tabLst/>
                        <a:defRPr/>
                      </a:pPr>
                      <a:r>
                        <a:rPr lang="en-US" sz="1600" b="1" i="0" u="none" strike="noStrike" kern="1200" dirty="0">
                          <a:solidFill>
                            <a:srgbClr val="FFFFFF"/>
                          </a:solidFill>
                          <a:effectLst/>
                          <a:latin typeface="+mn-lt"/>
                          <a:ea typeface="+mn-ea"/>
                          <a:cs typeface="+mn-cs"/>
                        </a:rPr>
                        <a:t>RNO (Result)</a:t>
                      </a:r>
                    </a:p>
                  </a:txBody>
                  <a:tcPr marL="9525" marR="9525" marT="9525" marB="0" anchor="b">
                    <a:solidFill>
                      <a:schemeClr val="tx1"/>
                    </a:solidFill>
                  </a:tcPr>
                </a:tc>
                <a:tc>
                  <a:txBody>
                    <a:bodyPr/>
                    <a:lstStyle/>
                    <a:p>
                      <a:pPr marL="36000" algn="l" fontAlgn="b">
                        <a:spcBef>
                          <a:spcPts val="600"/>
                        </a:spcBef>
                      </a:pPr>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spcBef>
                          <a:spcPts val="600"/>
                        </a:spcBef>
                      </a:pPr>
                      <a:r>
                        <a:rPr lang="en-US" sz="1600" b="1" i="0" u="none" strike="noStrike" dirty="0">
                          <a:solidFill>
                            <a:srgbClr val="C00000"/>
                          </a:solidFill>
                          <a:effectLst/>
                          <a:latin typeface="+mj-lt"/>
                        </a:rPr>
                        <a:t>101</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Raju</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101</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9597">
                <a:tc>
                  <a:txBody>
                    <a:bodyPr/>
                    <a:lstStyle/>
                    <a:p>
                      <a:pPr marL="36000" algn="l" fontAlgn="b">
                        <a:spcBef>
                          <a:spcPts val="600"/>
                        </a:spcBef>
                      </a:pPr>
                      <a:r>
                        <a:rPr lang="en-US" sz="1600" b="1" i="0" u="none" strike="noStrike" dirty="0">
                          <a:solidFill>
                            <a:srgbClr val="C00000"/>
                          </a:solidFill>
                          <a:effectLst/>
                          <a:latin typeface="+mj-lt"/>
                        </a:rPr>
                        <a:t>102</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Amit</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102</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9597">
                <a:tc>
                  <a:txBody>
                    <a:bodyPr/>
                    <a:lstStyle/>
                    <a:p>
                      <a:pPr marL="36000" algn="l" fontAlgn="b">
                        <a:spcBef>
                          <a:spcPts val="600"/>
                        </a:spcBef>
                      </a:pPr>
                      <a:r>
                        <a:rPr lang="en-US" sz="1600" b="1" i="0" u="none" strike="noStrike">
                          <a:solidFill>
                            <a:srgbClr val="C00000"/>
                          </a:solidFill>
                          <a:effectLst/>
                          <a:latin typeface="+mj-lt"/>
                        </a:rPr>
                        <a:t>104</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Neha</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EC</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104</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spcBef>
                          <a:spcPts val="600"/>
                        </a:spcBef>
                      </a:pPr>
                      <a:r>
                        <a:rPr lang="en-US" sz="1600" b="1" i="0" u="none" strike="noStrike" dirty="0">
                          <a:solidFill>
                            <a:srgbClr val="C00000"/>
                          </a:solidFill>
                          <a:effectLst/>
                          <a:latin typeface="+mj-lt"/>
                        </a:rPr>
                        <a:t>105</a:t>
                      </a:r>
                    </a:p>
                  </a:txBody>
                  <a:tcPr marL="9525" marR="9525" marT="9525" marB="0" anchor="b"/>
                </a:tc>
                <a:tc>
                  <a:txBody>
                    <a:bodyPr/>
                    <a:lstStyle/>
                    <a:p>
                      <a:pPr marL="36000" algn="l" fontAlgn="b">
                        <a:spcBef>
                          <a:spcPts val="600"/>
                        </a:spcBef>
                      </a:pPr>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EE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105</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5"/>
                  </a:ext>
                </a:extLst>
              </a:tr>
            </a:tbl>
          </a:graphicData>
        </a:graphic>
      </p:graphicFrame>
      <p:sp>
        <p:nvSpPr>
          <p:cNvPr id="22" name="Rectangle 21"/>
          <p:cNvSpPr/>
          <p:nvPr/>
        </p:nvSpPr>
        <p:spPr>
          <a:xfrm>
            <a:off x="364092" y="4550706"/>
            <a:ext cx="368490" cy="260870"/>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3" name="Rectangle 22"/>
          <p:cNvSpPr/>
          <p:nvPr/>
        </p:nvSpPr>
        <p:spPr>
          <a:xfrm>
            <a:off x="364092" y="5204038"/>
            <a:ext cx="368490" cy="258697"/>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4" name="Rectangle 23"/>
          <p:cNvSpPr/>
          <p:nvPr/>
        </p:nvSpPr>
        <p:spPr>
          <a:xfrm>
            <a:off x="364092" y="4233298"/>
            <a:ext cx="368490" cy="265695"/>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5" name="Rectangle 24"/>
          <p:cNvSpPr/>
          <p:nvPr/>
        </p:nvSpPr>
        <p:spPr>
          <a:xfrm>
            <a:off x="364092" y="5514447"/>
            <a:ext cx="368490" cy="242852"/>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6" name="Rectangle 25"/>
          <p:cNvSpPr/>
          <p:nvPr/>
        </p:nvSpPr>
        <p:spPr>
          <a:xfrm>
            <a:off x="2750310" y="4233298"/>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7" name="Rectangle 26"/>
          <p:cNvSpPr/>
          <p:nvPr/>
        </p:nvSpPr>
        <p:spPr>
          <a:xfrm>
            <a:off x="2757889" y="4565492"/>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8" name="Rectangle 27"/>
          <p:cNvSpPr/>
          <p:nvPr/>
        </p:nvSpPr>
        <p:spPr>
          <a:xfrm>
            <a:off x="2757888" y="4887690"/>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9" name="Rectangle 28"/>
          <p:cNvSpPr/>
          <p:nvPr/>
        </p:nvSpPr>
        <p:spPr>
          <a:xfrm>
            <a:off x="2750310" y="5219883"/>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3" name="Rectangle 2">
            <a:extLst>
              <a:ext uri="{FF2B5EF4-FFF2-40B4-BE49-F238E27FC236}">
                <a16:creationId xmlns:a16="http://schemas.microsoft.com/office/drawing/2014/main" id="{475C513D-45BF-67F7-78B5-9F53DCEA29F3}"/>
              </a:ext>
            </a:extLst>
          </p:cNvPr>
          <p:cNvSpPr/>
          <p:nvPr/>
        </p:nvSpPr>
        <p:spPr>
          <a:xfrm>
            <a:off x="6810729" y="1447936"/>
            <a:ext cx="140058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.RNO,</a:t>
            </a:r>
            <a:endParaRPr lang="en-US" dirty="0">
              <a:solidFill>
                <a:srgbClr val="808080"/>
              </a:solidFill>
            </a:endParaRPr>
          </a:p>
        </p:txBody>
      </p:sp>
    </p:spTree>
    <p:extLst>
      <p:ext uri="{BB962C8B-B14F-4D97-AF65-F5344CB8AC3E}">
        <p14:creationId xmlns:p14="http://schemas.microsoft.com/office/powerpoint/2010/main" val="284443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2" grpId="0" animBg="1"/>
      <p:bldP spid="23" grpId="0" animBg="1"/>
      <p:bldP spid="24" grpId="0" animBg="1"/>
      <p:bldP spid="25" grpId="0" animBg="1"/>
      <p:bldP spid="26" grpId="0" animBg="1"/>
      <p:bldP spid="27" grpId="0" animBg="1"/>
      <p:bldP spid="28" grpId="0" animBg="1"/>
      <p:bldP spid="29" grpId="0" animBg="1"/>
      <p:bldP spid="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Inner Join</a:t>
            </a:r>
            <a:endParaRPr lang="en-US" dirty="0"/>
          </a:p>
        </p:txBody>
      </p:sp>
      <p:sp>
        <p:nvSpPr>
          <p:cNvPr id="4" name="TextBox 3"/>
          <p:cNvSpPr txBox="1"/>
          <p:nvPr/>
        </p:nvSpPr>
        <p:spPr>
          <a:xfrm>
            <a:off x="163527" y="882554"/>
            <a:ext cx="5926372" cy="430887"/>
          </a:xfrm>
          <a:prstGeom prst="rect">
            <a:avLst/>
          </a:prstGeom>
          <a:noFill/>
        </p:spPr>
        <p:txBody>
          <a:bodyPr wrap="square" rtlCol="0">
            <a:spAutoFit/>
          </a:bodyPr>
          <a:lstStyle/>
          <a:p>
            <a:r>
              <a:rPr lang="en-US" sz="2200" b="1" dirty="0">
                <a:solidFill>
                  <a:schemeClr val="accent6">
                    <a:lumMod val="50000"/>
                  </a:schemeClr>
                </a:solidFill>
              </a:rPr>
              <a:t>Inner Join without using Join Keyword</a:t>
            </a:r>
          </a:p>
        </p:txBody>
      </p:sp>
      <p:sp>
        <p:nvSpPr>
          <p:cNvPr id="5" name="TextBox 4">
            <a:extLst>
              <a:ext uri="{FF2B5EF4-FFF2-40B4-BE49-F238E27FC236}">
                <a16:creationId xmlns:a16="http://schemas.microsoft.com/office/drawing/2014/main" id="{2FD20EEF-D223-4734-AD02-09BF56FC9DD2}"/>
              </a:ext>
            </a:extLst>
          </p:cNvPr>
          <p:cNvSpPr txBox="1"/>
          <p:nvPr/>
        </p:nvSpPr>
        <p:spPr>
          <a:xfrm>
            <a:off x="173250" y="1447800"/>
            <a:ext cx="1104900" cy="367400"/>
          </a:xfrm>
          <a:prstGeom prst="rect">
            <a:avLst/>
          </a:prstGeom>
          <a:noFill/>
        </p:spPr>
        <p:txBody>
          <a:bodyPr wrap="square" rtlCol="0">
            <a:spAutoFit/>
          </a:bodyPr>
          <a:lstStyle/>
          <a:p>
            <a:r>
              <a:rPr lang="en-US" b="1" u="sng" dirty="0"/>
              <a:t>Syntax</a:t>
            </a:r>
          </a:p>
        </p:txBody>
      </p:sp>
      <p:sp>
        <p:nvSpPr>
          <p:cNvPr id="6" name="Rectangle 5">
            <a:extLst>
              <a:ext uri="{FF2B5EF4-FFF2-40B4-BE49-F238E27FC236}">
                <a16:creationId xmlns:a16="http://schemas.microsoft.com/office/drawing/2014/main" id="{CF1C6E0B-1E6B-4D28-8181-8DC20DC55EAF}"/>
              </a:ext>
            </a:extLst>
          </p:cNvPr>
          <p:cNvSpPr/>
          <p:nvPr/>
        </p:nvSpPr>
        <p:spPr>
          <a:xfrm>
            <a:off x="310874" y="1935131"/>
            <a:ext cx="5196376"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34824CC4-0605-427F-A656-0300BA360C50}"/>
              </a:ext>
            </a:extLst>
          </p:cNvPr>
          <p:cNvSpPr/>
          <p:nvPr/>
        </p:nvSpPr>
        <p:spPr>
          <a:xfrm>
            <a:off x="380289" y="217596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8" name="Rectangle 7">
            <a:extLst>
              <a:ext uri="{FF2B5EF4-FFF2-40B4-BE49-F238E27FC236}">
                <a16:creationId xmlns:a16="http://schemas.microsoft.com/office/drawing/2014/main" id="{A5C468B5-316B-4DD3-BF78-F75453AEF8AA}"/>
              </a:ext>
            </a:extLst>
          </p:cNvPr>
          <p:cNvSpPr/>
          <p:nvPr/>
        </p:nvSpPr>
        <p:spPr>
          <a:xfrm>
            <a:off x="1501200" y="2187927"/>
            <a:ext cx="1143861"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solidFill>
                <a:srgbClr val="808080"/>
              </a:solidFill>
            </a:endParaRPr>
          </a:p>
        </p:txBody>
      </p:sp>
      <p:sp>
        <p:nvSpPr>
          <p:cNvPr id="9" name="Rectangle 8">
            <a:extLst>
              <a:ext uri="{FF2B5EF4-FFF2-40B4-BE49-F238E27FC236}">
                <a16:creationId xmlns:a16="http://schemas.microsoft.com/office/drawing/2014/main" id="{5DE4DB15-052C-40AC-87F3-9CF0B46A7267}"/>
              </a:ext>
            </a:extLst>
          </p:cNvPr>
          <p:cNvSpPr/>
          <p:nvPr/>
        </p:nvSpPr>
        <p:spPr>
          <a:xfrm>
            <a:off x="380289" y="276340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0" name="Rectangle 9">
            <a:extLst>
              <a:ext uri="{FF2B5EF4-FFF2-40B4-BE49-F238E27FC236}">
                <a16:creationId xmlns:a16="http://schemas.microsoft.com/office/drawing/2014/main" id="{4B268D00-D63D-4217-9F5F-045679F295C8}"/>
              </a:ext>
            </a:extLst>
          </p:cNvPr>
          <p:cNvSpPr/>
          <p:nvPr/>
        </p:nvSpPr>
        <p:spPr>
          <a:xfrm>
            <a:off x="1501199" y="2757579"/>
            <a:ext cx="104661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 </a:t>
            </a:r>
            <a:endParaRPr lang="en-US" dirty="0"/>
          </a:p>
        </p:txBody>
      </p:sp>
      <p:sp>
        <p:nvSpPr>
          <p:cNvPr id="11" name="Rectangle 10">
            <a:extLst>
              <a:ext uri="{FF2B5EF4-FFF2-40B4-BE49-F238E27FC236}">
                <a16:creationId xmlns:a16="http://schemas.microsoft.com/office/drawing/2014/main" id="{84B2D358-5A31-4FD4-9CDF-99532CD1939B}"/>
              </a:ext>
            </a:extLst>
          </p:cNvPr>
          <p:cNvSpPr/>
          <p:nvPr/>
        </p:nvSpPr>
        <p:spPr>
          <a:xfrm>
            <a:off x="1501200" y="3319376"/>
            <a:ext cx="305355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2" name="Rectangle 11">
            <a:extLst>
              <a:ext uri="{FF2B5EF4-FFF2-40B4-BE49-F238E27FC236}">
                <a16:creationId xmlns:a16="http://schemas.microsoft.com/office/drawing/2014/main" id="{5CECE4F6-28FE-4FB1-AD42-C63ADD560AEE}"/>
              </a:ext>
            </a:extLst>
          </p:cNvPr>
          <p:cNvSpPr/>
          <p:nvPr/>
        </p:nvSpPr>
        <p:spPr>
          <a:xfrm>
            <a:off x="380289" y="3319376"/>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3" name="Rectangle 12">
            <a:extLst>
              <a:ext uri="{FF2B5EF4-FFF2-40B4-BE49-F238E27FC236}">
                <a16:creationId xmlns:a16="http://schemas.microsoft.com/office/drawing/2014/main" id="{C8A2C189-7003-4AE4-B529-0CD467BA6A46}"/>
              </a:ext>
            </a:extLst>
          </p:cNvPr>
          <p:cNvSpPr/>
          <p:nvPr/>
        </p:nvSpPr>
        <p:spPr>
          <a:xfrm>
            <a:off x="4657632" y="3319376"/>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4" name="Rectangle 13">
            <a:extLst>
              <a:ext uri="{FF2B5EF4-FFF2-40B4-BE49-F238E27FC236}">
                <a16:creationId xmlns:a16="http://schemas.microsoft.com/office/drawing/2014/main" id="{CB71A2F5-8C77-40D0-9E52-B21BE7D8D898}"/>
              </a:ext>
            </a:extLst>
          </p:cNvPr>
          <p:cNvSpPr/>
          <p:nvPr/>
        </p:nvSpPr>
        <p:spPr>
          <a:xfrm>
            <a:off x="2655706" y="2756405"/>
            <a:ext cx="401247"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15" name="Rectangle 14">
            <a:extLst>
              <a:ext uri="{FF2B5EF4-FFF2-40B4-BE49-F238E27FC236}">
                <a16:creationId xmlns:a16="http://schemas.microsoft.com/office/drawing/2014/main" id="{8BE94BDD-3E25-4EC8-BEDF-4CE73512C76E}"/>
              </a:ext>
            </a:extLst>
          </p:cNvPr>
          <p:cNvSpPr/>
          <p:nvPr/>
        </p:nvSpPr>
        <p:spPr>
          <a:xfrm>
            <a:off x="3186887" y="2752164"/>
            <a:ext cx="9641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19" name="TextBox 18">
            <a:extLst>
              <a:ext uri="{FF2B5EF4-FFF2-40B4-BE49-F238E27FC236}">
                <a16:creationId xmlns:a16="http://schemas.microsoft.com/office/drawing/2014/main" id="{754A686E-485E-4ACC-9A96-A9643AA57945}"/>
              </a:ext>
            </a:extLst>
          </p:cNvPr>
          <p:cNvSpPr txBox="1"/>
          <p:nvPr/>
        </p:nvSpPr>
        <p:spPr>
          <a:xfrm>
            <a:off x="238172" y="4081157"/>
            <a:ext cx="1080000" cy="369332"/>
          </a:xfrm>
          <a:prstGeom prst="rect">
            <a:avLst/>
          </a:prstGeom>
          <a:noFill/>
        </p:spPr>
        <p:txBody>
          <a:bodyPr wrap="square" rtlCol="0">
            <a:spAutoFit/>
          </a:bodyPr>
          <a:lstStyle/>
          <a:p>
            <a:r>
              <a:rPr lang="en-US" b="1" u="sng" dirty="0"/>
              <a:t>Example</a:t>
            </a:r>
          </a:p>
        </p:txBody>
      </p:sp>
      <p:sp>
        <p:nvSpPr>
          <p:cNvPr id="33" name="Rectangle 32">
            <a:extLst>
              <a:ext uri="{FF2B5EF4-FFF2-40B4-BE49-F238E27FC236}">
                <a16:creationId xmlns:a16="http://schemas.microsoft.com/office/drawing/2014/main" id="{F4FBF2CC-FE52-4AA7-8A3C-D4B497C47F6E}"/>
              </a:ext>
            </a:extLst>
          </p:cNvPr>
          <p:cNvSpPr/>
          <p:nvPr/>
        </p:nvSpPr>
        <p:spPr>
          <a:xfrm>
            <a:off x="253724" y="4468666"/>
            <a:ext cx="5310676"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11EDCEBC-D930-42DD-A8F4-4D3D32BDF855}"/>
              </a:ext>
            </a:extLst>
          </p:cNvPr>
          <p:cNvSpPr/>
          <p:nvPr/>
        </p:nvSpPr>
        <p:spPr>
          <a:xfrm>
            <a:off x="331246" y="466622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35" name="Rectangle 34">
            <a:extLst>
              <a:ext uri="{FF2B5EF4-FFF2-40B4-BE49-F238E27FC236}">
                <a16:creationId xmlns:a16="http://schemas.microsoft.com/office/drawing/2014/main" id="{748676C7-5400-4F89-891E-4A59B72C70DA}"/>
              </a:ext>
            </a:extLst>
          </p:cNvPr>
          <p:cNvSpPr/>
          <p:nvPr/>
        </p:nvSpPr>
        <p:spPr>
          <a:xfrm>
            <a:off x="331246" y="525367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36" name="Rectangle 35">
            <a:extLst>
              <a:ext uri="{FF2B5EF4-FFF2-40B4-BE49-F238E27FC236}">
                <a16:creationId xmlns:a16="http://schemas.microsoft.com/office/drawing/2014/main" id="{FD117634-D795-4880-BB4F-B0CCE07D1602}"/>
              </a:ext>
            </a:extLst>
          </p:cNvPr>
          <p:cNvSpPr/>
          <p:nvPr/>
        </p:nvSpPr>
        <p:spPr>
          <a:xfrm>
            <a:off x="1452156" y="5247844"/>
            <a:ext cx="13000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S</a:t>
            </a:r>
            <a:endParaRPr lang="en-US" dirty="0"/>
          </a:p>
        </p:txBody>
      </p:sp>
      <p:sp>
        <p:nvSpPr>
          <p:cNvPr id="37" name="Rectangle 36">
            <a:extLst>
              <a:ext uri="{FF2B5EF4-FFF2-40B4-BE49-F238E27FC236}">
                <a16:creationId xmlns:a16="http://schemas.microsoft.com/office/drawing/2014/main" id="{AFF5EFD7-63A9-4790-B1B1-5B382CC1D7F5}"/>
              </a:ext>
            </a:extLst>
          </p:cNvPr>
          <p:cNvSpPr/>
          <p:nvPr/>
        </p:nvSpPr>
        <p:spPr>
          <a:xfrm>
            <a:off x="1452157" y="5829461"/>
            <a:ext cx="2620732"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38" name="Rectangle 37">
            <a:extLst>
              <a:ext uri="{FF2B5EF4-FFF2-40B4-BE49-F238E27FC236}">
                <a16:creationId xmlns:a16="http://schemas.microsoft.com/office/drawing/2014/main" id="{25DC0AC7-91EE-4BD9-885A-99AB3721047F}"/>
              </a:ext>
            </a:extLst>
          </p:cNvPr>
          <p:cNvSpPr/>
          <p:nvPr/>
        </p:nvSpPr>
        <p:spPr>
          <a:xfrm>
            <a:off x="331246" y="5809641"/>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39" name="Rectangle 38">
            <a:extLst>
              <a:ext uri="{FF2B5EF4-FFF2-40B4-BE49-F238E27FC236}">
                <a16:creationId xmlns:a16="http://schemas.microsoft.com/office/drawing/2014/main" id="{2DEF0DE2-1E06-4628-BC08-D373489412C7}"/>
              </a:ext>
            </a:extLst>
          </p:cNvPr>
          <p:cNvSpPr/>
          <p:nvPr/>
        </p:nvSpPr>
        <p:spPr>
          <a:xfrm>
            <a:off x="4152068" y="5831439"/>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40" name="Rectangle 39">
            <a:extLst>
              <a:ext uri="{FF2B5EF4-FFF2-40B4-BE49-F238E27FC236}">
                <a16:creationId xmlns:a16="http://schemas.microsoft.com/office/drawing/2014/main" id="{AD2D3828-F4D3-41F0-A9F5-0E861CB3A37C}"/>
              </a:ext>
            </a:extLst>
          </p:cNvPr>
          <p:cNvSpPr/>
          <p:nvPr/>
        </p:nvSpPr>
        <p:spPr>
          <a:xfrm>
            <a:off x="2878975" y="5246670"/>
            <a:ext cx="409354"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41" name="Rectangle 40">
            <a:extLst>
              <a:ext uri="{FF2B5EF4-FFF2-40B4-BE49-F238E27FC236}">
                <a16:creationId xmlns:a16="http://schemas.microsoft.com/office/drawing/2014/main" id="{63285C9F-7940-406A-9591-749AF48909A1}"/>
              </a:ext>
            </a:extLst>
          </p:cNvPr>
          <p:cNvSpPr/>
          <p:nvPr/>
        </p:nvSpPr>
        <p:spPr>
          <a:xfrm>
            <a:off x="3415139" y="5256390"/>
            <a:ext cx="11207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R</a:t>
            </a:r>
            <a:endParaRPr lang="en-US" dirty="0"/>
          </a:p>
        </p:txBody>
      </p:sp>
      <p:sp>
        <p:nvSpPr>
          <p:cNvPr id="42" name="Rectangle 41">
            <a:extLst>
              <a:ext uri="{FF2B5EF4-FFF2-40B4-BE49-F238E27FC236}">
                <a16:creationId xmlns:a16="http://schemas.microsoft.com/office/drawing/2014/main" id="{0F3031C4-2487-4681-828C-6FCE1378FB2F}"/>
              </a:ext>
            </a:extLst>
          </p:cNvPr>
          <p:cNvSpPr/>
          <p:nvPr/>
        </p:nvSpPr>
        <p:spPr>
          <a:xfrm>
            <a:off x="1384094" y="466622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a:t>
            </a:r>
            <a:r>
              <a:rPr lang="en-US" dirty="0">
                <a:ln w="0"/>
                <a:solidFill>
                  <a:schemeClr val="tx1"/>
                </a:solidFill>
              </a:rPr>
              <a:t>.RNO</a:t>
            </a:r>
            <a:r>
              <a:rPr lang="en-US" dirty="0">
                <a:solidFill>
                  <a:srgbClr val="808080"/>
                </a:solidFill>
              </a:rPr>
              <a:t>,</a:t>
            </a:r>
          </a:p>
        </p:txBody>
      </p:sp>
      <p:sp>
        <p:nvSpPr>
          <p:cNvPr id="43" name="Rectangle 42">
            <a:extLst>
              <a:ext uri="{FF2B5EF4-FFF2-40B4-BE49-F238E27FC236}">
                <a16:creationId xmlns:a16="http://schemas.microsoft.com/office/drawing/2014/main" id="{25260F75-1FED-4AF3-BE93-C8D8AC967485}"/>
              </a:ext>
            </a:extLst>
          </p:cNvPr>
          <p:cNvSpPr/>
          <p:nvPr/>
        </p:nvSpPr>
        <p:spPr>
          <a:xfrm>
            <a:off x="2446178" y="4663336"/>
            <a:ext cx="990316" cy="456027"/>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a:t>
            </a:r>
            <a:r>
              <a:rPr lang="en-US" dirty="0">
                <a:ln w="0"/>
                <a:solidFill>
                  <a:schemeClr val="tx1"/>
                </a:solidFill>
              </a:rPr>
              <a:t>.Name</a:t>
            </a:r>
            <a:r>
              <a:rPr lang="en-US" dirty="0">
                <a:solidFill>
                  <a:srgbClr val="808080"/>
                </a:solidFill>
              </a:rPr>
              <a:t>,</a:t>
            </a:r>
          </a:p>
        </p:txBody>
      </p:sp>
      <p:sp>
        <p:nvSpPr>
          <p:cNvPr id="44" name="Rectangle 43">
            <a:extLst>
              <a:ext uri="{FF2B5EF4-FFF2-40B4-BE49-F238E27FC236}">
                <a16:creationId xmlns:a16="http://schemas.microsoft.com/office/drawing/2014/main" id="{9438B319-BAB2-417C-BE6C-ABDED3656C7D}"/>
              </a:ext>
            </a:extLst>
          </p:cNvPr>
          <p:cNvSpPr/>
          <p:nvPr/>
        </p:nvSpPr>
        <p:spPr>
          <a:xfrm>
            <a:off x="3526744" y="4666225"/>
            <a:ext cx="1077327" cy="44390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a:t>
            </a:r>
            <a:r>
              <a:rPr lang="en-US" dirty="0">
                <a:ln w="0"/>
                <a:solidFill>
                  <a:schemeClr val="tx1"/>
                </a:solidFill>
              </a:rPr>
              <a:t>.Branch</a:t>
            </a:r>
            <a:r>
              <a:rPr lang="en-US" dirty="0">
                <a:solidFill>
                  <a:srgbClr val="808080"/>
                </a:solidFill>
              </a:rPr>
              <a:t>,</a:t>
            </a:r>
          </a:p>
        </p:txBody>
      </p:sp>
      <p:sp>
        <p:nvSpPr>
          <p:cNvPr id="45" name="Rectangle 44">
            <a:extLst>
              <a:ext uri="{FF2B5EF4-FFF2-40B4-BE49-F238E27FC236}">
                <a16:creationId xmlns:a16="http://schemas.microsoft.com/office/drawing/2014/main" id="{596D3343-3459-4074-A11E-6985FDE39AF8}"/>
              </a:ext>
            </a:extLst>
          </p:cNvPr>
          <p:cNvSpPr/>
          <p:nvPr/>
        </p:nvSpPr>
        <p:spPr>
          <a:xfrm>
            <a:off x="4699923" y="4666226"/>
            <a:ext cx="679468" cy="4439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a:t>
            </a:r>
            <a:r>
              <a:rPr lang="en-US" dirty="0">
                <a:ln w="0"/>
                <a:solidFill>
                  <a:schemeClr val="tx1"/>
                </a:solidFill>
              </a:rPr>
              <a:t>.SPI</a:t>
            </a:r>
          </a:p>
        </p:txBody>
      </p:sp>
      <p:graphicFrame>
        <p:nvGraphicFramePr>
          <p:cNvPr id="46" name="Table 45"/>
          <p:cNvGraphicFramePr>
            <a:graphicFrameLocks noGrp="1"/>
          </p:cNvGraphicFramePr>
          <p:nvPr/>
        </p:nvGraphicFramePr>
        <p:xfrm>
          <a:off x="6526724" y="978804"/>
          <a:ext cx="1979576" cy="2568848"/>
        </p:xfrm>
        <a:graphic>
          <a:graphicData uri="http://schemas.openxmlformats.org/drawingml/2006/table">
            <a:tbl>
              <a:tblPr bandRow="1">
                <a:tableStyleId>{073A0DAA-6AF3-43AB-8588-CEC1D06C72B9}</a:tableStyleId>
              </a:tblPr>
              <a:tblGrid>
                <a:gridCol w="511058">
                  <a:extLst>
                    <a:ext uri="{9D8B030D-6E8A-4147-A177-3AD203B41FA5}">
                      <a16:colId xmlns:a16="http://schemas.microsoft.com/office/drawing/2014/main" val="20000"/>
                    </a:ext>
                  </a:extLst>
                </a:gridCol>
                <a:gridCol w="766389">
                  <a:extLst>
                    <a:ext uri="{9D8B030D-6E8A-4147-A177-3AD203B41FA5}">
                      <a16:colId xmlns:a16="http://schemas.microsoft.com/office/drawing/2014/main" val="20001"/>
                    </a:ext>
                  </a:extLst>
                </a:gridCol>
                <a:gridCol w="702129">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a:solidFill>
                            <a:srgbClr val="000000"/>
                          </a:solidFill>
                          <a:effectLst/>
                          <a:latin typeface="+mj-lt"/>
                        </a:rPr>
                        <a:t>Meera</a:t>
                      </a: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47" name="Table 46"/>
          <p:cNvGraphicFramePr>
            <a:graphicFrameLocks noGrp="1"/>
          </p:cNvGraphicFramePr>
          <p:nvPr/>
        </p:nvGraphicFramePr>
        <p:xfrm>
          <a:off x="8582500" y="998322"/>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48" name="Table 47"/>
          <p:cNvGraphicFramePr>
            <a:graphicFrameLocks noGrp="1" noChangeAspect="1"/>
          </p:cNvGraphicFramePr>
          <p:nvPr/>
        </p:nvGraphicFramePr>
        <p:xfrm>
          <a:off x="6975337" y="4205761"/>
          <a:ext cx="2666988" cy="1853007"/>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96822">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9597">
                <a:tc>
                  <a:txBody>
                    <a:bodyPr/>
                    <a:lstStyle/>
                    <a:p>
                      <a:pPr marL="36000" algn="l" fontAlgn="b"/>
                      <a:r>
                        <a:rPr lang="en-US" sz="1600" b="0" i="0" u="none" strike="noStrike">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9597">
                <a:tc>
                  <a:txBody>
                    <a:bodyPr/>
                    <a:lstStyle/>
                    <a:p>
                      <a:pPr marL="36000" algn="l" fontAlgn="b"/>
                      <a:r>
                        <a:rPr lang="en-US" sz="1600" b="0" i="0" u="none" strike="noStrike">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r>
                        <a:rPr lang="en-US" sz="1600" b="0" i="0" u="none" strike="noStrike">
                          <a:solidFill>
                            <a:srgbClr val="000000"/>
                          </a:solidFill>
                          <a:effectLst/>
                          <a:latin typeface="+mj-lt"/>
                        </a:rPr>
                        <a:t>8.2</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a:solidFill>
                            <a:srgbClr val="000000"/>
                          </a:solidFill>
                          <a:effectLst/>
                          <a:latin typeface="+mj-lt"/>
                        </a:rPr>
                        <a:t>Meera</a:t>
                      </a: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5"/>
                  </a:ext>
                </a:extLst>
              </a:tr>
            </a:tbl>
          </a:graphicData>
        </a:graphic>
      </p:graphicFrame>
      <p:pic>
        <p:nvPicPr>
          <p:cNvPr id="49" name="Picture 48">
            <a:extLst>
              <a:ext uri="{FF2B5EF4-FFF2-40B4-BE49-F238E27FC236}">
                <a16:creationId xmlns:a16="http://schemas.microsoft.com/office/drawing/2014/main" id="{005423A4-773D-4B0B-BB7A-10C0ED990D7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8068176" y="3789448"/>
            <a:ext cx="422103" cy="381000"/>
          </a:xfrm>
          <a:prstGeom prst="rect">
            <a:avLst/>
          </a:prstGeom>
        </p:spPr>
      </p:pic>
    </p:spTree>
    <p:extLst>
      <p:ext uri="{BB962C8B-B14F-4D97-AF65-F5344CB8AC3E}">
        <p14:creationId xmlns:p14="http://schemas.microsoft.com/office/powerpoint/2010/main" val="425388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4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9" grpId="0"/>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Left outer Join</a:t>
            </a:r>
            <a:endParaRPr lang="en-US" dirty="0"/>
          </a:p>
        </p:txBody>
      </p:sp>
      <p:sp>
        <p:nvSpPr>
          <p:cNvPr id="3" name="Content Placeholder 2"/>
          <p:cNvSpPr>
            <a:spLocks noGrp="1"/>
          </p:cNvSpPr>
          <p:nvPr>
            <p:ph idx="1"/>
          </p:nvPr>
        </p:nvSpPr>
        <p:spPr/>
        <p:txBody>
          <a:bodyPr/>
          <a:lstStyle/>
          <a:p>
            <a:r>
              <a:rPr lang="en-US" dirty="0">
                <a:solidFill>
                  <a:srgbClr val="C00000"/>
                </a:solidFill>
              </a:rPr>
              <a:t>Left outer join </a:t>
            </a:r>
            <a:r>
              <a:rPr lang="en-US" b="1" dirty="0">
                <a:solidFill>
                  <a:srgbClr val="C00000"/>
                </a:solidFill>
              </a:rPr>
              <a:t>return all records from the left table</a:t>
            </a:r>
            <a:r>
              <a:rPr lang="en-US" dirty="0"/>
              <a:t>, </a:t>
            </a:r>
            <a:r>
              <a:rPr lang="en-US" b="1" dirty="0"/>
              <a:t>and </a:t>
            </a:r>
            <a:r>
              <a:rPr lang="en-US" dirty="0"/>
              <a:t>the </a:t>
            </a:r>
            <a:r>
              <a:rPr lang="en-US" b="1" dirty="0">
                <a:solidFill>
                  <a:srgbClr val="0E47A1"/>
                </a:solidFill>
              </a:rPr>
              <a:t>matched records from the right table</a:t>
            </a:r>
            <a:r>
              <a:rPr lang="en-US" dirty="0"/>
              <a:t>.</a:t>
            </a:r>
          </a:p>
          <a:p>
            <a:endParaRPr lang="en-US" dirty="0"/>
          </a:p>
        </p:txBody>
      </p:sp>
      <p:sp>
        <p:nvSpPr>
          <p:cNvPr id="4" name="Freeform 3"/>
          <p:cNvSpPr/>
          <p:nvPr/>
        </p:nvSpPr>
        <p:spPr>
          <a:xfrm>
            <a:off x="5559661" y="2131113"/>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5" name="Freeform 4"/>
          <p:cNvSpPr/>
          <p:nvPr/>
        </p:nvSpPr>
        <p:spPr>
          <a:xfrm>
            <a:off x="4994178" y="2056527"/>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6" name="Freeform 5"/>
          <p:cNvSpPr/>
          <p:nvPr/>
        </p:nvSpPr>
        <p:spPr>
          <a:xfrm>
            <a:off x="5842682" y="2056527"/>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7" name="Left-Right Arrow 6"/>
          <p:cNvSpPr/>
          <p:nvPr/>
        </p:nvSpPr>
        <p:spPr>
          <a:xfrm>
            <a:off x="6855011" y="2340251"/>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8" name="Oval 7"/>
          <p:cNvSpPr/>
          <p:nvPr/>
        </p:nvSpPr>
        <p:spPr>
          <a:xfrm>
            <a:off x="1027739" y="2055000"/>
            <a:ext cx="113096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9" name="Oval 8"/>
          <p:cNvSpPr/>
          <p:nvPr/>
        </p:nvSpPr>
        <p:spPr>
          <a:xfrm>
            <a:off x="2301356" y="2055000"/>
            <a:ext cx="1133204"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10" name="Right Arrow 9"/>
          <p:cNvSpPr/>
          <p:nvPr/>
        </p:nvSpPr>
        <p:spPr>
          <a:xfrm>
            <a:off x="3677170" y="2326959"/>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11" name="TextBox 10">
            <a:extLst>
              <a:ext uri="{FF2B5EF4-FFF2-40B4-BE49-F238E27FC236}">
                <a16:creationId xmlns:a16="http://schemas.microsoft.com/office/drawing/2014/main" id="{B8BDCC25-1E44-48A0-8550-F89E768A4A30}"/>
              </a:ext>
            </a:extLst>
          </p:cNvPr>
          <p:cNvSpPr txBox="1"/>
          <p:nvPr/>
        </p:nvSpPr>
        <p:spPr>
          <a:xfrm>
            <a:off x="343475" y="3451479"/>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342900" y="4038314"/>
            <a:ext cx="7962900" cy="198148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473495" y="42278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4" name="Rectangle 13"/>
          <p:cNvSpPr/>
          <p:nvPr/>
        </p:nvSpPr>
        <p:spPr>
          <a:xfrm>
            <a:off x="1594406" y="4239797"/>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474632" y="480045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6" name="Rectangle 15"/>
          <p:cNvSpPr/>
          <p:nvPr/>
        </p:nvSpPr>
        <p:spPr>
          <a:xfrm>
            <a:off x="1565168" y="4806173"/>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061001" y="5382216"/>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473495" y="5362396"/>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4257255" y="5384194"/>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0" name="Rectangle 19"/>
          <p:cNvSpPr/>
          <p:nvPr/>
        </p:nvSpPr>
        <p:spPr>
          <a:xfrm>
            <a:off x="2731362" y="4800457"/>
            <a:ext cx="19134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LEFT OUTER JOIN</a:t>
            </a:r>
            <a:endParaRPr lang="en-US" b="1" dirty="0">
              <a:solidFill>
                <a:schemeClr val="tx1"/>
              </a:solidFill>
            </a:endParaRPr>
          </a:p>
        </p:txBody>
      </p:sp>
      <p:sp>
        <p:nvSpPr>
          <p:cNvPr id="21" name="Rectangle 20"/>
          <p:cNvSpPr/>
          <p:nvPr/>
        </p:nvSpPr>
        <p:spPr>
          <a:xfrm>
            <a:off x="4742775" y="4800457"/>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416686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1000" fill="hold"/>
                                        <p:tgtEl>
                                          <p:spTgt spid="5"/>
                                        </p:tgtEl>
                                        <p:attrNameLst>
                                          <p:attrName>ppt_w</p:attrName>
                                        </p:attrNameLst>
                                      </p:cBhvr>
                                      <p:tavLst>
                                        <p:tav tm="0">
                                          <p:val>
                                            <p:fltVal val="0"/>
                                          </p:val>
                                        </p:tav>
                                        <p:tav tm="100000">
                                          <p:val>
                                            <p:strVal val="#ppt_w"/>
                                          </p:val>
                                        </p:tav>
                                      </p:tavLst>
                                    </p:anim>
                                    <p:anim calcmode="lin" valueType="num">
                                      <p:cBhvr>
                                        <p:cTn id="24" dur="1000" fill="hold"/>
                                        <p:tgtEl>
                                          <p:spTgt spid="5"/>
                                        </p:tgtEl>
                                        <p:attrNameLst>
                                          <p:attrName>ppt_h</p:attrName>
                                        </p:attrNameLst>
                                      </p:cBhvr>
                                      <p:tavLst>
                                        <p:tav tm="0">
                                          <p:val>
                                            <p:fltVal val="0"/>
                                          </p:val>
                                        </p:tav>
                                        <p:tav tm="100000">
                                          <p:val>
                                            <p:strVal val="#ppt_h"/>
                                          </p:val>
                                        </p:tav>
                                      </p:tavLst>
                                    </p:anim>
                                    <p:anim calcmode="lin" valueType="num">
                                      <p:cBhvr>
                                        <p:cTn id="25" dur="1000" fill="hold"/>
                                        <p:tgtEl>
                                          <p:spTgt spid="5"/>
                                        </p:tgtEl>
                                        <p:attrNameLst>
                                          <p:attrName>style.rotation</p:attrName>
                                        </p:attrNameLst>
                                      </p:cBhvr>
                                      <p:tavLst>
                                        <p:tav tm="0">
                                          <p:val>
                                            <p:fltVal val="90"/>
                                          </p:val>
                                        </p:tav>
                                        <p:tav tm="100000">
                                          <p:val>
                                            <p:fltVal val="0"/>
                                          </p:val>
                                        </p:tav>
                                      </p:tavLst>
                                    </p:anim>
                                    <p:animEffect transition="in" filter="fade">
                                      <p:cBhvr>
                                        <p:cTn id="26" dur="1000"/>
                                        <p:tgtEl>
                                          <p:spTgt spid="5"/>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1000" fill="hold"/>
                                        <p:tgtEl>
                                          <p:spTgt spid="4"/>
                                        </p:tgtEl>
                                        <p:attrNameLst>
                                          <p:attrName>ppt_w</p:attrName>
                                        </p:attrNameLst>
                                      </p:cBhvr>
                                      <p:tavLst>
                                        <p:tav tm="0">
                                          <p:val>
                                            <p:fltVal val="0"/>
                                          </p:val>
                                        </p:tav>
                                        <p:tav tm="100000">
                                          <p:val>
                                            <p:strVal val="#ppt_w"/>
                                          </p:val>
                                        </p:tav>
                                      </p:tavLst>
                                    </p:anim>
                                    <p:anim calcmode="lin" valueType="num">
                                      <p:cBhvr>
                                        <p:cTn id="30" dur="1000" fill="hold"/>
                                        <p:tgtEl>
                                          <p:spTgt spid="4"/>
                                        </p:tgtEl>
                                        <p:attrNameLst>
                                          <p:attrName>ppt_h</p:attrName>
                                        </p:attrNameLst>
                                      </p:cBhvr>
                                      <p:tavLst>
                                        <p:tav tm="0">
                                          <p:val>
                                            <p:fltVal val="0"/>
                                          </p:val>
                                        </p:tav>
                                        <p:tav tm="100000">
                                          <p:val>
                                            <p:strVal val="#ppt_h"/>
                                          </p:val>
                                        </p:tav>
                                      </p:tavLst>
                                    </p:anim>
                                    <p:anim calcmode="lin" valueType="num">
                                      <p:cBhvr>
                                        <p:cTn id="31" dur="1000" fill="hold"/>
                                        <p:tgtEl>
                                          <p:spTgt spid="4"/>
                                        </p:tgtEl>
                                        <p:attrNameLst>
                                          <p:attrName>style.rotation</p:attrName>
                                        </p:attrNameLst>
                                      </p:cBhvr>
                                      <p:tavLst>
                                        <p:tav tm="0">
                                          <p:val>
                                            <p:fltVal val="90"/>
                                          </p:val>
                                        </p:tav>
                                        <p:tav tm="100000">
                                          <p:val>
                                            <p:fltVal val="0"/>
                                          </p:val>
                                        </p:tav>
                                      </p:tavLst>
                                    </p:anim>
                                    <p:animEffect transition="in" filter="fade">
                                      <p:cBhvr>
                                        <p:cTn id="32" dur="1000"/>
                                        <p:tgtEl>
                                          <p:spTgt spid="4"/>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4.16667E-6 -4.07407E-6 L 0.09462 0.04005 C 0.11441 0.04908 0.1441 0.05394 0.175 0.05394 C 0.21025 0.05394 0.23855 0.04908 0.25834 0.04005 L 0.35313 -4.07407E-6 " pathEditMode="relative" rAng="0" ptsTypes="AAAAA">
                                      <p:cBhvr>
                                        <p:cTn id="48" dur="2000" fill="hold"/>
                                        <p:tgtEl>
                                          <p:spTgt spid="5"/>
                                        </p:tgtEl>
                                        <p:attrNameLst>
                                          <p:attrName>ppt_x</p:attrName>
                                          <p:attrName>ppt_y</p:attrName>
                                        </p:attrNameLst>
                                      </p:cBhvr>
                                      <p:rCtr x="17656" y="2685"/>
                                    </p:animMotion>
                                  </p:childTnLst>
                                </p:cTn>
                              </p:par>
                              <p:par>
                                <p:cTn id="49" presetID="37" presetClass="path" presetSubtype="0" accel="50000" decel="50000" fill="hold" grpId="1" nodeType="withEffect">
                                  <p:stCondLst>
                                    <p:cond delay="0"/>
                                  </p:stCondLst>
                                  <p:childTnLst>
                                    <p:animMotion origin="layout" path="M 1.66667E-6 -4.07407E-6 L 0.09462 0.04005 C 0.11441 0.04908 0.1441 0.05394 0.175 0.05394 C 0.21024 0.05394 0.23854 0.04908 0.25833 0.04005 L 0.35312 -4.07407E-6 " pathEditMode="relative" rAng="0" ptsTypes="AAAAA">
                                      <p:cBhvr>
                                        <p:cTn id="50" dur="2000" fill="hold"/>
                                        <p:tgtEl>
                                          <p:spTgt spid="4"/>
                                        </p:tgtEl>
                                        <p:attrNameLst>
                                          <p:attrName>ppt_x</p:attrName>
                                          <p:attrName>ppt_y</p:attrName>
                                        </p:attrNameLst>
                                      </p:cBhvr>
                                      <p:rCtr x="17656" y="2685"/>
                                    </p:animMotion>
                                  </p:childTnLst>
                                </p:cTn>
                              </p:par>
                              <p:par>
                                <p:cTn id="51" presetID="1" presetClass="emph" presetSubtype="2" fill="hold" nodeType="withEffect">
                                  <p:stCondLst>
                                    <p:cond delay="0"/>
                                  </p:stCondLst>
                                  <p:childTnLst>
                                    <p:animClr clrSpc="rgb" dir="cw">
                                      <p:cBhvr>
                                        <p:cTn id="52" dur="2000" fill="hold"/>
                                        <p:tgtEl>
                                          <p:spTgt spid="4"/>
                                        </p:tgtEl>
                                        <p:attrNameLst>
                                          <p:attrName>fillcolor</p:attrName>
                                        </p:attrNameLst>
                                      </p:cBhvr>
                                      <p:to>
                                        <a:srgbClr val="C0504D"/>
                                      </p:to>
                                    </p:animClr>
                                    <p:set>
                                      <p:cBhvr>
                                        <p:cTn id="53" dur="2000" fill="hold"/>
                                        <p:tgtEl>
                                          <p:spTgt spid="4"/>
                                        </p:tgtEl>
                                        <p:attrNameLst>
                                          <p:attrName>fill.type</p:attrName>
                                        </p:attrNameLst>
                                      </p:cBhvr>
                                      <p:to>
                                        <p:strVal val="solid"/>
                                      </p:to>
                                    </p:set>
                                    <p:set>
                                      <p:cBhvr>
                                        <p:cTn id="54" dur="2000" fill="hold"/>
                                        <p:tgtEl>
                                          <p:spTgt spid="4"/>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7" grpId="0" animBg="1"/>
      <p:bldP spid="8" grpId="0"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Left outer Join</a:t>
            </a:r>
            <a:endParaRPr lang="en-US" dirty="0"/>
          </a:p>
        </p:txBody>
      </p:sp>
      <p:sp>
        <p:nvSpPr>
          <p:cNvPr id="4" name="TextBox 3"/>
          <p:cNvSpPr txBox="1"/>
          <p:nvPr/>
        </p:nvSpPr>
        <p:spPr>
          <a:xfrm>
            <a:off x="130889" y="876008"/>
            <a:ext cx="1080000" cy="369332"/>
          </a:xfrm>
          <a:prstGeom prst="rect">
            <a:avLst/>
          </a:prstGeom>
          <a:noFill/>
        </p:spPr>
        <p:txBody>
          <a:bodyPr wrap="square" rtlCol="0">
            <a:spAutoFit/>
          </a:bodyPr>
          <a:lstStyle/>
          <a:p>
            <a:r>
              <a:rPr lang="en-US" b="1" u="sng" dirty="0"/>
              <a:t>Example</a:t>
            </a:r>
          </a:p>
        </p:txBody>
      </p:sp>
      <p:sp>
        <p:nvSpPr>
          <p:cNvPr id="5" name="Rectangle 4"/>
          <p:cNvSpPr>
            <a:spLocks noChangeAspect="1"/>
          </p:cNvSpPr>
          <p:nvPr/>
        </p:nvSpPr>
        <p:spPr>
          <a:xfrm>
            <a:off x="419099" y="1392450"/>
            <a:ext cx="9628792" cy="195299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609600" y="15698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p:cNvSpPr/>
          <p:nvPr/>
        </p:nvSpPr>
        <p:spPr>
          <a:xfrm>
            <a:off x="1713208" y="1569888"/>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p>
        </p:txBody>
      </p:sp>
      <p:sp>
        <p:nvSpPr>
          <p:cNvPr id="8" name="Rectangle 7"/>
          <p:cNvSpPr/>
          <p:nvPr/>
        </p:nvSpPr>
        <p:spPr>
          <a:xfrm>
            <a:off x="3282701" y="1547118"/>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p>
        </p:txBody>
      </p:sp>
      <p:sp>
        <p:nvSpPr>
          <p:cNvPr id="9" name="Rectangle 8"/>
          <p:cNvSpPr/>
          <p:nvPr/>
        </p:nvSpPr>
        <p:spPr>
          <a:xfrm>
            <a:off x="5000197" y="1544986"/>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p>
        </p:txBody>
      </p:sp>
      <p:sp>
        <p:nvSpPr>
          <p:cNvPr id="10" name="Rectangle 9"/>
          <p:cNvSpPr/>
          <p:nvPr/>
        </p:nvSpPr>
        <p:spPr>
          <a:xfrm>
            <a:off x="8670403" y="1534441"/>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622772" y="214507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2" name="Rectangle 11"/>
          <p:cNvSpPr/>
          <p:nvPr/>
        </p:nvSpPr>
        <p:spPr>
          <a:xfrm>
            <a:off x="1713209" y="21496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3012564" y="2137105"/>
            <a:ext cx="1876883"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LEFT OUTER JOIN</a:t>
            </a:r>
            <a:endParaRPr lang="en-US" b="1" dirty="0">
              <a:solidFill>
                <a:schemeClr val="tx1"/>
              </a:solidFill>
            </a:endParaRPr>
          </a:p>
        </p:txBody>
      </p:sp>
      <p:sp>
        <p:nvSpPr>
          <p:cNvPr id="14" name="Rectangle 13"/>
          <p:cNvSpPr/>
          <p:nvPr/>
        </p:nvSpPr>
        <p:spPr>
          <a:xfrm>
            <a:off x="5000197" y="21496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629358" y="268558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6" name="Rectangle 15"/>
          <p:cNvSpPr/>
          <p:nvPr/>
        </p:nvSpPr>
        <p:spPr>
          <a:xfrm>
            <a:off x="1210012" y="2670789"/>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4048220" y="2672520"/>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419600" y="4774951"/>
            <a:ext cx="743902" cy="672186"/>
          </a:xfrm>
          <a:prstGeom prst="rect">
            <a:avLst/>
          </a:prstGeom>
        </p:spPr>
      </p:pic>
      <p:graphicFrame>
        <p:nvGraphicFramePr>
          <p:cNvPr id="19" name="Table 18"/>
          <p:cNvGraphicFramePr>
            <a:graphicFrameLocks noGrp="1"/>
          </p:cNvGraphicFramePr>
          <p:nvPr/>
        </p:nvGraphicFramePr>
        <p:xfrm>
          <a:off x="580048" y="3746625"/>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rgbClr val="00B050"/>
                          </a:solidFill>
                          <a:effectLst/>
                          <a:latin typeface="+mj-lt"/>
                          <a:ea typeface="+mn-ea"/>
                          <a:cs typeface="+mn-cs"/>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a:solidFill>
                            <a:srgbClr val="000000"/>
                          </a:solidFill>
                          <a:effectLst/>
                          <a:latin typeface="+mj-lt"/>
                        </a:rPr>
                        <a:t>Meera</a:t>
                      </a: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1" i="0" u="none" strike="noStrike" kern="1200" dirty="0">
                          <a:solidFill>
                            <a:srgbClr val="00B050"/>
                          </a:solidFill>
                          <a:effectLst/>
                          <a:latin typeface="+mj-lt"/>
                          <a:ea typeface="+mn-ea"/>
                          <a:cs typeface="+mn-cs"/>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nvGraphicFramePr>
        <p:xfrm>
          <a:off x="2957024" y="3766143"/>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kern="1200" dirty="0">
                          <a:solidFill>
                            <a:srgbClr val="0E47A1"/>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noChangeAspect="1"/>
          </p:cNvGraphicFramePr>
          <p:nvPr/>
        </p:nvGraphicFramePr>
        <p:xfrm>
          <a:off x="5442685" y="3809250"/>
          <a:ext cx="4531630" cy="2642149"/>
        </p:xfrm>
        <a:graphic>
          <a:graphicData uri="http://schemas.openxmlformats.org/drawingml/2006/table">
            <a:tbl>
              <a:tblPr bandRow="1">
                <a:tableStyleId>{073A0DAA-6AF3-43AB-8588-CEC1D06C72B9}</a:tableStyleId>
              </a:tblPr>
              <a:tblGrid>
                <a:gridCol w="912950">
                  <a:extLst>
                    <a:ext uri="{9D8B030D-6E8A-4147-A177-3AD203B41FA5}">
                      <a16:colId xmlns:a16="http://schemas.microsoft.com/office/drawing/2014/main" val="20000"/>
                    </a:ext>
                  </a:extLst>
                </a:gridCol>
                <a:gridCol w="1269389">
                  <a:extLst>
                    <a:ext uri="{9D8B030D-6E8A-4147-A177-3AD203B41FA5}">
                      <a16:colId xmlns:a16="http://schemas.microsoft.com/office/drawing/2014/main" val="20001"/>
                    </a:ext>
                  </a:extLst>
                </a:gridCol>
                <a:gridCol w="888355">
                  <a:extLst>
                    <a:ext uri="{9D8B030D-6E8A-4147-A177-3AD203B41FA5}">
                      <a16:colId xmlns:a16="http://schemas.microsoft.com/office/drawing/2014/main" val="20002"/>
                    </a:ext>
                  </a:extLst>
                </a:gridCol>
                <a:gridCol w="868931">
                  <a:extLst>
                    <a:ext uri="{9D8B030D-6E8A-4147-A177-3AD203B41FA5}">
                      <a16:colId xmlns:a16="http://schemas.microsoft.com/office/drawing/2014/main" val="20003"/>
                    </a:ext>
                  </a:extLst>
                </a:gridCol>
                <a:gridCol w="592005">
                  <a:extLst>
                    <a:ext uri="{9D8B030D-6E8A-4147-A177-3AD203B41FA5}">
                      <a16:colId xmlns:a16="http://schemas.microsoft.com/office/drawing/2014/main" val="2311225366"/>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gridSpan="2">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IN"/>
                    </a:p>
                  </a:txBody>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 (STU)</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marR="0" lvl="0" indent="0" algn="l" defTabSz="914400" rtl="0" eaLnBrk="1" fontAlgn="b" latinLnBrk="0" hangingPunct="1">
                        <a:lnSpc>
                          <a:spcPct val="100000"/>
                        </a:lnSpc>
                        <a:spcBef>
                          <a:spcPts val="600"/>
                        </a:spcBef>
                        <a:spcAft>
                          <a:spcPts val="0"/>
                        </a:spcAft>
                        <a:buClrTx/>
                        <a:buSzTx/>
                        <a:buFontTx/>
                        <a:buNone/>
                        <a:tabLst/>
                        <a:defRPr/>
                      </a:pPr>
                      <a:r>
                        <a:rPr lang="en-US" sz="1600" b="1" i="0" u="none" strike="noStrike" kern="1200" dirty="0">
                          <a:solidFill>
                            <a:srgbClr val="FFFFFF"/>
                          </a:solidFill>
                          <a:effectLst/>
                          <a:latin typeface="+mn-lt"/>
                          <a:ea typeface="+mn-ea"/>
                          <a:cs typeface="+mn-cs"/>
                        </a:rPr>
                        <a:t>RNO (Result)</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4800">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4800">
                <a:tc>
                  <a:txBody>
                    <a:bodyPr/>
                    <a:lstStyle/>
                    <a:p>
                      <a:pPr marL="36000" algn="l" fontAlgn="b"/>
                      <a:r>
                        <a:rPr lang="en-US" sz="1600" b="1" i="0" u="none" strike="noStrike" kern="1200" dirty="0">
                          <a:solidFill>
                            <a:srgbClr val="00B050"/>
                          </a:solidFill>
                          <a:effectLst/>
                          <a:latin typeface="+mj-lt"/>
                          <a:ea typeface="+mn-ea"/>
                          <a:cs typeface="+mn-cs"/>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spcBef>
                          <a:spcPts val="600"/>
                        </a:spcBef>
                      </a:pPr>
                      <a:r>
                        <a:rPr lang="en-US" sz="1600" b="1" i="1" u="none" strike="noStrike" kern="1200" dirty="0">
                          <a:solidFill>
                            <a:srgbClr val="FF0000"/>
                          </a:solidFill>
                          <a:effectLst/>
                          <a:latin typeface="+mn-lt"/>
                          <a:ea typeface="+mn-ea"/>
                          <a:cs typeface="+mn-cs"/>
                        </a:rPr>
                        <a:t>NULL</a:t>
                      </a:r>
                      <a:endParaRPr lang="en-US" sz="1600" b="1" i="0" u="none" strike="noStrike" dirty="0">
                        <a:solidFill>
                          <a:srgbClr val="000000"/>
                        </a:solidFill>
                        <a:effectLst/>
                        <a:latin typeface="+mj-lt"/>
                      </a:endParaRPr>
                    </a:p>
                  </a:txBody>
                  <a:tcPr marL="9525" marR="9525" marT="9525" marB="0" anchor="b"/>
                </a:tc>
                <a:tc>
                  <a:txBody>
                    <a:bodyPr/>
                    <a:lstStyle/>
                    <a:p>
                      <a:pPr marL="36000" algn="l" fontAlgn="b"/>
                      <a:r>
                        <a:rPr lang="en-US" sz="1600" b="1" i="1" u="none" strike="noStrike" dirty="0">
                          <a:solidFill>
                            <a:srgbClr val="FF0000"/>
                          </a:solidFill>
                          <a:effectLst/>
                          <a:latin typeface="+mj-lt"/>
                        </a:rPr>
                        <a:t>NULL</a:t>
                      </a:r>
                    </a:p>
                  </a:txBody>
                  <a:tcPr marL="9525" marR="9525" marT="9525" marB="0" anchor="b"/>
                </a:tc>
                <a:extLst>
                  <a:ext uri="{0D108BD9-81ED-4DB2-BD59-A6C34878D82A}">
                    <a16:rowId xmlns:a16="http://schemas.microsoft.com/office/drawing/2014/main" val="10004"/>
                  </a:ext>
                </a:extLst>
              </a:tr>
              <a:tr h="309597">
                <a:tc>
                  <a:txBody>
                    <a:bodyPr/>
                    <a:lstStyle/>
                    <a:p>
                      <a:pPr marL="36000" algn="l" defTabSz="914400" rtl="0" eaLnBrk="1" fontAlgn="b" latinLnBrk="0" hangingPunct="1"/>
                      <a:r>
                        <a:rPr lang="en-US" sz="1600" b="1" i="0" u="none" strike="noStrike" kern="120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5"/>
                  </a:ext>
                </a:extLst>
              </a:tr>
              <a:tr h="309597">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marR="0" lvl="0" indent="0" algn="l" defTabSz="914400" rtl="0" eaLnBrk="1" fontAlgn="b" latinLnBrk="0" hangingPunct="1">
                        <a:lnSpc>
                          <a:spcPct val="100000"/>
                        </a:lnSpc>
                        <a:spcBef>
                          <a:spcPts val="600"/>
                        </a:spcBef>
                        <a:spcAft>
                          <a:spcPts val="0"/>
                        </a:spcAft>
                        <a:buClrTx/>
                        <a:buSzTx/>
                        <a:buFontTx/>
                        <a:buNone/>
                        <a:tabLst/>
                        <a:defRPr/>
                      </a:pPr>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6"/>
                  </a:ext>
                </a:extLst>
              </a:tr>
              <a:tr h="309597">
                <a:tc>
                  <a:txBody>
                    <a:bodyPr/>
                    <a:lstStyle/>
                    <a:p>
                      <a:pPr marL="36000" algn="l" fontAlgn="b"/>
                      <a:r>
                        <a:rPr lang="en-US" sz="1600" b="1" i="0" u="none" strike="noStrike" kern="1200" dirty="0">
                          <a:solidFill>
                            <a:srgbClr val="00B050"/>
                          </a:solidFill>
                          <a:effectLst/>
                          <a:latin typeface="+mj-lt"/>
                          <a:ea typeface="+mn-ea"/>
                          <a:cs typeface="+mn-cs"/>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spcBef>
                          <a:spcPts val="600"/>
                        </a:spcBef>
                      </a:pPr>
                      <a:r>
                        <a:rPr lang="en-US" sz="1600" b="1" i="1" u="none" strike="noStrike" kern="1200" dirty="0">
                          <a:solidFill>
                            <a:srgbClr val="FF0000"/>
                          </a:solidFill>
                          <a:effectLst/>
                          <a:latin typeface="+mn-lt"/>
                          <a:ea typeface="+mn-ea"/>
                          <a:cs typeface="+mn-cs"/>
                        </a:rPr>
                        <a:t>NULL</a:t>
                      </a:r>
                      <a:endParaRPr lang="en-US" sz="1600" b="1" i="0" u="none" strike="noStrike" dirty="0">
                        <a:solidFill>
                          <a:srgbClr val="000000"/>
                        </a:solidFill>
                        <a:effectLst/>
                        <a:latin typeface="+mj-lt"/>
                      </a:endParaRPr>
                    </a:p>
                  </a:txBody>
                  <a:tcPr marL="9525" marR="9525" marT="9525" marB="0" anchor="b"/>
                </a:tc>
                <a:tc>
                  <a:txBody>
                    <a:bodyPr/>
                    <a:lstStyle/>
                    <a:p>
                      <a:pPr marL="36000" algn="l" fontAlgn="b"/>
                      <a:r>
                        <a:rPr lang="en-US" sz="1600" b="1" i="1" u="none" strike="noStrike" dirty="0">
                          <a:solidFill>
                            <a:srgbClr val="FF0000"/>
                          </a:solidFill>
                          <a:effectLst/>
                          <a:latin typeface="+mj-lt"/>
                        </a:rPr>
                        <a:t>NULL</a:t>
                      </a:r>
                    </a:p>
                  </a:txBody>
                  <a:tcPr marL="9525" marR="9525" marT="9525" marB="0" anchor="b"/>
                </a:tc>
                <a:extLst>
                  <a:ext uri="{0D108BD9-81ED-4DB2-BD59-A6C34878D82A}">
                    <a16:rowId xmlns:a16="http://schemas.microsoft.com/office/drawing/2014/main" val="10007"/>
                  </a:ext>
                </a:extLst>
              </a:tr>
            </a:tbl>
          </a:graphicData>
        </a:graphic>
      </p:graphicFrame>
      <p:sp>
        <p:nvSpPr>
          <p:cNvPr id="3" name="Rectangle 2">
            <a:extLst>
              <a:ext uri="{FF2B5EF4-FFF2-40B4-BE49-F238E27FC236}">
                <a16:creationId xmlns:a16="http://schemas.microsoft.com/office/drawing/2014/main" id="{51D19959-F5C3-BC7F-2DB6-EE9CF7623EA8}"/>
              </a:ext>
            </a:extLst>
          </p:cNvPr>
          <p:cNvSpPr/>
          <p:nvPr/>
        </p:nvSpPr>
        <p:spPr>
          <a:xfrm>
            <a:off x="6922694" y="1544986"/>
            <a:ext cx="160119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.RNO,</a:t>
            </a:r>
          </a:p>
        </p:txBody>
      </p:sp>
    </p:spTree>
    <p:extLst>
      <p:ext uri="{BB962C8B-B14F-4D97-AF65-F5344CB8AC3E}">
        <p14:creationId xmlns:p14="http://schemas.microsoft.com/office/powerpoint/2010/main" val="1878327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Right outer Join</a:t>
            </a:r>
            <a:endParaRPr lang="en-US" dirty="0"/>
          </a:p>
        </p:txBody>
      </p:sp>
      <p:sp>
        <p:nvSpPr>
          <p:cNvPr id="3" name="Content Placeholder 2"/>
          <p:cNvSpPr>
            <a:spLocks noGrp="1"/>
          </p:cNvSpPr>
          <p:nvPr>
            <p:ph idx="1"/>
          </p:nvPr>
        </p:nvSpPr>
        <p:spPr/>
        <p:txBody>
          <a:bodyPr/>
          <a:lstStyle/>
          <a:p>
            <a:r>
              <a:rPr lang="en-US" dirty="0">
                <a:solidFill>
                  <a:srgbClr val="C00000"/>
                </a:solidFill>
              </a:rPr>
              <a:t>Right outer join </a:t>
            </a:r>
            <a:r>
              <a:rPr lang="en-US" b="1" dirty="0">
                <a:solidFill>
                  <a:srgbClr val="C00000"/>
                </a:solidFill>
              </a:rPr>
              <a:t>return all records from the right table</a:t>
            </a:r>
            <a:r>
              <a:rPr lang="en-US" dirty="0"/>
              <a:t>, </a:t>
            </a:r>
            <a:r>
              <a:rPr lang="en-US" b="1" dirty="0"/>
              <a:t>and</a:t>
            </a:r>
            <a:r>
              <a:rPr lang="en-US" dirty="0"/>
              <a:t> the </a:t>
            </a:r>
            <a:r>
              <a:rPr lang="en-US" b="1" dirty="0">
                <a:solidFill>
                  <a:srgbClr val="0E47A1"/>
                </a:solidFill>
              </a:rPr>
              <a:t>matched records from the left table</a:t>
            </a:r>
            <a:r>
              <a:rPr lang="en-US" dirty="0"/>
              <a:t>.</a:t>
            </a:r>
          </a:p>
          <a:p>
            <a:endParaRPr lang="en-US" dirty="0"/>
          </a:p>
        </p:txBody>
      </p:sp>
      <p:sp>
        <p:nvSpPr>
          <p:cNvPr id="4" name="Oval 3"/>
          <p:cNvSpPr/>
          <p:nvPr/>
        </p:nvSpPr>
        <p:spPr>
          <a:xfrm>
            <a:off x="965029" y="2045375"/>
            <a:ext cx="113096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5" name="Oval 4"/>
          <p:cNvSpPr/>
          <p:nvPr/>
        </p:nvSpPr>
        <p:spPr>
          <a:xfrm>
            <a:off x="2238646" y="2045375"/>
            <a:ext cx="1133204"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6" name="Freeform 5"/>
          <p:cNvSpPr/>
          <p:nvPr/>
        </p:nvSpPr>
        <p:spPr>
          <a:xfrm>
            <a:off x="5533097" y="211996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7" name="Freeform 6"/>
          <p:cNvSpPr/>
          <p:nvPr/>
        </p:nvSpPr>
        <p:spPr>
          <a:xfrm>
            <a:off x="4967614" y="204537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8" name="Freeform 7"/>
          <p:cNvSpPr/>
          <p:nvPr/>
        </p:nvSpPr>
        <p:spPr>
          <a:xfrm>
            <a:off x="5816118" y="204537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9" name="Right Arrow 8"/>
          <p:cNvSpPr/>
          <p:nvPr/>
        </p:nvSpPr>
        <p:spPr>
          <a:xfrm>
            <a:off x="3598785" y="2366933"/>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10" name="Left-Right Arrow 9"/>
          <p:cNvSpPr/>
          <p:nvPr/>
        </p:nvSpPr>
        <p:spPr>
          <a:xfrm>
            <a:off x="6840383" y="2366933"/>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11" name="TextBox 10">
            <a:extLst>
              <a:ext uri="{FF2B5EF4-FFF2-40B4-BE49-F238E27FC236}">
                <a16:creationId xmlns:a16="http://schemas.microsoft.com/office/drawing/2014/main" id="{B8BDCC25-1E44-48A0-8550-F89E768A4A30}"/>
              </a:ext>
            </a:extLst>
          </p:cNvPr>
          <p:cNvSpPr txBox="1"/>
          <p:nvPr/>
        </p:nvSpPr>
        <p:spPr>
          <a:xfrm>
            <a:off x="247225" y="3557997"/>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342900" y="4038314"/>
            <a:ext cx="7962900" cy="198148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473495" y="42278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4" name="Rectangle 13"/>
          <p:cNvSpPr/>
          <p:nvPr/>
        </p:nvSpPr>
        <p:spPr>
          <a:xfrm>
            <a:off x="1594406" y="4239797"/>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474632" y="480045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6" name="Rectangle 15"/>
          <p:cNvSpPr/>
          <p:nvPr/>
        </p:nvSpPr>
        <p:spPr>
          <a:xfrm>
            <a:off x="1565168" y="4806173"/>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074820" y="5399483"/>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487314" y="5379663"/>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4271074" y="5401461"/>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20" name="Rectangle 19"/>
          <p:cNvSpPr/>
          <p:nvPr/>
        </p:nvSpPr>
        <p:spPr>
          <a:xfrm>
            <a:off x="2756594" y="4817554"/>
            <a:ext cx="196780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RIGHT OUTER JOIN</a:t>
            </a:r>
            <a:endParaRPr lang="en-US" b="1" dirty="0">
              <a:solidFill>
                <a:schemeClr val="tx1"/>
              </a:solidFill>
            </a:endParaRPr>
          </a:p>
        </p:txBody>
      </p:sp>
      <p:sp>
        <p:nvSpPr>
          <p:cNvPr id="21" name="Rectangle 20"/>
          <p:cNvSpPr/>
          <p:nvPr/>
        </p:nvSpPr>
        <p:spPr>
          <a:xfrm>
            <a:off x="4847635" y="4817554"/>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307399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1000" fill="hold"/>
                                        <p:tgtEl>
                                          <p:spTgt spid="8"/>
                                        </p:tgtEl>
                                        <p:attrNameLst>
                                          <p:attrName>ppt_w</p:attrName>
                                        </p:attrNameLst>
                                      </p:cBhvr>
                                      <p:tavLst>
                                        <p:tav tm="0">
                                          <p:val>
                                            <p:fltVal val="0"/>
                                          </p:val>
                                        </p:tav>
                                        <p:tav tm="100000">
                                          <p:val>
                                            <p:strVal val="#ppt_w"/>
                                          </p:val>
                                        </p:tav>
                                      </p:tavLst>
                                    </p:anim>
                                    <p:anim calcmode="lin" valueType="num">
                                      <p:cBhvr>
                                        <p:cTn id="36" dur="1000" fill="hold"/>
                                        <p:tgtEl>
                                          <p:spTgt spid="8"/>
                                        </p:tgtEl>
                                        <p:attrNameLst>
                                          <p:attrName>ppt_h</p:attrName>
                                        </p:attrNameLst>
                                      </p:cBhvr>
                                      <p:tavLst>
                                        <p:tav tm="0">
                                          <p:val>
                                            <p:fltVal val="0"/>
                                          </p:val>
                                        </p:tav>
                                        <p:tav tm="100000">
                                          <p:val>
                                            <p:strVal val="#ppt_h"/>
                                          </p:val>
                                        </p:tav>
                                      </p:tavLst>
                                    </p:anim>
                                    <p:anim calcmode="lin" valueType="num">
                                      <p:cBhvr>
                                        <p:cTn id="37" dur="1000" fill="hold"/>
                                        <p:tgtEl>
                                          <p:spTgt spid="8"/>
                                        </p:tgtEl>
                                        <p:attrNameLst>
                                          <p:attrName>style.rotation</p:attrName>
                                        </p:attrNameLst>
                                      </p:cBhvr>
                                      <p:tavLst>
                                        <p:tav tm="0">
                                          <p:val>
                                            <p:fltVal val="90"/>
                                          </p:val>
                                        </p:tav>
                                        <p:tav tm="100000">
                                          <p:val>
                                            <p:fltVal val="0"/>
                                          </p:val>
                                        </p:tav>
                                      </p:tavLst>
                                    </p:anim>
                                    <p:animEffect transition="in" filter="fade">
                                      <p:cBhvr>
                                        <p:cTn id="38" dur="10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1.66667E-6 -4.07407E-6 L 0.07986 0.04005 C 0.0967 0.04908 0.1217 0.05394 0.14774 0.05394 C 0.1776 0.05394 0.20139 0.04908 0.21823 0.04005 L 0.29826 -4.07407E-6 " pathEditMode="relative" rAng="0" ptsTypes="AAAAA">
                                      <p:cBhvr>
                                        <p:cTn id="48" dur="2000" fill="hold"/>
                                        <p:tgtEl>
                                          <p:spTgt spid="6"/>
                                        </p:tgtEl>
                                        <p:attrNameLst>
                                          <p:attrName>ppt_x</p:attrName>
                                          <p:attrName>ppt_y</p:attrName>
                                        </p:attrNameLst>
                                      </p:cBhvr>
                                      <p:rCtr x="14913" y="2685"/>
                                    </p:animMotion>
                                  </p:childTnLst>
                                </p:cTn>
                              </p:par>
                              <p:par>
                                <p:cTn id="49" presetID="37" presetClass="path" presetSubtype="0" accel="50000" decel="50000" fill="hold" grpId="1" nodeType="withEffect">
                                  <p:stCondLst>
                                    <p:cond delay="0"/>
                                  </p:stCondLst>
                                  <p:childTnLst>
                                    <p:animMotion origin="layout" path="M 3.88889E-6 -4.07407E-6 L 0.07986 0.04005 C 0.0967 0.04908 0.1217 0.05394 0.14774 0.05394 C 0.1776 0.05394 0.20139 0.04908 0.21823 0.04005 L 0.29826 -4.07407E-6 " pathEditMode="relative" rAng="0" ptsTypes="AAAAA">
                                      <p:cBhvr>
                                        <p:cTn id="50" dur="2000" fill="hold"/>
                                        <p:tgtEl>
                                          <p:spTgt spid="8"/>
                                        </p:tgtEl>
                                        <p:attrNameLst>
                                          <p:attrName>ppt_x</p:attrName>
                                          <p:attrName>ppt_y</p:attrName>
                                        </p:attrNameLst>
                                      </p:cBhvr>
                                      <p:rCtr x="14913" y="2685"/>
                                    </p:animMotion>
                                  </p:childTnLst>
                                </p:cTn>
                              </p:par>
                              <p:par>
                                <p:cTn id="51" presetID="1" presetClass="emph" presetSubtype="2" fill="hold" nodeType="withEffect">
                                  <p:stCondLst>
                                    <p:cond delay="0"/>
                                  </p:stCondLst>
                                  <p:childTnLst>
                                    <p:animClr clrSpc="rgb" dir="cw">
                                      <p:cBhvr>
                                        <p:cTn id="52" dur="2000" fill="hold"/>
                                        <p:tgtEl>
                                          <p:spTgt spid="6"/>
                                        </p:tgtEl>
                                        <p:attrNameLst>
                                          <p:attrName>fillcolor</p:attrName>
                                        </p:attrNameLst>
                                      </p:cBhvr>
                                      <p:to>
                                        <a:srgbClr val="76923C"/>
                                      </p:to>
                                    </p:animClr>
                                    <p:set>
                                      <p:cBhvr>
                                        <p:cTn id="53" dur="2000" fill="hold"/>
                                        <p:tgtEl>
                                          <p:spTgt spid="6"/>
                                        </p:tgtEl>
                                        <p:attrNameLst>
                                          <p:attrName>fill.type</p:attrName>
                                        </p:attrNameLst>
                                      </p:cBhvr>
                                      <p:to>
                                        <p:strVal val="solid"/>
                                      </p:to>
                                    </p:set>
                                    <p:set>
                                      <p:cBhvr>
                                        <p:cTn id="54" dur="2000" fill="hold"/>
                                        <p:tgtEl>
                                          <p:spTgt spid="6"/>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6" grpId="1" animBg="1"/>
      <p:bldP spid="7" grpId="0" animBg="1"/>
      <p:bldP spid="8" grpId="0" animBg="1"/>
      <p:bldP spid="8" grpId="1"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Right outer Join</a:t>
            </a:r>
            <a:endParaRPr lang="en-US" dirty="0"/>
          </a:p>
        </p:txBody>
      </p:sp>
      <p:sp>
        <p:nvSpPr>
          <p:cNvPr id="4" name="TextBox 3"/>
          <p:cNvSpPr txBox="1"/>
          <p:nvPr/>
        </p:nvSpPr>
        <p:spPr>
          <a:xfrm>
            <a:off x="162025" y="865846"/>
            <a:ext cx="1080000" cy="360000"/>
          </a:xfrm>
          <a:prstGeom prst="rect">
            <a:avLst/>
          </a:prstGeom>
          <a:noFill/>
        </p:spPr>
        <p:txBody>
          <a:bodyPr wrap="square" rtlCol="0">
            <a:spAutoFit/>
          </a:bodyPr>
          <a:lstStyle/>
          <a:p>
            <a:r>
              <a:rPr lang="en-US" b="1" u="sng" dirty="0"/>
              <a:t>Example</a:t>
            </a:r>
          </a:p>
        </p:txBody>
      </p:sp>
      <p:sp>
        <p:nvSpPr>
          <p:cNvPr id="5" name="Rectangle 4"/>
          <p:cNvSpPr/>
          <p:nvPr/>
        </p:nvSpPr>
        <p:spPr>
          <a:xfrm>
            <a:off x="571500" y="1352555"/>
            <a:ext cx="9844252" cy="18205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762000" y="152999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p:cNvSpPr/>
          <p:nvPr/>
        </p:nvSpPr>
        <p:spPr>
          <a:xfrm>
            <a:off x="1865608" y="1529993"/>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r>
              <a:rPr lang="en-US" dirty="0">
                <a:solidFill>
                  <a:srgbClr val="808080"/>
                </a:solidFill>
              </a:rPr>
              <a:t>,</a:t>
            </a:r>
          </a:p>
        </p:txBody>
      </p:sp>
      <p:sp>
        <p:nvSpPr>
          <p:cNvPr id="8" name="Rectangle 7"/>
          <p:cNvSpPr/>
          <p:nvPr/>
        </p:nvSpPr>
        <p:spPr>
          <a:xfrm>
            <a:off x="3435101" y="1507223"/>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r>
              <a:rPr lang="en-US" dirty="0">
                <a:solidFill>
                  <a:srgbClr val="808080"/>
                </a:solidFill>
              </a:rPr>
              <a:t>,</a:t>
            </a:r>
          </a:p>
        </p:txBody>
      </p:sp>
      <p:sp>
        <p:nvSpPr>
          <p:cNvPr id="9" name="Rectangle 8"/>
          <p:cNvSpPr/>
          <p:nvPr/>
        </p:nvSpPr>
        <p:spPr>
          <a:xfrm>
            <a:off x="5152597" y="1505091"/>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r>
              <a:rPr lang="en-US" dirty="0">
                <a:solidFill>
                  <a:srgbClr val="808080"/>
                </a:solidFill>
              </a:rPr>
              <a:t>,</a:t>
            </a:r>
          </a:p>
        </p:txBody>
      </p:sp>
      <p:sp>
        <p:nvSpPr>
          <p:cNvPr id="10" name="Rectangle 9"/>
          <p:cNvSpPr/>
          <p:nvPr/>
        </p:nvSpPr>
        <p:spPr>
          <a:xfrm>
            <a:off x="9042416" y="1505091"/>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775172" y="2105181"/>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2" name="Rectangle 11"/>
          <p:cNvSpPr/>
          <p:nvPr/>
        </p:nvSpPr>
        <p:spPr>
          <a:xfrm>
            <a:off x="1865609" y="210973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3164965" y="2097210"/>
            <a:ext cx="1987632"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RIGHT OUTER JOIN</a:t>
            </a:r>
            <a:endParaRPr lang="en-US" b="1" dirty="0">
              <a:solidFill>
                <a:schemeClr val="tx1"/>
              </a:solidFill>
            </a:endParaRPr>
          </a:p>
        </p:txBody>
      </p:sp>
      <p:sp>
        <p:nvSpPr>
          <p:cNvPr id="14" name="Rectangle 13"/>
          <p:cNvSpPr/>
          <p:nvPr/>
        </p:nvSpPr>
        <p:spPr>
          <a:xfrm>
            <a:off x="5270439" y="210973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781758" y="264569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6" name="Rectangle 15"/>
          <p:cNvSpPr/>
          <p:nvPr/>
        </p:nvSpPr>
        <p:spPr>
          <a:xfrm>
            <a:off x="1362412" y="2630894"/>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4200620" y="2632625"/>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685942" y="4450236"/>
            <a:ext cx="806921" cy="729130"/>
          </a:xfrm>
          <a:prstGeom prst="rect">
            <a:avLst/>
          </a:prstGeom>
        </p:spPr>
      </p:pic>
      <p:graphicFrame>
        <p:nvGraphicFramePr>
          <p:cNvPr id="19" name="Table 18"/>
          <p:cNvGraphicFramePr>
            <a:graphicFrameLocks noGrp="1"/>
          </p:cNvGraphicFramePr>
          <p:nvPr/>
        </p:nvGraphicFramePr>
        <p:xfrm>
          <a:off x="598146" y="3429000"/>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rgbClr val="00B050"/>
                          </a:solidFill>
                          <a:effectLst/>
                          <a:latin typeface="+mj-lt"/>
                          <a:ea typeface="+mn-ea"/>
                          <a:cs typeface="+mn-cs"/>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1" i="0" u="none" strike="noStrike" dirty="0">
                          <a:solidFill>
                            <a:srgbClr val="00B05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nvGraphicFramePr>
        <p:xfrm>
          <a:off x="2975122" y="3448518"/>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kern="1200" dirty="0">
                          <a:solidFill>
                            <a:srgbClr val="0E47A1"/>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noChangeAspect="1"/>
          </p:cNvGraphicFramePr>
          <p:nvPr/>
        </p:nvGraphicFramePr>
        <p:xfrm>
          <a:off x="5791210" y="3491625"/>
          <a:ext cx="4571990" cy="2337349"/>
        </p:xfrm>
        <a:graphic>
          <a:graphicData uri="http://schemas.openxmlformats.org/drawingml/2006/table">
            <a:tbl>
              <a:tblPr bandRow="1">
                <a:tableStyleId>{073A0DAA-6AF3-43AB-8588-CEC1D06C72B9}</a:tableStyleId>
              </a:tblPr>
              <a:tblGrid>
                <a:gridCol w="736590">
                  <a:extLst>
                    <a:ext uri="{9D8B030D-6E8A-4147-A177-3AD203B41FA5}">
                      <a16:colId xmlns:a16="http://schemas.microsoft.com/office/drawing/2014/main" val="20000"/>
                    </a:ext>
                  </a:extLst>
                </a:gridCol>
                <a:gridCol w="939800">
                  <a:extLst>
                    <a:ext uri="{9D8B030D-6E8A-4147-A177-3AD203B41FA5}">
                      <a16:colId xmlns:a16="http://schemas.microsoft.com/office/drawing/2014/main" val="20001"/>
                    </a:ext>
                  </a:extLst>
                </a:gridCol>
                <a:gridCol w="999067">
                  <a:extLst>
                    <a:ext uri="{9D8B030D-6E8A-4147-A177-3AD203B41FA5}">
                      <a16:colId xmlns:a16="http://schemas.microsoft.com/office/drawing/2014/main" val="20002"/>
                    </a:ext>
                  </a:extLst>
                </a:gridCol>
                <a:gridCol w="956733">
                  <a:extLst>
                    <a:ext uri="{9D8B030D-6E8A-4147-A177-3AD203B41FA5}">
                      <a16:colId xmlns:a16="http://schemas.microsoft.com/office/drawing/2014/main" val="20003"/>
                    </a:ext>
                  </a:extLst>
                </a:gridCol>
                <a:gridCol w="939800">
                  <a:extLst>
                    <a:ext uri="{9D8B030D-6E8A-4147-A177-3AD203B41FA5}">
                      <a16:colId xmlns:a16="http://schemas.microsoft.com/office/drawing/2014/main" val="1401152009"/>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gridSpan="2">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IN"/>
                    </a:p>
                  </a:txBody>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   (STU)</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RNO (RESULT)</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4800">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9597">
                <a:tc>
                  <a:txBody>
                    <a:bodyPr/>
                    <a:lstStyle/>
                    <a:p>
                      <a:pPr marL="36000" algn="l" fontAlgn="b"/>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5"/>
                  </a:ext>
                </a:extLst>
              </a:tr>
              <a:tr h="309597">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r>
                        <a:rPr lang="en-US" sz="1600" b="1" i="0" u="none" strike="noStrike" dirty="0">
                          <a:solidFill>
                            <a:srgbClr val="0E47A1"/>
                          </a:solidFill>
                          <a:effectLst/>
                          <a:latin typeface="+mj-lt"/>
                        </a:rPr>
                        <a:t>107</a:t>
                      </a:r>
                    </a:p>
                  </a:txBody>
                  <a:tcPr marL="9525" marR="9525" marT="9525" marB="0" anchor="b"/>
                </a:tc>
                <a:tc>
                  <a:txBody>
                    <a:bodyPr/>
                    <a:lstStyle/>
                    <a:p>
                      <a:pPr marL="36000" algn="l" fontAlgn="b"/>
                      <a:r>
                        <a:rPr lang="en-US" sz="1600" b="0" i="0" u="none" strike="noStrike" dirty="0">
                          <a:solidFill>
                            <a:srgbClr val="000000"/>
                          </a:solidFill>
                          <a:effectLst/>
                          <a:latin typeface="+mj-lt"/>
                        </a:rPr>
                        <a:t>8.9</a:t>
                      </a:r>
                    </a:p>
                  </a:txBody>
                  <a:tcPr marL="9525" marR="9525" marT="9525" marB="0" anchor="b"/>
                </a:tc>
                <a:extLst>
                  <a:ext uri="{0D108BD9-81ED-4DB2-BD59-A6C34878D82A}">
                    <a16:rowId xmlns:a16="http://schemas.microsoft.com/office/drawing/2014/main" val="10006"/>
                  </a:ext>
                </a:extLst>
              </a:tr>
            </a:tbl>
          </a:graphicData>
        </a:graphic>
      </p:graphicFrame>
      <p:sp>
        <p:nvSpPr>
          <p:cNvPr id="3" name="Rectangle 2">
            <a:extLst>
              <a:ext uri="{FF2B5EF4-FFF2-40B4-BE49-F238E27FC236}">
                <a16:creationId xmlns:a16="http://schemas.microsoft.com/office/drawing/2014/main" id="{C839617B-2087-BB52-E5B5-0F6D72797F01}"/>
              </a:ext>
            </a:extLst>
          </p:cNvPr>
          <p:cNvSpPr/>
          <p:nvPr/>
        </p:nvSpPr>
        <p:spPr>
          <a:xfrm>
            <a:off x="7094208" y="1505091"/>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.RNO</a:t>
            </a:r>
            <a:r>
              <a:rPr lang="en-US" dirty="0">
                <a:solidFill>
                  <a:srgbClr val="808080"/>
                </a:solidFill>
              </a:rPr>
              <a:t>,</a:t>
            </a:r>
          </a:p>
        </p:txBody>
      </p:sp>
    </p:spTree>
    <p:extLst>
      <p:ext uri="{BB962C8B-B14F-4D97-AF65-F5344CB8AC3E}">
        <p14:creationId xmlns:p14="http://schemas.microsoft.com/office/powerpoint/2010/main" val="4063147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Full outer Join</a:t>
            </a:r>
            <a:endParaRPr lang="en-US" dirty="0"/>
          </a:p>
        </p:txBody>
      </p:sp>
      <p:sp>
        <p:nvSpPr>
          <p:cNvPr id="3" name="Content Placeholder 2"/>
          <p:cNvSpPr>
            <a:spLocks noGrp="1"/>
          </p:cNvSpPr>
          <p:nvPr>
            <p:ph idx="1"/>
          </p:nvPr>
        </p:nvSpPr>
        <p:spPr/>
        <p:txBody>
          <a:bodyPr/>
          <a:lstStyle/>
          <a:p>
            <a:r>
              <a:rPr lang="en-US" dirty="0">
                <a:solidFill>
                  <a:srgbClr val="C00000"/>
                </a:solidFill>
              </a:rPr>
              <a:t>Full outer join return </a:t>
            </a:r>
            <a:r>
              <a:rPr lang="en-US" b="1" dirty="0">
                <a:solidFill>
                  <a:srgbClr val="C00000"/>
                </a:solidFill>
              </a:rPr>
              <a:t>all records </a:t>
            </a:r>
            <a:r>
              <a:rPr lang="en-US" dirty="0"/>
              <a:t>when there is a </a:t>
            </a:r>
            <a:r>
              <a:rPr lang="en-US" dirty="0">
                <a:solidFill>
                  <a:srgbClr val="0E47A1"/>
                </a:solidFill>
              </a:rPr>
              <a:t>match in either left or right table</a:t>
            </a:r>
            <a:r>
              <a:rPr lang="en-US" dirty="0"/>
              <a:t>.</a:t>
            </a:r>
          </a:p>
          <a:p>
            <a:endParaRPr lang="en-US" dirty="0"/>
          </a:p>
        </p:txBody>
      </p:sp>
      <p:sp>
        <p:nvSpPr>
          <p:cNvPr id="4" name="Oval 3"/>
          <p:cNvSpPr/>
          <p:nvPr/>
        </p:nvSpPr>
        <p:spPr>
          <a:xfrm>
            <a:off x="859154" y="1852875"/>
            <a:ext cx="113096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5" name="Oval 4"/>
          <p:cNvSpPr/>
          <p:nvPr/>
        </p:nvSpPr>
        <p:spPr>
          <a:xfrm>
            <a:off x="2132771" y="1852875"/>
            <a:ext cx="1133204"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6" name="Freeform 5"/>
          <p:cNvSpPr/>
          <p:nvPr/>
        </p:nvSpPr>
        <p:spPr>
          <a:xfrm>
            <a:off x="5236933" y="192746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7" name="Freeform 6"/>
          <p:cNvSpPr/>
          <p:nvPr/>
        </p:nvSpPr>
        <p:spPr>
          <a:xfrm>
            <a:off x="4671450" y="185287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8" name="Freeform 7"/>
          <p:cNvSpPr/>
          <p:nvPr/>
        </p:nvSpPr>
        <p:spPr>
          <a:xfrm>
            <a:off x="5519954" y="185287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9" name="Right Arrow 8"/>
          <p:cNvSpPr/>
          <p:nvPr/>
        </p:nvSpPr>
        <p:spPr>
          <a:xfrm>
            <a:off x="3395596" y="2174433"/>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10" name="Left-Right Arrow 9"/>
          <p:cNvSpPr/>
          <p:nvPr/>
        </p:nvSpPr>
        <p:spPr>
          <a:xfrm>
            <a:off x="6576450" y="2138126"/>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11" name="TextBox 10">
            <a:extLst>
              <a:ext uri="{FF2B5EF4-FFF2-40B4-BE49-F238E27FC236}">
                <a16:creationId xmlns:a16="http://schemas.microsoft.com/office/drawing/2014/main" id="{B8BDCC25-1E44-48A0-8550-F89E768A4A30}"/>
              </a:ext>
            </a:extLst>
          </p:cNvPr>
          <p:cNvSpPr txBox="1"/>
          <p:nvPr/>
        </p:nvSpPr>
        <p:spPr>
          <a:xfrm>
            <a:off x="199100" y="3355872"/>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342900" y="4038314"/>
            <a:ext cx="7962900" cy="198148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473495" y="42278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4" name="Rectangle 13"/>
          <p:cNvSpPr/>
          <p:nvPr/>
        </p:nvSpPr>
        <p:spPr>
          <a:xfrm>
            <a:off x="1594406" y="4239797"/>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474632" y="480045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6" name="Rectangle 15"/>
          <p:cNvSpPr/>
          <p:nvPr/>
        </p:nvSpPr>
        <p:spPr>
          <a:xfrm>
            <a:off x="1565168" y="4806173"/>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061001" y="5383648"/>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473495" y="5363828"/>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4257255" y="5385626"/>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0" name="Rectangle 19"/>
          <p:cNvSpPr/>
          <p:nvPr/>
        </p:nvSpPr>
        <p:spPr>
          <a:xfrm>
            <a:off x="2756594" y="4817554"/>
            <a:ext cx="189160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FULL OUTER JOIN</a:t>
            </a:r>
            <a:endParaRPr lang="en-US" b="1" dirty="0">
              <a:solidFill>
                <a:schemeClr val="tx1"/>
              </a:solidFill>
            </a:endParaRPr>
          </a:p>
        </p:txBody>
      </p:sp>
      <p:sp>
        <p:nvSpPr>
          <p:cNvPr id="21" name="Rectangle 20"/>
          <p:cNvSpPr/>
          <p:nvPr/>
        </p:nvSpPr>
        <p:spPr>
          <a:xfrm>
            <a:off x="4771435" y="4817554"/>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8838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1000" fill="hold"/>
                                        <p:tgtEl>
                                          <p:spTgt spid="8"/>
                                        </p:tgtEl>
                                        <p:attrNameLst>
                                          <p:attrName>ppt_w</p:attrName>
                                        </p:attrNameLst>
                                      </p:cBhvr>
                                      <p:tavLst>
                                        <p:tav tm="0">
                                          <p:val>
                                            <p:fltVal val="0"/>
                                          </p:val>
                                        </p:tav>
                                        <p:tav tm="100000">
                                          <p:val>
                                            <p:strVal val="#ppt_w"/>
                                          </p:val>
                                        </p:tav>
                                      </p:tavLst>
                                    </p:anim>
                                    <p:anim calcmode="lin" valueType="num">
                                      <p:cBhvr>
                                        <p:cTn id="36" dur="1000" fill="hold"/>
                                        <p:tgtEl>
                                          <p:spTgt spid="8"/>
                                        </p:tgtEl>
                                        <p:attrNameLst>
                                          <p:attrName>ppt_h</p:attrName>
                                        </p:attrNameLst>
                                      </p:cBhvr>
                                      <p:tavLst>
                                        <p:tav tm="0">
                                          <p:val>
                                            <p:fltVal val="0"/>
                                          </p:val>
                                        </p:tav>
                                        <p:tav tm="100000">
                                          <p:val>
                                            <p:strVal val="#ppt_h"/>
                                          </p:val>
                                        </p:tav>
                                      </p:tavLst>
                                    </p:anim>
                                    <p:anim calcmode="lin" valueType="num">
                                      <p:cBhvr>
                                        <p:cTn id="37" dur="1000" fill="hold"/>
                                        <p:tgtEl>
                                          <p:spTgt spid="8"/>
                                        </p:tgtEl>
                                        <p:attrNameLst>
                                          <p:attrName>style.rotation</p:attrName>
                                        </p:attrNameLst>
                                      </p:cBhvr>
                                      <p:tavLst>
                                        <p:tav tm="0">
                                          <p:val>
                                            <p:fltVal val="90"/>
                                          </p:val>
                                        </p:tav>
                                        <p:tav tm="100000">
                                          <p:val>
                                            <p:fltVal val="0"/>
                                          </p:val>
                                        </p:tav>
                                      </p:tavLst>
                                    </p:anim>
                                    <p:animEffect transition="in" filter="fade">
                                      <p:cBhvr>
                                        <p:cTn id="38" dur="10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8.33333E-7 -4.07407E-6 L 0.09132 0.04005 C 0.11059 0.04908 0.13924 0.05394 0.1691 0.05394 C 0.20313 0.05394 0.23038 0.04908 0.24965 0.04005 L 0.34115 -4.07407E-6 " pathEditMode="relative" rAng="0" ptsTypes="AAAAA">
                                      <p:cBhvr>
                                        <p:cTn id="48" dur="2000" fill="hold"/>
                                        <p:tgtEl>
                                          <p:spTgt spid="7"/>
                                        </p:tgtEl>
                                        <p:attrNameLst>
                                          <p:attrName>ppt_x</p:attrName>
                                          <p:attrName>ppt_y</p:attrName>
                                        </p:attrNameLst>
                                      </p:cBhvr>
                                      <p:rCtr x="17049" y="2685"/>
                                    </p:animMotion>
                                  </p:childTnLst>
                                </p:cTn>
                              </p:par>
                              <p:par>
                                <p:cTn id="49" presetID="37" presetClass="path" presetSubtype="0" accel="50000" decel="50000" fill="hold" grpId="1" nodeType="withEffect">
                                  <p:stCondLst>
                                    <p:cond delay="0"/>
                                  </p:stCondLst>
                                  <p:childTnLst>
                                    <p:animMotion origin="layout" path="M 5E-6 -4.07407E-6 L 0.09132 0.04005 C 0.1106 0.04908 0.13924 0.05394 0.1691 0.05394 C 0.20313 0.05394 0.23039 0.04908 0.24966 0.04005 L 0.34115 -4.07407E-6 " pathEditMode="relative" rAng="0" ptsTypes="AAAAA">
                                      <p:cBhvr>
                                        <p:cTn id="50" dur="2000" fill="hold"/>
                                        <p:tgtEl>
                                          <p:spTgt spid="6"/>
                                        </p:tgtEl>
                                        <p:attrNameLst>
                                          <p:attrName>ppt_x</p:attrName>
                                          <p:attrName>ppt_y</p:attrName>
                                        </p:attrNameLst>
                                      </p:cBhvr>
                                      <p:rCtr x="17049" y="2685"/>
                                    </p:animMotion>
                                  </p:childTnLst>
                                </p:cTn>
                              </p:par>
                              <p:par>
                                <p:cTn id="51" presetID="37" presetClass="path" presetSubtype="0" accel="50000" decel="50000" fill="hold" grpId="1" nodeType="withEffect">
                                  <p:stCondLst>
                                    <p:cond delay="0"/>
                                  </p:stCondLst>
                                  <p:childTnLst>
                                    <p:animMotion origin="layout" path="M -2.77778E-6 -4.07407E-6 L 0.09132 0.04005 C 0.11059 0.04908 0.13924 0.05394 0.1691 0.05394 C 0.20313 0.05394 0.23038 0.04908 0.24966 0.04005 L 0.34115 -4.07407E-6 " pathEditMode="relative" rAng="0" ptsTypes="AAAAA">
                                      <p:cBhvr>
                                        <p:cTn id="52" dur="2000" fill="hold"/>
                                        <p:tgtEl>
                                          <p:spTgt spid="8"/>
                                        </p:tgtEl>
                                        <p:attrNameLst>
                                          <p:attrName>ppt_x</p:attrName>
                                          <p:attrName>ppt_y</p:attrName>
                                        </p:attrNameLst>
                                      </p:cBhvr>
                                      <p:rCtr x="17049" y="2685"/>
                                    </p:animMotion>
                                  </p:childTnLst>
                                </p:cTn>
                              </p:par>
                              <p:par>
                                <p:cTn id="53" presetID="1" presetClass="emph" presetSubtype="2" fill="hold" nodeType="withEffect">
                                  <p:stCondLst>
                                    <p:cond delay="0"/>
                                  </p:stCondLst>
                                  <p:childTnLst>
                                    <p:animClr clrSpc="rgb" dir="cw">
                                      <p:cBhvr>
                                        <p:cTn id="54" dur="2000" fill="hold"/>
                                        <p:tgtEl>
                                          <p:spTgt spid="7"/>
                                        </p:tgtEl>
                                        <p:attrNameLst>
                                          <p:attrName>fillcolor</p:attrName>
                                        </p:attrNameLst>
                                      </p:cBhvr>
                                      <p:to>
                                        <a:srgbClr val="9469A5"/>
                                      </p:to>
                                    </p:animClr>
                                    <p:set>
                                      <p:cBhvr>
                                        <p:cTn id="55" dur="2000" fill="hold"/>
                                        <p:tgtEl>
                                          <p:spTgt spid="7"/>
                                        </p:tgtEl>
                                        <p:attrNameLst>
                                          <p:attrName>fill.type</p:attrName>
                                        </p:attrNameLst>
                                      </p:cBhvr>
                                      <p:to>
                                        <p:strVal val="solid"/>
                                      </p:to>
                                    </p:set>
                                    <p:set>
                                      <p:cBhvr>
                                        <p:cTn id="56" dur="2000" fill="hold"/>
                                        <p:tgtEl>
                                          <p:spTgt spid="7"/>
                                        </p:tgtEl>
                                        <p:attrNameLst>
                                          <p:attrName>fill.on</p:attrName>
                                        </p:attrNameLst>
                                      </p:cBhvr>
                                      <p:to>
                                        <p:strVal val="true"/>
                                      </p:to>
                                    </p:set>
                                  </p:childTnLst>
                                </p:cTn>
                              </p:par>
                              <p:par>
                                <p:cTn id="57" presetID="1" presetClass="emph" presetSubtype="2" fill="hold" nodeType="withEffect">
                                  <p:stCondLst>
                                    <p:cond delay="0"/>
                                  </p:stCondLst>
                                  <p:childTnLst>
                                    <p:animClr clrSpc="rgb" dir="cw">
                                      <p:cBhvr>
                                        <p:cTn id="58" dur="2000" fill="hold"/>
                                        <p:tgtEl>
                                          <p:spTgt spid="6"/>
                                        </p:tgtEl>
                                        <p:attrNameLst>
                                          <p:attrName>fillcolor</p:attrName>
                                        </p:attrNameLst>
                                      </p:cBhvr>
                                      <p:to>
                                        <a:srgbClr val="9469A5"/>
                                      </p:to>
                                    </p:animClr>
                                    <p:set>
                                      <p:cBhvr>
                                        <p:cTn id="59" dur="2000" fill="hold"/>
                                        <p:tgtEl>
                                          <p:spTgt spid="6"/>
                                        </p:tgtEl>
                                        <p:attrNameLst>
                                          <p:attrName>fill.type</p:attrName>
                                        </p:attrNameLst>
                                      </p:cBhvr>
                                      <p:to>
                                        <p:strVal val="solid"/>
                                      </p:to>
                                    </p:set>
                                    <p:set>
                                      <p:cBhvr>
                                        <p:cTn id="60" dur="2000" fill="hold"/>
                                        <p:tgtEl>
                                          <p:spTgt spid="6"/>
                                        </p:tgtEl>
                                        <p:attrNameLst>
                                          <p:attrName>fill.on</p:attrName>
                                        </p:attrNameLst>
                                      </p:cBhvr>
                                      <p:to>
                                        <p:strVal val="true"/>
                                      </p:to>
                                    </p:set>
                                  </p:childTnLst>
                                </p:cTn>
                              </p:par>
                              <p:par>
                                <p:cTn id="61" presetID="1" presetClass="emph" presetSubtype="2" fill="hold" nodeType="withEffect">
                                  <p:stCondLst>
                                    <p:cond delay="0"/>
                                  </p:stCondLst>
                                  <p:childTnLst>
                                    <p:animClr clrSpc="rgb" dir="cw">
                                      <p:cBhvr>
                                        <p:cTn id="62" dur="2000" fill="hold"/>
                                        <p:tgtEl>
                                          <p:spTgt spid="8"/>
                                        </p:tgtEl>
                                        <p:attrNameLst>
                                          <p:attrName>fillcolor</p:attrName>
                                        </p:attrNameLst>
                                      </p:cBhvr>
                                      <p:to>
                                        <a:srgbClr val="9469A5"/>
                                      </p:to>
                                    </p:animClr>
                                    <p:set>
                                      <p:cBhvr>
                                        <p:cTn id="63" dur="2000" fill="hold"/>
                                        <p:tgtEl>
                                          <p:spTgt spid="8"/>
                                        </p:tgtEl>
                                        <p:attrNameLst>
                                          <p:attrName>fill.type</p:attrName>
                                        </p:attrNameLst>
                                      </p:cBhvr>
                                      <p:to>
                                        <p:strVal val="solid"/>
                                      </p:to>
                                    </p:set>
                                    <p:set>
                                      <p:cBhvr>
                                        <p:cTn id="64" dur="2000" fill="hold"/>
                                        <p:tgtEl>
                                          <p:spTgt spid="8"/>
                                        </p:tgtEl>
                                        <p:attrNameLst>
                                          <p:attrName>fill.on</p:attrName>
                                        </p:attrNameLst>
                                      </p:cBhvr>
                                      <p:to>
                                        <p:strVal val="tru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6" grpId="1" animBg="1"/>
      <p:bldP spid="7" grpId="0" animBg="1"/>
      <p:bldP spid="7" grpId="1" animBg="1"/>
      <p:bldP spid="8" grpId="0" animBg="1"/>
      <p:bldP spid="8" grpId="1"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Full outer Join</a:t>
            </a:r>
            <a:endParaRPr lang="en-US" dirty="0"/>
          </a:p>
        </p:txBody>
      </p:sp>
      <p:sp>
        <p:nvSpPr>
          <p:cNvPr id="4" name="TextBox 3"/>
          <p:cNvSpPr txBox="1"/>
          <p:nvPr/>
        </p:nvSpPr>
        <p:spPr>
          <a:xfrm>
            <a:off x="171450" y="888881"/>
            <a:ext cx="1080000" cy="360000"/>
          </a:xfrm>
          <a:prstGeom prst="rect">
            <a:avLst/>
          </a:prstGeom>
          <a:noFill/>
        </p:spPr>
        <p:txBody>
          <a:bodyPr wrap="square" rtlCol="0">
            <a:spAutoFit/>
          </a:bodyPr>
          <a:lstStyle/>
          <a:p>
            <a:r>
              <a:rPr lang="en-US" b="1" u="sng" dirty="0"/>
              <a:t>Example</a:t>
            </a:r>
          </a:p>
        </p:txBody>
      </p:sp>
      <p:sp>
        <p:nvSpPr>
          <p:cNvPr id="5" name="Rectangle 4"/>
          <p:cNvSpPr/>
          <p:nvPr/>
        </p:nvSpPr>
        <p:spPr>
          <a:xfrm>
            <a:off x="533399" y="1344325"/>
            <a:ext cx="9831091" cy="18205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723900" y="152176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p:cNvSpPr/>
          <p:nvPr/>
        </p:nvSpPr>
        <p:spPr>
          <a:xfrm>
            <a:off x="1827508" y="1521763"/>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r>
              <a:rPr lang="en-US" dirty="0">
                <a:solidFill>
                  <a:srgbClr val="808080"/>
                </a:solidFill>
              </a:rPr>
              <a:t>,</a:t>
            </a:r>
          </a:p>
        </p:txBody>
      </p:sp>
      <p:sp>
        <p:nvSpPr>
          <p:cNvPr id="8" name="Rectangle 7"/>
          <p:cNvSpPr/>
          <p:nvPr/>
        </p:nvSpPr>
        <p:spPr>
          <a:xfrm>
            <a:off x="3397001" y="1498993"/>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r>
              <a:rPr lang="en-US" dirty="0">
                <a:solidFill>
                  <a:srgbClr val="808080"/>
                </a:solidFill>
              </a:rPr>
              <a:t>,</a:t>
            </a:r>
          </a:p>
        </p:txBody>
      </p:sp>
      <p:sp>
        <p:nvSpPr>
          <p:cNvPr id="9" name="Rectangle 8"/>
          <p:cNvSpPr/>
          <p:nvPr/>
        </p:nvSpPr>
        <p:spPr>
          <a:xfrm>
            <a:off x="5114497" y="1496861"/>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r>
              <a:rPr lang="en-US" dirty="0">
                <a:solidFill>
                  <a:srgbClr val="808080"/>
                </a:solidFill>
              </a:rPr>
              <a:t>,</a:t>
            </a:r>
          </a:p>
        </p:txBody>
      </p:sp>
      <p:sp>
        <p:nvSpPr>
          <p:cNvPr id="10" name="Rectangle 9"/>
          <p:cNvSpPr/>
          <p:nvPr/>
        </p:nvSpPr>
        <p:spPr>
          <a:xfrm>
            <a:off x="8826419" y="1495383"/>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737072" y="2096951"/>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2" name="Rectangle 11"/>
          <p:cNvSpPr/>
          <p:nvPr/>
        </p:nvSpPr>
        <p:spPr>
          <a:xfrm>
            <a:off x="1827509" y="210150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3126864" y="2088980"/>
            <a:ext cx="1876883"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FULL OUTER JOIN</a:t>
            </a:r>
            <a:endParaRPr lang="en-US" b="1" dirty="0">
              <a:solidFill>
                <a:schemeClr val="tx1"/>
              </a:solidFill>
            </a:endParaRPr>
          </a:p>
        </p:txBody>
      </p:sp>
      <p:sp>
        <p:nvSpPr>
          <p:cNvPr id="14" name="Rectangle 13"/>
          <p:cNvSpPr/>
          <p:nvPr/>
        </p:nvSpPr>
        <p:spPr>
          <a:xfrm>
            <a:off x="5114497" y="208898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743658" y="263746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6" name="Rectangle 15"/>
          <p:cNvSpPr/>
          <p:nvPr/>
        </p:nvSpPr>
        <p:spPr>
          <a:xfrm>
            <a:off x="1324312" y="2622664"/>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4162520" y="2624395"/>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314988" y="4457326"/>
            <a:ext cx="743902" cy="672186"/>
          </a:xfrm>
          <a:prstGeom prst="rect">
            <a:avLst/>
          </a:prstGeom>
          <a:ln>
            <a:noFill/>
          </a:ln>
        </p:spPr>
      </p:pic>
      <p:graphicFrame>
        <p:nvGraphicFramePr>
          <p:cNvPr id="19" name="Table 18"/>
          <p:cNvGraphicFramePr>
            <a:graphicFrameLocks noGrp="1"/>
          </p:cNvGraphicFramePr>
          <p:nvPr/>
        </p:nvGraphicFramePr>
        <p:xfrm>
          <a:off x="475436" y="3429000"/>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dirty="0">
                          <a:solidFill>
                            <a:srgbClr val="00B05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1" i="0" u="none" strike="noStrike" dirty="0">
                          <a:solidFill>
                            <a:srgbClr val="00B05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nvGraphicFramePr>
        <p:xfrm>
          <a:off x="2852412" y="3448518"/>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kern="1200" dirty="0">
                          <a:solidFill>
                            <a:srgbClr val="0E47A1"/>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3" name="Table 2">
            <a:extLst>
              <a:ext uri="{FF2B5EF4-FFF2-40B4-BE49-F238E27FC236}">
                <a16:creationId xmlns:a16="http://schemas.microsoft.com/office/drawing/2014/main" id="{DE79B586-0629-FB2F-62ED-73F70AAC071E}"/>
              </a:ext>
            </a:extLst>
          </p:cNvPr>
          <p:cNvGraphicFramePr>
            <a:graphicFrameLocks noGrp="1" noChangeAspect="1"/>
          </p:cNvGraphicFramePr>
          <p:nvPr/>
        </p:nvGraphicFramePr>
        <p:xfrm>
          <a:off x="5705254" y="3317431"/>
          <a:ext cx="4531630" cy="2839282"/>
        </p:xfrm>
        <a:graphic>
          <a:graphicData uri="http://schemas.openxmlformats.org/drawingml/2006/table">
            <a:tbl>
              <a:tblPr bandRow="1">
                <a:tableStyleId>{073A0DAA-6AF3-43AB-8588-CEC1D06C72B9}</a:tableStyleId>
              </a:tblPr>
              <a:tblGrid>
                <a:gridCol w="912950">
                  <a:extLst>
                    <a:ext uri="{9D8B030D-6E8A-4147-A177-3AD203B41FA5}">
                      <a16:colId xmlns:a16="http://schemas.microsoft.com/office/drawing/2014/main" val="20000"/>
                    </a:ext>
                  </a:extLst>
                </a:gridCol>
                <a:gridCol w="1269389">
                  <a:extLst>
                    <a:ext uri="{9D8B030D-6E8A-4147-A177-3AD203B41FA5}">
                      <a16:colId xmlns:a16="http://schemas.microsoft.com/office/drawing/2014/main" val="20001"/>
                    </a:ext>
                  </a:extLst>
                </a:gridCol>
                <a:gridCol w="888355">
                  <a:extLst>
                    <a:ext uri="{9D8B030D-6E8A-4147-A177-3AD203B41FA5}">
                      <a16:colId xmlns:a16="http://schemas.microsoft.com/office/drawing/2014/main" val="20002"/>
                    </a:ext>
                  </a:extLst>
                </a:gridCol>
                <a:gridCol w="868931">
                  <a:extLst>
                    <a:ext uri="{9D8B030D-6E8A-4147-A177-3AD203B41FA5}">
                      <a16:colId xmlns:a16="http://schemas.microsoft.com/office/drawing/2014/main" val="20003"/>
                    </a:ext>
                  </a:extLst>
                </a:gridCol>
                <a:gridCol w="592005">
                  <a:extLst>
                    <a:ext uri="{9D8B030D-6E8A-4147-A177-3AD203B41FA5}">
                      <a16:colId xmlns:a16="http://schemas.microsoft.com/office/drawing/2014/main" val="2311225366"/>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gridSpan="2">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IN"/>
                    </a:p>
                  </a:txBody>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 (STU)</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marR="0" lvl="0" indent="0" algn="l" defTabSz="914400" rtl="0" eaLnBrk="1" fontAlgn="b" latinLnBrk="0" hangingPunct="1">
                        <a:lnSpc>
                          <a:spcPct val="100000"/>
                        </a:lnSpc>
                        <a:spcBef>
                          <a:spcPts val="600"/>
                        </a:spcBef>
                        <a:spcAft>
                          <a:spcPts val="0"/>
                        </a:spcAft>
                        <a:buClrTx/>
                        <a:buSzTx/>
                        <a:buFontTx/>
                        <a:buNone/>
                        <a:tabLst/>
                        <a:defRPr/>
                      </a:pPr>
                      <a:r>
                        <a:rPr lang="en-US" sz="1600" b="1" i="0" u="none" strike="noStrike" kern="1200" dirty="0">
                          <a:solidFill>
                            <a:srgbClr val="FFFFFF"/>
                          </a:solidFill>
                          <a:effectLst/>
                          <a:latin typeface="+mn-lt"/>
                          <a:ea typeface="+mn-ea"/>
                          <a:cs typeface="+mn-cs"/>
                        </a:rPr>
                        <a:t>RNO (Result)</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4800">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4800">
                <a:tc>
                  <a:txBody>
                    <a:bodyPr/>
                    <a:lstStyle/>
                    <a:p>
                      <a:pPr marL="36000" algn="l" fontAlgn="b"/>
                      <a:r>
                        <a:rPr lang="en-US" sz="1600" b="1" i="0" u="none" strike="noStrike" dirty="0">
                          <a:solidFill>
                            <a:srgbClr val="00B05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spcBef>
                          <a:spcPts val="600"/>
                        </a:spcBef>
                      </a:pPr>
                      <a:r>
                        <a:rPr lang="en-US" sz="1600" b="0" i="1" u="none" strike="noStrike" kern="1200" dirty="0">
                          <a:solidFill>
                            <a:srgbClr val="FF0000"/>
                          </a:solidFill>
                          <a:effectLst/>
                          <a:latin typeface="+mn-lt"/>
                          <a:ea typeface="+mn-ea"/>
                          <a:cs typeface="+mn-cs"/>
                        </a:rPr>
                        <a:t>NULL</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r>
                        <a:rPr lang="en-US" sz="1600" b="1" i="0" u="none" strike="noStrike">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5"/>
                  </a:ext>
                </a:extLst>
              </a:tr>
              <a:tr h="309597">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marR="0" lvl="0" indent="0" algn="l" defTabSz="914400" rtl="0" eaLnBrk="1" fontAlgn="b" latinLnBrk="0" hangingPunct="1">
                        <a:lnSpc>
                          <a:spcPct val="100000"/>
                        </a:lnSpc>
                        <a:spcBef>
                          <a:spcPts val="600"/>
                        </a:spcBef>
                        <a:spcAft>
                          <a:spcPts val="0"/>
                        </a:spcAft>
                        <a:buClrTx/>
                        <a:buSzTx/>
                        <a:buFontTx/>
                        <a:buNone/>
                        <a:tabLst/>
                        <a:defRPr/>
                      </a:pPr>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6"/>
                  </a:ext>
                </a:extLst>
              </a:tr>
              <a:tr h="154799">
                <a:tc>
                  <a:txBody>
                    <a:bodyPr/>
                    <a:lstStyle/>
                    <a:p>
                      <a:pPr marL="36000" algn="l" fontAlgn="b"/>
                      <a:r>
                        <a:rPr lang="en-US" sz="1600" b="1" i="0" u="none" strike="noStrike" dirty="0">
                          <a:solidFill>
                            <a:srgbClr val="00B05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spcBef>
                          <a:spcPts val="600"/>
                        </a:spcBef>
                      </a:pPr>
                      <a:r>
                        <a:rPr lang="en-US" sz="1600" b="0" i="1" u="none" strike="noStrike" kern="1200" dirty="0">
                          <a:solidFill>
                            <a:srgbClr val="FF0000"/>
                          </a:solidFill>
                          <a:effectLst/>
                          <a:latin typeface="+mn-lt"/>
                          <a:ea typeface="+mn-ea"/>
                          <a:cs typeface="+mn-cs"/>
                        </a:rPr>
                        <a:t>NULL</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extLst>
                  <a:ext uri="{0D108BD9-81ED-4DB2-BD59-A6C34878D82A}">
                    <a16:rowId xmlns:a16="http://schemas.microsoft.com/office/drawing/2014/main" val="10007"/>
                  </a:ext>
                </a:extLst>
              </a:tr>
              <a:tr h="154799">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spcBef>
                          <a:spcPts val="600"/>
                        </a:spcBef>
                      </a:pPr>
                      <a:r>
                        <a:rPr lang="en-US" sz="1600" b="1" i="0" u="none" strike="noStrike" dirty="0">
                          <a:solidFill>
                            <a:srgbClr val="0E47A1"/>
                          </a:solidFill>
                          <a:effectLst/>
                          <a:latin typeface="+mj-lt"/>
                        </a:rPr>
                        <a:t>107</a:t>
                      </a:r>
                    </a:p>
                  </a:txBody>
                  <a:tcPr marL="9525" marR="9525" marT="9525" marB="0" anchor="b"/>
                </a:tc>
                <a:tc>
                  <a:txBody>
                    <a:bodyPr/>
                    <a:lstStyle/>
                    <a:p>
                      <a:pPr marL="36000" algn="l" fontAlgn="b"/>
                      <a:r>
                        <a:rPr lang="en-US" sz="1600" b="0" i="0" u="none" strike="noStrike" dirty="0">
                          <a:solidFill>
                            <a:schemeClr val="tx1"/>
                          </a:solidFill>
                          <a:effectLst/>
                          <a:latin typeface="+mj-lt"/>
                        </a:rPr>
                        <a:t>8.9</a:t>
                      </a:r>
                    </a:p>
                  </a:txBody>
                  <a:tcPr marL="9525" marR="9525" marT="9525" marB="0" anchor="b"/>
                </a:tc>
                <a:extLst>
                  <a:ext uri="{0D108BD9-81ED-4DB2-BD59-A6C34878D82A}">
                    <a16:rowId xmlns:a16="http://schemas.microsoft.com/office/drawing/2014/main" val="4186758501"/>
                  </a:ext>
                </a:extLst>
              </a:tr>
            </a:tbl>
          </a:graphicData>
        </a:graphic>
      </p:graphicFrame>
      <p:sp>
        <p:nvSpPr>
          <p:cNvPr id="22" name="Rectangle 21">
            <a:extLst>
              <a:ext uri="{FF2B5EF4-FFF2-40B4-BE49-F238E27FC236}">
                <a16:creationId xmlns:a16="http://schemas.microsoft.com/office/drawing/2014/main" id="{A0927FAD-18E6-4EAD-33BD-224D72BDA456}"/>
              </a:ext>
            </a:extLst>
          </p:cNvPr>
          <p:cNvSpPr/>
          <p:nvPr/>
        </p:nvSpPr>
        <p:spPr>
          <a:xfrm>
            <a:off x="6970458" y="1496861"/>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.RNO,</a:t>
            </a:r>
          </a:p>
        </p:txBody>
      </p:sp>
    </p:spTree>
    <p:extLst>
      <p:ext uri="{BB962C8B-B14F-4D97-AF65-F5344CB8AC3E}">
        <p14:creationId xmlns:p14="http://schemas.microsoft.com/office/powerpoint/2010/main" val="304232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73D72F97-439A-CFCB-AEB8-E6638AB54A9C}"/>
              </a:ext>
            </a:extLst>
          </p:cNvPr>
          <p:cNvSpPr txBox="1">
            <a:spLocks/>
          </p:cNvSpPr>
          <p:nvPr/>
        </p:nvSpPr>
        <p:spPr>
          <a:xfrm>
            <a:off x="71720" y="83057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altLang="en-US" sz="1800" dirty="0"/>
              <a:t>Display person name and their dept name.</a:t>
            </a:r>
          </a:p>
          <a:p>
            <a:pPr marL="342900" indent="-342900">
              <a:buFont typeface="+mj-lt"/>
              <a:buAutoNum type="arabicPeriod"/>
            </a:pPr>
            <a:r>
              <a:rPr lang="en-US" altLang="en-US" sz="1800" dirty="0"/>
              <a:t>Display person’s department location.</a:t>
            </a:r>
          </a:p>
          <a:p>
            <a:pPr marL="342900" indent="-342900">
              <a:buFont typeface="+mj-lt"/>
              <a:buAutoNum type="arabicPeriod"/>
            </a:pPr>
            <a:r>
              <a:rPr lang="en-US" altLang="en-US" sz="1800" dirty="0"/>
              <a:t>Display Person’s name, Dept name, salary and city.</a:t>
            </a:r>
          </a:p>
          <a:p>
            <a:pPr marL="342900" indent="-342900">
              <a:buFont typeface="+mj-lt"/>
              <a:buAutoNum type="arabicPeriod"/>
            </a:pPr>
            <a:r>
              <a:rPr lang="en-US" altLang="en-US" sz="1800" dirty="0"/>
              <a:t>Display person name, salary and dept code.</a:t>
            </a:r>
          </a:p>
          <a:p>
            <a:pPr marL="342900" indent="-342900">
              <a:buFont typeface="+mj-lt"/>
              <a:buAutoNum type="arabicPeriod"/>
            </a:pPr>
            <a:r>
              <a:rPr lang="en-US" altLang="en-US" sz="1800" dirty="0"/>
              <a:t>Display </a:t>
            </a:r>
            <a:r>
              <a:rPr lang="en-US" altLang="en-US" sz="1800" dirty="0" err="1"/>
              <a:t>personID</a:t>
            </a:r>
            <a:r>
              <a:rPr lang="en-US" altLang="en-US" sz="1800" dirty="0"/>
              <a:t>, name, joining date and </a:t>
            </a:r>
            <a:r>
              <a:rPr lang="en-US" altLang="en-US" sz="1800" dirty="0" err="1"/>
              <a:t>deptname</a:t>
            </a:r>
            <a:r>
              <a:rPr lang="en-US" altLang="en-US" sz="1800" dirty="0"/>
              <a:t>.</a:t>
            </a:r>
          </a:p>
          <a:p>
            <a:pPr marL="342900" indent="-342900">
              <a:buFont typeface="+mj-lt"/>
              <a:buAutoNum type="arabicPeriod"/>
            </a:pPr>
            <a:r>
              <a:rPr lang="en-US" altLang="en-US" sz="1800" dirty="0"/>
              <a:t>Display person name and dept who belongs to Rajkot</a:t>
            </a:r>
          </a:p>
          <a:p>
            <a:pPr marL="342900" indent="-342900">
              <a:buFont typeface="+mj-lt"/>
              <a:buAutoNum type="arabicPeriod"/>
            </a:pPr>
            <a:r>
              <a:rPr lang="en-US" altLang="en-US" sz="1800" dirty="0"/>
              <a:t>Display person name who is sitting in ‘C-Block’</a:t>
            </a:r>
          </a:p>
          <a:p>
            <a:pPr marL="342900" indent="-342900">
              <a:buFont typeface="+mj-lt"/>
              <a:buAutoNum type="arabicPeriod"/>
            </a:pPr>
            <a:r>
              <a:rPr lang="en-US" altLang="en-US" sz="1800" dirty="0"/>
              <a:t>Display person name, dept whose salary is more then 20000</a:t>
            </a:r>
          </a:p>
          <a:p>
            <a:pPr marL="342900" indent="-342900">
              <a:buFont typeface="+mj-lt"/>
              <a:buAutoNum type="arabicPeriod"/>
            </a:pPr>
            <a:r>
              <a:rPr lang="en-US" altLang="en-US" sz="1800" dirty="0"/>
              <a:t>Display person name, dept code who does not belongs to Baroda</a:t>
            </a:r>
          </a:p>
          <a:p>
            <a:pPr marL="342900" indent="-342900">
              <a:buFont typeface="+mj-lt"/>
              <a:buAutoNum type="arabicPeriod"/>
            </a:pPr>
            <a:r>
              <a:rPr lang="en-US" altLang="en-US" sz="1800" dirty="0"/>
              <a:t>Display person name who works in computer department.</a:t>
            </a:r>
          </a:p>
          <a:p>
            <a:pPr marL="342900" indent="-342900">
              <a:buFont typeface="+mj-lt"/>
              <a:buAutoNum type="arabicPeriod"/>
            </a:pPr>
            <a:r>
              <a:rPr lang="en-US" sz="1800" dirty="0"/>
              <a:t>person’s name of the person who joined the Civil department after 1-Aug-2001</a:t>
            </a:r>
          </a:p>
          <a:p>
            <a:pPr marL="342900" indent="-342900">
              <a:buFont typeface="+mj-lt"/>
              <a:buAutoNum type="arabicPeriod"/>
            </a:pPr>
            <a:r>
              <a:rPr lang="en-US" sz="1800" dirty="0"/>
              <a:t>Display person’s name whose name starts from ‘B’ in Electrical department.</a:t>
            </a:r>
          </a:p>
          <a:p>
            <a:pPr marL="342900" indent="-342900">
              <a:buFont typeface="+mj-lt"/>
              <a:buAutoNum type="arabicPeriod"/>
            </a:pPr>
            <a:r>
              <a:rPr lang="en-US" sz="1800" dirty="0"/>
              <a:t>Display person’s name and dept who lives in Ahmedabad and salary less than 20000</a:t>
            </a:r>
          </a:p>
          <a:p>
            <a:pPr marL="342900" indent="-342900">
              <a:buFont typeface="+mj-lt"/>
              <a:buAutoNum type="arabicPeriod"/>
            </a:pPr>
            <a:r>
              <a:rPr lang="en-US" sz="1800" dirty="0"/>
              <a:t>Display person’s name whose </a:t>
            </a:r>
            <a:r>
              <a:rPr lang="en-US" sz="1800" dirty="0" err="1"/>
              <a:t>personID</a:t>
            </a:r>
            <a:r>
              <a:rPr lang="en-US" sz="1800" dirty="0"/>
              <a:t> is less then 105 and </a:t>
            </a:r>
            <a:r>
              <a:rPr lang="en-US" sz="1800" dirty="0" err="1"/>
              <a:t>deptcode</a:t>
            </a:r>
            <a:r>
              <a:rPr lang="en-US" sz="1800" dirty="0"/>
              <a:t> is ‘CI’</a:t>
            </a:r>
          </a:p>
          <a:p>
            <a:pPr marL="342900" indent="-342900">
              <a:buFont typeface="+mj-lt"/>
              <a:buAutoNum type="arabicPeriod"/>
            </a:pPr>
            <a:r>
              <a:rPr lang="en-US" sz="1800" dirty="0"/>
              <a:t>Display person’s name who belongs to Computer or Civil Dept</a:t>
            </a:r>
          </a:p>
          <a:p>
            <a:pPr marL="342900" indent="-342900">
              <a:buFont typeface="+mj-lt"/>
              <a:buAutoNum type="arabicPeriod"/>
            </a:pPr>
            <a:endParaRPr lang="en-US" sz="1800" dirty="0"/>
          </a:p>
          <a:p>
            <a:pPr marL="342900" indent="-342900">
              <a:buFont typeface="+mj-lt"/>
              <a:buAutoNum type="arabicPeriod"/>
            </a:pPr>
            <a:endParaRPr lang="en-US" altLang="en-US" sz="1800" dirty="0"/>
          </a:p>
          <a:p>
            <a:pPr marL="457200" indent="-457200">
              <a:buFont typeface="+mj-lt"/>
              <a:buAutoNum type="arabicPeriod"/>
            </a:pPr>
            <a:endParaRPr lang="en-US" altLang="en-US" sz="1800" dirty="0"/>
          </a:p>
          <a:p>
            <a:endParaRPr lang="en-US" altLang="en-US" sz="2200" dirty="0"/>
          </a:p>
          <a:p>
            <a:endParaRPr lang="en-US" altLang="en-US" sz="2200" dirty="0"/>
          </a:p>
          <a:p>
            <a:endParaRPr lang="en-US" dirty="0"/>
          </a:p>
        </p:txBody>
      </p:sp>
      <p:sp>
        <p:nvSpPr>
          <p:cNvPr id="2" name="Title 1">
            <a:extLst>
              <a:ext uri="{FF2B5EF4-FFF2-40B4-BE49-F238E27FC236}">
                <a16:creationId xmlns:a16="http://schemas.microsoft.com/office/drawing/2014/main" id="{BABFEF75-1725-98A7-1FA1-ABA7B2C56188}"/>
              </a:ext>
            </a:extLst>
          </p:cNvPr>
          <p:cNvSpPr>
            <a:spLocks noGrp="1"/>
          </p:cNvSpPr>
          <p:nvPr>
            <p:ph type="title"/>
          </p:nvPr>
        </p:nvSpPr>
        <p:spPr/>
        <p:txBody>
          <a:bodyPr/>
          <a:lstStyle/>
          <a:p>
            <a:r>
              <a:rPr lang="en-US" dirty="0"/>
              <a:t>Exercise: Joins</a:t>
            </a:r>
            <a:endParaRPr lang="en-IN" dirty="0"/>
          </a:p>
        </p:txBody>
      </p:sp>
      <p:pic>
        <p:nvPicPr>
          <p:cNvPr id="7" name="Content Placeholder 6">
            <a:extLst>
              <a:ext uri="{FF2B5EF4-FFF2-40B4-BE49-F238E27FC236}">
                <a16:creationId xmlns:a16="http://schemas.microsoft.com/office/drawing/2014/main" id="{EAE5D3FF-2216-EB24-F770-5F272D2F5837}"/>
              </a:ext>
            </a:extLst>
          </p:cNvPr>
          <p:cNvPicPr>
            <a:picLocks noGrp="1" noChangeAspect="1"/>
          </p:cNvPicPr>
          <p:nvPr>
            <p:ph idx="1"/>
          </p:nvPr>
        </p:nvPicPr>
        <p:blipFill>
          <a:blip r:embed="rId2"/>
          <a:stretch>
            <a:fillRect/>
          </a:stretch>
        </p:blipFill>
        <p:spPr>
          <a:xfrm>
            <a:off x="8122024" y="4626914"/>
            <a:ext cx="3938794" cy="1657345"/>
          </a:xfrm>
        </p:spPr>
      </p:pic>
      <p:sp>
        <p:nvSpPr>
          <p:cNvPr id="8" name="Content Placeholder 2">
            <a:extLst>
              <a:ext uri="{FF2B5EF4-FFF2-40B4-BE49-F238E27FC236}">
                <a16:creationId xmlns:a16="http://schemas.microsoft.com/office/drawing/2014/main" id="{4AF880A6-90B1-B9B4-A0D3-EC00DD13B00D}"/>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9" name="Content Placeholder 4">
            <a:extLst>
              <a:ext uri="{FF2B5EF4-FFF2-40B4-BE49-F238E27FC236}">
                <a16:creationId xmlns:a16="http://schemas.microsoft.com/office/drawing/2014/main" id="{6CF43C45-7AF0-AEEF-0D5F-C1B92D3E11AF}"/>
              </a:ext>
            </a:extLst>
          </p:cNvPr>
          <p:cNvGraphicFramePr>
            <a:graphicFrameLocks/>
          </p:cNvGraphicFramePr>
          <p:nvPr/>
        </p:nvGraphicFramePr>
        <p:xfrm>
          <a:off x="8141074" y="4274285"/>
          <a:ext cx="824752" cy="365760"/>
        </p:xfrm>
        <a:graphic>
          <a:graphicData uri="http://schemas.openxmlformats.org/drawingml/2006/table">
            <a:tbl>
              <a:tblPr firstRow="1" bandRow="1">
                <a:tableStyleId>{8EC20E35-A176-4012-BC5E-935CFFF8708E}</a:tableStyleId>
              </a:tblPr>
              <a:tblGrid>
                <a:gridCol w="824752">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25AF7924-5371-1503-6B29-D2C64C13EAD6}"/>
              </a:ext>
            </a:extLst>
          </p:cNvPr>
          <p:cNvPicPr>
            <a:picLocks noChangeAspect="1"/>
          </p:cNvPicPr>
          <p:nvPr/>
        </p:nvPicPr>
        <p:blipFill>
          <a:blip r:embed="rId3"/>
          <a:stretch>
            <a:fillRect/>
          </a:stretch>
        </p:blipFill>
        <p:spPr>
          <a:xfrm>
            <a:off x="6185891" y="1425363"/>
            <a:ext cx="5732227" cy="2672608"/>
          </a:xfrm>
          <a:prstGeom prst="rect">
            <a:avLst/>
          </a:prstGeom>
        </p:spPr>
      </p:pic>
      <p:graphicFrame>
        <p:nvGraphicFramePr>
          <p:cNvPr id="4" name="Content Placeholder 4">
            <a:extLst>
              <a:ext uri="{FF2B5EF4-FFF2-40B4-BE49-F238E27FC236}">
                <a16:creationId xmlns:a16="http://schemas.microsoft.com/office/drawing/2014/main" id="{6DBDDBA2-7DBD-2E0F-625C-2A116F0494DA}"/>
              </a:ext>
            </a:extLst>
          </p:cNvPr>
          <p:cNvGraphicFramePr>
            <a:graphicFrameLocks/>
          </p:cNvGraphicFramePr>
          <p:nvPr/>
        </p:nvGraphicFramePr>
        <p:xfrm>
          <a:off x="6392395" y="928673"/>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PERSON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2446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73D72F97-439A-CFCB-AEB8-E6638AB54A9C}"/>
              </a:ext>
            </a:extLst>
          </p:cNvPr>
          <p:cNvSpPr txBox="1">
            <a:spLocks/>
          </p:cNvSpPr>
          <p:nvPr/>
        </p:nvSpPr>
        <p:spPr>
          <a:xfrm>
            <a:off x="53790" y="978741"/>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16"/>
            </a:pPr>
            <a:r>
              <a:rPr lang="en-US" sz="1800" dirty="0"/>
              <a:t>Display average salary of computer department.</a:t>
            </a:r>
          </a:p>
          <a:p>
            <a:pPr marL="342900" indent="-342900">
              <a:buFont typeface="+mj-lt"/>
              <a:buAutoNum type="arabicPeriod" startAt="16"/>
            </a:pPr>
            <a:r>
              <a:rPr lang="en-US" sz="1800" dirty="0"/>
              <a:t>Display Total Salary of Department located in 'A-Block’</a:t>
            </a:r>
            <a:endParaRPr lang="en-US" altLang="en-US" sz="1800" dirty="0"/>
          </a:p>
          <a:p>
            <a:pPr marL="342900" indent="-342900">
              <a:buFont typeface="+mj-lt"/>
              <a:buAutoNum type="arabicPeriod" startAt="16"/>
            </a:pPr>
            <a:r>
              <a:rPr lang="en-US" altLang="en-US" sz="1800" dirty="0"/>
              <a:t>Display department wise highest salary.</a:t>
            </a:r>
          </a:p>
          <a:p>
            <a:pPr marL="342900" indent="-342900">
              <a:buFont typeface="+mj-lt"/>
              <a:buAutoNum type="arabicPeriod" startAt="16"/>
            </a:pPr>
            <a:r>
              <a:rPr lang="en-US" sz="1800" dirty="0"/>
              <a:t>Display total salaries in each department.</a:t>
            </a:r>
          </a:p>
          <a:p>
            <a:pPr marL="342900" indent="-342900">
              <a:buFont typeface="+mj-lt"/>
              <a:buAutoNum type="arabicPeriod" startAt="16"/>
            </a:pPr>
            <a:r>
              <a:rPr lang="en-US" sz="1800" dirty="0"/>
              <a:t>Count employee per department.</a:t>
            </a:r>
          </a:p>
          <a:p>
            <a:pPr marL="342900" indent="-342900">
              <a:buFont typeface="+mj-lt"/>
              <a:buAutoNum type="arabicPeriod" startAt="16"/>
            </a:pPr>
            <a:r>
              <a:rPr lang="en-US" sz="1800" dirty="0"/>
              <a:t>Display average salary for employee in ‘Rajkot’</a:t>
            </a:r>
          </a:p>
          <a:p>
            <a:pPr marL="342900" indent="-342900">
              <a:buFont typeface="+mj-lt"/>
              <a:buAutoNum type="arabicPeriod" startAt="16"/>
            </a:pPr>
            <a:r>
              <a:rPr lang="en-US" sz="1800" dirty="0"/>
              <a:t>Count of Employees per dept who joined after the year 2000 </a:t>
            </a:r>
          </a:p>
          <a:p>
            <a:pPr marL="342900" indent="-342900">
              <a:buFont typeface="+mj-lt"/>
              <a:buAutoNum type="arabicPeriod" startAt="16"/>
            </a:pPr>
            <a:r>
              <a:rPr lang="en-US" sz="1800" dirty="0"/>
              <a:t>Average Salary of Employees in 'Computer’ dept grouped by City</a:t>
            </a:r>
          </a:p>
          <a:p>
            <a:pPr marL="342900" indent="-342900">
              <a:buFont typeface="+mj-lt"/>
              <a:buAutoNum type="arabicPeriod" startAt="16"/>
            </a:pPr>
            <a:r>
              <a:rPr lang="en-US" sz="1800" dirty="0"/>
              <a:t>Sum of Salaries for Employees who Joined before 2001, in each Department.</a:t>
            </a:r>
          </a:p>
          <a:p>
            <a:pPr marL="342900" indent="-342900">
              <a:buFont typeface="+mj-lt"/>
              <a:buAutoNum type="arabicPeriod" startAt="16"/>
            </a:pPr>
            <a:r>
              <a:rPr lang="en-US" sz="1800" dirty="0"/>
              <a:t>Count of Employees per Department with Salaries Above 25000.</a:t>
            </a:r>
          </a:p>
          <a:p>
            <a:pPr marL="342900" indent="-342900">
              <a:buFont typeface="+mj-lt"/>
              <a:buAutoNum type="arabicPeriod" startAt="16"/>
            </a:pPr>
            <a:r>
              <a:rPr lang="en-US" sz="1800" dirty="0"/>
              <a:t>Total Salary for each Department, with Departments having more than 2 Employees.</a:t>
            </a:r>
          </a:p>
          <a:p>
            <a:pPr marL="342900" indent="-342900">
              <a:buFont typeface="+mj-lt"/>
              <a:buAutoNum type="arabicPeriod" startAt="16"/>
            </a:pPr>
            <a:r>
              <a:rPr lang="en-US" sz="1800" dirty="0"/>
              <a:t>Find all departments whose total salary is exceeding 100000</a:t>
            </a:r>
          </a:p>
          <a:p>
            <a:pPr marL="342900" indent="-342900">
              <a:buFont typeface="+mj-lt"/>
              <a:buAutoNum type="arabicPeriod" startAt="16"/>
            </a:pPr>
            <a:r>
              <a:rPr lang="en-US" sz="1800" dirty="0"/>
              <a:t>List all departments who have no person.</a:t>
            </a:r>
          </a:p>
          <a:p>
            <a:pPr marL="342900" indent="-342900">
              <a:buFont typeface="+mj-lt"/>
              <a:buAutoNum type="arabicPeriod" startAt="16"/>
            </a:pPr>
            <a:r>
              <a:rPr lang="en-US" sz="1800" dirty="0"/>
              <a:t>Count of Employees in Each City per Department.</a:t>
            </a:r>
          </a:p>
          <a:p>
            <a:pPr marL="342900" indent="-342900">
              <a:buFont typeface="+mj-lt"/>
              <a:buAutoNum type="arabicPeriod" startAt="16"/>
            </a:pPr>
            <a:r>
              <a:rPr lang="en-US" sz="1800" dirty="0"/>
              <a:t>Produce Output Like: &lt;</a:t>
            </a:r>
            <a:r>
              <a:rPr lang="en-US" sz="1800" dirty="0" err="1"/>
              <a:t>PersonName</a:t>
            </a:r>
            <a:r>
              <a:rPr lang="en-US" sz="1800" dirty="0"/>
              <a:t>&gt; lives in &lt;City&gt; and works in &lt;</a:t>
            </a:r>
            <a:r>
              <a:rPr lang="en-US" sz="1800" dirty="0" err="1"/>
              <a:t>DepartmentName</a:t>
            </a:r>
            <a:r>
              <a:rPr lang="en-US" sz="1800" dirty="0"/>
              <a:t>&gt; Department. (In single column)</a:t>
            </a:r>
          </a:p>
          <a:p>
            <a:pPr marL="342900" indent="-342900">
              <a:buFont typeface="+mj-lt"/>
              <a:buAutoNum type="arabicPeriod" startAt="16"/>
            </a:pPr>
            <a:endParaRPr lang="en-US" altLang="en-US" sz="1800" dirty="0"/>
          </a:p>
          <a:p>
            <a:pPr marL="457200" indent="-457200">
              <a:buFont typeface="+mj-lt"/>
              <a:buAutoNum type="arabicPeriod" startAt="16"/>
            </a:pPr>
            <a:endParaRPr lang="en-US" altLang="en-US" sz="1800" dirty="0"/>
          </a:p>
          <a:p>
            <a:endParaRPr lang="en-US" altLang="en-US" sz="2200" dirty="0"/>
          </a:p>
          <a:p>
            <a:endParaRPr lang="en-US" altLang="en-US" sz="2200" dirty="0"/>
          </a:p>
          <a:p>
            <a:endParaRPr lang="en-US" dirty="0"/>
          </a:p>
        </p:txBody>
      </p:sp>
      <p:sp>
        <p:nvSpPr>
          <p:cNvPr id="2" name="Title 1">
            <a:extLst>
              <a:ext uri="{FF2B5EF4-FFF2-40B4-BE49-F238E27FC236}">
                <a16:creationId xmlns:a16="http://schemas.microsoft.com/office/drawing/2014/main" id="{BABFEF75-1725-98A7-1FA1-ABA7B2C56188}"/>
              </a:ext>
            </a:extLst>
          </p:cNvPr>
          <p:cNvSpPr>
            <a:spLocks noGrp="1"/>
          </p:cNvSpPr>
          <p:nvPr>
            <p:ph type="title"/>
          </p:nvPr>
        </p:nvSpPr>
        <p:spPr/>
        <p:txBody>
          <a:bodyPr/>
          <a:lstStyle/>
          <a:p>
            <a:r>
              <a:rPr lang="en-US" dirty="0"/>
              <a:t>Exercise: Joins</a:t>
            </a:r>
            <a:endParaRPr lang="en-IN" dirty="0"/>
          </a:p>
        </p:txBody>
      </p:sp>
      <p:pic>
        <p:nvPicPr>
          <p:cNvPr id="7" name="Content Placeholder 6">
            <a:extLst>
              <a:ext uri="{FF2B5EF4-FFF2-40B4-BE49-F238E27FC236}">
                <a16:creationId xmlns:a16="http://schemas.microsoft.com/office/drawing/2014/main" id="{EAE5D3FF-2216-EB24-F770-5F272D2F5837}"/>
              </a:ext>
            </a:extLst>
          </p:cNvPr>
          <p:cNvPicPr>
            <a:picLocks noGrp="1" noChangeAspect="1"/>
          </p:cNvPicPr>
          <p:nvPr>
            <p:ph idx="1"/>
          </p:nvPr>
        </p:nvPicPr>
        <p:blipFill>
          <a:blip r:embed="rId2"/>
          <a:stretch>
            <a:fillRect/>
          </a:stretch>
        </p:blipFill>
        <p:spPr>
          <a:xfrm>
            <a:off x="8122024" y="4626914"/>
            <a:ext cx="3938794" cy="1657345"/>
          </a:xfrm>
        </p:spPr>
      </p:pic>
      <p:pic>
        <p:nvPicPr>
          <p:cNvPr id="5" name="Picture 4">
            <a:extLst>
              <a:ext uri="{FF2B5EF4-FFF2-40B4-BE49-F238E27FC236}">
                <a16:creationId xmlns:a16="http://schemas.microsoft.com/office/drawing/2014/main" id="{2AAAA816-0C75-F3AC-0EB9-627707FF0311}"/>
              </a:ext>
            </a:extLst>
          </p:cNvPr>
          <p:cNvPicPr>
            <a:picLocks noChangeAspect="1"/>
          </p:cNvPicPr>
          <p:nvPr/>
        </p:nvPicPr>
        <p:blipFill>
          <a:blip r:embed="rId3"/>
          <a:stretch>
            <a:fillRect/>
          </a:stretch>
        </p:blipFill>
        <p:spPr>
          <a:xfrm>
            <a:off x="6367045" y="1294433"/>
            <a:ext cx="5732227" cy="2672608"/>
          </a:xfrm>
          <a:prstGeom prst="rect">
            <a:avLst/>
          </a:prstGeom>
        </p:spPr>
      </p:pic>
      <p:sp>
        <p:nvSpPr>
          <p:cNvPr id="8" name="Content Placeholder 2">
            <a:extLst>
              <a:ext uri="{FF2B5EF4-FFF2-40B4-BE49-F238E27FC236}">
                <a16:creationId xmlns:a16="http://schemas.microsoft.com/office/drawing/2014/main" id="{4AF880A6-90B1-B9B4-A0D3-EC00DD13B00D}"/>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9" name="Content Placeholder 4">
            <a:extLst>
              <a:ext uri="{FF2B5EF4-FFF2-40B4-BE49-F238E27FC236}">
                <a16:creationId xmlns:a16="http://schemas.microsoft.com/office/drawing/2014/main" id="{6CF43C45-7AF0-AEEF-0D5F-C1B92D3E11AF}"/>
              </a:ext>
            </a:extLst>
          </p:cNvPr>
          <p:cNvGraphicFramePr>
            <a:graphicFrameLocks/>
          </p:cNvGraphicFramePr>
          <p:nvPr/>
        </p:nvGraphicFramePr>
        <p:xfrm>
          <a:off x="8141074" y="4274285"/>
          <a:ext cx="824752" cy="365760"/>
        </p:xfrm>
        <a:graphic>
          <a:graphicData uri="http://schemas.openxmlformats.org/drawingml/2006/table">
            <a:tbl>
              <a:tblPr firstRow="1" bandRow="1">
                <a:tableStyleId>{8EC20E35-A176-4012-BC5E-935CFFF8708E}</a:tableStyleId>
              </a:tblPr>
              <a:tblGrid>
                <a:gridCol w="824752">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0" name="Content Placeholder 4">
            <a:extLst>
              <a:ext uri="{FF2B5EF4-FFF2-40B4-BE49-F238E27FC236}">
                <a16:creationId xmlns:a16="http://schemas.microsoft.com/office/drawing/2014/main" id="{9EB6C0EA-FD62-7C73-270D-A882D805AA70}"/>
              </a:ext>
            </a:extLst>
          </p:cNvPr>
          <p:cNvGraphicFramePr>
            <a:graphicFrameLocks/>
          </p:cNvGraphicFramePr>
          <p:nvPr/>
        </p:nvGraphicFramePr>
        <p:xfrm>
          <a:off x="6392395" y="928673"/>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PERSON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0789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DCBD-9789-D58C-B690-001A541FE774}"/>
              </a:ext>
            </a:extLst>
          </p:cNvPr>
          <p:cNvSpPr>
            <a:spLocks noGrp="1"/>
          </p:cNvSpPr>
          <p:nvPr>
            <p:ph type="title"/>
          </p:nvPr>
        </p:nvSpPr>
        <p:spPr/>
        <p:txBody>
          <a:bodyPr/>
          <a:lstStyle/>
          <a:p>
            <a:r>
              <a:rPr lang="en-US"/>
              <a:t>Interview Question</a:t>
            </a:r>
            <a:endParaRPr lang="en-IN" dirty="0"/>
          </a:p>
        </p:txBody>
      </p:sp>
      <p:sp>
        <p:nvSpPr>
          <p:cNvPr id="3" name="Content Placeholder 2">
            <a:extLst>
              <a:ext uri="{FF2B5EF4-FFF2-40B4-BE49-F238E27FC236}">
                <a16:creationId xmlns:a16="http://schemas.microsoft.com/office/drawing/2014/main" id="{235BBD66-8521-C096-0AD6-EF5A1234C959}"/>
              </a:ext>
            </a:extLst>
          </p:cNvPr>
          <p:cNvSpPr>
            <a:spLocks noGrp="1"/>
          </p:cNvSpPr>
          <p:nvPr>
            <p:ph idx="1"/>
          </p:nvPr>
        </p:nvSpPr>
        <p:spPr/>
        <p:txBody>
          <a:bodyPr/>
          <a:lstStyle/>
          <a:p>
            <a:endParaRPr lang="en-US" dirty="0"/>
          </a:p>
          <a:p>
            <a:endParaRPr lang="en-IN" dirty="0"/>
          </a:p>
          <a:p>
            <a:endParaRPr lang="en-IN" dirty="0"/>
          </a:p>
          <a:p>
            <a:endParaRPr lang="en-IN" dirty="0"/>
          </a:p>
          <a:p>
            <a:endParaRPr lang="en-IN" dirty="0"/>
          </a:p>
          <a:p>
            <a:endParaRPr lang="en-IN" dirty="0"/>
          </a:p>
          <a:p>
            <a:endParaRPr lang="en-IN" dirty="0"/>
          </a:p>
          <a:p>
            <a:endParaRPr lang="en-IN" dirty="0"/>
          </a:p>
          <a:p>
            <a:r>
              <a:rPr lang="en-IN" dirty="0"/>
              <a:t>Number of records in inner join??????</a:t>
            </a:r>
          </a:p>
          <a:p>
            <a:r>
              <a:rPr lang="en-IN" dirty="0"/>
              <a:t>Number of records in left outer  join?????</a:t>
            </a:r>
          </a:p>
          <a:p>
            <a:r>
              <a:rPr lang="en-IN" dirty="0"/>
              <a:t>Number of records in right outer  join?????</a:t>
            </a:r>
          </a:p>
          <a:p>
            <a:r>
              <a:rPr lang="en-IN" dirty="0"/>
              <a:t>Number of records in full outer  join?????</a:t>
            </a:r>
          </a:p>
          <a:p>
            <a:endParaRPr lang="en-IN" dirty="0"/>
          </a:p>
          <a:p>
            <a:endParaRPr lang="en-IN" dirty="0"/>
          </a:p>
          <a:p>
            <a:endParaRPr lang="en-IN" dirty="0"/>
          </a:p>
        </p:txBody>
      </p:sp>
      <p:pic>
        <p:nvPicPr>
          <p:cNvPr id="6" name="Picture 5">
            <a:extLst>
              <a:ext uri="{FF2B5EF4-FFF2-40B4-BE49-F238E27FC236}">
                <a16:creationId xmlns:a16="http://schemas.microsoft.com/office/drawing/2014/main" id="{B36E7110-3294-0C03-71DE-C70405798199}"/>
              </a:ext>
            </a:extLst>
          </p:cNvPr>
          <p:cNvPicPr>
            <a:picLocks noChangeAspect="1"/>
          </p:cNvPicPr>
          <p:nvPr/>
        </p:nvPicPr>
        <p:blipFill>
          <a:blip r:embed="rId2"/>
          <a:stretch>
            <a:fillRect/>
          </a:stretch>
        </p:blipFill>
        <p:spPr>
          <a:xfrm>
            <a:off x="7813364" y="1468580"/>
            <a:ext cx="3848637" cy="685896"/>
          </a:xfrm>
          <a:prstGeom prst="rect">
            <a:avLst/>
          </a:prstGeom>
        </p:spPr>
      </p:pic>
      <p:graphicFrame>
        <p:nvGraphicFramePr>
          <p:cNvPr id="9" name="Table 8">
            <a:extLst>
              <a:ext uri="{FF2B5EF4-FFF2-40B4-BE49-F238E27FC236}">
                <a16:creationId xmlns:a16="http://schemas.microsoft.com/office/drawing/2014/main" id="{E2350942-DF99-9B42-642E-F0FE45301A61}"/>
              </a:ext>
            </a:extLst>
          </p:cNvPr>
          <p:cNvGraphicFramePr>
            <a:graphicFrameLocks noGrp="1"/>
          </p:cNvGraphicFramePr>
          <p:nvPr/>
        </p:nvGraphicFramePr>
        <p:xfrm>
          <a:off x="2937256" y="863444"/>
          <a:ext cx="1076960" cy="3327400"/>
        </p:xfrm>
        <a:graphic>
          <a:graphicData uri="http://schemas.openxmlformats.org/drawingml/2006/table">
            <a:tbl>
              <a:tblPr firstRow="1" bandRow="1">
                <a:tableStyleId>{5940675A-B579-460E-94D1-54222C63F5DA}</a:tableStyleId>
              </a:tblPr>
              <a:tblGrid>
                <a:gridCol w="1076960">
                  <a:extLst>
                    <a:ext uri="{9D8B030D-6E8A-4147-A177-3AD203B41FA5}">
                      <a16:colId xmlns:a16="http://schemas.microsoft.com/office/drawing/2014/main" val="4201926669"/>
                    </a:ext>
                  </a:extLst>
                </a:gridCol>
              </a:tblGrid>
              <a:tr h="185420">
                <a:tc>
                  <a:txBody>
                    <a:bodyPr/>
                    <a:lstStyle/>
                    <a:p>
                      <a:pPr algn="ctr"/>
                      <a:r>
                        <a:rPr lang="en-IN" b="1" dirty="0">
                          <a:solidFill>
                            <a:srgbClr val="0D4991"/>
                          </a:solidFill>
                        </a:rPr>
                        <a:t>TABLE 1</a:t>
                      </a:r>
                    </a:p>
                  </a:txBody>
                  <a:tcPr/>
                </a:tc>
                <a:extLst>
                  <a:ext uri="{0D108BD9-81ED-4DB2-BD59-A6C34878D82A}">
                    <a16:rowId xmlns:a16="http://schemas.microsoft.com/office/drawing/2014/main" val="2366435897"/>
                  </a:ext>
                </a:extLst>
              </a:tr>
              <a:tr h="185420">
                <a:tc>
                  <a:txBody>
                    <a:bodyPr/>
                    <a:lstStyle/>
                    <a:p>
                      <a:pPr algn="ctr"/>
                      <a:r>
                        <a:rPr lang="en-IN" b="1" dirty="0"/>
                        <a:t>NO1</a:t>
                      </a:r>
                    </a:p>
                  </a:txBody>
                  <a:tcPr/>
                </a:tc>
                <a:extLst>
                  <a:ext uri="{0D108BD9-81ED-4DB2-BD59-A6C34878D82A}">
                    <a16:rowId xmlns:a16="http://schemas.microsoft.com/office/drawing/2014/main" val="1012853860"/>
                  </a:ext>
                </a:extLst>
              </a:tr>
              <a:tr h="370840">
                <a:tc>
                  <a:txBody>
                    <a:bodyPr/>
                    <a:lstStyle/>
                    <a:p>
                      <a:pPr algn="ctr"/>
                      <a:r>
                        <a:rPr lang="en-IN" dirty="0"/>
                        <a:t>1</a:t>
                      </a:r>
                    </a:p>
                  </a:txBody>
                  <a:tcPr/>
                </a:tc>
                <a:extLst>
                  <a:ext uri="{0D108BD9-81ED-4DB2-BD59-A6C34878D82A}">
                    <a16:rowId xmlns:a16="http://schemas.microsoft.com/office/drawing/2014/main" val="3276000941"/>
                  </a:ext>
                </a:extLst>
              </a:tr>
              <a:tr h="370840">
                <a:tc>
                  <a:txBody>
                    <a:bodyPr/>
                    <a:lstStyle/>
                    <a:p>
                      <a:pPr algn="ctr"/>
                      <a:r>
                        <a:rPr lang="en-IN" dirty="0"/>
                        <a:t>1</a:t>
                      </a:r>
                    </a:p>
                  </a:txBody>
                  <a:tcPr/>
                </a:tc>
                <a:extLst>
                  <a:ext uri="{0D108BD9-81ED-4DB2-BD59-A6C34878D82A}">
                    <a16:rowId xmlns:a16="http://schemas.microsoft.com/office/drawing/2014/main" val="2036777761"/>
                  </a:ext>
                </a:extLst>
              </a:tr>
              <a:tr h="370840">
                <a:tc>
                  <a:txBody>
                    <a:bodyPr/>
                    <a:lstStyle/>
                    <a:p>
                      <a:pPr algn="ctr"/>
                      <a:r>
                        <a:rPr lang="en-IN" dirty="0"/>
                        <a:t>1</a:t>
                      </a:r>
                    </a:p>
                  </a:txBody>
                  <a:tcPr/>
                </a:tc>
                <a:extLst>
                  <a:ext uri="{0D108BD9-81ED-4DB2-BD59-A6C34878D82A}">
                    <a16:rowId xmlns:a16="http://schemas.microsoft.com/office/drawing/2014/main" val="181669014"/>
                  </a:ext>
                </a:extLst>
              </a:tr>
              <a:tr h="370840">
                <a:tc>
                  <a:txBody>
                    <a:bodyPr/>
                    <a:lstStyle/>
                    <a:p>
                      <a:pPr algn="ctr"/>
                      <a:r>
                        <a:rPr lang="en-IN" dirty="0"/>
                        <a:t>2</a:t>
                      </a:r>
                    </a:p>
                  </a:txBody>
                  <a:tcPr/>
                </a:tc>
                <a:extLst>
                  <a:ext uri="{0D108BD9-81ED-4DB2-BD59-A6C34878D82A}">
                    <a16:rowId xmlns:a16="http://schemas.microsoft.com/office/drawing/2014/main" val="174854739"/>
                  </a:ext>
                </a:extLst>
              </a:tr>
              <a:tr h="370840">
                <a:tc>
                  <a:txBody>
                    <a:bodyPr/>
                    <a:lstStyle/>
                    <a:p>
                      <a:pPr algn="ctr"/>
                      <a:r>
                        <a:rPr lang="en-IN" dirty="0"/>
                        <a:t>3</a:t>
                      </a:r>
                    </a:p>
                  </a:txBody>
                  <a:tcPr/>
                </a:tc>
                <a:extLst>
                  <a:ext uri="{0D108BD9-81ED-4DB2-BD59-A6C34878D82A}">
                    <a16:rowId xmlns:a16="http://schemas.microsoft.com/office/drawing/2014/main" val="199936171"/>
                  </a:ext>
                </a:extLst>
              </a:tr>
              <a:tr h="370840">
                <a:tc>
                  <a:txBody>
                    <a:bodyPr/>
                    <a:lstStyle/>
                    <a:p>
                      <a:pPr algn="ctr"/>
                      <a:r>
                        <a:rPr lang="en-IN" dirty="0"/>
                        <a:t>3</a:t>
                      </a:r>
                    </a:p>
                  </a:txBody>
                  <a:tcPr/>
                </a:tc>
                <a:extLst>
                  <a:ext uri="{0D108BD9-81ED-4DB2-BD59-A6C34878D82A}">
                    <a16:rowId xmlns:a16="http://schemas.microsoft.com/office/drawing/2014/main" val="1100360944"/>
                  </a:ext>
                </a:extLst>
              </a:tr>
              <a:tr h="370840">
                <a:tc>
                  <a:txBody>
                    <a:bodyPr/>
                    <a:lstStyle/>
                    <a:p>
                      <a:pPr algn="ctr"/>
                      <a:r>
                        <a:rPr lang="en-IN" dirty="0"/>
                        <a:t>3</a:t>
                      </a:r>
                    </a:p>
                  </a:txBody>
                  <a:tcPr/>
                </a:tc>
                <a:extLst>
                  <a:ext uri="{0D108BD9-81ED-4DB2-BD59-A6C34878D82A}">
                    <a16:rowId xmlns:a16="http://schemas.microsoft.com/office/drawing/2014/main" val="829828028"/>
                  </a:ext>
                </a:extLst>
              </a:tr>
            </a:tbl>
          </a:graphicData>
        </a:graphic>
      </p:graphicFrame>
      <p:graphicFrame>
        <p:nvGraphicFramePr>
          <p:cNvPr id="11" name="Table 10">
            <a:extLst>
              <a:ext uri="{FF2B5EF4-FFF2-40B4-BE49-F238E27FC236}">
                <a16:creationId xmlns:a16="http://schemas.microsoft.com/office/drawing/2014/main" id="{B83E901A-A420-48AD-866D-81D9A9893A48}"/>
              </a:ext>
            </a:extLst>
          </p:cNvPr>
          <p:cNvGraphicFramePr>
            <a:graphicFrameLocks noGrp="1"/>
          </p:cNvGraphicFramePr>
          <p:nvPr/>
        </p:nvGraphicFramePr>
        <p:xfrm>
          <a:off x="5157735" y="863444"/>
          <a:ext cx="1168400" cy="2966720"/>
        </p:xfrm>
        <a:graphic>
          <a:graphicData uri="http://schemas.openxmlformats.org/drawingml/2006/table">
            <a:tbl>
              <a:tblPr firstRow="1" bandRow="1">
                <a:tableStyleId>{5940675A-B579-460E-94D1-54222C63F5DA}</a:tableStyleId>
              </a:tblPr>
              <a:tblGrid>
                <a:gridCol w="1168400">
                  <a:extLst>
                    <a:ext uri="{9D8B030D-6E8A-4147-A177-3AD203B41FA5}">
                      <a16:colId xmlns:a16="http://schemas.microsoft.com/office/drawing/2014/main" val="912742878"/>
                    </a:ext>
                  </a:extLst>
                </a:gridCol>
              </a:tblGrid>
              <a:tr h="370840">
                <a:tc>
                  <a:txBody>
                    <a:bodyPr/>
                    <a:lstStyle/>
                    <a:p>
                      <a:pPr algn="ctr"/>
                      <a:r>
                        <a:rPr lang="en-IN" b="1" dirty="0">
                          <a:solidFill>
                            <a:srgbClr val="0D4991"/>
                          </a:solidFill>
                        </a:rPr>
                        <a:t>TABLE 2</a:t>
                      </a:r>
                    </a:p>
                  </a:txBody>
                  <a:tcPr/>
                </a:tc>
                <a:extLst>
                  <a:ext uri="{0D108BD9-81ED-4DB2-BD59-A6C34878D82A}">
                    <a16:rowId xmlns:a16="http://schemas.microsoft.com/office/drawing/2014/main" val="1908384545"/>
                  </a:ext>
                </a:extLst>
              </a:tr>
              <a:tr h="370840">
                <a:tc>
                  <a:txBody>
                    <a:bodyPr/>
                    <a:lstStyle/>
                    <a:p>
                      <a:pPr algn="ctr"/>
                      <a:r>
                        <a:rPr lang="en-IN" b="1" dirty="0"/>
                        <a:t>NO1</a:t>
                      </a:r>
                    </a:p>
                  </a:txBody>
                  <a:tcPr/>
                </a:tc>
                <a:extLst>
                  <a:ext uri="{0D108BD9-81ED-4DB2-BD59-A6C34878D82A}">
                    <a16:rowId xmlns:a16="http://schemas.microsoft.com/office/drawing/2014/main" val="2212221161"/>
                  </a:ext>
                </a:extLst>
              </a:tr>
              <a:tr h="370840">
                <a:tc>
                  <a:txBody>
                    <a:bodyPr/>
                    <a:lstStyle/>
                    <a:p>
                      <a:pPr algn="ctr"/>
                      <a:r>
                        <a:rPr lang="en-IN" dirty="0"/>
                        <a:t>1</a:t>
                      </a:r>
                    </a:p>
                  </a:txBody>
                  <a:tcPr/>
                </a:tc>
                <a:extLst>
                  <a:ext uri="{0D108BD9-81ED-4DB2-BD59-A6C34878D82A}">
                    <a16:rowId xmlns:a16="http://schemas.microsoft.com/office/drawing/2014/main" val="3353098877"/>
                  </a:ext>
                </a:extLst>
              </a:tr>
              <a:tr h="370840">
                <a:tc>
                  <a:txBody>
                    <a:bodyPr/>
                    <a:lstStyle/>
                    <a:p>
                      <a:pPr algn="ctr"/>
                      <a:r>
                        <a:rPr lang="en-IN" dirty="0"/>
                        <a:t>1</a:t>
                      </a:r>
                    </a:p>
                  </a:txBody>
                  <a:tcPr/>
                </a:tc>
                <a:extLst>
                  <a:ext uri="{0D108BD9-81ED-4DB2-BD59-A6C34878D82A}">
                    <a16:rowId xmlns:a16="http://schemas.microsoft.com/office/drawing/2014/main" val="1847800817"/>
                  </a:ext>
                </a:extLst>
              </a:tr>
              <a:tr h="370840">
                <a:tc>
                  <a:txBody>
                    <a:bodyPr/>
                    <a:lstStyle/>
                    <a:p>
                      <a:pPr algn="ctr"/>
                      <a:r>
                        <a:rPr lang="en-IN" dirty="0"/>
                        <a:t>2</a:t>
                      </a:r>
                    </a:p>
                  </a:txBody>
                  <a:tcPr/>
                </a:tc>
                <a:extLst>
                  <a:ext uri="{0D108BD9-81ED-4DB2-BD59-A6C34878D82A}">
                    <a16:rowId xmlns:a16="http://schemas.microsoft.com/office/drawing/2014/main" val="867260735"/>
                  </a:ext>
                </a:extLst>
              </a:tr>
              <a:tr h="370840">
                <a:tc>
                  <a:txBody>
                    <a:bodyPr/>
                    <a:lstStyle/>
                    <a:p>
                      <a:pPr algn="ctr"/>
                      <a:r>
                        <a:rPr lang="en-IN" dirty="0"/>
                        <a:t>2</a:t>
                      </a:r>
                    </a:p>
                  </a:txBody>
                  <a:tcPr/>
                </a:tc>
                <a:extLst>
                  <a:ext uri="{0D108BD9-81ED-4DB2-BD59-A6C34878D82A}">
                    <a16:rowId xmlns:a16="http://schemas.microsoft.com/office/drawing/2014/main" val="4141502843"/>
                  </a:ext>
                </a:extLst>
              </a:tr>
              <a:tr h="370840">
                <a:tc>
                  <a:txBody>
                    <a:bodyPr/>
                    <a:lstStyle/>
                    <a:p>
                      <a:pPr algn="ctr"/>
                      <a:r>
                        <a:rPr lang="en-IN" dirty="0"/>
                        <a:t>4</a:t>
                      </a:r>
                    </a:p>
                  </a:txBody>
                  <a:tcPr/>
                </a:tc>
                <a:extLst>
                  <a:ext uri="{0D108BD9-81ED-4DB2-BD59-A6C34878D82A}">
                    <a16:rowId xmlns:a16="http://schemas.microsoft.com/office/drawing/2014/main" val="4018533006"/>
                  </a:ext>
                </a:extLst>
              </a:tr>
              <a:tr h="370840">
                <a:tc>
                  <a:txBody>
                    <a:bodyPr/>
                    <a:lstStyle/>
                    <a:p>
                      <a:pPr algn="ctr"/>
                      <a:r>
                        <a:rPr lang="en-IN" dirty="0"/>
                        <a:t>NULL</a:t>
                      </a:r>
                    </a:p>
                  </a:txBody>
                  <a:tcPr/>
                </a:tc>
                <a:extLst>
                  <a:ext uri="{0D108BD9-81ED-4DB2-BD59-A6C34878D82A}">
                    <a16:rowId xmlns:a16="http://schemas.microsoft.com/office/drawing/2014/main" val="106543843"/>
                  </a:ext>
                </a:extLst>
              </a:tr>
            </a:tbl>
          </a:graphicData>
        </a:graphic>
      </p:graphicFrame>
      <p:sp>
        <p:nvSpPr>
          <p:cNvPr id="12" name="Rectangle 11">
            <a:extLst>
              <a:ext uri="{FF2B5EF4-FFF2-40B4-BE49-F238E27FC236}">
                <a16:creationId xmlns:a16="http://schemas.microsoft.com/office/drawing/2014/main" id="{1E4660CF-FC5D-B0C0-C498-5220FB41CD78}"/>
              </a:ext>
            </a:extLst>
          </p:cNvPr>
          <p:cNvSpPr/>
          <p:nvPr/>
        </p:nvSpPr>
        <p:spPr>
          <a:xfrm>
            <a:off x="7488936" y="1197864"/>
            <a:ext cx="4571884" cy="13167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4370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Cross Join</a:t>
            </a:r>
            <a:endParaRPr lang="en-US" dirty="0"/>
          </a:p>
        </p:txBody>
      </p:sp>
      <p:sp>
        <p:nvSpPr>
          <p:cNvPr id="3" name="Content Placeholder 2"/>
          <p:cNvSpPr>
            <a:spLocks noGrp="1"/>
          </p:cNvSpPr>
          <p:nvPr>
            <p:ph idx="1"/>
          </p:nvPr>
        </p:nvSpPr>
        <p:spPr/>
        <p:txBody>
          <a:bodyPr/>
          <a:lstStyle/>
          <a:p>
            <a:r>
              <a:rPr lang="en-US" dirty="0"/>
              <a:t>Cross join produces </a:t>
            </a:r>
            <a:r>
              <a:rPr lang="en-US" dirty="0">
                <a:solidFill>
                  <a:srgbClr val="C00000"/>
                </a:solidFill>
              </a:rPr>
              <a:t>Cartesian product </a:t>
            </a:r>
            <a:r>
              <a:rPr lang="en-US" dirty="0"/>
              <a:t>of the tables that are involved in the join.</a:t>
            </a:r>
          </a:p>
          <a:p>
            <a:r>
              <a:rPr lang="en-US" dirty="0"/>
              <a:t>The size of a Cartesian product is the </a:t>
            </a:r>
            <a:r>
              <a:rPr lang="en-US" dirty="0">
                <a:solidFill>
                  <a:srgbClr val="C00000"/>
                </a:solidFill>
              </a:rPr>
              <a:t>number of the rows in the first table </a:t>
            </a:r>
            <a:r>
              <a:rPr lang="en-US" b="1" dirty="0">
                <a:solidFill>
                  <a:srgbClr val="0E47A1"/>
                </a:solidFill>
              </a:rPr>
              <a:t>multiplied by</a:t>
            </a:r>
            <a:r>
              <a:rPr lang="en-US" dirty="0">
                <a:solidFill>
                  <a:srgbClr val="0E47A1"/>
                </a:solidFill>
              </a:rPr>
              <a:t> </a:t>
            </a:r>
            <a:r>
              <a:rPr lang="en-US" dirty="0"/>
              <a:t>the </a:t>
            </a:r>
            <a:r>
              <a:rPr lang="en-US" dirty="0">
                <a:solidFill>
                  <a:srgbClr val="C00000"/>
                </a:solidFill>
              </a:rPr>
              <a:t>number of rows in the second table </a:t>
            </a:r>
            <a:r>
              <a:rPr lang="en-US" dirty="0"/>
              <a:t>like this.</a:t>
            </a:r>
          </a:p>
          <a:p>
            <a:endParaRPr lang="en-US" dirty="0"/>
          </a:p>
        </p:txBody>
      </p:sp>
      <p:sp>
        <p:nvSpPr>
          <p:cNvPr id="4" name="Oval 3"/>
          <p:cNvSpPr/>
          <p:nvPr/>
        </p:nvSpPr>
        <p:spPr>
          <a:xfrm>
            <a:off x="1828802" y="2743200"/>
            <a:ext cx="1828798" cy="1853820"/>
          </a:xfrm>
          <a:prstGeom prst="ellipse">
            <a:avLst/>
          </a:prstGeom>
          <a:solidFill>
            <a:srgbClr val="F8A15A"/>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chemeClr val="tx2">
                    <a:lumMod val="50000"/>
                  </a:schemeClr>
                </a:solidFill>
              </a:rPr>
              <a:t>Table1</a:t>
            </a:r>
          </a:p>
          <a:p>
            <a:pPr algn="r"/>
            <a:r>
              <a:rPr lang="en-US" sz="1600" dirty="0">
                <a:solidFill>
                  <a:schemeClr val="tx1"/>
                </a:solidFill>
              </a:rPr>
              <a:t>1</a:t>
            </a:r>
          </a:p>
          <a:p>
            <a:pPr algn="r"/>
            <a:endParaRPr lang="en-US" sz="1600" dirty="0">
              <a:solidFill>
                <a:schemeClr val="tx1"/>
              </a:solidFill>
            </a:endParaRPr>
          </a:p>
          <a:p>
            <a:pPr algn="r"/>
            <a:r>
              <a:rPr lang="en-US" sz="1600" dirty="0">
                <a:solidFill>
                  <a:schemeClr val="tx1"/>
                </a:solidFill>
              </a:rPr>
              <a:t>2</a:t>
            </a:r>
          </a:p>
          <a:p>
            <a:pPr algn="r"/>
            <a:endParaRPr lang="en-US" sz="1600" dirty="0">
              <a:solidFill>
                <a:schemeClr val="tx1"/>
              </a:solidFill>
            </a:endParaRPr>
          </a:p>
          <a:p>
            <a:pPr algn="r"/>
            <a:r>
              <a:rPr lang="en-US" sz="1600" dirty="0">
                <a:solidFill>
                  <a:schemeClr val="tx1"/>
                </a:solidFill>
              </a:rPr>
              <a:t>3</a:t>
            </a:r>
          </a:p>
        </p:txBody>
      </p:sp>
      <p:sp>
        <p:nvSpPr>
          <p:cNvPr id="5" name="Oval 4"/>
          <p:cNvSpPr/>
          <p:nvPr/>
        </p:nvSpPr>
        <p:spPr>
          <a:xfrm>
            <a:off x="5154042" y="2701249"/>
            <a:ext cx="1828800" cy="1873827"/>
          </a:xfrm>
          <a:prstGeom prst="ellipse">
            <a:avLst/>
          </a:prstGeom>
          <a:solidFill>
            <a:srgbClr val="AEAB3F"/>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chemeClr val="tx2">
                    <a:lumMod val="50000"/>
                  </a:schemeClr>
                </a:solidFill>
              </a:rPr>
              <a:t>Table2</a:t>
            </a:r>
          </a:p>
          <a:p>
            <a:r>
              <a:rPr lang="en-US" sz="1600" dirty="0">
                <a:solidFill>
                  <a:schemeClr val="tx1"/>
                </a:solidFill>
              </a:rPr>
              <a:t>A</a:t>
            </a:r>
          </a:p>
          <a:p>
            <a:endParaRPr lang="en-US" sz="1600" dirty="0">
              <a:solidFill>
                <a:schemeClr val="tx1"/>
              </a:solidFill>
            </a:endParaRPr>
          </a:p>
          <a:p>
            <a:r>
              <a:rPr lang="en-US" sz="1600" dirty="0">
                <a:solidFill>
                  <a:schemeClr val="tx1"/>
                </a:solidFill>
              </a:rPr>
              <a:t>B</a:t>
            </a:r>
          </a:p>
          <a:p>
            <a:endParaRPr lang="en-US" sz="1600" dirty="0">
              <a:solidFill>
                <a:schemeClr val="tx1"/>
              </a:solidFill>
            </a:endParaRPr>
          </a:p>
          <a:p>
            <a:r>
              <a:rPr lang="en-US" sz="1600" dirty="0">
                <a:solidFill>
                  <a:schemeClr val="tx1"/>
                </a:solidFill>
              </a:rPr>
              <a:t>C</a:t>
            </a:r>
          </a:p>
        </p:txBody>
      </p:sp>
      <p:cxnSp>
        <p:nvCxnSpPr>
          <p:cNvPr id="6" name="Straight Connector 5"/>
          <p:cNvCxnSpPr>
            <a:endCxn id="5" idx="3"/>
          </p:cNvCxnSpPr>
          <p:nvPr/>
        </p:nvCxnSpPr>
        <p:spPr>
          <a:xfrm flipV="1">
            <a:off x="3314892" y="4300660"/>
            <a:ext cx="2196000" cy="6152"/>
          </a:xfrm>
          <a:prstGeom prst="line">
            <a:avLst/>
          </a:prstGeom>
          <a:ln>
            <a:solidFill>
              <a:srgbClr val="002060"/>
            </a:solidFill>
          </a:ln>
        </p:spPr>
        <p:style>
          <a:lnRef idx="2">
            <a:schemeClr val="accent2"/>
          </a:lnRef>
          <a:fillRef idx="0">
            <a:schemeClr val="accent2"/>
          </a:fillRef>
          <a:effectRef idx="1">
            <a:schemeClr val="accent2"/>
          </a:effectRef>
          <a:fontRef idx="minor">
            <a:schemeClr val="tx1"/>
          </a:fontRef>
        </p:style>
      </p:cxnSp>
      <p:cxnSp>
        <p:nvCxnSpPr>
          <p:cNvPr id="7" name="Straight Connector 6"/>
          <p:cNvCxnSpPr/>
          <p:nvPr/>
        </p:nvCxnSpPr>
        <p:spPr>
          <a:xfrm flipV="1">
            <a:off x="3314893" y="3257198"/>
            <a:ext cx="2136391" cy="1"/>
          </a:xfrm>
          <a:prstGeom prst="line">
            <a:avLst/>
          </a:prstGeom>
          <a:ln>
            <a:solidFill>
              <a:schemeClr val="accent6"/>
            </a:solidFill>
          </a:ln>
        </p:spPr>
        <p:style>
          <a:lnRef idx="2">
            <a:schemeClr val="accent2"/>
          </a:lnRef>
          <a:fillRef idx="0">
            <a:schemeClr val="accent2"/>
          </a:fillRef>
          <a:effectRef idx="1">
            <a:schemeClr val="accent2"/>
          </a:effectRef>
          <a:fontRef idx="minor">
            <a:schemeClr val="tx1"/>
          </a:fontRef>
        </p:style>
      </p:cxnSp>
      <p:cxnSp>
        <p:nvCxnSpPr>
          <p:cNvPr id="8" name="Straight Connector 7"/>
          <p:cNvCxnSpPr/>
          <p:nvPr/>
        </p:nvCxnSpPr>
        <p:spPr>
          <a:xfrm>
            <a:off x="3314891" y="3246053"/>
            <a:ext cx="2196918" cy="1057615"/>
          </a:xfrm>
          <a:prstGeom prst="line">
            <a:avLst/>
          </a:prstGeom>
          <a:ln>
            <a:solidFill>
              <a:schemeClr val="accent6"/>
            </a:solidFill>
          </a:ln>
        </p:spPr>
        <p:style>
          <a:lnRef idx="2">
            <a:schemeClr val="accent2"/>
          </a:lnRef>
          <a:fillRef idx="0">
            <a:schemeClr val="accent2"/>
          </a:fillRef>
          <a:effectRef idx="1">
            <a:schemeClr val="accent2"/>
          </a:effectRef>
          <a:fontRef idx="minor">
            <a:schemeClr val="tx1"/>
          </a:fontRef>
        </p:style>
      </p:cxnSp>
      <p:cxnSp>
        <p:nvCxnSpPr>
          <p:cNvPr id="9" name="Straight Connector 8"/>
          <p:cNvCxnSpPr/>
          <p:nvPr/>
        </p:nvCxnSpPr>
        <p:spPr>
          <a:xfrm>
            <a:off x="3302680" y="3252556"/>
            <a:ext cx="2148604" cy="517257"/>
          </a:xfrm>
          <a:prstGeom prst="line">
            <a:avLst/>
          </a:prstGeom>
          <a:ln>
            <a:solidFill>
              <a:schemeClr val="accent6"/>
            </a:solidFill>
          </a:ln>
        </p:spPr>
        <p:style>
          <a:lnRef idx="2">
            <a:schemeClr val="accent2"/>
          </a:lnRef>
          <a:fillRef idx="0">
            <a:schemeClr val="accent2"/>
          </a:fillRef>
          <a:effectRef idx="1">
            <a:schemeClr val="accent2"/>
          </a:effectRef>
          <a:fontRef idx="minor">
            <a:schemeClr val="tx1"/>
          </a:fontRef>
        </p:style>
      </p:cxnSp>
      <p:cxnSp>
        <p:nvCxnSpPr>
          <p:cNvPr id="10" name="Straight Connector 9"/>
          <p:cNvCxnSpPr/>
          <p:nvPr/>
        </p:nvCxnSpPr>
        <p:spPr>
          <a:xfrm flipV="1">
            <a:off x="3314893" y="3774456"/>
            <a:ext cx="2161155" cy="11140"/>
          </a:xfrm>
          <a:prstGeom prst="line">
            <a:avLst/>
          </a:prstGeom>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11" name="Straight Connector 10"/>
          <p:cNvCxnSpPr/>
          <p:nvPr/>
        </p:nvCxnSpPr>
        <p:spPr>
          <a:xfrm flipV="1">
            <a:off x="3314893" y="3257198"/>
            <a:ext cx="2136391" cy="528403"/>
          </a:xfrm>
          <a:prstGeom prst="line">
            <a:avLst/>
          </a:prstGeom>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12" name="Straight Connector 11"/>
          <p:cNvCxnSpPr/>
          <p:nvPr/>
        </p:nvCxnSpPr>
        <p:spPr>
          <a:xfrm flipV="1">
            <a:off x="3313975" y="3772258"/>
            <a:ext cx="2137309" cy="527006"/>
          </a:xfrm>
          <a:prstGeom prst="line">
            <a:avLst/>
          </a:prstGeom>
          <a:ln>
            <a:solidFill>
              <a:srgbClr val="002060"/>
            </a:solidFill>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p:nvPr/>
        </p:nvCxnSpPr>
        <p:spPr>
          <a:xfrm flipV="1">
            <a:off x="3314893" y="3257198"/>
            <a:ext cx="2136391" cy="1038820"/>
          </a:xfrm>
          <a:prstGeom prst="line">
            <a:avLst/>
          </a:prstGeom>
          <a:ln>
            <a:solidFill>
              <a:srgbClr val="002060"/>
            </a:solidFill>
          </a:ln>
        </p:spPr>
        <p:style>
          <a:lnRef idx="2">
            <a:schemeClr val="accent2"/>
          </a:lnRef>
          <a:fillRef idx="0">
            <a:schemeClr val="accent2"/>
          </a:fillRef>
          <a:effectRef idx="1">
            <a:schemeClr val="accent2"/>
          </a:effectRef>
          <a:fontRef idx="minor">
            <a:schemeClr val="tx1"/>
          </a:fontRef>
        </p:style>
      </p:cxnSp>
      <p:sp>
        <p:nvSpPr>
          <p:cNvPr id="14" name="TextBox 13">
            <a:extLst>
              <a:ext uri="{FF2B5EF4-FFF2-40B4-BE49-F238E27FC236}">
                <a16:creationId xmlns:a16="http://schemas.microsoft.com/office/drawing/2014/main" id="{B8BDCC25-1E44-48A0-8550-F89E768A4A30}"/>
              </a:ext>
            </a:extLst>
          </p:cNvPr>
          <p:cNvSpPr txBox="1"/>
          <p:nvPr/>
        </p:nvSpPr>
        <p:spPr>
          <a:xfrm>
            <a:off x="208696" y="4531227"/>
            <a:ext cx="1104900" cy="367400"/>
          </a:xfrm>
          <a:prstGeom prst="rect">
            <a:avLst/>
          </a:prstGeom>
          <a:noFill/>
        </p:spPr>
        <p:txBody>
          <a:bodyPr wrap="square" rtlCol="0">
            <a:spAutoFit/>
          </a:bodyPr>
          <a:lstStyle/>
          <a:p>
            <a:r>
              <a:rPr lang="en-US" b="1" u="sng" dirty="0"/>
              <a:t>Syntax</a:t>
            </a:r>
          </a:p>
        </p:txBody>
      </p:sp>
      <p:sp>
        <p:nvSpPr>
          <p:cNvPr id="15" name="Rectangle 14"/>
          <p:cNvSpPr/>
          <p:nvPr/>
        </p:nvSpPr>
        <p:spPr>
          <a:xfrm>
            <a:off x="609600" y="4876800"/>
            <a:ext cx="7962900" cy="12954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Rectangle 15"/>
          <p:cNvSpPr/>
          <p:nvPr/>
        </p:nvSpPr>
        <p:spPr>
          <a:xfrm>
            <a:off x="740195" y="501097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7" name="Rectangle 16"/>
          <p:cNvSpPr/>
          <p:nvPr/>
        </p:nvSpPr>
        <p:spPr>
          <a:xfrm>
            <a:off x="1861107" y="5010977"/>
            <a:ext cx="42489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18" name="Rectangle 17"/>
          <p:cNvSpPr/>
          <p:nvPr/>
        </p:nvSpPr>
        <p:spPr>
          <a:xfrm>
            <a:off x="741332" y="558360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9" name="Rectangle 18"/>
          <p:cNvSpPr/>
          <p:nvPr/>
        </p:nvSpPr>
        <p:spPr>
          <a:xfrm>
            <a:off x="1843376" y="5589319"/>
            <a:ext cx="1068190" cy="45148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20" name="Rectangle 19"/>
          <p:cNvSpPr/>
          <p:nvPr/>
        </p:nvSpPr>
        <p:spPr>
          <a:xfrm>
            <a:off x="3023295" y="5600700"/>
            <a:ext cx="1224868"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Cross Join</a:t>
            </a:r>
            <a:endParaRPr lang="en-US" dirty="0">
              <a:solidFill>
                <a:schemeClr val="accent1">
                  <a:lumMod val="50000"/>
                </a:schemeClr>
              </a:solidFill>
            </a:endParaRPr>
          </a:p>
        </p:txBody>
      </p:sp>
      <p:sp>
        <p:nvSpPr>
          <p:cNvPr id="21" name="Rectangle 20"/>
          <p:cNvSpPr/>
          <p:nvPr/>
        </p:nvSpPr>
        <p:spPr>
          <a:xfrm>
            <a:off x="4359892" y="5600700"/>
            <a:ext cx="939422"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22" name="Rectangle 21"/>
          <p:cNvSpPr/>
          <p:nvPr/>
        </p:nvSpPr>
        <p:spPr>
          <a:xfrm>
            <a:off x="5411043" y="5610472"/>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3" name="Rectangle 22"/>
          <p:cNvSpPr/>
          <p:nvPr/>
        </p:nvSpPr>
        <p:spPr>
          <a:xfrm>
            <a:off x="3140429" y="5600700"/>
            <a:ext cx="990599"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cxnSp>
        <p:nvCxnSpPr>
          <p:cNvPr id="24" name="Straight Connector 23"/>
          <p:cNvCxnSpPr/>
          <p:nvPr/>
        </p:nvCxnSpPr>
        <p:spPr>
          <a:xfrm>
            <a:off x="3333525" y="3783275"/>
            <a:ext cx="2177368" cy="517385"/>
          </a:xfrm>
          <a:prstGeom prst="line">
            <a:avLst/>
          </a:prstGeom>
          <a:ln>
            <a:solidFill>
              <a:srgbClr val="00B050"/>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3147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2000"/>
                                        <p:tgtEl>
                                          <p:spTgt spid="4"/>
                                        </p:tgtEl>
                                      </p:cBhvr>
                                    </p:animEffect>
                                  </p:childTnLst>
                                </p:cTn>
                              </p:par>
                              <p:par>
                                <p:cTn id="16" presetID="1" presetClass="entr" presetSubtype="0" fill="hold"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1)">
                                      <p:cBhvr>
                                        <p:cTn id="22" dur="2000"/>
                                        <p:tgtEl>
                                          <p:spTgt spid="5"/>
                                        </p:tgtEl>
                                      </p:cBhvr>
                                    </p:animEffect>
                                  </p:childTnLst>
                                </p:cTn>
                              </p:par>
                              <p:par>
                                <p:cTn id="23" presetID="1" presetClass="entr" presetSubtype="0" fill="hold"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par>
                                <p:cTn id="44" presetID="22" presetClass="entr" presetSubtype="8" fill="hold"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left)">
                                      <p:cBhvr>
                                        <p:cTn id="46" dur="500"/>
                                        <p:tgtEl>
                                          <p:spTgt spid="9"/>
                                        </p:tgtEl>
                                      </p:cBhvr>
                                    </p:animEffect>
                                  </p:childTnLst>
                                </p:cTn>
                              </p:par>
                              <p:par>
                                <p:cTn id="47" presetID="22" presetClass="entr" presetSubtype="8" fill="hold"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left)">
                                      <p:cBhvr>
                                        <p:cTn id="49" dur="5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500"/>
                                        <p:tgtEl>
                                          <p:spTgt spid="11"/>
                                        </p:tgtEl>
                                      </p:cBhvr>
                                    </p:animEffect>
                                  </p:childTnLst>
                                </p:cTn>
                              </p:par>
                              <p:par>
                                <p:cTn id="55" presetID="22" presetClass="entr" presetSubtype="8"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left)">
                                      <p:cBhvr>
                                        <p:cTn id="57" dur="500"/>
                                        <p:tgtEl>
                                          <p:spTgt spid="24"/>
                                        </p:tgtEl>
                                      </p:cBhvr>
                                    </p:animEffect>
                                  </p:childTnLst>
                                </p:cTn>
                              </p:par>
                              <p:par>
                                <p:cTn id="58" presetID="22" presetClass="entr" presetSubtype="8" fill="hold"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left)">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wipe(left)">
                                      <p:cBhvr>
                                        <p:cTn id="65" dur="500"/>
                                        <p:tgtEl>
                                          <p:spTgt spid="6"/>
                                        </p:tgtEl>
                                      </p:cBhvr>
                                    </p:animEffect>
                                  </p:childTnLst>
                                </p:cTn>
                              </p:par>
                              <p:par>
                                <p:cTn id="66" presetID="22" presetClass="entr" presetSubtype="8" fill="hold"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wipe(left)">
                                      <p:cBhvr>
                                        <p:cTn id="68" dur="500"/>
                                        <p:tgtEl>
                                          <p:spTgt spid="13"/>
                                        </p:tgtEl>
                                      </p:cBhvr>
                                    </p:animEffect>
                                  </p:childTnLst>
                                </p:cTn>
                              </p:par>
                              <p:par>
                                <p:cTn id="69" presetID="22" presetClass="entr" presetSubtype="8"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wipe(left)">
                                      <p:cBhvr>
                                        <p:cTn id="71" dur="500"/>
                                        <p:tgtEl>
                                          <p:spTgt spid="12"/>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8"/>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9"/>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20"/>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22"/>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grpId="1" nodeType="clickEffect">
                                  <p:stCondLst>
                                    <p:cond delay="0"/>
                                  </p:stCondLst>
                                  <p:childTnLst>
                                    <p:set>
                                      <p:cBhvr>
                                        <p:cTn id="109" dur="1" fill="hold">
                                          <p:stCondLst>
                                            <p:cond delay="0"/>
                                          </p:stCondLst>
                                        </p:cTn>
                                        <p:tgtEl>
                                          <p:spTgt spid="16"/>
                                        </p:tgtEl>
                                        <p:attrNameLst>
                                          <p:attrName>style.visibility</p:attrName>
                                        </p:attrNameLst>
                                      </p:cBhvr>
                                      <p:to>
                                        <p:strVal val="hidden"/>
                                      </p:to>
                                    </p:set>
                                  </p:childTnLst>
                                </p:cTn>
                              </p:par>
                              <p:par>
                                <p:cTn id="110" presetID="1" presetClass="exit" presetSubtype="0" fill="hold" grpId="1" nodeType="withEffect">
                                  <p:stCondLst>
                                    <p:cond delay="0"/>
                                  </p:stCondLst>
                                  <p:childTnLst>
                                    <p:set>
                                      <p:cBhvr>
                                        <p:cTn id="111" dur="1" fill="hold">
                                          <p:stCondLst>
                                            <p:cond delay="0"/>
                                          </p:stCondLst>
                                        </p:cTn>
                                        <p:tgtEl>
                                          <p:spTgt spid="17"/>
                                        </p:tgtEl>
                                        <p:attrNameLst>
                                          <p:attrName>style.visibility</p:attrName>
                                        </p:attrNameLst>
                                      </p:cBhvr>
                                      <p:to>
                                        <p:strVal val="hidden"/>
                                      </p:to>
                                    </p:set>
                                  </p:childTnLst>
                                </p:cTn>
                              </p:par>
                              <p:par>
                                <p:cTn id="112" presetID="1" presetClass="exit" presetSubtype="0" fill="hold" grpId="1" nodeType="withEffect">
                                  <p:stCondLst>
                                    <p:cond delay="0"/>
                                  </p:stCondLst>
                                  <p:childTnLst>
                                    <p:set>
                                      <p:cBhvr>
                                        <p:cTn id="113" dur="1" fill="hold">
                                          <p:stCondLst>
                                            <p:cond delay="0"/>
                                          </p:stCondLst>
                                        </p:cTn>
                                        <p:tgtEl>
                                          <p:spTgt spid="18"/>
                                        </p:tgtEl>
                                        <p:attrNameLst>
                                          <p:attrName>style.visibility</p:attrName>
                                        </p:attrNameLst>
                                      </p:cBhvr>
                                      <p:to>
                                        <p:strVal val="hidden"/>
                                      </p:to>
                                    </p:set>
                                  </p:childTnLst>
                                </p:cTn>
                              </p:par>
                              <p:par>
                                <p:cTn id="114" presetID="1" presetClass="exit" presetSubtype="0" fill="hold" grpId="1" nodeType="withEffect">
                                  <p:stCondLst>
                                    <p:cond delay="0"/>
                                  </p:stCondLst>
                                  <p:childTnLst>
                                    <p:set>
                                      <p:cBhvr>
                                        <p:cTn id="115" dur="1" fill="hold">
                                          <p:stCondLst>
                                            <p:cond delay="0"/>
                                          </p:stCondLst>
                                        </p:cTn>
                                        <p:tgtEl>
                                          <p:spTgt spid="19"/>
                                        </p:tgtEl>
                                        <p:attrNameLst>
                                          <p:attrName>style.visibility</p:attrName>
                                        </p:attrNameLst>
                                      </p:cBhvr>
                                      <p:to>
                                        <p:strVal val="hidden"/>
                                      </p:to>
                                    </p:set>
                                  </p:childTnLst>
                                </p:cTn>
                              </p:par>
                              <p:par>
                                <p:cTn id="116" presetID="1" presetClass="exit" presetSubtype="0" fill="hold" grpId="1" nodeType="withEffect">
                                  <p:stCondLst>
                                    <p:cond delay="0"/>
                                  </p:stCondLst>
                                  <p:childTnLst>
                                    <p:set>
                                      <p:cBhvr>
                                        <p:cTn id="117" dur="1" fill="hold">
                                          <p:stCondLst>
                                            <p:cond delay="0"/>
                                          </p:stCondLst>
                                        </p:cTn>
                                        <p:tgtEl>
                                          <p:spTgt spid="20"/>
                                        </p:tgtEl>
                                        <p:attrNameLst>
                                          <p:attrName>style.visibility</p:attrName>
                                        </p:attrNameLst>
                                      </p:cBhvr>
                                      <p:to>
                                        <p:strVal val="hidden"/>
                                      </p:to>
                                    </p:set>
                                  </p:childTnLst>
                                </p:cTn>
                              </p:par>
                              <p:par>
                                <p:cTn id="118" presetID="1" presetClass="exit" presetSubtype="0" fill="hold" grpId="1" nodeType="withEffect">
                                  <p:stCondLst>
                                    <p:cond delay="0"/>
                                  </p:stCondLst>
                                  <p:childTnLst>
                                    <p:set>
                                      <p:cBhvr>
                                        <p:cTn id="119" dur="1" fill="hold">
                                          <p:stCondLst>
                                            <p:cond delay="0"/>
                                          </p:stCondLst>
                                        </p:cTn>
                                        <p:tgtEl>
                                          <p:spTgt spid="21"/>
                                        </p:tgtEl>
                                        <p:attrNameLst>
                                          <p:attrName>style.visibility</p:attrName>
                                        </p:attrNameLst>
                                      </p:cBhvr>
                                      <p:to>
                                        <p:strVal val="hidden"/>
                                      </p:to>
                                    </p:set>
                                  </p:childTnLst>
                                </p:cTn>
                              </p:par>
                              <p:par>
                                <p:cTn id="120" presetID="1" presetClass="exit" presetSubtype="0" fill="hold" grpId="1" nodeType="withEffect">
                                  <p:stCondLst>
                                    <p:cond delay="0"/>
                                  </p:stCondLst>
                                  <p:childTnLst>
                                    <p:set>
                                      <p:cBhvr>
                                        <p:cTn id="121" dur="1" fill="hold">
                                          <p:stCondLst>
                                            <p:cond delay="0"/>
                                          </p:stCondLst>
                                        </p:cTn>
                                        <p:tgtEl>
                                          <p:spTgt spid="22"/>
                                        </p:tgtEl>
                                        <p:attrNameLst>
                                          <p:attrName>style.visibility</p:attrName>
                                        </p:attrNameLst>
                                      </p:cBhvr>
                                      <p:to>
                                        <p:strVal val="hidden"/>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2" nodeType="clickEffect">
                                  <p:stCondLst>
                                    <p:cond delay="0"/>
                                  </p:stCondLst>
                                  <p:childTnLst>
                                    <p:set>
                                      <p:cBhvr>
                                        <p:cTn id="125" dur="1" fill="hold">
                                          <p:stCondLst>
                                            <p:cond delay="0"/>
                                          </p:stCondLst>
                                        </p:cTn>
                                        <p:tgtEl>
                                          <p:spTgt spid="16"/>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2" nodeType="clickEffect">
                                  <p:stCondLst>
                                    <p:cond delay="0"/>
                                  </p:stCondLst>
                                  <p:childTnLst>
                                    <p:set>
                                      <p:cBhvr>
                                        <p:cTn id="129" dur="1" fill="hold">
                                          <p:stCondLst>
                                            <p:cond delay="0"/>
                                          </p:stCondLst>
                                        </p:cTn>
                                        <p:tgtEl>
                                          <p:spTgt spid="17"/>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2" nodeType="clickEffect">
                                  <p:stCondLst>
                                    <p:cond delay="0"/>
                                  </p:stCondLst>
                                  <p:childTnLst>
                                    <p:set>
                                      <p:cBhvr>
                                        <p:cTn id="133" dur="1" fill="hold">
                                          <p:stCondLst>
                                            <p:cond delay="0"/>
                                          </p:stCondLst>
                                        </p:cTn>
                                        <p:tgtEl>
                                          <p:spTgt spid="18"/>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2" nodeType="clickEffect">
                                  <p:stCondLst>
                                    <p:cond delay="0"/>
                                  </p:stCondLst>
                                  <p:childTnLst>
                                    <p:set>
                                      <p:cBhvr>
                                        <p:cTn id="137" dur="1" fill="hold">
                                          <p:stCondLst>
                                            <p:cond delay="0"/>
                                          </p:stCondLst>
                                        </p:cTn>
                                        <p:tgtEl>
                                          <p:spTgt spid="19"/>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23"/>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2" nodeType="clickEffect">
                                  <p:stCondLst>
                                    <p:cond delay="0"/>
                                  </p:stCondLst>
                                  <p:childTnLst>
                                    <p:set>
                                      <p:cBhvr>
                                        <p:cTn id="145" dur="1" fill="hold">
                                          <p:stCondLst>
                                            <p:cond delay="0"/>
                                          </p:stCondLst>
                                        </p:cTn>
                                        <p:tgtEl>
                                          <p:spTgt spid="21"/>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2" nodeType="clickEffect">
                                  <p:stCondLst>
                                    <p:cond delay="0"/>
                                  </p:stCondLst>
                                  <p:childTnLst>
                                    <p:set>
                                      <p:cBhvr>
                                        <p:cTn id="149" dur="1" fill="hold">
                                          <p:stCondLst>
                                            <p:cond delay="0"/>
                                          </p:stCondLst>
                                        </p:cTn>
                                        <p:tgtEl>
                                          <p:spTgt spid="22"/>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xit" presetSubtype="0" fill="hold" grpId="1" nodeType="clickEffect">
                                  <p:stCondLst>
                                    <p:cond delay="0"/>
                                  </p:stCondLst>
                                  <p:childTnLst>
                                    <p:set>
                                      <p:cBhvr>
                                        <p:cTn id="153" dur="1" fill="hold">
                                          <p:stCondLst>
                                            <p:cond delay="0"/>
                                          </p:stCondLst>
                                        </p:cTn>
                                        <p:tgtEl>
                                          <p:spTgt spid="23"/>
                                        </p:tgtEl>
                                        <p:attrNameLst>
                                          <p:attrName>style.visibility</p:attrName>
                                        </p:attrNameLst>
                                      </p:cBhvr>
                                      <p:to>
                                        <p:strVal val="hidden"/>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2" nodeType="clickEffect">
                                  <p:stCondLst>
                                    <p:cond delay="0"/>
                                  </p:stCondLst>
                                  <p:childTnLst>
                                    <p:set>
                                      <p:cBhvr>
                                        <p:cTn id="157"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p:bldP spid="15" grpId="0" animBg="1"/>
      <p:bldP spid="16" grpId="0" animBg="1"/>
      <p:bldP spid="16" grpId="1" animBg="1"/>
      <p:bldP spid="16" grpId="2" animBg="1"/>
      <p:bldP spid="17" grpId="0" animBg="1"/>
      <p:bldP spid="17" grpId="1" animBg="1"/>
      <p:bldP spid="17" grpId="2" animBg="1"/>
      <p:bldP spid="18" grpId="0" animBg="1"/>
      <p:bldP spid="18" grpId="1" animBg="1"/>
      <p:bldP spid="18" grpId="2" animBg="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Cross Join</a:t>
            </a:r>
            <a:endParaRPr lang="en-US" dirty="0"/>
          </a:p>
        </p:txBody>
      </p:sp>
      <p:pic>
        <p:nvPicPr>
          <p:cNvPr id="4" name="Picture 3"/>
          <p:cNvPicPr>
            <a:picLocks noChangeAspect="1"/>
          </p:cNvPicPr>
          <p:nvPr/>
        </p:nvPicPr>
        <p:blipFill>
          <a:blip r:embed="rId2"/>
          <a:stretch>
            <a:fillRect/>
          </a:stretch>
        </p:blipFill>
        <p:spPr>
          <a:xfrm>
            <a:off x="4758893" y="1760339"/>
            <a:ext cx="1350732" cy="1219200"/>
          </a:xfrm>
          <a:prstGeom prst="rect">
            <a:avLst/>
          </a:prstGeom>
        </p:spPr>
      </p:pic>
      <p:graphicFrame>
        <p:nvGraphicFramePr>
          <p:cNvPr id="5" name="Table 4"/>
          <p:cNvGraphicFramePr>
            <a:graphicFrameLocks noGrp="1"/>
          </p:cNvGraphicFramePr>
          <p:nvPr/>
        </p:nvGraphicFramePr>
        <p:xfrm>
          <a:off x="475436" y="1066800"/>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2852412" y="1336568"/>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kern="1200" dirty="0">
                          <a:solidFill>
                            <a:schemeClr val="accent6"/>
                          </a:solidFill>
                          <a:effectLst/>
                          <a:latin typeface="+mj-lt"/>
                          <a:ea typeface="+mn-ea"/>
                          <a:cs typeface="+mn-cs"/>
                        </a:rPr>
                        <a:t>101</a:t>
                      </a:r>
                    </a:p>
                  </a:txBody>
                  <a:tcPr marL="9525" marR="9525" marT="9525" marB="0" anchor="b"/>
                </a:tc>
                <a:tc>
                  <a:txBody>
                    <a:bodyPr/>
                    <a:lstStyle/>
                    <a:p>
                      <a:pPr marL="36000" algn="l" fontAlgn="b"/>
                      <a:r>
                        <a:rPr lang="en-US" sz="1600" b="1" i="0" u="none" strike="noStrike" kern="1200" dirty="0">
                          <a:solidFill>
                            <a:schemeClr val="accent6"/>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kern="1200" dirty="0">
                          <a:solidFill>
                            <a:schemeClr val="accent4"/>
                          </a:solidFill>
                          <a:effectLst/>
                          <a:latin typeface="+mj-lt"/>
                          <a:ea typeface="+mn-ea"/>
                          <a:cs typeface="+mn-cs"/>
                        </a:rPr>
                        <a:t>102</a:t>
                      </a:r>
                    </a:p>
                  </a:txBody>
                  <a:tcPr marL="9525" marR="9525" marT="9525" marB="0" anchor="b"/>
                </a:tc>
                <a:tc>
                  <a:txBody>
                    <a:bodyPr/>
                    <a:lstStyle/>
                    <a:p>
                      <a:pPr marL="36000" algn="l" fontAlgn="b"/>
                      <a:r>
                        <a:rPr lang="en-US" sz="1600" b="1" i="0" u="none" strike="noStrike" kern="1200" dirty="0">
                          <a:solidFill>
                            <a:schemeClr val="accent4"/>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chemeClr val="accent5"/>
                          </a:solidFill>
                          <a:effectLst/>
                          <a:latin typeface="+mj-lt"/>
                          <a:ea typeface="+mn-ea"/>
                          <a:cs typeface="+mn-cs"/>
                        </a:rPr>
                        <a:t>104</a:t>
                      </a:r>
                    </a:p>
                  </a:txBody>
                  <a:tcPr marL="9525" marR="9525" marT="9525" marB="0" anchor="b"/>
                </a:tc>
                <a:tc>
                  <a:txBody>
                    <a:bodyPr/>
                    <a:lstStyle/>
                    <a:p>
                      <a:pPr marL="36000" algn="l" fontAlgn="b"/>
                      <a:r>
                        <a:rPr lang="en-US" sz="1600" b="1" i="0" u="none" strike="noStrike" kern="1200" dirty="0">
                          <a:solidFill>
                            <a:schemeClr val="accent5"/>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kern="1200" dirty="0">
                          <a:solidFill>
                            <a:schemeClr val="tx2"/>
                          </a:solidFill>
                          <a:effectLst/>
                          <a:latin typeface="+mj-lt"/>
                          <a:ea typeface="+mn-ea"/>
                          <a:cs typeface="+mn-cs"/>
                        </a:rPr>
                        <a:t>105</a:t>
                      </a:r>
                    </a:p>
                  </a:txBody>
                  <a:tcPr marL="9525" marR="9525" marT="9525" marB="0" anchor="b"/>
                </a:tc>
                <a:tc>
                  <a:txBody>
                    <a:bodyPr/>
                    <a:lstStyle/>
                    <a:p>
                      <a:pPr marL="36000" algn="l" fontAlgn="b"/>
                      <a:r>
                        <a:rPr lang="en-US" sz="1600" b="1" i="0" u="none" strike="noStrike" kern="1200" dirty="0">
                          <a:solidFill>
                            <a:schemeClr val="tx2"/>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kern="1200" dirty="0">
                          <a:solidFill>
                            <a:srgbClr val="D81A60"/>
                          </a:solidFill>
                          <a:effectLst/>
                          <a:latin typeface="+mj-lt"/>
                          <a:ea typeface="+mn-ea"/>
                          <a:cs typeface="+mn-cs"/>
                        </a:rPr>
                        <a:t>107</a:t>
                      </a:r>
                    </a:p>
                  </a:txBody>
                  <a:tcPr marL="9525" marR="9525" marT="9525" marB="0" anchor="b"/>
                </a:tc>
                <a:tc>
                  <a:txBody>
                    <a:bodyPr/>
                    <a:lstStyle/>
                    <a:p>
                      <a:pPr marL="36000" algn="l" fontAlgn="b"/>
                      <a:r>
                        <a:rPr lang="en-US" sz="1600" b="1" i="0" u="none" strike="noStrike" kern="1200" dirty="0">
                          <a:solidFill>
                            <a:srgbClr val="D81A6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7" name="Table 6"/>
          <p:cNvGraphicFramePr>
            <a:graphicFrameLocks noGrp="1" noChangeAspect="1"/>
          </p:cNvGraphicFramePr>
          <p:nvPr/>
        </p:nvGraphicFramePr>
        <p:xfrm>
          <a:off x="6629729" y="679088"/>
          <a:ext cx="3470711" cy="5919006"/>
        </p:xfrm>
        <a:graphic>
          <a:graphicData uri="http://schemas.openxmlformats.org/drawingml/2006/table">
            <a:tbl>
              <a:tblPr bandRow="1">
                <a:tableStyleId>{073A0DAA-6AF3-43AB-8588-CEC1D06C72B9}</a:tableStyleId>
              </a:tblPr>
              <a:tblGrid>
                <a:gridCol w="702552">
                  <a:extLst>
                    <a:ext uri="{9D8B030D-6E8A-4147-A177-3AD203B41FA5}">
                      <a16:colId xmlns:a16="http://schemas.microsoft.com/office/drawing/2014/main" val="20000"/>
                    </a:ext>
                  </a:extLst>
                </a:gridCol>
                <a:gridCol w="786173">
                  <a:extLst>
                    <a:ext uri="{9D8B030D-6E8A-4147-A177-3AD203B41FA5}">
                      <a16:colId xmlns:a16="http://schemas.microsoft.com/office/drawing/2014/main" val="20001"/>
                    </a:ext>
                  </a:extLst>
                </a:gridCol>
                <a:gridCol w="740493">
                  <a:extLst>
                    <a:ext uri="{9D8B030D-6E8A-4147-A177-3AD203B41FA5}">
                      <a16:colId xmlns:a16="http://schemas.microsoft.com/office/drawing/2014/main" val="20002"/>
                    </a:ext>
                  </a:extLst>
                </a:gridCol>
                <a:gridCol w="821081">
                  <a:extLst>
                    <a:ext uri="{9D8B030D-6E8A-4147-A177-3AD203B41FA5}">
                      <a16:colId xmlns:a16="http://schemas.microsoft.com/office/drawing/2014/main" val="20003"/>
                    </a:ext>
                  </a:extLst>
                </a:gridCol>
                <a:gridCol w="420412">
                  <a:extLst>
                    <a:ext uri="{9D8B030D-6E8A-4147-A177-3AD203B41FA5}">
                      <a16:colId xmlns:a16="http://schemas.microsoft.com/office/drawing/2014/main" val="2106712738"/>
                    </a:ext>
                  </a:extLst>
                </a:gridCol>
              </a:tblGrid>
              <a:tr h="181660">
                <a:tc gridSpan="3">
                  <a:txBody>
                    <a:bodyPr/>
                    <a:lstStyle/>
                    <a:p>
                      <a:pPr marL="36000" algn="l" fontAlgn="b"/>
                      <a:r>
                        <a:rPr lang="en-US" sz="1150" b="1" i="0" u="none" strike="noStrike" dirty="0">
                          <a:solidFill>
                            <a:srgbClr val="000000"/>
                          </a:solidFill>
                          <a:effectLst/>
                          <a:latin typeface="+mn-lt"/>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gridSpan="2">
                  <a:txBody>
                    <a:bodyPr/>
                    <a:lstStyle/>
                    <a:p>
                      <a:pPr marL="36000" algn="l" fontAlgn="b"/>
                      <a:endParaRPr lang="en-US" sz="1150" b="1" i="0" u="none" strike="noStrike" dirty="0">
                        <a:solidFill>
                          <a:srgbClr val="000000"/>
                        </a:solidFill>
                        <a:effectLst/>
                        <a:latin typeface="+mn-lt"/>
                      </a:endParaRPr>
                    </a:p>
                  </a:txBody>
                  <a:tcPr marL="9525" marR="9525" marT="9525" marB="0" anchor="b">
                    <a:solidFill>
                      <a:schemeClr val="bg1"/>
                    </a:solidFill>
                  </a:tcPr>
                </a:tc>
                <a:tc hMerge="1">
                  <a:txBody>
                    <a:bodyPr/>
                    <a:lstStyle/>
                    <a:p>
                      <a:endParaRPr lang="en-IN"/>
                    </a:p>
                  </a:txBody>
                  <a:tcPr/>
                </a:tc>
                <a:extLst>
                  <a:ext uri="{0D108BD9-81ED-4DB2-BD59-A6C34878D82A}">
                    <a16:rowId xmlns:a16="http://schemas.microsoft.com/office/drawing/2014/main" val="10000"/>
                  </a:ext>
                </a:extLst>
              </a:tr>
              <a:tr h="181660">
                <a:tc>
                  <a:txBody>
                    <a:bodyPr/>
                    <a:lstStyle/>
                    <a:p>
                      <a:pPr marL="36000" algn="l" fontAlgn="b"/>
                      <a:r>
                        <a:rPr lang="en-US" sz="1150" b="1" i="0" u="none" strike="noStrike" dirty="0">
                          <a:solidFill>
                            <a:srgbClr val="FFFFFF"/>
                          </a:solidFill>
                          <a:effectLst/>
                          <a:latin typeface="+mn-lt"/>
                        </a:rPr>
                        <a:t>RNO(Stu) </a:t>
                      </a:r>
                    </a:p>
                  </a:txBody>
                  <a:tcPr marL="9525" marR="9525" marT="9525" marB="0" anchor="b">
                    <a:solidFill>
                      <a:schemeClr val="tx1"/>
                    </a:solidFill>
                  </a:tcPr>
                </a:tc>
                <a:tc>
                  <a:txBody>
                    <a:bodyPr/>
                    <a:lstStyle/>
                    <a:p>
                      <a:pPr marL="36000" algn="l" fontAlgn="b"/>
                      <a:r>
                        <a:rPr lang="en-US" sz="1150" b="1" i="0" u="none" strike="noStrike" dirty="0">
                          <a:solidFill>
                            <a:srgbClr val="FFFFFF"/>
                          </a:solidFill>
                          <a:effectLst/>
                          <a:latin typeface="+mn-lt"/>
                        </a:rPr>
                        <a:t>Name</a:t>
                      </a:r>
                    </a:p>
                  </a:txBody>
                  <a:tcPr marL="9525" marR="9525" marT="9525" marB="0" anchor="b">
                    <a:solidFill>
                      <a:schemeClr val="tx1"/>
                    </a:solidFill>
                  </a:tcPr>
                </a:tc>
                <a:tc>
                  <a:txBody>
                    <a:bodyPr/>
                    <a:lstStyle/>
                    <a:p>
                      <a:pPr marL="36000" algn="l" fontAlgn="b"/>
                      <a:r>
                        <a:rPr lang="en-US" sz="1150" b="1" i="0" u="none" strike="noStrike" dirty="0">
                          <a:solidFill>
                            <a:srgbClr val="FFFFFF"/>
                          </a:solidFill>
                          <a:effectLst/>
                          <a:latin typeface="+mn-lt"/>
                        </a:rPr>
                        <a:t>Branch</a:t>
                      </a:r>
                    </a:p>
                  </a:txBody>
                  <a:tcPr marL="9525" marR="9525" marT="9525" marB="0" anchor="b">
                    <a:solidFill>
                      <a:schemeClr val="tx1"/>
                    </a:solidFill>
                  </a:tcPr>
                </a:tc>
                <a:tc>
                  <a:txBody>
                    <a:bodyPr/>
                    <a:lstStyle/>
                    <a:p>
                      <a:pPr marL="36000" algn="ctr" fontAlgn="b"/>
                      <a:r>
                        <a:rPr lang="en-US" sz="1150" b="1" i="0" u="none" strike="noStrike" dirty="0">
                          <a:solidFill>
                            <a:srgbClr val="FFFFFF"/>
                          </a:solidFill>
                          <a:effectLst/>
                          <a:latin typeface="+mn-lt"/>
                        </a:rPr>
                        <a:t>RNO(Result)</a:t>
                      </a:r>
                    </a:p>
                  </a:txBody>
                  <a:tcPr marL="9525" marR="9525" marT="9525" marB="0" anchor="b">
                    <a:solidFill>
                      <a:schemeClr val="tx1"/>
                    </a:solidFill>
                  </a:tcPr>
                </a:tc>
                <a:tc>
                  <a:txBody>
                    <a:bodyPr/>
                    <a:lstStyle/>
                    <a:p>
                      <a:pPr marL="36000" algn="l" fontAlgn="b"/>
                      <a:r>
                        <a:rPr lang="en-US" sz="1150" b="1" i="0" u="none" strike="noStrike" dirty="0">
                          <a:solidFill>
                            <a:srgbClr val="FFFFFF"/>
                          </a:solidFill>
                          <a:effectLst/>
                          <a:latin typeface="+mn-lt"/>
                        </a:rPr>
                        <a:t>SPI</a:t>
                      </a:r>
                    </a:p>
                  </a:txBody>
                  <a:tcPr marL="9525" marR="9525" marT="9525" marB="0" anchor="b">
                    <a:solidFill>
                      <a:schemeClr val="tx1"/>
                    </a:solidFill>
                  </a:tcPr>
                </a:tc>
                <a:extLst>
                  <a:ext uri="{0D108BD9-81ED-4DB2-BD59-A6C34878D82A}">
                    <a16:rowId xmlns:a16="http://schemas.microsoft.com/office/drawing/2014/main" val="10001"/>
                  </a:ext>
                </a:extLst>
              </a:tr>
              <a:tr h="181660">
                <a:tc>
                  <a:txBody>
                    <a:bodyPr/>
                    <a:lstStyle/>
                    <a:p>
                      <a:pPr marL="36000" algn="l" fontAlgn="b"/>
                      <a:r>
                        <a:rPr lang="en-US" sz="1150" b="0" i="0" u="none" strike="noStrike" dirty="0">
                          <a:solidFill>
                            <a:srgbClr val="000000"/>
                          </a:solidFill>
                          <a:effectLst/>
                          <a:latin typeface="+mn-lt"/>
                        </a:rPr>
                        <a:t>101</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Raju</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85000"/>
                      </a:schemeClr>
                    </a:solidFill>
                  </a:tcPr>
                </a:tc>
                <a:tc>
                  <a:txBody>
                    <a:bodyPr/>
                    <a:lstStyle/>
                    <a:p>
                      <a:pPr marL="36000" algn="ctr" fontAlgn="b"/>
                      <a:r>
                        <a:rPr lang="en-US" sz="1150" b="1" i="0" u="none" strike="noStrike" dirty="0">
                          <a:solidFill>
                            <a:schemeClr val="accent6"/>
                          </a:solidFill>
                          <a:effectLst/>
                          <a:latin typeface="+mn-lt"/>
                        </a:rPr>
                        <a:t>101</a:t>
                      </a:r>
                    </a:p>
                  </a:txBody>
                  <a:tcPr marL="9525" marR="9525" marT="9525" marB="0" anchor="b">
                    <a:solidFill>
                      <a:schemeClr val="bg1">
                        <a:lumMod val="85000"/>
                      </a:schemeClr>
                    </a:solidFill>
                  </a:tcPr>
                </a:tc>
                <a:tc>
                  <a:txBody>
                    <a:bodyPr/>
                    <a:lstStyle/>
                    <a:p>
                      <a:pPr marL="36000" algn="l" fontAlgn="b"/>
                      <a:r>
                        <a:rPr lang="en-US" sz="1150" b="1" i="0" u="none" strike="noStrike" dirty="0">
                          <a:solidFill>
                            <a:schemeClr val="accent6"/>
                          </a:solidFill>
                          <a:effectLst/>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2"/>
                  </a:ext>
                </a:extLst>
              </a:tr>
              <a:tr h="181660">
                <a:tc>
                  <a:txBody>
                    <a:bodyPr/>
                    <a:lstStyle/>
                    <a:p>
                      <a:pPr marL="36000" algn="l" fontAlgn="b"/>
                      <a:r>
                        <a:rPr lang="en-US" sz="1150" b="0" i="0" u="none" strike="noStrike" dirty="0">
                          <a:solidFill>
                            <a:srgbClr val="000000"/>
                          </a:solidFill>
                          <a:effectLst/>
                          <a:latin typeface="+mn-lt"/>
                        </a:rPr>
                        <a:t>102</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Amit</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6"/>
                          </a:solidFill>
                          <a:effectLst/>
                          <a:uLnTx/>
                          <a:uFillTx/>
                          <a:latin typeface="Roboto Condensed"/>
                          <a:ea typeface="+mn-ea"/>
                          <a:cs typeface="+mn-cs"/>
                        </a:rPr>
                        <a:t>101</a:t>
                      </a:r>
                      <a:endParaRPr lang="en-US" sz="1150" b="1" dirty="0">
                        <a:solidFill>
                          <a:schemeClr val="accent6"/>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6"/>
                          </a:solidFill>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3"/>
                  </a:ext>
                </a:extLst>
              </a:tr>
              <a:tr h="181660">
                <a:tc>
                  <a:txBody>
                    <a:bodyPr/>
                    <a:lstStyle/>
                    <a:p>
                      <a:pPr marL="36000" algn="l" fontAlgn="b"/>
                      <a:r>
                        <a:rPr lang="en-US" sz="1150" b="0" i="0" u="none" strike="noStrike" dirty="0">
                          <a:solidFill>
                            <a:srgbClr val="000000"/>
                          </a:solidFill>
                          <a:effectLst/>
                          <a:latin typeface="+mn-lt"/>
                        </a:rPr>
                        <a:t>103</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Sanjay</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6"/>
                          </a:solidFill>
                          <a:effectLst/>
                          <a:uLnTx/>
                          <a:uFillTx/>
                          <a:latin typeface="Roboto Condensed"/>
                          <a:ea typeface="+mn-ea"/>
                          <a:cs typeface="+mn-cs"/>
                        </a:rPr>
                        <a:t>101</a:t>
                      </a:r>
                      <a:endParaRPr lang="en-US" sz="1150" b="1" dirty="0">
                        <a:solidFill>
                          <a:schemeClr val="accent6"/>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6"/>
                          </a:solidFill>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4"/>
                  </a:ext>
                </a:extLst>
              </a:tr>
              <a:tr h="181660">
                <a:tc>
                  <a:txBody>
                    <a:bodyPr/>
                    <a:lstStyle/>
                    <a:p>
                      <a:pPr marL="36000" algn="l" fontAlgn="b"/>
                      <a:r>
                        <a:rPr lang="en-US" sz="1150" b="0" i="0" u="none" strike="noStrike" dirty="0">
                          <a:solidFill>
                            <a:srgbClr val="000000"/>
                          </a:solidFill>
                          <a:effectLst/>
                          <a:latin typeface="+mn-lt"/>
                        </a:rPr>
                        <a:t>104</a:t>
                      </a:r>
                    </a:p>
                  </a:txBody>
                  <a:tcPr marL="9525" marR="9525" marT="9525" marB="0" anchor="b">
                    <a:solidFill>
                      <a:schemeClr val="bg1">
                        <a:lumMod val="85000"/>
                      </a:schemeClr>
                    </a:solidFill>
                  </a:tcPr>
                </a:tc>
                <a:tc>
                  <a:txBody>
                    <a:bodyPr/>
                    <a:lstStyle/>
                    <a:p>
                      <a:pPr marL="36000" algn="l" fontAlgn="b"/>
                      <a:r>
                        <a:rPr lang="en-US" sz="1150" b="0" i="0" u="none" strike="noStrike" dirty="0" err="1">
                          <a:solidFill>
                            <a:srgbClr val="000000"/>
                          </a:solidFill>
                          <a:effectLst/>
                          <a:latin typeface="+mn-lt"/>
                        </a:rPr>
                        <a:t>Neha</a:t>
                      </a:r>
                      <a:endParaRPr lang="en-US" sz="1150" b="0" i="0" u="none" strike="noStrike" dirty="0">
                        <a:solidFill>
                          <a:srgbClr val="000000"/>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EC</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6"/>
                          </a:solidFill>
                          <a:effectLst/>
                          <a:uLnTx/>
                          <a:uFillTx/>
                          <a:latin typeface="Roboto Condensed"/>
                          <a:ea typeface="+mn-ea"/>
                          <a:cs typeface="+mn-cs"/>
                        </a:rPr>
                        <a:t>101</a:t>
                      </a:r>
                      <a:endParaRPr lang="en-US" sz="1150" b="1" dirty="0">
                        <a:solidFill>
                          <a:schemeClr val="accent6"/>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6"/>
                          </a:solidFill>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5"/>
                  </a:ext>
                </a:extLst>
              </a:tr>
              <a:tr h="181660">
                <a:tc>
                  <a:txBody>
                    <a:bodyPr/>
                    <a:lstStyle/>
                    <a:p>
                      <a:pPr marL="36000" algn="l" fontAlgn="b"/>
                      <a:r>
                        <a:rPr lang="en-US" sz="1150" b="0" i="0" u="none" strike="noStrike" dirty="0">
                          <a:solidFill>
                            <a:srgbClr val="000000"/>
                          </a:solidFill>
                          <a:effectLst/>
                          <a:latin typeface="+mn-lt"/>
                        </a:rPr>
                        <a:t>105</a:t>
                      </a:r>
                    </a:p>
                  </a:txBody>
                  <a:tcPr marL="9525" marR="9525" marT="9525" marB="0" anchor="b">
                    <a:solidFill>
                      <a:schemeClr val="bg1">
                        <a:lumMod val="85000"/>
                      </a:schemeClr>
                    </a:solidFill>
                  </a:tcPr>
                </a:tc>
                <a:tc>
                  <a:txBody>
                    <a:bodyPr/>
                    <a:lstStyle/>
                    <a:p>
                      <a:pPr marL="36000" algn="l" fontAlgn="b"/>
                      <a:r>
                        <a:rPr lang="en-US" sz="1150" b="0" i="0" u="none" strike="noStrike" dirty="0" err="1">
                          <a:solidFill>
                            <a:srgbClr val="000000"/>
                          </a:solidFill>
                          <a:effectLst/>
                          <a:latin typeface="+mn-lt"/>
                        </a:rPr>
                        <a:t>Meera</a:t>
                      </a:r>
                      <a:endParaRPr lang="en-US" sz="1150" b="0" i="0" u="none" strike="noStrike" dirty="0">
                        <a:solidFill>
                          <a:srgbClr val="000000"/>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EE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6"/>
                          </a:solidFill>
                          <a:effectLst/>
                          <a:uLnTx/>
                          <a:uFillTx/>
                          <a:latin typeface="Roboto Condensed"/>
                          <a:ea typeface="+mn-ea"/>
                          <a:cs typeface="+mn-cs"/>
                        </a:rPr>
                        <a:t>101</a:t>
                      </a:r>
                      <a:endParaRPr lang="en-US" sz="1150" b="1" dirty="0">
                        <a:solidFill>
                          <a:schemeClr val="accent6"/>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6"/>
                          </a:solidFill>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6"/>
                  </a:ext>
                </a:extLst>
              </a:tr>
              <a:tr h="181660">
                <a:tc>
                  <a:txBody>
                    <a:bodyPr/>
                    <a:lstStyle/>
                    <a:p>
                      <a:pPr marL="36000" algn="l" fontAlgn="b"/>
                      <a:r>
                        <a:rPr lang="en-US" sz="1150" b="0" i="0" u="none" strike="noStrike" dirty="0">
                          <a:solidFill>
                            <a:srgbClr val="000000"/>
                          </a:solidFill>
                          <a:effectLst/>
                          <a:latin typeface="+mn-lt"/>
                        </a:rPr>
                        <a:t>106</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Mahesh</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85000"/>
                      </a:schemeClr>
                    </a:solidFill>
                  </a:tcPr>
                </a:tc>
                <a:tc>
                  <a:txBody>
                    <a:bodyPr/>
                    <a:lstStyle/>
                    <a:p>
                      <a:pPr marL="36000" algn="ctr" fontAlgn="b"/>
                      <a:r>
                        <a:rPr kumimoji="0" lang="en-US" sz="1150" b="1" i="0" u="none" strike="noStrike" kern="1200" cap="none" spc="0" normalizeH="0" baseline="0" noProof="0" dirty="0">
                          <a:ln>
                            <a:noFill/>
                          </a:ln>
                          <a:solidFill>
                            <a:schemeClr val="accent6"/>
                          </a:solidFill>
                          <a:effectLst/>
                          <a:uLnTx/>
                          <a:uFillTx/>
                          <a:latin typeface="Roboto Condensed"/>
                          <a:ea typeface="+mn-ea"/>
                          <a:cs typeface="+mn-cs"/>
                        </a:rPr>
                        <a:t>101</a:t>
                      </a:r>
                      <a:endParaRPr lang="en-US" sz="1150" b="1" i="0" u="none" strike="noStrike" dirty="0">
                        <a:solidFill>
                          <a:schemeClr val="accent6"/>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1" i="0" u="none" strike="noStrike" dirty="0">
                          <a:solidFill>
                            <a:schemeClr val="accent6"/>
                          </a:solidFill>
                          <a:effectLst/>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7"/>
                  </a:ext>
                </a:extLst>
              </a:tr>
              <a:tr h="181660">
                <a:tc>
                  <a:txBody>
                    <a:bodyPr/>
                    <a:lstStyle/>
                    <a:p>
                      <a:pPr marL="36000" algn="l" fontAlgn="b"/>
                      <a:r>
                        <a:rPr lang="en-US" sz="1150" b="0" i="0" u="none" strike="noStrike" dirty="0">
                          <a:solidFill>
                            <a:srgbClr val="000000"/>
                          </a:solidFill>
                          <a:effectLst/>
                          <a:latin typeface="+mn-lt"/>
                        </a:rPr>
                        <a:t>101</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Raju</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95000"/>
                      </a:schemeClr>
                    </a:solidFill>
                  </a:tcPr>
                </a:tc>
                <a:tc>
                  <a:txBody>
                    <a:bodyPr/>
                    <a:lstStyle/>
                    <a:p>
                      <a:pPr marL="36000" algn="ctr" fontAlgn="b"/>
                      <a:r>
                        <a:rPr lang="en-US" sz="1150" b="1" i="0" u="none" strike="noStrike" dirty="0">
                          <a:solidFill>
                            <a:schemeClr val="accent4"/>
                          </a:solidFill>
                          <a:effectLst/>
                          <a:latin typeface="+mn-lt"/>
                        </a:rPr>
                        <a:t>102</a:t>
                      </a: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08"/>
                  </a:ext>
                </a:extLst>
              </a:tr>
              <a:tr h="181660">
                <a:tc>
                  <a:txBody>
                    <a:bodyPr/>
                    <a:lstStyle/>
                    <a:p>
                      <a:pPr marL="36000" algn="l" fontAlgn="b"/>
                      <a:r>
                        <a:rPr lang="en-US" sz="1150" b="0" i="0" u="none" strike="noStrike" dirty="0">
                          <a:solidFill>
                            <a:srgbClr val="000000"/>
                          </a:solidFill>
                          <a:effectLst/>
                          <a:latin typeface="+mn-lt"/>
                        </a:rPr>
                        <a:t>102</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Amit</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a:ln>
                            <a:noFill/>
                          </a:ln>
                          <a:solidFill>
                            <a:schemeClr val="accent4"/>
                          </a:solidFill>
                          <a:effectLst/>
                          <a:uLnTx/>
                          <a:uFillTx/>
                          <a:latin typeface="Roboto Condensed"/>
                          <a:ea typeface="+mn-ea"/>
                          <a:cs typeface="+mn-cs"/>
                        </a:rPr>
                        <a:t>102</a:t>
                      </a:r>
                      <a:endParaRPr lang="en-US" sz="1150" b="1" i="0" u="none" strike="noStrike" dirty="0">
                        <a:solidFill>
                          <a:schemeClr val="accent4"/>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09"/>
                  </a:ext>
                </a:extLst>
              </a:tr>
              <a:tr h="181660">
                <a:tc>
                  <a:txBody>
                    <a:bodyPr/>
                    <a:lstStyle/>
                    <a:p>
                      <a:pPr marL="36000" algn="l" fontAlgn="b"/>
                      <a:r>
                        <a:rPr lang="en-US" sz="1150" b="0" i="0" u="none" strike="noStrike" dirty="0">
                          <a:solidFill>
                            <a:srgbClr val="000000"/>
                          </a:solidFill>
                          <a:effectLst/>
                          <a:latin typeface="+mn-lt"/>
                        </a:rPr>
                        <a:t>103</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Sanjay</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a:ln>
                            <a:noFill/>
                          </a:ln>
                          <a:solidFill>
                            <a:schemeClr val="accent4"/>
                          </a:solidFill>
                          <a:effectLst/>
                          <a:uLnTx/>
                          <a:uFillTx/>
                          <a:latin typeface="Roboto Condensed"/>
                          <a:ea typeface="+mn-ea"/>
                          <a:cs typeface="+mn-cs"/>
                        </a:rPr>
                        <a:t>102</a:t>
                      </a:r>
                      <a:endParaRPr lang="en-US" sz="1150" b="1" i="0" u="none" strike="noStrike" dirty="0">
                        <a:solidFill>
                          <a:schemeClr val="accent4"/>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10"/>
                  </a:ext>
                </a:extLst>
              </a:tr>
              <a:tr h="181660">
                <a:tc>
                  <a:txBody>
                    <a:bodyPr/>
                    <a:lstStyle/>
                    <a:p>
                      <a:pPr marL="36000" algn="l" fontAlgn="b"/>
                      <a:r>
                        <a:rPr lang="en-US" sz="1150" b="0" i="0" u="none" strike="noStrike" dirty="0">
                          <a:solidFill>
                            <a:srgbClr val="000000"/>
                          </a:solidFill>
                          <a:effectLst/>
                          <a:latin typeface="+mn-lt"/>
                        </a:rPr>
                        <a:t>104</a:t>
                      </a:r>
                    </a:p>
                  </a:txBody>
                  <a:tcPr marL="9525" marR="9525" marT="9525" marB="0" anchor="b">
                    <a:solidFill>
                      <a:schemeClr val="bg1">
                        <a:lumMod val="95000"/>
                      </a:schemeClr>
                    </a:solidFill>
                  </a:tcPr>
                </a:tc>
                <a:tc>
                  <a:txBody>
                    <a:bodyPr/>
                    <a:lstStyle/>
                    <a:p>
                      <a:pPr marL="36000" algn="l" fontAlgn="b"/>
                      <a:r>
                        <a:rPr lang="en-US" sz="1150" b="0" i="0" u="none" strike="noStrike" dirty="0" err="1">
                          <a:solidFill>
                            <a:srgbClr val="000000"/>
                          </a:solidFill>
                          <a:effectLst/>
                          <a:latin typeface="+mn-lt"/>
                        </a:rPr>
                        <a:t>Neha</a:t>
                      </a:r>
                      <a:endParaRPr lang="en-US" sz="1150" b="0" i="0" u="none" strike="noStrike" dirty="0">
                        <a:solidFill>
                          <a:srgbClr val="000000"/>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EC</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a:ln>
                            <a:noFill/>
                          </a:ln>
                          <a:solidFill>
                            <a:schemeClr val="accent4"/>
                          </a:solidFill>
                          <a:effectLst/>
                          <a:uLnTx/>
                          <a:uFillTx/>
                          <a:latin typeface="Roboto Condensed"/>
                          <a:ea typeface="+mn-ea"/>
                          <a:cs typeface="+mn-cs"/>
                        </a:rPr>
                        <a:t>102</a:t>
                      </a:r>
                      <a:endParaRPr lang="en-US" sz="1150" b="1" i="0" u="none" strike="noStrike" dirty="0">
                        <a:solidFill>
                          <a:schemeClr val="accent4"/>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11"/>
                  </a:ext>
                </a:extLst>
              </a:tr>
              <a:tr h="181660">
                <a:tc>
                  <a:txBody>
                    <a:bodyPr/>
                    <a:lstStyle/>
                    <a:p>
                      <a:pPr marL="36000" algn="l" fontAlgn="b"/>
                      <a:r>
                        <a:rPr lang="en-US" sz="1150" b="0" i="0" u="none" strike="noStrike" dirty="0">
                          <a:solidFill>
                            <a:srgbClr val="000000"/>
                          </a:solidFill>
                          <a:effectLst/>
                          <a:latin typeface="+mn-lt"/>
                        </a:rPr>
                        <a:t>105</a:t>
                      </a:r>
                    </a:p>
                  </a:txBody>
                  <a:tcPr marL="9525" marR="9525" marT="9525" marB="0" anchor="b">
                    <a:solidFill>
                      <a:schemeClr val="bg1">
                        <a:lumMod val="95000"/>
                      </a:schemeClr>
                    </a:solidFill>
                  </a:tcPr>
                </a:tc>
                <a:tc>
                  <a:txBody>
                    <a:bodyPr/>
                    <a:lstStyle/>
                    <a:p>
                      <a:pPr marL="36000" algn="l" fontAlgn="b"/>
                      <a:r>
                        <a:rPr lang="en-US" sz="1150" b="0" i="0" u="none" strike="noStrike" dirty="0" err="1">
                          <a:solidFill>
                            <a:srgbClr val="000000"/>
                          </a:solidFill>
                          <a:effectLst/>
                          <a:latin typeface="+mn-lt"/>
                        </a:rPr>
                        <a:t>Meera</a:t>
                      </a:r>
                      <a:endParaRPr lang="en-US" sz="1150" b="0" i="0" u="none" strike="noStrike" dirty="0">
                        <a:solidFill>
                          <a:srgbClr val="000000"/>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EE</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a:ln>
                            <a:noFill/>
                          </a:ln>
                          <a:solidFill>
                            <a:schemeClr val="accent4"/>
                          </a:solidFill>
                          <a:effectLst/>
                          <a:uLnTx/>
                          <a:uFillTx/>
                          <a:latin typeface="Roboto Condensed"/>
                          <a:ea typeface="+mn-ea"/>
                          <a:cs typeface="+mn-cs"/>
                        </a:rPr>
                        <a:t>102</a:t>
                      </a:r>
                      <a:endParaRPr lang="en-US" sz="1150" b="1" i="0" u="none" strike="noStrike" dirty="0">
                        <a:solidFill>
                          <a:schemeClr val="accent4"/>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12"/>
                  </a:ext>
                </a:extLst>
              </a:tr>
              <a:tr h="181660">
                <a:tc>
                  <a:txBody>
                    <a:bodyPr/>
                    <a:lstStyle/>
                    <a:p>
                      <a:pPr marL="36000" algn="l" fontAlgn="b"/>
                      <a:r>
                        <a:rPr lang="en-US" sz="1150" b="0" i="0" u="none" strike="noStrike" dirty="0">
                          <a:solidFill>
                            <a:srgbClr val="000000"/>
                          </a:solidFill>
                          <a:effectLst/>
                          <a:latin typeface="+mn-lt"/>
                        </a:rPr>
                        <a:t>106</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Mahesh</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dirty="0">
                          <a:ln>
                            <a:noFill/>
                          </a:ln>
                          <a:solidFill>
                            <a:schemeClr val="accent4"/>
                          </a:solidFill>
                          <a:effectLst/>
                          <a:uLnTx/>
                          <a:uFillTx/>
                          <a:latin typeface="Roboto Condensed"/>
                          <a:ea typeface="+mn-ea"/>
                          <a:cs typeface="+mn-cs"/>
                        </a:rPr>
                        <a:t>102</a:t>
                      </a:r>
                      <a:endParaRPr lang="en-US" sz="1150" b="1" i="0" u="none" strike="noStrike" dirty="0">
                        <a:solidFill>
                          <a:schemeClr val="accent4"/>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13"/>
                  </a:ext>
                </a:extLst>
              </a:tr>
              <a:tr h="181660">
                <a:tc>
                  <a:txBody>
                    <a:bodyPr/>
                    <a:lstStyle/>
                    <a:p>
                      <a:pPr marL="36000" algn="l" fontAlgn="b"/>
                      <a:r>
                        <a:rPr lang="en-US" sz="1150" b="0" i="0" u="none" strike="noStrike" dirty="0">
                          <a:solidFill>
                            <a:srgbClr val="000000"/>
                          </a:solidFill>
                          <a:effectLst/>
                          <a:latin typeface="+mn-lt"/>
                        </a:rPr>
                        <a:t>101</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Raju</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85000"/>
                      </a:schemeClr>
                    </a:solidFill>
                  </a:tcPr>
                </a:tc>
                <a:tc>
                  <a:txBody>
                    <a:bodyPr/>
                    <a:lstStyle/>
                    <a:p>
                      <a:pPr marL="36000" algn="ctr" fontAlgn="b"/>
                      <a:r>
                        <a:rPr lang="en-US" sz="1150" b="1" i="0" u="none" strike="noStrike" dirty="0">
                          <a:solidFill>
                            <a:schemeClr val="accent5"/>
                          </a:solidFill>
                          <a:effectLst/>
                          <a:latin typeface="+mn-lt"/>
                        </a:rPr>
                        <a:t>104</a:t>
                      </a:r>
                    </a:p>
                  </a:txBody>
                  <a:tcPr marL="9525" marR="9525" marT="9525" marB="0" anchor="b">
                    <a:solidFill>
                      <a:schemeClr val="bg1">
                        <a:lumMod val="85000"/>
                      </a:schemeClr>
                    </a:solidFill>
                  </a:tcPr>
                </a:tc>
                <a:tc>
                  <a:txBody>
                    <a:bodyPr/>
                    <a:lstStyle/>
                    <a:p>
                      <a:pPr marL="36000" algn="l" fontAlgn="b"/>
                      <a:r>
                        <a:rPr lang="en-US" sz="1150" b="1" i="0" u="none" strike="noStrike" dirty="0">
                          <a:solidFill>
                            <a:schemeClr val="accent5"/>
                          </a:solidFill>
                          <a:effectLst/>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4"/>
                  </a:ext>
                </a:extLst>
              </a:tr>
              <a:tr h="181660">
                <a:tc>
                  <a:txBody>
                    <a:bodyPr/>
                    <a:lstStyle/>
                    <a:p>
                      <a:pPr marL="36000" algn="l" fontAlgn="b"/>
                      <a:r>
                        <a:rPr lang="en-US" sz="1150" b="0" i="0" u="none" strike="noStrike" dirty="0">
                          <a:solidFill>
                            <a:srgbClr val="000000"/>
                          </a:solidFill>
                          <a:effectLst/>
                          <a:latin typeface="+mn-lt"/>
                        </a:rPr>
                        <a:t>102</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Amit</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5"/>
                          </a:solidFill>
                          <a:effectLst/>
                          <a:uLnTx/>
                          <a:uFillTx/>
                          <a:latin typeface="Roboto Condensed"/>
                          <a:ea typeface="+mn-ea"/>
                          <a:cs typeface="+mn-cs"/>
                        </a:rPr>
                        <a:t>104</a:t>
                      </a:r>
                      <a:endParaRPr lang="en-US" sz="1150" b="1" dirty="0">
                        <a:solidFill>
                          <a:schemeClr val="accent5"/>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5"/>
                          </a:solidFill>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5"/>
                  </a:ext>
                </a:extLst>
              </a:tr>
              <a:tr h="181660">
                <a:tc>
                  <a:txBody>
                    <a:bodyPr/>
                    <a:lstStyle/>
                    <a:p>
                      <a:pPr marL="36000" algn="l" fontAlgn="b"/>
                      <a:r>
                        <a:rPr lang="en-US" sz="1150" b="0" i="0" u="none" strike="noStrike" dirty="0">
                          <a:solidFill>
                            <a:srgbClr val="000000"/>
                          </a:solidFill>
                          <a:effectLst/>
                          <a:latin typeface="+mn-lt"/>
                        </a:rPr>
                        <a:t>103</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Sanjay</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5"/>
                          </a:solidFill>
                          <a:effectLst/>
                          <a:uLnTx/>
                          <a:uFillTx/>
                          <a:latin typeface="Roboto Condensed"/>
                          <a:ea typeface="+mn-ea"/>
                          <a:cs typeface="+mn-cs"/>
                        </a:rPr>
                        <a:t>104</a:t>
                      </a:r>
                      <a:endParaRPr lang="en-US" sz="1150" b="1" dirty="0">
                        <a:solidFill>
                          <a:schemeClr val="accent5"/>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5"/>
                          </a:solidFill>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6"/>
                  </a:ext>
                </a:extLst>
              </a:tr>
              <a:tr h="181660">
                <a:tc>
                  <a:txBody>
                    <a:bodyPr/>
                    <a:lstStyle/>
                    <a:p>
                      <a:pPr marL="36000" algn="l" fontAlgn="b"/>
                      <a:r>
                        <a:rPr lang="en-US" sz="1150" b="0" i="0" u="none" strike="noStrike" dirty="0">
                          <a:solidFill>
                            <a:srgbClr val="000000"/>
                          </a:solidFill>
                          <a:effectLst/>
                          <a:latin typeface="+mn-lt"/>
                        </a:rPr>
                        <a:t>104</a:t>
                      </a:r>
                    </a:p>
                  </a:txBody>
                  <a:tcPr marL="9525" marR="9525" marT="9525" marB="0" anchor="b">
                    <a:solidFill>
                      <a:schemeClr val="bg1">
                        <a:lumMod val="85000"/>
                      </a:schemeClr>
                    </a:solidFill>
                  </a:tcPr>
                </a:tc>
                <a:tc>
                  <a:txBody>
                    <a:bodyPr/>
                    <a:lstStyle/>
                    <a:p>
                      <a:pPr marL="36000" algn="l" fontAlgn="b"/>
                      <a:r>
                        <a:rPr lang="en-US" sz="1150" b="0" i="0" u="none" strike="noStrike" dirty="0" err="1">
                          <a:solidFill>
                            <a:srgbClr val="000000"/>
                          </a:solidFill>
                          <a:effectLst/>
                          <a:latin typeface="+mn-lt"/>
                        </a:rPr>
                        <a:t>Neha</a:t>
                      </a:r>
                      <a:endParaRPr lang="en-US" sz="1150" b="0" i="0" u="none" strike="noStrike" dirty="0">
                        <a:solidFill>
                          <a:srgbClr val="000000"/>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EC</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5"/>
                          </a:solidFill>
                          <a:effectLst/>
                          <a:uLnTx/>
                          <a:uFillTx/>
                          <a:latin typeface="Roboto Condensed"/>
                          <a:ea typeface="+mn-ea"/>
                          <a:cs typeface="+mn-cs"/>
                        </a:rPr>
                        <a:t>104</a:t>
                      </a:r>
                      <a:endParaRPr lang="en-US" sz="1150" b="1" dirty="0">
                        <a:solidFill>
                          <a:schemeClr val="accent5"/>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5"/>
                          </a:solidFill>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7"/>
                  </a:ext>
                </a:extLst>
              </a:tr>
              <a:tr h="181660">
                <a:tc>
                  <a:txBody>
                    <a:bodyPr/>
                    <a:lstStyle/>
                    <a:p>
                      <a:pPr marL="36000" algn="l" fontAlgn="b"/>
                      <a:r>
                        <a:rPr lang="en-US" sz="1150" b="0" i="0" u="none" strike="noStrike" dirty="0">
                          <a:solidFill>
                            <a:srgbClr val="000000"/>
                          </a:solidFill>
                          <a:effectLst/>
                          <a:latin typeface="+mn-lt"/>
                        </a:rPr>
                        <a:t>105</a:t>
                      </a:r>
                    </a:p>
                  </a:txBody>
                  <a:tcPr marL="9525" marR="9525" marT="9525" marB="0" anchor="b">
                    <a:solidFill>
                      <a:schemeClr val="bg1">
                        <a:lumMod val="85000"/>
                      </a:schemeClr>
                    </a:solidFill>
                  </a:tcPr>
                </a:tc>
                <a:tc>
                  <a:txBody>
                    <a:bodyPr/>
                    <a:lstStyle/>
                    <a:p>
                      <a:pPr marL="36000" algn="l" fontAlgn="b"/>
                      <a:r>
                        <a:rPr lang="en-US" sz="1150" b="0" i="0" u="none" strike="noStrike" dirty="0" err="1">
                          <a:solidFill>
                            <a:srgbClr val="000000"/>
                          </a:solidFill>
                          <a:effectLst/>
                          <a:latin typeface="+mn-lt"/>
                        </a:rPr>
                        <a:t>Meera</a:t>
                      </a:r>
                      <a:endParaRPr lang="en-US" sz="1150" b="0" i="0" u="none" strike="noStrike" dirty="0">
                        <a:solidFill>
                          <a:srgbClr val="000000"/>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EE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5"/>
                          </a:solidFill>
                          <a:effectLst/>
                          <a:uLnTx/>
                          <a:uFillTx/>
                          <a:latin typeface="Roboto Condensed"/>
                          <a:ea typeface="+mn-ea"/>
                          <a:cs typeface="+mn-cs"/>
                        </a:rPr>
                        <a:t>104</a:t>
                      </a:r>
                      <a:endParaRPr lang="en-US" sz="1150" b="1" dirty="0">
                        <a:solidFill>
                          <a:schemeClr val="accent5"/>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5"/>
                          </a:solidFill>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8"/>
                  </a:ext>
                </a:extLst>
              </a:tr>
              <a:tr h="181660">
                <a:tc>
                  <a:txBody>
                    <a:bodyPr/>
                    <a:lstStyle/>
                    <a:p>
                      <a:pPr marL="36000" algn="l" fontAlgn="b"/>
                      <a:r>
                        <a:rPr lang="en-US" sz="1150" b="0" i="0" u="none" strike="noStrike" dirty="0">
                          <a:solidFill>
                            <a:srgbClr val="000000"/>
                          </a:solidFill>
                          <a:effectLst/>
                          <a:latin typeface="+mn-lt"/>
                        </a:rPr>
                        <a:t>106</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Mahesh</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85000"/>
                      </a:schemeClr>
                    </a:solidFill>
                  </a:tcPr>
                </a:tc>
                <a:tc>
                  <a:txBody>
                    <a:bodyPr/>
                    <a:lstStyle/>
                    <a:p>
                      <a:pPr marL="36000" algn="ctr" fontAlgn="b"/>
                      <a:r>
                        <a:rPr kumimoji="0" lang="en-US" sz="1150" b="1" i="0" u="none" strike="noStrike" kern="1200" cap="none" spc="0" normalizeH="0" baseline="0" noProof="0" dirty="0">
                          <a:ln>
                            <a:noFill/>
                          </a:ln>
                          <a:solidFill>
                            <a:schemeClr val="accent5"/>
                          </a:solidFill>
                          <a:effectLst/>
                          <a:uLnTx/>
                          <a:uFillTx/>
                          <a:latin typeface="Roboto Condensed"/>
                          <a:ea typeface="+mn-ea"/>
                          <a:cs typeface="+mn-cs"/>
                        </a:rPr>
                        <a:t>104</a:t>
                      </a:r>
                      <a:endParaRPr lang="en-US" sz="1150" b="1" i="0" u="none" strike="noStrike" dirty="0">
                        <a:solidFill>
                          <a:schemeClr val="accent5"/>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1" i="0" u="none" strike="noStrike" dirty="0">
                          <a:solidFill>
                            <a:schemeClr val="accent5"/>
                          </a:solidFill>
                          <a:effectLst/>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9"/>
                  </a:ext>
                </a:extLst>
              </a:tr>
              <a:tr h="181660">
                <a:tc>
                  <a:txBody>
                    <a:bodyPr/>
                    <a:lstStyle/>
                    <a:p>
                      <a:pPr marL="36000" algn="l" fontAlgn="b"/>
                      <a:r>
                        <a:rPr lang="en-US" sz="1150" b="0" i="0" u="none" strike="noStrike" dirty="0">
                          <a:solidFill>
                            <a:srgbClr val="000000"/>
                          </a:solidFill>
                          <a:effectLst/>
                          <a:latin typeface="+mn-lt"/>
                        </a:rPr>
                        <a:t>101</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Raju</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95000"/>
                      </a:schemeClr>
                    </a:solidFill>
                  </a:tcPr>
                </a:tc>
                <a:tc>
                  <a:txBody>
                    <a:bodyPr/>
                    <a:lstStyle/>
                    <a:p>
                      <a:pPr marL="36000" algn="ctr" fontAlgn="b"/>
                      <a:r>
                        <a:rPr lang="en-US" sz="1150" b="1" i="0" u="none" strike="noStrike" dirty="0">
                          <a:solidFill>
                            <a:schemeClr val="tx2"/>
                          </a:solidFill>
                          <a:effectLst/>
                          <a:latin typeface="+mn-lt"/>
                        </a:rPr>
                        <a:t>105</a:t>
                      </a: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tx2"/>
                          </a:solidFill>
                          <a:effectLst/>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0"/>
                  </a:ext>
                </a:extLst>
              </a:tr>
              <a:tr h="181660">
                <a:tc>
                  <a:txBody>
                    <a:bodyPr/>
                    <a:lstStyle/>
                    <a:p>
                      <a:pPr marL="36000" algn="l" fontAlgn="b"/>
                      <a:r>
                        <a:rPr lang="en-US" sz="1150" b="0" i="0" u="none" strike="noStrike" dirty="0">
                          <a:solidFill>
                            <a:srgbClr val="000000"/>
                          </a:solidFill>
                          <a:effectLst/>
                          <a:latin typeface="+mn-lt"/>
                        </a:rPr>
                        <a:t>102</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Amit</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95000"/>
                      </a:schemeClr>
                    </a:solidFill>
                  </a:tcPr>
                </a:tc>
                <a:tc>
                  <a:txBody>
                    <a:bodyPr/>
                    <a:lstStyle/>
                    <a:p>
                      <a:pPr marL="36000" algn="ctr"/>
                      <a:r>
                        <a:rPr kumimoji="0" lang="en-US" sz="1150" b="1" i="0" u="none" strike="noStrike" kern="1200" cap="none" spc="0" normalizeH="0" baseline="0" noProof="0">
                          <a:ln>
                            <a:noFill/>
                          </a:ln>
                          <a:solidFill>
                            <a:schemeClr val="tx2"/>
                          </a:solidFill>
                          <a:effectLst/>
                          <a:uLnTx/>
                          <a:uFillTx/>
                          <a:latin typeface="Roboto Condensed"/>
                          <a:ea typeface="+mn-ea"/>
                          <a:cs typeface="+mn-cs"/>
                        </a:rPr>
                        <a:t>105</a:t>
                      </a:r>
                      <a:endParaRPr lang="en-US" sz="1150" b="1" dirty="0">
                        <a:solidFill>
                          <a:schemeClr val="tx2"/>
                        </a:solidFill>
                        <a:latin typeface="+mn-lt"/>
                      </a:endParaRPr>
                    </a:p>
                  </a:txBody>
                  <a:tcPr marL="9525" marR="9525" marT="9525" marB="0" anchor="b">
                    <a:solidFill>
                      <a:schemeClr val="bg1">
                        <a:lumMod val="95000"/>
                      </a:schemeClr>
                    </a:solidFill>
                  </a:tcPr>
                </a:tc>
                <a:tc>
                  <a:txBody>
                    <a:bodyPr/>
                    <a:lstStyle/>
                    <a:p>
                      <a:pPr marL="36000"/>
                      <a:r>
                        <a:rPr lang="en-US" sz="1150" b="1" dirty="0">
                          <a:solidFill>
                            <a:schemeClr val="tx2"/>
                          </a:solidFill>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1"/>
                  </a:ext>
                </a:extLst>
              </a:tr>
              <a:tr h="181660">
                <a:tc>
                  <a:txBody>
                    <a:bodyPr/>
                    <a:lstStyle/>
                    <a:p>
                      <a:pPr marL="36000" algn="l" fontAlgn="b"/>
                      <a:r>
                        <a:rPr lang="en-US" sz="1150" b="0" i="0" u="none" strike="noStrike" dirty="0">
                          <a:solidFill>
                            <a:srgbClr val="000000"/>
                          </a:solidFill>
                          <a:effectLst/>
                          <a:latin typeface="+mn-lt"/>
                        </a:rPr>
                        <a:t>103</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Sanjay</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95000"/>
                      </a:schemeClr>
                    </a:solidFill>
                  </a:tcPr>
                </a:tc>
                <a:tc>
                  <a:txBody>
                    <a:bodyPr/>
                    <a:lstStyle/>
                    <a:p>
                      <a:pPr marL="36000" algn="ctr"/>
                      <a:r>
                        <a:rPr kumimoji="0" lang="en-US" sz="1150" b="1" i="0" u="none" strike="noStrike" kern="1200" cap="none" spc="0" normalizeH="0" baseline="0" noProof="0">
                          <a:ln>
                            <a:noFill/>
                          </a:ln>
                          <a:solidFill>
                            <a:schemeClr val="tx2"/>
                          </a:solidFill>
                          <a:effectLst/>
                          <a:uLnTx/>
                          <a:uFillTx/>
                          <a:latin typeface="Roboto Condensed"/>
                          <a:ea typeface="+mn-ea"/>
                          <a:cs typeface="+mn-cs"/>
                        </a:rPr>
                        <a:t>105</a:t>
                      </a:r>
                      <a:endParaRPr lang="en-US" sz="1150" b="1" dirty="0">
                        <a:solidFill>
                          <a:schemeClr val="tx2"/>
                        </a:solidFill>
                        <a:latin typeface="+mn-lt"/>
                      </a:endParaRPr>
                    </a:p>
                  </a:txBody>
                  <a:tcPr marL="9525" marR="9525" marT="9525" marB="0" anchor="b">
                    <a:solidFill>
                      <a:schemeClr val="bg1">
                        <a:lumMod val="95000"/>
                      </a:schemeClr>
                    </a:solidFill>
                  </a:tcPr>
                </a:tc>
                <a:tc>
                  <a:txBody>
                    <a:bodyPr/>
                    <a:lstStyle/>
                    <a:p>
                      <a:pPr marL="36000"/>
                      <a:r>
                        <a:rPr lang="en-US" sz="1150" b="1" dirty="0">
                          <a:solidFill>
                            <a:schemeClr val="tx2"/>
                          </a:solidFill>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2"/>
                  </a:ext>
                </a:extLst>
              </a:tr>
              <a:tr h="181660">
                <a:tc>
                  <a:txBody>
                    <a:bodyPr/>
                    <a:lstStyle/>
                    <a:p>
                      <a:pPr marL="36000" algn="l" fontAlgn="b"/>
                      <a:r>
                        <a:rPr lang="en-US" sz="1150" b="0" i="0" u="none" strike="noStrike" dirty="0">
                          <a:solidFill>
                            <a:srgbClr val="000000"/>
                          </a:solidFill>
                          <a:effectLst/>
                          <a:latin typeface="+mn-lt"/>
                        </a:rPr>
                        <a:t>104</a:t>
                      </a:r>
                    </a:p>
                  </a:txBody>
                  <a:tcPr marL="9525" marR="9525" marT="9525" marB="0" anchor="b">
                    <a:solidFill>
                      <a:schemeClr val="bg1">
                        <a:lumMod val="95000"/>
                      </a:schemeClr>
                    </a:solidFill>
                  </a:tcPr>
                </a:tc>
                <a:tc>
                  <a:txBody>
                    <a:bodyPr/>
                    <a:lstStyle/>
                    <a:p>
                      <a:pPr marL="36000" algn="l" fontAlgn="b"/>
                      <a:r>
                        <a:rPr lang="en-US" sz="1150" b="0" i="0" u="none" strike="noStrike" dirty="0" err="1">
                          <a:solidFill>
                            <a:srgbClr val="000000"/>
                          </a:solidFill>
                          <a:effectLst/>
                          <a:latin typeface="+mn-lt"/>
                        </a:rPr>
                        <a:t>Neha</a:t>
                      </a:r>
                      <a:endParaRPr lang="en-US" sz="1150" b="0" i="0" u="none" strike="noStrike" dirty="0">
                        <a:solidFill>
                          <a:srgbClr val="000000"/>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EC</a:t>
                      </a:r>
                    </a:p>
                  </a:txBody>
                  <a:tcPr marL="9525" marR="9525" marT="9525" marB="0" anchor="b">
                    <a:solidFill>
                      <a:schemeClr val="bg1">
                        <a:lumMod val="95000"/>
                      </a:schemeClr>
                    </a:solidFill>
                  </a:tcPr>
                </a:tc>
                <a:tc>
                  <a:txBody>
                    <a:bodyPr/>
                    <a:lstStyle/>
                    <a:p>
                      <a:pPr marL="36000" algn="ctr"/>
                      <a:r>
                        <a:rPr kumimoji="0" lang="en-US" sz="1150" b="1" i="0" u="none" strike="noStrike" kern="1200" cap="none" spc="0" normalizeH="0" baseline="0" noProof="0">
                          <a:ln>
                            <a:noFill/>
                          </a:ln>
                          <a:solidFill>
                            <a:schemeClr val="tx2"/>
                          </a:solidFill>
                          <a:effectLst/>
                          <a:uLnTx/>
                          <a:uFillTx/>
                          <a:latin typeface="Roboto Condensed"/>
                          <a:ea typeface="+mn-ea"/>
                          <a:cs typeface="+mn-cs"/>
                        </a:rPr>
                        <a:t>105</a:t>
                      </a:r>
                      <a:endParaRPr lang="en-US" sz="1150" b="1" dirty="0">
                        <a:solidFill>
                          <a:schemeClr val="tx2"/>
                        </a:solidFill>
                        <a:latin typeface="+mn-lt"/>
                      </a:endParaRPr>
                    </a:p>
                  </a:txBody>
                  <a:tcPr marL="9525" marR="9525" marT="9525" marB="0" anchor="b">
                    <a:solidFill>
                      <a:schemeClr val="bg1">
                        <a:lumMod val="95000"/>
                      </a:schemeClr>
                    </a:solidFill>
                  </a:tcPr>
                </a:tc>
                <a:tc>
                  <a:txBody>
                    <a:bodyPr/>
                    <a:lstStyle/>
                    <a:p>
                      <a:pPr marL="36000"/>
                      <a:r>
                        <a:rPr lang="en-US" sz="1150" b="1" dirty="0">
                          <a:solidFill>
                            <a:schemeClr val="tx2"/>
                          </a:solidFill>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3"/>
                  </a:ext>
                </a:extLst>
              </a:tr>
              <a:tr h="190671">
                <a:tc>
                  <a:txBody>
                    <a:bodyPr/>
                    <a:lstStyle/>
                    <a:p>
                      <a:pPr marL="36000" algn="l" fontAlgn="b"/>
                      <a:r>
                        <a:rPr lang="en-US" sz="1150" b="0" i="0" u="none" strike="noStrike" dirty="0">
                          <a:solidFill>
                            <a:srgbClr val="000000"/>
                          </a:solidFill>
                          <a:effectLst/>
                          <a:latin typeface="+mn-lt"/>
                        </a:rPr>
                        <a:t>105</a:t>
                      </a:r>
                    </a:p>
                  </a:txBody>
                  <a:tcPr marL="9525" marR="9525" marT="9525" marB="0" anchor="b">
                    <a:solidFill>
                      <a:schemeClr val="bg1">
                        <a:lumMod val="95000"/>
                      </a:schemeClr>
                    </a:solidFill>
                  </a:tcPr>
                </a:tc>
                <a:tc>
                  <a:txBody>
                    <a:bodyPr/>
                    <a:lstStyle/>
                    <a:p>
                      <a:pPr marL="36000" algn="l" fontAlgn="b"/>
                      <a:r>
                        <a:rPr lang="en-US" sz="1150" b="0" i="0" u="none" strike="noStrike" dirty="0" err="1">
                          <a:solidFill>
                            <a:srgbClr val="000000"/>
                          </a:solidFill>
                          <a:effectLst/>
                          <a:latin typeface="+mn-lt"/>
                        </a:rPr>
                        <a:t>Meera</a:t>
                      </a:r>
                      <a:endParaRPr lang="en-US" sz="1150" b="0" i="0" u="none" strike="noStrike" dirty="0">
                        <a:solidFill>
                          <a:srgbClr val="000000"/>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EE</a:t>
                      </a:r>
                    </a:p>
                  </a:txBody>
                  <a:tcPr marL="9525" marR="9525" marT="9525" marB="0" anchor="b">
                    <a:solidFill>
                      <a:schemeClr val="bg1">
                        <a:lumMod val="95000"/>
                      </a:schemeClr>
                    </a:solidFill>
                  </a:tcPr>
                </a:tc>
                <a:tc>
                  <a:txBody>
                    <a:bodyPr/>
                    <a:lstStyle/>
                    <a:p>
                      <a:pPr marL="36000" algn="ctr"/>
                      <a:r>
                        <a:rPr kumimoji="0" lang="en-US" sz="1150" b="1" i="0" u="none" strike="noStrike" kern="1200" cap="none" spc="0" normalizeH="0" baseline="0" noProof="0">
                          <a:ln>
                            <a:noFill/>
                          </a:ln>
                          <a:solidFill>
                            <a:schemeClr val="tx2"/>
                          </a:solidFill>
                          <a:effectLst/>
                          <a:uLnTx/>
                          <a:uFillTx/>
                          <a:latin typeface="Roboto Condensed"/>
                          <a:ea typeface="+mn-ea"/>
                          <a:cs typeface="+mn-cs"/>
                        </a:rPr>
                        <a:t>105</a:t>
                      </a:r>
                      <a:endParaRPr lang="en-US" sz="1150" b="1" dirty="0">
                        <a:solidFill>
                          <a:schemeClr val="tx2"/>
                        </a:solidFill>
                        <a:latin typeface="+mn-lt"/>
                      </a:endParaRPr>
                    </a:p>
                  </a:txBody>
                  <a:tcPr marL="9525" marR="9525" marT="9525" marB="0" anchor="b">
                    <a:solidFill>
                      <a:schemeClr val="bg1">
                        <a:lumMod val="95000"/>
                      </a:schemeClr>
                    </a:solidFill>
                  </a:tcPr>
                </a:tc>
                <a:tc>
                  <a:txBody>
                    <a:bodyPr/>
                    <a:lstStyle/>
                    <a:p>
                      <a:pPr marL="36000"/>
                      <a:r>
                        <a:rPr lang="en-US" sz="1150" b="1" dirty="0">
                          <a:solidFill>
                            <a:schemeClr val="tx2"/>
                          </a:solidFill>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4"/>
                  </a:ext>
                </a:extLst>
              </a:tr>
              <a:tr h="181660">
                <a:tc>
                  <a:txBody>
                    <a:bodyPr/>
                    <a:lstStyle/>
                    <a:p>
                      <a:pPr marL="36000" algn="l" fontAlgn="b"/>
                      <a:r>
                        <a:rPr lang="en-US" sz="1150" b="0" i="0" u="none" strike="noStrike" dirty="0">
                          <a:solidFill>
                            <a:srgbClr val="000000"/>
                          </a:solidFill>
                          <a:effectLst/>
                          <a:latin typeface="+mn-lt"/>
                        </a:rPr>
                        <a:t>106</a:t>
                      </a:r>
                    </a:p>
                  </a:txBody>
                  <a:tcPr marL="9525" marR="9525" marT="9525" marB="0" anchor="b">
                    <a:solidFill>
                      <a:schemeClr val="bg1">
                        <a:lumMod val="95000"/>
                      </a:schemeClr>
                    </a:solidFill>
                  </a:tcPr>
                </a:tc>
                <a:tc>
                  <a:txBody>
                    <a:bodyPr/>
                    <a:lstStyle/>
                    <a:p>
                      <a:pPr marL="36000" algn="l" fontAlgn="b"/>
                      <a:r>
                        <a:rPr lang="en-US" sz="1150" b="0" i="0" u="none" strike="noStrike">
                          <a:solidFill>
                            <a:srgbClr val="000000"/>
                          </a:solidFill>
                          <a:effectLst/>
                          <a:latin typeface="+mn-lt"/>
                        </a:rPr>
                        <a:t>Mahesh</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dirty="0">
                          <a:ln>
                            <a:noFill/>
                          </a:ln>
                          <a:solidFill>
                            <a:schemeClr val="tx2"/>
                          </a:solidFill>
                          <a:effectLst/>
                          <a:uLnTx/>
                          <a:uFillTx/>
                          <a:latin typeface="Roboto Condensed"/>
                          <a:ea typeface="+mn-ea"/>
                          <a:cs typeface="+mn-cs"/>
                        </a:rPr>
                        <a:t>105</a:t>
                      </a:r>
                      <a:endParaRPr lang="en-US" sz="1150" b="1" i="0" u="none" strike="noStrike" dirty="0">
                        <a:solidFill>
                          <a:schemeClr val="tx2"/>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tx2"/>
                          </a:solidFill>
                          <a:effectLst/>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5"/>
                  </a:ext>
                </a:extLst>
              </a:tr>
              <a:tr h="181660">
                <a:tc>
                  <a:txBody>
                    <a:bodyPr/>
                    <a:lstStyle/>
                    <a:p>
                      <a:pPr marL="36000" algn="l" fontAlgn="b"/>
                      <a:r>
                        <a:rPr lang="en-US" sz="1150" b="0" i="0" u="none" strike="noStrike" dirty="0">
                          <a:solidFill>
                            <a:srgbClr val="000000"/>
                          </a:solidFill>
                          <a:effectLst/>
                          <a:latin typeface="+mn-lt"/>
                        </a:rPr>
                        <a:t>101</a:t>
                      </a:r>
                    </a:p>
                  </a:txBody>
                  <a:tcPr marL="9525" marR="9525" marT="9525" marB="0" anchor="b">
                    <a:solidFill>
                      <a:schemeClr val="bg1">
                        <a:lumMod val="75000"/>
                      </a:schemeClr>
                    </a:solidFill>
                  </a:tcPr>
                </a:tc>
                <a:tc>
                  <a:txBody>
                    <a:bodyPr/>
                    <a:lstStyle/>
                    <a:p>
                      <a:pPr marL="36000" algn="l" fontAlgn="b"/>
                      <a:r>
                        <a:rPr lang="en-US" sz="1150" b="0" i="0" u="none" strike="noStrike">
                          <a:solidFill>
                            <a:srgbClr val="000000"/>
                          </a:solidFill>
                          <a:effectLst/>
                          <a:latin typeface="+mn-lt"/>
                        </a:rPr>
                        <a:t>Raju</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75000"/>
                      </a:schemeClr>
                    </a:solidFill>
                  </a:tcPr>
                </a:tc>
                <a:tc>
                  <a:txBody>
                    <a:bodyPr/>
                    <a:lstStyle/>
                    <a:p>
                      <a:pPr marL="36000" algn="ctr" fontAlgn="b"/>
                      <a:r>
                        <a:rPr lang="en-US" sz="1150" b="1" i="0" u="none" strike="noStrike" dirty="0">
                          <a:solidFill>
                            <a:srgbClr val="D81A60"/>
                          </a:solidFill>
                          <a:effectLst/>
                          <a:latin typeface="+mn-lt"/>
                        </a:rPr>
                        <a:t>107</a:t>
                      </a:r>
                    </a:p>
                  </a:txBody>
                  <a:tcPr marL="9525" marR="9525" marT="9525" marB="0" anchor="b">
                    <a:solidFill>
                      <a:schemeClr val="bg1">
                        <a:lumMod val="75000"/>
                      </a:schemeClr>
                    </a:solidFill>
                  </a:tcPr>
                </a:tc>
                <a:tc>
                  <a:txBody>
                    <a:bodyPr/>
                    <a:lstStyle/>
                    <a:p>
                      <a:pPr marL="36000" algn="l" fontAlgn="b"/>
                      <a:r>
                        <a:rPr lang="en-US" sz="1150" b="1" i="0" u="none" strike="noStrike" dirty="0">
                          <a:solidFill>
                            <a:srgbClr val="D81A60"/>
                          </a:solidFill>
                          <a:effectLst/>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26"/>
                  </a:ext>
                </a:extLst>
              </a:tr>
              <a:tr h="181660">
                <a:tc>
                  <a:txBody>
                    <a:bodyPr/>
                    <a:lstStyle/>
                    <a:p>
                      <a:pPr marL="36000" algn="l" fontAlgn="b"/>
                      <a:r>
                        <a:rPr lang="en-US" sz="1150" b="0" i="0" u="none" strike="noStrike" dirty="0">
                          <a:solidFill>
                            <a:srgbClr val="000000"/>
                          </a:solidFill>
                          <a:effectLst/>
                          <a:latin typeface="+mn-lt"/>
                        </a:rPr>
                        <a:t>102</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Amit</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75000"/>
                      </a:schemeClr>
                    </a:solidFill>
                  </a:tcPr>
                </a:tc>
                <a:tc>
                  <a:txBody>
                    <a:bodyPr/>
                    <a:lstStyle/>
                    <a:p>
                      <a:pPr marL="36000" algn="ctr"/>
                      <a:r>
                        <a:rPr kumimoji="0" lang="en-US" sz="1150" b="1" i="0" u="none" strike="noStrike" kern="1200" cap="none" spc="0" normalizeH="0" baseline="0" noProof="0" dirty="0">
                          <a:ln>
                            <a:noFill/>
                          </a:ln>
                          <a:solidFill>
                            <a:srgbClr val="D81A60"/>
                          </a:solidFill>
                          <a:effectLst/>
                          <a:uLnTx/>
                          <a:uFillTx/>
                          <a:latin typeface="Roboto Condensed"/>
                          <a:ea typeface="+mn-ea"/>
                          <a:cs typeface="+mn-cs"/>
                        </a:rPr>
                        <a:t>107</a:t>
                      </a:r>
                      <a:endParaRPr lang="en-US" sz="1150" b="1" dirty="0">
                        <a:solidFill>
                          <a:srgbClr val="D81A60"/>
                        </a:solidFill>
                        <a:latin typeface="+mn-lt"/>
                      </a:endParaRPr>
                    </a:p>
                  </a:txBody>
                  <a:tcPr marL="9525" marR="9525" marT="9525" marB="0" anchor="b">
                    <a:solidFill>
                      <a:schemeClr val="bg1">
                        <a:lumMod val="75000"/>
                      </a:schemeClr>
                    </a:solidFill>
                  </a:tcPr>
                </a:tc>
                <a:tc>
                  <a:txBody>
                    <a:bodyPr/>
                    <a:lstStyle/>
                    <a:p>
                      <a:pPr marL="36000"/>
                      <a:r>
                        <a:rPr lang="en-US" sz="1150" b="1" dirty="0">
                          <a:solidFill>
                            <a:srgbClr val="D81A60"/>
                          </a:solidFill>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27"/>
                  </a:ext>
                </a:extLst>
              </a:tr>
              <a:tr h="181660">
                <a:tc>
                  <a:txBody>
                    <a:bodyPr/>
                    <a:lstStyle/>
                    <a:p>
                      <a:pPr marL="36000" algn="l" fontAlgn="b"/>
                      <a:r>
                        <a:rPr lang="en-US" sz="1150" b="0" i="0" u="none" strike="noStrike">
                          <a:solidFill>
                            <a:srgbClr val="000000"/>
                          </a:solidFill>
                          <a:effectLst/>
                          <a:latin typeface="+mn-lt"/>
                        </a:rPr>
                        <a:t>103</a:t>
                      </a:r>
                    </a:p>
                  </a:txBody>
                  <a:tcPr marL="9525" marR="9525" marT="9525" marB="0" anchor="b">
                    <a:solidFill>
                      <a:schemeClr val="bg1">
                        <a:lumMod val="75000"/>
                      </a:schemeClr>
                    </a:solidFill>
                  </a:tcPr>
                </a:tc>
                <a:tc>
                  <a:txBody>
                    <a:bodyPr/>
                    <a:lstStyle/>
                    <a:p>
                      <a:pPr marL="36000" algn="l" fontAlgn="b"/>
                      <a:r>
                        <a:rPr lang="en-US" sz="1150" b="0" i="0" u="none" strike="noStrike">
                          <a:solidFill>
                            <a:srgbClr val="000000"/>
                          </a:solidFill>
                          <a:effectLst/>
                          <a:latin typeface="+mn-lt"/>
                        </a:rPr>
                        <a:t>Sanjay</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75000"/>
                      </a:schemeClr>
                    </a:solidFill>
                  </a:tcPr>
                </a:tc>
                <a:tc>
                  <a:txBody>
                    <a:bodyPr/>
                    <a:lstStyle/>
                    <a:p>
                      <a:pPr marL="36000" algn="ctr"/>
                      <a:r>
                        <a:rPr kumimoji="0" lang="en-US" sz="1150" b="1" i="0" u="none" strike="noStrike" kern="1200" cap="none" spc="0" normalizeH="0" baseline="0" noProof="0" dirty="0">
                          <a:ln>
                            <a:noFill/>
                          </a:ln>
                          <a:solidFill>
                            <a:srgbClr val="D81A60"/>
                          </a:solidFill>
                          <a:effectLst/>
                          <a:uLnTx/>
                          <a:uFillTx/>
                          <a:latin typeface="Roboto Condensed"/>
                          <a:ea typeface="+mn-ea"/>
                          <a:cs typeface="+mn-cs"/>
                        </a:rPr>
                        <a:t>107</a:t>
                      </a:r>
                      <a:endParaRPr lang="en-US" sz="1150" b="1" dirty="0">
                        <a:solidFill>
                          <a:srgbClr val="D81A60"/>
                        </a:solidFill>
                        <a:latin typeface="+mn-lt"/>
                      </a:endParaRPr>
                    </a:p>
                  </a:txBody>
                  <a:tcPr marL="9525" marR="9525" marT="9525" marB="0" anchor="b">
                    <a:solidFill>
                      <a:schemeClr val="bg1">
                        <a:lumMod val="75000"/>
                      </a:schemeClr>
                    </a:solidFill>
                  </a:tcPr>
                </a:tc>
                <a:tc>
                  <a:txBody>
                    <a:bodyPr/>
                    <a:lstStyle/>
                    <a:p>
                      <a:pPr marL="36000"/>
                      <a:r>
                        <a:rPr lang="en-US" sz="1150" b="1" dirty="0">
                          <a:solidFill>
                            <a:srgbClr val="D81A60"/>
                          </a:solidFill>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28"/>
                  </a:ext>
                </a:extLst>
              </a:tr>
              <a:tr h="181660">
                <a:tc>
                  <a:txBody>
                    <a:bodyPr/>
                    <a:lstStyle/>
                    <a:p>
                      <a:pPr marL="36000" algn="l" fontAlgn="b"/>
                      <a:r>
                        <a:rPr lang="en-US" sz="1150" b="0" i="0" u="none" strike="noStrike">
                          <a:solidFill>
                            <a:srgbClr val="000000"/>
                          </a:solidFill>
                          <a:effectLst/>
                          <a:latin typeface="+mn-lt"/>
                        </a:rPr>
                        <a:t>104</a:t>
                      </a:r>
                    </a:p>
                  </a:txBody>
                  <a:tcPr marL="9525" marR="9525" marT="9525" marB="0" anchor="b">
                    <a:solidFill>
                      <a:schemeClr val="bg1">
                        <a:lumMod val="75000"/>
                      </a:schemeClr>
                    </a:solidFill>
                  </a:tcPr>
                </a:tc>
                <a:tc>
                  <a:txBody>
                    <a:bodyPr/>
                    <a:lstStyle/>
                    <a:p>
                      <a:pPr marL="36000" algn="l" fontAlgn="b"/>
                      <a:r>
                        <a:rPr lang="en-US" sz="1150" b="0" i="0" u="none" strike="noStrike">
                          <a:solidFill>
                            <a:srgbClr val="000000"/>
                          </a:solidFill>
                          <a:effectLst/>
                          <a:latin typeface="+mn-lt"/>
                        </a:rPr>
                        <a:t>Neha</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EC</a:t>
                      </a:r>
                    </a:p>
                  </a:txBody>
                  <a:tcPr marL="9525" marR="9525" marT="9525" marB="0" anchor="b">
                    <a:solidFill>
                      <a:schemeClr val="bg1">
                        <a:lumMod val="75000"/>
                      </a:schemeClr>
                    </a:solidFill>
                  </a:tcPr>
                </a:tc>
                <a:tc>
                  <a:txBody>
                    <a:bodyPr/>
                    <a:lstStyle/>
                    <a:p>
                      <a:pPr marL="36000" algn="ctr"/>
                      <a:r>
                        <a:rPr kumimoji="0" lang="en-US" sz="1150" b="1" i="0" u="none" strike="noStrike" kern="1200" cap="none" spc="0" normalizeH="0" baseline="0" noProof="0" dirty="0">
                          <a:ln>
                            <a:noFill/>
                          </a:ln>
                          <a:solidFill>
                            <a:srgbClr val="D81A60"/>
                          </a:solidFill>
                          <a:effectLst/>
                          <a:uLnTx/>
                          <a:uFillTx/>
                          <a:latin typeface="Roboto Condensed"/>
                          <a:ea typeface="+mn-ea"/>
                          <a:cs typeface="+mn-cs"/>
                        </a:rPr>
                        <a:t>107</a:t>
                      </a:r>
                      <a:endParaRPr lang="en-US" sz="1150" b="1" dirty="0">
                        <a:solidFill>
                          <a:srgbClr val="D81A60"/>
                        </a:solidFill>
                        <a:latin typeface="+mn-lt"/>
                      </a:endParaRPr>
                    </a:p>
                  </a:txBody>
                  <a:tcPr marL="9525" marR="9525" marT="9525" marB="0" anchor="b">
                    <a:solidFill>
                      <a:schemeClr val="bg1">
                        <a:lumMod val="75000"/>
                      </a:schemeClr>
                    </a:solidFill>
                  </a:tcPr>
                </a:tc>
                <a:tc>
                  <a:txBody>
                    <a:bodyPr/>
                    <a:lstStyle/>
                    <a:p>
                      <a:pPr marL="36000"/>
                      <a:r>
                        <a:rPr lang="en-US" sz="1150" b="1" dirty="0">
                          <a:solidFill>
                            <a:srgbClr val="D81A60"/>
                          </a:solidFill>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29"/>
                  </a:ext>
                </a:extLst>
              </a:tr>
              <a:tr h="181660">
                <a:tc>
                  <a:txBody>
                    <a:bodyPr/>
                    <a:lstStyle/>
                    <a:p>
                      <a:pPr marL="36000" algn="l" fontAlgn="b"/>
                      <a:r>
                        <a:rPr lang="en-US" sz="1150" b="0" i="0" u="none" strike="noStrike">
                          <a:solidFill>
                            <a:srgbClr val="000000"/>
                          </a:solidFill>
                          <a:effectLst/>
                          <a:latin typeface="+mn-lt"/>
                        </a:rPr>
                        <a:t>105</a:t>
                      </a:r>
                    </a:p>
                  </a:txBody>
                  <a:tcPr marL="9525" marR="9525" marT="9525" marB="0" anchor="b">
                    <a:solidFill>
                      <a:schemeClr val="bg1">
                        <a:lumMod val="75000"/>
                      </a:schemeClr>
                    </a:solidFill>
                  </a:tcPr>
                </a:tc>
                <a:tc>
                  <a:txBody>
                    <a:bodyPr/>
                    <a:lstStyle/>
                    <a:p>
                      <a:pPr marL="36000" algn="l" fontAlgn="b"/>
                      <a:r>
                        <a:rPr lang="en-US" sz="1150" b="0" i="0" u="none" strike="noStrike">
                          <a:solidFill>
                            <a:srgbClr val="000000"/>
                          </a:solidFill>
                          <a:effectLst/>
                          <a:latin typeface="+mn-lt"/>
                        </a:rPr>
                        <a:t>Meera</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EE</a:t>
                      </a:r>
                    </a:p>
                  </a:txBody>
                  <a:tcPr marL="9525" marR="9525" marT="9525" marB="0" anchor="b">
                    <a:solidFill>
                      <a:schemeClr val="bg1">
                        <a:lumMod val="75000"/>
                      </a:schemeClr>
                    </a:solidFill>
                  </a:tcPr>
                </a:tc>
                <a:tc>
                  <a:txBody>
                    <a:bodyPr/>
                    <a:lstStyle/>
                    <a:p>
                      <a:pPr marL="36000" algn="ctr"/>
                      <a:r>
                        <a:rPr kumimoji="0" lang="en-US" sz="1150" b="1" i="0" u="none" strike="noStrike" kern="1200" cap="none" spc="0" normalizeH="0" baseline="0" noProof="0" dirty="0">
                          <a:ln>
                            <a:noFill/>
                          </a:ln>
                          <a:solidFill>
                            <a:srgbClr val="D81A60"/>
                          </a:solidFill>
                          <a:effectLst/>
                          <a:uLnTx/>
                          <a:uFillTx/>
                          <a:latin typeface="Roboto Condensed"/>
                          <a:ea typeface="+mn-ea"/>
                          <a:cs typeface="+mn-cs"/>
                        </a:rPr>
                        <a:t>107</a:t>
                      </a:r>
                      <a:endParaRPr lang="en-US" sz="1150" b="1" dirty="0">
                        <a:solidFill>
                          <a:srgbClr val="D81A60"/>
                        </a:solidFill>
                        <a:latin typeface="+mn-lt"/>
                      </a:endParaRPr>
                    </a:p>
                  </a:txBody>
                  <a:tcPr marL="9525" marR="9525" marT="9525" marB="0" anchor="b">
                    <a:solidFill>
                      <a:schemeClr val="bg1">
                        <a:lumMod val="75000"/>
                      </a:schemeClr>
                    </a:solidFill>
                  </a:tcPr>
                </a:tc>
                <a:tc>
                  <a:txBody>
                    <a:bodyPr/>
                    <a:lstStyle/>
                    <a:p>
                      <a:pPr marL="36000"/>
                      <a:r>
                        <a:rPr lang="en-US" sz="1150" b="1" dirty="0">
                          <a:solidFill>
                            <a:srgbClr val="D81A60"/>
                          </a:solidFill>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30"/>
                  </a:ext>
                </a:extLst>
              </a:tr>
              <a:tr h="181660">
                <a:tc>
                  <a:txBody>
                    <a:bodyPr/>
                    <a:lstStyle/>
                    <a:p>
                      <a:pPr marL="36000" algn="l" fontAlgn="b"/>
                      <a:r>
                        <a:rPr lang="en-US" sz="1150" b="0" i="0" u="none" strike="noStrike">
                          <a:solidFill>
                            <a:srgbClr val="000000"/>
                          </a:solidFill>
                          <a:effectLst/>
                          <a:latin typeface="+mn-lt"/>
                        </a:rPr>
                        <a:t>106</a:t>
                      </a:r>
                    </a:p>
                  </a:txBody>
                  <a:tcPr marL="9525" marR="9525" marT="9525" marB="0" anchor="b">
                    <a:solidFill>
                      <a:schemeClr val="bg1">
                        <a:lumMod val="75000"/>
                      </a:schemeClr>
                    </a:solidFill>
                  </a:tcPr>
                </a:tc>
                <a:tc>
                  <a:txBody>
                    <a:bodyPr/>
                    <a:lstStyle/>
                    <a:p>
                      <a:pPr marL="36000" algn="l" fontAlgn="b"/>
                      <a:r>
                        <a:rPr lang="en-US" sz="1150" b="0" i="0" u="none" strike="noStrike">
                          <a:solidFill>
                            <a:srgbClr val="000000"/>
                          </a:solidFill>
                          <a:effectLst/>
                          <a:latin typeface="+mn-lt"/>
                        </a:rPr>
                        <a:t>Mahesh</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75000"/>
                      </a:schemeClr>
                    </a:solidFill>
                  </a:tcPr>
                </a:tc>
                <a:tc>
                  <a:txBody>
                    <a:bodyPr/>
                    <a:lstStyle/>
                    <a:p>
                      <a:pPr marL="36000" algn="ctr" fontAlgn="b"/>
                      <a:r>
                        <a:rPr kumimoji="0" lang="en-US" sz="1150" b="1" i="0" u="none" strike="noStrike" kern="1200" cap="none" spc="0" normalizeH="0" baseline="0" noProof="0" dirty="0">
                          <a:ln>
                            <a:noFill/>
                          </a:ln>
                          <a:solidFill>
                            <a:srgbClr val="D81A60"/>
                          </a:solidFill>
                          <a:effectLst/>
                          <a:uLnTx/>
                          <a:uFillTx/>
                          <a:latin typeface="Roboto Condensed"/>
                          <a:ea typeface="+mn-ea"/>
                          <a:cs typeface="+mn-cs"/>
                        </a:rPr>
                        <a:t>107</a:t>
                      </a:r>
                      <a:endParaRPr lang="en-US" sz="1150" b="1" i="0" u="none" strike="noStrike" dirty="0">
                        <a:solidFill>
                          <a:srgbClr val="D81A60"/>
                        </a:solidFill>
                        <a:effectLst/>
                        <a:latin typeface="+mn-lt"/>
                      </a:endParaRPr>
                    </a:p>
                  </a:txBody>
                  <a:tcPr marL="9525" marR="9525" marT="9525" marB="0" anchor="b">
                    <a:solidFill>
                      <a:schemeClr val="bg1">
                        <a:lumMod val="75000"/>
                      </a:schemeClr>
                    </a:solidFill>
                  </a:tcPr>
                </a:tc>
                <a:tc>
                  <a:txBody>
                    <a:bodyPr/>
                    <a:lstStyle/>
                    <a:p>
                      <a:pPr marL="36000" algn="l" fontAlgn="b"/>
                      <a:r>
                        <a:rPr lang="en-US" sz="1150" b="1" i="0" u="none" strike="noStrike" dirty="0">
                          <a:solidFill>
                            <a:srgbClr val="D81A60"/>
                          </a:solidFill>
                          <a:effectLst/>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31"/>
                  </a:ext>
                </a:extLst>
              </a:tr>
            </a:tbl>
          </a:graphicData>
        </a:graphic>
      </p:graphicFrame>
      <p:sp>
        <p:nvSpPr>
          <p:cNvPr id="10" name="TextBox 9">
            <a:extLst>
              <a:ext uri="{FF2B5EF4-FFF2-40B4-BE49-F238E27FC236}">
                <a16:creationId xmlns:a16="http://schemas.microsoft.com/office/drawing/2014/main" id="{B8BDCC25-1E44-48A0-8550-F89E768A4A30}"/>
              </a:ext>
            </a:extLst>
          </p:cNvPr>
          <p:cNvSpPr txBox="1"/>
          <p:nvPr/>
        </p:nvSpPr>
        <p:spPr>
          <a:xfrm>
            <a:off x="208696" y="4531227"/>
            <a:ext cx="1104900" cy="367400"/>
          </a:xfrm>
          <a:prstGeom prst="rect">
            <a:avLst/>
          </a:prstGeom>
          <a:noFill/>
        </p:spPr>
        <p:txBody>
          <a:bodyPr wrap="square" rtlCol="0">
            <a:spAutoFit/>
          </a:bodyPr>
          <a:lstStyle/>
          <a:p>
            <a:r>
              <a:rPr lang="en-US" b="1" u="sng" dirty="0"/>
              <a:t>Example</a:t>
            </a:r>
          </a:p>
        </p:txBody>
      </p:sp>
      <p:sp>
        <p:nvSpPr>
          <p:cNvPr id="11" name="Rectangle 10"/>
          <p:cNvSpPr/>
          <p:nvPr/>
        </p:nvSpPr>
        <p:spPr>
          <a:xfrm>
            <a:off x="609600" y="4876800"/>
            <a:ext cx="5500025" cy="12954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p:cNvSpPr/>
          <p:nvPr/>
        </p:nvSpPr>
        <p:spPr>
          <a:xfrm>
            <a:off x="740195" y="501097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3" name="Rectangle 12"/>
          <p:cNvSpPr/>
          <p:nvPr/>
        </p:nvSpPr>
        <p:spPr>
          <a:xfrm>
            <a:off x="1861107" y="5010977"/>
            <a:ext cx="42489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14" name="Rectangle 13"/>
          <p:cNvSpPr/>
          <p:nvPr/>
        </p:nvSpPr>
        <p:spPr>
          <a:xfrm>
            <a:off x="741332" y="558360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5" name="Rectangle 14"/>
          <p:cNvSpPr/>
          <p:nvPr/>
        </p:nvSpPr>
        <p:spPr>
          <a:xfrm>
            <a:off x="1843376" y="5589319"/>
            <a:ext cx="1068190" cy="45148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endParaRPr lang="en-US" dirty="0"/>
          </a:p>
        </p:txBody>
      </p:sp>
      <p:sp>
        <p:nvSpPr>
          <p:cNvPr id="16" name="Rectangle 15"/>
          <p:cNvSpPr/>
          <p:nvPr/>
        </p:nvSpPr>
        <p:spPr>
          <a:xfrm>
            <a:off x="3023295" y="5600700"/>
            <a:ext cx="1224868"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Cross Join</a:t>
            </a:r>
            <a:endParaRPr lang="en-US" dirty="0">
              <a:solidFill>
                <a:schemeClr val="accent1">
                  <a:lumMod val="50000"/>
                </a:schemeClr>
              </a:solidFill>
            </a:endParaRPr>
          </a:p>
        </p:txBody>
      </p:sp>
      <p:sp>
        <p:nvSpPr>
          <p:cNvPr id="17" name="Rectangle 16"/>
          <p:cNvSpPr/>
          <p:nvPr/>
        </p:nvSpPr>
        <p:spPr>
          <a:xfrm>
            <a:off x="4359892" y="5600700"/>
            <a:ext cx="939422"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endParaRPr lang="en-US" dirty="0"/>
          </a:p>
        </p:txBody>
      </p:sp>
      <p:sp>
        <p:nvSpPr>
          <p:cNvPr id="18" name="Rectangle 17"/>
          <p:cNvSpPr/>
          <p:nvPr/>
        </p:nvSpPr>
        <p:spPr>
          <a:xfrm>
            <a:off x="5411043" y="5610472"/>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9" name="Rectangle 18"/>
          <p:cNvSpPr/>
          <p:nvPr/>
        </p:nvSpPr>
        <p:spPr>
          <a:xfrm>
            <a:off x="3140429" y="5600700"/>
            <a:ext cx="990599"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Tree>
    <p:extLst>
      <p:ext uri="{BB962C8B-B14F-4D97-AF65-F5344CB8AC3E}">
        <p14:creationId xmlns:p14="http://schemas.microsoft.com/office/powerpoint/2010/main" val="127337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2"/>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3"/>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4"/>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5"/>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6"/>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17"/>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8"/>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2"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2" nodeType="click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2" nodeType="click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2"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2" nodeType="click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2" nodeType="clickEffect">
                                  <p:stCondLst>
                                    <p:cond delay="0"/>
                                  </p:stCondLst>
                                  <p:childTnLst>
                                    <p:set>
                                      <p:cBhvr>
                                        <p:cTn id="86" dur="1" fill="hold">
                                          <p:stCondLst>
                                            <p:cond delay="0"/>
                                          </p:stCondLst>
                                        </p:cTn>
                                        <p:tgtEl>
                                          <p:spTgt spid="1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1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2" nodeType="clickEffect">
                                  <p:stCondLst>
                                    <p:cond delay="0"/>
                                  </p:stCondLst>
                                  <p:childTnLst>
                                    <p:set>
                                      <p:cBhvr>
                                        <p:cTn id="94" dur="1" fill="hold">
                                          <p:stCondLst>
                                            <p:cond delay="0"/>
                                          </p:stCondLst>
                                        </p:cTn>
                                        <p:tgtEl>
                                          <p:spTgt spid="1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2" grpId="1" animBg="1"/>
      <p:bldP spid="12" grpId="2" animBg="1"/>
      <p:bldP spid="13" grpId="0" animBg="1"/>
      <p:bldP spid="13" grpId="1" animBg="1"/>
      <p:bldP spid="13" grpId="2" animBg="1"/>
      <p:bldP spid="14" grpId="0" animBg="1"/>
      <p:bldP spid="14" grpId="1" animBg="1"/>
      <p:bldP spid="14" grpId="2" animBg="1"/>
      <p:bldP spid="15" grpId="0" animBg="1"/>
      <p:bldP spid="15" grpId="1" animBg="1"/>
      <p:bldP spid="15" grpId="2" animBg="1"/>
      <p:bldP spid="16" grpId="0" animBg="1"/>
      <p:bldP spid="16" grpId="1" animBg="1"/>
      <p:bldP spid="16" grpId="2" animBg="1"/>
      <p:bldP spid="17" grpId="0" animBg="1"/>
      <p:bldP spid="17" grpId="1" animBg="1"/>
      <p:bldP spid="17" grpId="2" animBg="1"/>
      <p:bldP spid="18" grpId="0" animBg="1"/>
      <p:bldP spid="18" grpId="1" animBg="1"/>
      <p:bldP spid="18" grpId="2" animBg="1"/>
      <p:bldP spid="19" grpId="0" animBg="1"/>
      <p:bldP spid="19"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Join</a:t>
            </a:r>
          </a:p>
        </p:txBody>
      </p:sp>
      <p:sp>
        <p:nvSpPr>
          <p:cNvPr id="3" name="Content Placeholder 2"/>
          <p:cNvSpPr>
            <a:spLocks noGrp="1"/>
          </p:cNvSpPr>
          <p:nvPr>
            <p:ph idx="1"/>
          </p:nvPr>
        </p:nvSpPr>
        <p:spPr/>
        <p:txBody>
          <a:bodyPr/>
          <a:lstStyle/>
          <a:p>
            <a:r>
              <a:rPr lang="en-US" dirty="0"/>
              <a:t>A Self Join is a regular join, but the </a:t>
            </a:r>
            <a:r>
              <a:rPr lang="en-US" dirty="0">
                <a:solidFill>
                  <a:srgbClr val="C00000"/>
                </a:solidFill>
              </a:rPr>
              <a:t>table is joined with itself</a:t>
            </a:r>
            <a:r>
              <a:rPr lang="en-US" dirty="0"/>
              <a:t>.</a:t>
            </a:r>
          </a:p>
          <a:p>
            <a:r>
              <a:rPr lang="en-US" dirty="0"/>
              <a:t>Self join is used to retrieve the records having similarity between records in the same table.</a:t>
            </a:r>
          </a:p>
          <a:p>
            <a:r>
              <a:rPr lang="en-US" dirty="0"/>
              <a:t>Here, </a:t>
            </a:r>
            <a:r>
              <a:rPr lang="en-US" dirty="0">
                <a:solidFill>
                  <a:srgbClr val="C00000"/>
                </a:solidFill>
              </a:rPr>
              <a:t>we need to use aliases for the same table to set a self join between single table</a:t>
            </a:r>
            <a:r>
              <a:rPr lang="en-US" dirty="0"/>
              <a:t>.</a:t>
            </a:r>
          </a:p>
          <a:p>
            <a:r>
              <a:rPr lang="en-US" dirty="0"/>
              <a:t>Self join would be of any type like inner self join, left self join, right self join etc.</a:t>
            </a:r>
          </a:p>
          <a:p>
            <a:endParaRPr lang="en-US" dirty="0"/>
          </a:p>
        </p:txBody>
      </p:sp>
    </p:spTree>
    <p:extLst>
      <p:ext uri="{BB962C8B-B14F-4D97-AF65-F5344CB8AC3E}">
        <p14:creationId xmlns:p14="http://schemas.microsoft.com/office/powerpoint/2010/main" val="96682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Join</a:t>
            </a:r>
          </a:p>
        </p:txBody>
      </p:sp>
      <p:sp>
        <p:nvSpPr>
          <p:cNvPr id="4" name="TextBox 3">
            <a:extLst>
              <a:ext uri="{FF2B5EF4-FFF2-40B4-BE49-F238E27FC236}">
                <a16:creationId xmlns:a16="http://schemas.microsoft.com/office/drawing/2014/main" id="{53952E51-6F32-4CDC-80AE-420C8332A1DF}"/>
              </a:ext>
            </a:extLst>
          </p:cNvPr>
          <p:cNvSpPr txBox="1"/>
          <p:nvPr/>
        </p:nvSpPr>
        <p:spPr>
          <a:xfrm>
            <a:off x="172850" y="880868"/>
            <a:ext cx="1104900" cy="367400"/>
          </a:xfrm>
          <a:prstGeom prst="rect">
            <a:avLst/>
          </a:prstGeom>
          <a:noFill/>
        </p:spPr>
        <p:txBody>
          <a:bodyPr wrap="square" rtlCol="0">
            <a:spAutoFit/>
          </a:bodyPr>
          <a:lstStyle/>
          <a:p>
            <a:r>
              <a:rPr lang="en-US" b="1" u="sng" dirty="0"/>
              <a:t>Syntax</a:t>
            </a:r>
          </a:p>
        </p:txBody>
      </p:sp>
      <p:sp>
        <p:nvSpPr>
          <p:cNvPr id="5" name="Rectangle 4"/>
          <p:cNvSpPr/>
          <p:nvPr/>
        </p:nvSpPr>
        <p:spPr>
          <a:xfrm>
            <a:off x="152399" y="1320074"/>
            <a:ext cx="6049773"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p:cNvSpPr/>
          <p:nvPr/>
        </p:nvSpPr>
        <p:spPr>
          <a:xfrm>
            <a:off x="321339" y="156090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p:cNvSpPr/>
          <p:nvPr/>
        </p:nvSpPr>
        <p:spPr>
          <a:xfrm>
            <a:off x="1442250" y="1572870"/>
            <a:ext cx="1919696"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a.Column_Name</a:t>
            </a:r>
            <a:r>
              <a:rPr lang="en-IN" dirty="0">
                <a:solidFill>
                  <a:srgbClr val="808080"/>
                </a:solidFill>
              </a:rPr>
              <a:t>,</a:t>
            </a:r>
            <a:endParaRPr lang="en-US" dirty="0">
              <a:solidFill>
                <a:srgbClr val="808080"/>
              </a:solidFill>
            </a:endParaRPr>
          </a:p>
        </p:txBody>
      </p:sp>
      <p:sp>
        <p:nvSpPr>
          <p:cNvPr id="8" name="Rectangle 7"/>
          <p:cNvSpPr/>
          <p:nvPr/>
        </p:nvSpPr>
        <p:spPr>
          <a:xfrm>
            <a:off x="321339" y="2148352"/>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9" name="Rectangle 8"/>
          <p:cNvSpPr/>
          <p:nvPr/>
        </p:nvSpPr>
        <p:spPr>
          <a:xfrm>
            <a:off x="1442249" y="2142522"/>
            <a:ext cx="104661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 a</a:t>
            </a:r>
            <a:endParaRPr lang="en-US" dirty="0"/>
          </a:p>
        </p:txBody>
      </p:sp>
      <p:sp>
        <p:nvSpPr>
          <p:cNvPr id="10" name="Rectangle 9"/>
          <p:cNvSpPr/>
          <p:nvPr/>
        </p:nvSpPr>
        <p:spPr>
          <a:xfrm>
            <a:off x="1442250" y="2724139"/>
            <a:ext cx="2620732"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a.Column</a:t>
            </a:r>
            <a:r>
              <a:rPr lang="en-IN" dirty="0">
                <a:solidFill>
                  <a:srgbClr val="808080"/>
                </a:solidFill>
              </a:rPr>
              <a:t>=</a:t>
            </a:r>
            <a:r>
              <a:rPr lang="en-IN" dirty="0" err="1"/>
              <a:t>b.Column</a:t>
            </a:r>
            <a:endParaRPr lang="en-US" dirty="0"/>
          </a:p>
        </p:txBody>
      </p:sp>
      <p:sp>
        <p:nvSpPr>
          <p:cNvPr id="11" name="Rectangle 10"/>
          <p:cNvSpPr/>
          <p:nvPr/>
        </p:nvSpPr>
        <p:spPr>
          <a:xfrm>
            <a:off x="321339" y="2704319"/>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2" name="Rectangle 11"/>
          <p:cNvSpPr/>
          <p:nvPr/>
        </p:nvSpPr>
        <p:spPr>
          <a:xfrm>
            <a:off x="4142161" y="2726117"/>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3" name="Rectangle 12"/>
          <p:cNvSpPr/>
          <p:nvPr/>
        </p:nvSpPr>
        <p:spPr>
          <a:xfrm>
            <a:off x="2596756" y="2141348"/>
            <a:ext cx="1143861"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Inner Join</a:t>
            </a:r>
            <a:endParaRPr lang="en-US" b="1" dirty="0">
              <a:solidFill>
                <a:schemeClr val="tx1"/>
              </a:solidFill>
            </a:endParaRPr>
          </a:p>
        </p:txBody>
      </p:sp>
      <p:sp>
        <p:nvSpPr>
          <p:cNvPr id="14" name="Rectangle 13"/>
          <p:cNvSpPr/>
          <p:nvPr/>
        </p:nvSpPr>
        <p:spPr>
          <a:xfrm>
            <a:off x="3848505" y="2148352"/>
            <a:ext cx="9641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 b</a:t>
            </a:r>
            <a:endParaRPr lang="en-US" dirty="0"/>
          </a:p>
        </p:txBody>
      </p:sp>
      <p:sp>
        <p:nvSpPr>
          <p:cNvPr id="15" name="Rectangle 14"/>
          <p:cNvSpPr/>
          <p:nvPr/>
        </p:nvSpPr>
        <p:spPr>
          <a:xfrm>
            <a:off x="3481887" y="1560904"/>
            <a:ext cx="1806864"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b.Column_Name</a:t>
            </a:r>
            <a:endParaRPr lang="en-US" dirty="0">
              <a:ln w="0"/>
              <a:solidFill>
                <a:schemeClr val="tx1"/>
              </a:solidFill>
              <a:effectLst>
                <a:outerShdw blurRad="38100" dist="19050" dir="2700000" algn="tl" rotWithShape="0">
                  <a:schemeClr val="dk1">
                    <a:alpha val="40000"/>
                  </a:schemeClr>
                </a:outerShdw>
              </a:effectLst>
            </a:endParaRPr>
          </a:p>
        </p:txBody>
      </p:sp>
      <p:sp>
        <p:nvSpPr>
          <p:cNvPr id="17" name="TextBox 16">
            <a:extLst>
              <a:ext uri="{FF2B5EF4-FFF2-40B4-BE49-F238E27FC236}">
                <a16:creationId xmlns:a16="http://schemas.microsoft.com/office/drawing/2014/main" id="{F868FFA3-A1A0-42B6-B65F-E59457A5B38E}"/>
              </a:ext>
            </a:extLst>
          </p:cNvPr>
          <p:cNvSpPr txBox="1"/>
          <p:nvPr/>
        </p:nvSpPr>
        <p:spPr>
          <a:xfrm>
            <a:off x="172850" y="3541992"/>
            <a:ext cx="1080000" cy="360000"/>
          </a:xfrm>
          <a:prstGeom prst="rect">
            <a:avLst/>
          </a:prstGeom>
          <a:noFill/>
        </p:spPr>
        <p:txBody>
          <a:bodyPr wrap="square" rtlCol="0">
            <a:spAutoFit/>
          </a:bodyPr>
          <a:lstStyle/>
          <a:p>
            <a:r>
              <a:rPr lang="en-US" b="1" u="sng" dirty="0"/>
              <a:t>Example</a:t>
            </a:r>
          </a:p>
        </p:txBody>
      </p:sp>
      <p:sp>
        <p:nvSpPr>
          <p:cNvPr id="18" name="Rectangle 17"/>
          <p:cNvSpPr/>
          <p:nvPr/>
        </p:nvSpPr>
        <p:spPr>
          <a:xfrm>
            <a:off x="152400" y="3996017"/>
            <a:ext cx="6049773"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Rectangle 18"/>
          <p:cNvSpPr/>
          <p:nvPr/>
        </p:nvSpPr>
        <p:spPr>
          <a:xfrm>
            <a:off x="329446" y="414964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20" name="Rectangle 19"/>
          <p:cNvSpPr/>
          <p:nvPr/>
        </p:nvSpPr>
        <p:spPr>
          <a:xfrm>
            <a:off x="1450357" y="4161609"/>
            <a:ext cx="223886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e.Name</a:t>
            </a:r>
            <a:r>
              <a:rPr lang="en-IN" dirty="0"/>
              <a:t> as Employee</a:t>
            </a:r>
            <a:r>
              <a:rPr lang="en-IN" dirty="0">
                <a:solidFill>
                  <a:srgbClr val="808080"/>
                </a:solidFill>
              </a:rPr>
              <a:t>,</a:t>
            </a:r>
            <a:endParaRPr lang="en-US" dirty="0">
              <a:solidFill>
                <a:srgbClr val="808080"/>
              </a:solidFill>
            </a:endParaRPr>
          </a:p>
        </p:txBody>
      </p:sp>
      <p:sp>
        <p:nvSpPr>
          <p:cNvPr id="21" name="Rectangle 20"/>
          <p:cNvSpPr/>
          <p:nvPr/>
        </p:nvSpPr>
        <p:spPr>
          <a:xfrm>
            <a:off x="329446" y="473709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22" name="Rectangle 21"/>
          <p:cNvSpPr/>
          <p:nvPr/>
        </p:nvSpPr>
        <p:spPr>
          <a:xfrm>
            <a:off x="1450356" y="4731261"/>
            <a:ext cx="13000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e</a:t>
            </a:r>
            <a:endParaRPr lang="en-US" dirty="0"/>
          </a:p>
        </p:txBody>
      </p:sp>
      <p:sp>
        <p:nvSpPr>
          <p:cNvPr id="23" name="Rectangle 22"/>
          <p:cNvSpPr/>
          <p:nvPr/>
        </p:nvSpPr>
        <p:spPr>
          <a:xfrm>
            <a:off x="1450357" y="5312878"/>
            <a:ext cx="2620732"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e.MngrNo</a:t>
            </a:r>
            <a:r>
              <a:rPr lang="en-IN" dirty="0">
                <a:solidFill>
                  <a:srgbClr val="808080"/>
                </a:solidFill>
              </a:rPr>
              <a:t>=</a:t>
            </a:r>
            <a:r>
              <a:rPr lang="en-IN" dirty="0" err="1"/>
              <a:t>m.EmpNo</a:t>
            </a:r>
            <a:endParaRPr lang="en-US" dirty="0"/>
          </a:p>
        </p:txBody>
      </p:sp>
      <p:sp>
        <p:nvSpPr>
          <p:cNvPr id="24" name="Rectangle 23"/>
          <p:cNvSpPr/>
          <p:nvPr/>
        </p:nvSpPr>
        <p:spPr>
          <a:xfrm>
            <a:off x="329446" y="5293058"/>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25" name="Rectangle 24"/>
          <p:cNvSpPr/>
          <p:nvPr/>
        </p:nvSpPr>
        <p:spPr>
          <a:xfrm>
            <a:off x="4150268" y="5314856"/>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6" name="Rectangle 25"/>
          <p:cNvSpPr/>
          <p:nvPr/>
        </p:nvSpPr>
        <p:spPr>
          <a:xfrm>
            <a:off x="2877175" y="4730087"/>
            <a:ext cx="1133046"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Inner Join</a:t>
            </a:r>
            <a:endParaRPr lang="en-US" b="1" dirty="0">
              <a:solidFill>
                <a:schemeClr val="tx1"/>
              </a:solidFill>
            </a:endParaRPr>
          </a:p>
        </p:txBody>
      </p:sp>
      <p:sp>
        <p:nvSpPr>
          <p:cNvPr id="27" name="Rectangle 26"/>
          <p:cNvSpPr/>
          <p:nvPr/>
        </p:nvSpPr>
        <p:spPr>
          <a:xfrm>
            <a:off x="4137031" y="4731261"/>
            <a:ext cx="13960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Employee m</a:t>
            </a:r>
          </a:p>
        </p:txBody>
      </p:sp>
      <p:sp>
        <p:nvSpPr>
          <p:cNvPr id="28" name="Rectangle 27"/>
          <p:cNvSpPr/>
          <p:nvPr/>
        </p:nvSpPr>
        <p:spPr>
          <a:xfrm>
            <a:off x="3819812" y="4161609"/>
            <a:ext cx="2180423"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m.Name</a:t>
            </a:r>
            <a:r>
              <a:rPr lang="en-IN" dirty="0"/>
              <a:t> as Manager</a:t>
            </a:r>
            <a:endParaRPr lang="en-US" dirty="0">
              <a:ln w="0"/>
              <a:solidFill>
                <a:schemeClr val="tx1"/>
              </a:solidFill>
              <a:effectLst>
                <a:outerShdw blurRad="38100" dist="19050" dir="2700000" algn="tl" rotWithShape="0">
                  <a:schemeClr val="dk1">
                    <a:alpha val="40000"/>
                  </a:schemeClr>
                </a:outerShdw>
              </a:effectLst>
            </a:endParaRPr>
          </a:p>
        </p:txBody>
      </p:sp>
      <p:graphicFrame>
        <p:nvGraphicFramePr>
          <p:cNvPr id="29" name="Table 28"/>
          <p:cNvGraphicFramePr>
            <a:graphicFrameLocks noGrp="1"/>
          </p:cNvGraphicFramePr>
          <p:nvPr/>
        </p:nvGraphicFramePr>
        <p:xfrm>
          <a:off x="7390803" y="764788"/>
          <a:ext cx="2513255" cy="2506631"/>
        </p:xfrm>
        <a:graphic>
          <a:graphicData uri="http://schemas.openxmlformats.org/drawingml/2006/table">
            <a:tbl>
              <a:tblPr bandRow="1">
                <a:tableStyleId>{073A0DAA-6AF3-43AB-8588-CEC1D06C72B9}</a:tableStyleId>
              </a:tblPr>
              <a:tblGrid>
                <a:gridCol w="798756">
                  <a:extLst>
                    <a:ext uri="{9D8B030D-6E8A-4147-A177-3AD203B41FA5}">
                      <a16:colId xmlns:a16="http://schemas.microsoft.com/office/drawing/2014/main" val="20000"/>
                    </a:ext>
                  </a:extLst>
                </a:gridCol>
                <a:gridCol w="823081">
                  <a:extLst>
                    <a:ext uri="{9D8B030D-6E8A-4147-A177-3AD203B41FA5}">
                      <a16:colId xmlns:a16="http://schemas.microsoft.com/office/drawing/2014/main" val="20001"/>
                    </a:ext>
                  </a:extLst>
                </a:gridCol>
                <a:gridCol w="891418">
                  <a:extLst>
                    <a:ext uri="{9D8B030D-6E8A-4147-A177-3AD203B41FA5}">
                      <a16:colId xmlns:a16="http://schemas.microsoft.com/office/drawing/2014/main" val="20002"/>
                    </a:ext>
                  </a:extLst>
                </a:gridCol>
              </a:tblGrid>
              <a:tr h="307233">
                <a:tc gridSpan="3">
                  <a:txBody>
                    <a:bodyPr/>
                    <a:lstStyle/>
                    <a:p>
                      <a:pPr marL="36000" algn="l" fontAlgn="b"/>
                      <a:r>
                        <a:rPr lang="en-US" sz="1600" b="1" i="0" u="none" strike="noStrike" dirty="0">
                          <a:solidFill>
                            <a:srgbClr val="000000"/>
                          </a:solidFill>
                          <a:effectLst/>
                          <a:latin typeface="+mn-lt"/>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56000">
                <a:tc>
                  <a:txBody>
                    <a:bodyPr/>
                    <a:lstStyle/>
                    <a:p>
                      <a:pPr marL="36000" algn="l" fontAlgn="b"/>
                      <a:r>
                        <a:rPr lang="en-US" sz="1600" b="1" i="0" u="none" strike="noStrike" dirty="0" err="1">
                          <a:solidFill>
                            <a:srgbClr val="FFFFFF"/>
                          </a:solidFill>
                          <a:effectLst/>
                          <a:latin typeface="+mj-lt"/>
                        </a:rPr>
                        <a:t>EmpNo</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MngrNo</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07233">
                <a:tc>
                  <a:txBody>
                    <a:bodyPr/>
                    <a:lstStyle/>
                    <a:p>
                      <a:pPr marL="36000" algn="l" fontAlgn="b"/>
                      <a:r>
                        <a:rPr lang="en-US" sz="1600" b="0" i="0" u="none" strike="noStrike" dirty="0">
                          <a:solidFill>
                            <a:srgbClr val="000000"/>
                          </a:solidFill>
                          <a:effectLst/>
                          <a:latin typeface="+mj-lt"/>
                        </a:rPr>
                        <a:t>E00001</a:t>
                      </a:r>
                    </a:p>
                  </a:txBody>
                  <a:tcPr marL="9525" marR="9525" marT="9525" marB="0" anchor="b"/>
                </a:tc>
                <a:tc>
                  <a:txBody>
                    <a:bodyPr/>
                    <a:lstStyle/>
                    <a:p>
                      <a:pPr marL="36000" algn="l" fontAlgn="b"/>
                      <a:r>
                        <a:rPr lang="en-US" sz="1600" b="0" i="0" u="none" strike="noStrike" dirty="0" err="1">
                          <a:solidFill>
                            <a:srgbClr val="000000"/>
                          </a:solidFill>
                          <a:effectLst/>
                          <a:latin typeface="+mj-lt"/>
                        </a:rPr>
                        <a:t>Tarun</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E00002</a:t>
                      </a:r>
                    </a:p>
                  </a:txBody>
                  <a:tcPr marL="9525" marR="9525" marT="9525" marB="0" anchor="b"/>
                </a:tc>
                <a:extLst>
                  <a:ext uri="{0D108BD9-81ED-4DB2-BD59-A6C34878D82A}">
                    <a16:rowId xmlns:a16="http://schemas.microsoft.com/office/drawing/2014/main" val="10002"/>
                  </a:ext>
                </a:extLst>
              </a:tr>
              <a:tr h="307233">
                <a:tc>
                  <a:txBody>
                    <a:bodyPr/>
                    <a:lstStyle/>
                    <a:p>
                      <a:pPr marL="3600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j-lt"/>
                        </a:rPr>
                        <a:t>E00002</a:t>
                      </a:r>
                    </a:p>
                  </a:txBody>
                  <a:tcPr marL="9525" marR="9525" marT="9525" marB="0" anchor="b"/>
                </a:tc>
                <a:tc>
                  <a:txBody>
                    <a:bodyPr/>
                    <a:lstStyle/>
                    <a:p>
                      <a:pPr marL="36000" algn="l" fontAlgn="b"/>
                      <a:r>
                        <a:rPr lang="en-US" sz="1600" b="0" i="0" u="none" strike="noStrike" dirty="0">
                          <a:solidFill>
                            <a:srgbClr val="000000"/>
                          </a:solidFill>
                          <a:effectLst/>
                          <a:latin typeface="+mj-lt"/>
                        </a:rPr>
                        <a:t>Rohan</a:t>
                      </a: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3"/>
                  </a:ext>
                </a:extLst>
              </a:tr>
              <a:tr h="307233">
                <a:tc>
                  <a:txBody>
                    <a:bodyPr/>
                    <a:lstStyle/>
                    <a:p>
                      <a:pPr marL="36000" algn="l" fontAlgn="b"/>
                      <a:r>
                        <a:rPr lang="en-US" sz="1600" b="0" i="0" u="none" strike="noStrike" dirty="0">
                          <a:solidFill>
                            <a:srgbClr val="000000"/>
                          </a:solidFill>
                          <a:effectLst/>
                          <a:latin typeface="+mj-lt"/>
                        </a:rPr>
                        <a:t>E00003</a:t>
                      </a:r>
                    </a:p>
                  </a:txBody>
                  <a:tcPr marL="9525" marR="9525" marT="9525" marB="0" anchor="b"/>
                </a:tc>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4"/>
                  </a:ext>
                </a:extLst>
              </a:tr>
              <a:tr h="307233">
                <a:tc>
                  <a:txBody>
                    <a:bodyPr/>
                    <a:lstStyle/>
                    <a:p>
                      <a:pPr marL="36000" algn="l" fontAlgn="b"/>
                      <a:r>
                        <a:rPr lang="en-US" sz="1600" b="0" i="0" u="none" strike="noStrike" dirty="0">
                          <a:solidFill>
                            <a:srgbClr val="000000"/>
                          </a:solidFill>
                          <a:effectLst/>
                          <a:latin typeface="+mj-lt"/>
                        </a:rPr>
                        <a:t>E00004</a:t>
                      </a:r>
                    </a:p>
                  </a:txBody>
                  <a:tcPr marL="9525" marR="9525" marT="9525" marB="0" anchor="b"/>
                </a:tc>
                <a:tc>
                  <a:txBody>
                    <a:bodyPr/>
                    <a:lstStyle/>
                    <a:p>
                      <a:pPr marL="36000" algn="l" fontAlgn="b"/>
                      <a:r>
                        <a:rPr lang="en-US" sz="1600" b="0" i="0" u="none" strike="noStrike" dirty="0">
                          <a:solidFill>
                            <a:srgbClr val="000000"/>
                          </a:solidFill>
                          <a:effectLst/>
                          <a:latin typeface="+mj-lt"/>
                        </a:rPr>
                        <a:t>Milan</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5"/>
                  </a:ext>
                </a:extLst>
              </a:tr>
              <a:tr h="307233">
                <a:tc>
                  <a:txBody>
                    <a:bodyPr/>
                    <a:lstStyle/>
                    <a:p>
                      <a:pPr marL="36000" algn="l" fontAlgn="b"/>
                      <a:r>
                        <a:rPr lang="en-US" sz="1600" b="0" i="0" u="none" strike="noStrike" dirty="0">
                          <a:solidFill>
                            <a:srgbClr val="000000"/>
                          </a:solidFill>
                          <a:effectLst/>
                          <a:latin typeface="+mj-lt"/>
                        </a:rPr>
                        <a:t>E00005</a:t>
                      </a: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6"/>
                  </a:ext>
                </a:extLst>
              </a:tr>
              <a:tr h="307233">
                <a:tc>
                  <a:txBody>
                    <a:bodyPr/>
                    <a:lstStyle/>
                    <a:p>
                      <a:pPr marL="36000" algn="l" fontAlgn="b"/>
                      <a:r>
                        <a:rPr lang="en-US" sz="1600" b="0" i="0" u="none" strike="noStrike" dirty="0">
                          <a:solidFill>
                            <a:srgbClr val="000000"/>
                          </a:solidFill>
                          <a:effectLst/>
                          <a:latin typeface="+mj-lt"/>
                        </a:rPr>
                        <a:t>E00006</a:t>
                      </a:r>
                    </a:p>
                  </a:txBody>
                  <a:tcPr marL="9525" marR="9525" marT="9525" marB="0" anchor="b"/>
                </a:tc>
                <a:tc>
                  <a:txBody>
                    <a:bodyPr/>
                    <a:lstStyle/>
                    <a:p>
                      <a:pPr marL="36000" algn="l" fontAlgn="b"/>
                      <a:r>
                        <a:rPr lang="en-US" sz="1600" b="0" i="0" u="none" strike="noStrike" dirty="0" err="1">
                          <a:solidFill>
                            <a:srgbClr val="000000"/>
                          </a:solidFill>
                          <a:effectLst/>
                          <a:latin typeface="+mj-lt"/>
                        </a:rPr>
                        <a:t>Anjana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E00003</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30" name="Table 29"/>
          <p:cNvGraphicFramePr>
            <a:graphicFrameLocks noGrp="1"/>
          </p:cNvGraphicFramePr>
          <p:nvPr/>
        </p:nvGraphicFramePr>
        <p:xfrm>
          <a:off x="10153591" y="2990900"/>
          <a:ext cx="1865555" cy="296944"/>
        </p:xfrm>
        <a:graphic>
          <a:graphicData uri="http://schemas.openxmlformats.org/drawingml/2006/table">
            <a:tbl>
              <a:tblPr bandRow="1">
                <a:tableStyleId>{073A0DAA-6AF3-43AB-8588-CEC1D06C72B9}</a:tableStyleId>
              </a:tblPr>
              <a:tblGrid>
                <a:gridCol w="918787">
                  <a:extLst>
                    <a:ext uri="{9D8B030D-6E8A-4147-A177-3AD203B41FA5}">
                      <a16:colId xmlns:a16="http://schemas.microsoft.com/office/drawing/2014/main" val="20000"/>
                    </a:ext>
                  </a:extLst>
                </a:gridCol>
                <a:gridCol w="946768">
                  <a:extLst>
                    <a:ext uri="{9D8B030D-6E8A-4147-A177-3AD203B41FA5}">
                      <a16:colId xmlns:a16="http://schemas.microsoft.com/office/drawing/2014/main" val="20001"/>
                    </a:ext>
                  </a:extLst>
                </a:gridCol>
              </a:tblGrid>
              <a:tr h="296944">
                <a:tc>
                  <a:txBody>
                    <a:bodyPr/>
                    <a:lstStyle/>
                    <a:p>
                      <a:pPr marL="36000"/>
                      <a:r>
                        <a:rPr lang="en-US" sz="1600" b="0" i="0" u="none" strike="noStrike" kern="1200" dirty="0" err="1">
                          <a:solidFill>
                            <a:srgbClr val="000000"/>
                          </a:solidFill>
                          <a:effectLst/>
                          <a:latin typeface="+mj-lt"/>
                          <a:ea typeface="+mn-ea"/>
                          <a:cs typeface="+mn-cs"/>
                        </a:rPr>
                        <a:t>Anjana</a:t>
                      </a:r>
                      <a:endParaRPr lang="en-US" sz="1600" b="0" i="0" u="none" strike="noStrike" kern="1200" dirty="0">
                        <a:solidFill>
                          <a:srgbClr val="000000"/>
                        </a:solidFill>
                        <a:effectLst/>
                        <a:latin typeface="+mj-lt"/>
                        <a:ea typeface="+mn-ea"/>
                        <a:cs typeface="+mn-cs"/>
                      </a:endParaRPr>
                    </a:p>
                  </a:txBody>
                  <a:tcPr marL="9525" marR="9525" marT="9525" marB="0" anchor="b"/>
                </a:tc>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3" name="Table 2">
            <a:extLst>
              <a:ext uri="{FF2B5EF4-FFF2-40B4-BE49-F238E27FC236}">
                <a16:creationId xmlns:a16="http://schemas.microsoft.com/office/drawing/2014/main" id="{FB5F0597-20F4-A077-6257-4A743981D5EB}"/>
              </a:ext>
            </a:extLst>
          </p:cNvPr>
          <p:cNvGraphicFramePr>
            <a:graphicFrameLocks noGrp="1"/>
          </p:cNvGraphicFramePr>
          <p:nvPr/>
        </p:nvGraphicFramePr>
        <p:xfrm>
          <a:off x="6502958" y="3429000"/>
          <a:ext cx="2513255" cy="2506631"/>
        </p:xfrm>
        <a:graphic>
          <a:graphicData uri="http://schemas.openxmlformats.org/drawingml/2006/table">
            <a:tbl>
              <a:tblPr bandRow="1">
                <a:tableStyleId>{073A0DAA-6AF3-43AB-8588-CEC1D06C72B9}</a:tableStyleId>
              </a:tblPr>
              <a:tblGrid>
                <a:gridCol w="798756">
                  <a:extLst>
                    <a:ext uri="{9D8B030D-6E8A-4147-A177-3AD203B41FA5}">
                      <a16:colId xmlns:a16="http://schemas.microsoft.com/office/drawing/2014/main" val="20000"/>
                    </a:ext>
                  </a:extLst>
                </a:gridCol>
                <a:gridCol w="823081">
                  <a:extLst>
                    <a:ext uri="{9D8B030D-6E8A-4147-A177-3AD203B41FA5}">
                      <a16:colId xmlns:a16="http://schemas.microsoft.com/office/drawing/2014/main" val="20001"/>
                    </a:ext>
                  </a:extLst>
                </a:gridCol>
                <a:gridCol w="891418">
                  <a:extLst>
                    <a:ext uri="{9D8B030D-6E8A-4147-A177-3AD203B41FA5}">
                      <a16:colId xmlns:a16="http://schemas.microsoft.com/office/drawing/2014/main" val="20002"/>
                    </a:ext>
                  </a:extLst>
                </a:gridCol>
              </a:tblGrid>
              <a:tr h="307233">
                <a:tc gridSpan="3">
                  <a:txBody>
                    <a:bodyPr/>
                    <a:lstStyle/>
                    <a:p>
                      <a:pPr marL="36000" algn="l" fontAlgn="b"/>
                      <a:r>
                        <a:rPr lang="en-US" sz="1600" b="1" i="0" u="none" strike="noStrike" dirty="0">
                          <a:solidFill>
                            <a:srgbClr val="000000"/>
                          </a:solidFill>
                          <a:effectLst/>
                          <a:latin typeface="+mn-lt"/>
                        </a:rPr>
                        <a:t>Employee 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56000">
                <a:tc>
                  <a:txBody>
                    <a:bodyPr/>
                    <a:lstStyle/>
                    <a:p>
                      <a:pPr marL="36000" algn="l" fontAlgn="b"/>
                      <a:r>
                        <a:rPr lang="en-US" sz="1600" b="1" i="0" u="none" strike="noStrike" dirty="0" err="1">
                          <a:solidFill>
                            <a:srgbClr val="FFFFFF"/>
                          </a:solidFill>
                          <a:effectLst/>
                          <a:latin typeface="+mj-lt"/>
                        </a:rPr>
                        <a:t>EmpNo</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MngrNo</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07233">
                <a:tc>
                  <a:txBody>
                    <a:bodyPr/>
                    <a:lstStyle/>
                    <a:p>
                      <a:pPr marL="36000" algn="l" fontAlgn="b"/>
                      <a:r>
                        <a:rPr lang="en-US" sz="1600" b="0" i="0" u="none" strike="noStrike" dirty="0">
                          <a:solidFill>
                            <a:srgbClr val="000000"/>
                          </a:solidFill>
                          <a:effectLst/>
                          <a:latin typeface="+mj-lt"/>
                        </a:rPr>
                        <a:t>E00001</a:t>
                      </a:r>
                    </a:p>
                  </a:txBody>
                  <a:tcPr marL="9525" marR="9525" marT="9525" marB="0" anchor="b"/>
                </a:tc>
                <a:tc>
                  <a:txBody>
                    <a:bodyPr/>
                    <a:lstStyle/>
                    <a:p>
                      <a:pPr marL="36000" algn="l" fontAlgn="b"/>
                      <a:r>
                        <a:rPr lang="en-US" sz="1600" b="0" i="0" u="none" strike="noStrike" dirty="0" err="1">
                          <a:solidFill>
                            <a:srgbClr val="000000"/>
                          </a:solidFill>
                          <a:effectLst/>
                          <a:latin typeface="+mj-lt"/>
                        </a:rPr>
                        <a:t>Tarun</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E00002</a:t>
                      </a:r>
                    </a:p>
                  </a:txBody>
                  <a:tcPr marL="9525" marR="9525" marT="9525" marB="0" anchor="b"/>
                </a:tc>
                <a:extLst>
                  <a:ext uri="{0D108BD9-81ED-4DB2-BD59-A6C34878D82A}">
                    <a16:rowId xmlns:a16="http://schemas.microsoft.com/office/drawing/2014/main" val="10002"/>
                  </a:ext>
                </a:extLst>
              </a:tr>
              <a:tr h="307233">
                <a:tc>
                  <a:txBody>
                    <a:bodyPr/>
                    <a:lstStyle/>
                    <a:p>
                      <a:pPr marL="3600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j-lt"/>
                        </a:rPr>
                        <a:t>E00002</a:t>
                      </a:r>
                    </a:p>
                  </a:txBody>
                  <a:tcPr marL="9525" marR="9525" marT="9525" marB="0" anchor="b"/>
                </a:tc>
                <a:tc>
                  <a:txBody>
                    <a:bodyPr/>
                    <a:lstStyle/>
                    <a:p>
                      <a:pPr marL="36000" algn="l" fontAlgn="b"/>
                      <a:r>
                        <a:rPr lang="en-US" sz="1600" b="0" i="0" u="none" strike="noStrike" dirty="0">
                          <a:solidFill>
                            <a:srgbClr val="000000"/>
                          </a:solidFill>
                          <a:effectLst/>
                          <a:latin typeface="+mj-lt"/>
                        </a:rPr>
                        <a:t>Rohan</a:t>
                      </a: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3"/>
                  </a:ext>
                </a:extLst>
              </a:tr>
              <a:tr h="307233">
                <a:tc>
                  <a:txBody>
                    <a:bodyPr/>
                    <a:lstStyle/>
                    <a:p>
                      <a:pPr marL="36000" algn="l" fontAlgn="b"/>
                      <a:r>
                        <a:rPr lang="en-US" sz="1600" b="0" i="0" u="none" strike="noStrike" dirty="0">
                          <a:solidFill>
                            <a:srgbClr val="000000"/>
                          </a:solidFill>
                          <a:effectLst/>
                          <a:latin typeface="+mj-lt"/>
                        </a:rPr>
                        <a:t>E00003</a:t>
                      </a:r>
                    </a:p>
                  </a:txBody>
                  <a:tcPr marL="9525" marR="9525" marT="9525" marB="0" anchor="b"/>
                </a:tc>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4"/>
                  </a:ext>
                </a:extLst>
              </a:tr>
              <a:tr h="307233">
                <a:tc>
                  <a:txBody>
                    <a:bodyPr/>
                    <a:lstStyle/>
                    <a:p>
                      <a:pPr marL="36000" algn="l" fontAlgn="b"/>
                      <a:r>
                        <a:rPr lang="en-US" sz="1600" b="0" i="0" u="none" strike="noStrike" dirty="0">
                          <a:solidFill>
                            <a:srgbClr val="000000"/>
                          </a:solidFill>
                          <a:effectLst/>
                          <a:latin typeface="+mj-lt"/>
                        </a:rPr>
                        <a:t>E00004</a:t>
                      </a:r>
                    </a:p>
                  </a:txBody>
                  <a:tcPr marL="9525" marR="9525" marT="9525" marB="0" anchor="b"/>
                </a:tc>
                <a:tc>
                  <a:txBody>
                    <a:bodyPr/>
                    <a:lstStyle/>
                    <a:p>
                      <a:pPr marL="36000" algn="l" fontAlgn="b"/>
                      <a:r>
                        <a:rPr lang="en-US" sz="1600" b="0" i="0" u="none" strike="noStrike" dirty="0">
                          <a:solidFill>
                            <a:srgbClr val="000000"/>
                          </a:solidFill>
                          <a:effectLst/>
                          <a:latin typeface="+mj-lt"/>
                        </a:rPr>
                        <a:t>Milan</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5"/>
                  </a:ext>
                </a:extLst>
              </a:tr>
              <a:tr h="307233">
                <a:tc>
                  <a:txBody>
                    <a:bodyPr/>
                    <a:lstStyle/>
                    <a:p>
                      <a:pPr marL="36000" algn="l" fontAlgn="b"/>
                      <a:r>
                        <a:rPr lang="en-US" sz="1600" b="0" i="0" u="none" strike="noStrike" dirty="0">
                          <a:solidFill>
                            <a:srgbClr val="000000"/>
                          </a:solidFill>
                          <a:effectLst/>
                          <a:latin typeface="+mj-lt"/>
                        </a:rPr>
                        <a:t>E00005</a:t>
                      </a: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6"/>
                  </a:ext>
                </a:extLst>
              </a:tr>
              <a:tr h="307233">
                <a:tc>
                  <a:txBody>
                    <a:bodyPr/>
                    <a:lstStyle/>
                    <a:p>
                      <a:pPr marL="36000" algn="l" fontAlgn="b"/>
                      <a:r>
                        <a:rPr lang="en-US" sz="1600" b="0" i="0" u="none" strike="noStrike" dirty="0">
                          <a:solidFill>
                            <a:srgbClr val="000000"/>
                          </a:solidFill>
                          <a:effectLst/>
                          <a:latin typeface="+mj-lt"/>
                        </a:rPr>
                        <a:t>E00006</a:t>
                      </a:r>
                    </a:p>
                  </a:txBody>
                  <a:tcPr marL="9525" marR="9525" marT="9525" marB="0" anchor="b"/>
                </a:tc>
                <a:tc>
                  <a:txBody>
                    <a:bodyPr/>
                    <a:lstStyle/>
                    <a:p>
                      <a:pPr marL="36000" algn="l" fontAlgn="b"/>
                      <a:r>
                        <a:rPr lang="en-US" sz="1600" b="0" i="0" u="none" strike="noStrike" dirty="0" err="1">
                          <a:solidFill>
                            <a:srgbClr val="000000"/>
                          </a:solidFill>
                          <a:effectLst/>
                          <a:latin typeface="+mj-lt"/>
                        </a:rPr>
                        <a:t>Anjana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E00003</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16" name="Table 15">
            <a:extLst>
              <a:ext uri="{FF2B5EF4-FFF2-40B4-BE49-F238E27FC236}">
                <a16:creationId xmlns:a16="http://schemas.microsoft.com/office/drawing/2014/main" id="{4C66D134-9073-C6EE-358C-14DC93B29EE5}"/>
              </a:ext>
            </a:extLst>
          </p:cNvPr>
          <p:cNvGraphicFramePr>
            <a:graphicFrameLocks noGrp="1"/>
          </p:cNvGraphicFramePr>
          <p:nvPr/>
        </p:nvGraphicFramePr>
        <p:xfrm>
          <a:off x="9189180" y="3428999"/>
          <a:ext cx="2513255" cy="2506631"/>
        </p:xfrm>
        <a:graphic>
          <a:graphicData uri="http://schemas.openxmlformats.org/drawingml/2006/table">
            <a:tbl>
              <a:tblPr bandRow="1">
                <a:tableStyleId>{073A0DAA-6AF3-43AB-8588-CEC1D06C72B9}</a:tableStyleId>
              </a:tblPr>
              <a:tblGrid>
                <a:gridCol w="798756">
                  <a:extLst>
                    <a:ext uri="{9D8B030D-6E8A-4147-A177-3AD203B41FA5}">
                      <a16:colId xmlns:a16="http://schemas.microsoft.com/office/drawing/2014/main" val="20000"/>
                    </a:ext>
                  </a:extLst>
                </a:gridCol>
                <a:gridCol w="823081">
                  <a:extLst>
                    <a:ext uri="{9D8B030D-6E8A-4147-A177-3AD203B41FA5}">
                      <a16:colId xmlns:a16="http://schemas.microsoft.com/office/drawing/2014/main" val="20001"/>
                    </a:ext>
                  </a:extLst>
                </a:gridCol>
                <a:gridCol w="891418">
                  <a:extLst>
                    <a:ext uri="{9D8B030D-6E8A-4147-A177-3AD203B41FA5}">
                      <a16:colId xmlns:a16="http://schemas.microsoft.com/office/drawing/2014/main" val="20002"/>
                    </a:ext>
                  </a:extLst>
                </a:gridCol>
              </a:tblGrid>
              <a:tr h="307233">
                <a:tc gridSpan="3">
                  <a:txBody>
                    <a:bodyPr/>
                    <a:lstStyle/>
                    <a:p>
                      <a:pPr marL="36000" algn="l" fontAlgn="b"/>
                      <a:r>
                        <a:rPr lang="en-US" sz="1600" b="1" i="0" u="none" strike="noStrike" dirty="0">
                          <a:solidFill>
                            <a:srgbClr val="000000"/>
                          </a:solidFill>
                          <a:effectLst/>
                          <a:latin typeface="+mn-lt"/>
                        </a:rPr>
                        <a:t>Employee m</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56000">
                <a:tc>
                  <a:txBody>
                    <a:bodyPr/>
                    <a:lstStyle/>
                    <a:p>
                      <a:pPr marL="36000" algn="l" fontAlgn="b"/>
                      <a:r>
                        <a:rPr lang="en-US" sz="1600" b="1" i="0" u="none" strike="noStrike" dirty="0" err="1">
                          <a:solidFill>
                            <a:srgbClr val="FFFFFF"/>
                          </a:solidFill>
                          <a:effectLst/>
                          <a:latin typeface="+mj-lt"/>
                        </a:rPr>
                        <a:t>EmpNo</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MngrNo</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07233">
                <a:tc>
                  <a:txBody>
                    <a:bodyPr/>
                    <a:lstStyle/>
                    <a:p>
                      <a:pPr marL="36000" algn="l" fontAlgn="b"/>
                      <a:r>
                        <a:rPr lang="en-US" sz="1600" b="0" i="0" u="none" strike="noStrike" dirty="0">
                          <a:solidFill>
                            <a:srgbClr val="000000"/>
                          </a:solidFill>
                          <a:effectLst/>
                          <a:latin typeface="+mj-lt"/>
                        </a:rPr>
                        <a:t>E00001</a:t>
                      </a:r>
                    </a:p>
                  </a:txBody>
                  <a:tcPr marL="9525" marR="9525" marT="9525" marB="0" anchor="b"/>
                </a:tc>
                <a:tc>
                  <a:txBody>
                    <a:bodyPr/>
                    <a:lstStyle/>
                    <a:p>
                      <a:pPr marL="36000" algn="l" fontAlgn="b"/>
                      <a:r>
                        <a:rPr lang="en-US" sz="1600" b="0" i="0" u="none" strike="noStrike" dirty="0" err="1">
                          <a:solidFill>
                            <a:srgbClr val="000000"/>
                          </a:solidFill>
                          <a:effectLst/>
                          <a:latin typeface="+mj-lt"/>
                        </a:rPr>
                        <a:t>Tarun</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E00002</a:t>
                      </a:r>
                    </a:p>
                  </a:txBody>
                  <a:tcPr marL="9525" marR="9525" marT="9525" marB="0" anchor="b"/>
                </a:tc>
                <a:extLst>
                  <a:ext uri="{0D108BD9-81ED-4DB2-BD59-A6C34878D82A}">
                    <a16:rowId xmlns:a16="http://schemas.microsoft.com/office/drawing/2014/main" val="10002"/>
                  </a:ext>
                </a:extLst>
              </a:tr>
              <a:tr h="307233">
                <a:tc>
                  <a:txBody>
                    <a:bodyPr/>
                    <a:lstStyle/>
                    <a:p>
                      <a:pPr marL="3600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j-lt"/>
                        </a:rPr>
                        <a:t>E00002</a:t>
                      </a:r>
                    </a:p>
                  </a:txBody>
                  <a:tcPr marL="9525" marR="9525" marT="9525" marB="0" anchor="b"/>
                </a:tc>
                <a:tc>
                  <a:txBody>
                    <a:bodyPr/>
                    <a:lstStyle/>
                    <a:p>
                      <a:pPr marL="36000" algn="l" fontAlgn="b"/>
                      <a:r>
                        <a:rPr lang="en-US" sz="1600" b="0" i="0" u="none" strike="noStrike" dirty="0">
                          <a:solidFill>
                            <a:srgbClr val="000000"/>
                          </a:solidFill>
                          <a:effectLst/>
                          <a:latin typeface="+mj-lt"/>
                        </a:rPr>
                        <a:t>Rohan</a:t>
                      </a: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3"/>
                  </a:ext>
                </a:extLst>
              </a:tr>
              <a:tr h="307233">
                <a:tc>
                  <a:txBody>
                    <a:bodyPr/>
                    <a:lstStyle/>
                    <a:p>
                      <a:pPr marL="36000" algn="l" fontAlgn="b"/>
                      <a:r>
                        <a:rPr lang="en-US" sz="1600" b="0" i="0" u="none" strike="noStrike" dirty="0">
                          <a:solidFill>
                            <a:srgbClr val="000000"/>
                          </a:solidFill>
                          <a:effectLst/>
                          <a:latin typeface="+mj-lt"/>
                        </a:rPr>
                        <a:t>E00003</a:t>
                      </a:r>
                    </a:p>
                  </a:txBody>
                  <a:tcPr marL="9525" marR="9525" marT="9525" marB="0" anchor="b"/>
                </a:tc>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4"/>
                  </a:ext>
                </a:extLst>
              </a:tr>
              <a:tr h="307233">
                <a:tc>
                  <a:txBody>
                    <a:bodyPr/>
                    <a:lstStyle/>
                    <a:p>
                      <a:pPr marL="36000" algn="l" fontAlgn="b"/>
                      <a:r>
                        <a:rPr lang="en-US" sz="1600" b="0" i="0" u="none" strike="noStrike" dirty="0">
                          <a:solidFill>
                            <a:srgbClr val="000000"/>
                          </a:solidFill>
                          <a:effectLst/>
                          <a:latin typeface="+mj-lt"/>
                        </a:rPr>
                        <a:t>E00004</a:t>
                      </a:r>
                    </a:p>
                  </a:txBody>
                  <a:tcPr marL="9525" marR="9525" marT="9525" marB="0" anchor="b"/>
                </a:tc>
                <a:tc>
                  <a:txBody>
                    <a:bodyPr/>
                    <a:lstStyle/>
                    <a:p>
                      <a:pPr marL="36000" algn="l" fontAlgn="b"/>
                      <a:r>
                        <a:rPr lang="en-US" sz="1600" b="0" i="0" u="none" strike="noStrike" dirty="0">
                          <a:solidFill>
                            <a:srgbClr val="000000"/>
                          </a:solidFill>
                          <a:effectLst/>
                          <a:latin typeface="+mj-lt"/>
                        </a:rPr>
                        <a:t>Milan</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5"/>
                  </a:ext>
                </a:extLst>
              </a:tr>
              <a:tr h="307233">
                <a:tc>
                  <a:txBody>
                    <a:bodyPr/>
                    <a:lstStyle/>
                    <a:p>
                      <a:pPr marL="36000" algn="l" fontAlgn="b"/>
                      <a:r>
                        <a:rPr lang="en-US" sz="1600" b="0" i="0" u="none" strike="noStrike" dirty="0">
                          <a:solidFill>
                            <a:srgbClr val="000000"/>
                          </a:solidFill>
                          <a:effectLst/>
                          <a:latin typeface="+mj-lt"/>
                        </a:rPr>
                        <a:t>E00005</a:t>
                      </a: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6"/>
                  </a:ext>
                </a:extLst>
              </a:tr>
              <a:tr h="307233">
                <a:tc>
                  <a:txBody>
                    <a:bodyPr/>
                    <a:lstStyle/>
                    <a:p>
                      <a:pPr marL="36000" algn="l" fontAlgn="b"/>
                      <a:r>
                        <a:rPr lang="en-US" sz="1600" b="0" i="0" u="none" strike="noStrike" dirty="0">
                          <a:solidFill>
                            <a:srgbClr val="000000"/>
                          </a:solidFill>
                          <a:effectLst/>
                          <a:latin typeface="+mj-lt"/>
                        </a:rPr>
                        <a:t>E00006</a:t>
                      </a:r>
                    </a:p>
                  </a:txBody>
                  <a:tcPr marL="9525" marR="9525" marT="9525" marB="0" anchor="b"/>
                </a:tc>
                <a:tc>
                  <a:txBody>
                    <a:bodyPr/>
                    <a:lstStyle/>
                    <a:p>
                      <a:pPr marL="36000" algn="l" fontAlgn="b"/>
                      <a:r>
                        <a:rPr lang="en-US" sz="1600" b="0" i="0" u="none" strike="noStrike" dirty="0" err="1">
                          <a:solidFill>
                            <a:srgbClr val="000000"/>
                          </a:solidFill>
                          <a:effectLst/>
                          <a:latin typeface="+mj-lt"/>
                        </a:rPr>
                        <a:t>Anjana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E00003</a:t>
                      </a:r>
                    </a:p>
                  </a:txBody>
                  <a:tcPr marL="9525" marR="9525" marT="9525" marB="0" anchor="b"/>
                </a:tc>
                <a:extLst>
                  <a:ext uri="{0D108BD9-81ED-4DB2-BD59-A6C34878D82A}">
                    <a16:rowId xmlns:a16="http://schemas.microsoft.com/office/drawing/2014/main" val="10007"/>
                  </a:ext>
                </a:extLst>
              </a:tr>
            </a:tbl>
          </a:graphicData>
        </a:graphic>
      </p:graphicFrame>
      <p:sp>
        <p:nvSpPr>
          <p:cNvPr id="31" name="Rectangle 30">
            <a:extLst>
              <a:ext uri="{FF2B5EF4-FFF2-40B4-BE49-F238E27FC236}">
                <a16:creationId xmlns:a16="http://schemas.microsoft.com/office/drawing/2014/main" id="{A0ACAF8C-369C-A145-83BF-E46D4740D248}"/>
              </a:ext>
            </a:extLst>
          </p:cNvPr>
          <p:cNvSpPr/>
          <p:nvPr/>
        </p:nvSpPr>
        <p:spPr>
          <a:xfrm>
            <a:off x="8131139" y="4113067"/>
            <a:ext cx="844587" cy="270674"/>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32" name="Rectangle 31">
            <a:extLst>
              <a:ext uri="{FF2B5EF4-FFF2-40B4-BE49-F238E27FC236}">
                <a16:creationId xmlns:a16="http://schemas.microsoft.com/office/drawing/2014/main" id="{53D88CB7-ADA7-A4CA-8508-AEE07B3A55B1}"/>
              </a:ext>
            </a:extLst>
          </p:cNvPr>
          <p:cNvSpPr/>
          <p:nvPr/>
        </p:nvSpPr>
        <p:spPr>
          <a:xfrm>
            <a:off x="9198416" y="4411639"/>
            <a:ext cx="779573" cy="318447"/>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graphicFrame>
        <p:nvGraphicFramePr>
          <p:cNvPr id="33" name="Table 32">
            <a:extLst>
              <a:ext uri="{FF2B5EF4-FFF2-40B4-BE49-F238E27FC236}">
                <a16:creationId xmlns:a16="http://schemas.microsoft.com/office/drawing/2014/main" id="{425264AB-1256-8490-40AF-E67E2F1BC110}"/>
              </a:ext>
            </a:extLst>
          </p:cNvPr>
          <p:cNvGraphicFramePr>
            <a:graphicFrameLocks noGrp="1"/>
          </p:cNvGraphicFramePr>
          <p:nvPr/>
        </p:nvGraphicFramePr>
        <p:xfrm>
          <a:off x="10153593" y="1438986"/>
          <a:ext cx="1865555" cy="937966"/>
        </p:xfrm>
        <a:graphic>
          <a:graphicData uri="http://schemas.openxmlformats.org/drawingml/2006/table">
            <a:tbl>
              <a:tblPr bandRow="1">
                <a:tableStyleId>{073A0DAA-6AF3-43AB-8588-CEC1D06C72B9}</a:tableStyleId>
              </a:tblPr>
              <a:tblGrid>
                <a:gridCol w="918787">
                  <a:extLst>
                    <a:ext uri="{9D8B030D-6E8A-4147-A177-3AD203B41FA5}">
                      <a16:colId xmlns:a16="http://schemas.microsoft.com/office/drawing/2014/main" val="73574091"/>
                    </a:ext>
                  </a:extLst>
                </a:gridCol>
                <a:gridCol w="946768">
                  <a:extLst>
                    <a:ext uri="{9D8B030D-6E8A-4147-A177-3AD203B41FA5}">
                      <a16:colId xmlns:a16="http://schemas.microsoft.com/office/drawing/2014/main" val="3665758325"/>
                    </a:ext>
                  </a:extLst>
                </a:gridCol>
              </a:tblGrid>
              <a:tr h="296944">
                <a:tc gridSpan="2">
                  <a:txBody>
                    <a:bodyPr/>
                    <a:lstStyle/>
                    <a:p>
                      <a:pPr marL="36000" algn="l" fontAlgn="b"/>
                      <a:r>
                        <a:rPr lang="en-US" sz="1600" b="1" i="0" u="none" strike="noStrike" dirty="0">
                          <a:solidFill>
                            <a:srgbClr val="000000"/>
                          </a:solidFill>
                          <a:effectLst/>
                          <a:latin typeface="+mj-lt"/>
                        </a:rPr>
                        <a:t>Output: Employee</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3698873818"/>
                  </a:ext>
                </a:extLst>
              </a:tr>
              <a:tr h="344078">
                <a:tc>
                  <a:txBody>
                    <a:bodyPr/>
                    <a:lstStyle/>
                    <a:p>
                      <a:pPr marL="36000" algn="l" fontAlgn="b"/>
                      <a:r>
                        <a:rPr lang="en-US" sz="1600" b="1" i="0" u="none" strike="noStrike" dirty="0">
                          <a:solidFill>
                            <a:srgbClr val="FFFFFF"/>
                          </a:solidFill>
                          <a:effectLst/>
                          <a:latin typeface="+mj-lt"/>
                        </a:rPr>
                        <a:t>Employee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Manager</a:t>
                      </a:r>
                    </a:p>
                  </a:txBody>
                  <a:tcPr marL="9525" marR="9525" marT="9525" marB="0" anchor="b">
                    <a:solidFill>
                      <a:schemeClr val="tx1"/>
                    </a:solidFill>
                  </a:tcPr>
                </a:tc>
                <a:extLst>
                  <a:ext uri="{0D108BD9-81ED-4DB2-BD59-A6C34878D82A}">
                    <a16:rowId xmlns:a16="http://schemas.microsoft.com/office/drawing/2014/main" val="1532699653"/>
                  </a:ext>
                </a:extLst>
              </a:tr>
              <a:tr h="296944">
                <a:tc>
                  <a:txBody>
                    <a:bodyPr/>
                    <a:lstStyle/>
                    <a:p>
                      <a:pPr marL="36000" algn="l" fontAlgn="b"/>
                      <a:r>
                        <a:rPr lang="en-US" sz="1600" b="0" i="0" u="none" strike="noStrike" dirty="0" err="1">
                          <a:solidFill>
                            <a:srgbClr val="000000"/>
                          </a:solidFill>
                          <a:effectLst/>
                          <a:latin typeface="+mj-lt"/>
                        </a:rPr>
                        <a:t>Tarun</a:t>
                      </a:r>
                      <a:endParaRPr lang="en-US" sz="1600" b="0" i="0" u="none" strike="noStrike" dirty="0">
                        <a:solidFill>
                          <a:srgbClr val="000000"/>
                        </a:solidFill>
                        <a:effectLst/>
                        <a:latin typeface="+mj-lt"/>
                      </a:endParaRPr>
                    </a:p>
                  </a:txBody>
                  <a:tcPr marL="9525" marR="9525" marT="9525" marB="0" anchor="b"/>
                </a:tc>
                <a:tc>
                  <a:txBody>
                    <a:bodyPr/>
                    <a:lstStyle/>
                    <a:p>
                      <a:pPr marL="3600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j-lt"/>
                        </a:rPr>
                        <a:t>Rohan</a:t>
                      </a:r>
                    </a:p>
                  </a:txBody>
                  <a:tcPr marL="9525" marR="9525" marT="9525" marB="0" anchor="b"/>
                </a:tc>
                <a:extLst>
                  <a:ext uri="{0D108BD9-81ED-4DB2-BD59-A6C34878D82A}">
                    <a16:rowId xmlns:a16="http://schemas.microsoft.com/office/drawing/2014/main" val="4171987196"/>
                  </a:ext>
                </a:extLst>
              </a:tr>
            </a:tbl>
          </a:graphicData>
        </a:graphic>
      </p:graphicFrame>
      <p:sp>
        <p:nvSpPr>
          <p:cNvPr id="34" name="Rectangle 33">
            <a:extLst>
              <a:ext uri="{FF2B5EF4-FFF2-40B4-BE49-F238E27FC236}">
                <a16:creationId xmlns:a16="http://schemas.microsoft.com/office/drawing/2014/main" id="{66CA6061-7619-C1D6-165D-8251DA55777A}"/>
              </a:ext>
            </a:extLst>
          </p:cNvPr>
          <p:cNvSpPr/>
          <p:nvPr/>
        </p:nvSpPr>
        <p:spPr>
          <a:xfrm>
            <a:off x="8122462" y="4435525"/>
            <a:ext cx="844587" cy="270674"/>
          </a:xfrm>
          <a:prstGeom prst="rect">
            <a:avLst/>
          </a:prstGeom>
          <a:noFill/>
          <a:ln w="25400" cap="flat" cmpd="sng" algn="ctr">
            <a:solidFill>
              <a:srgbClr val="FF0000"/>
            </a:solidFill>
            <a:prstDash val="solid"/>
          </a:ln>
          <a:effectLst/>
        </p:spPr>
        <p:txBody>
          <a:bodyPr rtlCol="0" anchor="ctr"/>
          <a:lstStyle/>
          <a:p>
            <a:pPr algn="ctr"/>
            <a:endParaRPr lang="en-US" kern="0">
              <a:solidFill>
                <a:prstClr val="black"/>
              </a:solidFill>
              <a:latin typeface="Calibri"/>
            </a:endParaRPr>
          </a:p>
        </p:txBody>
      </p:sp>
      <p:sp>
        <p:nvSpPr>
          <p:cNvPr id="35" name="Rectangle 34">
            <a:extLst>
              <a:ext uri="{FF2B5EF4-FFF2-40B4-BE49-F238E27FC236}">
                <a16:creationId xmlns:a16="http://schemas.microsoft.com/office/drawing/2014/main" id="{A6B5C160-A2F7-0325-F80E-DD09401B770C}"/>
              </a:ext>
            </a:extLst>
          </p:cNvPr>
          <p:cNvSpPr/>
          <p:nvPr/>
        </p:nvSpPr>
        <p:spPr>
          <a:xfrm>
            <a:off x="9165908" y="5365851"/>
            <a:ext cx="844587" cy="270674"/>
          </a:xfrm>
          <a:prstGeom prst="rect">
            <a:avLst/>
          </a:prstGeom>
          <a:noFill/>
          <a:ln w="25400" cap="flat" cmpd="sng" algn="ctr">
            <a:solidFill>
              <a:srgbClr val="FF0000"/>
            </a:solidFill>
            <a:prstDash val="solid"/>
          </a:ln>
          <a:effectLst/>
        </p:spPr>
        <p:txBody>
          <a:bodyPr rtlCol="0" anchor="ctr"/>
          <a:lstStyle/>
          <a:p>
            <a:pPr algn="ctr"/>
            <a:endParaRPr lang="en-US" kern="0">
              <a:solidFill>
                <a:prstClr val="black"/>
              </a:solidFill>
              <a:latin typeface="Calibri"/>
            </a:endParaRPr>
          </a:p>
        </p:txBody>
      </p:sp>
      <p:graphicFrame>
        <p:nvGraphicFramePr>
          <p:cNvPr id="36" name="Table 35">
            <a:extLst>
              <a:ext uri="{FF2B5EF4-FFF2-40B4-BE49-F238E27FC236}">
                <a16:creationId xmlns:a16="http://schemas.microsoft.com/office/drawing/2014/main" id="{FE445A14-B7AB-D705-D9B6-3EC267B3E2E6}"/>
              </a:ext>
            </a:extLst>
          </p:cNvPr>
          <p:cNvGraphicFramePr>
            <a:graphicFrameLocks noGrp="1"/>
          </p:cNvGraphicFramePr>
          <p:nvPr/>
        </p:nvGraphicFramePr>
        <p:xfrm>
          <a:off x="10153593" y="2386982"/>
          <a:ext cx="1865555" cy="296944"/>
        </p:xfrm>
        <a:graphic>
          <a:graphicData uri="http://schemas.openxmlformats.org/drawingml/2006/table">
            <a:tbl>
              <a:tblPr bandRow="1">
                <a:tableStyleId>{073A0DAA-6AF3-43AB-8588-CEC1D06C72B9}</a:tableStyleId>
              </a:tblPr>
              <a:tblGrid>
                <a:gridCol w="918787">
                  <a:extLst>
                    <a:ext uri="{9D8B030D-6E8A-4147-A177-3AD203B41FA5}">
                      <a16:colId xmlns:a16="http://schemas.microsoft.com/office/drawing/2014/main" val="4278800814"/>
                    </a:ext>
                  </a:extLst>
                </a:gridCol>
                <a:gridCol w="946768">
                  <a:extLst>
                    <a:ext uri="{9D8B030D-6E8A-4147-A177-3AD203B41FA5}">
                      <a16:colId xmlns:a16="http://schemas.microsoft.com/office/drawing/2014/main" val="3893325408"/>
                    </a:ext>
                  </a:extLst>
                </a:gridCol>
              </a:tblGrid>
              <a:tr h="296944">
                <a:tc>
                  <a:txBody>
                    <a:bodyPr/>
                    <a:lstStyle/>
                    <a:p>
                      <a:pPr marL="36000" algn="l" fontAlgn="b"/>
                      <a:r>
                        <a:rPr lang="en-US" sz="1600" b="0" i="0" u="none" strike="noStrike" dirty="0">
                          <a:solidFill>
                            <a:srgbClr val="000000"/>
                          </a:solidFill>
                          <a:effectLst/>
                          <a:latin typeface="+mj-lt"/>
                        </a:rPr>
                        <a:t>Rohan</a:t>
                      </a: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extLst>
                  <a:ext uri="{0D108BD9-81ED-4DB2-BD59-A6C34878D82A}">
                    <a16:rowId xmlns:a16="http://schemas.microsoft.com/office/drawing/2014/main" val="4144672798"/>
                  </a:ext>
                </a:extLst>
              </a:tr>
            </a:tbl>
          </a:graphicData>
        </a:graphic>
      </p:graphicFrame>
      <p:sp>
        <p:nvSpPr>
          <p:cNvPr id="37" name="Rectangle 36">
            <a:extLst>
              <a:ext uri="{FF2B5EF4-FFF2-40B4-BE49-F238E27FC236}">
                <a16:creationId xmlns:a16="http://schemas.microsoft.com/office/drawing/2014/main" id="{D11FDA22-7AE7-6377-A69B-388F46D8EF85}"/>
              </a:ext>
            </a:extLst>
          </p:cNvPr>
          <p:cNvSpPr/>
          <p:nvPr/>
        </p:nvSpPr>
        <p:spPr>
          <a:xfrm>
            <a:off x="8122461" y="4753675"/>
            <a:ext cx="844587" cy="270674"/>
          </a:xfrm>
          <a:prstGeom prst="rect">
            <a:avLst/>
          </a:prstGeom>
          <a:noFill/>
          <a:ln w="25400" cap="flat" cmpd="sng" algn="ctr">
            <a:solidFill>
              <a:srgbClr val="00B050"/>
            </a:solidFill>
            <a:prstDash val="solid"/>
          </a:ln>
          <a:effectLst/>
        </p:spPr>
        <p:txBody>
          <a:bodyPr rtlCol="0" anchor="ctr"/>
          <a:lstStyle/>
          <a:p>
            <a:pPr algn="ctr"/>
            <a:endParaRPr lang="en-US" kern="0">
              <a:solidFill>
                <a:prstClr val="black"/>
              </a:solidFill>
              <a:latin typeface="Calibri"/>
            </a:endParaRPr>
          </a:p>
        </p:txBody>
      </p:sp>
      <p:graphicFrame>
        <p:nvGraphicFramePr>
          <p:cNvPr id="38" name="Table 37">
            <a:extLst>
              <a:ext uri="{FF2B5EF4-FFF2-40B4-BE49-F238E27FC236}">
                <a16:creationId xmlns:a16="http://schemas.microsoft.com/office/drawing/2014/main" id="{61DEF9C0-6CFA-495B-2C89-CB259EA8101B}"/>
              </a:ext>
            </a:extLst>
          </p:cNvPr>
          <p:cNvGraphicFramePr>
            <a:graphicFrameLocks noGrp="1"/>
          </p:cNvGraphicFramePr>
          <p:nvPr/>
        </p:nvGraphicFramePr>
        <p:xfrm>
          <a:off x="10153592" y="2683926"/>
          <a:ext cx="1865555" cy="296944"/>
        </p:xfrm>
        <a:graphic>
          <a:graphicData uri="http://schemas.openxmlformats.org/drawingml/2006/table">
            <a:tbl>
              <a:tblPr bandRow="1">
                <a:tableStyleId>{073A0DAA-6AF3-43AB-8588-CEC1D06C72B9}</a:tableStyleId>
              </a:tblPr>
              <a:tblGrid>
                <a:gridCol w="918787">
                  <a:extLst>
                    <a:ext uri="{9D8B030D-6E8A-4147-A177-3AD203B41FA5}">
                      <a16:colId xmlns:a16="http://schemas.microsoft.com/office/drawing/2014/main" val="784908482"/>
                    </a:ext>
                  </a:extLst>
                </a:gridCol>
                <a:gridCol w="946768">
                  <a:extLst>
                    <a:ext uri="{9D8B030D-6E8A-4147-A177-3AD203B41FA5}">
                      <a16:colId xmlns:a16="http://schemas.microsoft.com/office/drawing/2014/main" val="1608099959"/>
                    </a:ext>
                  </a:extLst>
                </a:gridCol>
              </a:tblGrid>
              <a:tr h="296944">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extLst>
                  <a:ext uri="{0D108BD9-81ED-4DB2-BD59-A6C34878D82A}">
                    <a16:rowId xmlns:a16="http://schemas.microsoft.com/office/drawing/2014/main" val="1922248830"/>
                  </a:ext>
                </a:extLst>
              </a:tr>
            </a:tbl>
          </a:graphicData>
        </a:graphic>
      </p:graphicFrame>
      <p:sp>
        <p:nvSpPr>
          <p:cNvPr id="39" name="Rectangle 38">
            <a:extLst>
              <a:ext uri="{FF2B5EF4-FFF2-40B4-BE49-F238E27FC236}">
                <a16:creationId xmlns:a16="http://schemas.microsoft.com/office/drawing/2014/main" id="{40D31410-A109-696F-01EA-3EE5DBF84F38}"/>
              </a:ext>
            </a:extLst>
          </p:cNvPr>
          <p:cNvSpPr/>
          <p:nvPr/>
        </p:nvSpPr>
        <p:spPr>
          <a:xfrm>
            <a:off x="8131139" y="5664956"/>
            <a:ext cx="844587" cy="270674"/>
          </a:xfrm>
          <a:prstGeom prst="rect">
            <a:avLst/>
          </a:prstGeom>
          <a:noFill/>
          <a:ln w="25400" cap="flat" cmpd="sng" algn="ctr">
            <a:solidFill>
              <a:schemeClr val="accent6">
                <a:lumMod val="75000"/>
              </a:schemeClr>
            </a:solidFill>
            <a:prstDash val="solid"/>
          </a:ln>
          <a:effectLst/>
        </p:spPr>
        <p:txBody>
          <a:bodyPr rtlCol="0" anchor="ctr"/>
          <a:lstStyle/>
          <a:p>
            <a:pPr algn="ctr"/>
            <a:endParaRPr lang="en-US" kern="0">
              <a:solidFill>
                <a:prstClr val="black"/>
              </a:solidFill>
              <a:latin typeface="Calibri"/>
            </a:endParaRPr>
          </a:p>
        </p:txBody>
      </p:sp>
      <p:sp>
        <p:nvSpPr>
          <p:cNvPr id="40" name="Rectangle 39">
            <a:extLst>
              <a:ext uri="{FF2B5EF4-FFF2-40B4-BE49-F238E27FC236}">
                <a16:creationId xmlns:a16="http://schemas.microsoft.com/office/drawing/2014/main" id="{1D153B31-186A-D1B9-0DF1-B5636092D263}"/>
              </a:ext>
            </a:extLst>
          </p:cNvPr>
          <p:cNvSpPr/>
          <p:nvPr/>
        </p:nvSpPr>
        <p:spPr>
          <a:xfrm>
            <a:off x="9152992" y="4777294"/>
            <a:ext cx="844587" cy="270674"/>
          </a:xfrm>
          <a:prstGeom prst="rect">
            <a:avLst/>
          </a:prstGeom>
          <a:noFill/>
          <a:ln w="25400" cap="flat" cmpd="sng" algn="ctr">
            <a:solidFill>
              <a:schemeClr val="accent6">
                <a:lumMod val="75000"/>
              </a:schemeClr>
            </a:solidFill>
            <a:prstDash val="solid"/>
          </a:ln>
          <a:effectLst/>
        </p:spPr>
        <p:txBody>
          <a:bodyPr rtlCol="0" anchor="ctr"/>
          <a:lstStyle/>
          <a:p>
            <a:pPr algn="ctr"/>
            <a:endParaRPr lang="en-US" kern="0">
              <a:solidFill>
                <a:prstClr val="black"/>
              </a:solidFill>
              <a:latin typeface="Calibri"/>
            </a:endParaRPr>
          </a:p>
        </p:txBody>
      </p:sp>
      <p:sp>
        <p:nvSpPr>
          <p:cNvPr id="41" name="Rectangle 40">
            <a:extLst>
              <a:ext uri="{FF2B5EF4-FFF2-40B4-BE49-F238E27FC236}">
                <a16:creationId xmlns:a16="http://schemas.microsoft.com/office/drawing/2014/main" id="{2BD4A1A1-4D7C-C92F-18C7-01A8B479977F}"/>
              </a:ext>
            </a:extLst>
          </p:cNvPr>
          <p:cNvSpPr/>
          <p:nvPr/>
        </p:nvSpPr>
        <p:spPr>
          <a:xfrm>
            <a:off x="9166467" y="5369548"/>
            <a:ext cx="844587" cy="270674"/>
          </a:xfrm>
          <a:prstGeom prst="rect">
            <a:avLst/>
          </a:prstGeom>
          <a:noFill/>
          <a:ln w="25400" cap="flat" cmpd="sng" algn="ctr">
            <a:solidFill>
              <a:srgbClr val="00B050"/>
            </a:solidFill>
            <a:prstDash val="solid"/>
          </a:ln>
          <a:effectLst/>
        </p:spPr>
        <p:txBody>
          <a:bodyPr rtlCol="0" anchor="ctr"/>
          <a:lstStyle/>
          <a:p>
            <a:pPr algn="ctr"/>
            <a:endParaRPr lang="en-US" kern="0">
              <a:solidFill>
                <a:prstClr val="black"/>
              </a:solidFill>
              <a:latin typeface="Calibri"/>
            </a:endParaRPr>
          </a:p>
        </p:txBody>
      </p:sp>
    </p:spTree>
    <p:extLst>
      <p:ext uri="{BB962C8B-B14F-4D97-AF65-F5344CB8AC3E}">
        <p14:creationId xmlns:p14="http://schemas.microsoft.com/office/powerpoint/2010/main" val="391310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33"/>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5"/>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36"/>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37"/>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41"/>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38"/>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39"/>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40"/>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1" grpId="0" animBg="1"/>
      <p:bldP spid="32" grpId="0" animBg="1"/>
      <p:bldP spid="34" grpId="0" animBg="1"/>
      <p:bldP spid="35" grpId="0" animBg="1"/>
      <p:bldP spid="37" grpId="0" animBg="1"/>
      <p:bldP spid="39" grpId="0" animBg="1"/>
      <p:bldP spid="40" grpId="0" animBg="1"/>
      <p:bldP spid="4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a:t>
            </a:r>
            <a:endParaRPr lang="en-US" dirty="0"/>
          </a:p>
        </p:txBody>
      </p:sp>
      <p:sp>
        <p:nvSpPr>
          <p:cNvPr id="4" name="Oval 3">
            <a:extLst>
              <a:ext uri="{FF2B5EF4-FFF2-40B4-BE49-F238E27FC236}">
                <a16:creationId xmlns:a16="http://schemas.microsoft.com/office/drawing/2014/main" id="{C30EFB18-E975-4602-8BE9-15B7A732C9A3}"/>
              </a:ext>
            </a:extLst>
          </p:cNvPr>
          <p:cNvSpPr/>
          <p:nvPr/>
        </p:nvSpPr>
        <p:spPr>
          <a:xfrm>
            <a:off x="888725" y="1038586"/>
            <a:ext cx="1143000" cy="1010271"/>
          </a:xfrm>
          <a:prstGeom prst="ellipse">
            <a:avLst/>
          </a:pr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Table1</a:t>
            </a:r>
          </a:p>
        </p:txBody>
      </p:sp>
      <p:sp>
        <p:nvSpPr>
          <p:cNvPr id="5" name="Oval 4">
            <a:extLst>
              <a:ext uri="{FF2B5EF4-FFF2-40B4-BE49-F238E27FC236}">
                <a16:creationId xmlns:a16="http://schemas.microsoft.com/office/drawing/2014/main" id="{4983F359-4093-4394-8F1E-C3394A937B29}"/>
              </a:ext>
            </a:extLst>
          </p:cNvPr>
          <p:cNvSpPr/>
          <p:nvPr/>
        </p:nvSpPr>
        <p:spPr>
          <a:xfrm>
            <a:off x="2137528" y="1047035"/>
            <a:ext cx="1143000" cy="1011600"/>
          </a:xfrm>
          <a:prstGeom prst="ellipse">
            <a:avLst/>
          </a:pr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Table2</a:t>
            </a:r>
          </a:p>
        </p:txBody>
      </p:sp>
      <p:sp>
        <p:nvSpPr>
          <p:cNvPr id="6" name="Right Arrow 39">
            <a:extLst>
              <a:ext uri="{FF2B5EF4-FFF2-40B4-BE49-F238E27FC236}">
                <a16:creationId xmlns:a16="http://schemas.microsoft.com/office/drawing/2014/main" id="{6A46F5F0-DCF9-4AFE-8F4A-25128CAD1C29}"/>
              </a:ext>
            </a:extLst>
          </p:cNvPr>
          <p:cNvSpPr/>
          <p:nvPr/>
        </p:nvSpPr>
        <p:spPr>
          <a:xfrm>
            <a:off x="3484651" y="1371600"/>
            <a:ext cx="429504" cy="283020"/>
          </a:xfrm>
          <a:prstGeom prs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7" name="Left-Right Arrow 40">
            <a:extLst>
              <a:ext uri="{FF2B5EF4-FFF2-40B4-BE49-F238E27FC236}">
                <a16:creationId xmlns:a16="http://schemas.microsoft.com/office/drawing/2014/main" id="{7A7DB33B-0178-4DBB-AEFA-F1C652AA2887}"/>
              </a:ext>
            </a:extLst>
          </p:cNvPr>
          <p:cNvSpPr/>
          <p:nvPr/>
        </p:nvSpPr>
        <p:spPr>
          <a:xfrm rot="8394108">
            <a:off x="3173218" y="2561523"/>
            <a:ext cx="1109793"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8" name="Freeform 54">
            <a:extLst>
              <a:ext uri="{FF2B5EF4-FFF2-40B4-BE49-F238E27FC236}">
                <a16:creationId xmlns:a16="http://schemas.microsoft.com/office/drawing/2014/main" id="{36AFEFDD-BC1E-441E-BAC9-8705C2849AF7}"/>
              </a:ext>
            </a:extLst>
          </p:cNvPr>
          <p:cNvSpPr/>
          <p:nvPr/>
        </p:nvSpPr>
        <p:spPr>
          <a:xfrm>
            <a:off x="4886079" y="1118756"/>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9" name="Freeform 53">
            <a:extLst>
              <a:ext uri="{FF2B5EF4-FFF2-40B4-BE49-F238E27FC236}">
                <a16:creationId xmlns:a16="http://schemas.microsoft.com/office/drawing/2014/main" id="{8046A0C3-7664-4BDE-8E4F-1575D3B46116}"/>
              </a:ext>
            </a:extLst>
          </p:cNvPr>
          <p:cNvSpPr/>
          <p:nvPr/>
        </p:nvSpPr>
        <p:spPr>
          <a:xfrm>
            <a:off x="4320596" y="1044170"/>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0" name="Freeform 52">
            <a:extLst>
              <a:ext uri="{FF2B5EF4-FFF2-40B4-BE49-F238E27FC236}">
                <a16:creationId xmlns:a16="http://schemas.microsoft.com/office/drawing/2014/main" id="{86FE5F2E-6048-4154-99AE-0E8E275C8330}"/>
              </a:ext>
            </a:extLst>
          </p:cNvPr>
          <p:cNvSpPr/>
          <p:nvPr/>
        </p:nvSpPr>
        <p:spPr>
          <a:xfrm>
            <a:off x="5169100" y="1044170"/>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1" name="Left-Right Arrow 20">
            <a:extLst>
              <a:ext uri="{FF2B5EF4-FFF2-40B4-BE49-F238E27FC236}">
                <a16:creationId xmlns:a16="http://schemas.microsoft.com/office/drawing/2014/main" id="{8F91CF62-D5E6-406E-BCBC-E0B7DEE0542D}"/>
              </a:ext>
            </a:extLst>
          </p:cNvPr>
          <p:cNvSpPr/>
          <p:nvPr/>
        </p:nvSpPr>
        <p:spPr>
          <a:xfrm rot="13216632">
            <a:off x="5910083" y="2556369"/>
            <a:ext cx="1106424"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2" name="Left-Right Arrow 21">
            <a:extLst>
              <a:ext uri="{FF2B5EF4-FFF2-40B4-BE49-F238E27FC236}">
                <a16:creationId xmlns:a16="http://schemas.microsoft.com/office/drawing/2014/main" id="{E75DF16F-A888-40AA-960E-012E41E53C81}"/>
              </a:ext>
            </a:extLst>
          </p:cNvPr>
          <p:cNvSpPr/>
          <p:nvPr/>
        </p:nvSpPr>
        <p:spPr>
          <a:xfrm rot="5400000">
            <a:off x="4635194" y="2683685"/>
            <a:ext cx="979426" cy="336456"/>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B6D116D4-945B-4A7B-BC03-365B9E30AA8D}"/>
              </a:ext>
            </a:extLst>
          </p:cNvPr>
          <p:cNvSpPr txBox="1"/>
          <p:nvPr/>
        </p:nvSpPr>
        <p:spPr>
          <a:xfrm>
            <a:off x="1551955" y="3520005"/>
            <a:ext cx="187143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Left Outer Join</a:t>
            </a:r>
          </a:p>
        </p:txBody>
      </p:sp>
      <p:sp>
        <p:nvSpPr>
          <p:cNvPr id="14" name="TextBox 13">
            <a:extLst>
              <a:ext uri="{FF2B5EF4-FFF2-40B4-BE49-F238E27FC236}">
                <a16:creationId xmlns:a16="http://schemas.microsoft.com/office/drawing/2014/main" id="{B51C689C-9F0F-499C-9569-32FC58C03F8E}"/>
              </a:ext>
            </a:extLst>
          </p:cNvPr>
          <p:cNvSpPr txBox="1"/>
          <p:nvPr/>
        </p:nvSpPr>
        <p:spPr>
          <a:xfrm>
            <a:off x="1551955" y="5188803"/>
            <a:ext cx="2213613"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LEFT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p:txBody>
      </p:sp>
      <p:sp>
        <p:nvSpPr>
          <p:cNvPr id="15" name="TextBox 14">
            <a:extLst>
              <a:ext uri="{FF2B5EF4-FFF2-40B4-BE49-F238E27FC236}">
                <a16:creationId xmlns:a16="http://schemas.microsoft.com/office/drawing/2014/main" id="{1674A37E-8A95-4585-A4CD-BA3A02B5040C}"/>
              </a:ext>
            </a:extLst>
          </p:cNvPr>
          <p:cNvSpPr txBox="1"/>
          <p:nvPr/>
        </p:nvSpPr>
        <p:spPr>
          <a:xfrm>
            <a:off x="4295155" y="3514669"/>
            <a:ext cx="187143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Right Outer Join</a:t>
            </a:r>
          </a:p>
        </p:txBody>
      </p:sp>
      <p:sp>
        <p:nvSpPr>
          <p:cNvPr id="16" name="TextBox 15">
            <a:extLst>
              <a:ext uri="{FF2B5EF4-FFF2-40B4-BE49-F238E27FC236}">
                <a16:creationId xmlns:a16="http://schemas.microsoft.com/office/drawing/2014/main" id="{1B3B54D4-13E2-490E-9C2E-DBAB8CAF3CAC}"/>
              </a:ext>
            </a:extLst>
          </p:cNvPr>
          <p:cNvSpPr txBox="1"/>
          <p:nvPr/>
        </p:nvSpPr>
        <p:spPr>
          <a:xfrm>
            <a:off x="4295155" y="5188803"/>
            <a:ext cx="2213613"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RIGHT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p:txBody>
      </p:sp>
      <p:sp>
        <p:nvSpPr>
          <p:cNvPr id="17" name="TextBox 16">
            <a:extLst>
              <a:ext uri="{FF2B5EF4-FFF2-40B4-BE49-F238E27FC236}">
                <a16:creationId xmlns:a16="http://schemas.microsoft.com/office/drawing/2014/main" id="{816CC8EC-65F8-4507-A87E-D7D9856320C1}"/>
              </a:ext>
            </a:extLst>
          </p:cNvPr>
          <p:cNvSpPr txBox="1"/>
          <p:nvPr/>
        </p:nvSpPr>
        <p:spPr>
          <a:xfrm>
            <a:off x="7099585" y="3514669"/>
            <a:ext cx="187143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Full Outer Join</a:t>
            </a:r>
          </a:p>
        </p:txBody>
      </p:sp>
      <p:sp>
        <p:nvSpPr>
          <p:cNvPr id="18" name="TextBox 17">
            <a:extLst>
              <a:ext uri="{FF2B5EF4-FFF2-40B4-BE49-F238E27FC236}">
                <a16:creationId xmlns:a16="http://schemas.microsoft.com/office/drawing/2014/main" id="{F6E515BF-0E5F-4B9C-BA3E-4DFD5307982D}"/>
              </a:ext>
            </a:extLst>
          </p:cNvPr>
          <p:cNvSpPr txBox="1"/>
          <p:nvPr/>
        </p:nvSpPr>
        <p:spPr>
          <a:xfrm>
            <a:off x="7332054" y="5188803"/>
            <a:ext cx="1786271"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FULL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p:txBody>
      </p:sp>
      <p:sp>
        <p:nvSpPr>
          <p:cNvPr id="19" name="Freeform 32">
            <a:extLst>
              <a:ext uri="{FF2B5EF4-FFF2-40B4-BE49-F238E27FC236}">
                <a16:creationId xmlns:a16="http://schemas.microsoft.com/office/drawing/2014/main" id="{FC6AF3AB-CA90-47E8-B4E8-C5D1ABCE760B}"/>
              </a:ext>
            </a:extLst>
          </p:cNvPr>
          <p:cNvSpPr/>
          <p:nvPr/>
        </p:nvSpPr>
        <p:spPr>
          <a:xfrm>
            <a:off x="2193638" y="406578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0" name="Freeform 33">
            <a:extLst>
              <a:ext uri="{FF2B5EF4-FFF2-40B4-BE49-F238E27FC236}">
                <a16:creationId xmlns:a16="http://schemas.microsoft.com/office/drawing/2014/main" id="{0B5651F4-7AE3-4DD9-AB18-C9A75412D353}"/>
              </a:ext>
            </a:extLst>
          </p:cNvPr>
          <p:cNvSpPr/>
          <p:nvPr/>
        </p:nvSpPr>
        <p:spPr>
          <a:xfrm>
            <a:off x="1628155" y="399119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1" name="Freeform 36">
            <a:extLst>
              <a:ext uri="{FF2B5EF4-FFF2-40B4-BE49-F238E27FC236}">
                <a16:creationId xmlns:a16="http://schemas.microsoft.com/office/drawing/2014/main" id="{5A9608C9-B31D-4876-9116-8224402F0F63}"/>
              </a:ext>
            </a:extLst>
          </p:cNvPr>
          <p:cNvSpPr/>
          <p:nvPr/>
        </p:nvSpPr>
        <p:spPr>
          <a:xfrm>
            <a:off x="4509874" y="406578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2" name="Freeform 37">
            <a:extLst>
              <a:ext uri="{FF2B5EF4-FFF2-40B4-BE49-F238E27FC236}">
                <a16:creationId xmlns:a16="http://schemas.microsoft.com/office/drawing/2014/main" id="{9E8038A3-EF7E-48E1-8E91-2203B821309A}"/>
              </a:ext>
            </a:extLst>
          </p:cNvPr>
          <p:cNvSpPr/>
          <p:nvPr/>
        </p:nvSpPr>
        <p:spPr>
          <a:xfrm>
            <a:off x="4792895" y="399119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3" name="Freeform 38">
            <a:extLst>
              <a:ext uri="{FF2B5EF4-FFF2-40B4-BE49-F238E27FC236}">
                <a16:creationId xmlns:a16="http://schemas.microsoft.com/office/drawing/2014/main" id="{826668A9-7964-4098-9DBA-6339E84520C0}"/>
              </a:ext>
            </a:extLst>
          </p:cNvPr>
          <p:cNvSpPr/>
          <p:nvPr/>
        </p:nvSpPr>
        <p:spPr>
          <a:xfrm>
            <a:off x="7729269" y="406578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4" name="Freeform 41">
            <a:extLst>
              <a:ext uri="{FF2B5EF4-FFF2-40B4-BE49-F238E27FC236}">
                <a16:creationId xmlns:a16="http://schemas.microsoft.com/office/drawing/2014/main" id="{0375C6D5-6956-4A2E-A2FD-353108FB16EC}"/>
              </a:ext>
            </a:extLst>
          </p:cNvPr>
          <p:cNvSpPr/>
          <p:nvPr/>
        </p:nvSpPr>
        <p:spPr>
          <a:xfrm>
            <a:off x="7163786" y="399119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5" name="Freeform 42">
            <a:extLst>
              <a:ext uri="{FF2B5EF4-FFF2-40B4-BE49-F238E27FC236}">
                <a16:creationId xmlns:a16="http://schemas.microsoft.com/office/drawing/2014/main" id="{37D2EBBD-B1A2-43F8-9157-F9F79F9FABAD}"/>
              </a:ext>
            </a:extLst>
          </p:cNvPr>
          <p:cNvSpPr/>
          <p:nvPr/>
        </p:nvSpPr>
        <p:spPr>
          <a:xfrm>
            <a:off x="8012290" y="399119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Tree>
    <p:extLst>
      <p:ext uri="{BB962C8B-B14F-4D97-AF65-F5344CB8AC3E}">
        <p14:creationId xmlns:p14="http://schemas.microsoft.com/office/powerpoint/2010/main" val="3334679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4"/>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5"/>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8" grpId="0" animBg="1"/>
      <p:bldP spid="9" grpId="0" animBg="1"/>
      <p:bldP spid="10" grpId="0" animBg="1"/>
      <p:bldP spid="11" grpId="0" animBg="1"/>
      <p:bldP spid="12" grpId="0" animBg="1"/>
      <p:bldP spid="13" grpId="0"/>
      <p:bldP spid="14" grpId="0"/>
      <p:bldP spid="15" grpId="0"/>
      <p:bldP spid="16" grpId="0"/>
      <p:bldP spid="17" grpId="0"/>
      <p:bldP spid="18" grpId="0"/>
      <p:bldP spid="19" grpId="0" animBg="1"/>
      <p:bldP spid="20" grpId="0" animBg="1"/>
      <p:bldP spid="21" grpId="0" animBg="1"/>
      <p:bldP spid="22" grpId="0" animBg="1"/>
      <p:bldP spid="23" grpId="0" animBg="1"/>
      <p:bldP spid="24" grpId="0" animBg="1"/>
      <p:bldP spid="2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4" name="Oval 3">
            <a:extLst>
              <a:ext uri="{FF2B5EF4-FFF2-40B4-BE49-F238E27FC236}">
                <a16:creationId xmlns:a16="http://schemas.microsoft.com/office/drawing/2014/main" id="{89F3EAE5-839D-4A12-9A84-00A167A18158}"/>
              </a:ext>
            </a:extLst>
          </p:cNvPr>
          <p:cNvSpPr/>
          <p:nvPr/>
        </p:nvSpPr>
        <p:spPr>
          <a:xfrm>
            <a:off x="717875" y="1072981"/>
            <a:ext cx="1144800" cy="1011600"/>
          </a:xfrm>
          <a:prstGeom prst="ellipse">
            <a:avLst/>
          </a:pr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Table1</a:t>
            </a:r>
          </a:p>
        </p:txBody>
      </p:sp>
      <p:sp>
        <p:nvSpPr>
          <p:cNvPr id="5" name="Oval 4">
            <a:extLst>
              <a:ext uri="{FF2B5EF4-FFF2-40B4-BE49-F238E27FC236}">
                <a16:creationId xmlns:a16="http://schemas.microsoft.com/office/drawing/2014/main" id="{7FC747D3-F9F0-4B58-8A06-E1587139E017}"/>
              </a:ext>
            </a:extLst>
          </p:cNvPr>
          <p:cNvSpPr/>
          <p:nvPr/>
        </p:nvSpPr>
        <p:spPr>
          <a:xfrm>
            <a:off x="1966678" y="1044169"/>
            <a:ext cx="1144800" cy="1011600"/>
          </a:xfrm>
          <a:prstGeom prst="ellipse">
            <a:avLst/>
          </a:pr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Table2</a:t>
            </a:r>
          </a:p>
        </p:txBody>
      </p:sp>
      <p:sp>
        <p:nvSpPr>
          <p:cNvPr id="6" name="Right Arrow 39">
            <a:extLst>
              <a:ext uri="{FF2B5EF4-FFF2-40B4-BE49-F238E27FC236}">
                <a16:creationId xmlns:a16="http://schemas.microsoft.com/office/drawing/2014/main" id="{3D6F35F1-6532-412E-8D3E-F1711C06AE77}"/>
              </a:ext>
            </a:extLst>
          </p:cNvPr>
          <p:cNvSpPr/>
          <p:nvPr/>
        </p:nvSpPr>
        <p:spPr>
          <a:xfrm>
            <a:off x="3313801" y="1371600"/>
            <a:ext cx="429504" cy="283020"/>
          </a:xfrm>
          <a:prstGeom prs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7" name="Left-Right Arrow 40">
            <a:extLst>
              <a:ext uri="{FF2B5EF4-FFF2-40B4-BE49-F238E27FC236}">
                <a16:creationId xmlns:a16="http://schemas.microsoft.com/office/drawing/2014/main" id="{D842B0B8-2DC7-404A-93D3-FA680826DDE2}"/>
              </a:ext>
            </a:extLst>
          </p:cNvPr>
          <p:cNvSpPr/>
          <p:nvPr/>
        </p:nvSpPr>
        <p:spPr>
          <a:xfrm rot="8394108">
            <a:off x="3002368" y="2561523"/>
            <a:ext cx="1109793"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8" name="Freeform 54">
            <a:extLst>
              <a:ext uri="{FF2B5EF4-FFF2-40B4-BE49-F238E27FC236}">
                <a16:creationId xmlns:a16="http://schemas.microsoft.com/office/drawing/2014/main" id="{157891F3-2189-4734-9DE3-E31577463692}"/>
              </a:ext>
            </a:extLst>
          </p:cNvPr>
          <p:cNvSpPr/>
          <p:nvPr/>
        </p:nvSpPr>
        <p:spPr>
          <a:xfrm>
            <a:off x="4715229" y="1118756"/>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9" name="Freeform 53">
            <a:extLst>
              <a:ext uri="{FF2B5EF4-FFF2-40B4-BE49-F238E27FC236}">
                <a16:creationId xmlns:a16="http://schemas.microsoft.com/office/drawing/2014/main" id="{E5185A54-6C65-4077-9800-6A3F2BD95F36}"/>
              </a:ext>
            </a:extLst>
          </p:cNvPr>
          <p:cNvSpPr/>
          <p:nvPr/>
        </p:nvSpPr>
        <p:spPr>
          <a:xfrm>
            <a:off x="4149746" y="1044170"/>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0" name="Freeform 52">
            <a:extLst>
              <a:ext uri="{FF2B5EF4-FFF2-40B4-BE49-F238E27FC236}">
                <a16:creationId xmlns:a16="http://schemas.microsoft.com/office/drawing/2014/main" id="{843A5673-273C-4667-855B-97A40E894516}"/>
              </a:ext>
            </a:extLst>
          </p:cNvPr>
          <p:cNvSpPr/>
          <p:nvPr/>
        </p:nvSpPr>
        <p:spPr>
          <a:xfrm>
            <a:off x="4998250" y="1044170"/>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1" name="Left-Right Arrow 20">
            <a:extLst>
              <a:ext uri="{FF2B5EF4-FFF2-40B4-BE49-F238E27FC236}">
                <a16:creationId xmlns:a16="http://schemas.microsoft.com/office/drawing/2014/main" id="{27C8B11B-E451-4FFB-843F-37BC0CFF7FFD}"/>
              </a:ext>
            </a:extLst>
          </p:cNvPr>
          <p:cNvSpPr/>
          <p:nvPr/>
        </p:nvSpPr>
        <p:spPr>
          <a:xfrm rot="13216632">
            <a:off x="5739233" y="2556369"/>
            <a:ext cx="1106424"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2" name="Left-Right Arrow 21">
            <a:extLst>
              <a:ext uri="{FF2B5EF4-FFF2-40B4-BE49-F238E27FC236}">
                <a16:creationId xmlns:a16="http://schemas.microsoft.com/office/drawing/2014/main" id="{B0BD0BCC-814D-4DDC-9EAA-7AC2907E34E5}"/>
              </a:ext>
            </a:extLst>
          </p:cNvPr>
          <p:cNvSpPr/>
          <p:nvPr/>
        </p:nvSpPr>
        <p:spPr>
          <a:xfrm rot="5400000">
            <a:off x="4464344" y="2683685"/>
            <a:ext cx="979426" cy="336456"/>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32252407-D670-4CBF-924F-0908F0A91E6E}"/>
              </a:ext>
            </a:extLst>
          </p:cNvPr>
          <p:cNvSpPr txBox="1"/>
          <p:nvPr/>
        </p:nvSpPr>
        <p:spPr>
          <a:xfrm>
            <a:off x="1381105" y="3338810"/>
            <a:ext cx="1871431"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Unmatched Rows From Left Table</a:t>
            </a:r>
          </a:p>
        </p:txBody>
      </p:sp>
      <p:sp>
        <p:nvSpPr>
          <p:cNvPr id="14" name="Freeform 23">
            <a:extLst>
              <a:ext uri="{FF2B5EF4-FFF2-40B4-BE49-F238E27FC236}">
                <a16:creationId xmlns:a16="http://schemas.microsoft.com/office/drawing/2014/main" id="{C59ECBEA-6A3A-4F37-AF50-5A7672A5F41C}"/>
              </a:ext>
            </a:extLst>
          </p:cNvPr>
          <p:cNvSpPr/>
          <p:nvPr/>
        </p:nvSpPr>
        <p:spPr>
          <a:xfrm>
            <a:off x="1747077" y="3923585"/>
            <a:ext cx="667260" cy="890171"/>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77C1F31B-4797-4EE7-8CD9-069755AD917A}"/>
              </a:ext>
            </a:extLst>
          </p:cNvPr>
          <p:cNvSpPr txBox="1"/>
          <p:nvPr/>
        </p:nvSpPr>
        <p:spPr>
          <a:xfrm>
            <a:off x="1381105" y="5007608"/>
            <a:ext cx="2213613" cy="107721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LEFT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Where T2.Id2 IS NULL</a:t>
            </a:r>
          </a:p>
        </p:txBody>
      </p:sp>
      <p:sp>
        <p:nvSpPr>
          <p:cNvPr id="16" name="TextBox 15">
            <a:extLst>
              <a:ext uri="{FF2B5EF4-FFF2-40B4-BE49-F238E27FC236}">
                <a16:creationId xmlns:a16="http://schemas.microsoft.com/office/drawing/2014/main" id="{DEF0BEAA-F679-4B93-B20D-B15A995A0238}"/>
              </a:ext>
            </a:extLst>
          </p:cNvPr>
          <p:cNvSpPr txBox="1"/>
          <p:nvPr/>
        </p:nvSpPr>
        <p:spPr>
          <a:xfrm>
            <a:off x="4124305" y="3333474"/>
            <a:ext cx="1871431"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Unmatched Rows From Right Table</a:t>
            </a:r>
          </a:p>
        </p:txBody>
      </p:sp>
      <p:sp>
        <p:nvSpPr>
          <p:cNvPr id="17" name="Freeform 26">
            <a:extLst>
              <a:ext uri="{FF2B5EF4-FFF2-40B4-BE49-F238E27FC236}">
                <a16:creationId xmlns:a16="http://schemas.microsoft.com/office/drawing/2014/main" id="{F6B077E5-1212-4064-BC92-AE21309575E0}"/>
              </a:ext>
            </a:extLst>
          </p:cNvPr>
          <p:cNvSpPr/>
          <p:nvPr/>
        </p:nvSpPr>
        <p:spPr>
          <a:xfrm>
            <a:off x="4626132" y="3930021"/>
            <a:ext cx="667512" cy="886968"/>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2D193E8E-AC2F-4112-B9BA-37B2AA5B6E26}"/>
              </a:ext>
            </a:extLst>
          </p:cNvPr>
          <p:cNvSpPr txBox="1"/>
          <p:nvPr/>
        </p:nvSpPr>
        <p:spPr>
          <a:xfrm>
            <a:off x="4124305" y="5007608"/>
            <a:ext cx="2213613" cy="107721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lang="en-US" sz="1600" kern="0" dirty="0">
                <a:solidFill>
                  <a:prstClr val="black">
                    <a:lumMod val="50000"/>
                    <a:lumOff val="50000"/>
                  </a:prstClr>
                </a:solidFill>
              </a:rPr>
              <a:t>RIGHT</a:t>
            </a:r>
            <a:r>
              <a:rPr kumimoji="0" lang="en-US" sz="1600" b="0" i="0" u="none" strike="noStrike" kern="0" cap="none" spc="0" normalizeH="0" baseline="0" noProof="0" dirty="0">
                <a:ln>
                  <a:noFill/>
                </a:ln>
                <a:solidFill>
                  <a:prstClr val="black">
                    <a:lumMod val="50000"/>
                    <a:lumOff val="50000"/>
                  </a:prstClr>
                </a:solidFill>
                <a:effectLst/>
                <a:uLnTx/>
                <a:uFillTx/>
              </a:rPr>
              <a: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Where T1.Id1 IS NULL</a:t>
            </a:r>
          </a:p>
        </p:txBody>
      </p:sp>
      <p:sp>
        <p:nvSpPr>
          <p:cNvPr id="19" name="TextBox 18">
            <a:extLst>
              <a:ext uri="{FF2B5EF4-FFF2-40B4-BE49-F238E27FC236}">
                <a16:creationId xmlns:a16="http://schemas.microsoft.com/office/drawing/2014/main" id="{EBA8F01D-257C-429A-90BB-0E39A1E6A208}"/>
              </a:ext>
            </a:extLst>
          </p:cNvPr>
          <p:cNvSpPr txBox="1"/>
          <p:nvPr/>
        </p:nvSpPr>
        <p:spPr>
          <a:xfrm>
            <a:off x="6928735" y="3333474"/>
            <a:ext cx="2484520"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Unmatched Rows From Left and Right Table</a:t>
            </a:r>
          </a:p>
        </p:txBody>
      </p:sp>
      <p:sp>
        <p:nvSpPr>
          <p:cNvPr id="20" name="Freeform 29">
            <a:extLst>
              <a:ext uri="{FF2B5EF4-FFF2-40B4-BE49-F238E27FC236}">
                <a16:creationId xmlns:a16="http://schemas.microsoft.com/office/drawing/2014/main" id="{409EACCA-3EA3-4040-91DD-88D80F5AA9D9}"/>
              </a:ext>
            </a:extLst>
          </p:cNvPr>
          <p:cNvSpPr/>
          <p:nvPr/>
        </p:nvSpPr>
        <p:spPr>
          <a:xfrm>
            <a:off x="7222979" y="3930021"/>
            <a:ext cx="667512" cy="886968"/>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1" name="Freeform 30">
            <a:extLst>
              <a:ext uri="{FF2B5EF4-FFF2-40B4-BE49-F238E27FC236}">
                <a16:creationId xmlns:a16="http://schemas.microsoft.com/office/drawing/2014/main" id="{66DBF8DA-1726-43C0-8F0E-2C64F9B1A6FE}"/>
              </a:ext>
            </a:extLst>
          </p:cNvPr>
          <p:cNvSpPr/>
          <p:nvPr/>
        </p:nvSpPr>
        <p:spPr>
          <a:xfrm>
            <a:off x="7890491" y="3930021"/>
            <a:ext cx="667512" cy="886968"/>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7EF4C097-8C97-4584-90A0-A1D17C2169E4}"/>
              </a:ext>
            </a:extLst>
          </p:cNvPr>
          <p:cNvSpPr txBox="1"/>
          <p:nvPr/>
        </p:nvSpPr>
        <p:spPr>
          <a:xfrm>
            <a:off x="7161204" y="5007608"/>
            <a:ext cx="2213613" cy="132343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FULL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Where T1.Id1 IS NULL Or T2.Id2 IS NULL</a:t>
            </a:r>
          </a:p>
        </p:txBody>
      </p:sp>
    </p:spTree>
    <p:extLst>
      <p:ext uri="{BB962C8B-B14F-4D97-AF65-F5344CB8AC3E}">
        <p14:creationId xmlns:p14="http://schemas.microsoft.com/office/powerpoint/2010/main" val="179932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4"/>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5"/>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8" grpId="0" animBg="1"/>
      <p:bldP spid="9" grpId="0" animBg="1"/>
      <p:bldP spid="10" grpId="0" animBg="1"/>
      <p:bldP spid="11" grpId="0" animBg="1"/>
      <p:bldP spid="12" grpId="0" animBg="1"/>
      <p:bldP spid="13" grpId="0"/>
      <p:bldP spid="14" grpId="0" animBg="1"/>
      <p:bldP spid="15" grpId="0"/>
      <p:bldP spid="16" grpId="0"/>
      <p:bldP spid="17" grpId="0" animBg="1"/>
      <p:bldP spid="18" grpId="0"/>
      <p:bldP spid="19" grpId="0"/>
      <p:bldP spid="20" grpId="0" animBg="1"/>
      <p:bldP spid="21" grpId="0" animBg="1"/>
      <p:bldP spid="2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3" name="Content Placeholder 2"/>
          <p:cNvSpPr>
            <a:spLocks noGrp="1"/>
          </p:cNvSpPr>
          <p:nvPr>
            <p:ph idx="1"/>
          </p:nvPr>
        </p:nvSpPr>
        <p:spPr/>
        <p:txBody>
          <a:bodyPr/>
          <a:lstStyle/>
          <a:p>
            <a:r>
              <a:rPr lang="en-US" dirty="0"/>
              <a:t>Unmatched Rows From the Left Table</a:t>
            </a:r>
          </a:p>
          <a:p>
            <a:endParaRPr lang="en-US" dirty="0"/>
          </a:p>
        </p:txBody>
      </p:sp>
      <p:sp>
        <p:nvSpPr>
          <p:cNvPr id="4" name="Rectangle 3"/>
          <p:cNvSpPr/>
          <p:nvPr/>
        </p:nvSpPr>
        <p:spPr>
          <a:xfrm>
            <a:off x="342900" y="1396153"/>
            <a:ext cx="8610600" cy="2397699"/>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476958" y="3221998"/>
            <a:ext cx="980179"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6" name="Rectangle 5"/>
          <p:cNvSpPr/>
          <p:nvPr/>
        </p:nvSpPr>
        <p:spPr>
          <a:xfrm>
            <a:off x="1560808" y="3214833"/>
            <a:ext cx="1550122"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r>
              <a:rPr lang="en-US" dirty="0">
                <a:ln w="0"/>
                <a:solidFill>
                  <a:schemeClr val="tx1"/>
                </a:solidFill>
              </a:rPr>
              <a:t>.EID</a:t>
            </a:r>
          </a:p>
        </p:txBody>
      </p:sp>
      <p:sp>
        <p:nvSpPr>
          <p:cNvPr id="7" name="Rectangle 6"/>
          <p:cNvSpPr/>
          <p:nvPr/>
        </p:nvSpPr>
        <p:spPr>
          <a:xfrm>
            <a:off x="3187130" y="3221998"/>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8" name="Rectangle 7"/>
          <p:cNvSpPr/>
          <p:nvPr/>
        </p:nvSpPr>
        <p:spPr>
          <a:xfrm>
            <a:off x="3775540" y="3225812"/>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9" name="Rectangle 8"/>
          <p:cNvSpPr/>
          <p:nvPr/>
        </p:nvSpPr>
        <p:spPr>
          <a:xfrm>
            <a:off x="457200" y="15494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0" name="Rectangle 9"/>
          <p:cNvSpPr/>
          <p:nvPr/>
        </p:nvSpPr>
        <p:spPr>
          <a:xfrm>
            <a:off x="1560807" y="1549488"/>
            <a:ext cx="15694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r>
              <a:rPr lang="en-US" dirty="0">
                <a:solidFill>
                  <a:srgbClr val="808080"/>
                </a:solidFill>
              </a:rPr>
              <a:t>,</a:t>
            </a:r>
          </a:p>
        </p:txBody>
      </p:sp>
      <p:sp>
        <p:nvSpPr>
          <p:cNvPr id="11" name="Rectangle 10"/>
          <p:cNvSpPr/>
          <p:nvPr/>
        </p:nvSpPr>
        <p:spPr>
          <a:xfrm>
            <a:off x="3213114" y="1538666"/>
            <a:ext cx="18226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.Name</a:t>
            </a:r>
            <a:r>
              <a:rPr lang="en-US" dirty="0">
                <a:solidFill>
                  <a:srgbClr val="808080"/>
                </a:solidFill>
              </a:rPr>
              <a:t>,</a:t>
            </a:r>
          </a:p>
        </p:txBody>
      </p:sp>
      <p:sp>
        <p:nvSpPr>
          <p:cNvPr id="12" name="Rectangle 11"/>
          <p:cNvSpPr/>
          <p:nvPr/>
        </p:nvSpPr>
        <p:spPr>
          <a:xfrm>
            <a:off x="5118124" y="1540665"/>
            <a:ext cx="168278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a:t>
            </a:r>
            <a:r>
              <a:rPr lang="en-US" dirty="0" err="1">
                <a:ln w="0"/>
                <a:solidFill>
                  <a:schemeClr val="tx1"/>
                </a:solidFill>
              </a:rPr>
              <a:t>Dept</a:t>
            </a:r>
            <a:r>
              <a:rPr lang="en-US" dirty="0">
                <a:solidFill>
                  <a:srgbClr val="808080"/>
                </a:solidFill>
              </a:rPr>
              <a:t>,</a:t>
            </a:r>
          </a:p>
        </p:txBody>
      </p:sp>
      <p:sp>
        <p:nvSpPr>
          <p:cNvPr id="13" name="Rectangle 12"/>
          <p:cNvSpPr/>
          <p:nvPr/>
        </p:nvSpPr>
        <p:spPr>
          <a:xfrm>
            <a:off x="6872984" y="1538666"/>
            <a:ext cx="19522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EmpSalary.Amount</a:t>
            </a:r>
            <a:endParaRPr lang="en-US" dirty="0">
              <a:ln w="0"/>
              <a:solidFill>
                <a:schemeClr val="tx1"/>
              </a:solidFill>
            </a:endParaRPr>
          </a:p>
        </p:txBody>
      </p:sp>
      <p:sp>
        <p:nvSpPr>
          <p:cNvPr id="14" name="Rectangle 13"/>
          <p:cNvSpPr/>
          <p:nvPr/>
        </p:nvSpPr>
        <p:spPr>
          <a:xfrm>
            <a:off x="470372" y="212467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5" name="Rectangle 14"/>
          <p:cNvSpPr/>
          <p:nvPr/>
        </p:nvSpPr>
        <p:spPr>
          <a:xfrm>
            <a:off x="1560809" y="21292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a:t>
            </a:r>
            <a:endParaRPr lang="en-US" dirty="0"/>
          </a:p>
        </p:txBody>
      </p:sp>
      <p:sp>
        <p:nvSpPr>
          <p:cNvPr id="16" name="Rectangle 15"/>
          <p:cNvSpPr/>
          <p:nvPr/>
        </p:nvSpPr>
        <p:spPr>
          <a:xfrm>
            <a:off x="2860164" y="2116705"/>
            <a:ext cx="1559435"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Full Outer</a:t>
            </a:r>
            <a:r>
              <a:rPr lang="en-IN" dirty="0"/>
              <a:t> </a:t>
            </a:r>
            <a:r>
              <a:rPr lang="en-IN" dirty="0">
                <a:solidFill>
                  <a:srgbClr val="808080"/>
                </a:solidFill>
              </a:rPr>
              <a:t>Join</a:t>
            </a:r>
            <a:endParaRPr lang="en-US" dirty="0">
              <a:solidFill>
                <a:srgbClr val="808080"/>
              </a:solidFill>
            </a:endParaRPr>
          </a:p>
        </p:txBody>
      </p:sp>
      <p:sp>
        <p:nvSpPr>
          <p:cNvPr id="17" name="Rectangle 16"/>
          <p:cNvSpPr/>
          <p:nvPr/>
        </p:nvSpPr>
        <p:spPr>
          <a:xfrm>
            <a:off x="4511907" y="211670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endParaRPr lang="en-US" dirty="0"/>
          </a:p>
        </p:txBody>
      </p:sp>
      <p:sp>
        <p:nvSpPr>
          <p:cNvPr id="18" name="Rectangle 17"/>
          <p:cNvSpPr/>
          <p:nvPr/>
        </p:nvSpPr>
        <p:spPr>
          <a:xfrm>
            <a:off x="476958" y="266518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1040168" y="2663827"/>
            <a:ext cx="3057188"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Employee.EID</a:t>
            </a:r>
            <a:r>
              <a:rPr lang="en-IN" dirty="0">
                <a:solidFill>
                  <a:srgbClr val="808080"/>
                </a:solidFill>
              </a:rPr>
              <a:t>=</a:t>
            </a:r>
            <a:r>
              <a:rPr lang="en-IN" dirty="0"/>
              <a:t> </a:t>
            </a:r>
            <a:r>
              <a:rPr lang="en-IN" dirty="0" err="1"/>
              <a:t>EmpSalary.EID</a:t>
            </a:r>
            <a:endParaRPr lang="en-US" dirty="0"/>
          </a:p>
        </p:txBody>
      </p:sp>
      <p:sp>
        <p:nvSpPr>
          <p:cNvPr id="20" name="Rectangle 19"/>
          <p:cNvSpPr/>
          <p:nvPr/>
        </p:nvSpPr>
        <p:spPr>
          <a:xfrm>
            <a:off x="4582326" y="3234457"/>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21" name="Picture 20"/>
          <p:cNvPicPr>
            <a:picLocks noChangeAspect="1"/>
          </p:cNvPicPr>
          <p:nvPr/>
        </p:nvPicPr>
        <p:blipFill>
          <a:blip r:embed="rId2"/>
          <a:stretch>
            <a:fillRect/>
          </a:stretch>
        </p:blipFill>
        <p:spPr>
          <a:xfrm>
            <a:off x="4573379" y="4993463"/>
            <a:ext cx="743902" cy="672186"/>
          </a:xfrm>
          <a:prstGeom prst="rect">
            <a:avLst/>
          </a:prstGeom>
        </p:spPr>
      </p:pic>
      <p:graphicFrame>
        <p:nvGraphicFramePr>
          <p:cNvPr id="22" name="Table 21"/>
          <p:cNvGraphicFramePr>
            <a:graphicFrameLocks noGrp="1" noChangeAspect="1"/>
          </p:cNvGraphicFramePr>
          <p:nvPr/>
        </p:nvGraphicFramePr>
        <p:xfrm>
          <a:off x="5517045" y="4674863"/>
          <a:ext cx="2788755" cy="929013"/>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18589">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09597">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2"/>
                  </a:ext>
                </a:extLst>
              </a:tr>
            </a:tbl>
          </a:graphicData>
        </a:graphic>
      </p:graphicFrame>
      <p:graphicFrame>
        <p:nvGraphicFramePr>
          <p:cNvPr id="23" name="Table 22"/>
          <p:cNvGraphicFramePr>
            <a:graphicFrameLocks noGrp="1"/>
          </p:cNvGraphicFramePr>
          <p:nvPr/>
        </p:nvGraphicFramePr>
        <p:xfrm>
          <a:off x="533400" y="3899327"/>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IT</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Sales</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4" name="Table 23"/>
          <p:cNvGraphicFramePr>
            <a:graphicFrameLocks noGrp="1"/>
          </p:cNvGraphicFramePr>
          <p:nvPr/>
        </p:nvGraphicFramePr>
        <p:xfrm>
          <a:off x="2907169" y="3961462"/>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err="1">
                          <a:solidFill>
                            <a:srgbClr val="000000"/>
                          </a:solidFill>
                          <a:effectLst/>
                          <a:latin typeface="Calibri" panose="020F0502020204030204" pitchFamily="34" charset="0"/>
                        </a:rPr>
                        <a:t>EmpSalary</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1000</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5000</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3000</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8000</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dirty="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2500</a:t>
                      </a: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74714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3" name="Content Placeholder 2"/>
          <p:cNvSpPr>
            <a:spLocks noGrp="1"/>
          </p:cNvSpPr>
          <p:nvPr>
            <p:ph idx="1"/>
          </p:nvPr>
        </p:nvSpPr>
        <p:spPr/>
        <p:txBody>
          <a:bodyPr/>
          <a:lstStyle/>
          <a:p>
            <a:r>
              <a:rPr lang="en-US" dirty="0"/>
              <a:t>Unmatched Rows From the Right Table</a:t>
            </a:r>
          </a:p>
          <a:p>
            <a:endParaRPr lang="en-US" dirty="0"/>
          </a:p>
        </p:txBody>
      </p:sp>
      <p:sp>
        <p:nvSpPr>
          <p:cNvPr id="4" name="Rectangle 3"/>
          <p:cNvSpPr/>
          <p:nvPr/>
        </p:nvSpPr>
        <p:spPr>
          <a:xfrm>
            <a:off x="342900" y="1412096"/>
            <a:ext cx="8610600" cy="2321704"/>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476958" y="3184085"/>
            <a:ext cx="980179"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6" name="Rectangle 5"/>
          <p:cNvSpPr/>
          <p:nvPr/>
        </p:nvSpPr>
        <p:spPr>
          <a:xfrm>
            <a:off x="1560808" y="3185789"/>
            <a:ext cx="1550122"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p>
        </p:txBody>
      </p:sp>
      <p:sp>
        <p:nvSpPr>
          <p:cNvPr id="7" name="Rectangle 6"/>
          <p:cNvSpPr/>
          <p:nvPr/>
        </p:nvSpPr>
        <p:spPr>
          <a:xfrm>
            <a:off x="3187130" y="319295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8" name="Rectangle 7"/>
          <p:cNvSpPr/>
          <p:nvPr/>
        </p:nvSpPr>
        <p:spPr>
          <a:xfrm>
            <a:off x="3775540" y="3196768"/>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9" name="Rectangle 8"/>
          <p:cNvSpPr/>
          <p:nvPr/>
        </p:nvSpPr>
        <p:spPr>
          <a:xfrm>
            <a:off x="457200" y="154903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0" name="Rectangle 9"/>
          <p:cNvSpPr/>
          <p:nvPr/>
        </p:nvSpPr>
        <p:spPr>
          <a:xfrm>
            <a:off x="1560807" y="1549038"/>
            <a:ext cx="15694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r>
              <a:rPr lang="en-US" dirty="0">
                <a:solidFill>
                  <a:srgbClr val="808080"/>
                </a:solidFill>
              </a:rPr>
              <a:t>,</a:t>
            </a:r>
          </a:p>
        </p:txBody>
      </p:sp>
      <p:sp>
        <p:nvSpPr>
          <p:cNvPr id="11" name="Rectangle 10"/>
          <p:cNvSpPr/>
          <p:nvPr/>
        </p:nvSpPr>
        <p:spPr>
          <a:xfrm>
            <a:off x="3213114" y="1538216"/>
            <a:ext cx="18226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.Name</a:t>
            </a:r>
            <a:r>
              <a:rPr lang="en-US" dirty="0">
                <a:solidFill>
                  <a:srgbClr val="808080"/>
                </a:solidFill>
              </a:rPr>
              <a:t>,</a:t>
            </a:r>
          </a:p>
        </p:txBody>
      </p:sp>
      <p:sp>
        <p:nvSpPr>
          <p:cNvPr id="12" name="Rectangle 11"/>
          <p:cNvSpPr/>
          <p:nvPr/>
        </p:nvSpPr>
        <p:spPr>
          <a:xfrm>
            <a:off x="5118124" y="1540215"/>
            <a:ext cx="168278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a:t>
            </a:r>
            <a:r>
              <a:rPr lang="en-US" dirty="0" err="1">
                <a:ln w="0"/>
                <a:solidFill>
                  <a:schemeClr val="tx1"/>
                </a:solidFill>
              </a:rPr>
              <a:t>Dept</a:t>
            </a:r>
            <a:r>
              <a:rPr lang="en-US" dirty="0">
                <a:solidFill>
                  <a:srgbClr val="808080"/>
                </a:solidFill>
              </a:rPr>
              <a:t>,</a:t>
            </a:r>
          </a:p>
        </p:txBody>
      </p:sp>
      <p:sp>
        <p:nvSpPr>
          <p:cNvPr id="13" name="Rectangle 12"/>
          <p:cNvSpPr/>
          <p:nvPr/>
        </p:nvSpPr>
        <p:spPr>
          <a:xfrm>
            <a:off x="6872984" y="1538216"/>
            <a:ext cx="19522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EmpSalary.Amount</a:t>
            </a:r>
            <a:endParaRPr lang="en-US" dirty="0">
              <a:ln w="0"/>
              <a:solidFill>
                <a:schemeClr val="tx1"/>
              </a:solidFill>
            </a:endParaRPr>
          </a:p>
        </p:txBody>
      </p:sp>
      <p:sp>
        <p:nvSpPr>
          <p:cNvPr id="14" name="Rectangle 13"/>
          <p:cNvSpPr/>
          <p:nvPr/>
        </p:nvSpPr>
        <p:spPr>
          <a:xfrm>
            <a:off x="470372" y="212422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5" name="Rectangle 14"/>
          <p:cNvSpPr/>
          <p:nvPr/>
        </p:nvSpPr>
        <p:spPr>
          <a:xfrm>
            <a:off x="1560809" y="212877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a:t>
            </a:r>
            <a:endParaRPr lang="en-US" dirty="0"/>
          </a:p>
        </p:txBody>
      </p:sp>
      <p:sp>
        <p:nvSpPr>
          <p:cNvPr id="16" name="Rectangle 15"/>
          <p:cNvSpPr/>
          <p:nvPr/>
        </p:nvSpPr>
        <p:spPr>
          <a:xfrm>
            <a:off x="2860164" y="2116255"/>
            <a:ext cx="1559435"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Full Outer</a:t>
            </a:r>
            <a:r>
              <a:rPr lang="en-IN" dirty="0"/>
              <a:t> </a:t>
            </a:r>
            <a:r>
              <a:rPr lang="en-IN" dirty="0">
                <a:solidFill>
                  <a:srgbClr val="808080"/>
                </a:solidFill>
              </a:rPr>
              <a:t>Join</a:t>
            </a:r>
            <a:endParaRPr lang="en-US" dirty="0">
              <a:solidFill>
                <a:srgbClr val="808080"/>
              </a:solidFill>
            </a:endParaRPr>
          </a:p>
        </p:txBody>
      </p:sp>
      <p:sp>
        <p:nvSpPr>
          <p:cNvPr id="17" name="Rectangle 16"/>
          <p:cNvSpPr/>
          <p:nvPr/>
        </p:nvSpPr>
        <p:spPr>
          <a:xfrm>
            <a:off x="4511907" y="211625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endParaRPr lang="en-US" dirty="0"/>
          </a:p>
        </p:txBody>
      </p:sp>
      <p:sp>
        <p:nvSpPr>
          <p:cNvPr id="18" name="Rectangle 17"/>
          <p:cNvSpPr/>
          <p:nvPr/>
        </p:nvSpPr>
        <p:spPr>
          <a:xfrm>
            <a:off x="476958" y="266473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1040168" y="2663377"/>
            <a:ext cx="3057188"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Employee.EID</a:t>
            </a:r>
            <a:r>
              <a:rPr lang="en-IN" dirty="0">
                <a:solidFill>
                  <a:srgbClr val="808080"/>
                </a:solidFill>
              </a:rPr>
              <a:t>=</a:t>
            </a:r>
            <a:r>
              <a:rPr lang="en-IN" dirty="0"/>
              <a:t> </a:t>
            </a:r>
            <a:r>
              <a:rPr lang="en-IN" dirty="0" err="1"/>
              <a:t>EmpSalary.EID</a:t>
            </a:r>
            <a:endParaRPr lang="en-US" dirty="0"/>
          </a:p>
        </p:txBody>
      </p:sp>
      <p:sp>
        <p:nvSpPr>
          <p:cNvPr id="20" name="Rectangle 19"/>
          <p:cNvSpPr/>
          <p:nvPr/>
        </p:nvSpPr>
        <p:spPr>
          <a:xfrm>
            <a:off x="4582326" y="3205413"/>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21" name="Picture 20"/>
          <p:cNvPicPr>
            <a:picLocks noChangeAspect="1"/>
          </p:cNvPicPr>
          <p:nvPr/>
        </p:nvPicPr>
        <p:blipFill>
          <a:blip r:embed="rId2"/>
          <a:stretch>
            <a:fillRect/>
          </a:stretch>
        </p:blipFill>
        <p:spPr>
          <a:xfrm>
            <a:off x="4573379" y="4926088"/>
            <a:ext cx="743902" cy="672186"/>
          </a:xfrm>
          <a:prstGeom prst="rect">
            <a:avLst/>
          </a:prstGeom>
        </p:spPr>
      </p:pic>
      <p:graphicFrame>
        <p:nvGraphicFramePr>
          <p:cNvPr id="22" name="Table 21"/>
          <p:cNvGraphicFramePr>
            <a:graphicFrameLocks noGrp="1" noChangeAspect="1"/>
          </p:cNvGraphicFramePr>
          <p:nvPr/>
        </p:nvGraphicFramePr>
        <p:xfrm>
          <a:off x="5517045" y="4607488"/>
          <a:ext cx="2788755" cy="929013"/>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18589">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09597">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0" u="none" strike="noStrike" dirty="0">
                          <a:solidFill>
                            <a:srgbClr val="000000"/>
                          </a:solidFill>
                          <a:effectLst/>
                          <a:latin typeface="+mj-lt"/>
                        </a:rPr>
                        <a:t>2500</a:t>
                      </a:r>
                    </a:p>
                  </a:txBody>
                  <a:tcPr marL="9525" marR="9525" marT="9525" marB="0" anchor="b"/>
                </a:tc>
                <a:extLst>
                  <a:ext uri="{0D108BD9-81ED-4DB2-BD59-A6C34878D82A}">
                    <a16:rowId xmlns:a16="http://schemas.microsoft.com/office/drawing/2014/main" val="10002"/>
                  </a:ext>
                </a:extLst>
              </a:tr>
            </a:tbl>
          </a:graphicData>
        </a:graphic>
      </p:graphicFrame>
      <p:graphicFrame>
        <p:nvGraphicFramePr>
          <p:cNvPr id="24" name="Table 23"/>
          <p:cNvGraphicFramePr>
            <a:graphicFrameLocks noGrp="1"/>
          </p:cNvGraphicFramePr>
          <p:nvPr/>
        </p:nvGraphicFramePr>
        <p:xfrm>
          <a:off x="533400" y="3831952"/>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IT</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Sales</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5" name="Table 24"/>
          <p:cNvGraphicFramePr>
            <a:graphicFrameLocks noGrp="1"/>
          </p:cNvGraphicFramePr>
          <p:nvPr/>
        </p:nvGraphicFramePr>
        <p:xfrm>
          <a:off x="2907169" y="3894087"/>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err="1">
                          <a:solidFill>
                            <a:srgbClr val="000000"/>
                          </a:solidFill>
                          <a:effectLst/>
                          <a:latin typeface="Calibri" panose="020F0502020204030204" pitchFamily="34" charset="0"/>
                        </a:rPr>
                        <a:t>EmpSalary</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1000</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5000</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3000</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8000</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2500</a:t>
                      </a: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2135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3" name="Content Placeholder 2"/>
          <p:cNvSpPr>
            <a:spLocks noGrp="1"/>
          </p:cNvSpPr>
          <p:nvPr>
            <p:ph idx="1"/>
          </p:nvPr>
        </p:nvSpPr>
        <p:spPr/>
        <p:txBody>
          <a:bodyPr/>
          <a:lstStyle/>
          <a:p>
            <a:r>
              <a:rPr lang="en-US" dirty="0"/>
              <a:t>Unmatched Rows From the Left  and Right Table</a:t>
            </a:r>
          </a:p>
          <a:p>
            <a:endParaRPr lang="en-US" dirty="0"/>
          </a:p>
        </p:txBody>
      </p:sp>
      <p:sp>
        <p:nvSpPr>
          <p:cNvPr id="4" name="Rectangle 3"/>
          <p:cNvSpPr/>
          <p:nvPr/>
        </p:nvSpPr>
        <p:spPr>
          <a:xfrm>
            <a:off x="342900" y="1398956"/>
            <a:ext cx="8610600" cy="2411044"/>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476958" y="3167245"/>
            <a:ext cx="980179"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6" name="Rectangle 5"/>
          <p:cNvSpPr/>
          <p:nvPr/>
        </p:nvSpPr>
        <p:spPr>
          <a:xfrm>
            <a:off x="1560808" y="3167246"/>
            <a:ext cx="1550122"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p>
        </p:txBody>
      </p:sp>
      <p:sp>
        <p:nvSpPr>
          <p:cNvPr id="7" name="Rectangle 6"/>
          <p:cNvSpPr/>
          <p:nvPr/>
        </p:nvSpPr>
        <p:spPr>
          <a:xfrm>
            <a:off x="3187130" y="3174411"/>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8" name="Rectangle 7"/>
          <p:cNvSpPr/>
          <p:nvPr/>
        </p:nvSpPr>
        <p:spPr>
          <a:xfrm>
            <a:off x="3775540" y="3178225"/>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9" name="Rectangle 8"/>
          <p:cNvSpPr/>
          <p:nvPr/>
        </p:nvSpPr>
        <p:spPr>
          <a:xfrm>
            <a:off x="457200" y="15494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0" name="Rectangle 9"/>
          <p:cNvSpPr/>
          <p:nvPr/>
        </p:nvSpPr>
        <p:spPr>
          <a:xfrm>
            <a:off x="1560807" y="1549488"/>
            <a:ext cx="15694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r>
              <a:rPr lang="en-US" dirty="0">
                <a:solidFill>
                  <a:srgbClr val="808080"/>
                </a:solidFill>
              </a:rPr>
              <a:t>,</a:t>
            </a:r>
          </a:p>
        </p:txBody>
      </p:sp>
      <p:sp>
        <p:nvSpPr>
          <p:cNvPr id="11" name="Rectangle 10"/>
          <p:cNvSpPr/>
          <p:nvPr/>
        </p:nvSpPr>
        <p:spPr>
          <a:xfrm>
            <a:off x="3213114" y="1538666"/>
            <a:ext cx="18226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.Name</a:t>
            </a:r>
            <a:r>
              <a:rPr lang="en-US" dirty="0">
                <a:solidFill>
                  <a:srgbClr val="808080"/>
                </a:solidFill>
              </a:rPr>
              <a:t>,</a:t>
            </a:r>
          </a:p>
        </p:txBody>
      </p:sp>
      <p:sp>
        <p:nvSpPr>
          <p:cNvPr id="12" name="Rectangle 11"/>
          <p:cNvSpPr/>
          <p:nvPr/>
        </p:nvSpPr>
        <p:spPr>
          <a:xfrm>
            <a:off x="5118124" y="1540665"/>
            <a:ext cx="168278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a:t>
            </a:r>
            <a:r>
              <a:rPr lang="en-US" dirty="0" err="1">
                <a:ln w="0"/>
                <a:solidFill>
                  <a:schemeClr val="tx1"/>
                </a:solidFill>
              </a:rPr>
              <a:t>Dept</a:t>
            </a:r>
            <a:r>
              <a:rPr lang="en-US" dirty="0">
                <a:solidFill>
                  <a:srgbClr val="808080"/>
                </a:solidFill>
              </a:rPr>
              <a:t>,</a:t>
            </a:r>
          </a:p>
        </p:txBody>
      </p:sp>
      <p:sp>
        <p:nvSpPr>
          <p:cNvPr id="13" name="Rectangle 12"/>
          <p:cNvSpPr/>
          <p:nvPr/>
        </p:nvSpPr>
        <p:spPr>
          <a:xfrm>
            <a:off x="6872984" y="1538666"/>
            <a:ext cx="19522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EmpSalary.Amount</a:t>
            </a:r>
            <a:endParaRPr lang="en-US" dirty="0">
              <a:ln w="0"/>
              <a:solidFill>
                <a:schemeClr val="tx1"/>
              </a:solidFill>
            </a:endParaRPr>
          </a:p>
        </p:txBody>
      </p:sp>
      <p:sp>
        <p:nvSpPr>
          <p:cNvPr id="14" name="Rectangle 13"/>
          <p:cNvSpPr/>
          <p:nvPr/>
        </p:nvSpPr>
        <p:spPr>
          <a:xfrm>
            <a:off x="470372" y="212467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5" name="Rectangle 14"/>
          <p:cNvSpPr/>
          <p:nvPr/>
        </p:nvSpPr>
        <p:spPr>
          <a:xfrm>
            <a:off x="1560809" y="21292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a:t>
            </a:r>
            <a:endParaRPr lang="en-US" dirty="0"/>
          </a:p>
        </p:txBody>
      </p:sp>
      <p:sp>
        <p:nvSpPr>
          <p:cNvPr id="16" name="Rectangle 15"/>
          <p:cNvSpPr/>
          <p:nvPr/>
        </p:nvSpPr>
        <p:spPr>
          <a:xfrm>
            <a:off x="2860164" y="2116705"/>
            <a:ext cx="1559435"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Full Outer</a:t>
            </a:r>
            <a:r>
              <a:rPr lang="en-IN" dirty="0"/>
              <a:t> </a:t>
            </a:r>
            <a:r>
              <a:rPr lang="en-IN" dirty="0">
                <a:solidFill>
                  <a:srgbClr val="808080"/>
                </a:solidFill>
              </a:rPr>
              <a:t>Join</a:t>
            </a:r>
            <a:endParaRPr lang="en-US" dirty="0">
              <a:solidFill>
                <a:srgbClr val="808080"/>
              </a:solidFill>
            </a:endParaRPr>
          </a:p>
        </p:txBody>
      </p:sp>
      <p:sp>
        <p:nvSpPr>
          <p:cNvPr id="17" name="Rectangle 16"/>
          <p:cNvSpPr/>
          <p:nvPr/>
        </p:nvSpPr>
        <p:spPr>
          <a:xfrm>
            <a:off x="4511907" y="211670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endParaRPr lang="en-US" dirty="0"/>
          </a:p>
        </p:txBody>
      </p:sp>
      <p:sp>
        <p:nvSpPr>
          <p:cNvPr id="18" name="Rectangle 17"/>
          <p:cNvSpPr/>
          <p:nvPr/>
        </p:nvSpPr>
        <p:spPr>
          <a:xfrm>
            <a:off x="476958" y="266518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1040168" y="2663827"/>
            <a:ext cx="3057188"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Employee.EID</a:t>
            </a:r>
            <a:r>
              <a:rPr lang="en-IN" dirty="0">
                <a:solidFill>
                  <a:srgbClr val="808080"/>
                </a:solidFill>
              </a:rPr>
              <a:t>=</a:t>
            </a:r>
            <a:r>
              <a:rPr lang="en-IN" dirty="0"/>
              <a:t> </a:t>
            </a:r>
            <a:r>
              <a:rPr lang="en-IN" dirty="0" err="1"/>
              <a:t>EmpSalary.EID</a:t>
            </a:r>
            <a:endParaRPr lang="en-US" dirty="0"/>
          </a:p>
        </p:txBody>
      </p:sp>
      <p:sp>
        <p:nvSpPr>
          <p:cNvPr id="20" name="Rectangle 19"/>
          <p:cNvSpPr/>
          <p:nvPr/>
        </p:nvSpPr>
        <p:spPr>
          <a:xfrm>
            <a:off x="8319785" y="3177317"/>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1" name="Rectangle 20"/>
          <p:cNvSpPr/>
          <p:nvPr/>
        </p:nvSpPr>
        <p:spPr>
          <a:xfrm>
            <a:off x="5174313" y="3169797"/>
            <a:ext cx="1626596"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r>
              <a:rPr lang="en-US" dirty="0">
                <a:ln w="0"/>
                <a:solidFill>
                  <a:schemeClr val="tx1"/>
                </a:solidFill>
              </a:rPr>
              <a:t>.EID</a:t>
            </a:r>
          </a:p>
        </p:txBody>
      </p:sp>
      <p:sp>
        <p:nvSpPr>
          <p:cNvPr id="22" name="Rectangle 21"/>
          <p:cNvSpPr/>
          <p:nvPr/>
        </p:nvSpPr>
        <p:spPr>
          <a:xfrm>
            <a:off x="6888234" y="3167246"/>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23" name="Rectangle 22"/>
          <p:cNvSpPr/>
          <p:nvPr/>
        </p:nvSpPr>
        <p:spPr>
          <a:xfrm>
            <a:off x="7476644" y="3171060"/>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24" name="Rectangle 23"/>
          <p:cNvSpPr/>
          <p:nvPr/>
        </p:nvSpPr>
        <p:spPr>
          <a:xfrm>
            <a:off x="4594063" y="317822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OR</a:t>
            </a:r>
          </a:p>
        </p:txBody>
      </p:sp>
      <p:pic>
        <p:nvPicPr>
          <p:cNvPr id="25" name="Picture 24"/>
          <p:cNvPicPr>
            <a:picLocks noChangeAspect="1"/>
          </p:cNvPicPr>
          <p:nvPr/>
        </p:nvPicPr>
        <p:blipFill>
          <a:blip r:embed="rId2"/>
          <a:stretch>
            <a:fillRect/>
          </a:stretch>
        </p:blipFill>
        <p:spPr>
          <a:xfrm>
            <a:off x="4573379" y="4926088"/>
            <a:ext cx="743902" cy="672186"/>
          </a:xfrm>
          <a:prstGeom prst="rect">
            <a:avLst/>
          </a:prstGeom>
        </p:spPr>
      </p:pic>
      <p:graphicFrame>
        <p:nvGraphicFramePr>
          <p:cNvPr id="26" name="Table 25"/>
          <p:cNvGraphicFramePr>
            <a:graphicFrameLocks noGrp="1" noChangeAspect="1"/>
          </p:cNvGraphicFramePr>
          <p:nvPr/>
        </p:nvGraphicFramePr>
        <p:xfrm>
          <a:off x="5517045" y="4607488"/>
          <a:ext cx="2788755" cy="1238610"/>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18589">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09597">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2"/>
                  </a:ext>
                </a:extLst>
              </a:tr>
              <a:tr h="309597">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0" u="none" strike="noStrike" dirty="0">
                          <a:solidFill>
                            <a:srgbClr val="000000"/>
                          </a:solidFill>
                          <a:effectLst/>
                          <a:latin typeface="+mj-lt"/>
                        </a:rPr>
                        <a:t>2500</a:t>
                      </a:r>
                    </a:p>
                  </a:txBody>
                  <a:tcPr marL="9525" marR="9525" marT="9525" marB="0" anchor="b"/>
                </a:tc>
                <a:extLst>
                  <a:ext uri="{0D108BD9-81ED-4DB2-BD59-A6C34878D82A}">
                    <a16:rowId xmlns:a16="http://schemas.microsoft.com/office/drawing/2014/main" val="10003"/>
                  </a:ext>
                </a:extLst>
              </a:tr>
            </a:tbl>
          </a:graphicData>
        </a:graphic>
      </p:graphicFrame>
      <p:graphicFrame>
        <p:nvGraphicFramePr>
          <p:cNvPr id="29" name="Table 28"/>
          <p:cNvGraphicFramePr>
            <a:graphicFrameLocks noGrp="1"/>
          </p:cNvGraphicFramePr>
          <p:nvPr/>
        </p:nvGraphicFramePr>
        <p:xfrm>
          <a:off x="533400" y="3831952"/>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IT</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Sales</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30" name="Table 29"/>
          <p:cNvGraphicFramePr>
            <a:graphicFrameLocks noGrp="1"/>
          </p:cNvGraphicFramePr>
          <p:nvPr/>
        </p:nvGraphicFramePr>
        <p:xfrm>
          <a:off x="2907169" y="3894087"/>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err="1">
                          <a:solidFill>
                            <a:srgbClr val="000000"/>
                          </a:solidFill>
                          <a:effectLst/>
                          <a:latin typeface="Calibri" panose="020F0502020204030204" pitchFamily="34" charset="0"/>
                        </a:rPr>
                        <a:t>EmpSalary</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1000</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5000</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3000</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8000</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2500</a:t>
                      </a: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07073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8F6F-0329-5DC9-7B10-95CE2BB787E6}"/>
              </a:ext>
            </a:extLst>
          </p:cNvPr>
          <p:cNvSpPr>
            <a:spLocks noGrp="1"/>
          </p:cNvSpPr>
          <p:nvPr>
            <p:ph type="title"/>
          </p:nvPr>
        </p:nvSpPr>
        <p:spPr/>
        <p:txBody>
          <a:bodyPr/>
          <a:lstStyle/>
          <a:p>
            <a:r>
              <a:rPr lang="en-IN" dirty="0"/>
              <a:t>Advantages of Joins</a:t>
            </a:r>
          </a:p>
        </p:txBody>
      </p:sp>
      <p:sp>
        <p:nvSpPr>
          <p:cNvPr id="3" name="Content Placeholder 2">
            <a:extLst>
              <a:ext uri="{FF2B5EF4-FFF2-40B4-BE49-F238E27FC236}">
                <a16:creationId xmlns:a16="http://schemas.microsoft.com/office/drawing/2014/main" id="{3BE89C81-2341-6FA0-862C-E6BEB09D3582}"/>
              </a:ext>
            </a:extLst>
          </p:cNvPr>
          <p:cNvSpPr>
            <a:spLocks noGrp="1"/>
          </p:cNvSpPr>
          <p:nvPr>
            <p:ph idx="1"/>
          </p:nvPr>
        </p:nvSpPr>
        <p:spPr/>
        <p:txBody>
          <a:bodyPr/>
          <a:lstStyle/>
          <a:p>
            <a:r>
              <a:rPr lang="en-IN" dirty="0"/>
              <a:t>It executes faster.</a:t>
            </a:r>
            <a:endParaRPr lang="en-US" dirty="0"/>
          </a:p>
          <a:p>
            <a:r>
              <a:rPr lang="en-US" dirty="0"/>
              <a:t>The retrieval time of the query using joins almost always will be faster than that of a subquery.</a:t>
            </a:r>
          </a:p>
          <a:p>
            <a:endParaRPr lang="en-IN" dirty="0"/>
          </a:p>
        </p:txBody>
      </p:sp>
    </p:spTree>
    <p:extLst>
      <p:ext uri="{BB962C8B-B14F-4D97-AF65-F5344CB8AC3E}">
        <p14:creationId xmlns:p14="http://schemas.microsoft.com/office/powerpoint/2010/main" val="25584372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5DEE5-284E-3153-4277-5DFA20633993}"/>
              </a:ext>
            </a:extLst>
          </p:cNvPr>
          <p:cNvSpPr>
            <a:spLocks noGrp="1"/>
          </p:cNvSpPr>
          <p:nvPr>
            <p:ph type="title"/>
          </p:nvPr>
        </p:nvSpPr>
        <p:spPr/>
        <p:txBody>
          <a:bodyPr/>
          <a:lstStyle/>
          <a:p>
            <a:r>
              <a:rPr lang="en-US" dirty="0"/>
              <a:t>View</a:t>
            </a:r>
            <a:endParaRPr lang="en-IN" dirty="0"/>
          </a:p>
        </p:txBody>
      </p:sp>
      <p:sp>
        <p:nvSpPr>
          <p:cNvPr id="3" name="Text Placeholder 2">
            <a:extLst>
              <a:ext uri="{FF2B5EF4-FFF2-40B4-BE49-F238E27FC236}">
                <a16:creationId xmlns:a16="http://schemas.microsoft.com/office/drawing/2014/main" id="{F0F93370-F83E-436C-72E8-17CD72CF319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9662683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E0113-7BCB-BD5E-BA81-5EFAAAA552CB}"/>
              </a:ext>
            </a:extLst>
          </p:cNvPr>
          <p:cNvSpPr>
            <a:spLocks noGrp="1"/>
          </p:cNvSpPr>
          <p:nvPr>
            <p:ph type="title"/>
          </p:nvPr>
        </p:nvSpPr>
        <p:spPr/>
        <p:txBody>
          <a:bodyPr/>
          <a:lstStyle/>
          <a:p>
            <a:r>
              <a:rPr lang="en-IN" dirty="0"/>
              <a:t>Views</a:t>
            </a:r>
          </a:p>
        </p:txBody>
      </p:sp>
      <p:sp>
        <p:nvSpPr>
          <p:cNvPr id="3" name="Content Placeholder 2">
            <a:extLst>
              <a:ext uri="{FF2B5EF4-FFF2-40B4-BE49-F238E27FC236}">
                <a16:creationId xmlns:a16="http://schemas.microsoft.com/office/drawing/2014/main" id="{F0016E23-D717-A784-E6BD-48F01D667B4B}"/>
              </a:ext>
            </a:extLst>
          </p:cNvPr>
          <p:cNvSpPr>
            <a:spLocks noGrp="1"/>
          </p:cNvSpPr>
          <p:nvPr>
            <p:ph idx="1"/>
          </p:nvPr>
        </p:nvSpPr>
        <p:spPr>
          <a:xfrm>
            <a:off x="131181" y="800689"/>
            <a:ext cx="7174783" cy="5590565"/>
          </a:xfrm>
        </p:spPr>
        <p:txBody>
          <a:bodyPr/>
          <a:lstStyle/>
          <a:p>
            <a:r>
              <a:rPr lang="en-US" sz="2300" dirty="0"/>
              <a:t>Every column and row of table should not be visible to everyone.</a:t>
            </a:r>
          </a:p>
          <a:p>
            <a:r>
              <a:rPr lang="en-US" sz="2300" b="1" dirty="0">
                <a:solidFill>
                  <a:srgbClr val="0E47A1"/>
                </a:solidFill>
              </a:rPr>
              <a:t>View</a:t>
            </a:r>
            <a:r>
              <a:rPr lang="en-US" sz="2300" dirty="0"/>
              <a:t> is a </a:t>
            </a:r>
            <a:r>
              <a:rPr lang="en-US" sz="2300" b="1" dirty="0">
                <a:solidFill>
                  <a:srgbClr val="C00000"/>
                </a:solidFill>
              </a:rPr>
              <a:t>virtual or logical table </a:t>
            </a:r>
            <a:r>
              <a:rPr lang="en-US" sz="2300" dirty="0"/>
              <a:t>that allows to view the </a:t>
            </a:r>
            <a:r>
              <a:rPr lang="en-US" sz="2300" dirty="0">
                <a:solidFill>
                  <a:srgbClr val="C00000"/>
                </a:solidFill>
              </a:rPr>
              <a:t>parts of the table</a:t>
            </a:r>
            <a:r>
              <a:rPr lang="en-US" sz="2300" dirty="0"/>
              <a:t>. </a:t>
            </a:r>
          </a:p>
          <a:p>
            <a:r>
              <a:rPr lang="en-US" sz="2300" dirty="0"/>
              <a:t>Views are virtual tables that </a:t>
            </a:r>
            <a:r>
              <a:rPr lang="en-US" sz="2300" dirty="0">
                <a:solidFill>
                  <a:srgbClr val="C00000"/>
                </a:solidFill>
              </a:rPr>
              <a:t>are compiled at runtime</a:t>
            </a:r>
            <a:r>
              <a:rPr lang="en-US" sz="2300" dirty="0"/>
              <a:t>.</a:t>
            </a:r>
            <a:endParaRPr lang="en-IN" sz="2300" dirty="0"/>
          </a:p>
          <a:p>
            <a:r>
              <a:rPr lang="en-US" sz="2300" dirty="0"/>
              <a:t>View is derived from one or more than one table, those tables are known as </a:t>
            </a:r>
            <a:r>
              <a:rPr lang="en-US" sz="2300" b="1" dirty="0">
                <a:solidFill>
                  <a:srgbClr val="C00000"/>
                </a:solidFill>
              </a:rPr>
              <a:t>Base Tables</a:t>
            </a:r>
            <a:r>
              <a:rPr lang="en-US" sz="2300" dirty="0"/>
              <a:t>.</a:t>
            </a:r>
          </a:p>
          <a:p>
            <a:r>
              <a:rPr lang="en-US" sz="2300" dirty="0"/>
              <a:t>View is the result set of a stored query.</a:t>
            </a:r>
          </a:p>
          <a:p>
            <a:r>
              <a:rPr lang="en-US" sz="2300" dirty="0"/>
              <a:t>The data associated with views are </a:t>
            </a:r>
            <a:r>
              <a:rPr lang="en-US" sz="2300" dirty="0">
                <a:solidFill>
                  <a:srgbClr val="0E47A1"/>
                </a:solidFill>
              </a:rPr>
              <a:t>not physically stored</a:t>
            </a:r>
            <a:r>
              <a:rPr lang="en-US" sz="2300" dirty="0"/>
              <a:t> in the view, </a:t>
            </a:r>
            <a:r>
              <a:rPr lang="en-US" sz="2300" dirty="0">
                <a:solidFill>
                  <a:srgbClr val="0E47A1"/>
                </a:solidFill>
              </a:rPr>
              <a:t>but it is stored in the base tables of the view. </a:t>
            </a:r>
            <a:endParaRPr lang="en-IN" sz="2300" dirty="0">
              <a:solidFill>
                <a:srgbClr val="0E47A1"/>
              </a:solidFill>
            </a:endParaRPr>
          </a:p>
          <a:p>
            <a:pPr lvl="0"/>
            <a:r>
              <a:rPr lang="en-US" sz="2300" dirty="0"/>
              <a:t>Generally, we put those columns in view that we need to retrieve again and again. </a:t>
            </a:r>
            <a:endParaRPr lang="en-IN" sz="2300" dirty="0"/>
          </a:p>
          <a:p>
            <a:pPr lvl="0"/>
            <a:r>
              <a:rPr lang="en-US" sz="2300" dirty="0"/>
              <a:t>Once you have created the view, you </a:t>
            </a:r>
            <a:r>
              <a:rPr lang="en-US" sz="2300" dirty="0">
                <a:solidFill>
                  <a:srgbClr val="C00000"/>
                </a:solidFill>
              </a:rPr>
              <a:t>can query view like as table</a:t>
            </a:r>
            <a:r>
              <a:rPr lang="en-US" sz="2300" dirty="0"/>
              <a:t>.</a:t>
            </a:r>
            <a:endParaRPr lang="en-IN" sz="2300" dirty="0"/>
          </a:p>
          <a:p>
            <a:r>
              <a:rPr lang="en-US" sz="2300" dirty="0"/>
              <a:t>View is mapped, to a </a:t>
            </a:r>
            <a:r>
              <a:rPr lang="en-US" sz="2300" b="1" dirty="0">
                <a:solidFill>
                  <a:srgbClr val="C00000"/>
                </a:solidFill>
              </a:rPr>
              <a:t>SELECT</a:t>
            </a:r>
            <a:r>
              <a:rPr lang="en-US" sz="2300" dirty="0"/>
              <a:t> sentence. </a:t>
            </a:r>
          </a:p>
          <a:p>
            <a:endParaRPr lang="en-US" sz="2300" dirty="0"/>
          </a:p>
        </p:txBody>
      </p:sp>
      <p:pic>
        <p:nvPicPr>
          <p:cNvPr id="5" name="Picture 4">
            <a:extLst>
              <a:ext uri="{FF2B5EF4-FFF2-40B4-BE49-F238E27FC236}">
                <a16:creationId xmlns:a16="http://schemas.microsoft.com/office/drawing/2014/main" id="{4EAFB879-E69C-008F-2431-219A4E88014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568761" y="855662"/>
            <a:ext cx="941053" cy="941053"/>
          </a:xfrm>
          <a:prstGeom prst="rect">
            <a:avLst/>
          </a:prstGeom>
        </p:spPr>
      </p:pic>
      <p:pic>
        <p:nvPicPr>
          <p:cNvPr id="6" name="Picture 5">
            <a:extLst>
              <a:ext uri="{FF2B5EF4-FFF2-40B4-BE49-F238E27FC236}">
                <a16:creationId xmlns:a16="http://schemas.microsoft.com/office/drawing/2014/main" id="{A8D956A2-67BA-A995-DD1E-476C4F46BF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9526" y="2512292"/>
            <a:ext cx="4082474" cy="3029528"/>
          </a:xfrm>
          <a:prstGeom prst="rect">
            <a:avLst/>
          </a:prstGeom>
        </p:spPr>
      </p:pic>
      <p:cxnSp>
        <p:nvCxnSpPr>
          <p:cNvPr id="8" name="Straight Connector 7">
            <a:extLst>
              <a:ext uri="{FF2B5EF4-FFF2-40B4-BE49-F238E27FC236}">
                <a16:creationId xmlns:a16="http://schemas.microsoft.com/office/drawing/2014/main" id="{5A527C81-27C5-6694-4AD7-02B7C3F742F9}"/>
              </a:ext>
            </a:extLst>
          </p:cNvPr>
          <p:cNvCxnSpPr/>
          <p:nvPr/>
        </p:nvCxnSpPr>
        <p:spPr>
          <a:xfrm>
            <a:off x="7666182" y="822035"/>
            <a:ext cx="0" cy="566891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38DD62C-A4B2-2B51-3998-549B767B8923}"/>
              </a:ext>
            </a:extLst>
          </p:cNvPr>
          <p:cNvSpPr/>
          <p:nvPr/>
        </p:nvSpPr>
        <p:spPr>
          <a:xfrm>
            <a:off x="8109526" y="2547017"/>
            <a:ext cx="3951292" cy="1282137"/>
          </a:xfrm>
          <a:prstGeom prst="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AA1439A-357D-9FAB-1B2C-31457C3D98F4}"/>
              </a:ext>
            </a:extLst>
          </p:cNvPr>
          <p:cNvSpPr/>
          <p:nvPr/>
        </p:nvSpPr>
        <p:spPr>
          <a:xfrm>
            <a:off x="10509814" y="2028063"/>
            <a:ext cx="1551003" cy="4026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Base Tables</a:t>
            </a:r>
          </a:p>
        </p:txBody>
      </p:sp>
    </p:spTree>
    <p:extLst>
      <p:ext uri="{BB962C8B-B14F-4D97-AF65-F5344CB8AC3E}">
        <p14:creationId xmlns:p14="http://schemas.microsoft.com/office/powerpoint/2010/main" val="4156884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22" presetClass="entr" presetSubtype="4"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down)">
                                      <p:cBhvr>
                                        <p:cTn id="9" dur="500"/>
                                        <p:tgtEl>
                                          <p:spTgt spid="5"/>
                                        </p:tgtEl>
                                      </p:cBhvr>
                                    </p:animEffect>
                                  </p:childTnLst>
                                </p:cTn>
                              </p:par>
                              <p:par>
                                <p:cTn id="10" presetID="22" presetClass="entr" presetSubtype="1"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up)">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down)">
                                      <p:cBhvr>
                                        <p:cTn id="38" dur="500"/>
                                        <p:tgtEl>
                                          <p:spTgt spid="9"/>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down)">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FFB4D-2182-A326-97C1-167C43119B05}"/>
              </a:ext>
            </a:extLst>
          </p:cNvPr>
          <p:cNvSpPr>
            <a:spLocks noGrp="1"/>
          </p:cNvSpPr>
          <p:nvPr>
            <p:ph type="title"/>
          </p:nvPr>
        </p:nvSpPr>
        <p:spPr/>
        <p:txBody>
          <a:bodyPr/>
          <a:lstStyle/>
          <a:p>
            <a:r>
              <a:rPr lang="en-IN" dirty="0"/>
              <a:t>Types of User defined View</a:t>
            </a:r>
          </a:p>
        </p:txBody>
      </p:sp>
      <p:graphicFrame>
        <p:nvGraphicFramePr>
          <p:cNvPr id="4" name="Diagram 3">
            <a:extLst>
              <a:ext uri="{FF2B5EF4-FFF2-40B4-BE49-F238E27FC236}">
                <a16:creationId xmlns:a16="http://schemas.microsoft.com/office/drawing/2014/main" id="{4E1FC366-AF0C-F1A3-D06A-4588487E833F}"/>
              </a:ext>
            </a:extLst>
          </p:cNvPr>
          <p:cNvGraphicFramePr/>
          <p:nvPr>
            <p:extLst>
              <p:ext uri="{D42A27DB-BD31-4B8C-83A1-F6EECF244321}">
                <p14:modId xmlns:p14="http://schemas.microsoft.com/office/powerpoint/2010/main" val="4009510971"/>
              </p:ext>
            </p:extLst>
          </p:nvPr>
        </p:nvGraphicFramePr>
        <p:xfrm>
          <a:off x="345141" y="1012433"/>
          <a:ext cx="8888506" cy="5137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0750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71E6D025-8110-4342-B884-B9AA94376600}"/>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C7D7DD72-2165-489B-A2ED-5679FDD93B2C}"/>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200A4A31-4F6B-4EAD-8F1A-CD765DFBF62F}"/>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7600C79C-2F4D-4CEF-B5C8-1C6658ADA8B8}"/>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DD7B4604-2C93-4058-BE6E-CAB99816B53E}"/>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B5BA1634-CBBB-4126-ADAA-F3EEEB85D6AC}"/>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18AB2D9B-EAF6-492A-9F80-DD99F5C3840B}"/>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graphicEl>
                                              <a:dgm id="{D1751498-47B5-455C-A570-D8F86548E0E5}"/>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8D9B2EEA-C805-45BF-A2C5-9003451E2E0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lvlOne"/>
        </p:bldSub>
      </p:bldGraphic>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090C-796D-4C8F-A29E-61F790668A71}"/>
              </a:ext>
            </a:extLst>
          </p:cNvPr>
          <p:cNvSpPr>
            <a:spLocks noGrp="1"/>
          </p:cNvSpPr>
          <p:nvPr>
            <p:ph type="title"/>
          </p:nvPr>
        </p:nvSpPr>
        <p:spPr/>
        <p:txBody>
          <a:bodyPr/>
          <a:lstStyle/>
          <a:p>
            <a:r>
              <a:rPr lang="en-US" dirty="0"/>
              <a:t>Advantages of View </a:t>
            </a:r>
          </a:p>
        </p:txBody>
      </p:sp>
      <p:sp>
        <p:nvSpPr>
          <p:cNvPr id="3" name="Content Placeholder 2">
            <a:extLst>
              <a:ext uri="{FF2B5EF4-FFF2-40B4-BE49-F238E27FC236}">
                <a16:creationId xmlns:a16="http://schemas.microsoft.com/office/drawing/2014/main" id="{7D253825-2A13-40DC-AE5A-62EDE5215600}"/>
              </a:ext>
            </a:extLst>
          </p:cNvPr>
          <p:cNvSpPr>
            <a:spLocks noGrp="1"/>
          </p:cNvSpPr>
          <p:nvPr>
            <p:ph idx="1"/>
          </p:nvPr>
        </p:nvSpPr>
        <p:spPr/>
        <p:txBody>
          <a:bodyPr/>
          <a:lstStyle/>
          <a:p>
            <a:r>
              <a:rPr lang="en-US" dirty="0"/>
              <a:t>To </a:t>
            </a:r>
            <a:r>
              <a:rPr lang="en-US" dirty="0">
                <a:solidFill>
                  <a:srgbClr val="C00000"/>
                </a:solidFill>
              </a:rPr>
              <a:t>restrict data access</a:t>
            </a:r>
          </a:p>
          <a:p>
            <a:pPr marL="887412" lvl="1" indent="-342900"/>
            <a:r>
              <a:rPr lang="en-US" dirty="0"/>
              <a:t>Only Limited view of table’s data can be provided to different users.</a:t>
            </a:r>
          </a:p>
          <a:p>
            <a:pPr marL="887412" lvl="1" indent="-342900"/>
            <a:r>
              <a:rPr lang="en-US" b="1" dirty="0"/>
              <a:t>Example</a:t>
            </a:r>
            <a:r>
              <a:rPr lang="en-US" dirty="0"/>
              <a:t> </a:t>
            </a:r>
            <a:r>
              <a:rPr lang="en-US" b="1" dirty="0"/>
              <a:t>–</a:t>
            </a:r>
            <a:r>
              <a:rPr lang="en-US" dirty="0"/>
              <a:t> Branch manager can access their branch’s customer’s information only. </a:t>
            </a:r>
          </a:p>
          <a:p>
            <a:pPr marL="342900" indent="-342900"/>
            <a:r>
              <a:rPr lang="en-US" dirty="0">
                <a:solidFill>
                  <a:srgbClr val="C00000"/>
                </a:solidFill>
              </a:rPr>
              <a:t>Simplification of Complex query </a:t>
            </a:r>
          </a:p>
          <a:p>
            <a:pPr marL="887412" lvl="1" indent="-342900"/>
            <a:r>
              <a:rPr lang="en-US" dirty="0"/>
              <a:t>Complex queries can be simplified.</a:t>
            </a:r>
          </a:p>
          <a:p>
            <a:pPr marL="342900" indent="-342900"/>
            <a:r>
              <a:rPr lang="en-US" dirty="0"/>
              <a:t>To provide </a:t>
            </a:r>
            <a:r>
              <a:rPr lang="en-US" dirty="0">
                <a:solidFill>
                  <a:srgbClr val="C00000"/>
                </a:solidFill>
              </a:rPr>
              <a:t>Data independence.</a:t>
            </a:r>
          </a:p>
          <a:p>
            <a:pPr marL="342900" indent="-342900"/>
            <a:r>
              <a:rPr lang="en-US" dirty="0">
                <a:solidFill>
                  <a:srgbClr val="C00000"/>
                </a:solidFill>
              </a:rPr>
              <a:t>To present different view of the same data.</a:t>
            </a:r>
          </a:p>
        </p:txBody>
      </p:sp>
    </p:spTree>
    <p:extLst>
      <p:ext uri="{BB962C8B-B14F-4D97-AF65-F5344CB8AC3E}">
        <p14:creationId xmlns:p14="http://schemas.microsoft.com/office/powerpoint/2010/main" val="50182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4C611-CC33-A999-008C-DE92C8E9EA1D}"/>
              </a:ext>
            </a:extLst>
          </p:cNvPr>
          <p:cNvSpPr>
            <a:spLocks noGrp="1"/>
          </p:cNvSpPr>
          <p:nvPr>
            <p:ph type="title"/>
          </p:nvPr>
        </p:nvSpPr>
        <p:spPr/>
        <p:txBody>
          <a:bodyPr/>
          <a:lstStyle/>
          <a:p>
            <a:r>
              <a:rPr lang="en-US" dirty="0"/>
              <a:t>Create a simple View</a:t>
            </a:r>
            <a:endParaRPr lang="en-IN" dirty="0"/>
          </a:p>
        </p:txBody>
      </p:sp>
      <p:sp>
        <p:nvSpPr>
          <p:cNvPr id="3" name="Content Placeholder 2">
            <a:extLst>
              <a:ext uri="{FF2B5EF4-FFF2-40B4-BE49-F238E27FC236}">
                <a16:creationId xmlns:a16="http://schemas.microsoft.com/office/drawing/2014/main" id="{F4828102-A9F8-9F08-69FA-5837DF14E79B}"/>
              </a:ext>
            </a:extLst>
          </p:cNvPr>
          <p:cNvSpPr>
            <a:spLocks noGrp="1"/>
          </p:cNvSpPr>
          <p:nvPr>
            <p:ph idx="1"/>
          </p:nvPr>
        </p:nvSpPr>
        <p:spPr>
          <a:xfrm>
            <a:off x="131180" y="863444"/>
            <a:ext cx="11952789" cy="5590565"/>
          </a:xfrm>
        </p:spPr>
        <p:txBody>
          <a:bodyPr/>
          <a:lstStyle/>
          <a:p>
            <a:endParaRPr lang="en-IN" dirty="0"/>
          </a:p>
          <a:p>
            <a:endParaRPr lang="en-IN" dirty="0"/>
          </a:p>
          <a:p>
            <a:endParaRPr lang="en-IN" dirty="0"/>
          </a:p>
          <a:p>
            <a:endParaRPr lang="en-IN" dirty="0"/>
          </a:p>
          <a:p>
            <a:endParaRPr lang="en-IN" dirty="0"/>
          </a:p>
          <a:p>
            <a:endParaRPr lang="en-IN" dirty="0"/>
          </a:p>
          <a:p>
            <a:r>
              <a:rPr lang="en-US" b="1" dirty="0"/>
              <a:t>Create a view </a:t>
            </a:r>
            <a:r>
              <a:rPr lang="en-US" b="1" dirty="0" err="1"/>
              <a:t>Student_Details</a:t>
            </a:r>
            <a:r>
              <a:rPr lang="en-US" b="1" dirty="0"/>
              <a:t> having columns </a:t>
            </a:r>
            <a:r>
              <a:rPr lang="en-US" b="1" dirty="0">
                <a:solidFill>
                  <a:srgbClr val="C00000"/>
                </a:solidFill>
              </a:rPr>
              <a:t>Name</a:t>
            </a:r>
            <a:r>
              <a:rPr lang="en-US" b="1" dirty="0"/>
              <a:t>, </a:t>
            </a:r>
            <a:r>
              <a:rPr lang="en-US" b="1" dirty="0">
                <a:solidFill>
                  <a:srgbClr val="C00000"/>
                </a:solidFill>
              </a:rPr>
              <a:t>Branch</a:t>
            </a:r>
            <a:r>
              <a:rPr lang="en-US" b="1" dirty="0"/>
              <a:t> &amp; </a:t>
            </a:r>
            <a:r>
              <a:rPr lang="en-US" b="1" dirty="0">
                <a:solidFill>
                  <a:srgbClr val="C00000"/>
                </a:solidFill>
              </a:rPr>
              <a:t>SPI</a:t>
            </a:r>
            <a:r>
              <a:rPr lang="en-US" dirty="0"/>
              <a:t>.</a:t>
            </a:r>
            <a:endParaRPr lang="en-IN" dirty="0"/>
          </a:p>
        </p:txBody>
      </p:sp>
      <p:sp>
        <p:nvSpPr>
          <p:cNvPr id="5" name="Rectangle 4">
            <a:extLst>
              <a:ext uri="{FF2B5EF4-FFF2-40B4-BE49-F238E27FC236}">
                <a16:creationId xmlns:a16="http://schemas.microsoft.com/office/drawing/2014/main" id="{CADBAAD9-8399-9187-3FA6-5EE5D6768396}"/>
              </a:ext>
            </a:extLst>
          </p:cNvPr>
          <p:cNvSpPr/>
          <p:nvPr/>
        </p:nvSpPr>
        <p:spPr>
          <a:xfrm>
            <a:off x="523875" y="1219200"/>
            <a:ext cx="7858124" cy="1846187"/>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5C19FA85-9CB8-D8F5-60AA-D8666DADDC27}"/>
              </a:ext>
            </a:extLst>
          </p:cNvPr>
          <p:cNvSpPr txBox="1"/>
          <p:nvPr/>
        </p:nvSpPr>
        <p:spPr>
          <a:xfrm>
            <a:off x="190500" y="895545"/>
            <a:ext cx="2298790" cy="369332"/>
          </a:xfrm>
          <a:prstGeom prst="rect">
            <a:avLst/>
          </a:prstGeom>
          <a:noFill/>
        </p:spPr>
        <p:txBody>
          <a:bodyPr wrap="square" rtlCol="0">
            <a:spAutoFit/>
          </a:bodyPr>
          <a:lstStyle/>
          <a:p>
            <a:r>
              <a:rPr lang="en-US" b="1" u="sng" dirty="0"/>
              <a:t>Syntax to create view</a:t>
            </a:r>
          </a:p>
        </p:txBody>
      </p:sp>
      <p:sp>
        <p:nvSpPr>
          <p:cNvPr id="7" name="Rectangle 6">
            <a:extLst>
              <a:ext uri="{FF2B5EF4-FFF2-40B4-BE49-F238E27FC236}">
                <a16:creationId xmlns:a16="http://schemas.microsoft.com/office/drawing/2014/main" id="{43BB4B84-87FD-D11F-7CEF-6B6DD1F8CF96}"/>
              </a:ext>
            </a:extLst>
          </p:cNvPr>
          <p:cNvSpPr/>
          <p:nvPr/>
        </p:nvSpPr>
        <p:spPr>
          <a:xfrm>
            <a:off x="749210" y="1358763"/>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CREATE</a:t>
            </a:r>
          </a:p>
        </p:txBody>
      </p:sp>
      <p:sp>
        <p:nvSpPr>
          <p:cNvPr id="8" name="Rectangle 7">
            <a:extLst>
              <a:ext uri="{FF2B5EF4-FFF2-40B4-BE49-F238E27FC236}">
                <a16:creationId xmlns:a16="http://schemas.microsoft.com/office/drawing/2014/main" id="{D13D867A-4794-97BD-DD99-5EC4BA885C6D}"/>
              </a:ext>
            </a:extLst>
          </p:cNvPr>
          <p:cNvSpPr/>
          <p:nvPr/>
        </p:nvSpPr>
        <p:spPr>
          <a:xfrm>
            <a:off x="3347380" y="1358763"/>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9" name="Rectangle 8">
            <a:extLst>
              <a:ext uri="{FF2B5EF4-FFF2-40B4-BE49-F238E27FC236}">
                <a16:creationId xmlns:a16="http://schemas.microsoft.com/office/drawing/2014/main" id="{F5025F62-3221-1397-7EF6-217865E75FF3}"/>
              </a:ext>
            </a:extLst>
          </p:cNvPr>
          <p:cNvSpPr/>
          <p:nvPr/>
        </p:nvSpPr>
        <p:spPr>
          <a:xfrm>
            <a:off x="4352731" y="1366700"/>
            <a:ext cx="15146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View_name</a:t>
            </a:r>
            <a:endParaRPr lang="en-US" dirty="0"/>
          </a:p>
        </p:txBody>
      </p:sp>
      <p:sp>
        <p:nvSpPr>
          <p:cNvPr id="10" name="Rectangle 9">
            <a:extLst>
              <a:ext uri="{FF2B5EF4-FFF2-40B4-BE49-F238E27FC236}">
                <a16:creationId xmlns:a16="http://schemas.microsoft.com/office/drawing/2014/main" id="{5FF15EA2-D991-1D56-C5AB-6FF3859CDC72}"/>
              </a:ext>
            </a:extLst>
          </p:cNvPr>
          <p:cNvSpPr/>
          <p:nvPr/>
        </p:nvSpPr>
        <p:spPr>
          <a:xfrm>
            <a:off x="7625462" y="2459421"/>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1" name="Rectangle 10">
            <a:extLst>
              <a:ext uri="{FF2B5EF4-FFF2-40B4-BE49-F238E27FC236}">
                <a16:creationId xmlns:a16="http://schemas.microsoft.com/office/drawing/2014/main" id="{D45FD58A-51D5-9A0B-E8B7-EC007CBFC44A}"/>
              </a:ext>
            </a:extLst>
          </p:cNvPr>
          <p:cNvSpPr/>
          <p:nvPr/>
        </p:nvSpPr>
        <p:spPr>
          <a:xfrm>
            <a:off x="762000" y="1905000"/>
            <a:ext cx="48251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AS</a:t>
            </a:r>
          </a:p>
        </p:txBody>
      </p:sp>
      <p:sp>
        <p:nvSpPr>
          <p:cNvPr id="12" name="Rectangle 11">
            <a:extLst>
              <a:ext uri="{FF2B5EF4-FFF2-40B4-BE49-F238E27FC236}">
                <a16:creationId xmlns:a16="http://schemas.microsoft.com/office/drawing/2014/main" id="{5EECE327-4B46-BDA0-5FF1-B48EB696670C}"/>
              </a:ext>
            </a:extLst>
          </p:cNvPr>
          <p:cNvSpPr/>
          <p:nvPr/>
        </p:nvSpPr>
        <p:spPr>
          <a:xfrm>
            <a:off x="762001" y="2449588"/>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3" name="Rectangle 12">
            <a:extLst>
              <a:ext uri="{FF2B5EF4-FFF2-40B4-BE49-F238E27FC236}">
                <a16:creationId xmlns:a16="http://schemas.microsoft.com/office/drawing/2014/main" id="{98EDEEBD-7DBC-9A28-A21B-61886535E695}"/>
              </a:ext>
            </a:extLst>
          </p:cNvPr>
          <p:cNvSpPr/>
          <p:nvPr/>
        </p:nvSpPr>
        <p:spPr>
          <a:xfrm>
            <a:off x="2920309" y="2455484"/>
            <a:ext cx="101950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4" name="Rectangle 13">
            <a:extLst>
              <a:ext uri="{FF2B5EF4-FFF2-40B4-BE49-F238E27FC236}">
                <a16:creationId xmlns:a16="http://schemas.microsoft.com/office/drawing/2014/main" id="{FA23EFEA-A3D1-80C3-AC70-522C4D262EDD}"/>
              </a:ext>
            </a:extLst>
          </p:cNvPr>
          <p:cNvSpPr/>
          <p:nvPr/>
        </p:nvSpPr>
        <p:spPr>
          <a:xfrm>
            <a:off x="4021443" y="2459421"/>
            <a:ext cx="132404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Table_name</a:t>
            </a:r>
            <a:endParaRPr lang="en-US" dirty="0"/>
          </a:p>
        </p:txBody>
      </p:sp>
      <p:sp>
        <p:nvSpPr>
          <p:cNvPr id="15" name="Rectangle 14">
            <a:extLst>
              <a:ext uri="{FF2B5EF4-FFF2-40B4-BE49-F238E27FC236}">
                <a16:creationId xmlns:a16="http://schemas.microsoft.com/office/drawing/2014/main" id="{D8812C0A-8F31-1735-C405-E9336B6BDC87}"/>
              </a:ext>
            </a:extLst>
          </p:cNvPr>
          <p:cNvSpPr/>
          <p:nvPr/>
        </p:nvSpPr>
        <p:spPr>
          <a:xfrm>
            <a:off x="1816009" y="2455484"/>
            <a:ext cx="102732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Columns</a:t>
            </a:r>
          </a:p>
        </p:txBody>
      </p:sp>
      <p:sp>
        <p:nvSpPr>
          <p:cNvPr id="16" name="Rectangle 15">
            <a:extLst>
              <a:ext uri="{FF2B5EF4-FFF2-40B4-BE49-F238E27FC236}">
                <a16:creationId xmlns:a16="http://schemas.microsoft.com/office/drawing/2014/main" id="{AD1BAC74-BFFD-0761-5C37-98D003D7B3CF}"/>
              </a:ext>
            </a:extLst>
          </p:cNvPr>
          <p:cNvSpPr/>
          <p:nvPr/>
        </p:nvSpPr>
        <p:spPr>
          <a:xfrm>
            <a:off x="5427151" y="2459421"/>
            <a:ext cx="89744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17" name="Rectangle 16">
            <a:extLst>
              <a:ext uri="{FF2B5EF4-FFF2-40B4-BE49-F238E27FC236}">
                <a16:creationId xmlns:a16="http://schemas.microsoft.com/office/drawing/2014/main" id="{68A9DF55-CF79-50A9-232B-D46FAB4126D9}"/>
              </a:ext>
            </a:extLst>
          </p:cNvPr>
          <p:cNvSpPr/>
          <p:nvPr/>
        </p:nvSpPr>
        <p:spPr>
          <a:xfrm>
            <a:off x="6406262" y="2459421"/>
            <a:ext cx="11375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Condition</a:t>
            </a:r>
          </a:p>
        </p:txBody>
      </p:sp>
      <p:sp>
        <p:nvSpPr>
          <p:cNvPr id="18" name="Rectangle 17">
            <a:extLst>
              <a:ext uri="{FF2B5EF4-FFF2-40B4-BE49-F238E27FC236}">
                <a16:creationId xmlns:a16="http://schemas.microsoft.com/office/drawing/2014/main" id="{C3210F1A-7F71-1141-E012-F7A1F2C1759A}"/>
              </a:ext>
            </a:extLst>
          </p:cNvPr>
          <p:cNvSpPr/>
          <p:nvPr/>
        </p:nvSpPr>
        <p:spPr>
          <a:xfrm>
            <a:off x="1813300" y="1358763"/>
            <a:ext cx="1460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[OR </a:t>
            </a:r>
            <a:r>
              <a:rPr lang="en-US" dirty="0">
                <a:solidFill>
                  <a:srgbClr val="0000FF"/>
                </a:solidFill>
              </a:rPr>
              <a:t>ALTER</a:t>
            </a:r>
            <a:r>
              <a:rPr lang="en-US" dirty="0">
                <a:solidFill>
                  <a:schemeClr val="tx1"/>
                </a:solidFill>
              </a:rPr>
              <a:t>]</a:t>
            </a:r>
          </a:p>
        </p:txBody>
      </p:sp>
      <p:sp>
        <p:nvSpPr>
          <p:cNvPr id="19" name="TextBox 18">
            <a:extLst>
              <a:ext uri="{FF2B5EF4-FFF2-40B4-BE49-F238E27FC236}">
                <a16:creationId xmlns:a16="http://schemas.microsoft.com/office/drawing/2014/main" id="{069792E0-8103-1DBE-3D16-5615126E1FE5}"/>
              </a:ext>
            </a:extLst>
          </p:cNvPr>
          <p:cNvSpPr txBox="1"/>
          <p:nvPr/>
        </p:nvSpPr>
        <p:spPr>
          <a:xfrm>
            <a:off x="190499" y="3245300"/>
            <a:ext cx="1858219" cy="369332"/>
          </a:xfrm>
          <a:prstGeom prst="rect">
            <a:avLst/>
          </a:prstGeom>
          <a:noFill/>
        </p:spPr>
        <p:txBody>
          <a:bodyPr wrap="square" rtlCol="0">
            <a:spAutoFit/>
          </a:bodyPr>
          <a:lstStyle/>
          <a:p>
            <a:r>
              <a:rPr lang="en-US" b="1" u="sng" dirty="0"/>
              <a:t>Example-1</a:t>
            </a:r>
          </a:p>
        </p:txBody>
      </p:sp>
      <p:sp>
        <p:nvSpPr>
          <p:cNvPr id="20" name="Rectangle 19">
            <a:extLst>
              <a:ext uri="{FF2B5EF4-FFF2-40B4-BE49-F238E27FC236}">
                <a16:creationId xmlns:a16="http://schemas.microsoft.com/office/drawing/2014/main" id="{A7F2BAD2-950F-CB62-39D1-17ECB2A1351B}"/>
              </a:ext>
            </a:extLst>
          </p:cNvPr>
          <p:cNvSpPr/>
          <p:nvPr/>
        </p:nvSpPr>
        <p:spPr>
          <a:xfrm>
            <a:off x="523875" y="4247890"/>
            <a:ext cx="7858124" cy="1902505"/>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893E342D-0BEB-8E37-73C4-310FDA79D93A}"/>
              </a:ext>
            </a:extLst>
          </p:cNvPr>
          <p:cNvSpPr/>
          <p:nvPr/>
        </p:nvSpPr>
        <p:spPr>
          <a:xfrm>
            <a:off x="742080" y="4425570"/>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CREATE</a:t>
            </a:r>
          </a:p>
        </p:txBody>
      </p:sp>
      <p:sp>
        <p:nvSpPr>
          <p:cNvPr id="22" name="Rectangle 21">
            <a:extLst>
              <a:ext uri="{FF2B5EF4-FFF2-40B4-BE49-F238E27FC236}">
                <a16:creationId xmlns:a16="http://schemas.microsoft.com/office/drawing/2014/main" id="{020F3289-7679-8F7C-18F5-1A4E74FFF76C}"/>
              </a:ext>
            </a:extLst>
          </p:cNvPr>
          <p:cNvSpPr/>
          <p:nvPr/>
        </p:nvSpPr>
        <p:spPr>
          <a:xfrm>
            <a:off x="1808880" y="4425570"/>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23" name="Rectangle 22">
            <a:extLst>
              <a:ext uri="{FF2B5EF4-FFF2-40B4-BE49-F238E27FC236}">
                <a16:creationId xmlns:a16="http://schemas.microsoft.com/office/drawing/2014/main" id="{D66F4AA3-44BC-7EA3-8514-F2518B093994}"/>
              </a:ext>
            </a:extLst>
          </p:cNvPr>
          <p:cNvSpPr/>
          <p:nvPr/>
        </p:nvSpPr>
        <p:spPr>
          <a:xfrm>
            <a:off x="2814231" y="4433507"/>
            <a:ext cx="196611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24" name="Rectangle 23">
            <a:extLst>
              <a:ext uri="{FF2B5EF4-FFF2-40B4-BE49-F238E27FC236}">
                <a16:creationId xmlns:a16="http://schemas.microsoft.com/office/drawing/2014/main" id="{33B033FE-4BFD-6B95-0CAD-B77AD4F6FE3B}"/>
              </a:ext>
            </a:extLst>
          </p:cNvPr>
          <p:cNvSpPr/>
          <p:nvPr/>
        </p:nvSpPr>
        <p:spPr>
          <a:xfrm>
            <a:off x="7010400" y="5534192"/>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5" name="Rectangle 24">
            <a:extLst>
              <a:ext uri="{FF2B5EF4-FFF2-40B4-BE49-F238E27FC236}">
                <a16:creationId xmlns:a16="http://schemas.microsoft.com/office/drawing/2014/main" id="{79E83E35-9F2E-EF88-EACF-8788FA6331E9}"/>
              </a:ext>
            </a:extLst>
          </p:cNvPr>
          <p:cNvSpPr/>
          <p:nvPr/>
        </p:nvSpPr>
        <p:spPr>
          <a:xfrm>
            <a:off x="754870" y="4971807"/>
            <a:ext cx="48251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AS</a:t>
            </a:r>
          </a:p>
        </p:txBody>
      </p:sp>
      <p:sp>
        <p:nvSpPr>
          <p:cNvPr id="26" name="Rectangle 25">
            <a:extLst>
              <a:ext uri="{FF2B5EF4-FFF2-40B4-BE49-F238E27FC236}">
                <a16:creationId xmlns:a16="http://schemas.microsoft.com/office/drawing/2014/main" id="{8E2F3E4B-6A19-6BF6-5E81-9DCE4059D027}"/>
              </a:ext>
            </a:extLst>
          </p:cNvPr>
          <p:cNvSpPr/>
          <p:nvPr/>
        </p:nvSpPr>
        <p:spPr>
          <a:xfrm>
            <a:off x="754871" y="5516395"/>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27" name="Rectangle 26">
            <a:extLst>
              <a:ext uri="{FF2B5EF4-FFF2-40B4-BE49-F238E27FC236}">
                <a16:creationId xmlns:a16="http://schemas.microsoft.com/office/drawing/2014/main" id="{FE414CF6-2FED-3333-8DFC-017405E88562}"/>
              </a:ext>
            </a:extLst>
          </p:cNvPr>
          <p:cNvSpPr/>
          <p:nvPr/>
        </p:nvSpPr>
        <p:spPr>
          <a:xfrm>
            <a:off x="4998543" y="5545224"/>
            <a:ext cx="724501"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28" name="Rectangle 27">
            <a:extLst>
              <a:ext uri="{FF2B5EF4-FFF2-40B4-BE49-F238E27FC236}">
                <a16:creationId xmlns:a16="http://schemas.microsoft.com/office/drawing/2014/main" id="{B6D5CB80-8E6A-A7FC-15B4-8DEA6B363628}"/>
              </a:ext>
            </a:extLst>
          </p:cNvPr>
          <p:cNvSpPr/>
          <p:nvPr/>
        </p:nvSpPr>
        <p:spPr>
          <a:xfrm>
            <a:off x="5798322" y="5540088"/>
            <a:ext cx="1137538"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Student</a:t>
            </a:r>
          </a:p>
        </p:txBody>
      </p:sp>
      <p:sp>
        <p:nvSpPr>
          <p:cNvPr id="29" name="Rectangle 28">
            <a:extLst>
              <a:ext uri="{FF2B5EF4-FFF2-40B4-BE49-F238E27FC236}">
                <a16:creationId xmlns:a16="http://schemas.microsoft.com/office/drawing/2014/main" id="{731ADB97-8965-0967-4194-13763208340F}"/>
              </a:ext>
            </a:extLst>
          </p:cNvPr>
          <p:cNvSpPr/>
          <p:nvPr/>
        </p:nvSpPr>
        <p:spPr>
          <a:xfrm>
            <a:off x="1808879" y="5522291"/>
            <a:ext cx="80325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Name,</a:t>
            </a:r>
          </a:p>
        </p:txBody>
      </p:sp>
      <p:sp>
        <p:nvSpPr>
          <p:cNvPr id="30" name="Rectangle 29">
            <a:extLst>
              <a:ext uri="{FF2B5EF4-FFF2-40B4-BE49-F238E27FC236}">
                <a16:creationId xmlns:a16="http://schemas.microsoft.com/office/drawing/2014/main" id="{85E1871D-7AE3-82A4-0245-5D6E29AB2B11}"/>
              </a:ext>
            </a:extLst>
          </p:cNvPr>
          <p:cNvSpPr/>
          <p:nvPr/>
        </p:nvSpPr>
        <p:spPr>
          <a:xfrm>
            <a:off x="2803862" y="5533429"/>
            <a:ext cx="903907"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Branch,</a:t>
            </a:r>
          </a:p>
        </p:txBody>
      </p:sp>
      <p:sp>
        <p:nvSpPr>
          <p:cNvPr id="31" name="Rectangle 30">
            <a:extLst>
              <a:ext uri="{FF2B5EF4-FFF2-40B4-BE49-F238E27FC236}">
                <a16:creationId xmlns:a16="http://schemas.microsoft.com/office/drawing/2014/main" id="{93A60A75-1DCF-CFFF-B365-CD108AED61D5}"/>
              </a:ext>
            </a:extLst>
          </p:cNvPr>
          <p:cNvSpPr/>
          <p:nvPr/>
        </p:nvSpPr>
        <p:spPr>
          <a:xfrm>
            <a:off x="3876344" y="5533649"/>
            <a:ext cx="10170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SPI</a:t>
            </a:r>
          </a:p>
        </p:txBody>
      </p:sp>
      <p:pic>
        <p:nvPicPr>
          <p:cNvPr id="32" name="Picture 31">
            <a:extLst>
              <a:ext uri="{FF2B5EF4-FFF2-40B4-BE49-F238E27FC236}">
                <a16:creationId xmlns:a16="http://schemas.microsoft.com/office/drawing/2014/main" id="{36F6DDF2-F665-7AA1-38E4-A543321569D0}"/>
              </a:ext>
            </a:extLst>
          </p:cNvPr>
          <p:cNvPicPr>
            <a:picLocks noChangeAspect="1"/>
          </p:cNvPicPr>
          <p:nvPr/>
        </p:nvPicPr>
        <p:blipFill>
          <a:blip r:embed="rId2"/>
          <a:stretch>
            <a:fillRect/>
          </a:stretch>
        </p:blipFill>
        <p:spPr>
          <a:xfrm>
            <a:off x="9166456" y="1735356"/>
            <a:ext cx="2457793" cy="1412958"/>
          </a:xfrm>
          <a:prstGeom prst="rect">
            <a:avLst/>
          </a:prstGeom>
        </p:spPr>
      </p:pic>
      <p:graphicFrame>
        <p:nvGraphicFramePr>
          <p:cNvPr id="33" name="Content Placeholder 4">
            <a:extLst>
              <a:ext uri="{FF2B5EF4-FFF2-40B4-BE49-F238E27FC236}">
                <a16:creationId xmlns:a16="http://schemas.microsoft.com/office/drawing/2014/main" id="{6AE67D41-E653-C6A2-EFB2-A8682385374C}"/>
              </a:ext>
            </a:extLst>
          </p:cNvPr>
          <p:cNvGraphicFramePr>
            <a:graphicFrameLocks/>
          </p:cNvGraphicFramePr>
          <p:nvPr>
            <p:extLst>
              <p:ext uri="{D42A27DB-BD31-4B8C-83A1-F6EECF244321}">
                <p14:modId xmlns:p14="http://schemas.microsoft.com/office/powerpoint/2010/main" val="628105261"/>
              </p:ext>
            </p:extLst>
          </p:nvPr>
        </p:nvGraphicFramePr>
        <p:xfrm>
          <a:off x="9172851" y="1382957"/>
          <a:ext cx="943422" cy="365760"/>
        </p:xfrm>
        <a:graphic>
          <a:graphicData uri="http://schemas.openxmlformats.org/drawingml/2006/table">
            <a:tbl>
              <a:tblPr firstRow="1" bandRow="1">
                <a:tableStyleId>{8EC20E35-A176-4012-BC5E-935CFFF8708E}</a:tableStyleId>
              </a:tblPr>
              <a:tblGrid>
                <a:gridCol w="943422">
                  <a:extLst>
                    <a:ext uri="{9D8B030D-6E8A-4147-A177-3AD203B41FA5}">
                      <a16:colId xmlns:a16="http://schemas.microsoft.com/office/drawing/2014/main" val="20000"/>
                    </a:ext>
                  </a:extLst>
                </a:gridCol>
              </a:tblGrid>
              <a:tr h="355691">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35" name="Rectangle 34">
            <a:extLst>
              <a:ext uri="{FF2B5EF4-FFF2-40B4-BE49-F238E27FC236}">
                <a16:creationId xmlns:a16="http://schemas.microsoft.com/office/drawing/2014/main" id="{59A3E438-C441-B11D-76AD-0B94994BF1EC}"/>
              </a:ext>
            </a:extLst>
          </p:cNvPr>
          <p:cNvSpPr/>
          <p:nvPr/>
        </p:nvSpPr>
        <p:spPr>
          <a:xfrm>
            <a:off x="9166456" y="1746931"/>
            <a:ext cx="2457793" cy="14129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5375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2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28"/>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3543C-9CDC-7C4D-3E67-D77C4A2C3442}"/>
              </a:ext>
            </a:extLst>
          </p:cNvPr>
          <p:cNvSpPr>
            <a:spLocks noGrp="1"/>
          </p:cNvSpPr>
          <p:nvPr>
            <p:ph type="title"/>
          </p:nvPr>
        </p:nvSpPr>
        <p:spPr/>
        <p:txBody>
          <a:bodyPr/>
          <a:lstStyle/>
          <a:p>
            <a:r>
              <a:rPr lang="en-US" b="1" dirty="0"/>
              <a:t>Display view</a:t>
            </a:r>
            <a:endParaRPr lang="en-IN" dirty="0"/>
          </a:p>
        </p:txBody>
      </p:sp>
      <p:sp>
        <p:nvSpPr>
          <p:cNvPr id="4" name="Rectangle 3">
            <a:extLst>
              <a:ext uri="{FF2B5EF4-FFF2-40B4-BE49-F238E27FC236}">
                <a16:creationId xmlns:a16="http://schemas.microsoft.com/office/drawing/2014/main" id="{FA7DE5A0-0C85-4E3D-E712-F635A40CEEC5}"/>
              </a:ext>
            </a:extLst>
          </p:cNvPr>
          <p:cNvSpPr/>
          <p:nvPr/>
        </p:nvSpPr>
        <p:spPr>
          <a:xfrm>
            <a:off x="609600" y="1304125"/>
            <a:ext cx="7586889" cy="7608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486F8E0B-13AF-CD76-42C3-0233050A29EE}"/>
              </a:ext>
            </a:extLst>
          </p:cNvPr>
          <p:cNvSpPr/>
          <p:nvPr/>
        </p:nvSpPr>
        <p:spPr>
          <a:xfrm>
            <a:off x="609600" y="2454565"/>
            <a:ext cx="7586889" cy="7608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207A3F74-8838-8479-3DC2-9AF8F02E6F92}"/>
              </a:ext>
            </a:extLst>
          </p:cNvPr>
          <p:cNvSpPr/>
          <p:nvPr/>
        </p:nvSpPr>
        <p:spPr>
          <a:xfrm>
            <a:off x="7625462" y="1457633"/>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7" name="Rectangle 6">
            <a:extLst>
              <a:ext uri="{FF2B5EF4-FFF2-40B4-BE49-F238E27FC236}">
                <a16:creationId xmlns:a16="http://schemas.microsoft.com/office/drawing/2014/main" id="{2004126A-C4EC-CA59-4728-EEF7A29648AD}"/>
              </a:ext>
            </a:extLst>
          </p:cNvPr>
          <p:cNvSpPr/>
          <p:nvPr/>
        </p:nvSpPr>
        <p:spPr>
          <a:xfrm>
            <a:off x="762001" y="1447800"/>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8" name="Rectangle 7">
            <a:extLst>
              <a:ext uri="{FF2B5EF4-FFF2-40B4-BE49-F238E27FC236}">
                <a16:creationId xmlns:a16="http://schemas.microsoft.com/office/drawing/2014/main" id="{435C9589-BD11-CAF6-6097-FA12A1B553FF}"/>
              </a:ext>
            </a:extLst>
          </p:cNvPr>
          <p:cNvSpPr/>
          <p:nvPr/>
        </p:nvSpPr>
        <p:spPr>
          <a:xfrm>
            <a:off x="2920309" y="1453696"/>
            <a:ext cx="101950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9" name="Rectangle 8">
            <a:extLst>
              <a:ext uri="{FF2B5EF4-FFF2-40B4-BE49-F238E27FC236}">
                <a16:creationId xmlns:a16="http://schemas.microsoft.com/office/drawing/2014/main" id="{D50D8610-6DFE-B866-B3E5-4CA62D5F1355}"/>
              </a:ext>
            </a:extLst>
          </p:cNvPr>
          <p:cNvSpPr/>
          <p:nvPr/>
        </p:nvSpPr>
        <p:spPr>
          <a:xfrm>
            <a:off x="4021443" y="1457633"/>
            <a:ext cx="132404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View_name</a:t>
            </a:r>
            <a:endParaRPr lang="en-US" dirty="0"/>
          </a:p>
        </p:txBody>
      </p:sp>
      <p:sp>
        <p:nvSpPr>
          <p:cNvPr id="10" name="Rectangle 9">
            <a:extLst>
              <a:ext uri="{FF2B5EF4-FFF2-40B4-BE49-F238E27FC236}">
                <a16:creationId xmlns:a16="http://schemas.microsoft.com/office/drawing/2014/main" id="{7206AA89-F5E5-65B7-83E9-1E939E5381D5}"/>
              </a:ext>
            </a:extLst>
          </p:cNvPr>
          <p:cNvSpPr/>
          <p:nvPr/>
        </p:nvSpPr>
        <p:spPr>
          <a:xfrm>
            <a:off x="1816009" y="1453696"/>
            <a:ext cx="102732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Columns</a:t>
            </a:r>
          </a:p>
        </p:txBody>
      </p:sp>
      <p:sp>
        <p:nvSpPr>
          <p:cNvPr id="11" name="Rectangle 10">
            <a:extLst>
              <a:ext uri="{FF2B5EF4-FFF2-40B4-BE49-F238E27FC236}">
                <a16:creationId xmlns:a16="http://schemas.microsoft.com/office/drawing/2014/main" id="{A806EED5-BF21-CCB2-7BBF-A228B6A51A4B}"/>
              </a:ext>
            </a:extLst>
          </p:cNvPr>
          <p:cNvSpPr/>
          <p:nvPr/>
        </p:nvSpPr>
        <p:spPr>
          <a:xfrm>
            <a:off x="5427151" y="1457633"/>
            <a:ext cx="89744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12" name="Rectangle 11">
            <a:extLst>
              <a:ext uri="{FF2B5EF4-FFF2-40B4-BE49-F238E27FC236}">
                <a16:creationId xmlns:a16="http://schemas.microsoft.com/office/drawing/2014/main" id="{3300CA8A-9B72-5EF3-D910-8DD5ED1ED160}"/>
              </a:ext>
            </a:extLst>
          </p:cNvPr>
          <p:cNvSpPr/>
          <p:nvPr/>
        </p:nvSpPr>
        <p:spPr>
          <a:xfrm>
            <a:off x="6406262" y="1457633"/>
            <a:ext cx="11375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Condition</a:t>
            </a:r>
          </a:p>
        </p:txBody>
      </p:sp>
      <p:sp>
        <p:nvSpPr>
          <p:cNvPr id="13" name="TextBox 12">
            <a:extLst>
              <a:ext uri="{FF2B5EF4-FFF2-40B4-BE49-F238E27FC236}">
                <a16:creationId xmlns:a16="http://schemas.microsoft.com/office/drawing/2014/main" id="{CD48932D-CF09-1D17-32BF-506E60FC5A2B}"/>
              </a:ext>
            </a:extLst>
          </p:cNvPr>
          <p:cNvSpPr txBox="1"/>
          <p:nvPr/>
        </p:nvSpPr>
        <p:spPr>
          <a:xfrm>
            <a:off x="304800" y="899119"/>
            <a:ext cx="2298790" cy="369332"/>
          </a:xfrm>
          <a:prstGeom prst="rect">
            <a:avLst/>
          </a:prstGeom>
          <a:noFill/>
        </p:spPr>
        <p:txBody>
          <a:bodyPr wrap="square" rtlCol="0">
            <a:spAutoFit/>
          </a:bodyPr>
          <a:lstStyle/>
          <a:p>
            <a:r>
              <a:rPr lang="en-US" b="1" u="sng" dirty="0"/>
              <a:t>Syntax to Display view</a:t>
            </a:r>
          </a:p>
        </p:txBody>
      </p:sp>
      <p:sp>
        <p:nvSpPr>
          <p:cNvPr id="14" name="TextBox 13">
            <a:extLst>
              <a:ext uri="{FF2B5EF4-FFF2-40B4-BE49-F238E27FC236}">
                <a16:creationId xmlns:a16="http://schemas.microsoft.com/office/drawing/2014/main" id="{4F010947-2619-EEE3-F7EA-C1B9A6330984}"/>
              </a:ext>
            </a:extLst>
          </p:cNvPr>
          <p:cNvSpPr txBox="1"/>
          <p:nvPr/>
        </p:nvSpPr>
        <p:spPr>
          <a:xfrm>
            <a:off x="304799" y="2145268"/>
            <a:ext cx="4348224" cy="369332"/>
          </a:xfrm>
          <a:prstGeom prst="rect">
            <a:avLst/>
          </a:prstGeom>
          <a:noFill/>
        </p:spPr>
        <p:txBody>
          <a:bodyPr wrap="square" rtlCol="0">
            <a:spAutoFit/>
          </a:bodyPr>
          <a:lstStyle/>
          <a:p>
            <a:r>
              <a:rPr lang="en-US" b="1" u="sng" dirty="0"/>
              <a:t>To display </a:t>
            </a:r>
            <a:r>
              <a:rPr lang="en-IN" b="1" u="sng" dirty="0" err="1"/>
              <a:t>Student_Details</a:t>
            </a:r>
            <a:r>
              <a:rPr lang="en-US" b="1" u="sng" dirty="0"/>
              <a:t> view</a:t>
            </a:r>
          </a:p>
        </p:txBody>
      </p:sp>
      <p:sp>
        <p:nvSpPr>
          <p:cNvPr id="15" name="Rectangle 14">
            <a:extLst>
              <a:ext uri="{FF2B5EF4-FFF2-40B4-BE49-F238E27FC236}">
                <a16:creationId xmlns:a16="http://schemas.microsoft.com/office/drawing/2014/main" id="{FA5A51C0-2B04-7F6E-625F-C02476666224}"/>
              </a:ext>
            </a:extLst>
          </p:cNvPr>
          <p:cNvSpPr/>
          <p:nvPr/>
        </p:nvSpPr>
        <p:spPr>
          <a:xfrm>
            <a:off x="5284454" y="2590800"/>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6" name="Rectangle 15">
            <a:extLst>
              <a:ext uri="{FF2B5EF4-FFF2-40B4-BE49-F238E27FC236}">
                <a16:creationId xmlns:a16="http://schemas.microsoft.com/office/drawing/2014/main" id="{8D551675-580F-9C7E-0CD0-4B13B9B8A1F5}"/>
              </a:ext>
            </a:extLst>
          </p:cNvPr>
          <p:cNvSpPr/>
          <p:nvPr/>
        </p:nvSpPr>
        <p:spPr>
          <a:xfrm>
            <a:off x="762000" y="2580967"/>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7" name="Rectangle 16">
            <a:extLst>
              <a:ext uri="{FF2B5EF4-FFF2-40B4-BE49-F238E27FC236}">
                <a16:creationId xmlns:a16="http://schemas.microsoft.com/office/drawing/2014/main" id="{7BC43656-6F62-1060-878F-5FCA9B402E65}"/>
              </a:ext>
            </a:extLst>
          </p:cNvPr>
          <p:cNvSpPr/>
          <p:nvPr/>
        </p:nvSpPr>
        <p:spPr>
          <a:xfrm>
            <a:off x="2387508" y="2586863"/>
            <a:ext cx="101950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8" name="Rectangle 17">
            <a:extLst>
              <a:ext uri="{FF2B5EF4-FFF2-40B4-BE49-F238E27FC236}">
                <a16:creationId xmlns:a16="http://schemas.microsoft.com/office/drawing/2014/main" id="{CFE382D6-2225-BF70-21F6-DEE71885082F}"/>
              </a:ext>
            </a:extLst>
          </p:cNvPr>
          <p:cNvSpPr/>
          <p:nvPr/>
        </p:nvSpPr>
        <p:spPr>
          <a:xfrm>
            <a:off x="3488642" y="2590800"/>
            <a:ext cx="169681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19" name="Rectangle 18">
            <a:extLst>
              <a:ext uri="{FF2B5EF4-FFF2-40B4-BE49-F238E27FC236}">
                <a16:creationId xmlns:a16="http://schemas.microsoft.com/office/drawing/2014/main" id="{479232F2-7D24-63D8-FCE5-ECCB57FE3F1A}"/>
              </a:ext>
            </a:extLst>
          </p:cNvPr>
          <p:cNvSpPr/>
          <p:nvPr/>
        </p:nvSpPr>
        <p:spPr>
          <a:xfrm>
            <a:off x="1816008" y="2586863"/>
            <a:ext cx="49296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a:t>
            </a:r>
          </a:p>
        </p:txBody>
      </p:sp>
      <p:sp>
        <p:nvSpPr>
          <p:cNvPr id="20" name="TextBox 19">
            <a:extLst>
              <a:ext uri="{FF2B5EF4-FFF2-40B4-BE49-F238E27FC236}">
                <a16:creationId xmlns:a16="http://schemas.microsoft.com/office/drawing/2014/main" id="{40E50372-767C-2C0C-E12A-97913B82B651}"/>
              </a:ext>
            </a:extLst>
          </p:cNvPr>
          <p:cNvSpPr txBox="1"/>
          <p:nvPr/>
        </p:nvSpPr>
        <p:spPr>
          <a:xfrm>
            <a:off x="304800" y="3429000"/>
            <a:ext cx="1648054" cy="369332"/>
          </a:xfrm>
          <a:prstGeom prst="rect">
            <a:avLst/>
          </a:prstGeom>
          <a:noFill/>
        </p:spPr>
        <p:txBody>
          <a:bodyPr wrap="square" rtlCol="0">
            <a:spAutoFit/>
          </a:bodyPr>
          <a:lstStyle/>
          <a:p>
            <a:r>
              <a:rPr lang="en-US" b="1" u="sng" dirty="0"/>
              <a:t>Output (VIEW)</a:t>
            </a:r>
          </a:p>
        </p:txBody>
      </p:sp>
      <p:pic>
        <p:nvPicPr>
          <p:cNvPr id="37" name="Picture 36">
            <a:extLst>
              <a:ext uri="{FF2B5EF4-FFF2-40B4-BE49-F238E27FC236}">
                <a16:creationId xmlns:a16="http://schemas.microsoft.com/office/drawing/2014/main" id="{1BF8D7C3-3258-CC52-B97D-B4DD9CF46A31}"/>
              </a:ext>
            </a:extLst>
          </p:cNvPr>
          <p:cNvPicPr>
            <a:picLocks noChangeAspect="1"/>
          </p:cNvPicPr>
          <p:nvPr/>
        </p:nvPicPr>
        <p:blipFill>
          <a:blip r:embed="rId2"/>
          <a:stretch>
            <a:fillRect/>
          </a:stretch>
        </p:blipFill>
        <p:spPr>
          <a:xfrm>
            <a:off x="762000" y="4495595"/>
            <a:ext cx="1648055" cy="1143160"/>
          </a:xfrm>
          <a:prstGeom prst="rect">
            <a:avLst/>
          </a:prstGeom>
        </p:spPr>
      </p:pic>
      <p:graphicFrame>
        <p:nvGraphicFramePr>
          <p:cNvPr id="38" name="Content Placeholder 4">
            <a:extLst>
              <a:ext uri="{FF2B5EF4-FFF2-40B4-BE49-F238E27FC236}">
                <a16:creationId xmlns:a16="http://schemas.microsoft.com/office/drawing/2014/main" id="{CBBA2F79-9D30-F213-743B-37ECE596E9B0}"/>
              </a:ext>
            </a:extLst>
          </p:cNvPr>
          <p:cNvGraphicFramePr>
            <a:graphicFrameLocks/>
          </p:cNvGraphicFramePr>
          <p:nvPr>
            <p:extLst>
              <p:ext uri="{D42A27DB-BD31-4B8C-83A1-F6EECF244321}">
                <p14:modId xmlns:p14="http://schemas.microsoft.com/office/powerpoint/2010/main" val="1501882228"/>
              </p:ext>
            </p:extLst>
          </p:nvPr>
        </p:nvGraphicFramePr>
        <p:xfrm>
          <a:off x="762000" y="4129835"/>
          <a:ext cx="1648055" cy="365760"/>
        </p:xfrm>
        <a:graphic>
          <a:graphicData uri="http://schemas.openxmlformats.org/drawingml/2006/table">
            <a:tbl>
              <a:tblPr firstRow="1" bandRow="1">
                <a:tableStyleId>{8EC20E35-A176-4012-BC5E-935CFFF8708E}</a:tableStyleId>
              </a:tblPr>
              <a:tblGrid>
                <a:gridCol w="1648055">
                  <a:extLst>
                    <a:ext uri="{9D8B030D-6E8A-4147-A177-3AD203B41FA5}">
                      <a16:colId xmlns:a16="http://schemas.microsoft.com/office/drawing/2014/main" val="20000"/>
                    </a:ext>
                  </a:extLst>
                </a:gridCol>
              </a:tblGrid>
              <a:tr h="355691">
                <a:tc>
                  <a:txBody>
                    <a:bodyPr/>
                    <a:lstStyle/>
                    <a:p>
                      <a:pPr algn="ctr"/>
                      <a:r>
                        <a:rPr lang="en-IN" dirty="0" err="1">
                          <a:solidFill>
                            <a:schemeClr val="tx1"/>
                          </a:solidFill>
                        </a:rPr>
                        <a:t>Student_Details</a:t>
                      </a:r>
                      <a:endParaRPr lang="en-US"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4798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p:bldP spid="14" grpId="0"/>
      <p:bldP spid="15" grpId="0" animBg="1"/>
      <p:bldP spid="16" grpId="0" animBg="1"/>
      <p:bldP spid="17" grpId="0" animBg="1"/>
      <p:bldP spid="18" grpId="0" animBg="1"/>
      <p:bldP spid="19" grpId="0" animBg="1"/>
      <p:bldP spid="2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36AB-CF16-3F0B-C990-216BFBFA36C0}"/>
              </a:ext>
            </a:extLst>
          </p:cNvPr>
          <p:cNvSpPr>
            <a:spLocks noGrp="1"/>
          </p:cNvSpPr>
          <p:nvPr>
            <p:ph type="title"/>
          </p:nvPr>
        </p:nvSpPr>
        <p:spPr/>
        <p:txBody>
          <a:bodyPr/>
          <a:lstStyle/>
          <a:p>
            <a:r>
              <a:rPr lang="en-IN" dirty="0"/>
              <a:t>View Examples</a:t>
            </a:r>
          </a:p>
        </p:txBody>
      </p:sp>
      <p:sp>
        <p:nvSpPr>
          <p:cNvPr id="3" name="Content Placeholder 2">
            <a:extLst>
              <a:ext uri="{FF2B5EF4-FFF2-40B4-BE49-F238E27FC236}">
                <a16:creationId xmlns:a16="http://schemas.microsoft.com/office/drawing/2014/main" id="{78B41B80-3AB7-2A32-2762-24BCF696F8FE}"/>
              </a:ext>
            </a:extLst>
          </p:cNvPr>
          <p:cNvSpPr>
            <a:spLocks noGrp="1"/>
          </p:cNvSpPr>
          <p:nvPr>
            <p:ph idx="1"/>
          </p:nvPr>
        </p:nvSpPr>
        <p:spPr/>
        <p:txBody>
          <a:bodyPr/>
          <a:lstStyle/>
          <a:p>
            <a:endParaRPr lang="en-IN" dirty="0"/>
          </a:p>
          <a:p>
            <a:r>
              <a:rPr lang="en-US" b="1" dirty="0"/>
              <a:t>Create a view STUDENT_BKLOG having all columns but students whose backlog more than 2</a:t>
            </a:r>
            <a:r>
              <a:rPr lang="en-US" dirty="0"/>
              <a:t>.</a:t>
            </a:r>
          </a:p>
          <a:p>
            <a:endParaRPr lang="en-US" dirty="0"/>
          </a:p>
          <a:p>
            <a:endParaRPr lang="en-US" dirty="0"/>
          </a:p>
          <a:p>
            <a:endParaRPr lang="en-US" dirty="0"/>
          </a:p>
          <a:p>
            <a:endParaRPr lang="en-US" dirty="0"/>
          </a:p>
          <a:p>
            <a:endParaRPr lang="en-US" dirty="0"/>
          </a:p>
          <a:p>
            <a:endParaRPr lang="en-IN" sz="1800" dirty="0">
              <a:solidFill>
                <a:srgbClr val="0000FF"/>
              </a:solidFill>
              <a:latin typeface="Consolas" panose="020B0609020204030204" pitchFamily="49" charset="0"/>
            </a:endParaRPr>
          </a:p>
          <a:p>
            <a:r>
              <a:rPr lang="en-IN" sz="1800" dirty="0">
                <a:solidFill>
                  <a:srgbClr val="0000FF"/>
                </a:solidFill>
              </a:rPr>
              <a:t>SELECT</a:t>
            </a:r>
            <a:r>
              <a:rPr lang="en-IN" sz="1800" dirty="0">
                <a:solidFill>
                  <a:srgbClr val="000000"/>
                </a:solidFill>
              </a:rPr>
              <a:t> </a:t>
            </a:r>
            <a:r>
              <a:rPr lang="en-IN" sz="1800" dirty="0">
                <a:solidFill>
                  <a:srgbClr val="808080"/>
                </a:solidFill>
              </a:rPr>
              <a:t>*</a:t>
            </a:r>
            <a:r>
              <a:rPr lang="en-IN" sz="1800" dirty="0">
                <a:solidFill>
                  <a:srgbClr val="000000"/>
                </a:solidFill>
              </a:rPr>
              <a:t> </a:t>
            </a:r>
            <a:r>
              <a:rPr lang="en-IN" sz="1800" dirty="0">
                <a:solidFill>
                  <a:srgbClr val="0000FF"/>
                </a:solidFill>
              </a:rPr>
              <a:t>FROM</a:t>
            </a:r>
            <a:r>
              <a:rPr lang="en-IN" sz="1800" dirty="0">
                <a:solidFill>
                  <a:srgbClr val="000000"/>
                </a:solidFill>
              </a:rPr>
              <a:t> STUDENT_BKLOG</a:t>
            </a:r>
            <a:r>
              <a:rPr lang="en-IN" sz="1800" dirty="0">
                <a:solidFill>
                  <a:srgbClr val="808080"/>
                </a:solidFill>
              </a:rPr>
              <a:t>;</a:t>
            </a:r>
            <a:endParaRPr lang="en-US" dirty="0"/>
          </a:p>
          <a:p>
            <a:endParaRPr lang="en-US" dirty="0"/>
          </a:p>
          <a:p>
            <a:endParaRPr lang="en-IN" dirty="0"/>
          </a:p>
        </p:txBody>
      </p:sp>
      <p:sp>
        <p:nvSpPr>
          <p:cNvPr id="4" name="TextBox 3">
            <a:extLst>
              <a:ext uri="{FF2B5EF4-FFF2-40B4-BE49-F238E27FC236}">
                <a16:creationId xmlns:a16="http://schemas.microsoft.com/office/drawing/2014/main" id="{2C599D54-8272-124C-B629-DA8C49AF5773}"/>
              </a:ext>
            </a:extLst>
          </p:cNvPr>
          <p:cNvSpPr txBox="1"/>
          <p:nvPr/>
        </p:nvSpPr>
        <p:spPr>
          <a:xfrm>
            <a:off x="398843" y="863444"/>
            <a:ext cx="1858219" cy="369332"/>
          </a:xfrm>
          <a:prstGeom prst="rect">
            <a:avLst/>
          </a:prstGeom>
          <a:noFill/>
        </p:spPr>
        <p:txBody>
          <a:bodyPr wrap="square" rtlCol="0">
            <a:spAutoFit/>
          </a:bodyPr>
          <a:lstStyle/>
          <a:p>
            <a:r>
              <a:rPr lang="en-US" b="1" u="sng" dirty="0"/>
              <a:t>Example-2</a:t>
            </a:r>
          </a:p>
        </p:txBody>
      </p:sp>
      <p:sp>
        <p:nvSpPr>
          <p:cNvPr id="5" name="Rectangle 4">
            <a:extLst>
              <a:ext uri="{FF2B5EF4-FFF2-40B4-BE49-F238E27FC236}">
                <a16:creationId xmlns:a16="http://schemas.microsoft.com/office/drawing/2014/main" id="{D6876184-B2D3-2A14-4159-42EAA0FCA275}"/>
              </a:ext>
            </a:extLst>
          </p:cNvPr>
          <p:cNvSpPr/>
          <p:nvPr/>
        </p:nvSpPr>
        <p:spPr>
          <a:xfrm>
            <a:off x="732219" y="1839139"/>
            <a:ext cx="7858124" cy="1902505"/>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241E30E-9A96-A6F8-F47C-168380CF225B}"/>
              </a:ext>
            </a:extLst>
          </p:cNvPr>
          <p:cNvSpPr/>
          <p:nvPr/>
        </p:nvSpPr>
        <p:spPr>
          <a:xfrm>
            <a:off x="950424" y="2043714"/>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CREATE</a:t>
            </a:r>
          </a:p>
        </p:txBody>
      </p:sp>
      <p:sp>
        <p:nvSpPr>
          <p:cNvPr id="7" name="Rectangle 6">
            <a:extLst>
              <a:ext uri="{FF2B5EF4-FFF2-40B4-BE49-F238E27FC236}">
                <a16:creationId xmlns:a16="http://schemas.microsoft.com/office/drawing/2014/main" id="{FCC7E97F-BD8B-4059-8196-DF3C27F4E08A}"/>
              </a:ext>
            </a:extLst>
          </p:cNvPr>
          <p:cNvSpPr/>
          <p:nvPr/>
        </p:nvSpPr>
        <p:spPr>
          <a:xfrm>
            <a:off x="2017224" y="2043714"/>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8" name="Rectangle 7">
            <a:extLst>
              <a:ext uri="{FF2B5EF4-FFF2-40B4-BE49-F238E27FC236}">
                <a16:creationId xmlns:a16="http://schemas.microsoft.com/office/drawing/2014/main" id="{AC18CB3E-6CDB-0169-6859-A0E0A3C840E9}"/>
              </a:ext>
            </a:extLst>
          </p:cNvPr>
          <p:cNvSpPr/>
          <p:nvPr/>
        </p:nvSpPr>
        <p:spPr>
          <a:xfrm>
            <a:off x="3022575" y="2051651"/>
            <a:ext cx="196611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00"/>
                </a:solidFill>
              </a:rPr>
              <a:t>STUDENT_BKLOG</a:t>
            </a:r>
            <a:endParaRPr lang="en-US" dirty="0"/>
          </a:p>
        </p:txBody>
      </p:sp>
      <p:sp>
        <p:nvSpPr>
          <p:cNvPr id="9" name="Rectangle 8">
            <a:extLst>
              <a:ext uri="{FF2B5EF4-FFF2-40B4-BE49-F238E27FC236}">
                <a16:creationId xmlns:a16="http://schemas.microsoft.com/office/drawing/2014/main" id="{77C93EB2-7504-8DC5-CFA2-8F19A928F1F4}"/>
              </a:ext>
            </a:extLst>
          </p:cNvPr>
          <p:cNvSpPr/>
          <p:nvPr/>
        </p:nvSpPr>
        <p:spPr>
          <a:xfrm>
            <a:off x="7500602" y="3131130"/>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0" name="Rectangle 9">
            <a:extLst>
              <a:ext uri="{FF2B5EF4-FFF2-40B4-BE49-F238E27FC236}">
                <a16:creationId xmlns:a16="http://schemas.microsoft.com/office/drawing/2014/main" id="{E76EA964-4092-93D6-E704-5F3614951945}"/>
              </a:ext>
            </a:extLst>
          </p:cNvPr>
          <p:cNvSpPr/>
          <p:nvPr/>
        </p:nvSpPr>
        <p:spPr>
          <a:xfrm>
            <a:off x="963214" y="2589951"/>
            <a:ext cx="48251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AS</a:t>
            </a:r>
          </a:p>
        </p:txBody>
      </p:sp>
      <p:sp>
        <p:nvSpPr>
          <p:cNvPr id="11" name="Rectangle 10">
            <a:extLst>
              <a:ext uri="{FF2B5EF4-FFF2-40B4-BE49-F238E27FC236}">
                <a16:creationId xmlns:a16="http://schemas.microsoft.com/office/drawing/2014/main" id="{8E62A038-3E22-104A-5017-6B3B8169C335}"/>
              </a:ext>
            </a:extLst>
          </p:cNvPr>
          <p:cNvSpPr/>
          <p:nvPr/>
        </p:nvSpPr>
        <p:spPr>
          <a:xfrm>
            <a:off x="963215" y="3134539"/>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2" name="Rectangle 11">
            <a:extLst>
              <a:ext uri="{FF2B5EF4-FFF2-40B4-BE49-F238E27FC236}">
                <a16:creationId xmlns:a16="http://schemas.microsoft.com/office/drawing/2014/main" id="{BA9232A6-CBC4-9013-9D45-D23C79E1836E}"/>
              </a:ext>
            </a:extLst>
          </p:cNvPr>
          <p:cNvSpPr/>
          <p:nvPr/>
        </p:nvSpPr>
        <p:spPr>
          <a:xfrm>
            <a:off x="2944414" y="3140435"/>
            <a:ext cx="724501"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3" name="Rectangle 12">
            <a:extLst>
              <a:ext uri="{FF2B5EF4-FFF2-40B4-BE49-F238E27FC236}">
                <a16:creationId xmlns:a16="http://schemas.microsoft.com/office/drawing/2014/main" id="{F5DFE8A4-5D0A-8CC3-FDB5-4018C02488FA}"/>
              </a:ext>
            </a:extLst>
          </p:cNvPr>
          <p:cNvSpPr/>
          <p:nvPr/>
        </p:nvSpPr>
        <p:spPr>
          <a:xfrm>
            <a:off x="3744193" y="3135299"/>
            <a:ext cx="1137538"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Student</a:t>
            </a:r>
          </a:p>
        </p:txBody>
      </p:sp>
      <p:sp>
        <p:nvSpPr>
          <p:cNvPr id="14" name="Rectangle 13">
            <a:extLst>
              <a:ext uri="{FF2B5EF4-FFF2-40B4-BE49-F238E27FC236}">
                <a16:creationId xmlns:a16="http://schemas.microsoft.com/office/drawing/2014/main" id="{D6E8F51C-8A25-74B0-DEE4-B16E5309746B}"/>
              </a:ext>
            </a:extLst>
          </p:cNvPr>
          <p:cNvSpPr/>
          <p:nvPr/>
        </p:nvSpPr>
        <p:spPr>
          <a:xfrm>
            <a:off x="2017223" y="3140435"/>
            <a:ext cx="80325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a:t>
            </a:r>
          </a:p>
        </p:txBody>
      </p:sp>
      <p:sp>
        <p:nvSpPr>
          <p:cNvPr id="17" name="Rectangle 16">
            <a:extLst>
              <a:ext uri="{FF2B5EF4-FFF2-40B4-BE49-F238E27FC236}">
                <a16:creationId xmlns:a16="http://schemas.microsoft.com/office/drawing/2014/main" id="{E930D00E-C7B3-2E4D-D137-A735E3024BD9}"/>
              </a:ext>
            </a:extLst>
          </p:cNvPr>
          <p:cNvSpPr/>
          <p:nvPr/>
        </p:nvSpPr>
        <p:spPr>
          <a:xfrm>
            <a:off x="4975964" y="3125868"/>
            <a:ext cx="1183118"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8" name="Rectangle 17">
            <a:extLst>
              <a:ext uri="{FF2B5EF4-FFF2-40B4-BE49-F238E27FC236}">
                <a16:creationId xmlns:a16="http://schemas.microsoft.com/office/drawing/2014/main" id="{1E1B0BA3-EB20-48B7-EEBF-21E1F18AF2CC}"/>
              </a:ext>
            </a:extLst>
          </p:cNvPr>
          <p:cNvSpPr/>
          <p:nvPr/>
        </p:nvSpPr>
        <p:spPr>
          <a:xfrm>
            <a:off x="6253315" y="3125868"/>
            <a:ext cx="1137538"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00"/>
                </a:solidFill>
              </a:rPr>
              <a:t>BKLOG</a:t>
            </a:r>
            <a:r>
              <a:rPr lang="en-US" dirty="0">
                <a:solidFill>
                  <a:srgbClr val="808080"/>
                </a:solidFill>
              </a:rPr>
              <a:t>&gt;</a:t>
            </a:r>
            <a:r>
              <a:rPr lang="en-US" dirty="0">
                <a:solidFill>
                  <a:srgbClr val="000000"/>
                </a:solidFill>
              </a:rPr>
              <a:t>2</a:t>
            </a:r>
            <a:endParaRPr lang="en-US" dirty="0"/>
          </a:p>
        </p:txBody>
      </p:sp>
      <p:pic>
        <p:nvPicPr>
          <p:cNvPr id="20" name="Picture 19">
            <a:extLst>
              <a:ext uri="{FF2B5EF4-FFF2-40B4-BE49-F238E27FC236}">
                <a16:creationId xmlns:a16="http://schemas.microsoft.com/office/drawing/2014/main" id="{71918044-6C33-1522-C2A9-5051A5193C2B}"/>
              </a:ext>
            </a:extLst>
          </p:cNvPr>
          <p:cNvPicPr>
            <a:picLocks noChangeAspect="1"/>
          </p:cNvPicPr>
          <p:nvPr/>
        </p:nvPicPr>
        <p:blipFill>
          <a:blip r:embed="rId2"/>
          <a:stretch>
            <a:fillRect/>
          </a:stretch>
        </p:blipFill>
        <p:spPr>
          <a:xfrm>
            <a:off x="1414029" y="4887899"/>
            <a:ext cx="2812905" cy="1045497"/>
          </a:xfrm>
          <a:prstGeom prst="rect">
            <a:avLst/>
          </a:prstGeom>
        </p:spPr>
      </p:pic>
      <p:sp>
        <p:nvSpPr>
          <p:cNvPr id="21" name="TextBox 20">
            <a:extLst>
              <a:ext uri="{FF2B5EF4-FFF2-40B4-BE49-F238E27FC236}">
                <a16:creationId xmlns:a16="http://schemas.microsoft.com/office/drawing/2014/main" id="{1C072425-B8AB-B6E6-6AA4-AFF3764D11C5}"/>
              </a:ext>
            </a:extLst>
          </p:cNvPr>
          <p:cNvSpPr txBox="1"/>
          <p:nvPr/>
        </p:nvSpPr>
        <p:spPr>
          <a:xfrm>
            <a:off x="397973" y="3949113"/>
            <a:ext cx="1717154" cy="369332"/>
          </a:xfrm>
          <a:prstGeom prst="rect">
            <a:avLst/>
          </a:prstGeom>
          <a:noFill/>
        </p:spPr>
        <p:txBody>
          <a:bodyPr wrap="square" rtlCol="0">
            <a:spAutoFit/>
          </a:bodyPr>
          <a:lstStyle/>
          <a:p>
            <a:r>
              <a:rPr lang="en-US" b="1" u="sng" dirty="0"/>
              <a:t>Output (VIEW)</a:t>
            </a:r>
          </a:p>
        </p:txBody>
      </p:sp>
    </p:spTree>
    <p:extLst>
      <p:ext uri="{BB962C8B-B14F-4D97-AF65-F5344CB8AC3E}">
        <p14:creationId xmlns:p14="http://schemas.microsoft.com/office/powerpoint/2010/main" val="172175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down)">
                                      <p:cBhvr>
                                        <p:cTn id="6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7" grpId="0" animBg="1"/>
      <p:bldP spid="18" grpId="0" animBg="1"/>
      <p:bldP spid="21"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36AB-CF16-3F0B-C990-216BFBFA36C0}"/>
              </a:ext>
            </a:extLst>
          </p:cNvPr>
          <p:cNvSpPr>
            <a:spLocks noGrp="1"/>
          </p:cNvSpPr>
          <p:nvPr>
            <p:ph type="title"/>
          </p:nvPr>
        </p:nvSpPr>
        <p:spPr/>
        <p:txBody>
          <a:bodyPr/>
          <a:lstStyle/>
          <a:p>
            <a:r>
              <a:rPr lang="en-IN" dirty="0"/>
              <a:t>View Examples</a:t>
            </a:r>
          </a:p>
        </p:txBody>
      </p:sp>
      <p:sp>
        <p:nvSpPr>
          <p:cNvPr id="3" name="Content Placeholder 2">
            <a:extLst>
              <a:ext uri="{FF2B5EF4-FFF2-40B4-BE49-F238E27FC236}">
                <a16:creationId xmlns:a16="http://schemas.microsoft.com/office/drawing/2014/main" id="{78B41B80-3AB7-2A32-2762-24BCF696F8FE}"/>
              </a:ext>
            </a:extLst>
          </p:cNvPr>
          <p:cNvSpPr>
            <a:spLocks noGrp="1"/>
          </p:cNvSpPr>
          <p:nvPr>
            <p:ph idx="1"/>
          </p:nvPr>
        </p:nvSpPr>
        <p:spPr/>
        <p:txBody>
          <a:bodyPr/>
          <a:lstStyle/>
          <a:p>
            <a:endParaRPr lang="en-IN" dirty="0"/>
          </a:p>
          <a:p>
            <a:r>
              <a:rPr lang="en-US" b="1" dirty="0"/>
              <a:t>Insert a new record to VIEW </a:t>
            </a:r>
            <a:r>
              <a:rPr lang="en-US" b="1" dirty="0" err="1"/>
              <a:t>Student_Details</a:t>
            </a:r>
            <a:r>
              <a:rPr lang="en-US" b="1" dirty="0"/>
              <a:t> . </a:t>
            </a:r>
            <a:r>
              <a:rPr lang="en-US" b="1" dirty="0">
                <a:solidFill>
                  <a:srgbClr val="C00000"/>
                </a:solidFill>
              </a:rPr>
              <a:t>(Meet, ME, 9)</a:t>
            </a:r>
          </a:p>
          <a:p>
            <a:endParaRPr lang="en-US" dirty="0"/>
          </a:p>
          <a:p>
            <a:endParaRPr lang="en-US" dirty="0"/>
          </a:p>
          <a:p>
            <a:endParaRPr lang="en-US" dirty="0"/>
          </a:p>
          <a:p>
            <a:endParaRPr lang="en-US" dirty="0"/>
          </a:p>
          <a:p>
            <a:endParaRPr lang="en-US" dirty="0"/>
          </a:p>
          <a:p>
            <a:pPr algn="l"/>
            <a:r>
              <a:rPr lang="en-IN" dirty="0">
                <a:solidFill>
                  <a:srgbClr val="0000FF"/>
                </a:solidFill>
                <a:latin typeface="+mj-lt"/>
              </a:rPr>
              <a:t>SELECT</a:t>
            </a:r>
            <a:r>
              <a:rPr lang="en-IN" dirty="0">
                <a:solidFill>
                  <a:srgbClr val="000000"/>
                </a:solidFill>
                <a:latin typeface="+mj-lt"/>
              </a:rPr>
              <a:t> </a:t>
            </a:r>
            <a:r>
              <a:rPr lang="en-IN" dirty="0">
                <a:solidFill>
                  <a:srgbClr val="808080"/>
                </a:solidFill>
                <a:latin typeface="+mj-lt"/>
              </a:rPr>
              <a:t>*</a:t>
            </a:r>
            <a:r>
              <a:rPr lang="en-IN" dirty="0">
                <a:solidFill>
                  <a:srgbClr val="000000"/>
                </a:solidFill>
                <a:latin typeface="+mj-lt"/>
              </a:rPr>
              <a:t> </a:t>
            </a:r>
            <a:r>
              <a:rPr lang="en-IN" dirty="0">
                <a:solidFill>
                  <a:srgbClr val="0000FF"/>
                </a:solidFill>
                <a:latin typeface="+mj-lt"/>
              </a:rPr>
              <a:t>FROM</a:t>
            </a:r>
            <a:r>
              <a:rPr lang="en-IN" dirty="0">
                <a:solidFill>
                  <a:srgbClr val="000000"/>
                </a:solidFill>
                <a:latin typeface="+mj-lt"/>
              </a:rPr>
              <a:t> </a:t>
            </a:r>
            <a:r>
              <a:rPr lang="en-IN" dirty="0" err="1"/>
              <a:t>Student_Details</a:t>
            </a:r>
            <a:r>
              <a:rPr lang="en-IN" sz="1800" dirty="0">
                <a:solidFill>
                  <a:srgbClr val="808080"/>
                </a:solidFill>
                <a:latin typeface="Consolas" panose="020B0609020204030204" pitchFamily="49" charset="0"/>
              </a:rPr>
              <a:t>;	</a:t>
            </a:r>
            <a:r>
              <a:rPr lang="en-IN" dirty="0">
                <a:solidFill>
                  <a:srgbClr val="0000FF"/>
                </a:solidFill>
                <a:latin typeface="+mj-lt"/>
              </a:rPr>
              <a:t>	</a:t>
            </a:r>
            <a:endParaRPr lang="en-US" dirty="0"/>
          </a:p>
          <a:p>
            <a:endParaRPr lang="en-US" dirty="0"/>
          </a:p>
        </p:txBody>
      </p:sp>
      <p:sp>
        <p:nvSpPr>
          <p:cNvPr id="4" name="TextBox 3">
            <a:extLst>
              <a:ext uri="{FF2B5EF4-FFF2-40B4-BE49-F238E27FC236}">
                <a16:creationId xmlns:a16="http://schemas.microsoft.com/office/drawing/2014/main" id="{2C599D54-8272-124C-B629-DA8C49AF5773}"/>
              </a:ext>
            </a:extLst>
          </p:cNvPr>
          <p:cNvSpPr txBox="1"/>
          <p:nvPr/>
        </p:nvSpPr>
        <p:spPr>
          <a:xfrm>
            <a:off x="398843" y="863444"/>
            <a:ext cx="1858219" cy="369332"/>
          </a:xfrm>
          <a:prstGeom prst="rect">
            <a:avLst/>
          </a:prstGeom>
          <a:noFill/>
        </p:spPr>
        <p:txBody>
          <a:bodyPr wrap="square" rtlCol="0">
            <a:spAutoFit/>
          </a:bodyPr>
          <a:lstStyle/>
          <a:p>
            <a:r>
              <a:rPr lang="en-US" b="1" u="sng" dirty="0"/>
              <a:t>Example-3</a:t>
            </a:r>
          </a:p>
        </p:txBody>
      </p:sp>
      <p:sp>
        <p:nvSpPr>
          <p:cNvPr id="5" name="Rectangle 4">
            <a:extLst>
              <a:ext uri="{FF2B5EF4-FFF2-40B4-BE49-F238E27FC236}">
                <a16:creationId xmlns:a16="http://schemas.microsoft.com/office/drawing/2014/main" id="{D6876184-B2D3-2A14-4159-42EAA0FCA275}"/>
              </a:ext>
            </a:extLst>
          </p:cNvPr>
          <p:cNvSpPr/>
          <p:nvPr/>
        </p:nvSpPr>
        <p:spPr>
          <a:xfrm>
            <a:off x="732219" y="1839140"/>
            <a:ext cx="5761178" cy="1538588"/>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241E30E-9A96-A6F8-F47C-168380CF225B}"/>
              </a:ext>
            </a:extLst>
          </p:cNvPr>
          <p:cNvSpPr/>
          <p:nvPr/>
        </p:nvSpPr>
        <p:spPr>
          <a:xfrm>
            <a:off x="950424" y="2043714"/>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INSERT</a:t>
            </a:r>
            <a:endParaRPr lang="en-US" dirty="0">
              <a:solidFill>
                <a:srgbClr val="0000FF"/>
              </a:solidFill>
            </a:endParaRPr>
          </a:p>
        </p:txBody>
      </p:sp>
      <p:sp>
        <p:nvSpPr>
          <p:cNvPr id="7" name="Rectangle 6">
            <a:extLst>
              <a:ext uri="{FF2B5EF4-FFF2-40B4-BE49-F238E27FC236}">
                <a16:creationId xmlns:a16="http://schemas.microsoft.com/office/drawing/2014/main" id="{FCC7E97F-BD8B-4059-8196-DF3C27F4E08A}"/>
              </a:ext>
            </a:extLst>
          </p:cNvPr>
          <p:cNvSpPr/>
          <p:nvPr/>
        </p:nvSpPr>
        <p:spPr>
          <a:xfrm>
            <a:off x="2017224" y="2043714"/>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p>
        </p:txBody>
      </p:sp>
      <p:sp>
        <p:nvSpPr>
          <p:cNvPr id="8" name="Rectangle 7">
            <a:extLst>
              <a:ext uri="{FF2B5EF4-FFF2-40B4-BE49-F238E27FC236}">
                <a16:creationId xmlns:a16="http://schemas.microsoft.com/office/drawing/2014/main" id="{AC18CB3E-6CDB-0169-6859-A0E0A3C840E9}"/>
              </a:ext>
            </a:extLst>
          </p:cNvPr>
          <p:cNvSpPr/>
          <p:nvPr/>
        </p:nvSpPr>
        <p:spPr>
          <a:xfrm>
            <a:off x="3022575" y="2051651"/>
            <a:ext cx="196611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9" name="Rectangle 8">
            <a:extLst>
              <a:ext uri="{FF2B5EF4-FFF2-40B4-BE49-F238E27FC236}">
                <a16:creationId xmlns:a16="http://schemas.microsoft.com/office/drawing/2014/main" id="{77C93EB2-7504-8DC5-CFA2-8F19A928F1F4}"/>
              </a:ext>
            </a:extLst>
          </p:cNvPr>
          <p:cNvSpPr/>
          <p:nvPr/>
        </p:nvSpPr>
        <p:spPr>
          <a:xfrm>
            <a:off x="5054497" y="2589951"/>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0" name="Rectangle 9">
            <a:extLst>
              <a:ext uri="{FF2B5EF4-FFF2-40B4-BE49-F238E27FC236}">
                <a16:creationId xmlns:a16="http://schemas.microsoft.com/office/drawing/2014/main" id="{E76EA964-4092-93D6-E704-5F3614951945}"/>
              </a:ext>
            </a:extLst>
          </p:cNvPr>
          <p:cNvSpPr/>
          <p:nvPr/>
        </p:nvSpPr>
        <p:spPr>
          <a:xfrm>
            <a:off x="963214" y="2589951"/>
            <a:ext cx="97547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VALUES</a:t>
            </a:r>
            <a:endParaRPr lang="en-US" dirty="0">
              <a:solidFill>
                <a:srgbClr val="0000FF"/>
              </a:solidFill>
            </a:endParaRPr>
          </a:p>
        </p:txBody>
      </p:sp>
      <p:sp>
        <p:nvSpPr>
          <p:cNvPr id="11" name="Rectangle 10">
            <a:extLst>
              <a:ext uri="{FF2B5EF4-FFF2-40B4-BE49-F238E27FC236}">
                <a16:creationId xmlns:a16="http://schemas.microsoft.com/office/drawing/2014/main" id="{8E62A038-3E22-104A-5017-6B3B8169C335}"/>
              </a:ext>
            </a:extLst>
          </p:cNvPr>
          <p:cNvSpPr/>
          <p:nvPr/>
        </p:nvSpPr>
        <p:spPr>
          <a:xfrm>
            <a:off x="2017223" y="2589951"/>
            <a:ext cx="295874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r>
              <a:rPr lang="en-IN" dirty="0">
                <a:solidFill>
                  <a:srgbClr val="FF0000"/>
                </a:solidFill>
              </a:rPr>
              <a:t>'MEET'</a:t>
            </a:r>
            <a:r>
              <a:rPr lang="en-IN" dirty="0">
                <a:solidFill>
                  <a:srgbClr val="808080"/>
                </a:solidFill>
              </a:rPr>
              <a:t>,</a:t>
            </a:r>
            <a:r>
              <a:rPr lang="en-IN" dirty="0">
                <a:solidFill>
                  <a:srgbClr val="FF0000"/>
                </a:solidFill>
              </a:rPr>
              <a:t>'ME'</a:t>
            </a:r>
            <a:r>
              <a:rPr lang="en-IN" dirty="0">
                <a:solidFill>
                  <a:srgbClr val="808080"/>
                </a:solidFill>
              </a:rPr>
              <a:t>,</a:t>
            </a:r>
            <a:r>
              <a:rPr lang="en-IN" dirty="0">
                <a:solidFill>
                  <a:srgbClr val="000000"/>
                </a:solidFill>
              </a:rPr>
              <a:t>9</a:t>
            </a:r>
            <a:r>
              <a:rPr lang="en-IN" dirty="0">
                <a:solidFill>
                  <a:srgbClr val="808080"/>
                </a:solidFill>
              </a:rPr>
              <a:t>)</a:t>
            </a:r>
            <a:endParaRPr lang="en-US" dirty="0">
              <a:solidFill>
                <a:srgbClr val="0000FF"/>
              </a:solidFill>
            </a:endParaRPr>
          </a:p>
        </p:txBody>
      </p:sp>
      <p:sp>
        <p:nvSpPr>
          <p:cNvPr id="21" name="TextBox 20">
            <a:extLst>
              <a:ext uri="{FF2B5EF4-FFF2-40B4-BE49-F238E27FC236}">
                <a16:creationId xmlns:a16="http://schemas.microsoft.com/office/drawing/2014/main" id="{1C072425-B8AB-B6E6-6AA4-AFF3764D11C5}"/>
              </a:ext>
            </a:extLst>
          </p:cNvPr>
          <p:cNvSpPr txBox="1"/>
          <p:nvPr/>
        </p:nvSpPr>
        <p:spPr>
          <a:xfrm>
            <a:off x="390282" y="3530185"/>
            <a:ext cx="1866780" cy="369332"/>
          </a:xfrm>
          <a:prstGeom prst="rect">
            <a:avLst/>
          </a:prstGeom>
          <a:noFill/>
        </p:spPr>
        <p:txBody>
          <a:bodyPr wrap="square" rtlCol="0">
            <a:spAutoFit/>
          </a:bodyPr>
          <a:lstStyle/>
          <a:p>
            <a:r>
              <a:rPr lang="en-US" b="1" u="sng" dirty="0"/>
              <a:t>Output (VIEW)</a:t>
            </a:r>
          </a:p>
        </p:txBody>
      </p:sp>
      <p:pic>
        <p:nvPicPr>
          <p:cNvPr id="16" name="Picture 15">
            <a:extLst>
              <a:ext uri="{FF2B5EF4-FFF2-40B4-BE49-F238E27FC236}">
                <a16:creationId xmlns:a16="http://schemas.microsoft.com/office/drawing/2014/main" id="{D3C7225D-5DF1-C7CF-95C4-AEB658AED33B}"/>
              </a:ext>
            </a:extLst>
          </p:cNvPr>
          <p:cNvPicPr>
            <a:picLocks noChangeAspect="1"/>
          </p:cNvPicPr>
          <p:nvPr/>
        </p:nvPicPr>
        <p:blipFill>
          <a:blip r:embed="rId2"/>
          <a:stretch>
            <a:fillRect/>
          </a:stretch>
        </p:blipFill>
        <p:spPr>
          <a:xfrm>
            <a:off x="950424" y="4594477"/>
            <a:ext cx="2313637" cy="1602449"/>
          </a:xfrm>
          <a:prstGeom prst="rect">
            <a:avLst/>
          </a:prstGeom>
        </p:spPr>
      </p:pic>
      <p:pic>
        <p:nvPicPr>
          <p:cNvPr id="22" name="Picture 21">
            <a:extLst>
              <a:ext uri="{FF2B5EF4-FFF2-40B4-BE49-F238E27FC236}">
                <a16:creationId xmlns:a16="http://schemas.microsoft.com/office/drawing/2014/main" id="{E8D4C381-5671-4077-1309-647CACEC8EF3}"/>
              </a:ext>
            </a:extLst>
          </p:cNvPr>
          <p:cNvPicPr>
            <a:picLocks noChangeAspect="1"/>
          </p:cNvPicPr>
          <p:nvPr/>
        </p:nvPicPr>
        <p:blipFill>
          <a:blip r:embed="rId3"/>
          <a:stretch>
            <a:fillRect/>
          </a:stretch>
        </p:blipFill>
        <p:spPr>
          <a:xfrm>
            <a:off x="5699816" y="4594476"/>
            <a:ext cx="3397886" cy="1602449"/>
          </a:xfrm>
          <a:prstGeom prst="rect">
            <a:avLst/>
          </a:prstGeom>
        </p:spPr>
      </p:pic>
      <p:sp>
        <p:nvSpPr>
          <p:cNvPr id="23" name="TextBox 22">
            <a:extLst>
              <a:ext uri="{FF2B5EF4-FFF2-40B4-BE49-F238E27FC236}">
                <a16:creationId xmlns:a16="http://schemas.microsoft.com/office/drawing/2014/main" id="{F45BDDED-7A38-F7B6-BA9C-22BEABFC9C26}"/>
              </a:ext>
            </a:extLst>
          </p:cNvPr>
          <p:cNvSpPr txBox="1"/>
          <p:nvPr/>
        </p:nvSpPr>
        <p:spPr>
          <a:xfrm>
            <a:off x="5550769" y="3529971"/>
            <a:ext cx="2321141" cy="369332"/>
          </a:xfrm>
          <a:prstGeom prst="rect">
            <a:avLst/>
          </a:prstGeom>
          <a:noFill/>
        </p:spPr>
        <p:txBody>
          <a:bodyPr wrap="square" rtlCol="0">
            <a:spAutoFit/>
          </a:bodyPr>
          <a:lstStyle/>
          <a:p>
            <a:r>
              <a:rPr lang="en-US" b="1" u="sng" dirty="0"/>
              <a:t>Output (Base Table)</a:t>
            </a:r>
          </a:p>
        </p:txBody>
      </p:sp>
      <p:sp>
        <p:nvSpPr>
          <p:cNvPr id="24" name="Rectangle 23">
            <a:extLst>
              <a:ext uri="{FF2B5EF4-FFF2-40B4-BE49-F238E27FC236}">
                <a16:creationId xmlns:a16="http://schemas.microsoft.com/office/drawing/2014/main" id="{1BD9C665-5160-47E6-7055-F14F1F61AD15}"/>
              </a:ext>
            </a:extLst>
          </p:cNvPr>
          <p:cNvSpPr/>
          <p:nvPr/>
        </p:nvSpPr>
        <p:spPr>
          <a:xfrm>
            <a:off x="5514057" y="3904547"/>
            <a:ext cx="4353795" cy="5925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0000FF"/>
                </a:solidFill>
              </a:rPr>
              <a:t>SELECT </a:t>
            </a:r>
            <a:r>
              <a:rPr lang="en-IN" sz="2400" dirty="0">
                <a:solidFill>
                  <a:srgbClr val="808080"/>
                </a:solidFill>
              </a:rPr>
              <a:t>*</a:t>
            </a:r>
            <a:r>
              <a:rPr lang="en-IN" sz="2400" dirty="0">
                <a:solidFill>
                  <a:srgbClr val="0000FF"/>
                </a:solidFill>
              </a:rPr>
              <a:t> FROM </a:t>
            </a:r>
            <a:r>
              <a:rPr lang="en-IN" sz="2400" dirty="0">
                <a:solidFill>
                  <a:schemeClr val="tx1"/>
                </a:solidFill>
              </a:rPr>
              <a:t>STUDENT</a:t>
            </a:r>
          </a:p>
        </p:txBody>
      </p:sp>
      <p:sp>
        <p:nvSpPr>
          <p:cNvPr id="25" name="Rectangle 24">
            <a:extLst>
              <a:ext uri="{FF2B5EF4-FFF2-40B4-BE49-F238E27FC236}">
                <a16:creationId xmlns:a16="http://schemas.microsoft.com/office/drawing/2014/main" id="{EDC2C8E9-3747-C97B-EB28-2CC8A9ACECCF}"/>
              </a:ext>
            </a:extLst>
          </p:cNvPr>
          <p:cNvSpPr/>
          <p:nvPr/>
        </p:nvSpPr>
        <p:spPr>
          <a:xfrm>
            <a:off x="5660020" y="5509549"/>
            <a:ext cx="3472405" cy="19677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1ED110EC-7D35-C3FF-4FBA-DA2BADAA3810}"/>
              </a:ext>
            </a:extLst>
          </p:cNvPr>
          <p:cNvSpPr/>
          <p:nvPr/>
        </p:nvSpPr>
        <p:spPr>
          <a:xfrm>
            <a:off x="950424" y="5576752"/>
            <a:ext cx="2313637" cy="19677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50157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left)">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21" grpId="0"/>
      <p:bldP spid="23" grpId="0"/>
      <p:bldP spid="24" grpId="0"/>
      <p:bldP spid="25" grpId="0" animBg="1"/>
      <p:bldP spid="2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36AB-CF16-3F0B-C990-216BFBFA36C0}"/>
              </a:ext>
            </a:extLst>
          </p:cNvPr>
          <p:cNvSpPr>
            <a:spLocks noGrp="1"/>
          </p:cNvSpPr>
          <p:nvPr>
            <p:ph type="title"/>
          </p:nvPr>
        </p:nvSpPr>
        <p:spPr/>
        <p:txBody>
          <a:bodyPr/>
          <a:lstStyle/>
          <a:p>
            <a:r>
              <a:rPr lang="en-IN" dirty="0"/>
              <a:t>View Examples</a:t>
            </a:r>
          </a:p>
        </p:txBody>
      </p:sp>
      <p:sp>
        <p:nvSpPr>
          <p:cNvPr id="3" name="Content Placeholder 2">
            <a:extLst>
              <a:ext uri="{FF2B5EF4-FFF2-40B4-BE49-F238E27FC236}">
                <a16:creationId xmlns:a16="http://schemas.microsoft.com/office/drawing/2014/main" id="{78B41B80-3AB7-2A32-2762-24BCF696F8FE}"/>
              </a:ext>
            </a:extLst>
          </p:cNvPr>
          <p:cNvSpPr>
            <a:spLocks noGrp="1"/>
          </p:cNvSpPr>
          <p:nvPr>
            <p:ph idx="1"/>
          </p:nvPr>
        </p:nvSpPr>
        <p:spPr/>
        <p:txBody>
          <a:bodyPr/>
          <a:lstStyle/>
          <a:p>
            <a:endParaRPr lang="en-IN" dirty="0"/>
          </a:p>
          <a:p>
            <a:r>
              <a:rPr lang="en-US" b="1" dirty="0"/>
              <a:t>Delete from </a:t>
            </a:r>
            <a:r>
              <a:rPr lang="en-US" b="1" dirty="0" err="1"/>
              <a:t>Student_Details</a:t>
            </a:r>
            <a:r>
              <a:rPr lang="en-US" b="1" dirty="0"/>
              <a:t> view whose name is ‘Raju’.</a:t>
            </a:r>
          </a:p>
          <a:p>
            <a:endParaRPr lang="en-US" dirty="0"/>
          </a:p>
          <a:p>
            <a:endParaRPr lang="en-US" dirty="0"/>
          </a:p>
          <a:p>
            <a:endParaRPr lang="en-US" dirty="0"/>
          </a:p>
          <a:p>
            <a:endParaRPr lang="en-US" dirty="0"/>
          </a:p>
          <a:p>
            <a:endParaRPr lang="en-US" dirty="0"/>
          </a:p>
          <a:p>
            <a:r>
              <a:rPr lang="en-IN" dirty="0">
                <a:solidFill>
                  <a:srgbClr val="0000FF"/>
                </a:solidFill>
                <a:latin typeface="+mj-lt"/>
              </a:rPr>
              <a:t>SELECT</a:t>
            </a:r>
            <a:r>
              <a:rPr lang="en-IN" dirty="0">
                <a:solidFill>
                  <a:srgbClr val="000000"/>
                </a:solidFill>
                <a:latin typeface="+mj-lt"/>
              </a:rPr>
              <a:t> </a:t>
            </a:r>
            <a:r>
              <a:rPr lang="en-IN" dirty="0">
                <a:solidFill>
                  <a:srgbClr val="808080"/>
                </a:solidFill>
                <a:latin typeface="+mj-lt"/>
              </a:rPr>
              <a:t>*</a:t>
            </a:r>
            <a:r>
              <a:rPr lang="en-IN" dirty="0">
                <a:solidFill>
                  <a:srgbClr val="000000"/>
                </a:solidFill>
                <a:latin typeface="+mj-lt"/>
              </a:rPr>
              <a:t> </a:t>
            </a:r>
            <a:r>
              <a:rPr lang="en-IN" dirty="0">
                <a:solidFill>
                  <a:srgbClr val="0000FF"/>
                </a:solidFill>
                <a:latin typeface="+mj-lt"/>
              </a:rPr>
              <a:t>FROM</a:t>
            </a:r>
            <a:r>
              <a:rPr lang="en-IN" dirty="0">
                <a:solidFill>
                  <a:srgbClr val="000000"/>
                </a:solidFill>
                <a:latin typeface="+mj-lt"/>
              </a:rPr>
              <a:t> </a:t>
            </a:r>
            <a:r>
              <a:rPr lang="en-IN" dirty="0" err="1"/>
              <a:t>Student_Details</a:t>
            </a:r>
            <a:r>
              <a:rPr lang="en-IN" sz="1800" dirty="0">
                <a:solidFill>
                  <a:srgbClr val="808080"/>
                </a:solidFill>
                <a:latin typeface="Consolas" panose="020B0609020204030204" pitchFamily="49" charset="0"/>
              </a:rPr>
              <a:t>;	</a:t>
            </a:r>
            <a:r>
              <a:rPr lang="en-IN" dirty="0">
                <a:solidFill>
                  <a:srgbClr val="0000FF"/>
                </a:solidFill>
                <a:latin typeface="+mj-lt"/>
              </a:rPr>
              <a:t>	</a:t>
            </a:r>
            <a:endParaRPr lang="en-US" dirty="0"/>
          </a:p>
          <a:p>
            <a:endParaRPr lang="en-US" dirty="0"/>
          </a:p>
        </p:txBody>
      </p:sp>
      <p:sp>
        <p:nvSpPr>
          <p:cNvPr id="4" name="TextBox 3">
            <a:extLst>
              <a:ext uri="{FF2B5EF4-FFF2-40B4-BE49-F238E27FC236}">
                <a16:creationId xmlns:a16="http://schemas.microsoft.com/office/drawing/2014/main" id="{2C599D54-8272-124C-B629-DA8C49AF5773}"/>
              </a:ext>
            </a:extLst>
          </p:cNvPr>
          <p:cNvSpPr txBox="1"/>
          <p:nvPr/>
        </p:nvSpPr>
        <p:spPr>
          <a:xfrm>
            <a:off x="398843" y="863444"/>
            <a:ext cx="1858219" cy="369332"/>
          </a:xfrm>
          <a:prstGeom prst="rect">
            <a:avLst/>
          </a:prstGeom>
          <a:noFill/>
        </p:spPr>
        <p:txBody>
          <a:bodyPr wrap="square" rtlCol="0">
            <a:spAutoFit/>
          </a:bodyPr>
          <a:lstStyle/>
          <a:p>
            <a:r>
              <a:rPr lang="en-US" b="1" u="sng" dirty="0"/>
              <a:t>Example-4</a:t>
            </a:r>
          </a:p>
        </p:txBody>
      </p:sp>
      <p:sp>
        <p:nvSpPr>
          <p:cNvPr id="5" name="Rectangle 4">
            <a:extLst>
              <a:ext uri="{FF2B5EF4-FFF2-40B4-BE49-F238E27FC236}">
                <a16:creationId xmlns:a16="http://schemas.microsoft.com/office/drawing/2014/main" id="{D6876184-B2D3-2A14-4159-42EAA0FCA275}"/>
              </a:ext>
            </a:extLst>
          </p:cNvPr>
          <p:cNvSpPr/>
          <p:nvPr/>
        </p:nvSpPr>
        <p:spPr>
          <a:xfrm>
            <a:off x="732219" y="1839140"/>
            <a:ext cx="6250472" cy="1538588"/>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241E30E-9A96-A6F8-F47C-168380CF225B}"/>
              </a:ext>
            </a:extLst>
          </p:cNvPr>
          <p:cNvSpPr/>
          <p:nvPr/>
        </p:nvSpPr>
        <p:spPr>
          <a:xfrm>
            <a:off x="950424" y="2043714"/>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DELETE</a:t>
            </a:r>
            <a:endParaRPr lang="en-US" dirty="0">
              <a:solidFill>
                <a:srgbClr val="0000FF"/>
              </a:solidFill>
            </a:endParaRPr>
          </a:p>
        </p:txBody>
      </p:sp>
      <p:sp>
        <p:nvSpPr>
          <p:cNvPr id="8" name="Rectangle 7">
            <a:extLst>
              <a:ext uri="{FF2B5EF4-FFF2-40B4-BE49-F238E27FC236}">
                <a16:creationId xmlns:a16="http://schemas.microsoft.com/office/drawing/2014/main" id="{AC18CB3E-6CDB-0169-6859-A0E0A3C840E9}"/>
              </a:ext>
            </a:extLst>
          </p:cNvPr>
          <p:cNvSpPr/>
          <p:nvPr/>
        </p:nvSpPr>
        <p:spPr>
          <a:xfrm>
            <a:off x="2017223" y="2043714"/>
            <a:ext cx="122597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a:solidFill>
                  <a:srgbClr val="0000FF"/>
                </a:solidFill>
              </a:rPr>
              <a:t>FROM</a:t>
            </a:r>
            <a:endParaRPr lang="en-US" dirty="0"/>
          </a:p>
        </p:txBody>
      </p:sp>
      <p:sp>
        <p:nvSpPr>
          <p:cNvPr id="9" name="Rectangle 8">
            <a:extLst>
              <a:ext uri="{FF2B5EF4-FFF2-40B4-BE49-F238E27FC236}">
                <a16:creationId xmlns:a16="http://schemas.microsoft.com/office/drawing/2014/main" id="{77C93EB2-7504-8DC5-CFA2-8F19A928F1F4}"/>
              </a:ext>
            </a:extLst>
          </p:cNvPr>
          <p:cNvSpPr/>
          <p:nvPr/>
        </p:nvSpPr>
        <p:spPr>
          <a:xfrm>
            <a:off x="3663491" y="2565172"/>
            <a:ext cx="19396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1" name="TextBox 20">
            <a:extLst>
              <a:ext uri="{FF2B5EF4-FFF2-40B4-BE49-F238E27FC236}">
                <a16:creationId xmlns:a16="http://schemas.microsoft.com/office/drawing/2014/main" id="{1C072425-B8AB-B6E6-6AA4-AFF3764D11C5}"/>
              </a:ext>
            </a:extLst>
          </p:cNvPr>
          <p:cNvSpPr txBox="1"/>
          <p:nvPr/>
        </p:nvSpPr>
        <p:spPr>
          <a:xfrm>
            <a:off x="390282" y="3530185"/>
            <a:ext cx="1866780" cy="369332"/>
          </a:xfrm>
          <a:prstGeom prst="rect">
            <a:avLst/>
          </a:prstGeom>
          <a:noFill/>
        </p:spPr>
        <p:txBody>
          <a:bodyPr wrap="square" rtlCol="0">
            <a:spAutoFit/>
          </a:bodyPr>
          <a:lstStyle/>
          <a:p>
            <a:r>
              <a:rPr lang="en-US" b="1" u="sng" dirty="0"/>
              <a:t>Output (VIEW)</a:t>
            </a:r>
          </a:p>
        </p:txBody>
      </p:sp>
      <p:sp>
        <p:nvSpPr>
          <p:cNvPr id="23" name="TextBox 22">
            <a:extLst>
              <a:ext uri="{FF2B5EF4-FFF2-40B4-BE49-F238E27FC236}">
                <a16:creationId xmlns:a16="http://schemas.microsoft.com/office/drawing/2014/main" id="{F45BDDED-7A38-F7B6-BA9C-22BEABFC9C26}"/>
              </a:ext>
            </a:extLst>
          </p:cNvPr>
          <p:cNvSpPr txBox="1"/>
          <p:nvPr/>
        </p:nvSpPr>
        <p:spPr>
          <a:xfrm>
            <a:off x="5560006" y="3602563"/>
            <a:ext cx="2321141" cy="369332"/>
          </a:xfrm>
          <a:prstGeom prst="rect">
            <a:avLst/>
          </a:prstGeom>
          <a:noFill/>
        </p:spPr>
        <p:txBody>
          <a:bodyPr wrap="square" rtlCol="0">
            <a:spAutoFit/>
          </a:bodyPr>
          <a:lstStyle/>
          <a:p>
            <a:r>
              <a:rPr lang="en-US" b="1" u="sng" dirty="0"/>
              <a:t>Output (Base Table)</a:t>
            </a:r>
          </a:p>
        </p:txBody>
      </p:sp>
      <p:sp>
        <p:nvSpPr>
          <p:cNvPr id="24" name="Rectangle 23">
            <a:extLst>
              <a:ext uri="{FF2B5EF4-FFF2-40B4-BE49-F238E27FC236}">
                <a16:creationId xmlns:a16="http://schemas.microsoft.com/office/drawing/2014/main" id="{1BD9C665-5160-47E6-7055-F14F1F61AD15}"/>
              </a:ext>
            </a:extLst>
          </p:cNvPr>
          <p:cNvSpPr/>
          <p:nvPr/>
        </p:nvSpPr>
        <p:spPr>
          <a:xfrm>
            <a:off x="5560006" y="3984092"/>
            <a:ext cx="4353795" cy="5925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0000FF"/>
                </a:solidFill>
                <a:latin typeface="+mj-lt"/>
              </a:rPr>
              <a:t>SELECT </a:t>
            </a:r>
            <a:r>
              <a:rPr lang="en-IN" sz="2400" dirty="0">
                <a:solidFill>
                  <a:srgbClr val="808080"/>
                </a:solidFill>
                <a:latin typeface="+mj-lt"/>
              </a:rPr>
              <a:t>*</a:t>
            </a:r>
            <a:r>
              <a:rPr lang="en-IN" sz="2400" dirty="0">
                <a:solidFill>
                  <a:srgbClr val="0000FF"/>
                </a:solidFill>
                <a:latin typeface="+mj-lt"/>
              </a:rPr>
              <a:t> FROM </a:t>
            </a:r>
            <a:r>
              <a:rPr lang="en-IN" sz="2400" dirty="0">
                <a:solidFill>
                  <a:schemeClr val="tx1"/>
                </a:solidFill>
              </a:rPr>
              <a:t>STUDENT</a:t>
            </a:r>
          </a:p>
        </p:txBody>
      </p:sp>
      <p:sp>
        <p:nvSpPr>
          <p:cNvPr id="12" name="Rectangle 11">
            <a:extLst>
              <a:ext uri="{FF2B5EF4-FFF2-40B4-BE49-F238E27FC236}">
                <a16:creationId xmlns:a16="http://schemas.microsoft.com/office/drawing/2014/main" id="{4E5CAC3C-04F3-70A7-765E-D840294B6416}"/>
              </a:ext>
            </a:extLst>
          </p:cNvPr>
          <p:cNvSpPr/>
          <p:nvPr/>
        </p:nvSpPr>
        <p:spPr>
          <a:xfrm>
            <a:off x="950424" y="2570629"/>
            <a:ext cx="8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13" name="Rectangle 12">
            <a:extLst>
              <a:ext uri="{FF2B5EF4-FFF2-40B4-BE49-F238E27FC236}">
                <a16:creationId xmlns:a16="http://schemas.microsoft.com/office/drawing/2014/main" id="{7E8189D2-FEF9-51BC-9511-F6F2185274A9}"/>
              </a:ext>
            </a:extLst>
          </p:cNvPr>
          <p:cNvSpPr/>
          <p:nvPr/>
        </p:nvSpPr>
        <p:spPr>
          <a:xfrm>
            <a:off x="1866893" y="2570629"/>
            <a:ext cx="17159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NAME</a:t>
            </a:r>
            <a:r>
              <a:rPr lang="en-IN" dirty="0">
                <a:solidFill>
                  <a:srgbClr val="808080"/>
                </a:solidFill>
              </a:rPr>
              <a:t>=</a:t>
            </a:r>
            <a:r>
              <a:rPr lang="en-IN" dirty="0">
                <a:solidFill>
                  <a:srgbClr val="FF0000"/>
                </a:solidFill>
              </a:rPr>
              <a:t>‘Raju'</a:t>
            </a:r>
            <a:endParaRPr lang="en-US" dirty="0">
              <a:solidFill>
                <a:srgbClr val="0000FF"/>
              </a:solidFill>
            </a:endParaRPr>
          </a:p>
        </p:txBody>
      </p:sp>
      <p:sp>
        <p:nvSpPr>
          <p:cNvPr id="7" name="Rectangle 6">
            <a:extLst>
              <a:ext uri="{FF2B5EF4-FFF2-40B4-BE49-F238E27FC236}">
                <a16:creationId xmlns:a16="http://schemas.microsoft.com/office/drawing/2014/main" id="{32742593-CE08-12E7-D134-A8C51AA34DCA}"/>
              </a:ext>
            </a:extLst>
          </p:cNvPr>
          <p:cNvSpPr/>
          <p:nvPr/>
        </p:nvSpPr>
        <p:spPr>
          <a:xfrm>
            <a:off x="3319395" y="2040239"/>
            <a:ext cx="196611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Student_Details</a:t>
            </a:r>
            <a:endParaRPr lang="en-US" dirty="0"/>
          </a:p>
        </p:txBody>
      </p:sp>
      <p:pic>
        <p:nvPicPr>
          <p:cNvPr id="16" name="Picture 15">
            <a:extLst>
              <a:ext uri="{FF2B5EF4-FFF2-40B4-BE49-F238E27FC236}">
                <a16:creationId xmlns:a16="http://schemas.microsoft.com/office/drawing/2014/main" id="{1630C78E-6FDF-666B-F40A-03D1F0B78A8B}"/>
              </a:ext>
            </a:extLst>
          </p:cNvPr>
          <p:cNvPicPr>
            <a:picLocks noChangeAspect="1"/>
          </p:cNvPicPr>
          <p:nvPr/>
        </p:nvPicPr>
        <p:blipFill>
          <a:blip r:embed="rId2"/>
          <a:stretch>
            <a:fillRect/>
          </a:stretch>
        </p:blipFill>
        <p:spPr>
          <a:xfrm>
            <a:off x="1202722" y="4584769"/>
            <a:ext cx="1629002" cy="1124107"/>
          </a:xfrm>
          <a:prstGeom prst="rect">
            <a:avLst/>
          </a:prstGeom>
        </p:spPr>
      </p:pic>
      <p:pic>
        <p:nvPicPr>
          <p:cNvPr id="19" name="Picture 18">
            <a:extLst>
              <a:ext uri="{FF2B5EF4-FFF2-40B4-BE49-F238E27FC236}">
                <a16:creationId xmlns:a16="http://schemas.microsoft.com/office/drawing/2014/main" id="{35DFDF24-2942-346D-E504-82E993F7C164}"/>
              </a:ext>
            </a:extLst>
          </p:cNvPr>
          <p:cNvPicPr>
            <a:picLocks noChangeAspect="1"/>
          </p:cNvPicPr>
          <p:nvPr/>
        </p:nvPicPr>
        <p:blipFill>
          <a:blip r:embed="rId3"/>
          <a:stretch>
            <a:fillRect/>
          </a:stretch>
        </p:blipFill>
        <p:spPr>
          <a:xfrm>
            <a:off x="5739505" y="4712160"/>
            <a:ext cx="2486372" cy="1143160"/>
          </a:xfrm>
          <a:prstGeom prst="rect">
            <a:avLst/>
          </a:prstGeom>
        </p:spPr>
      </p:pic>
    </p:spTree>
    <p:extLst>
      <p:ext uri="{BB962C8B-B14F-4D97-AF65-F5344CB8AC3E}">
        <p14:creationId xmlns:p14="http://schemas.microsoft.com/office/powerpoint/2010/main" val="2609284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8" grpId="0" animBg="1"/>
      <p:bldP spid="9" grpId="0" animBg="1"/>
      <p:bldP spid="21" grpId="0"/>
      <p:bldP spid="23" grpId="0"/>
      <p:bldP spid="24" grpId="0"/>
      <p:bldP spid="12" grpId="0" animBg="1"/>
      <p:bldP spid="13" grpId="0" animBg="1"/>
      <p:bldP spid="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36AB-CF16-3F0B-C990-216BFBFA36C0}"/>
              </a:ext>
            </a:extLst>
          </p:cNvPr>
          <p:cNvSpPr>
            <a:spLocks noGrp="1"/>
          </p:cNvSpPr>
          <p:nvPr>
            <p:ph type="title"/>
          </p:nvPr>
        </p:nvSpPr>
        <p:spPr/>
        <p:txBody>
          <a:bodyPr/>
          <a:lstStyle/>
          <a:p>
            <a:r>
              <a:rPr lang="en-IN" dirty="0"/>
              <a:t>View Examples</a:t>
            </a:r>
          </a:p>
        </p:txBody>
      </p:sp>
      <p:sp>
        <p:nvSpPr>
          <p:cNvPr id="3" name="Content Placeholder 2">
            <a:extLst>
              <a:ext uri="{FF2B5EF4-FFF2-40B4-BE49-F238E27FC236}">
                <a16:creationId xmlns:a16="http://schemas.microsoft.com/office/drawing/2014/main" id="{78B41B80-3AB7-2A32-2762-24BCF696F8FE}"/>
              </a:ext>
            </a:extLst>
          </p:cNvPr>
          <p:cNvSpPr>
            <a:spLocks noGrp="1"/>
          </p:cNvSpPr>
          <p:nvPr>
            <p:ph idx="1"/>
          </p:nvPr>
        </p:nvSpPr>
        <p:spPr/>
        <p:txBody>
          <a:bodyPr/>
          <a:lstStyle/>
          <a:p>
            <a:endParaRPr lang="en-IN" dirty="0"/>
          </a:p>
          <a:p>
            <a:r>
              <a:rPr lang="en-US" b="1" dirty="0"/>
              <a:t>Update the branch of Amit from CE to ME in </a:t>
            </a:r>
            <a:r>
              <a:rPr lang="en-US" b="1" dirty="0" err="1"/>
              <a:t>Student_Details</a:t>
            </a:r>
            <a:r>
              <a:rPr lang="en-US" b="1" dirty="0"/>
              <a:t> view.</a:t>
            </a:r>
          </a:p>
          <a:p>
            <a:endParaRPr lang="en-US" dirty="0"/>
          </a:p>
          <a:p>
            <a:endParaRPr lang="en-US" dirty="0"/>
          </a:p>
          <a:p>
            <a:endParaRPr lang="en-US" dirty="0"/>
          </a:p>
          <a:p>
            <a:endParaRPr lang="en-US" dirty="0"/>
          </a:p>
          <a:p>
            <a:endParaRPr lang="en-US" dirty="0"/>
          </a:p>
          <a:p>
            <a:r>
              <a:rPr lang="en-IN" dirty="0">
                <a:solidFill>
                  <a:srgbClr val="0000FF"/>
                </a:solidFill>
                <a:latin typeface="+mj-lt"/>
              </a:rPr>
              <a:t>SELECT</a:t>
            </a:r>
            <a:r>
              <a:rPr lang="en-IN" dirty="0">
                <a:solidFill>
                  <a:srgbClr val="000000"/>
                </a:solidFill>
                <a:latin typeface="+mj-lt"/>
              </a:rPr>
              <a:t> </a:t>
            </a:r>
            <a:r>
              <a:rPr lang="en-IN" dirty="0">
                <a:solidFill>
                  <a:srgbClr val="808080"/>
                </a:solidFill>
                <a:latin typeface="+mj-lt"/>
              </a:rPr>
              <a:t>*</a:t>
            </a:r>
            <a:r>
              <a:rPr lang="en-IN" dirty="0">
                <a:solidFill>
                  <a:srgbClr val="000000"/>
                </a:solidFill>
                <a:latin typeface="+mj-lt"/>
              </a:rPr>
              <a:t> </a:t>
            </a:r>
            <a:r>
              <a:rPr lang="en-IN" dirty="0">
                <a:solidFill>
                  <a:srgbClr val="0000FF"/>
                </a:solidFill>
                <a:latin typeface="+mj-lt"/>
              </a:rPr>
              <a:t>FROM</a:t>
            </a:r>
            <a:r>
              <a:rPr lang="en-IN" dirty="0">
                <a:solidFill>
                  <a:srgbClr val="000000"/>
                </a:solidFill>
                <a:latin typeface="+mj-lt"/>
              </a:rPr>
              <a:t> </a:t>
            </a:r>
            <a:r>
              <a:rPr lang="en-IN" dirty="0" err="1"/>
              <a:t>Student_Details</a:t>
            </a:r>
            <a:r>
              <a:rPr lang="en-IN" sz="1800" dirty="0">
                <a:solidFill>
                  <a:srgbClr val="808080"/>
                </a:solidFill>
                <a:latin typeface="Consolas" panose="020B0609020204030204" pitchFamily="49" charset="0"/>
              </a:rPr>
              <a:t>;	</a:t>
            </a:r>
            <a:r>
              <a:rPr lang="en-IN" dirty="0">
                <a:solidFill>
                  <a:srgbClr val="0000FF"/>
                </a:solidFill>
                <a:latin typeface="+mj-lt"/>
              </a:rPr>
              <a:t>	</a:t>
            </a:r>
            <a:endParaRPr lang="en-US" dirty="0"/>
          </a:p>
        </p:txBody>
      </p:sp>
      <p:sp>
        <p:nvSpPr>
          <p:cNvPr id="4" name="TextBox 3">
            <a:extLst>
              <a:ext uri="{FF2B5EF4-FFF2-40B4-BE49-F238E27FC236}">
                <a16:creationId xmlns:a16="http://schemas.microsoft.com/office/drawing/2014/main" id="{2C599D54-8272-124C-B629-DA8C49AF5773}"/>
              </a:ext>
            </a:extLst>
          </p:cNvPr>
          <p:cNvSpPr txBox="1"/>
          <p:nvPr/>
        </p:nvSpPr>
        <p:spPr>
          <a:xfrm>
            <a:off x="398843" y="863444"/>
            <a:ext cx="1858219" cy="369332"/>
          </a:xfrm>
          <a:prstGeom prst="rect">
            <a:avLst/>
          </a:prstGeom>
          <a:noFill/>
        </p:spPr>
        <p:txBody>
          <a:bodyPr wrap="square" rtlCol="0">
            <a:spAutoFit/>
          </a:bodyPr>
          <a:lstStyle/>
          <a:p>
            <a:r>
              <a:rPr lang="en-US" b="1" u="sng" dirty="0"/>
              <a:t>Example-5</a:t>
            </a:r>
          </a:p>
        </p:txBody>
      </p:sp>
      <p:sp>
        <p:nvSpPr>
          <p:cNvPr id="5" name="Rectangle 4">
            <a:extLst>
              <a:ext uri="{FF2B5EF4-FFF2-40B4-BE49-F238E27FC236}">
                <a16:creationId xmlns:a16="http://schemas.microsoft.com/office/drawing/2014/main" id="{D6876184-B2D3-2A14-4159-42EAA0FCA275}"/>
              </a:ext>
            </a:extLst>
          </p:cNvPr>
          <p:cNvSpPr/>
          <p:nvPr/>
        </p:nvSpPr>
        <p:spPr>
          <a:xfrm>
            <a:off x="732219" y="1839140"/>
            <a:ext cx="6250472" cy="1538588"/>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241E30E-9A96-A6F8-F47C-168380CF225B}"/>
              </a:ext>
            </a:extLst>
          </p:cNvPr>
          <p:cNvSpPr/>
          <p:nvPr/>
        </p:nvSpPr>
        <p:spPr>
          <a:xfrm>
            <a:off x="950424" y="2043714"/>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FF00FF"/>
                </a:solidFill>
              </a:rPr>
              <a:t>UPDATE</a:t>
            </a:r>
            <a:endParaRPr lang="en-US" dirty="0">
              <a:solidFill>
                <a:srgbClr val="0000FF"/>
              </a:solidFill>
            </a:endParaRPr>
          </a:p>
        </p:txBody>
      </p:sp>
      <p:sp>
        <p:nvSpPr>
          <p:cNvPr id="8" name="Rectangle 7">
            <a:extLst>
              <a:ext uri="{FF2B5EF4-FFF2-40B4-BE49-F238E27FC236}">
                <a16:creationId xmlns:a16="http://schemas.microsoft.com/office/drawing/2014/main" id="{AC18CB3E-6CDB-0169-6859-A0E0A3C840E9}"/>
              </a:ext>
            </a:extLst>
          </p:cNvPr>
          <p:cNvSpPr/>
          <p:nvPr/>
        </p:nvSpPr>
        <p:spPr>
          <a:xfrm>
            <a:off x="2017223" y="2043714"/>
            <a:ext cx="196611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9" name="Rectangle 8">
            <a:extLst>
              <a:ext uri="{FF2B5EF4-FFF2-40B4-BE49-F238E27FC236}">
                <a16:creationId xmlns:a16="http://schemas.microsoft.com/office/drawing/2014/main" id="{77C93EB2-7504-8DC5-CFA2-8F19A928F1F4}"/>
              </a:ext>
            </a:extLst>
          </p:cNvPr>
          <p:cNvSpPr/>
          <p:nvPr/>
        </p:nvSpPr>
        <p:spPr>
          <a:xfrm>
            <a:off x="6669962" y="2595740"/>
            <a:ext cx="19396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0" name="Rectangle 9">
            <a:extLst>
              <a:ext uri="{FF2B5EF4-FFF2-40B4-BE49-F238E27FC236}">
                <a16:creationId xmlns:a16="http://schemas.microsoft.com/office/drawing/2014/main" id="{E76EA964-4092-93D6-E704-5F3614951945}"/>
              </a:ext>
            </a:extLst>
          </p:cNvPr>
          <p:cNvSpPr/>
          <p:nvPr/>
        </p:nvSpPr>
        <p:spPr>
          <a:xfrm>
            <a:off x="963214" y="2589951"/>
            <a:ext cx="97547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SET</a:t>
            </a:r>
            <a:endParaRPr lang="en-US" dirty="0">
              <a:solidFill>
                <a:srgbClr val="0000FF"/>
              </a:solidFill>
            </a:endParaRPr>
          </a:p>
        </p:txBody>
      </p:sp>
      <p:sp>
        <p:nvSpPr>
          <p:cNvPr id="11" name="Rectangle 10">
            <a:extLst>
              <a:ext uri="{FF2B5EF4-FFF2-40B4-BE49-F238E27FC236}">
                <a16:creationId xmlns:a16="http://schemas.microsoft.com/office/drawing/2014/main" id="{8E62A038-3E22-104A-5017-6B3B8169C335}"/>
              </a:ext>
            </a:extLst>
          </p:cNvPr>
          <p:cNvSpPr/>
          <p:nvPr/>
        </p:nvSpPr>
        <p:spPr>
          <a:xfrm>
            <a:off x="2017224" y="2589951"/>
            <a:ext cx="171426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00"/>
                </a:solidFill>
              </a:rPr>
              <a:t>BRANCH</a:t>
            </a:r>
            <a:r>
              <a:rPr lang="en-IN" dirty="0">
                <a:solidFill>
                  <a:srgbClr val="808080"/>
                </a:solidFill>
              </a:rPr>
              <a:t>=</a:t>
            </a:r>
            <a:r>
              <a:rPr lang="en-IN" dirty="0">
                <a:solidFill>
                  <a:srgbClr val="FF0000"/>
                </a:solidFill>
              </a:rPr>
              <a:t>'ME'</a:t>
            </a:r>
            <a:endParaRPr lang="en-US" dirty="0">
              <a:solidFill>
                <a:srgbClr val="0000FF"/>
              </a:solidFill>
            </a:endParaRPr>
          </a:p>
        </p:txBody>
      </p:sp>
      <p:sp>
        <p:nvSpPr>
          <p:cNvPr id="21" name="TextBox 20">
            <a:extLst>
              <a:ext uri="{FF2B5EF4-FFF2-40B4-BE49-F238E27FC236}">
                <a16:creationId xmlns:a16="http://schemas.microsoft.com/office/drawing/2014/main" id="{1C072425-B8AB-B6E6-6AA4-AFF3764D11C5}"/>
              </a:ext>
            </a:extLst>
          </p:cNvPr>
          <p:cNvSpPr txBox="1"/>
          <p:nvPr/>
        </p:nvSpPr>
        <p:spPr>
          <a:xfrm>
            <a:off x="390282" y="3530185"/>
            <a:ext cx="1866780" cy="369332"/>
          </a:xfrm>
          <a:prstGeom prst="rect">
            <a:avLst/>
          </a:prstGeom>
          <a:noFill/>
        </p:spPr>
        <p:txBody>
          <a:bodyPr wrap="square" rtlCol="0">
            <a:spAutoFit/>
          </a:bodyPr>
          <a:lstStyle/>
          <a:p>
            <a:r>
              <a:rPr lang="en-US" b="1" u="sng" dirty="0"/>
              <a:t>Output (VIEW)</a:t>
            </a:r>
          </a:p>
        </p:txBody>
      </p:sp>
      <p:sp>
        <p:nvSpPr>
          <p:cNvPr id="23" name="TextBox 22">
            <a:extLst>
              <a:ext uri="{FF2B5EF4-FFF2-40B4-BE49-F238E27FC236}">
                <a16:creationId xmlns:a16="http://schemas.microsoft.com/office/drawing/2014/main" id="{F45BDDED-7A38-F7B6-BA9C-22BEABFC9C26}"/>
              </a:ext>
            </a:extLst>
          </p:cNvPr>
          <p:cNvSpPr txBox="1"/>
          <p:nvPr/>
        </p:nvSpPr>
        <p:spPr>
          <a:xfrm>
            <a:off x="5560006" y="3602563"/>
            <a:ext cx="2321141" cy="369332"/>
          </a:xfrm>
          <a:prstGeom prst="rect">
            <a:avLst/>
          </a:prstGeom>
          <a:noFill/>
        </p:spPr>
        <p:txBody>
          <a:bodyPr wrap="square" rtlCol="0">
            <a:spAutoFit/>
          </a:bodyPr>
          <a:lstStyle/>
          <a:p>
            <a:r>
              <a:rPr lang="en-US" b="1" u="sng" dirty="0"/>
              <a:t>Output (Base Table)</a:t>
            </a:r>
          </a:p>
        </p:txBody>
      </p:sp>
      <p:sp>
        <p:nvSpPr>
          <p:cNvPr id="24" name="Rectangle 23">
            <a:extLst>
              <a:ext uri="{FF2B5EF4-FFF2-40B4-BE49-F238E27FC236}">
                <a16:creationId xmlns:a16="http://schemas.microsoft.com/office/drawing/2014/main" id="{1BD9C665-5160-47E6-7055-F14F1F61AD15}"/>
              </a:ext>
            </a:extLst>
          </p:cNvPr>
          <p:cNvSpPr/>
          <p:nvPr/>
        </p:nvSpPr>
        <p:spPr>
          <a:xfrm>
            <a:off x="5560006" y="3939147"/>
            <a:ext cx="4353795" cy="5925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0000FF"/>
                </a:solidFill>
              </a:rPr>
              <a:t>SELECT </a:t>
            </a:r>
            <a:r>
              <a:rPr lang="en-IN" sz="2400" dirty="0">
                <a:solidFill>
                  <a:srgbClr val="808080"/>
                </a:solidFill>
              </a:rPr>
              <a:t>*</a:t>
            </a:r>
            <a:r>
              <a:rPr lang="en-IN" sz="2400" dirty="0">
                <a:solidFill>
                  <a:srgbClr val="0000FF"/>
                </a:solidFill>
              </a:rPr>
              <a:t> FROM </a:t>
            </a:r>
            <a:r>
              <a:rPr lang="en-IN" sz="2400" dirty="0">
                <a:solidFill>
                  <a:schemeClr val="tx1"/>
                </a:solidFill>
              </a:rPr>
              <a:t>STUDENT</a:t>
            </a:r>
          </a:p>
        </p:txBody>
      </p:sp>
      <p:sp>
        <p:nvSpPr>
          <p:cNvPr id="12" name="Rectangle 11">
            <a:extLst>
              <a:ext uri="{FF2B5EF4-FFF2-40B4-BE49-F238E27FC236}">
                <a16:creationId xmlns:a16="http://schemas.microsoft.com/office/drawing/2014/main" id="{4E5CAC3C-04F3-70A7-765E-D840294B6416}"/>
              </a:ext>
            </a:extLst>
          </p:cNvPr>
          <p:cNvSpPr/>
          <p:nvPr/>
        </p:nvSpPr>
        <p:spPr>
          <a:xfrm>
            <a:off x="3810026" y="2589951"/>
            <a:ext cx="8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13" name="Rectangle 12">
            <a:extLst>
              <a:ext uri="{FF2B5EF4-FFF2-40B4-BE49-F238E27FC236}">
                <a16:creationId xmlns:a16="http://schemas.microsoft.com/office/drawing/2014/main" id="{7E8189D2-FEF9-51BC-9511-F6F2185274A9}"/>
              </a:ext>
            </a:extLst>
          </p:cNvPr>
          <p:cNvSpPr/>
          <p:nvPr/>
        </p:nvSpPr>
        <p:spPr>
          <a:xfrm>
            <a:off x="4802070" y="2589951"/>
            <a:ext cx="17159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NAME</a:t>
            </a:r>
            <a:r>
              <a:rPr lang="en-IN" dirty="0">
                <a:solidFill>
                  <a:srgbClr val="808080"/>
                </a:solidFill>
              </a:rPr>
              <a:t>=</a:t>
            </a:r>
            <a:r>
              <a:rPr lang="en-IN" dirty="0">
                <a:solidFill>
                  <a:srgbClr val="FF0000"/>
                </a:solidFill>
              </a:rPr>
              <a:t>'AMIT'</a:t>
            </a:r>
            <a:endParaRPr lang="en-US" dirty="0">
              <a:solidFill>
                <a:srgbClr val="0000FF"/>
              </a:solidFill>
            </a:endParaRPr>
          </a:p>
        </p:txBody>
      </p:sp>
      <p:pic>
        <p:nvPicPr>
          <p:cNvPr id="15" name="Picture 14">
            <a:extLst>
              <a:ext uri="{FF2B5EF4-FFF2-40B4-BE49-F238E27FC236}">
                <a16:creationId xmlns:a16="http://schemas.microsoft.com/office/drawing/2014/main" id="{9CF5C153-9959-F607-24EA-A9253596CAEF}"/>
              </a:ext>
            </a:extLst>
          </p:cNvPr>
          <p:cNvPicPr>
            <a:picLocks noChangeAspect="1"/>
          </p:cNvPicPr>
          <p:nvPr/>
        </p:nvPicPr>
        <p:blipFill>
          <a:blip r:embed="rId2"/>
          <a:stretch>
            <a:fillRect/>
          </a:stretch>
        </p:blipFill>
        <p:spPr>
          <a:xfrm>
            <a:off x="1832564" y="4624448"/>
            <a:ext cx="2150772" cy="1305107"/>
          </a:xfrm>
          <a:prstGeom prst="rect">
            <a:avLst/>
          </a:prstGeom>
        </p:spPr>
      </p:pic>
      <p:sp>
        <p:nvSpPr>
          <p:cNvPr id="26" name="Rectangle 25">
            <a:extLst>
              <a:ext uri="{FF2B5EF4-FFF2-40B4-BE49-F238E27FC236}">
                <a16:creationId xmlns:a16="http://schemas.microsoft.com/office/drawing/2014/main" id="{1ED110EC-7D35-C3FF-4FBA-DA2BADAA3810}"/>
              </a:ext>
            </a:extLst>
          </p:cNvPr>
          <p:cNvSpPr/>
          <p:nvPr/>
        </p:nvSpPr>
        <p:spPr>
          <a:xfrm>
            <a:off x="1833770" y="5000545"/>
            <a:ext cx="2023685" cy="16711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B4D13F92-0C15-3D60-C837-93F29727D0AD}"/>
              </a:ext>
            </a:extLst>
          </p:cNvPr>
          <p:cNvPicPr>
            <a:picLocks noChangeAspect="1"/>
          </p:cNvPicPr>
          <p:nvPr/>
        </p:nvPicPr>
        <p:blipFill>
          <a:blip r:embed="rId3"/>
          <a:stretch>
            <a:fillRect/>
          </a:stretch>
        </p:blipFill>
        <p:spPr>
          <a:xfrm>
            <a:off x="5739505" y="4572577"/>
            <a:ext cx="2859550" cy="1544270"/>
          </a:xfrm>
          <a:prstGeom prst="rect">
            <a:avLst/>
          </a:prstGeom>
        </p:spPr>
      </p:pic>
      <p:sp>
        <p:nvSpPr>
          <p:cNvPr id="25" name="Rectangle 24">
            <a:extLst>
              <a:ext uri="{FF2B5EF4-FFF2-40B4-BE49-F238E27FC236}">
                <a16:creationId xmlns:a16="http://schemas.microsoft.com/office/drawing/2014/main" id="{EDC2C8E9-3747-C97B-EB28-2CC8A9ACECCF}"/>
              </a:ext>
            </a:extLst>
          </p:cNvPr>
          <p:cNvSpPr/>
          <p:nvPr/>
        </p:nvSpPr>
        <p:spPr>
          <a:xfrm>
            <a:off x="5739505" y="5019017"/>
            <a:ext cx="2785659" cy="24571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8022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1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wipe(left)">
                                      <p:cBhvr>
                                        <p:cTn id="7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8" grpId="0" animBg="1"/>
      <p:bldP spid="9" grpId="0" animBg="1"/>
      <p:bldP spid="10" grpId="0" animBg="1"/>
      <p:bldP spid="11" grpId="0" animBg="1"/>
      <p:bldP spid="21" grpId="0"/>
      <p:bldP spid="23" grpId="0"/>
      <p:bldP spid="24" grpId="0"/>
      <p:bldP spid="12" grpId="0" animBg="1"/>
      <p:bldP spid="13" grpId="0" animBg="1"/>
      <p:bldP spid="26" grpId="0" animBg="1"/>
      <p:bldP spid="2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278C-35B5-3171-8625-36B068155D3F}"/>
              </a:ext>
            </a:extLst>
          </p:cNvPr>
          <p:cNvSpPr>
            <a:spLocks noGrp="1"/>
          </p:cNvSpPr>
          <p:nvPr>
            <p:ph type="title"/>
          </p:nvPr>
        </p:nvSpPr>
        <p:spPr/>
        <p:txBody>
          <a:bodyPr/>
          <a:lstStyle/>
          <a:p>
            <a:r>
              <a:rPr lang="en-US" dirty="0"/>
              <a:t>Exercise: View</a:t>
            </a:r>
            <a:endParaRPr lang="en-IN" dirty="0"/>
          </a:p>
        </p:txBody>
      </p:sp>
      <p:sp>
        <p:nvSpPr>
          <p:cNvPr id="3" name="Content Placeholder 2">
            <a:extLst>
              <a:ext uri="{FF2B5EF4-FFF2-40B4-BE49-F238E27FC236}">
                <a16:creationId xmlns:a16="http://schemas.microsoft.com/office/drawing/2014/main" id="{1D177EE2-8D43-E741-889C-070645CC7DDC}"/>
              </a:ext>
            </a:extLst>
          </p:cNvPr>
          <p:cNvSpPr>
            <a:spLocks noGrp="1"/>
          </p:cNvSpPr>
          <p:nvPr>
            <p:ph idx="1"/>
          </p:nvPr>
        </p:nvSpPr>
        <p:spPr/>
        <p:txBody>
          <a:bodyPr/>
          <a:lstStyle/>
          <a:p>
            <a:r>
              <a:rPr lang="en-US" dirty="0"/>
              <a:t>Create a view named </a:t>
            </a:r>
            <a:r>
              <a:rPr lang="en-US" dirty="0" err="1"/>
              <a:t>faculty_info</a:t>
            </a:r>
            <a:r>
              <a:rPr lang="en-US" dirty="0"/>
              <a:t> with name and branch column.</a:t>
            </a:r>
          </a:p>
          <a:p>
            <a:r>
              <a:rPr lang="en-US" dirty="0"/>
              <a:t>Create a view which contains records of ‘Computer’ branch faculty only.</a:t>
            </a:r>
          </a:p>
          <a:p>
            <a:r>
              <a:rPr lang="en-US" dirty="0"/>
              <a:t>Create a view </a:t>
            </a:r>
            <a:r>
              <a:rPr lang="en-US" dirty="0" err="1"/>
              <a:t>name_pattern</a:t>
            </a:r>
            <a:r>
              <a:rPr lang="en-US" dirty="0"/>
              <a:t> which contains name ends with ‘</a:t>
            </a:r>
            <a:r>
              <a:rPr lang="en-US" dirty="0" err="1"/>
              <a:t>tel</a:t>
            </a:r>
            <a:r>
              <a:rPr lang="en-US" dirty="0"/>
              <a:t>’</a:t>
            </a:r>
          </a:p>
          <a:p>
            <a:r>
              <a:rPr lang="en-US" dirty="0"/>
              <a:t>Create a view </a:t>
            </a:r>
            <a:r>
              <a:rPr lang="en-US" dirty="0" err="1"/>
              <a:t>sal_data</a:t>
            </a:r>
            <a:r>
              <a:rPr lang="en-US" dirty="0"/>
              <a:t> which contains highest salary of each branch.</a:t>
            </a:r>
          </a:p>
          <a:p>
            <a:r>
              <a:rPr lang="en-US" dirty="0"/>
              <a:t>Create a view </a:t>
            </a:r>
            <a:r>
              <a:rPr lang="en-US" dirty="0" err="1"/>
              <a:t>vw_civil</a:t>
            </a:r>
            <a:r>
              <a:rPr lang="en-US" dirty="0"/>
              <a:t> which contains records of ‘civil’ branch only.</a:t>
            </a:r>
          </a:p>
          <a:p>
            <a:r>
              <a:rPr lang="en-US" dirty="0"/>
              <a:t>Insert a record in </a:t>
            </a:r>
            <a:r>
              <a:rPr lang="en-US" dirty="0" err="1"/>
              <a:t>vw_civil</a:t>
            </a:r>
            <a:r>
              <a:rPr lang="en-US" dirty="0"/>
              <a:t> (199,’Meet Patel’, 25000,’Rajkot’,’civil’)</a:t>
            </a:r>
          </a:p>
          <a:p>
            <a:r>
              <a:rPr lang="en-IN" dirty="0"/>
              <a:t>Update a name ‘Manish Patel ’ in view </a:t>
            </a:r>
            <a:r>
              <a:rPr lang="en-US" dirty="0" err="1"/>
              <a:t>vw_civil</a:t>
            </a:r>
            <a:r>
              <a:rPr lang="en-US" dirty="0"/>
              <a:t>  where ID is 199 </a:t>
            </a:r>
          </a:p>
          <a:p>
            <a:r>
              <a:rPr lang="en-US" dirty="0"/>
              <a:t>Delete record from </a:t>
            </a:r>
            <a:r>
              <a:rPr lang="en-IN" dirty="0"/>
              <a:t>view </a:t>
            </a:r>
            <a:r>
              <a:rPr lang="en-US" dirty="0" err="1"/>
              <a:t>vw_civil</a:t>
            </a:r>
            <a:r>
              <a:rPr lang="en-US" dirty="0"/>
              <a:t>  where ID is 199</a:t>
            </a:r>
          </a:p>
        </p:txBody>
      </p:sp>
      <p:graphicFrame>
        <p:nvGraphicFramePr>
          <p:cNvPr id="4" name="Table 3">
            <a:extLst>
              <a:ext uri="{FF2B5EF4-FFF2-40B4-BE49-F238E27FC236}">
                <a16:creationId xmlns:a16="http://schemas.microsoft.com/office/drawing/2014/main" id="{51B7041C-1B97-E496-D5B1-E25008C79568}"/>
              </a:ext>
            </a:extLst>
          </p:cNvPr>
          <p:cNvGraphicFramePr>
            <a:graphicFrameLocks noGrp="1"/>
          </p:cNvGraphicFramePr>
          <p:nvPr>
            <p:extLst>
              <p:ext uri="{D42A27DB-BD31-4B8C-83A1-F6EECF244321}">
                <p14:modId xmlns:p14="http://schemas.microsoft.com/office/powerpoint/2010/main" val="3688007408"/>
              </p:ext>
            </p:extLst>
          </p:nvPr>
        </p:nvGraphicFramePr>
        <p:xfrm>
          <a:off x="7155866" y="4085979"/>
          <a:ext cx="4904954" cy="2368030"/>
        </p:xfrm>
        <a:graphic>
          <a:graphicData uri="http://schemas.openxmlformats.org/drawingml/2006/table">
            <a:tbl>
              <a:tblPr firstRow="1" bandRow="1">
                <a:tableStyleId>{073A0DAA-6AF3-43AB-8588-CEC1D06C72B9}</a:tableStyleId>
              </a:tblPr>
              <a:tblGrid>
                <a:gridCol w="544830">
                  <a:extLst>
                    <a:ext uri="{9D8B030D-6E8A-4147-A177-3AD203B41FA5}">
                      <a16:colId xmlns:a16="http://schemas.microsoft.com/office/drawing/2014/main" val="3494103671"/>
                    </a:ext>
                  </a:extLst>
                </a:gridCol>
                <a:gridCol w="1357630">
                  <a:extLst>
                    <a:ext uri="{9D8B030D-6E8A-4147-A177-3AD203B41FA5}">
                      <a16:colId xmlns:a16="http://schemas.microsoft.com/office/drawing/2014/main" val="3563248749"/>
                    </a:ext>
                  </a:extLst>
                </a:gridCol>
                <a:gridCol w="738505">
                  <a:extLst>
                    <a:ext uri="{9D8B030D-6E8A-4147-A177-3AD203B41FA5}">
                      <a16:colId xmlns:a16="http://schemas.microsoft.com/office/drawing/2014/main" val="3075158583"/>
                    </a:ext>
                  </a:extLst>
                </a:gridCol>
                <a:gridCol w="1030605">
                  <a:extLst>
                    <a:ext uri="{9D8B030D-6E8A-4147-A177-3AD203B41FA5}">
                      <a16:colId xmlns:a16="http://schemas.microsoft.com/office/drawing/2014/main" val="3754116018"/>
                    </a:ext>
                  </a:extLst>
                </a:gridCol>
                <a:gridCol w="1233384">
                  <a:extLst>
                    <a:ext uri="{9D8B030D-6E8A-4147-A177-3AD203B41FA5}">
                      <a16:colId xmlns:a16="http://schemas.microsoft.com/office/drawing/2014/main" val="1321371382"/>
                    </a:ext>
                  </a:extLst>
                </a:gridCol>
              </a:tblGrid>
              <a:tr h="339494">
                <a:tc>
                  <a:txBody>
                    <a:bodyPr/>
                    <a:lstStyle/>
                    <a:p>
                      <a:pPr algn="ctr"/>
                      <a:r>
                        <a:rPr lang="en-US" sz="1600" b="1" dirty="0">
                          <a:solidFill>
                            <a:schemeClr val="bg1"/>
                          </a:solidFill>
                        </a:rPr>
                        <a:t>ID </a:t>
                      </a:r>
                    </a:p>
                  </a:txBody>
                  <a:tcPr anchor="ctr"/>
                </a:tc>
                <a:tc>
                  <a:txBody>
                    <a:bodyPr/>
                    <a:lstStyle/>
                    <a:p>
                      <a:pPr algn="ctr"/>
                      <a:r>
                        <a:rPr lang="en-US" sz="1600" b="1" dirty="0">
                          <a:solidFill>
                            <a:schemeClr val="bg1"/>
                          </a:solidFill>
                        </a:rPr>
                        <a:t>Name</a:t>
                      </a:r>
                    </a:p>
                  </a:txBody>
                  <a:tcPr anchor="ctr"/>
                </a:tc>
                <a:tc>
                  <a:txBody>
                    <a:bodyPr/>
                    <a:lstStyle/>
                    <a:p>
                      <a:pPr algn="ctr"/>
                      <a:r>
                        <a:rPr lang="en-US" sz="1600" kern="1200" dirty="0">
                          <a:solidFill>
                            <a:schemeClr val="bg1"/>
                          </a:solidFill>
                        </a:rPr>
                        <a:t>Salary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City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Branch</a:t>
                      </a:r>
                      <a:endParaRPr lang="en-US" sz="16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600" b="0" u="none" strike="noStrike" dirty="0">
                          <a:solidFill>
                            <a:srgbClr val="000000"/>
                          </a:solidFill>
                          <a:effectLst/>
                        </a:rPr>
                        <a:t>258</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Ankit Patel</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50000</a:t>
                      </a:r>
                    </a:p>
                  </a:txBody>
                  <a:tcPr anchor="b"/>
                </a:tc>
                <a:tc>
                  <a:txBody>
                    <a:bodyPr/>
                    <a:lstStyle/>
                    <a:p>
                      <a:pPr algn="l" fontAlgn="b"/>
                      <a:r>
                        <a:rPr lang="en-US" sz="1600" b="0" u="none" strike="noStrike" dirty="0" err="1">
                          <a:solidFill>
                            <a:srgbClr val="000000"/>
                          </a:solidFill>
                          <a:effectLst/>
                        </a:rPr>
                        <a:t>Jetpur</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Electrical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3729563750"/>
                  </a:ext>
                </a:extLst>
              </a:tr>
              <a:tr h="202347">
                <a:tc>
                  <a:txBody>
                    <a:bodyPr/>
                    <a:lstStyle/>
                    <a:p>
                      <a:pPr algn="ctr" fontAlgn="b"/>
                      <a:r>
                        <a:rPr lang="en-US" sz="1600" b="0" u="none" strike="noStrike" dirty="0">
                          <a:solidFill>
                            <a:srgbClr val="000000"/>
                          </a:solidFill>
                          <a:effectLst/>
                        </a:rPr>
                        <a:t>742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Parmar</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75000</a:t>
                      </a:r>
                    </a:p>
                  </a:txBody>
                  <a:tcPr anchor="b"/>
                </a:tc>
                <a:tc>
                  <a:txBody>
                    <a:bodyPr/>
                    <a:lstStyle/>
                    <a:p>
                      <a:pPr algn="l" fontAlgn="b"/>
                      <a:r>
                        <a:rPr lang="en-US" sz="1600" b="0" u="none" strike="noStrike" dirty="0">
                          <a:solidFill>
                            <a:srgbClr val="000000"/>
                          </a:solidFill>
                          <a:effectLst/>
                        </a:rPr>
                        <a:t>Baroda</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600" b="0" u="none" strike="noStrike">
                          <a:solidFill>
                            <a:srgbClr val="000000"/>
                          </a:solidFill>
                          <a:effectLst/>
                        </a:rPr>
                        <a:t>325</a:t>
                      </a:r>
                      <a:endParaRPr lang="en-US" sz="1600" b="0" i="0" u="none" strike="noStrike">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Manan Doshi</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65000</a:t>
                      </a:r>
                    </a:p>
                  </a:txBody>
                  <a:tcPr anchor="b"/>
                </a:tc>
                <a:tc>
                  <a:txBody>
                    <a:bodyPr/>
                    <a:lstStyle/>
                    <a:p>
                      <a:pPr algn="l" fontAlgn="b"/>
                      <a:r>
                        <a:rPr lang="en-US" sz="1600" b="0" u="none" strike="noStrike" dirty="0" err="1">
                          <a:solidFill>
                            <a:srgbClr val="000000"/>
                          </a:solidFill>
                          <a:effectLst/>
                        </a:rPr>
                        <a:t>Gondal</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a:solidFill>
                            <a:srgbClr val="000000"/>
                          </a:solidFill>
                          <a:effectLst/>
                        </a:rPr>
                        <a:t>Civil</a:t>
                      </a:r>
                      <a:endParaRPr lang="en-US" sz="16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600" b="0" u="none" strike="noStrike" dirty="0">
                          <a:solidFill>
                            <a:srgbClr val="000000"/>
                          </a:solidFill>
                          <a:effectLst/>
                        </a:rPr>
                        <a:t>125</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Mitesh Manek</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55000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600" b="0" u="none" strike="noStrike" dirty="0">
                          <a:solidFill>
                            <a:srgbClr val="000000"/>
                          </a:solidFill>
                          <a:effectLst/>
                        </a:rPr>
                        <a:t>312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Akbari</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28000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Civil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600" b="0" u="none" strike="noStrike" dirty="0">
                          <a:solidFill>
                            <a:srgbClr val="000000"/>
                          </a:solidFill>
                          <a:effectLst/>
                        </a:rPr>
                        <a:t>Null</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Bhavin Patel</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35000</a:t>
                      </a:r>
                    </a:p>
                  </a:txBody>
                  <a:tcPr anchor="b"/>
                </a:tc>
                <a:tc>
                  <a:txBody>
                    <a:bodyPr/>
                    <a:lstStyle/>
                    <a:p>
                      <a:pPr algn="l" fontAlgn="b"/>
                      <a:r>
                        <a:rPr lang="en-US" sz="1600" b="0" u="none" strike="noStrike" dirty="0">
                          <a:solidFill>
                            <a:srgbClr val="000000"/>
                          </a:solidFill>
                          <a:effectLst/>
                        </a:rPr>
                        <a:t>Jamnagar</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Mechanical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5" name="Rectangle 4">
            <a:extLst>
              <a:ext uri="{FF2B5EF4-FFF2-40B4-BE49-F238E27FC236}">
                <a16:creationId xmlns:a16="http://schemas.microsoft.com/office/drawing/2014/main" id="{2D4BD255-273D-8297-7110-8EF58DC407FB}"/>
              </a:ext>
            </a:extLst>
          </p:cNvPr>
          <p:cNvSpPr/>
          <p:nvPr/>
        </p:nvSpPr>
        <p:spPr>
          <a:xfrm>
            <a:off x="11288354" y="3787460"/>
            <a:ext cx="772466" cy="21976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Tree>
    <p:extLst>
      <p:ext uri="{BB962C8B-B14F-4D97-AF65-F5344CB8AC3E}">
        <p14:creationId xmlns:p14="http://schemas.microsoft.com/office/powerpoint/2010/main" val="294082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33B024-0100-B89E-3634-35CC369D339E}"/>
              </a:ext>
            </a:extLst>
          </p:cNvPr>
          <p:cNvSpPr/>
          <p:nvPr/>
        </p:nvSpPr>
        <p:spPr>
          <a:xfrm>
            <a:off x="1855394" y="2261520"/>
            <a:ext cx="7858124" cy="215242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DBE96107-0335-ED05-AE7E-70E5131F4756}"/>
              </a:ext>
            </a:extLst>
          </p:cNvPr>
          <p:cNvSpPr>
            <a:spLocks noGrp="1"/>
          </p:cNvSpPr>
          <p:nvPr>
            <p:ph type="title"/>
          </p:nvPr>
        </p:nvSpPr>
        <p:spPr/>
        <p:txBody>
          <a:bodyPr/>
          <a:lstStyle/>
          <a:p>
            <a:r>
              <a:rPr lang="en-US" dirty="0"/>
              <a:t>Create a Complex View</a:t>
            </a:r>
            <a:endParaRPr lang="en-IN" dirty="0"/>
          </a:p>
        </p:txBody>
      </p:sp>
      <p:sp>
        <p:nvSpPr>
          <p:cNvPr id="3" name="Content Placeholder 2">
            <a:extLst>
              <a:ext uri="{FF2B5EF4-FFF2-40B4-BE49-F238E27FC236}">
                <a16:creationId xmlns:a16="http://schemas.microsoft.com/office/drawing/2014/main" id="{4EA41EED-1BA9-EDBB-A19D-6AEB4E449966}"/>
              </a:ext>
            </a:extLst>
          </p:cNvPr>
          <p:cNvSpPr>
            <a:spLocks noGrp="1"/>
          </p:cNvSpPr>
          <p:nvPr>
            <p:ph idx="1"/>
          </p:nvPr>
        </p:nvSpPr>
        <p:spPr/>
        <p:txBody>
          <a:bodyPr/>
          <a:lstStyle/>
          <a:p>
            <a:r>
              <a:rPr lang="en-US" b="1" dirty="0"/>
              <a:t>Complex View</a:t>
            </a:r>
            <a:r>
              <a:rPr lang="en-US" dirty="0"/>
              <a:t> contain more than one base table.</a:t>
            </a:r>
          </a:p>
          <a:p>
            <a:r>
              <a:rPr lang="en-US" dirty="0"/>
              <a:t>This type of view also allow </a:t>
            </a:r>
            <a:r>
              <a:rPr lang="en-US" b="1" dirty="0"/>
              <a:t>GROUP BY, JOIN </a:t>
            </a:r>
            <a:r>
              <a:rPr lang="en-US" dirty="0"/>
              <a:t>clause.</a:t>
            </a:r>
          </a:p>
          <a:p>
            <a:r>
              <a:rPr lang="en-US" dirty="0">
                <a:solidFill>
                  <a:srgbClr val="0E47A1"/>
                </a:solidFill>
              </a:rPr>
              <a:t>Create a view on </a:t>
            </a:r>
            <a:r>
              <a:rPr lang="en-US" dirty="0" err="1">
                <a:solidFill>
                  <a:srgbClr val="0E47A1"/>
                </a:solidFill>
              </a:rPr>
              <a:t>bank_detail</a:t>
            </a:r>
            <a:r>
              <a:rPr lang="en-US" dirty="0">
                <a:solidFill>
                  <a:srgbClr val="0E47A1"/>
                </a:solidFill>
              </a:rPr>
              <a:t> and </a:t>
            </a:r>
            <a:r>
              <a:rPr lang="en-US" dirty="0" err="1">
                <a:solidFill>
                  <a:srgbClr val="0E47A1"/>
                </a:solidFill>
              </a:rPr>
              <a:t>branch_detail</a:t>
            </a:r>
            <a:r>
              <a:rPr lang="en-US" dirty="0">
                <a:solidFill>
                  <a:srgbClr val="0E47A1"/>
                </a:solidFill>
              </a:rPr>
              <a:t> table.</a:t>
            </a:r>
          </a:p>
          <a:p>
            <a:endParaRPr lang="en-IN" dirty="0"/>
          </a:p>
          <a:p>
            <a:endParaRPr lang="en-IN" dirty="0"/>
          </a:p>
          <a:p>
            <a:endParaRPr lang="en-IN" dirty="0"/>
          </a:p>
          <a:p>
            <a:endParaRPr lang="en-IN" dirty="0"/>
          </a:p>
          <a:p>
            <a:endParaRPr lang="en-IN" dirty="0"/>
          </a:p>
          <a:p>
            <a:r>
              <a:rPr lang="en-US" sz="2400" dirty="0"/>
              <a:t>Now Fetch the data from </a:t>
            </a:r>
            <a:r>
              <a:rPr lang="en-US" sz="2400" dirty="0" err="1"/>
              <a:t>bank_branch_view</a:t>
            </a:r>
            <a:r>
              <a:rPr lang="en-US" sz="2400" dirty="0"/>
              <a:t>;</a:t>
            </a:r>
          </a:p>
          <a:p>
            <a:endParaRPr lang="en-IN" dirty="0"/>
          </a:p>
        </p:txBody>
      </p:sp>
      <p:sp>
        <p:nvSpPr>
          <p:cNvPr id="4" name="TextBox 3">
            <a:extLst>
              <a:ext uri="{FF2B5EF4-FFF2-40B4-BE49-F238E27FC236}">
                <a16:creationId xmlns:a16="http://schemas.microsoft.com/office/drawing/2014/main" id="{A89B14ED-0B28-F885-AE34-CAC48CB32BD8}"/>
              </a:ext>
            </a:extLst>
          </p:cNvPr>
          <p:cNvSpPr txBox="1"/>
          <p:nvPr/>
        </p:nvSpPr>
        <p:spPr>
          <a:xfrm>
            <a:off x="1878639" y="2156919"/>
            <a:ext cx="10254218" cy="2257028"/>
          </a:xfrm>
          <a:prstGeom prst="rect">
            <a:avLst/>
          </a:prstGeom>
          <a:noFill/>
        </p:spPr>
        <p:txBody>
          <a:bodyPr wrap="square" rtlCol="0">
            <a:spAutoFit/>
          </a:bodyPr>
          <a:lstStyle/>
          <a:p>
            <a:pPr>
              <a:lnSpc>
                <a:spcPct val="150000"/>
              </a:lnSpc>
            </a:pPr>
            <a:r>
              <a:rPr lang="en-US" dirty="0">
                <a:solidFill>
                  <a:srgbClr val="0000FF"/>
                </a:solidFill>
              </a:rPr>
              <a:t>CREATE VIEW </a:t>
            </a:r>
            <a:r>
              <a:rPr lang="en-US" b="1" dirty="0" err="1">
                <a:solidFill>
                  <a:srgbClr val="C00000"/>
                </a:solidFill>
              </a:rPr>
              <a:t>bank_branch_view</a:t>
            </a:r>
            <a:endParaRPr lang="en-US" b="1" dirty="0">
              <a:solidFill>
                <a:srgbClr val="C00000"/>
              </a:solidFill>
            </a:endParaRPr>
          </a:p>
          <a:p>
            <a:pPr>
              <a:lnSpc>
                <a:spcPct val="150000"/>
              </a:lnSpc>
            </a:pPr>
            <a:r>
              <a:rPr lang="en-US" dirty="0">
                <a:solidFill>
                  <a:srgbClr val="0000FF"/>
                </a:solidFill>
              </a:rPr>
              <a:t>AS</a:t>
            </a:r>
          </a:p>
          <a:p>
            <a:pPr>
              <a:lnSpc>
                <a:spcPct val="150000"/>
              </a:lnSpc>
            </a:pPr>
            <a:r>
              <a:rPr lang="en-US" dirty="0">
                <a:solidFill>
                  <a:srgbClr val="0000FF"/>
                </a:solidFill>
              </a:rPr>
              <a:t>SELECT</a:t>
            </a:r>
            <a:r>
              <a:rPr lang="en-US" sz="2000" b="1" dirty="0"/>
              <a:t> </a:t>
            </a:r>
            <a:r>
              <a:rPr lang="en-US" dirty="0" err="1">
                <a:solidFill>
                  <a:schemeClr val="dk1"/>
                </a:solidFill>
              </a:rPr>
              <a:t>bank_id</a:t>
            </a:r>
            <a:r>
              <a:rPr lang="en-US" dirty="0">
                <a:solidFill>
                  <a:schemeClr val="dk1"/>
                </a:solidFill>
              </a:rPr>
              <a:t>, </a:t>
            </a:r>
            <a:r>
              <a:rPr lang="en-US" dirty="0" err="1">
                <a:solidFill>
                  <a:schemeClr val="dk1"/>
                </a:solidFill>
              </a:rPr>
              <a:t>bank_name</a:t>
            </a:r>
            <a:r>
              <a:rPr lang="en-US" dirty="0">
                <a:solidFill>
                  <a:schemeClr val="dk1"/>
                </a:solidFill>
              </a:rPr>
              <a:t>, </a:t>
            </a:r>
            <a:r>
              <a:rPr lang="en-US" dirty="0" err="1">
                <a:solidFill>
                  <a:schemeClr val="dk1"/>
                </a:solidFill>
              </a:rPr>
              <a:t>branch_id</a:t>
            </a:r>
            <a:r>
              <a:rPr lang="en-US" dirty="0">
                <a:solidFill>
                  <a:schemeClr val="dk1"/>
                </a:solidFill>
              </a:rPr>
              <a:t>, </a:t>
            </a:r>
            <a:r>
              <a:rPr lang="en-US" dirty="0" err="1">
                <a:solidFill>
                  <a:schemeClr val="dk1"/>
                </a:solidFill>
              </a:rPr>
              <a:t>branch_name</a:t>
            </a:r>
            <a:r>
              <a:rPr lang="en-US" dirty="0">
                <a:solidFill>
                  <a:schemeClr val="dk1"/>
                </a:solidFill>
              </a:rPr>
              <a:t>, </a:t>
            </a:r>
            <a:r>
              <a:rPr lang="en-US" dirty="0" err="1">
                <a:solidFill>
                  <a:schemeClr val="dk1"/>
                </a:solidFill>
              </a:rPr>
              <a:t>bank_city</a:t>
            </a:r>
            <a:r>
              <a:rPr lang="en-US" dirty="0">
                <a:solidFill>
                  <a:schemeClr val="dk1"/>
                </a:solidFill>
              </a:rPr>
              <a:t> </a:t>
            </a:r>
          </a:p>
          <a:p>
            <a:pPr>
              <a:lnSpc>
                <a:spcPct val="150000"/>
              </a:lnSpc>
            </a:pPr>
            <a:r>
              <a:rPr lang="en-US" dirty="0">
                <a:solidFill>
                  <a:srgbClr val="0000FF"/>
                </a:solidFill>
              </a:rPr>
              <a:t>FROM</a:t>
            </a:r>
            <a:r>
              <a:rPr lang="en-US" sz="2000" b="1" dirty="0"/>
              <a:t> </a:t>
            </a:r>
            <a:r>
              <a:rPr lang="en-US" dirty="0" err="1">
                <a:solidFill>
                  <a:schemeClr val="dk1"/>
                </a:solidFill>
              </a:rPr>
              <a:t>bank_detail</a:t>
            </a:r>
            <a:r>
              <a:rPr lang="en-US" dirty="0">
                <a:solidFill>
                  <a:schemeClr val="dk1"/>
                </a:solidFill>
              </a:rPr>
              <a:t>, </a:t>
            </a:r>
            <a:r>
              <a:rPr lang="en-US" dirty="0" err="1">
                <a:solidFill>
                  <a:schemeClr val="dk1"/>
                </a:solidFill>
              </a:rPr>
              <a:t>branch_detail</a:t>
            </a:r>
            <a:r>
              <a:rPr lang="en-US" dirty="0">
                <a:solidFill>
                  <a:schemeClr val="dk1"/>
                </a:solidFill>
              </a:rPr>
              <a:t> </a:t>
            </a:r>
          </a:p>
          <a:p>
            <a:pPr>
              <a:lnSpc>
                <a:spcPct val="150000"/>
              </a:lnSpc>
            </a:pPr>
            <a:r>
              <a:rPr lang="en-US" dirty="0">
                <a:solidFill>
                  <a:srgbClr val="0000FF"/>
                </a:solidFill>
              </a:rPr>
              <a:t>WHERE</a:t>
            </a:r>
            <a:r>
              <a:rPr lang="en-US" sz="2000" b="1" dirty="0"/>
              <a:t> </a:t>
            </a:r>
            <a:r>
              <a:rPr lang="en-US" dirty="0" err="1">
                <a:solidFill>
                  <a:schemeClr val="dk1"/>
                </a:solidFill>
              </a:rPr>
              <a:t>bank_detail.bank_id</a:t>
            </a:r>
            <a:r>
              <a:rPr lang="en-US" dirty="0">
                <a:solidFill>
                  <a:schemeClr val="dk1"/>
                </a:solidFill>
              </a:rPr>
              <a:t> = </a:t>
            </a:r>
            <a:r>
              <a:rPr lang="en-US" dirty="0" err="1">
                <a:solidFill>
                  <a:schemeClr val="dk1"/>
                </a:solidFill>
              </a:rPr>
              <a:t>branch_detail.branch_bank_id</a:t>
            </a:r>
            <a:r>
              <a:rPr lang="en-US" dirty="0">
                <a:solidFill>
                  <a:schemeClr val="dk1"/>
                </a:solidFill>
              </a:rPr>
              <a:t>;</a:t>
            </a:r>
          </a:p>
        </p:txBody>
      </p:sp>
      <p:sp>
        <p:nvSpPr>
          <p:cNvPr id="7" name="TextBox 6">
            <a:extLst>
              <a:ext uri="{FF2B5EF4-FFF2-40B4-BE49-F238E27FC236}">
                <a16:creationId xmlns:a16="http://schemas.microsoft.com/office/drawing/2014/main" id="{156FAA42-D8FA-FC9C-DA2A-E8CFC3066437}"/>
              </a:ext>
            </a:extLst>
          </p:cNvPr>
          <p:cNvSpPr txBox="1"/>
          <p:nvPr/>
        </p:nvSpPr>
        <p:spPr>
          <a:xfrm>
            <a:off x="7391269" y="4507802"/>
            <a:ext cx="4355206" cy="400110"/>
          </a:xfrm>
          <a:prstGeom prst="rect">
            <a:avLst/>
          </a:prstGeom>
          <a:noFill/>
        </p:spPr>
        <p:txBody>
          <a:bodyPr wrap="square" rtlCol="0">
            <a:spAutoFit/>
          </a:bodyPr>
          <a:lstStyle/>
          <a:p>
            <a:r>
              <a:rPr lang="en-US" dirty="0">
                <a:solidFill>
                  <a:srgbClr val="0000FF"/>
                </a:solidFill>
                <a:latin typeface="Consolas" panose="020B0609020204030204" pitchFamily="49" charset="0"/>
              </a:rPr>
              <a:t>SELECT</a:t>
            </a:r>
            <a:r>
              <a:rPr lang="en-US" sz="2000" b="1" dirty="0">
                <a:solidFill>
                  <a:schemeClr val="accent6"/>
                </a:solidFill>
              </a:rPr>
              <a:t>  </a:t>
            </a:r>
            <a:r>
              <a:rPr lang="en-US" sz="2000" b="1" dirty="0"/>
              <a:t>* </a:t>
            </a:r>
            <a:r>
              <a:rPr lang="en-US" sz="2000" b="1" dirty="0">
                <a:solidFill>
                  <a:schemeClr val="accent6"/>
                </a:solidFill>
              </a:rPr>
              <a:t> </a:t>
            </a:r>
            <a:r>
              <a:rPr lang="en-US" dirty="0">
                <a:solidFill>
                  <a:srgbClr val="0000FF"/>
                </a:solidFill>
                <a:latin typeface="Consolas" panose="020B0609020204030204" pitchFamily="49" charset="0"/>
              </a:rPr>
              <a:t>FROM </a:t>
            </a:r>
            <a:r>
              <a:rPr lang="en-US" b="1" dirty="0" err="1">
                <a:solidFill>
                  <a:srgbClr val="C00000"/>
                </a:solidFill>
              </a:rPr>
              <a:t>bank_branch_view</a:t>
            </a:r>
            <a:r>
              <a:rPr lang="en-US" b="1" dirty="0">
                <a:solidFill>
                  <a:srgbClr val="C00000"/>
                </a:solidFill>
              </a:rPr>
              <a:t> </a:t>
            </a:r>
            <a:r>
              <a:rPr lang="en-US" sz="2000" b="1" dirty="0"/>
              <a:t>;</a:t>
            </a:r>
            <a:r>
              <a:rPr lang="en-US" sz="2000" b="1" dirty="0">
                <a:solidFill>
                  <a:schemeClr val="accent6"/>
                </a:solidFill>
              </a:rPr>
              <a:t> </a:t>
            </a:r>
          </a:p>
        </p:txBody>
      </p:sp>
      <p:pic>
        <p:nvPicPr>
          <p:cNvPr id="8" name="Picture 7">
            <a:extLst>
              <a:ext uri="{FF2B5EF4-FFF2-40B4-BE49-F238E27FC236}">
                <a16:creationId xmlns:a16="http://schemas.microsoft.com/office/drawing/2014/main" id="{52CB47CC-EE05-6095-22D0-F67E2BD1F74C}"/>
              </a:ext>
            </a:extLst>
          </p:cNvPr>
          <p:cNvPicPr>
            <a:picLocks noChangeAspect="1"/>
          </p:cNvPicPr>
          <p:nvPr/>
        </p:nvPicPr>
        <p:blipFill rotWithShape="1">
          <a:blip r:embed="rId2">
            <a:extLst>
              <a:ext uri="{28A0092B-C50C-407E-A947-70E740481C1C}">
                <a14:useLocalDpi xmlns:a14="http://schemas.microsoft.com/office/drawing/2010/main" val="0"/>
              </a:ext>
            </a:extLst>
          </a:blip>
          <a:srcRect t="29176" b="7806"/>
          <a:stretch/>
        </p:blipFill>
        <p:spPr>
          <a:xfrm>
            <a:off x="3252390" y="4984033"/>
            <a:ext cx="5687219" cy="1506828"/>
          </a:xfrm>
          <a:prstGeom prst="rect">
            <a:avLst/>
          </a:prstGeom>
        </p:spPr>
      </p:pic>
      <p:cxnSp>
        <p:nvCxnSpPr>
          <p:cNvPr id="9" name="Straight Arrow Connector 8">
            <a:extLst>
              <a:ext uri="{FF2B5EF4-FFF2-40B4-BE49-F238E27FC236}">
                <a16:creationId xmlns:a16="http://schemas.microsoft.com/office/drawing/2014/main" id="{9D436813-30B6-308A-4997-54B2719D2CD0}"/>
              </a:ext>
            </a:extLst>
          </p:cNvPr>
          <p:cNvCxnSpPr/>
          <p:nvPr/>
        </p:nvCxnSpPr>
        <p:spPr>
          <a:xfrm>
            <a:off x="6179127" y="4738255"/>
            <a:ext cx="969818"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648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4" grpId="0"/>
      <p:bldP spid="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97F0A-D001-9D40-ACD3-D5B89028579D}"/>
              </a:ext>
            </a:extLst>
          </p:cNvPr>
          <p:cNvSpPr>
            <a:spLocks noGrp="1"/>
          </p:cNvSpPr>
          <p:nvPr>
            <p:ph type="title"/>
          </p:nvPr>
        </p:nvSpPr>
        <p:spPr/>
        <p:txBody>
          <a:bodyPr/>
          <a:lstStyle/>
          <a:p>
            <a:r>
              <a:rPr lang="en-US" dirty="0"/>
              <a:t>Alter View</a:t>
            </a:r>
            <a:endParaRPr lang="en-IN" dirty="0"/>
          </a:p>
        </p:txBody>
      </p:sp>
      <p:sp>
        <p:nvSpPr>
          <p:cNvPr id="3" name="Content Placeholder 2">
            <a:extLst>
              <a:ext uri="{FF2B5EF4-FFF2-40B4-BE49-F238E27FC236}">
                <a16:creationId xmlns:a16="http://schemas.microsoft.com/office/drawing/2014/main" id="{836ECEEA-24D2-497C-FFF6-5BC6F1C13B58}"/>
              </a:ext>
            </a:extLst>
          </p:cNvPr>
          <p:cNvSpPr>
            <a:spLocks noGrp="1"/>
          </p:cNvSpPr>
          <p:nvPr>
            <p:ph idx="1"/>
          </p:nvPr>
        </p:nvSpPr>
        <p:spPr/>
        <p:txBody>
          <a:bodyPr/>
          <a:lstStyle/>
          <a:p>
            <a:r>
              <a:rPr lang="en-US" dirty="0"/>
              <a:t>We can use </a:t>
            </a:r>
            <a:r>
              <a:rPr lang="en-US" b="1" dirty="0">
                <a:solidFill>
                  <a:srgbClr val="C00000"/>
                </a:solidFill>
              </a:rPr>
              <a:t>ALTER VIEW </a:t>
            </a:r>
            <a:r>
              <a:rPr lang="en-US" dirty="0"/>
              <a:t>to modify the schema or structure of a view. </a:t>
            </a:r>
          </a:p>
          <a:p>
            <a:r>
              <a:rPr lang="en-US" dirty="0"/>
              <a:t>We can add or remove some columns or change some conditions that are applied in a predefined view. </a:t>
            </a:r>
          </a:p>
          <a:p>
            <a:endParaRPr lang="en-IN" dirty="0"/>
          </a:p>
        </p:txBody>
      </p:sp>
      <p:sp>
        <p:nvSpPr>
          <p:cNvPr id="4" name="Rectangle 3">
            <a:extLst>
              <a:ext uri="{FF2B5EF4-FFF2-40B4-BE49-F238E27FC236}">
                <a16:creationId xmlns:a16="http://schemas.microsoft.com/office/drawing/2014/main" id="{72401ABC-7097-FF92-E111-C84B50925832}"/>
              </a:ext>
            </a:extLst>
          </p:cNvPr>
          <p:cNvSpPr/>
          <p:nvPr/>
        </p:nvSpPr>
        <p:spPr>
          <a:xfrm>
            <a:off x="560821" y="2346037"/>
            <a:ext cx="5784561" cy="1846187"/>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CF768FD6-184D-5ADF-8A41-4D80F83D4B99}"/>
              </a:ext>
            </a:extLst>
          </p:cNvPr>
          <p:cNvSpPr txBox="1"/>
          <p:nvPr/>
        </p:nvSpPr>
        <p:spPr>
          <a:xfrm>
            <a:off x="227446" y="2022382"/>
            <a:ext cx="2298790" cy="369332"/>
          </a:xfrm>
          <a:prstGeom prst="rect">
            <a:avLst/>
          </a:prstGeom>
          <a:noFill/>
        </p:spPr>
        <p:txBody>
          <a:bodyPr wrap="square" rtlCol="0">
            <a:spAutoFit/>
          </a:bodyPr>
          <a:lstStyle/>
          <a:p>
            <a:r>
              <a:rPr lang="en-US" b="1" u="sng" dirty="0"/>
              <a:t>Syntax to alter view</a:t>
            </a:r>
          </a:p>
        </p:txBody>
      </p:sp>
      <p:sp>
        <p:nvSpPr>
          <p:cNvPr id="7" name="Rectangle 6">
            <a:extLst>
              <a:ext uri="{FF2B5EF4-FFF2-40B4-BE49-F238E27FC236}">
                <a16:creationId xmlns:a16="http://schemas.microsoft.com/office/drawing/2014/main" id="{58D3128C-9E84-7A36-CF49-116CE4EBC4E4}"/>
              </a:ext>
            </a:extLst>
          </p:cNvPr>
          <p:cNvSpPr/>
          <p:nvPr/>
        </p:nvSpPr>
        <p:spPr>
          <a:xfrm>
            <a:off x="2396035" y="2484843"/>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8" name="Rectangle 7">
            <a:extLst>
              <a:ext uri="{FF2B5EF4-FFF2-40B4-BE49-F238E27FC236}">
                <a16:creationId xmlns:a16="http://schemas.microsoft.com/office/drawing/2014/main" id="{3B192004-DB75-A9FE-64DC-AD90B098D554}"/>
              </a:ext>
            </a:extLst>
          </p:cNvPr>
          <p:cNvSpPr/>
          <p:nvPr/>
        </p:nvSpPr>
        <p:spPr>
          <a:xfrm>
            <a:off x="3401386" y="2483815"/>
            <a:ext cx="15146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View_name</a:t>
            </a:r>
            <a:endParaRPr lang="en-US" dirty="0"/>
          </a:p>
        </p:txBody>
      </p:sp>
      <p:sp>
        <p:nvSpPr>
          <p:cNvPr id="9" name="Rectangle 8">
            <a:extLst>
              <a:ext uri="{FF2B5EF4-FFF2-40B4-BE49-F238E27FC236}">
                <a16:creationId xmlns:a16="http://schemas.microsoft.com/office/drawing/2014/main" id="{F48F6E2F-0DAA-92F0-C03F-0FFCA6E36DF6}"/>
              </a:ext>
            </a:extLst>
          </p:cNvPr>
          <p:cNvSpPr/>
          <p:nvPr/>
        </p:nvSpPr>
        <p:spPr>
          <a:xfrm>
            <a:off x="5464064" y="357642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0" name="Rectangle 9">
            <a:extLst>
              <a:ext uri="{FF2B5EF4-FFF2-40B4-BE49-F238E27FC236}">
                <a16:creationId xmlns:a16="http://schemas.microsoft.com/office/drawing/2014/main" id="{98294336-AF01-D976-938B-6371FB57DE77}"/>
              </a:ext>
            </a:extLst>
          </p:cNvPr>
          <p:cNvSpPr/>
          <p:nvPr/>
        </p:nvSpPr>
        <p:spPr>
          <a:xfrm>
            <a:off x="798946" y="3031837"/>
            <a:ext cx="48251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AS</a:t>
            </a:r>
          </a:p>
        </p:txBody>
      </p:sp>
      <p:sp>
        <p:nvSpPr>
          <p:cNvPr id="11" name="Rectangle 10">
            <a:extLst>
              <a:ext uri="{FF2B5EF4-FFF2-40B4-BE49-F238E27FC236}">
                <a16:creationId xmlns:a16="http://schemas.microsoft.com/office/drawing/2014/main" id="{827E01D6-D704-279D-3BA3-7BE5E6E561BA}"/>
              </a:ext>
            </a:extLst>
          </p:cNvPr>
          <p:cNvSpPr/>
          <p:nvPr/>
        </p:nvSpPr>
        <p:spPr>
          <a:xfrm>
            <a:off x="798947" y="3576425"/>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2" name="Rectangle 11">
            <a:extLst>
              <a:ext uri="{FF2B5EF4-FFF2-40B4-BE49-F238E27FC236}">
                <a16:creationId xmlns:a16="http://schemas.microsoft.com/office/drawing/2014/main" id="{B682CE05-032A-12A9-759C-EF36149C9BED}"/>
              </a:ext>
            </a:extLst>
          </p:cNvPr>
          <p:cNvSpPr/>
          <p:nvPr/>
        </p:nvSpPr>
        <p:spPr>
          <a:xfrm>
            <a:off x="2957255" y="3582321"/>
            <a:ext cx="101950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3" name="Rectangle 12">
            <a:extLst>
              <a:ext uri="{FF2B5EF4-FFF2-40B4-BE49-F238E27FC236}">
                <a16:creationId xmlns:a16="http://schemas.microsoft.com/office/drawing/2014/main" id="{573D77A7-F587-7226-45E4-17CF1B2194A2}"/>
              </a:ext>
            </a:extLst>
          </p:cNvPr>
          <p:cNvSpPr/>
          <p:nvPr/>
        </p:nvSpPr>
        <p:spPr>
          <a:xfrm>
            <a:off x="4058389" y="3586258"/>
            <a:ext cx="132404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Table_name</a:t>
            </a:r>
            <a:endParaRPr lang="en-US" dirty="0"/>
          </a:p>
        </p:txBody>
      </p:sp>
      <p:sp>
        <p:nvSpPr>
          <p:cNvPr id="14" name="Rectangle 13">
            <a:extLst>
              <a:ext uri="{FF2B5EF4-FFF2-40B4-BE49-F238E27FC236}">
                <a16:creationId xmlns:a16="http://schemas.microsoft.com/office/drawing/2014/main" id="{EB5D9516-32B1-8D47-099E-AB18CB406203}"/>
              </a:ext>
            </a:extLst>
          </p:cNvPr>
          <p:cNvSpPr/>
          <p:nvPr/>
        </p:nvSpPr>
        <p:spPr>
          <a:xfrm>
            <a:off x="1852955" y="3582321"/>
            <a:ext cx="102732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Columns</a:t>
            </a:r>
          </a:p>
        </p:txBody>
      </p:sp>
      <p:sp>
        <p:nvSpPr>
          <p:cNvPr id="17" name="Rectangle 16">
            <a:extLst>
              <a:ext uri="{FF2B5EF4-FFF2-40B4-BE49-F238E27FC236}">
                <a16:creationId xmlns:a16="http://schemas.microsoft.com/office/drawing/2014/main" id="{F1C61E56-443E-2400-1837-9731F05A8830}"/>
              </a:ext>
            </a:extLst>
          </p:cNvPr>
          <p:cNvSpPr/>
          <p:nvPr/>
        </p:nvSpPr>
        <p:spPr>
          <a:xfrm>
            <a:off x="798946" y="2485600"/>
            <a:ext cx="1460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ALTER</a:t>
            </a:r>
            <a:endParaRPr lang="en-US" dirty="0">
              <a:solidFill>
                <a:schemeClr val="tx1"/>
              </a:solidFill>
            </a:endParaRPr>
          </a:p>
        </p:txBody>
      </p:sp>
      <p:sp>
        <p:nvSpPr>
          <p:cNvPr id="18" name="Rectangle 17">
            <a:extLst>
              <a:ext uri="{FF2B5EF4-FFF2-40B4-BE49-F238E27FC236}">
                <a16:creationId xmlns:a16="http://schemas.microsoft.com/office/drawing/2014/main" id="{299A29A6-A9BF-AB13-5BC3-2DF9EBE08B18}"/>
              </a:ext>
            </a:extLst>
          </p:cNvPr>
          <p:cNvSpPr/>
          <p:nvPr/>
        </p:nvSpPr>
        <p:spPr>
          <a:xfrm>
            <a:off x="509105" y="4571348"/>
            <a:ext cx="5784561" cy="1846187"/>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TextBox 18">
            <a:extLst>
              <a:ext uri="{FF2B5EF4-FFF2-40B4-BE49-F238E27FC236}">
                <a16:creationId xmlns:a16="http://schemas.microsoft.com/office/drawing/2014/main" id="{E7B9D3CF-2519-1F11-AAE8-D07308DF0048}"/>
              </a:ext>
            </a:extLst>
          </p:cNvPr>
          <p:cNvSpPr txBox="1"/>
          <p:nvPr/>
        </p:nvSpPr>
        <p:spPr>
          <a:xfrm>
            <a:off x="175730" y="4247693"/>
            <a:ext cx="2298790" cy="369332"/>
          </a:xfrm>
          <a:prstGeom prst="rect">
            <a:avLst/>
          </a:prstGeom>
          <a:noFill/>
        </p:spPr>
        <p:txBody>
          <a:bodyPr wrap="square" rtlCol="0">
            <a:spAutoFit/>
          </a:bodyPr>
          <a:lstStyle/>
          <a:p>
            <a:r>
              <a:rPr lang="en-US" b="1" u="sng" dirty="0"/>
              <a:t>Example </a:t>
            </a:r>
          </a:p>
        </p:txBody>
      </p:sp>
      <p:sp>
        <p:nvSpPr>
          <p:cNvPr id="20" name="Rectangle 19">
            <a:extLst>
              <a:ext uri="{FF2B5EF4-FFF2-40B4-BE49-F238E27FC236}">
                <a16:creationId xmlns:a16="http://schemas.microsoft.com/office/drawing/2014/main" id="{B14A9DB2-1F88-AB65-BD3C-FD6D10EC7398}"/>
              </a:ext>
            </a:extLst>
          </p:cNvPr>
          <p:cNvSpPr/>
          <p:nvPr/>
        </p:nvSpPr>
        <p:spPr>
          <a:xfrm>
            <a:off x="2344319" y="4710154"/>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21" name="Rectangle 20">
            <a:extLst>
              <a:ext uri="{FF2B5EF4-FFF2-40B4-BE49-F238E27FC236}">
                <a16:creationId xmlns:a16="http://schemas.microsoft.com/office/drawing/2014/main" id="{07C8670A-96B7-F090-1CF7-9D0A4A99EC8D}"/>
              </a:ext>
            </a:extLst>
          </p:cNvPr>
          <p:cNvSpPr/>
          <p:nvPr/>
        </p:nvSpPr>
        <p:spPr>
          <a:xfrm>
            <a:off x="3349670" y="4718091"/>
            <a:ext cx="185040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22" name="Rectangle 21">
            <a:extLst>
              <a:ext uri="{FF2B5EF4-FFF2-40B4-BE49-F238E27FC236}">
                <a16:creationId xmlns:a16="http://schemas.microsoft.com/office/drawing/2014/main" id="{B92D500B-783D-BFBB-474B-46AE1F85858D}"/>
              </a:ext>
            </a:extLst>
          </p:cNvPr>
          <p:cNvSpPr/>
          <p:nvPr/>
        </p:nvSpPr>
        <p:spPr>
          <a:xfrm>
            <a:off x="5412348" y="5801736"/>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3" name="Rectangle 22">
            <a:extLst>
              <a:ext uri="{FF2B5EF4-FFF2-40B4-BE49-F238E27FC236}">
                <a16:creationId xmlns:a16="http://schemas.microsoft.com/office/drawing/2014/main" id="{FC613971-4983-2A5C-BD5F-E51A3733F042}"/>
              </a:ext>
            </a:extLst>
          </p:cNvPr>
          <p:cNvSpPr/>
          <p:nvPr/>
        </p:nvSpPr>
        <p:spPr>
          <a:xfrm>
            <a:off x="747230" y="5257148"/>
            <a:ext cx="48251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AS</a:t>
            </a:r>
          </a:p>
        </p:txBody>
      </p:sp>
      <p:sp>
        <p:nvSpPr>
          <p:cNvPr id="24" name="Rectangle 23">
            <a:extLst>
              <a:ext uri="{FF2B5EF4-FFF2-40B4-BE49-F238E27FC236}">
                <a16:creationId xmlns:a16="http://schemas.microsoft.com/office/drawing/2014/main" id="{AB7A1680-3AB4-ED43-C662-6D84BFDCE651}"/>
              </a:ext>
            </a:extLst>
          </p:cNvPr>
          <p:cNvSpPr/>
          <p:nvPr/>
        </p:nvSpPr>
        <p:spPr>
          <a:xfrm>
            <a:off x="747231" y="5801736"/>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25" name="Rectangle 24">
            <a:extLst>
              <a:ext uri="{FF2B5EF4-FFF2-40B4-BE49-F238E27FC236}">
                <a16:creationId xmlns:a16="http://schemas.microsoft.com/office/drawing/2014/main" id="{2446DB31-56B5-8F51-FD55-8269C34277E9}"/>
              </a:ext>
            </a:extLst>
          </p:cNvPr>
          <p:cNvSpPr/>
          <p:nvPr/>
        </p:nvSpPr>
        <p:spPr>
          <a:xfrm>
            <a:off x="2905539" y="5807632"/>
            <a:ext cx="101950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26" name="Rectangle 25">
            <a:extLst>
              <a:ext uri="{FF2B5EF4-FFF2-40B4-BE49-F238E27FC236}">
                <a16:creationId xmlns:a16="http://schemas.microsoft.com/office/drawing/2014/main" id="{E1D93F17-4A2B-5114-B6BD-6C67E0E5090B}"/>
              </a:ext>
            </a:extLst>
          </p:cNvPr>
          <p:cNvSpPr/>
          <p:nvPr/>
        </p:nvSpPr>
        <p:spPr>
          <a:xfrm>
            <a:off x="4006673" y="5811569"/>
            <a:ext cx="132404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endParaRPr lang="en-US" dirty="0"/>
          </a:p>
        </p:txBody>
      </p:sp>
      <p:sp>
        <p:nvSpPr>
          <p:cNvPr id="27" name="Rectangle 26">
            <a:extLst>
              <a:ext uri="{FF2B5EF4-FFF2-40B4-BE49-F238E27FC236}">
                <a16:creationId xmlns:a16="http://schemas.microsoft.com/office/drawing/2014/main" id="{D060DB2B-7A8F-CBC0-D866-4CFF7F2904E9}"/>
              </a:ext>
            </a:extLst>
          </p:cNvPr>
          <p:cNvSpPr/>
          <p:nvPr/>
        </p:nvSpPr>
        <p:spPr>
          <a:xfrm>
            <a:off x="1801239" y="5807632"/>
            <a:ext cx="102732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Name</a:t>
            </a:r>
          </a:p>
        </p:txBody>
      </p:sp>
      <p:sp>
        <p:nvSpPr>
          <p:cNvPr id="28" name="Rectangle 27">
            <a:extLst>
              <a:ext uri="{FF2B5EF4-FFF2-40B4-BE49-F238E27FC236}">
                <a16:creationId xmlns:a16="http://schemas.microsoft.com/office/drawing/2014/main" id="{DB775544-95AF-7DB0-E88D-F6D4BAC46285}"/>
              </a:ext>
            </a:extLst>
          </p:cNvPr>
          <p:cNvSpPr/>
          <p:nvPr/>
        </p:nvSpPr>
        <p:spPr>
          <a:xfrm>
            <a:off x="747230" y="4710911"/>
            <a:ext cx="1460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ALTER</a:t>
            </a:r>
            <a:endParaRPr lang="en-US" dirty="0">
              <a:solidFill>
                <a:schemeClr val="tx1"/>
              </a:solidFill>
            </a:endParaRPr>
          </a:p>
        </p:txBody>
      </p:sp>
      <p:pic>
        <p:nvPicPr>
          <p:cNvPr id="30" name="Picture 29">
            <a:extLst>
              <a:ext uri="{FF2B5EF4-FFF2-40B4-BE49-F238E27FC236}">
                <a16:creationId xmlns:a16="http://schemas.microsoft.com/office/drawing/2014/main" id="{4D012B3C-0847-91C3-309B-6A86EF440FC2}"/>
              </a:ext>
            </a:extLst>
          </p:cNvPr>
          <p:cNvPicPr>
            <a:picLocks noChangeAspect="1"/>
          </p:cNvPicPr>
          <p:nvPr/>
        </p:nvPicPr>
        <p:blipFill>
          <a:blip r:embed="rId2"/>
          <a:stretch>
            <a:fillRect/>
          </a:stretch>
        </p:blipFill>
        <p:spPr>
          <a:xfrm>
            <a:off x="7053589" y="4718091"/>
            <a:ext cx="629164" cy="1663100"/>
          </a:xfrm>
          <a:prstGeom prst="rect">
            <a:avLst/>
          </a:prstGeom>
        </p:spPr>
      </p:pic>
      <p:sp>
        <p:nvSpPr>
          <p:cNvPr id="31" name="TextBox 30">
            <a:extLst>
              <a:ext uri="{FF2B5EF4-FFF2-40B4-BE49-F238E27FC236}">
                <a16:creationId xmlns:a16="http://schemas.microsoft.com/office/drawing/2014/main" id="{175ACA2D-C80C-75DA-C0F1-0E28E6F6D65D}"/>
              </a:ext>
            </a:extLst>
          </p:cNvPr>
          <p:cNvSpPr txBox="1"/>
          <p:nvPr/>
        </p:nvSpPr>
        <p:spPr>
          <a:xfrm>
            <a:off x="6869739" y="3941952"/>
            <a:ext cx="1866780" cy="369332"/>
          </a:xfrm>
          <a:prstGeom prst="rect">
            <a:avLst/>
          </a:prstGeom>
          <a:noFill/>
        </p:spPr>
        <p:txBody>
          <a:bodyPr wrap="square" rtlCol="0">
            <a:spAutoFit/>
          </a:bodyPr>
          <a:lstStyle/>
          <a:p>
            <a:r>
              <a:rPr lang="en-US" b="1" u="sng"/>
              <a:t>Output (VIEW)</a:t>
            </a:r>
            <a:endParaRPr lang="en-US" b="1" u="sng" dirty="0"/>
          </a:p>
        </p:txBody>
      </p:sp>
      <p:sp>
        <p:nvSpPr>
          <p:cNvPr id="15" name="TextBox 14">
            <a:extLst>
              <a:ext uri="{FF2B5EF4-FFF2-40B4-BE49-F238E27FC236}">
                <a16:creationId xmlns:a16="http://schemas.microsoft.com/office/drawing/2014/main" id="{B27DD424-8BE4-92DD-1E39-486B24E1250E}"/>
              </a:ext>
            </a:extLst>
          </p:cNvPr>
          <p:cNvSpPr txBox="1"/>
          <p:nvPr/>
        </p:nvSpPr>
        <p:spPr>
          <a:xfrm>
            <a:off x="6869739" y="4314790"/>
            <a:ext cx="4022379" cy="369332"/>
          </a:xfrm>
          <a:prstGeom prst="rect">
            <a:avLst/>
          </a:prstGeom>
          <a:noFill/>
        </p:spPr>
        <p:txBody>
          <a:bodyPr wrap="square">
            <a:spAutoFit/>
          </a:bodyPr>
          <a:lstStyle/>
          <a:p>
            <a:r>
              <a:rPr lang="en-IN" dirty="0">
                <a:solidFill>
                  <a:srgbClr val="0000FF"/>
                </a:solidFill>
                <a:latin typeface="+mj-lt"/>
              </a:rPr>
              <a:t>SELECT</a:t>
            </a:r>
            <a:r>
              <a:rPr lang="en-IN" dirty="0">
                <a:solidFill>
                  <a:srgbClr val="000000"/>
                </a:solidFill>
                <a:latin typeface="+mj-lt"/>
              </a:rPr>
              <a:t> </a:t>
            </a:r>
            <a:r>
              <a:rPr lang="en-IN" dirty="0">
                <a:solidFill>
                  <a:srgbClr val="808080"/>
                </a:solidFill>
                <a:latin typeface="+mj-lt"/>
              </a:rPr>
              <a:t>*</a:t>
            </a:r>
            <a:r>
              <a:rPr lang="en-IN" dirty="0">
                <a:solidFill>
                  <a:srgbClr val="000000"/>
                </a:solidFill>
                <a:latin typeface="+mj-lt"/>
              </a:rPr>
              <a:t> </a:t>
            </a:r>
            <a:r>
              <a:rPr lang="en-IN" dirty="0">
                <a:solidFill>
                  <a:srgbClr val="0000FF"/>
                </a:solidFill>
                <a:latin typeface="+mj-lt"/>
              </a:rPr>
              <a:t>FROM</a:t>
            </a:r>
            <a:r>
              <a:rPr lang="en-IN" dirty="0">
                <a:solidFill>
                  <a:srgbClr val="000000"/>
                </a:solidFill>
                <a:latin typeface="+mj-lt"/>
              </a:rPr>
              <a:t> </a:t>
            </a:r>
            <a:r>
              <a:rPr lang="en-IN" dirty="0" err="1"/>
              <a:t>Student_Details</a:t>
            </a:r>
            <a:r>
              <a:rPr lang="en-IN" sz="1400" dirty="0">
                <a:solidFill>
                  <a:srgbClr val="808080"/>
                </a:solidFill>
                <a:latin typeface="Consolas" panose="020B0609020204030204" pitchFamily="49" charset="0"/>
              </a:rPr>
              <a:t>;</a:t>
            </a:r>
            <a:endParaRPr lang="en-IN" dirty="0"/>
          </a:p>
        </p:txBody>
      </p:sp>
    </p:spTree>
    <p:extLst>
      <p:ext uri="{BB962C8B-B14F-4D97-AF65-F5344CB8AC3E}">
        <p14:creationId xmlns:p14="http://schemas.microsoft.com/office/powerpoint/2010/main" val="683103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animBg="1"/>
      <p:bldP spid="8" grpId="0" animBg="1"/>
      <p:bldP spid="9" grpId="0" animBg="1"/>
      <p:bldP spid="10" grpId="0" animBg="1"/>
      <p:bldP spid="11" grpId="0" animBg="1"/>
      <p:bldP spid="12" grpId="0" animBg="1"/>
      <p:bldP spid="13" grpId="0" animBg="1"/>
      <p:bldP spid="14" grpId="0" animBg="1"/>
      <p:bldP spid="17" grpId="0" animBg="1"/>
      <p:bldP spid="18" grpId="0" animBg="1"/>
      <p:bldP spid="19" grpId="0"/>
      <p:bldP spid="20" grpId="0" animBg="1"/>
      <p:bldP spid="21" grpId="0" animBg="1"/>
      <p:bldP spid="22" grpId="0" animBg="1"/>
      <p:bldP spid="23" grpId="0" animBg="1"/>
      <p:bldP spid="24" grpId="0" animBg="1"/>
      <p:bldP spid="25" grpId="0" animBg="1"/>
      <p:bldP spid="26" grpId="0" animBg="1"/>
      <p:bldP spid="27" grpId="0" animBg="1"/>
      <p:bldP spid="28" grpId="0" animBg="1"/>
      <p:bldP spid="31" grpId="0"/>
      <p:bldP spid="1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E5AFA-39C1-14EE-67EF-4C104AF590A4}"/>
              </a:ext>
            </a:extLst>
          </p:cNvPr>
          <p:cNvSpPr>
            <a:spLocks noGrp="1"/>
          </p:cNvSpPr>
          <p:nvPr>
            <p:ph type="title"/>
          </p:nvPr>
        </p:nvSpPr>
        <p:spPr/>
        <p:txBody>
          <a:bodyPr/>
          <a:lstStyle/>
          <a:p>
            <a:r>
              <a:rPr lang="en-IN" dirty="0"/>
              <a:t>Renaming View</a:t>
            </a:r>
          </a:p>
        </p:txBody>
      </p:sp>
      <p:sp>
        <p:nvSpPr>
          <p:cNvPr id="3" name="Content Placeholder 2">
            <a:extLst>
              <a:ext uri="{FF2B5EF4-FFF2-40B4-BE49-F238E27FC236}">
                <a16:creationId xmlns:a16="http://schemas.microsoft.com/office/drawing/2014/main" id="{C3E6D134-BDC4-B092-B89D-B04466F50366}"/>
              </a:ext>
            </a:extLst>
          </p:cNvPr>
          <p:cNvSpPr>
            <a:spLocks noGrp="1"/>
          </p:cNvSpPr>
          <p:nvPr>
            <p:ph idx="1"/>
          </p:nvPr>
        </p:nvSpPr>
        <p:spPr/>
        <p:txBody>
          <a:bodyPr/>
          <a:lstStyle/>
          <a:p>
            <a:r>
              <a:rPr lang="en-US" dirty="0"/>
              <a:t>There isn't a query in SQL Server that can rename a view directly.</a:t>
            </a:r>
          </a:p>
          <a:p>
            <a:r>
              <a:rPr lang="en-US" dirty="0"/>
              <a:t>The </a:t>
            </a:r>
            <a:r>
              <a:rPr lang="en-US" b="1" dirty="0" err="1">
                <a:solidFill>
                  <a:srgbClr val="C00000"/>
                </a:solidFill>
              </a:rPr>
              <a:t>sp_rename</a:t>
            </a:r>
            <a:r>
              <a:rPr lang="en-US" b="1" dirty="0">
                <a:solidFill>
                  <a:srgbClr val="C00000"/>
                </a:solidFill>
              </a:rPr>
              <a:t> </a:t>
            </a:r>
            <a:r>
              <a:rPr lang="en-US" dirty="0"/>
              <a:t>is a system stored procedure in SQL that can be used to rename view.</a:t>
            </a:r>
            <a:endParaRPr lang="en-IN" dirty="0"/>
          </a:p>
        </p:txBody>
      </p:sp>
      <p:sp>
        <p:nvSpPr>
          <p:cNvPr id="4" name="Rectangle 3">
            <a:extLst>
              <a:ext uri="{FF2B5EF4-FFF2-40B4-BE49-F238E27FC236}">
                <a16:creationId xmlns:a16="http://schemas.microsoft.com/office/drawing/2014/main" id="{5E768CCF-C533-DEB4-144E-3545BDFDAF17}"/>
              </a:ext>
            </a:extLst>
          </p:cNvPr>
          <p:cNvSpPr/>
          <p:nvPr/>
        </p:nvSpPr>
        <p:spPr>
          <a:xfrm>
            <a:off x="616238" y="2161310"/>
            <a:ext cx="7253143" cy="79432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52524C74-1706-D91B-BD1B-407A2BA05F47}"/>
              </a:ext>
            </a:extLst>
          </p:cNvPr>
          <p:cNvSpPr txBox="1"/>
          <p:nvPr/>
        </p:nvSpPr>
        <p:spPr>
          <a:xfrm>
            <a:off x="282864" y="1732462"/>
            <a:ext cx="2601118" cy="369332"/>
          </a:xfrm>
          <a:prstGeom prst="rect">
            <a:avLst/>
          </a:prstGeom>
          <a:noFill/>
        </p:spPr>
        <p:txBody>
          <a:bodyPr wrap="square" rtlCol="0">
            <a:spAutoFit/>
          </a:bodyPr>
          <a:lstStyle/>
          <a:p>
            <a:r>
              <a:rPr lang="en-US" b="1" u="sng" dirty="0"/>
              <a:t>Syntax to rename view</a:t>
            </a:r>
          </a:p>
        </p:txBody>
      </p:sp>
      <p:sp>
        <p:nvSpPr>
          <p:cNvPr id="6" name="Rectangle 5">
            <a:extLst>
              <a:ext uri="{FF2B5EF4-FFF2-40B4-BE49-F238E27FC236}">
                <a16:creationId xmlns:a16="http://schemas.microsoft.com/office/drawing/2014/main" id="{F3D275AA-BCEA-ABD3-9FCD-E4D84C43B8B3}"/>
              </a:ext>
            </a:extLst>
          </p:cNvPr>
          <p:cNvSpPr/>
          <p:nvPr/>
        </p:nvSpPr>
        <p:spPr>
          <a:xfrm>
            <a:off x="1856658" y="2300115"/>
            <a:ext cx="14702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solidFill>
                  <a:srgbClr val="800000"/>
                </a:solidFill>
              </a:rPr>
              <a:t>sp_rename</a:t>
            </a:r>
            <a:endParaRPr lang="en-US" dirty="0">
              <a:solidFill>
                <a:srgbClr val="0000FF"/>
              </a:solidFill>
            </a:endParaRPr>
          </a:p>
        </p:txBody>
      </p:sp>
      <p:sp>
        <p:nvSpPr>
          <p:cNvPr id="8" name="Rectangle 7">
            <a:extLst>
              <a:ext uri="{FF2B5EF4-FFF2-40B4-BE49-F238E27FC236}">
                <a16:creationId xmlns:a16="http://schemas.microsoft.com/office/drawing/2014/main" id="{5B0FA758-B2E4-AAD8-69E1-B8FF08B5585F}"/>
              </a:ext>
            </a:extLst>
          </p:cNvPr>
          <p:cNvSpPr/>
          <p:nvPr/>
        </p:nvSpPr>
        <p:spPr>
          <a:xfrm>
            <a:off x="7366451" y="230011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9" name="Rectangle 8">
            <a:extLst>
              <a:ext uri="{FF2B5EF4-FFF2-40B4-BE49-F238E27FC236}">
                <a16:creationId xmlns:a16="http://schemas.microsoft.com/office/drawing/2014/main" id="{3C823D9E-3F4B-4AE4-960F-8588FFE5F395}"/>
              </a:ext>
            </a:extLst>
          </p:cNvPr>
          <p:cNvSpPr/>
          <p:nvPr/>
        </p:nvSpPr>
        <p:spPr>
          <a:xfrm>
            <a:off x="3395963" y="2300115"/>
            <a:ext cx="167271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a:t>
            </a:r>
            <a:r>
              <a:rPr lang="en-IN" dirty="0" err="1"/>
              <a:t>old_view_name</a:t>
            </a:r>
            <a:r>
              <a:rPr lang="en-IN" dirty="0"/>
              <a:t>'</a:t>
            </a:r>
            <a:endParaRPr lang="en-US" dirty="0">
              <a:solidFill>
                <a:srgbClr val="0000FF"/>
              </a:solidFill>
            </a:endParaRPr>
          </a:p>
        </p:txBody>
      </p:sp>
      <p:sp>
        <p:nvSpPr>
          <p:cNvPr id="13" name="Rectangle 12">
            <a:extLst>
              <a:ext uri="{FF2B5EF4-FFF2-40B4-BE49-F238E27FC236}">
                <a16:creationId xmlns:a16="http://schemas.microsoft.com/office/drawing/2014/main" id="{1FF05C8C-9B27-CDE8-0A67-473CBF5B1771}"/>
              </a:ext>
            </a:extLst>
          </p:cNvPr>
          <p:cNvSpPr/>
          <p:nvPr/>
        </p:nvSpPr>
        <p:spPr>
          <a:xfrm>
            <a:off x="5373775" y="2306011"/>
            <a:ext cx="192295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a:t>
            </a:r>
            <a:r>
              <a:rPr lang="en-IN" dirty="0" err="1"/>
              <a:t>new_view_name</a:t>
            </a:r>
            <a:r>
              <a:rPr lang="en-IN" dirty="0"/>
              <a:t>'</a:t>
            </a:r>
            <a:endParaRPr lang="en-US" dirty="0">
              <a:solidFill>
                <a:srgbClr val="0000FF"/>
              </a:solidFill>
            </a:endParaRPr>
          </a:p>
        </p:txBody>
      </p:sp>
      <p:sp>
        <p:nvSpPr>
          <p:cNvPr id="14" name="Rectangle 13">
            <a:extLst>
              <a:ext uri="{FF2B5EF4-FFF2-40B4-BE49-F238E27FC236}">
                <a16:creationId xmlns:a16="http://schemas.microsoft.com/office/drawing/2014/main" id="{011040BB-967F-62EB-40FF-4BBBF7EED716}"/>
              </a:ext>
            </a:extLst>
          </p:cNvPr>
          <p:cNvSpPr/>
          <p:nvPr/>
        </p:nvSpPr>
        <p:spPr>
          <a:xfrm>
            <a:off x="854364" y="2300872"/>
            <a:ext cx="9320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EXEC </a:t>
            </a:r>
            <a:endParaRPr lang="en-US" dirty="0">
              <a:solidFill>
                <a:srgbClr val="0000FF"/>
              </a:solidFill>
            </a:endParaRPr>
          </a:p>
        </p:txBody>
      </p:sp>
      <p:sp>
        <p:nvSpPr>
          <p:cNvPr id="26" name="Rectangle 25">
            <a:extLst>
              <a:ext uri="{FF2B5EF4-FFF2-40B4-BE49-F238E27FC236}">
                <a16:creationId xmlns:a16="http://schemas.microsoft.com/office/drawing/2014/main" id="{02D64345-562D-B415-A19E-CCEB3E1DBA3D}"/>
              </a:ext>
            </a:extLst>
          </p:cNvPr>
          <p:cNvSpPr/>
          <p:nvPr/>
        </p:nvSpPr>
        <p:spPr>
          <a:xfrm>
            <a:off x="5125975" y="230011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7" name="Rectangle 26">
            <a:extLst>
              <a:ext uri="{FF2B5EF4-FFF2-40B4-BE49-F238E27FC236}">
                <a16:creationId xmlns:a16="http://schemas.microsoft.com/office/drawing/2014/main" id="{9DED81A7-6084-1D5C-60FE-09146C43AF4C}"/>
              </a:ext>
            </a:extLst>
          </p:cNvPr>
          <p:cNvSpPr/>
          <p:nvPr/>
        </p:nvSpPr>
        <p:spPr>
          <a:xfrm>
            <a:off x="594095" y="3658726"/>
            <a:ext cx="7853124" cy="79432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203EBCFC-BA8B-F6DB-E3ED-3D743451F70E}"/>
              </a:ext>
            </a:extLst>
          </p:cNvPr>
          <p:cNvSpPr txBox="1"/>
          <p:nvPr/>
        </p:nvSpPr>
        <p:spPr>
          <a:xfrm>
            <a:off x="282864" y="3214994"/>
            <a:ext cx="2601118" cy="369332"/>
          </a:xfrm>
          <a:prstGeom prst="rect">
            <a:avLst/>
          </a:prstGeom>
          <a:noFill/>
        </p:spPr>
        <p:txBody>
          <a:bodyPr wrap="square" rtlCol="0">
            <a:spAutoFit/>
          </a:bodyPr>
          <a:lstStyle/>
          <a:p>
            <a:r>
              <a:rPr lang="en-US" b="1" u="sng" dirty="0"/>
              <a:t>Example</a:t>
            </a:r>
          </a:p>
        </p:txBody>
      </p:sp>
      <p:sp>
        <p:nvSpPr>
          <p:cNvPr id="29" name="Rectangle 28">
            <a:extLst>
              <a:ext uri="{FF2B5EF4-FFF2-40B4-BE49-F238E27FC236}">
                <a16:creationId xmlns:a16="http://schemas.microsoft.com/office/drawing/2014/main" id="{1326B8DC-1C6B-A42D-5209-90F08824B55D}"/>
              </a:ext>
            </a:extLst>
          </p:cNvPr>
          <p:cNvSpPr/>
          <p:nvPr/>
        </p:nvSpPr>
        <p:spPr>
          <a:xfrm>
            <a:off x="1856658" y="3782647"/>
            <a:ext cx="14702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a:solidFill>
                  <a:srgbClr val="800000"/>
                </a:solidFill>
              </a:rPr>
              <a:t>sp_rename</a:t>
            </a:r>
            <a:endParaRPr lang="en-US" dirty="0">
              <a:solidFill>
                <a:srgbClr val="0000FF"/>
              </a:solidFill>
            </a:endParaRPr>
          </a:p>
        </p:txBody>
      </p:sp>
      <p:sp>
        <p:nvSpPr>
          <p:cNvPr id="30" name="Rectangle 29">
            <a:extLst>
              <a:ext uri="{FF2B5EF4-FFF2-40B4-BE49-F238E27FC236}">
                <a16:creationId xmlns:a16="http://schemas.microsoft.com/office/drawing/2014/main" id="{A319D963-093D-63CF-2C69-2DB935FD671F}"/>
              </a:ext>
            </a:extLst>
          </p:cNvPr>
          <p:cNvSpPr/>
          <p:nvPr/>
        </p:nvSpPr>
        <p:spPr>
          <a:xfrm>
            <a:off x="8041044" y="3780433"/>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31" name="Rectangle 30">
            <a:extLst>
              <a:ext uri="{FF2B5EF4-FFF2-40B4-BE49-F238E27FC236}">
                <a16:creationId xmlns:a16="http://schemas.microsoft.com/office/drawing/2014/main" id="{A8BA9765-7004-CD08-5172-D6F278F43E56}"/>
              </a:ext>
            </a:extLst>
          </p:cNvPr>
          <p:cNvSpPr/>
          <p:nvPr/>
        </p:nvSpPr>
        <p:spPr>
          <a:xfrm>
            <a:off x="3395963" y="3782647"/>
            <a:ext cx="211486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‘CUSTOMERS_VIEW'</a:t>
            </a:r>
            <a:endParaRPr lang="en-US" dirty="0">
              <a:solidFill>
                <a:srgbClr val="0000FF"/>
              </a:solidFill>
            </a:endParaRPr>
          </a:p>
        </p:txBody>
      </p:sp>
      <p:sp>
        <p:nvSpPr>
          <p:cNvPr id="32" name="Rectangle 31">
            <a:extLst>
              <a:ext uri="{FF2B5EF4-FFF2-40B4-BE49-F238E27FC236}">
                <a16:creationId xmlns:a16="http://schemas.microsoft.com/office/drawing/2014/main" id="{E7E5488F-9216-B779-ED17-D513208817E2}"/>
              </a:ext>
            </a:extLst>
          </p:cNvPr>
          <p:cNvSpPr/>
          <p:nvPr/>
        </p:nvSpPr>
        <p:spPr>
          <a:xfrm>
            <a:off x="5837223" y="3788543"/>
            <a:ext cx="2114867"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‘VIEW_ CUSTOMERS '</a:t>
            </a:r>
            <a:endParaRPr lang="en-US" dirty="0">
              <a:solidFill>
                <a:srgbClr val="0000FF"/>
              </a:solidFill>
            </a:endParaRPr>
          </a:p>
        </p:txBody>
      </p:sp>
      <p:sp>
        <p:nvSpPr>
          <p:cNvPr id="33" name="Rectangle 32">
            <a:extLst>
              <a:ext uri="{FF2B5EF4-FFF2-40B4-BE49-F238E27FC236}">
                <a16:creationId xmlns:a16="http://schemas.microsoft.com/office/drawing/2014/main" id="{83D6078C-8D04-DB18-B187-22B578762EEE}"/>
              </a:ext>
            </a:extLst>
          </p:cNvPr>
          <p:cNvSpPr/>
          <p:nvPr/>
        </p:nvSpPr>
        <p:spPr>
          <a:xfrm>
            <a:off x="854364" y="3783404"/>
            <a:ext cx="9320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EXEC </a:t>
            </a:r>
            <a:endParaRPr lang="en-US" dirty="0">
              <a:solidFill>
                <a:srgbClr val="0000FF"/>
              </a:solidFill>
            </a:endParaRPr>
          </a:p>
        </p:txBody>
      </p:sp>
      <p:sp>
        <p:nvSpPr>
          <p:cNvPr id="34" name="Rectangle 33">
            <a:extLst>
              <a:ext uri="{FF2B5EF4-FFF2-40B4-BE49-F238E27FC236}">
                <a16:creationId xmlns:a16="http://schemas.microsoft.com/office/drawing/2014/main" id="{2E535280-5EDB-5137-BC58-76E2B9B38DDF}"/>
              </a:ext>
            </a:extLst>
          </p:cNvPr>
          <p:cNvSpPr/>
          <p:nvPr/>
        </p:nvSpPr>
        <p:spPr>
          <a:xfrm>
            <a:off x="5576272" y="3789669"/>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179088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8" grpId="0" animBg="1"/>
      <p:bldP spid="9" grpId="0" animBg="1"/>
      <p:bldP spid="13" grpId="0" animBg="1"/>
      <p:bldP spid="14" grpId="0" animBg="1"/>
      <p:bldP spid="26" grpId="0" animBg="1"/>
      <p:bldP spid="27" grpId="0" animBg="1"/>
      <p:bldP spid="28" grpId="0"/>
      <p:bldP spid="29" grpId="0" animBg="1"/>
      <p:bldP spid="30" grpId="0" animBg="1"/>
      <p:bldP spid="31" grpId="0" animBg="1"/>
      <p:bldP spid="32" grpId="0" animBg="1"/>
      <p:bldP spid="33" grpId="0" animBg="1"/>
      <p:bldP spid="3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FFBDFAF1-EA03-FB82-6777-0C6C0570DE00}"/>
              </a:ext>
            </a:extLst>
          </p:cNvPr>
          <p:cNvPicPr>
            <a:picLocks noChangeAspect="1"/>
          </p:cNvPicPr>
          <p:nvPr/>
        </p:nvPicPr>
        <p:blipFill>
          <a:blip r:embed="rId2"/>
          <a:stretch>
            <a:fillRect/>
          </a:stretch>
        </p:blipFill>
        <p:spPr>
          <a:xfrm>
            <a:off x="2756427" y="5335506"/>
            <a:ext cx="5344038" cy="1176161"/>
          </a:xfrm>
          <a:prstGeom prst="rect">
            <a:avLst/>
          </a:prstGeom>
        </p:spPr>
      </p:pic>
      <p:sp>
        <p:nvSpPr>
          <p:cNvPr id="24" name="Rectangle 23">
            <a:extLst>
              <a:ext uri="{FF2B5EF4-FFF2-40B4-BE49-F238E27FC236}">
                <a16:creationId xmlns:a16="http://schemas.microsoft.com/office/drawing/2014/main" id="{F3F88285-5C38-B50F-38CD-33A8F13F71C5}"/>
              </a:ext>
            </a:extLst>
          </p:cNvPr>
          <p:cNvSpPr/>
          <p:nvPr/>
        </p:nvSpPr>
        <p:spPr>
          <a:xfrm>
            <a:off x="662421" y="2783943"/>
            <a:ext cx="4879397" cy="631064"/>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DEF9110E-39CA-4F76-9418-931BF8EC1820}"/>
              </a:ext>
            </a:extLst>
          </p:cNvPr>
          <p:cNvSpPr>
            <a:spLocks noGrp="1"/>
          </p:cNvSpPr>
          <p:nvPr>
            <p:ph type="title"/>
          </p:nvPr>
        </p:nvSpPr>
        <p:spPr/>
        <p:txBody>
          <a:bodyPr/>
          <a:lstStyle/>
          <a:p>
            <a:r>
              <a:rPr lang="en-US" dirty="0"/>
              <a:t>Destroy View</a:t>
            </a:r>
          </a:p>
        </p:txBody>
      </p:sp>
      <p:sp>
        <p:nvSpPr>
          <p:cNvPr id="3" name="Content Placeholder 2">
            <a:extLst>
              <a:ext uri="{FF2B5EF4-FFF2-40B4-BE49-F238E27FC236}">
                <a16:creationId xmlns:a16="http://schemas.microsoft.com/office/drawing/2014/main" id="{B2FCA0F5-2A9D-446E-AB30-4310B031C3B2}"/>
              </a:ext>
            </a:extLst>
          </p:cNvPr>
          <p:cNvSpPr>
            <a:spLocks noGrp="1"/>
          </p:cNvSpPr>
          <p:nvPr>
            <p:ph idx="1"/>
          </p:nvPr>
        </p:nvSpPr>
        <p:spPr/>
        <p:txBody>
          <a:bodyPr/>
          <a:lstStyle/>
          <a:p>
            <a:r>
              <a:rPr lang="en-US" b="1" dirty="0">
                <a:solidFill>
                  <a:srgbClr val="0E47A1"/>
                </a:solidFill>
              </a:rPr>
              <a:t>DROP VIEW </a:t>
            </a:r>
            <a:r>
              <a:rPr lang="en-US" dirty="0"/>
              <a:t>is used to drop a specified view. </a:t>
            </a:r>
          </a:p>
          <a:p>
            <a:r>
              <a:rPr lang="en-US" dirty="0"/>
              <a:t>The base table will not be affected if a view is destroyed.</a:t>
            </a:r>
          </a:p>
          <a:p>
            <a:r>
              <a:rPr lang="en-US" dirty="0"/>
              <a:t>If a </a:t>
            </a:r>
            <a:r>
              <a:rPr lang="en-US" dirty="0">
                <a:solidFill>
                  <a:srgbClr val="0E47A1"/>
                </a:solidFill>
              </a:rPr>
              <a:t>base table is dropped or column </a:t>
            </a:r>
            <a:r>
              <a:rPr lang="en-US" dirty="0"/>
              <a:t>included in view are altered then view will not be valid further.</a:t>
            </a:r>
          </a:p>
          <a:p>
            <a:pPr marL="0" indent="0">
              <a:buNone/>
            </a:pPr>
            <a:endParaRPr lang="en-US" dirty="0"/>
          </a:p>
          <a:p>
            <a:pPr marL="0" indent="0">
              <a:buNone/>
            </a:pPr>
            <a:endParaRPr lang="en-US" dirty="0"/>
          </a:p>
          <a:p>
            <a:endParaRPr lang="en-US" dirty="0"/>
          </a:p>
          <a:p>
            <a:endParaRPr lang="en-US" dirty="0"/>
          </a:p>
          <a:p>
            <a:pPr marL="0" indent="0">
              <a:buNone/>
            </a:pPr>
            <a:endParaRPr lang="en-US" dirty="0"/>
          </a:p>
          <a:p>
            <a:r>
              <a:rPr lang="en-US" dirty="0"/>
              <a:t>After Successfully drop the view if we try to access the view it will throw an error.</a:t>
            </a:r>
          </a:p>
        </p:txBody>
      </p:sp>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t="36129" b="10449"/>
          <a:stretch/>
        </p:blipFill>
        <p:spPr>
          <a:xfrm>
            <a:off x="5919814" y="3896681"/>
            <a:ext cx="4439270" cy="631064"/>
          </a:xfrm>
          <a:prstGeom prst="rect">
            <a:avLst/>
          </a:prstGeom>
        </p:spPr>
      </p:pic>
      <p:sp>
        <p:nvSpPr>
          <p:cNvPr id="15" name="Rectangle: Rounded Corners 12">
            <a:extLst>
              <a:ext uri="{FF2B5EF4-FFF2-40B4-BE49-F238E27FC236}">
                <a16:creationId xmlns:a16="http://schemas.microsoft.com/office/drawing/2014/main" id="{66B0C6D1-D254-4558-AE67-F4377365D6D6}"/>
              </a:ext>
            </a:extLst>
          </p:cNvPr>
          <p:cNvSpPr/>
          <p:nvPr/>
        </p:nvSpPr>
        <p:spPr>
          <a:xfrm>
            <a:off x="2717443" y="5821537"/>
            <a:ext cx="5422006" cy="466183"/>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peech Bubble: Oval 8">
            <a:extLst>
              <a:ext uri="{FF2B5EF4-FFF2-40B4-BE49-F238E27FC236}">
                <a16:creationId xmlns:a16="http://schemas.microsoft.com/office/drawing/2014/main" id="{EDACF303-0D4D-47BC-97BE-80550F44AE4F}"/>
              </a:ext>
            </a:extLst>
          </p:cNvPr>
          <p:cNvSpPr/>
          <p:nvPr/>
        </p:nvSpPr>
        <p:spPr>
          <a:xfrm>
            <a:off x="8567551" y="5593197"/>
            <a:ext cx="1532584" cy="594753"/>
          </a:xfrm>
          <a:prstGeom prst="wedgeEllipseCallout">
            <a:avLst>
              <a:gd name="adj1" fmla="val -79621"/>
              <a:gd name="adj2" fmla="val 32343"/>
            </a:avLst>
          </a:prstGeom>
          <a:solidFill>
            <a:schemeClr val="accent6">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ERROR !!!</a:t>
            </a:r>
          </a:p>
        </p:txBody>
      </p:sp>
      <p:sp>
        <p:nvSpPr>
          <p:cNvPr id="7" name="TextBox 6">
            <a:extLst>
              <a:ext uri="{FF2B5EF4-FFF2-40B4-BE49-F238E27FC236}">
                <a16:creationId xmlns:a16="http://schemas.microsoft.com/office/drawing/2014/main" id="{4D3BD36F-5949-A5E6-A5E2-F298AE0923C2}"/>
              </a:ext>
            </a:extLst>
          </p:cNvPr>
          <p:cNvSpPr txBox="1"/>
          <p:nvPr/>
        </p:nvSpPr>
        <p:spPr>
          <a:xfrm>
            <a:off x="255155" y="2403229"/>
            <a:ext cx="2298790" cy="369332"/>
          </a:xfrm>
          <a:prstGeom prst="rect">
            <a:avLst/>
          </a:prstGeom>
          <a:noFill/>
        </p:spPr>
        <p:txBody>
          <a:bodyPr wrap="square" rtlCol="0">
            <a:spAutoFit/>
          </a:bodyPr>
          <a:lstStyle/>
          <a:p>
            <a:r>
              <a:rPr lang="en-US" b="1" u="sng" dirty="0"/>
              <a:t>Syntax to drop view</a:t>
            </a:r>
          </a:p>
        </p:txBody>
      </p:sp>
      <p:sp>
        <p:nvSpPr>
          <p:cNvPr id="8" name="Rectangle 7">
            <a:extLst>
              <a:ext uri="{FF2B5EF4-FFF2-40B4-BE49-F238E27FC236}">
                <a16:creationId xmlns:a16="http://schemas.microsoft.com/office/drawing/2014/main" id="{FE7A0139-230E-A6F5-9845-2758BCCCBC8C}"/>
              </a:ext>
            </a:extLst>
          </p:cNvPr>
          <p:cNvSpPr/>
          <p:nvPr/>
        </p:nvSpPr>
        <p:spPr>
          <a:xfrm>
            <a:off x="2354891" y="2866447"/>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9" name="Rectangle 8">
            <a:extLst>
              <a:ext uri="{FF2B5EF4-FFF2-40B4-BE49-F238E27FC236}">
                <a16:creationId xmlns:a16="http://schemas.microsoft.com/office/drawing/2014/main" id="{3899D592-8122-2D33-B3E9-438F699C16C2}"/>
              </a:ext>
            </a:extLst>
          </p:cNvPr>
          <p:cNvSpPr/>
          <p:nvPr/>
        </p:nvSpPr>
        <p:spPr>
          <a:xfrm>
            <a:off x="3349727" y="2874155"/>
            <a:ext cx="15146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View_name</a:t>
            </a:r>
            <a:endParaRPr lang="en-US" dirty="0"/>
          </a:p>
        </p:txBody>
      </p:sp>
      <p:sp>
        <p:nvSpPr>
          <p:cNvPr id="17" name="Rectangle 16">
            <a:extLst>
              <a:ext uri="{FF2B5EF4-FFF2-40B4-BE49-F238E27FC236}">
                <a16:creationId xmlns:a16="http://schemas.microsoft.com/office/drawing/2014/main" id="{86258CA8-BCC7-8F2A-C513-A12DAD97F3F5}"/>
              </a:ext>
            </a:extLst>
          </p:cNvPr>
          <p:cNvSpPr/>
          <p:nvPr/>
        </p:nvSpPr>
        <p:spPr>
          <a:xfrm>
            <a:off x="4932042" y="2871183"/>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3" name="Rectangle 22">
            <a:extLst>
              <a:ext uri="{FF2B5EF4-FFF2-40B4-BE49-F238E27FC236}">
                <a16:creationId xmlns:a16="http://schemas.microsoft.com/office/drawing/2014/main" id="{BF177A24-986F-2FA8-E818-E642ECE81D97}"/>
              </a:ext>
            </a:extLst>
          </p:cNvPr>
          <p:cNvSpPr/>
          <p:nvPr/>
        </p:nvSpPr>
        <p:spPr>
          <a:xfrm>
            <a:off x="826655" y="2866447"/>
            <a:ext cx="1460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endParaRPr lang="en-US" dirty="0">
              <a:solidFill>
                <a:schemeClr val="tx1"/>
              </a:solidFill>
            </a:endParaRPr>
          </a:p>
        </p:txBody>
      </p:sp>
      <p:sp>
        <p:nvSpPr>
          <p:cNvPr id="25" name="Rectangle 24">
            <a:extLst>
              <a:ext uri="{FF2B5EF4-FFF2-40B4-BE49-F238E27FC236}">
                <a16:creationId xmlns:a16="http://schemas.microsoft.com/office/drawing/2014/main" id="{C5C2541E-6F59-4D70-27E2-131C2B78E2B9}"/>
              </a:ext>
            </a:extLst>
          </p:cNvPr>
          <p:cNvSpPr/>
          <p:nvPr/>
        </p:nvSpPr>
        <p:spPr>
          <a:xfrm>
            <a:off x="662421" y="3908063"/>
            <a:ext cx="4879397" cy="631064"/>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65891E6B-A7C5-2DE0-F444-D98E43AA85E0}"/>
              </a:ext>
            </a:extLst>
          </p:cNvPr>
          <p:cNvSpPr txBox="1"/>
          <p:nvPr/>
        </p:nvSpPr>
        <p:spPr>
          <a:xfrm>
            <a:off x="255155" y="3527349"/>
            <a:ext cx="2298790" cy="369332"/>
          </a:xfrm>
          <a:prstGeom prst="rect">
            <a:avLst/>
          </a:prstGeom>
          <a:noFill/>
        </p:spPr>
        <p:txBody>
          <a:bodyPr wrap="square" rtlCol="0">
            <a:spAutoFit/>
          </a:bodyPr>
          <a:lstStyle/>
          <a:p>
            <a:r>
              <a:rPr lang="en-US" b="1" u="sng" dirty="0"/>
              <a:t>Example</a:t>
            </a:r>
          </a:p>
        </p:txBody>
      </p:sp>
      <p:sp>
        <p:nvSpPr>
          <p:cNvPr id="27" name="Rectangle 26">
            <a:extLst>
              <a:ext uri="{FF2B5EF4-FFF2-40B4-BE49-F238E27FC236}">
                <a16:creationId xmlns:a16="http://schemas.microsoft.com/office/drawing/2014/main" id="{0901CBE8-5F98-7B1F-174B-842EA1E73CD9}"/>
              </a:ext>
            </a:extLst>
          </p:cNvPr>
          <p:cNvSpPr/>
          <p:nvPr/>
        </p:nvSpPr>
        <p:spPr>
          <a:xfrm>
            <a:off x="2354891" y="3997747"/>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28" name="Rectangle 27">
            <a:extLst>
              <a:ext uri="{FF2B5EF4-FFF2-40B4-BE49-F238E27FC236}">
                <a16:creationId xmlns:a16="http://schemas.microsoft.com/office/drawing/2014/main" id="{4043F293-9661-15F1-60E3-F53DE97B3273}"/>
              </a:ext>
            </a:extLst>
          </p:cNvPr>
          <p:cNvSpPr/>
          <p:nvPr/>
        </p:nvSpPr>
        <p:spPr>
          <a:xfrm>
            <a:off x="3349727" y="3997747"/>
            <a:ext cx="168316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29" name="Rectangle 28">
            <a:extLst>
              <a:ext uri="{FF2B5EF4-FFF2-40B4-BE49-F238E27FC236}">
                <a16:creationId xmlns:a16="http://schemas.microsoft.com/office/drawing/2014/main" id="{49AA04DC-EA33-3AB5-6FBA-4C050B9663AB}"/>
              </a:ext>
            </a:extLst>
          </p:cNvPr>
          <p:cNvSpPr/>
          <p:nvPr/>
        </p:nvSpPr>
        <p:spPr>
          <a:xfrm>
            <a:off x="5085178" y="3997747"/>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30" name="Rectangle 29">
            <a:extLst>
              <a:ext uri="{FF2B5EF4-FFF2-40B4-BE49-F238E27FC236}">
                <a16:creationId xmlns:a16="http://schemas.microsoft.com/office/drawing/2014/main" id="{F52353DA-83C5-D0BA-ED7F-86C2197CDB77}"/>
              </a:ext>
            </a:extLst>
          </p:cNvPr>
          <p:cNvSpPr/>
          <p:nvPr/>
        </p:nvSpPr>
        <p:spPr>
          <a:xfrm>
            <a:off x="826655" y="3990567"/>
            <a:ext cx="1460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endParaRPr lang="en-US" dirty="0">
              <a:solidFill>
                <a:schemeClr val="tx1"/>
              </a:solidFill>
            </a:endParaRPr>
          </a:p>
        </p:txBody>
      </p:sp>
      <p:sp>
        <p:nvSpPr>
          <p:cNvPr id="4" name="TextBox 3">
            <a:extLst>
              <a:ext uri="{FF2B5EF4-FFF2-40B4-BE49-F238E27FC236}">
                <a16:creationId xmlns:a16="http://schemas.microsoft.com/office/drawing/2014/main" id="{9929134E-8109-AA62-BB4E-C71626450BD1}"/>
              </a:ext>
            </a:extLst>
          </p:cNvPr>
          <p:cNvSpPr txBox="1"/>
          <p:nvPr/>
        </p:nvSpPr>
        <p:spPr>
          <a:xfrm>
            <a:off x="5801675" y="3469000"/>
            <a:ext cx="2298790" cy="369332"/>
          </a:xfrm>
          <a:prstGeom prst="rect">
            <a:avLst/>
          </a:prstGeom>
          <a:noFill/>
        </p:spPr>
        <p:txBody>
          <a:bodyPr wrap="square" rtlCol="0">
            <a:spAutoFit/>
          </a:bodyPr>
          <a:lstStyle/>
          <a:p>
            <a:r>
              <a:rPr lang="en-US" b="1" u="sng" dirty="0"/>
              <a:t>Output </a:t>
            </a:r>
          </a:p>
        </p:txBody>
      </p:sp>
    </p:spTree>
    <p:extLst>
      <p:ext uri="{BB962C8B-B14F-4D97-AF65-F5344CB8AC3E}">
        <p14:creationId xmlns:p14="http://schemas.microsoft.com/office/powerpoint/2010/main" val="249172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500"/>
                                        <p:tgtEl>
                                          <p:spTgt spid="11"/>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childTnLst>
                                </p:cTn>
                              </p:par>
                              <p:par>
                                <p:cTn id="72" presetID="26" presetClass="emph" presetSubtype="0" repeatCount="indefinite" fill="hold" grpId="2" nodeType="withEffect">
                                  <p:stCondLst>
                                    <p:cond delay="0"/>
                                  </p:stCondLst>
                                  <p:endCondLst>
                                    <p:cond evt="onNext" delay="0">
                                      <p:tgtEl>
                                        <p:sldTgt/>
                                      </p:tgtEl>
                                    </p:cond>
                                  </p:endCondLst>
                                  <p:childTnLst>
                                    <p:animEffect transition="out" filter="fade">
                                      <p:cBhvr>
                                        <p:cTn id="73" dur="1000" tmFilter="0, 0; .2, .5; .8, .5; 1, 0"/>
                                        <p:tgtEl>
                                          <p:spTgt spid="15"/>
                                        </p:tgtEl>
                                      </p:cBhvr>
                                    </p:animEffect>
                                    <p:animScale>
                                      <p:cBhvr>
                                        <p:cTn id="74" dur="500" autoRev="1" fill="hold"/>
                                        <p:tgtEl>
                                          <p:spTgt spid="15"/>
                                        </p:tgtEl>
                                      </p:cBhvr>
                                      <p:by x="105000" y="105000"/>
                                    </p:animScale>
                                  </p:childTnLst>
                                </p:cTn>
                              </p:par>
                              <p:par>
                                <p:cTn id="75" presetID="1" presetClass="exit" presetSubtype="0" fill="hold" grpId="1" nodeType="withEffect">
                                  <p:stCondLst>
                                    <p:cond delay="0"/>
                                  </p:stCondLst>
                                  <p:childTnLst>
                                    <p:set>
                                      <p:cBhvr>
                                        <p:cTn id="76" dur="1" fill="hold">
                                          <p:stCondLst>
                                            <p:cond delay="0"/>
                                          </p:stCondLst>
                                        </p:cTn>
                                        <p:tgtEl>
                                          <p:spTgt spid="15"/>
                                        </p:tgtEl>
                                        <p:attrNameLst>
                                          <p:attrName>style.visibility</p:attrName>
                                        </p:attrNameLst>
                                      </p:cBhvr>
                                      <p:to>
                                        <p:strVal val="hidden"/>
                                      </p:to>
                                    </p:set>
                                  </p:childTnLst>
                                </p:cTn>
                              </p:par>
                              <p:par>
                                <p:cTn id="77" presetID="1" presetClass="entr" presetSubtype="0" fill="hold" grpId="0" nodeType="withEffect">
                                  <p:stCondLst>
                                    <p:cond delay="0"/>
                                  </p:stCondLst>
                                  <p:iterate type="lt">
                                    <p:tmAbs val="0"/>
                                  </p:iterate>
                                  <p:childTnLst>
                                    <p:set>
                                      <p:cBhvr>
                                        <p:cTn id="78" dur="1" fill="hold">
                                          <p:stCondLst>
                                            <p:cond delay="0"/>
                                          </p:stCondLst>
                                        </p:cTn>
                                        <p:tgtEl>
                                          <p:spTgt spid="16"/>
                                        </p:tgtEl>
                                        <p:attrNameLst>
                                          <p:attrName>style.visibility</p:attrName>
                                        </p:attrNameLst>
                                      </p:cBhvr>
                                      <p:to>
                                        <p:strVal val="visible"/>
                                      </p:to>
                                    </p:set>
                                  </p:childTnLst>
                                </p:cTn>
                              </p:par>
                              <p:par>
                                <p:cTn id="79" presetID="27" presetClass="emph" presetSubtype="0" repeatCount="indefinite" fill="remove" grpId="1" nodeType="withEffect">
                                  <p:stCondLst>
                                    <p:cond delay="0"/>
                                  </p:stCondLst>
                                  <p:endCondLst>
                                    <p:cond evt="onNext" delay="0">
                                      <p:tgtEl>
                                        <p:sldTgt/>
                                      </p:tgtEl>
                                    </p:cond>
                                  </p:endCondLst>
                                  <p:iterate type="lt">
                                    <p:tmPct val="0"/>
                                  </p:iterate>
                                  <p:childTnLst>
                                    <p:animClr clrSpc="rgb" dir="cw">
                                      <p:cBhvr override="childStyle">
                                        <p:cTn id="80" dur="500" autoRev="1" fill="remove"/>
                                        <p:tgtEl>
                                          <p:spTgt spid="16"/>
                                        </p:tgtEl>
                                        <p:attrNameLst>
                                          <p:attrName>style.color</p:attrName>
                                        </p:attrNameLst>
                                      </p:cBhvr>
                                      <p:to>
                                        <a:schemeClr val="bg1"/>
                                      </p:to>
                                    </p:animClr>
                                    <p:animClr clrSpc="rgb" dir="cw">
                                      <p:cBhvr>
                                        <p:cTn id="81" dur="500" autoRev="1" fill="remove"/>
                                        <p:tgtEl>
                                          <p:spTgt spid="16"/>
                                        </p:tgtEl>
                                        <p:attrNameLst>
                                          <p:attrName>fillcolor</p:attrName>
                                        </p:attrNameLst>
                                      </p:cBhvr>
                                      <p:to>
                                        <a:schemeClr val="bg1"/>
                                      </p:to>
                                    </p:animClr>
                                    <p:set>
                                      <p:cBhvr>
                                        <p:cTn id="82" dur="500" autoRev="1" fill="remove"/>
                                        <p:tgtEl>
                                          <p:spTgt spid="16"/>
                                        </p:tgtEl>
                                        <p:attrNameLst>
                                          <p:attrName>fill.type</p:attrName>
                                        </p:attrNameLst>
                                      </p:cBhvr>
                                      <p:to>
                                        <p:strVal val="solid"/>
                                      </p:to>
                                    </p:set>
                                    <p:set>
                                      <p:cBhvr>
                                        <p:cTn id="83" dur="500" autoRev="1" fill="remove"/>
                                        <p:tgtEl>
                                          <p:spTgt spid="16"/>
                                        </p:tgtEl>
                                        <p:attrNameLst>
                                          <p:attrName>fill.on</p:attrName>
                                        </p:attrNameLst>
                                      </p:cBhvr>
                                      <p:to>
                                        <p:strVal val="true"/>
                                      </p:to>
                                    </p:set>
                                  </p:childTnLst>
                                </p:cTn>
                              </p:par>
                              <p:par>
                                <p:cTn id="84" presetID="1" presetClass="entr" presetSubtype="0" fill="hold" nodeType="withEffect">
                                  <p:stCondLst>
                                    <p:cond delay="0"/>
                                  </p:stCondLst>
                                  <p:childTnLst>
                                    <p:set>
                                      <p:cBhvr>
                                        <p:cTn id="85"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5" grpId="0" animBg="1"/>
      <p:bldP spid="15" grpId="1" animBg="1"/>
      <p:bldP spid="15" grpId="2" animBg="1"/>
      <p:bldP spid="16" grpId="0" animBg="1"/>
      <p:bldP spid="16" grpId="1" animBg="1"/>
      <p:bldP spid="7" grpId="0"/>
      <p:bldP spid="8" grpId="0" animBg="1"/>
      <p:bldP spid="9" grpId="0" animBg="1"/>
      <p:bldP spid="17" grpId="0" animBg="1"/>
      <p:bldP spid="23" grpId="0" animBg="1"/>
      <p:bldP spid="25" grpId="0" animBg="1"/>
      <p:bldP spid="26" grpId="0"/>
      <p:bldP spid="27" grpId="0" animBg="1"/>
      <p:bldP spid="28" grpId="0" animBg="1"/>
      <p:bldP spid="29" grpId="0" animBg="1"/>
      <p:bldP spid="30" grpId="0" animBg="1"/>
      <p:bldP spid="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531A3-A8E2-4F7A-B0BE-D786E05D2695}"/>
              </a:ext>
            </a:extLst>
          </p:cNvPr>
          <p:cNvSpPr>
            <a:spLocks noGrp="1"/>
          </p:cNvSpPr>
          <p:nvPr>
            <p:ph type="title"/>
          </p:nvPr>
        </p:nvSpPr>
        <p:spPr/>
        <p:txBody>
          <a:bodyPr/>
          <a:lstStyle/>
          <a:p>
            <a:r>
              <a:rPr lang="en-US" dirty="0"/>
              <a:t>Disadvantages of View</a:t>
            </a:r>
          </a:p>
        </p:txBody>
      </p:sp>
      <p:sp>
        <p:nvSpPr>
          <p:cNvPr id="3" name="Content Placeholder 2">
            <a:extLst>
              <a:ext uri="{FF2B5EF4-FFF2-40B4-BE49-F238E27FC236}">
                <a16:creationId xmlns:a16="http://schemas.microsoft.com/office/drawing/2014/main" id="{041C2CF8-CE10-4B72-B816-8561CFCCD4AA}"/>
              </a:ext>
            </a:extLst>
          </p:cNvPr>
          <p:cNvSpPr>
            <a:spLocks noGrp="1"/>
          </p:cNvSpPr>
          <p:nvPr>
            <p:ph idx="1"/>
          </p:nvPr>
        </p:nvSpPr>
        <p:spPr/>
        <p:txBody>
          <a:bodyPr/>
          <a:lstStyle/>
          <a:p>
            <a:r>
              <a:rPr lang="en-US" dirty="0"/>
              <a:t>When </a:t>
            </a:r>
            <a:r>
              <a:rPr lang="en-US" dirty="0">
                <a:solidFill>
                  <a:srgbClr val="C00000"/>
                </a:solidFill>
              </a:rPr>
              <a:t>table is dropped </a:t>
            </a:r>
            <a:r>
              <a:rPr lang="en-US" dirty="0">
                <a:solidFill>
                  <a:srgbClr val="0E47A1"/>
                </a:solidFill>
              </a:rPr>
              <a:t>view</a:t>
            </a:r>
            <a:r>
              <a:rPr lang="en-US" dirty="0">
                <a:solidFill>
                  <a:schemeClr val="tx2"/>
                </a:solidFill>
              </a:rPr>
              <a:t> </a:t>
            </a:r>
            <a:r>
              <a:rPr lang="en-US" dirty="0"/>
              <a:t>is also becomes </a:t>
            </a:r>
            <a:r>
              <a:rPr lang="en-US" dirty="0">
                <a:solidFill>
                  <a:srgbClr val="C00000"/>
                </a:solidFill>
              </a:rPr>
              <a:t>inactive</a:t>
            </a:r>
            <a:r>
              <a:rPr lang="en-US" dirty="0"/>
              <a:t>. </a:t>
            </a:r>
          </a:p>
          <a:p>
            <a:endParaRPr lang="en-US" dirty="0"/>
          </a:p>
        </p:txBody>
      </p:sp>
    </p:spTree>
    <p:extLst>
      <p:ext uri="{BB962C8B-B14F-4D97-AF65-F5344CB8AC3E}">
        <p14:creationId xmlns:p14="http://schemas.microsoft.com/office/powerpoint/2010/main" val="403149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3F0B-12AF-A2E5-A7E3-93BB81829388}"/>
              </a:ext>
            </a:extLst>
          </p:cNvPr>
          <p:cNvSpPr>
            <a:spLocks noGrp="1"/>
          </p:cNvSpPr>
          <p:nvPr>
            <p:ph type="title"/>
          </p:nvPr>
        </p:nvSpPr>
        <p:spPr/>
        <p:txBody>
          <a:bodyPr/>
          <a:lstStyle/>
          <a:p>
            <a:r>
              <a:rPr lang="en-US" dirty="0"/>
              <a:t>Update View </a:t>
            </a:r>
            <a:r>
              <a:rPr lang="en-US" dirty="0">
                <a:solidFill>
                  <a:srgbClr val="0E47A1"/>
                </a:solidFill>
              </a:rPr>
              <a:t>(Point To Keep in Mind)</a:t>
            </a:r>
            <a:endParaRPr lang="en-IN" dirty="0">
              <a:solidFill>
                <a:srgbClr val="0E47A1"/>
              </a:solidFill>
            </a:endParaRPr>
          </a:p>
        </p:txBody>
      </p:sp>
      <p:sp>
        <p:nvSpPr>
          <p:cNvPr id="3" name="Content Placeholder 2">
            <a:extLst>
              <a:ext uri="{FF2B5EF4-FFF2-40B4-BE49-F238E27FC236}">
                <a16:creationId xmlns:a16="http://schemas.microsoft.com/office/drawing/2014/main" id="{1457413E-83C3-5344-BCAD-31187277CB8D}"/>
              </a:ext>
            </a:extLst>
          </p:cNvPr>
          <p:cNvSpPr>
            <a:spLocks noGrp="1"/>
          </p:cNvSpPr>
          <p:nvPr>
            <p:ph idx="1"/>
          </p:nvPr>
        </p:nvSpPr>
        <p:spPr/>
        <p:txBody>
          <a:bodyPr/>
          <a:lstStyle/>
          <a:p>
            <a:r>
              <a:rPr lang="en-US" dirty="0"/>
              <a:t>If the user insert/update/delete any record/s in view, it will also </a:t>
            </a:r>
            <a:r>
              <a:rPr lang="en-US" b="1" dirty="0"/>
              <a:t>affect its base table</a:t>
            </a:r>
            <a:r>
              <a:rPr lang="en-US" dirty="0"/>
              <a:t>. </a:t>
            </a:r>
          </a:p>
          <a:p>
            <a:r>
              <a:rPr lang="en-US" dirty="0"/>
              <a:t>If a user tries to </a:t>
            </a:r>
            <a:r>
              <a:rPr lang="en-US" b="1" dirty="0"/>
              <a:t>insert any record </a:t>
            </a:r>
            <a:r>
              <a:rPr lang="en-US" dirty="0"/>
              <a:t>in view then at that time, the base table’s </a:t>
            </a:r>
            <a:r>
              <a:rPr lang="en-US" b="1" dirty="0"/>
              <a:t>PRIMARY KEY column and NOT NULL column </a:t>
            </a:r>
            <a:r>
              <a:rPr lang="en-US" dirty="0"/>
              <a:t>constraints must be fulfil. </a:t>
            </a:r>
          </a:p>
          <a:p>
            <a:r>
              <a:rPr lang="en-IN" dirty="0"/>
              <a:t>We </a:t>
            </a:r>
            <a:r>
              <a:rPr lang="en-IN" b="1" dirty="0"/>
              <a:t>only modify </a:t>
            </a:r>
            <a:r>
              <a:rPr lang="en-IN" dirty="0"/>
              <a:t>data using view if </a:t>
            </a:r>
            <a:r>
              <a:rPr lang="en-IN" b="1" dirty="0"/>
              <a:t>it affects only one base table</a:t>
            </a:r>
            <a:r>
              <a:rPr lang="en-IN" dirty="0"/>
              <a:t>.</a:t>
            </a:r>
          </a:p>
          <a:p>
            <a:pPr marL="0" indent="0">
              <a:buNone/>
            </a:pPr>
            <a:r>
              <a:rPr lang="en-US" u="sng" dirty="0">
                <a:solidFill>
                  <a:srgbClr val="C00000"/>
                </a:solidFill>
              </a:rPr>
              <a:t>Common Restriction on Updatable View</a:t>
            </a:r>
          </a:p>
          <a:p>
            <a:r>
              <a:rPr lang="en-US" dirty="0"/>
              <a:t>It can not include:</a:t>
            </a:r>
          </a:p>
          <a:p>
            <a:pPr lvl="1"/>
            <a:r>
              <a:rPr lang="en-US" dirty="0"/>
              <a:t>Aggregate functions</a:t>
            </a:r>
          </a:p>
          <a:p>
            <a:pPr lvl="1"/>
            <a:r>
              <a:rPr lang="en-US" dirty="0"/>
              <a:t>DISTINCT, GROUP BY or HAVING clause</a:t>
            </a:r>
          </a:p>
          <a:p>
            <a:pPr lvl="1"/>
            <a:r>
              <a:rPr lang="en-US" dirty="0"/>
              <a:t>Sub queries</a:t>
            </a:r>
          </a:p>
          <a:p>
            <a:pPr lvl="1"/>
            <a:r>
              <a:rPr lang="en-US" dirty="0"/>
              <a:t>UNION, INTERSECTION or MINUS clause</a:t>
            </a:r>
          </a:p>
          <a:p>
            <a:pPr marL="0" indent="0">
              <a:buNone/>
            </a:pPr>
            <a:endParaRPr lang="en-US" u="sng" dirty="0">
              <a:solidFill>
                <a:srgbClr val="C00000"/>
              </a:solidFill>
            </a:endParaRPr>
          </a:p>
          <a:p>
            <a:pPr marL="0" indent="0">
              <a:buNone/>
            </a:pPr>
            <a:endParaRPr lang="en-IN" u="sng" dirty="0">
              <a:solidFill>
                <a:srgbClr val="C00000"/>
              </a:solidFill>
            </a:endParaRPr>
          </a:p>
        </p:txBody>
      </p:sp>
    </p:spTree>
    <p:extLst>
      <p:ext uri="{BB962C8B-B14F-4D97-AF65-F5344CB8AC3E}">
        <p14:creationId xmlns:p14="http://schemas.microsoft.com/office/powerpoint/2010/main" val="3526479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1C7E-0AF6-8E3F-1786-829222C935CD}"/>
              </a:ext>
            </a:extLst>
          </p:cNvPr>
          <p:cNvSpPr>
            <a:spLocks noGrp="1"/>
          </p:cNvSpPr>
          <p:nvPr>
            <p:ph type="title"/>
          </p:nvPr>
        </p:nvSpPr>
        <p:spPr/>
        <p:txBody>
          <a:bodyPr/>
          <a:lstStyle/>
          <a:p>
            <a:r>
              <a:rPr lang="en-IN" dirty="0"/>
              <a:t>Table v/s View</a:t>
            </a:r>
          </a:p>
        </p:txBody>
      </p:sp>
      <p:graphicFrame>
        <p:nvGraphicFramePr>
          <p:cNvPr id="4" name="Content Placeholder 5">
            <a:extLst>
              <a:ext uri="{FF2B5EF4-FFF2-40B4-BE49-F238E27FC236}">
                <a16:creationId xmlns:a16="http://schemas.microsoft.com/office/drawing/2014/main" id="{F6E385F7-B453-414D-5F54-CF188516DB4D}"/>
              </a:ext>
            </a:extLst>
          </p:cNvPr>
          <p:cNvGraphicFramePr>
            <a:graphicFrameLocks/>
          </p:cNvGraphicFramePr>
          <p:nvPr>
            <p:extLst>
              <p:ext uri="{D42A27DB-BD31-4B8C-83A1-F6EECF244321}">
                <p14:modId xmlns:p14="http://schemas.microsoft.com/office/powerpoint/2010/main" val="1471084370"/>
              </p:ext>
            </p:extLst>
          </p:nvPr>
        </p:nvGraphicFramePr>
        <p:xfrm>
          <a:off x="209960" y="1738114"/>
          <a:ext cx="11635363" cy="447514"/>
        </p:xfrm>
        <a:graphic>
          <a:graphicData uri="http://schemas.openxmlformats.org/drawingml/2006/table">
            <a:tbl>
              <a:tblPr firstRow="1" bandRow="1">
                <a:tableStyleId>{8EC20E35-A176-4012-BC5E-935CFFF8708E}</a:tableStyleId>
              </a:tblPr>
              <a:tblGrid>
                <a:gridCol w="1690557">
                  <a:extLst>
                    <a:ext uri="{9D8B030D-6E8A-4147-A177-3AD203B41FA5}">
                      <a16:colId xmlns:a16="http://schemas.microsoft.com/office/drawing/2014/main" val="958018848"/>
                    </a:ext>
                  </a:extLst>
                </a:gridCol>
                <a:gridCol w="5018244">
                  <a:extLst>
                    <a:ext uri="{9D8B030D-6E8A-4147-A177-3AD203B41FA5}">
                      <a16:colId xmlns:a16="http://schemas.microsoft.com/office/drawing/2014/main" val="3461316769"/>
                    </a:ext>
                  </a:extLst>
                </a:gridCol>
                <a:gridCol w="4926562">
                  <a:extLst>
                    <a:ext uri="{9D8B030D-6E8A-4147-A177-3AD203B41FA5}">
                      <a16:colId xmlns:a16="http://schemas.microsoft.com/office/drawing/2014/main" val="133769863"/>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Definition </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A table stores the data.</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A view only extracts data from the table.</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4913785"/>
                  </a:ext>
                </a:extLst>
              </a:tr>
            </a:tbl>
          </a:graphicData>
        </a:graphic>
      </p:graphicFrame>
      <p:graphicFrame>
        <p:nvGraphicFramePr>
          <p:cNvPr id="5" name="Content Placeholder 4">
            <a:extLst>
              <a:ext uri="{FF2B5EF4-FFF2-40B4-BE49-F238E27FC236}">
                <a16:creationId xmlns:a16="http://schemas.microsoft.com/office/drawing/2014/main" id="{1E58E940-D1DE-9611-602E-BAF7B7642BE1}"/>
              </a:ext>
            </a:extLst>
          </p:cNvPr>
          <p:cNvGraphicFramePr>
            <a:graphicFrameLocks/>
          </p:cNvGraphicFramePr>
          <p:nvPr>
            <p:extLst>
              <p:ext uri="{D42A27DB-BD31-4B8C-83A1-F6EECF244321}">
                <p14:modId xmlns:p14="http://schemas.microsoft.com/office/powerpoint/2010/main" val="269404159"/>
              </p:ext>
            </p:extLst>
          </p:nvPr>
        </p:nvGraphicFramePr>
        <p:xfrm>
          <a:off x="209962" y="1301079"/>
          <a:ext cx="11635363" cy="447514"/>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0000"/>
                    </a:ext>
                  </a:extLst>
                </a:gridCol>
                <a:gridCol w="5019869">
                  <a:extLst>
                    <a:ext uri="{9D8B030D-6E8A-4147-A177-3AD203B41FA5}">
                      <a16:colId xmlns:a16="http://schemas.microsoft.com/office/drawing/2014/main" val="20001"/>
                    </a:ext>
                  </a:extLst>
                </a:gridCol>
                <a:gridCol w="4926562">
                  <a:extLst>
                    <a:ext uri="{9D8B030D-6E8A-4147-A177-3AD203B41FA5}">
                      <a16:colId xmlns:a16="http://schemas.microsoft.com/office/drawing/2014/main" val="20002"/>
                    </a:ext>
                  </a:extLst>
                </a:gridCol>
              </a:tblGrid>
              <a:tr h="447514">
                <a:tc>
                  <a:txBody>
                    <a:bodyPr/>
                    <a:lstStyle/>
                    <a:p>
                      <a:pPr fontAlgn="t"/>
                      <a:r>
                        <a:rPr lang="en-GB" b="1">
                          <a:solidFill>
                            <a:schemeClr val="tx1"/>
                          </a:solidFill>
                          <a:effectLst/>
                        </a:rPr>
                        <a:t>Parameters</a:t>
                      </a:r>
                      <a:endParaRPr lang="en-GB">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Table </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View</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D5037930-25E3-6619-B7E0-5665A79066DF}"/>
              </a:ext>
            </a:extLst>
          </p:cNvPr>
          <p:cNvGraphicFramePr>
            <a:graphicFrameLocks/>
          </p:cNvGraphicFramePr>
          <p:nvPr>
            <p:extLst>
              <p:ext uri="{D42A27DB-BD31-4B8C-83A1-F6EECF244321}">
                <p14:modId xmlns:p14="http://schemas.microsoft.com/office/powerpoint/2010/main" val="1254998385"/>
              </p:ext>
            </p:extLst>
          </p:nvPr>
        </p:nvGraphicFramePr>
        <p:xfrm>
          <a:off x="209963" y="935319"/>
          <a:ext cx="1166416" cy="365760"/>
        </p:xfrm>
        <a:graphic>
          <a:graphicData uri="http://schemas.openxmlformats.org/drawingml/2006/table">
            <a:tbl>
              <a:tblPr firstRow="1" bandRow="1">
                <a:tableStyleId>{8EC20E35-A176-4012-BC5E-935CFFF8708E}</a:tableStyleId>
              </a:tblPr>
              <a:tblGrid>
                <a:gridCol w="1166416">
                  <a:extLst>
                    <a:ext uri="{9D8B030D-6E8A-4147-A177-3AD203B41FA5}">
                      <a16:colId xmlns:a16="http://schemas.microsoft.com/office/drawing/2014/main" val="20000"/>
                    </a:ext>
                  </a:extLst>
                </a:gridCol>
              </a:tblGrid>
              <a:tr h="285488">
                <a:tc>
                  <a:txBody>
                    <a:bodyPr/>
                    <a:lstStyle/>
                    <a:p>
                      <a:pPr algn="ctr"/>
                      <a:r>
                        <a:rPr lang="en-US" b="1" dirty="0">
                          <a:solidFill>
                            <a:schemeClr val="bg1"/>
                          </a:solidFill>
                        </a:rPr>
                        <a:t>Difference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AEC181D8-6026-2DAD-0B1A-0289BC45E776}"/>
              </a:ext>
            </a:extLst>
          </p:cNvPr>
          <p:cNvGraphicFramePr>
            <a:graphicFrameLocks noGrp="1"/>
          </p:cNvGraphicFramePr>
          <p:nvPr>
            <p:extLst>
              <p:ext uri="{D42A27DB-BD31-4B8C-83A1-F6EECF244321}">
                <p14:modId xmlns:p14="http://schemas.microsoft.com/office/powerpoint/2010/main" val="1193930743"/>
              </p:ext>
            </p:extLst>
          </p:nvPr>
        </p:nvGraphicFramePr>
        <p:xfrm>
          <a:off x="209960" y="2175149"/>
          <a:ext cx="11635363" cy="447514"/>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383357917"/>
                    </a:ext>
                  </a:extLst>
                </a:gridCol>
                <a:gridCol w="5019869">
                  <a:extLst>
                    <a:ext uri="{9D8B030D-6E8A-4147-A177-3AD203B41FA5}">
                      <a16:colId xmlns:a16="http://schemas.microsoft.com/office/drawing/2014/main" val="1677393283"/>
                    </a:ext>
                  </a:extLst>
                </a:gridCol>
                <a:gridCol w="4926562">
                  <a:extLst>
                    <a:ext uri="{9D8B030D-6E8A-4147-A177-3AD203B41FA5}">
                      <a16:colId xmlns:a16="http://schemas.microsoft.com/office/drawing/2014/main" val="2894284266"/>
                    </a:ext>
                  </a:extLst>
                </a:gridCol>
              </a:tblGrid>
              <a:tr h="447514">
                <a:tc>
                  <a:txBody>
                    <a:bodyPr/>
                    <a:lstStyle/>
                    <a:p>
                      <a:pPr fontAlgn="t"/>
                      <a:r>
                        <a:rPr lang="en-IN" sz="1800" b="1" i="0" kern="1200" dirty="0">
                          <a:solidFill>
                            <a:schemeClr val="tx1"/>
                          </a:solidFill>
                          <a:effectLst/>
                          <a:latin typeface="+mn-lt"/>
                          <a:ea typeface="+mn-ea"/>
                          <a:cs typeface="+mn-cs"/>
                        </a:rPr>
                        <a:t>Dependency</a:t>
                      </a:r>
                      <a:endParaRPr lang="en-GB" b="1"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A table is an independent database entity.</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A view is dependent on the table.</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70973385"/>
                  </a:ext>
                </a:extLst>
              </a:tr>
            </a:tbl>
          </a:graphicData>
        </a:graphic>
      </p:graphicFrame>
      <p:graphicFrame>
        <p:nvGraphicFramePr>
          <p:cNvPr id="8" name="Table 7">
            <a:extLst>
              <a:ext uri="{FF2B5EF4-FFF2-40B4-BE49-F238E27FC236}">
                <a16:creationId xmlns:a16="http://schemas.microsoft.com/office/drawing/2014/main" id="{1A2EEDC1-48FD-7624-12EC-13F8687CACA6}"/>
              </a:ext>
            </a:extLst>
          </p:cNvPr>
          <p:cNvGraphicFramePr>
            <a:graphicFrameLocks noGrp="1"/>
          </p:cNvGraphicFramePr>
          <p:nvPr>
            <p:extLst>
              <p:ext uri="{D42A27DB-BD31-4B8C-83A1-F6EECF244321}">
                <p14:modId xmlns:p14="http://schemas.microsoft.com/office/powerpoint/2010/main" val="1235285576"/>
              </p:ext>
            </p:extLst>
          </p:nvPr>
        </p:nvGraphicFramePr>
        <p:xfrm>
          <a:off x="209959" y="2600961"/>
          <a:ext cx="11635363" cy="670560"/>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545654813"/>
                    </a:ext>
                  </a:extLst>
                </a:gridCol>
                <a:gridCol w="5019869">
                  <a:extLst>
                    <a:ext uri="{9D8B030D-6E8A-4147-A177-3AD203B41FA5}">
                      <a16:colId xmlns:a16="http://schemas.microsoft.com/office/drawing/2014/main" val="3534728257"/>
                    </a:ext>
                  </a:extLst>
                </a:gridCol>
                <a:gridCol w="4926562">
                  <a:extLst>
                    <a:ext uri="{9D8B030D-6E8A-4147-A177-3AD203B41FA5}">
                      <a16:colId xmlns:a16="http://schemas.microsoft.com/office/drawing/2014/main" val="52194892"/>
                    </a:ext>
                  </a:extLst>
                </a:gridCol>
              </a:tblGrid>
              <a:tr h="447514">
                <a:tc>
                  <a:txBody>
                    <a:bodyPr/>
                    <a:lstStyle/>
                    <a:p>
                      <a:pPr fontAlgn="t"/>
                      <a:r>
                        <a:rPr lang="en-IN" sz="1800" b="1" i="0" kern="1200" dirty="0">
                          <a:solidFill>
                            <a:schemeClr val="tx1"/>
                          </a:solidFill>
                          <a:effectLst/>
                          <a:latin typeface="+mn-lt"/>
                          <a:ea typeface="+mn-ea"/>
                          <a:cs typeface="+mn-cs"/>
                        </a:rPr>
                        <a:t>Database space</a:t>
                      </a:r>
                      <a:endParaRPr lang="en-GB" b="1"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It is stored in physical storage as it occupies real space on systems.</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It is not stored physically. It only requires some space in memory whenever we run its query.</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05386118"/>
                  </a:ext>
                </a:extLst>
              </a:tr>
            </a:tbl>
          </a:graphicData>
        </a:graphic>
      </p:graphicFrame>
    </p:spTree>
    <p:extLst>
      <p:ext uri="{BB962C8B-B14F-4D97-AF65-F5344CB8AC3E}">
        <p14:creationId xmlns:p14="http://schemas.microsoft.com/office/powerpoint/2010/main" val="88595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2B792-5647-D121-CE4C-932AB6368122}"/>
              </a:ext>
            </a:extLst>
          </p:cNvPr>
          <p:cNvSpPr>
            <a:spLocks noGrp="1"/>
          </p:cNvSpPr>
          <p:nvPr>
            <p:ph type="title"/>
          </p:nvPr>
        </p:nvSpPr>
        <p:spPr/>
        <p:txBody>
          <a:bodyPr/>
          <a:lstStyle/>
          <a:p>
            <a:r>
              <a:rPr lang="en-IN" dirty="0"/>
              <a:t>Subqueries </a:t>
            </a:r>
          </a:p>
        </p:txBody>
      </p:sp>
      <p:sp>
        <p:nvSpPr>
          <p:cNvPr id="3" name="Text Placeholder 2">
            <a:extLst>
              <a:ext uri="{FF2B5EF4-FFF2-40B4-BE49-F238E27FC236}">
                <a16:creationId xmlns:a16="http://schemas.microsoft.com/office/drawing/2014/main" id="{5F87FC29-0248-AC95-B5F5-AD87668788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4777437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79E3-872B-AC88-9487-91CF85695E87}"/>
              </a:ext>
            </a:extLst>
          </p:cNvPr>
          <p:cNvSpPr>
            <a:spLocks noGrp="1"/>
          </p:cNvSpPr>
          <p:nvPr>
            <p:ph type="title"/>
          </p:nvPr>
        </p:nvSpPr>
        <p:spPr/>
        <p:txBody>
          <a:bodyPr/>
          <a:lstStyle/>
          <a:p>
            <a:r>
              <a:rPr lang="en-US" dirty="0"/>
              <a:t>Sub Query</a:t>
            </a:r>
            <a:endParaRPr lang="en-IN" dirty="0"/>
          </a:p>
        </p:txBody>
      </p:sp>
      <p:sp>
        <p:nvSpPr>
          <p:cNvPr id="3" name="Content Placeholder 2">
            <a:extLst>
              <a:ext uri="{FF2B5EF4-FFF2-40B4-BE49-F238E27FC236}">
                <a16:creationId xmlns:a16="http://schemas.microsoft.com/office/drawing/2014/main" id="{480C79B8-B224-A69D-9BDA-9F9EB61C0B90}"/>
              </a:ext>
            </a:extLst>
          </p:cNvPr>
          <p:cNvSpPr>
            <a:spLocks noGrp="1"/>
          </p:cNvSpPr>
          <p:nvPr>
            <p:ph idx="1"/>
          </p:nvPr>
        </p:nvSpPr>
        <p:spPr/>
        <p:txBody>
          <a:bodyPr/>
          <a:lstStyle/>
          <a:p>
            <a:r>
              <a:rPr lang="en-IN" dirty="0">
                <a:solidFill>
                  <a:srgbClr val="0E47A1"/>
                </a:solidFill>
              </a:rPr>
              <a:t>Sub query </a:t>
            </a:r>
            <a:r>
              <a:rPr lang="en-IN" dirty="0"/>
              <a:t>is </a:t>
            </a:r>
            <a:r>
              <a:rPr lang="en-IN" dirty="0">
                <a:solidFill>
                  <a:srgbClr val="C00000"/>
                </a:solidFill>
              </a:rPr>
              <a:t>query inside other query.</a:t>
            </a:r>
          </a:p>
          <a:p>
            <a:endParaRPr lang="en-IN" dirty="0">
              <a:solidFill>
                <a:srgbClr val="C00000"/>
              </a:solidFill>
            </a:endParaRPr>
          </a:p>
          <a:p>
            <a:endParaRPr lang="en-IN" dirty="0">
              <a:solidFill>
                <a:srgbClr val="C00000"/>
              </a:solidFill>
            </a:endParaRPr>
          </a:p>
          <a:p>
            <a:endParaRPr lang="en-IN" dirty="0">
              <a:solidFill>
                <a:srgbClr val="C00000"/>
              </a:solidFill>
            </a:endParaRPr>
          </a:p>
          <a:p>
            <a:endParaRPr lang="en-IN" dirty="0">
              <a:solidFill>
                <a:srgbClr val="C00000"/>
              </a:solidFill>
            </a:endParaRPr>
          </a:p>
          <a:p>
            <a:endParaRPr lang="en-IN" dirty="0">
              <a:solidFill>
                <a:srgbClr val="C00000"/>
              </a:solidFill>
            </a:endParaRPr>
          </a:p>
          <a:p>
            <a:endParaRPr lang="en-IN" dirty="0">
              <a:solidFill>
                <a:srgbClr val="C00000"/>
              </a:solidFill>
            </a:endParaRPr>
          </a:p>
          <a:p>
            <a:r>
              <a:rPr lang="en-IN" dirty="0"/>
              <a:t>Subquery returns result from an </a:t>
            </a:r>
            <a:r>
              <a:rPr lang="en-IN" dirty="0">
                <a:solidFill>
                  <a:srgbClr val="C00000"/>
                </a:solidFill>
              </a:rPr>
              <a:t>inner query </a:t>
            </a:r>
            <a:r>
              <a:rPr lang="en-IN" dirty="0"/>
              <a:t>to an </a:t>
            </a:r>
            <a:r>
              <a:rPr lang="en-IN" dirty="0">
                <a:solidFill>
                  <a:srgbClr val="C00000"/>
                </a:solidFill>
              </a:rPr>
              <a:t>outer clause.</a:t>
            </a:r>
          </a:p>
          <a:p>
            <a:r>
              <a:rPr lang="en-US" dirty="0"/>
              <a:t>It is a SELECT statement that nests inside the WHERE, HAVING or SELECT of other SELECT.  </a:t>
            </a:r>
          </a:p>
          <a:p>
            <a:endParaRPr lang="en-IN" dirty="0">
              <a:solidFill>
                <a:srgbClr val="C00000"/>
              </a:solidFill>
            </a:endParaRPr>
          </a:p>
          <a:p>
            <a:endParaRPr lang="en-IN" dirty="0">
              <a:solidFill>
                <a:srgbClr val="C00000"/>
              </a:solidFill>
            </a:endParaRPr>
          </a:p>
        </p:txBody>
      </p:sp>
      <p:sp>
        <p:nvSpPr>
          <p:cNvPr id="4" name="Oval 3">
            <a:extLst>
              <a:ext uri="{FF2B5EF4-FFF2-40B4-BE49-F238E27FC236}">
                <a16:creationId xmlns:a16="http://schemas.microsoft.com/office/drawing/2014/main" id="{DDBBC6A1-83F2-9307-94D5-2E92FBA67494}"/>
              </a:ext>
            </a:extLst>
          </p:cNvPr>
          <p:cNvSpPr/>
          <p:nvPr/>
        </p:nvSpPr>
        <p:spPr>
          <a:xfrm>
            <a:off x="3267841" y="1734825"/>
            <a:ext cx="3671454" cy="1889538"/>
          </a:xfrm>
          <a:prstGeom prst="ellipse">
            <a:avLst/>
          </a:prstGeom>
          <a:solidFill>
            <a:schemeClr val="tx2">
              <a:lumMod val="60000"/>
              <a:lumOff val="40000"/>
            </a:schemeClr>
          </a:solidFill>
          <a:ln w="28575">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rgbClr val="002060"/>
                </a:solidFill>
              </a:rPr>
              <a:t>Query -2 </a:t>
            </a:r>
          </a:p>
        </p:txBody>
      </p:sp>
      <p:sp>
        <p:nvSpPr>
          <p:cNvPr id="5" name="Oval 4">
            <a:extLst>
              <a:ext uri="{FF2B5EF4-FFF2-40B4-BE49-F238E27FC236}">
                <a16:creationId xmlns:a16="http://schemas.microsoft.com/office/drawing/2014/main" id="{CD5C4BB5-B6B3-1991-28DE-651CFB6F2AC0}"/>
              </a:ext>
            </a:extLst>
          </p:cNvPr>
          <p:cNvSpPr/>
          <p:nvPr/>
        </p:nvSpPr>
        <p:spPr>
          <a:xfrm>
            <a:off x="4364183" y="2382983"/>
            <a:ext cx="1572810" cy="727419"/>
          </a:xfrm>
          <a:prstGeom prst="ellipse">
            <a:avLst/>
          </a:prstGeom>
          <a:solidFill>
            <a:schemeClr val="bg2">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Query -1 </a:t>
            </a:r>
          </a:p>
        </p:txBody>
      </p:sp>
      <p:cxnSp>
        <p:nvCxnSpPr>
          <p:cNvPr id="6" name="Straight Arrow Connector 5">
            <a:extLst>
              <a:ext uri="{FF2B5EF4-FFF2-40B4-BE49-F238E27FC236}">
                <a16:creationId xmlns:a16="http://schemas.microsoft.com/office/drawing/2014/main" id="{2EFBD117-2DB0-E8F3-786F-690034153EF2}"/>
              </a:ext>
            </a:extLst>
          </p:cNvPr>
          <p:cNvCxnSpPr>
            <a:cxnSpLocks/>
            <a:endCxn id="4" idx="2"/>
          </p:cNvCxnSpPr>
          <p:nvPr/>
        </p:nvCxnSpPr>
        <p:spPr>
          <a:xfrm flipH="1">
            <a:off x="3267841" y="2679594"/>
            <a:ext cx="1096342" cy="0"/>
          </a:xfrm>
          <a:prstGeom prst="straightConnector1">
            <a:avLst/>
          </a:prstGeom>
          <a:ln w="12700" cap="flat" cmpd="sng" algn="ctr">
            <a:solidFill>
              <a:schemeClr val="tx2">
                <a:lumMod val="50000"/>
              </a:schemeClr>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105E19E5-31C0-4B09-A80A-4478CDE469A7}"/>
              </a:ext>
            </a:extLst>
          </p:cNvPr>
          <p:cNvSpPr txBox="1"/>
          <p:nvPr/>
        </p:nvSpPr>
        <p:spPr>
          <a:xfrm>
            <a:off x="6089072" y="2499606"/>
            <a:ext cx="817418" cy="307777"/>
          </a:xfrm>
          <a:prstGeom prst="rect">
            <a:avLst/>
          </a:prstGeom>
          <a:noFill/>
        </p:spPr>
        <p:txBody>
          <a:bodyPr wrap="square" rtlCol="0">
            <a:spAutoFit/>
          </a:bodyPr>
          <a:lstStyle/>
          <a:p>
            <a:r>
              <a:rPr lang="en-US" sz="1400" b="1" dirty="0">
                <a:solidFill>
                  <a:schemeClr val="tx2"/>
                </a:solidFill>
              </a:rPr>
              <a:t>OUTPUT</a:t>
            </a:r>
          </a:p>
        </p:txBody>
      </p:sp>
      <p:sp>
        <p:nvSpPr>
          <p:cNvPr id="8" name="TextBox 7">
            <a:extLst>
              <a:ext uri="{FF2B5EF4-FFF2-40B4-BE49-F238E27FC236}">
                <a16:creationId xmlns:a16="http://schemas.microsoft.com/office/drawing/2014/main" id="{42A29B1D-2E78-C160-7B49-7F34985FD7B1}"/>
              </a:ext>
            </a:extLst>
          </p:cNvPr>
          <p:cNvSpPr txBox="1"/>
          <p:nvPr/>
        </p:nvSpPr>
        <p:spPr>
          <a:xfrm>
            <a:off x="3600054" y="2362160"/>
            <a:ext cx="657672" cy="307777"/>
          </a:xfrm>
          <a:prstGeom prst="rect">
            <a:avLst/>
          </a:prstGeom>
          <a:noFill/>
        </p:spPr>
        <p:txBody>
          <a:bodyPr wrap="square" rtlCol="0">
            <a:spAutoFit/>
          </a:bodyPr>
          <a:lstStyle/>
          <a:p>
            <a:r>
              <a:rPr lang="en-US" sz="1400" b="1" dirty="0">
                <a:solidFill>
                  <a:schemeClr val="tx2"/>
                </a:solidFill>
              </a:rPr>
              <a:t>INPUT</a:t>
            </a:r>
          </a:p>
        </p:txBody>
      </p:sp>
      <p:sp>
        <p:nvSpPr>
          <p:cNvPr id="9" name="TextBox 8">
            <a:extLst>
              <a:ext uri="{FF2B5EF4-FFF2-40B4-BE49-F238E27FC236}">
                <a16:creationId xmlns:a16="http://schemas.microsoft.com/office/drawing/2014/main" id="{0FAD4DBB-E200-E88A-1966-552B745371CB}"/>
              </a:ext>
            </a:extLst>
          </p:cNvPr>
          <p:cNvSpPr txBox="1"/>
          <p:nvPr/>
        </p:nvSpPr>
        <p:spPr>
          <a:xfrm>
            <a:off x="2237509" y="2679594"/>
            <a:ext cx="817418" cy="307777"/>
          </a:xfrm>
          <a:prstGeom prst="rect">
            <a:avLst/>
          </a:prstGeom>
          <a:noFill/>
        </p:spPr>
        <p:txBody>
          <a:bodyPr wrap="square" rtlCol="0">
            <a:spAutoFit/>
          </a:bodyPr>
          <a:lstStyle/>
          <a:p>
            <a:r>
              <a:rPr lang="en-US" sz="1400" b="1" dirty="0">
                <a:solidFill>
                  <a:schemeClr val="tx2"/>
                </a:solidFill>
              </a:rPr>
              <a:t>OUTPUT</a:t>
            </a:r>
          </a:p>
        </p:txBody>
      </p:sp>
      <p:cxnSp>
        <p:nvCxnSpPr>
          <p:cNvPr id="10" name="Straight Arrow Connector 9">
            <a:extLst>
              <a:ext uri="{FF2B5EF4-FFF2-40B4-BE49-F238E27FC236}">
                <a16:creationId xmlns:a16="http://schemas.microsoft.com/office/drawing/2014/main" id="{F94956F3-166F-6804-833B-5FE3F4ED460D}"/>
              </a:ext>
            </a:extLst>
          </p:cNvPr>
          <p:cNvCxnSpPr>
            <a:cxnSpLocks/>
          </p:cNvCxnSpPr>
          <p:nvPr/>
        </p:nvCxnSpPr>
        <p:spPr>
          <a:xfrm>
            <a:off x="5936993" y="2761374"/>
            <a:ext cx="3034044" cy="0"/>
          </a:xfrm>
          <a:prstGeom prst="straightConnector1">
            <a:avLst/>
          </a:prstGeom>
          <a:ln w="9525" cap="flat" cmpd="sng" algn="ctr">
            <a:solidFill>
              <a:schemeClr val="tx1"/>
            </a:solidFill>
            <a:prstDash val="dash"/>
            <a:round/>
            <a:headEnd type="stealth"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6162300B-2AF8-60D4-7506-8C911A2A4033}"/>
              </a:ext>
            </a:extLst>
          </p:cNvPr>
          <p:cNvCxnSpPr>
            <a:cxnSpLocks/>
            <a:endCxn id="13" idx="1"/>
          </p:cNvCxnSpPr>
          <p:nvPr/>
        </p:nvCxnSpPr>
        <p:spPr>
          <a:xfrm>
            <a:off x="6678592" y="2095848"/>
            <a:ext cx="2271981" cy="1"/>
          </a:xfrm>
          <a:prstGeom prst="straightConnector1">
            <a:avLst/>
          </a:prstGeom>
          <a:ln w="9525" cap="flat" cmpd="sng" algn="ctr">
            <a:solidFill>
              <a:schemeClr val="tx1"/>
            </a:solidFill>
            <a:prstDash val="dash"/>
            <a:round/>
            <a:headEnd type="stealth" w="med" len="med"/>
            <a:tailEnd type="none" w="med" len="med"/>
          </a:ln>
        </p:spPr>
        <p:style>
          <a:lnRef idx="0">
            <a:scrgbClr r="0" g="0" b="0"/>
          </a:lnRef>
          <a:fillRef idx="0">
            <a:scrgbClr r="0" g="0" b="0"/>
          </a:fillRef>
          <a:effectRef idx="0">
            <a:scrgbClr r="0" g="0" b="0"/>
          </a:effectRef>
          <a:fontRef idx="minor">
            <a:schemeClr val="tx1"/>
          </a:fontRef>
        </p:style>
      </p:cxnSp>
      <p:sp>
        <p:nvSpPr>
          <p:cNvPr id="12" name="Rectangle: Rounded Corners 11">
            <a:extLst>
              <a:ext uri="{FF2B5EF4-FFF2-40B4-BE49-F238E27FC236}">
                <a16:creationId xmlns:a16="http://schemas.microsoft.com/office/drawing/2014/main" id="{FCBD6018-8890-377E-2DBF-777B11CE85D9}"/>
              </a:ext>
            </a:extLst>
          </p:cNvPr>
          <p:cNvSpPr/>
          <p:nvPr/>
        </p:nvSpPr>
        <p:spPr>
          <a:xfrm>
            <a:off x="8950574" y="2481795"/>
            <a:ext cx="1593273" cy="559157"/>
          </a:xfrm>
          <a:prstGeom prst="roundRect">
            <a:avLst/>
          </a:prstGeom>
          <a:solidFill>
            <a:schemeClr val="bg2">
              <a:lumMod val="85000"/>
            </a:schemeClr>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Inner Query</a:t>
            </a:r>
          </a:p>
        </p:txBody>
      </p:sp>
      <p:sp>
        <p:nvSpPr>
          <p:cNvPr id="13" name="Rectangle: Rounded Corners 12">
            <a:extLst>
              <a:ext uri="{FF2B5EF4-FFF2-40B4-BE49-F238E27FC236}">
                <a16:creationId xmlns:a16="http://schemas.microsoft.com/office/drawing/2014/main" id="{1ABC1A05-964C-7B66-F08D-3C3E1B241955}"/>
              </a:ext>
            </a:extLst>
          </p:cNvPr>
          <p:cNvSpPr/>
          <p:nvPr/>
        </p:nvSpPr>
        <p:spPr>
          <a:xfrm>
            <a:off x="8950573" y="1816270"/>
            <a:ext cx="1593273" cy="559157"/>
          </a:xfrm>
          <a:prstGeom prst="roundRect">
            <a:avLst/>
          </a:prstGeom>
          <a:solidFill>
            <a:schemeClr val="bg2">
              <a:lumMod val="85000"/>
            </a:schemeClr>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Outer Query</a:t>
            </a:r>
          </a:p>
        </p:txBody>
      </p:sp>
    </p:spTree>
    <p:extLst>
      <p:ext uri="{BB962C8B-B14F-4D97-AF65-F5344CB8AC3E}">
        <p14:creationId xmlns:p14="http://schemas.microsoft.com/office/powerpoint/2010/main" val="216986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0" presetClass="exit" presetSubtype="0" fill="hold" grpId="1" nodeType="withEffect">
                                  <p:stCondLst>
                                    <p:cond delay="0"/>
                                  </p:stCondLst>
                                  <p:childTnLst>
                                    <p:animEffect transition="out" filter="fade">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0" presetClass="exit" presetSubtype="0" fill="hold" nodeType="withEffect">
                                  <p:stCondLst>
                                    <p:cond delay="0"/>
                                  </p:stCondLst>
                                  <p:childTnLst>
                                    <p:animEffect transition="out" filter="fade">
                                      <p:cBhvr>
                                        <p:cTn id="33" dur="500"/>
                                        <p:tgtEl>
                                          <p:spTgt spid="6"/>
                                        </p:tgtEl>
                                      </p:cBhvr>
                                    </p:animEffect>
                                    <p:set>
                                      <p:cBhvr>
                                        <p:cTn id="34" dur="1" fill="hold">
                                          <p:stCondLst>
                                            <p:cond delay="499"/>
                                          </p:stCondLst>
                                        </p:cTn>
                                        <p:tgtEl>
                                          <p:spTgt spid="6"/>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par>
                                <p:cTn id="44" presetID="10" presetClass="exit" presetSubtype="0" fill="hold" grpId="1" nodeType="withEffect">
                                  <p:stCondLst>
                                    <p:cond delay="0"/>
                                  </p:stCondLst>
                                  <p:childTnLst>
                                    <p:animEffect transition="out" filter="fade">
                                      <p:cBhvr>
                                        <p:cTn id="45" dur="500"/>
                                        <p:tgtEl>
                                          <p:spTgt spid="9"/>
                                        </p:tgtEl>
                                      </p:cBhvr>
                                    </p:animEffect>
                                    <p:set>
                                      <p:cBhvr>
                                        <p:cTn id="46" dur="1" fill="hold">
                                          <p:stCondLst>
                                            <p:cond delay="499"/>
                                          </p:stCondLst>
                                        </p:cTn>
                                        <p:tgtEl>
                                          <p:spTgt spid="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7" grpId="1"/>
      <p:bldP spid="8" grpId="0"/>
      <p:bldP spid="8" grpId="1"/>
      <p:bldP spid="9" grpId="0"/>
      <p:bldP spid="9" grpId="1"/>
      <p:bldP spid="12" grpId="0" animBg="1"/>
      <p:bldP spid="13"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A4C10-2C81-4127-BC91-1D5388A90C67}"/>
              </a:ext>
            </a:extLst>
          </p:cNvPr>
          <p:cNvSpPr>
            <a:spLocks noGrp="1"/>
          </p:cNvSpPr>
          <p:nvPr>
            <p:ph type="title"/>
          </p:nvPr>
        </p:nvSpPr>
        <p:spPr/>
        <p:txBody>
          <a:bodyPr/>
          <a:lstStyle/>
          <a:p>
            <a:r>
              <a:rPr lang="en-US" dirty="0"/>
              <a:t>Types of Sub Query</a:t>
            </a:r>
          </a:p>
        </p:txBody>
      </p:sp>
      <p:sp>
        <p:nvSpPr>
          <p:cNvPr id="3" name="Content Placeholder 2">
            <a:extLst>
              <a:ext uri="{FF2B5EF4-FFF2-40B4-BE49-F238E27FC236}">
                <a16:creationId xmlns:a16="http://schemas.microsoft.com/office/drawing/2014/main" id="{6A3C40AD-C629-4E52-9A0A-107E7661EB94}"/>
              </a:ext>
            </a:extLst>
          </p:cNvPr>
          <p:cNvSpPr>
            <a:spLocks noGrp="1"/>
          </p:cNvSpPr>
          <p:nvPr>
            <p:ph idx="1"/>
          </p:nvPr>
        </p:nvSpPr>
        <p:spPr/>
        <p:txBody>
          <a:bodyPr/>
          <a:lstStyle/>
          <a:p>
            <a:pPr marL="457200" indent="-457200">
              <a:buFont typeface="+mj-lt"/>
              <a:buAutoNum type="arabicPeriod"/>
            </a:pPr>
            <a:r>
              <a:rPr lang="en-US" dirty="0"/>
              <a:t>Single Row Sub Query (Scalar Value)</a:t>
            </a:r>
          </a:p>
          <a:p>
            <a:pPr marL="457200" indent="-457200">
              <a:buFont typeface="+mj-lt"/>
              <a:buAutoNum type="arabicPeriod"/>
            </a:pPr>
            <a:r>
              <a:rPr lang="en-US" dirty="0"/>
              <a:t>Multiple Row Sub Query </a:t>
            </a:r>
          </a:p>
          <a:p>
            <a:pPr marL="457200" indent="-457200">
              <a:buFont typeface="+mj-lt"/>
              <a:buAutoNum type="arabicPeriod"/>
            </a:pPr>
            <a:r>
              <a:rPr lang="en-US" dirty="0"/>
              <a:t>Correlated Sub Query </a:t>
            </a:r>
          </a:p>
        </p:txBody>
      </p:sp>
    </p:spTree>
    <p:extLst>
      <p:ext uri="{BB962C8B-B14F-4D97-AF65-F5344CB8AC3E}">
        <p14:creationId xmlns:p14="http://schemas.microsoft.com/office/powerpoint/2010/main" val="72163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9E66-C754-4A90-9AD0-C3CC0670EAC6}"/>
              </a:ext>
            </a:extLst>
          </p:cNvPr>
          <p:cNvSpPr>
            <a:spLocks noGrp="1"/>
          </p:cNvSpPr>
          <p:nvPr>
            <p:ph type="title"/>
          </p:nvPr>
        </p:nvSpPr>
        <p:spPr/>
        <p:txBody>
          <a:bodyPr/>
          <a:lstStyle/>
          <a:p>
            <a:r>
              <a:rPr lang="en-US" dirty="0"/>
              <a:t>Single Row Sub Query</a:t>
            </a:r>
          </a:p>
        </p:txBody>
      </p:sp>
      <p:sp>
        <p:nvSpPr>
          <p:cNvPr id="3" name="Content Placeholder 2">
            <a:extLst>
              <a:ext uri="{FF2B5EF4-FFF2-40B4-BE49-F238E27FC236}">
                <a16:creationId xmlns:a16="http://schemas.microsoft.com/office/drawing/2014/main" id="{173A6550-F7FF-4D67-960E-EF4079F8BDEA}"/>
              </a:ext>
            </a:extLst>
          </p:cNvPr>
          <p:cNvSpPr>
            <a:spLocks noGrp="1"/>
          </p:cNvSpPr>
          <p:nvPr>
            <p:ph idx="1"/>
          </p:nvPr>
        </p:nvSpPr>
        <p:spPr/>
        <p:txBody>
          <a:bodyPr/>
          <a:lstStyle/>
          <a:p>
            <a:r>
              <a:rPr lang="en-US" dirty="0"/>
              <a:t>It is also known as </a:t>
            </a:r>
            <a:r>
              <a:rPr lang="en-US" dirty="0">
                <a:solidFill>
                  <a:srgbClr val="C00000"/>
                </a:solidFill>
              </a:rPr>
              <a:t>scalar sub query</a:t>
            </a:r>
            <a:r>
              <a:rPr lang="en-US" dirty="0"/>
              <a:t>.</a:t>
            </a:r>
          </a:p>
          <a:p>
            <a:r>
              <a:rPr lang="en-US" dirty="0"/>
              <a:t>Returns </a:t>
            </a:r>
            <a:r>
              <a:rPr lang="en-US" b="1" dirty="0">
                <a:solidFill>
                  <a:srgbClr val="C00000"/>
                </a:solidFill>
              </a:rPr>
              <a:t>0</a:t>
            </a:r>
            <a:r>
              <a:rPr lang="en-US" dirty="0">
                <a:solidFill>
                  <a:srgbClr val="C00000"/>
                </a:solidFill>
              </a:rPr>
              <a:t> </a:t>
            </a:r>
            <a:r>
              <a:rPr lang="en-US" dirty="0"/>
              <a:t>or </a:t>
            </a:r>
            <a:r>
              <a:rPr lang="en-US" b="1" dirty="0">
                <a:solidFill>
                  <a:srgbClr val="C00000"/>
                </a:solidFill>
              </a:rPr>
              <a:t>1</a:t>
            </a:r>
            <a:r>
              <a:rPr lang="en-US" dirty="0"/>
              <a:t> row.</a:t>
            </a:r>
          </a:p>
          <a:p>
            <a:r>
              <a:rPr lang="en-US" dirty="0"/>
              <a:t>Can be used with </a:t>
            </a:r>
            <a:r>
              <a:rPr lang="en-US" b="1" dirty="0">
                <a:solidFill>
                  <a:srgbClr val="C00000"/>
                </a:solidFill>
              </a:rPr>
              <a:t>&lt;,&gt;,&lt;=,&gt;=</a:t>
            </a:r>
            <a:r>
              <a:rPr lang="en-US" dirty="0"/>
              <a:t> etc. operators.</a:t>
            </a:r>
          </a:p>
          <a:p>
            <a:r>
              <a:rPr lang="en-US" b="1" dirty="0"/>
              <a:t>Example: Display name of staff who has maximum salary</a:t>
            </a:r>
            <a:r>
              <a:rPr lang="en-US" dirty="0"/>
              <a:t>.</a:t>
            </a:r>
          </a:p>
          <a:p>
            <a:pPr lvl="1"/>
            <a:r>
              <a:rPr lang="en-US" dirty="0"/>
              <a:t>First we have to find maximum salary from Faculty Table. </a:t>
            </a:r>
          </a:p>
          <a:p>
            <a:pPr lvl="1"/>
            <a:r>
              <a:rPr lang="en-US" dirty="0"/>
              <a:t>Then find out his/her name whose salary is maximum. </a:t>
            </a:r>
          </a:p>
        </p:txBody>
      </p:sp>
      <p:graphicFrame>
        <p:nvGraphicFramePr>
          <p:cNvPr id="6" name="Content Placeholder 4">
            <a:extLst>
              <a:ext uri="{FF2B5EF4-FFF2-40B4-BE49-F238E27FC236}">
                <a16:creationId xmlns:a16="http://schemas.microsoft.com/office/drawing/2014/main" id="{5D64C71E-FB47-4AA2-83A7-E51454F94406}"/>
              </a:ext>
            </a:extLst>
          </p:cNvPr>
          <p:cNvGraphicFramePr>
            <a:graphicFrameLocks/>
          </p:cNvGraphicFramePr>
          <p:nvPr/>
        </p:nvGraphicFramePr>
        <p:xfrm>
          <a:off x="451284" y="4074742"/>
          <a:ext cx="4200103" cy="2314860"/>
        </p:xfrm>
        <a:graphic>
          <a:graphicData uri="http://schemas.openxmlformats.org/drawingml/2006/table">
            <a:tbl>
              <a:tblPr firstRow="1" bandRow="1">
                <a:tableStyleId>{8EC20E35-A176-4012-BC5E-935CFFF8708E}</a:tableStyleId>
              </a:tblPr>
              <a:tblGrid>
                <a:gridCol w="476338">
                  <a:extLst>
                    <a:ext uri="{9D8B030D-6E8A-4147-A177-3AD203B41FA5}">
                      <a16:colId xmlns:a16="http://schemas.microsoft.com/office/drawing/2014/main" val="20003"/>
                    </a:ext>
                  </a:extLst>
                </a:gridCol>
                <a:gridCol w="476338">
                  <a:extLst>
                    <a:ext uri="{9D8B030D-6E8A-4147-A177-3AD203B41FA5}">
                      <a16:colId xmlns:a16="http://schemas.microsoft.com/office/drawing/2014/main" val="1921887249"/>
                    </a:ext>
                  </a:extLst>
                </a:gridCol>
                <a:gridCol w="1131599">
                  <a:extLst>
                    <a:ext uri="{9D8B030D-6E8A-4147-A177-3AD203B41FA5}">
                      <a16:colId xmlns:a16="http://schemas.microsoft.com/office/drawing/2014/main" val="20000"/>
                    </a:ext>
                  </a:extLst>
                </a:gridCol>
                <a:gridCol w="776311">
                  <a:extLst>
                    <a:ext uri="{9D8B030D-6E8A-4147-A177-3AD203B41FA5}">
                      <a16:colId xmlns:a16="http://schemas.microsoft.com/office/drawing/2014/main" val="919354141"/>
                    </a:ext>
                  </a:extLst>
                </a:gridCol>
                <a:gridCol w="512868">
                  <a:extLst>
                    <a:ext uri="{9D8B030D-6E8A-4147-A177-3AD203B41FA5}">
                      <a16:colId xmlns:a16="http://schemas.microsoft.com/office/drawing/2014/main" val="2788009940"/>
                    </a:ext>
                  </a:extLst>
                </a:gridCol>
                <a:gridCol w="826649">
                  <a:extLst>
                    <a:ext uri="{9D8B030D-6E8A-4147-A177-3AD203B41FA5}">
                      <a16:colId xmlns:a16="http://schemas.microsoft.com/office/drawing/2014/main" val="2851416008"/>
                    </a:ext>
                  </a:extLst>
                </a:gridCol>
              </a:tblGrid>
              <a:tr h="326120">
                <a:tc>
                  <a:txBody>
                    <a:bodyPr/>
                    <a:lstStyle/>
                    <a:p>
                      <a:pPr fontAlgn="b"/>
                      <a:r>
                        <a:rPr lang="en-US" sz="1600" b="1" dirty="0">
                          <a:solidFill>
                            <a:schemeClr val="tx1"/>
                          </a:solidFill>
                          <a:effectLst/>
                        </a:rPr>
                        <a:t>FID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HID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FNAME</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SUB</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SAL</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11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PATEL</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CP</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PANDYA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SM</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30000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a:effectLst/>
                        </a:rPr>
                        <a:t>13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DOSHI</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TOM</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15000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a:effectLst/>
                        </a:rPr>
                        <a:t>14</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MAKWANA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BE</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18000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a:effectLst/>
                        </a:rPr>
                        <a:t>15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MEHTA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a:effectLst/>
                        </a:rPr>
                        <a:t>ACP</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r h="326120">
                <a:tc>
                  <a:txBody>
                    <a:bodyPr/>
                    <a:lstStyle/>
                    <a:p>
                      <a:pPr algn="ctr"/>
                      <a:r>
                        <a:rPr lang="en-US" sz="1600" dirty="0">
                          <a:effectLst/>
                        </a:rPr>
                        <a:t>16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SHAH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50000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9668608"/>
                  </a:ext>
                </a:extLst>
              </a:tr>
            </a:tbl>
          </a:graphicData>
        </a:graphic>
      </p:graphicFrame>
      <p:sp>
        <p:nvSpPr>
          <p:cNvPr id="4" name="TextBox 3">
            <a:extLst>
              <a:ext uri="{FF2B5EF4-FFF2-40B4-BE49-F238E27FC236}">
                <a16:creationId xmlns:a16="http://schemas.microsoft.com/office/drawing/2014/main" id="{251A5B28-AAD1-4D4C-B70A-52112EF9F9F9}"/>
              </a:ext>
            </a:extLst>
          </p:cNvPr>
          <p:cNvSpPr txBox="1"/>
          <p:nvPr/>
        </p:nvSpPr>
        <p:spPr>
          <a:xfrm>
            <a:off x="5336745" y="3315428"/>
            <a:ext cx="3314478" cy="369332"/>
          </a:xfrm>
          <a:prstGeom prst="rect">
            <a:avLst/>
          </a:prstGeom>
          <a:noFill/>
        </p:spPr>
        <p:txBody>
          <a:bodyPr wrap="square" rtlCol="0">
            <a:spAutoFit/>
          </a:bodyPr>
          <a:lstStyle/>
          <a:p>
            <a:r>
              <a:rPr lang="en-US" b="1" dirty="0">
                <a:solidFill>
                  <a:srgbClr val="C00000"/>
                </a:solidFill>
              </a:rPr>
              <a:t>SELECT MAX(SAL) FROM Faculty</a:t>
            </a:r>
          </a:p>
        </p:txBody>
      </p:sp>
      <p:sp>
        <p:nvSpPr>
          <p:cNvPr id="5" name="Rectangle 4">
            <a:extLst>
              <a:ext uri="{FF2B5EF4-FFF2-40B4-BE49-F238E27FC236}">
                <a16:creationId xmlns:a16="http://schemas.microsoft.com/office/drawing/2014/main" id="{C8F42DCC-1003-48C3-B7E1-8AECC3B96BBF}"/>
              </a:ext>
            </a:extLst>
          </p:cNvPr>
          <p:cNvSpPr/>
          <p:nvPr/>
        </p:nvSpPr>
        <p:spPr>
          <a:xfrm>
            <a:off x="3830869" y="6080134"/>
            <a:ext cx="817418" cy="318654"/>
          </a:xfrm>
          <a:prstGeom prst="rect">
            <a:avLst/>
          </a:prstGeom>
          <a:noFill/>
          <a:ln w="285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2BEE83F-3CE7-4598-8CEC-C3F35E554DBD}"/>
              </a:ext>
            </a:extLst>
          </p:cNvPr>
          <p:cNvSpPr/>
          <p:nvPr/>
        </p:nvSpPr>
        <p:spPr>
          <a:xfrm>
            <a:off x="1392469" y="6066278"/>
            <a:ext cx="1136073" cy="332509"/>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EC026F5-3429-4DA7-B3ED-1C75DF229EDE}"/>
              </a:ext>
            </a:extLst>
          </p:cNvPr>
          <p:cNvSpPr txBox="1"/>
          <p:nvPr/>
        </p:nvSpPr>
        <p:spPr>
          <a:xfrm>
            <a:off x="5205935" y="3315428"/>
            <a:ext cx="332509" cy="369332"/>
          </a:xfrm>
          <a:prstGeom prst="rect">
            <a:avLst/>
          </a:prstGeom>
          <a:noFill/>
        </p:spPr>
        <p:txBody>
          <a:bodyPr wrap="square" rtlCol="0">
            <a:spAutoFit/>
          </a:bodyPr>
          <a:lstStyle/>
          <a:p>
            <a:r>
              <a:rPr lang="en-US" b="1" dirty="0"/>
              <a:t>(</a:t>
            </a:r>
          </a:p>
        </p:txBody>
      </p:sp>
      <p:sp>
        <p:nvSpPr>
          <p:cNvPr id="9" name="TextBox 8">
            <a:extLst>
              <a:ext uri="{FF2B5EF4-FFF2-40B4-BE49-F238E27FC236}">
                <a16:creationId xmlns:a16="http://schemas.microsoft.com/office/drawing/2014/main" id="{BBDC49B2-6D9B-409B-8D43-B50B90708C83}"/>
              </a:ext>
            </a:extLst>
          </p:cNvPr>
          <p:cNvSpPr txBox="1"/>
          <p:nvPr/>
        </p:nvSpPr>
        <p:spPr>
          <a:xfrm>
            <a:off x="8449524" y="3325934"/>
            <a:ext cx="332509" cy="369332"/>
          </a:xfrm>
          <a:prstGeom prst="rect">
            <a:avLst/>
          </a:prstGeom>
          <a:noFill/>
        </p:spPr>
        <p:txBody>
          <a:bodyPr wrap="square" rtlCol="0">
            <a:spAutoFit/>
          </a:bodyPr>
          <a:lstStyle/>
          <a:p>
            <a:r>
              <a:rPr lang="en-US" b="1" dirty="0"/>
              <a:t>);</a:t>
            </a:r>
          </a:p>
        </p:txBody>
      </p:sp>
      <p:sp>
        <p:nvSpPr>
          <p:cNvPr id="10" name="TextBox 9">
            <a:extLst>
              <a:ext uri="{FF2B5EF4-FFF2-40B4-BE49-F238E27FC236}">
                <a16:creationId xmlns:a16="http://schemas.microsoft.com/office/drawing/2014/main" id="{C9FB0ED1-F239-461E-86C2-66148554FC0D}"/>
              </a:ext>
            </a:extLst>
          </p:cNvPr>
          <p:cNvSpPr txBox="1"/>
          <p:nvPr/>
        </p:nvSpPr>
        <p:spPr>
          <a:xfrm>
            <a:off x="1001765" y="3325934"/>
            <a:ext cx="4370670" cy="369332"/>
          </a:xfrm>
          <a:prstGeom prst="rect">
            <a:avLst/>
          </a:prstGeom>
          <a:noFill/>
        </p:spPr>
        <p:txBody>
          <a:bodyPr wrap="square" rtlCol="0">
            <a:spAutoFit/>
          </a:bodyPr>
          <a:lstStyle/>
          <a:p>
            <a:r>
              <a:rPr lang="en-US" b="1" dirty="0">
                <a:solidFill>
                  <a:srgbClr val="0E47A1"/>
                </a:solidFill>
              </a:rPr>
              <a:t>SELECT FNAME FROM Faculty WHERE SAL =</a:t>
            </a:r>
          </a:p>
        </p:txBody>
      </p:sp>
      <p:graphicFrame>
        <p:nvGraphicFramePr>
          <p:cNvPr id="11" name="Content Placeholder 4">
            <a:extLst>
              <a:ext uri="{FF2B5EF4-FFF2-40B4-BE49-F238E27FC236}">
                <a16:creationId xmlns:a16="http://schemas.microsoft.com/office/drawing/2014/main" id="{087CC295-5F05-4275-ABD6-875594D166E8}"/>
              </a:ext>
            </a:extLst>
          </p:cNvPr>
          <p:cNvGraphicFramePr>
            <a:graphicFrameLocks/>
          </p:cNvGraphicFramePr>
          <p:nvPr/>
        </p:nvGraphicFramePr>
        <p:xfrm>
          <a:off x="5569573" y="4292230"/>
          <a:ext cx="1131599" cy="863082"/>
        </p:xfrm>
        <a:graphic>
          <a:graphicData uri="http://schemas.openxmlformats.org/drawingml/2006/table">
            <a:tbl>
              <a:tblPr firstRow="1" bandRow="1">
                <a:tableStyleId>{8EC20E35-A176-4012-BC5E-935CFFF8708E}</a:tableStyleId>
              </a:tblPr>
              <a:tblGrid>
                <a:gridCol w="1131599">
                  <a:extLst>
                    <a:ext uri="{9D8B030D-6E8A-4147-A177-3AD203B41FA5}">
                      <a16:colId xmlns:a16="http://schemas.microsoft.com/office/drawing/2014/main" val="20000"/>
                    </a:ext>
                  </a:extLst>
                </a:gridCol>
              </a:tblGrid>
              <a:tr h="451735">
                <a:tc>
                  <a:txBody>
                    <a:bodyPr/>
                    <a:lstStyle/>
                    <a:p>
                      <a:pPr fontAlgn="b"/>
                      <a:r>
                        <a:rPr lang="en-US" sz="1600" b="1" dirty="0">
                          <a:solidFill>
                            <a:schemeClr val="tx1"/>
                          </a:solidFill>
                          <a:effectLst/>
                        </a:rPr>
                        <a:t>FNAME</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347">
                <a:tc>
                  <a:txBody>
                    <a:bodyPr/>
                    <a:lstStyle/>
                    <a:p>
                      <a:r>
                        <a:rPr lang="en-US" sz="1600" dirty="0">
                          <a:effectLst/>
                        </a:rPr>
                        <a:t>SHAH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13"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51284" y="3739619"/>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Faculty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4"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569573" y="3926470"/>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7436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animBg="1"/>
      <p:bldP spid="8" grpId="0"/>
      <p:bldP spid="9" grpId="0"/>
      <p:bldP spid="10"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Multiple Row Sub Query </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US" dirty="0"/>
              <a:t>Returns</a:t>
            </a:r>
            <a:r>
              <a:rPr lang="en-US" dirty="0">
                <a:solidFill>
                  <a:srgbClr val="C00000"/>
                </a:solidFill>
              </a:rPr>
              <a:t> one </a:t>
            </a:r>
            <a:r>
              <a:rPr lang="en-US" dirty="0"/>
              <a:t>or</a:t>
            </a:r>
            <a:r>
              <a:rPr lang="en-US" dirty="0">
                <a:solidFill>
                  <a:srgbClr val="C00000"/>
                </a:solidFill>
              </a:rPr>
              <a:t> more rows.</a:t>
            </a:r>
          </a:p>
          <a:p>
            <a:r>
              <a:rPr lang="en-US" dirty="0"/>
              <a:t>Can be used with </a:t>
            </a:r>
            <a:r>
              <a:rPr lang="en-US" b="1" dirty="0">
                <a:solidFill>
                  <a:srgbClr val="0E47A1"/>
                </a:solidFill>
              </a:rPr>
              <a:t>IN, NOT IN, ANY, ALL </a:t>
            </a:r>
            <a:r>
              <a:rPr lang="en-US" dirty="0"/>
              <a:t>etc. operators</a:t>
            </a:r>
          </a:p>
          <a:p>
            <a:r>
              <a:rPr lang="en-US" b="1" dirty="0"/>
              <a:t>Example: Display Roll no, Department id and SPI of those students who are from RAJKOT</a:t>
            </a:r>
            <a:r>
              <a:rPr lang="en-US" dirty="0"/>
              <a:t>.</a:t>
            </a:r>
          </a:p>
          <a:p>
            <a:pPr lvl="1"/>
            <a:r>
              <a:rPr lang="en-US" dirty="0"/>
              <a:t>First we will find out the roll no. of those students who are from RAJKOT</a:t>
            </a:r>
          </a:p>
          <a:p>
            <a:pPr lvl="1"/>
            <a:r>
              <a:rPr lang="en-US" dirty="0"/>
              <a:t>Here we will </a:t>
            </a:r>
            <a:r>
              <a:rPr lang="en-US" b="1" dirty="0">
                <a:solidFill>
                  <a:srgbClr val="0E47A1"/>
                </a:solidFill>
              </a:rPr>
              <a:t>get</a:t>
            </a:r>
            <a:r>
              <a:rPr lang="en-US" dirty="0">
                <a:solidFill>
                  <a:srgbClr val="0E47A1"/>
                </a:solidFill>
              </a:rPr>
              <a:t> </a:t>
            </a:r>
            <a:r>
              <a:rPr lang="en-US" b="1" dirty="0">
                <a:solidFill>
                  <a:srgbClr val="0E47A1"/>
                </a:solidFill>
              </a:rPr>
              <a:t>more than one records/rows </a:t>
            </a:r>
            <a:r>
              <a:rPr lang="en-US" dirty="0"/>
              <a:t>who are from RAJKOT. (That’s why it is known as </a:t>
            </a:r>
            <a:r>
              <a:rPr lang="en-US" b="1" dirty="0">
                <a:solidFill>
                  <a:srgbClr val="0E47A1"/>
                </a:solidFill>
              </a:rPr>
              <a:t>Multiple Row Subquery</a:t>
            </a:r>
            <a:r>
              <a:rPr lang="en-US" dirty="0"/>
              <a:t>)</a:t>
            </a:r>
          </a:p>
          <a:p>
            <a:pPr lvl="1"/>
            <a:r>
              <a:rPr lang="en-US" dirty="0"/>
              <a:t>Next we will compare all those roll no. and find their department id and SPI from Academic Table.  </a:t>
            </a:r>
          </a:p>
          <a:p>
            <a:endParaRPr lang="en-US" dirty="0"/>
          </a:p>
        </p:txBody>
      </p:sp>
      <p:graphicFrame>
        <p:nvGraphicFramePr>
          <p:cNvPr id="4" name="Content Placeholder 4">
            <a:extLst>
              <a:ext uri="{FF2B5EF4-FFF2-40B4-BE49-F238E27FC236}">
                <a16:creationId xmlns:a16="http://schemas.microsoft.com/office/drawing/2014/main" id="{A8C92F75-3E7B-4DE9-846B-3CEDAB478EEE}"/>
              </a:ext>
            </a:extLst>
          </p:cNvPr>
          <p:cNvGraphicFramePr>
            <a:graphicFrameLocks/>
          </p:cNvGraphicFramePr>
          <p:nvPr/>
        </p:nvGraphicFramePr>
        <p:xfrm>
          <a:off x="700139" y="4329833"/>
          <a:ext cx="3308496" cy="1988740"/>
        </p:xfrm>
        <a:graphic>
          <a:graphicData uri="http://schemas.openxmlformats.org/drawingml/2006/table">
            <a:tbl>
              <a:tblPr firstRow="1" bandRow="1">
                <a:tableStyleId>{8EC20E35-A176-4012-BC5E-935CFFF8708E}</a:tableStyleId>
              </a:tblPr>
              <a:tblGrid>
                <a:gridCol w="643783">
                  <a:extLst>
                    <a:ext uri="{9D8B030D-6E8A-4147-A177-3AD203B41FA5}">
                      <a16:colId xmlns:a16="http://schemas.microsoft.com/office/drawing/2014/main" val="20003"/>
                    </a:ext>
                  </a:extLst>
                </a:gridCol>
                <a:gridCol w="517589">
                  <a:extLst>
                    <a:ext uri="{9D8B030D-6E8A-4147-A177-3AD203B41FA5}">
                      <a16:colId xmlns:a16="http://schemas.microsoft.com/office/drawing/2014/main" val="20000"/>
                    </a:ext>
                  </a:extLst>
                </a:gridCol>
                <a:gridCol w="598127">
                  <a:extLst>
                    <a:ext uri="{9D8B030D-6E8A-4147-A177-3AD203B41FA5}">
                      <a16:colId xmlns:a16="http://schemas.microsoft.com/office/drawing/2014/main" val="919354141"/>
                    </a:ext>
                  </a:extLst>
                </a:gridCol>
                <a:gridCol w="552118">
                  <a:extLst>
                    <a:ext uri="{9D8B030D-6E8A-4147-A177-3AD203B41FA5}">
                      <a16:colId xmlns:a16="http://schemas.microsoft.com/office/drawing/2014/main" val="2788009940"/>
                    </a:ext>
                  </a:extLst>
                </a:gridCol>
                <a:gridCol w="996879">
                  <a:extLst>
                    <a:ext uri="{9D8B030D-6E8A-4147-A177-3AD203B41FA5}">
                      <a16:colId xmlns:a16="http://schemas.microsoft.com/office/drawing/2014/main" val="2851416008"/>
                    </a:ext>
                  </a:extLst>
                </a:gridCol>
              </a:tblGrid>
              <a:tr h="326120">
                <a:tc>
                  <a:txBody>
                    <a:bodyPr/>
                    <a:lstStyle/>
                    <a:p>
                      <a:pPr fontAlgn="b"/>
                      <a:r>
                        <a:rPr lang="en-US" sz="1600" b="1" dirty="0">
                          <a:solidFill>
                            <a:schemeClr val="tx1"/>
                          </a:solidFill>
                          <a:effectLst/>
                        </a:rPr>
                        <a:t>RNO</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SPI</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CPI</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BACKLOG</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101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6.8</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102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6.5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a:effectLst/>
                        </a:rPr>
                        <a:t>103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8.5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a:effectLst/>
                        </a:rPr>
                        <a:t>104</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6.1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5.2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a:effectLst/>
                        </a:rPr>
                        <a:t>105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8.1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bl>
          </a:graphicData>
        </a:graphic>
      </p:graphicFrame>
      <p:graphicFrame>
        <p:nvGraphicFramePr>
          <p:cNvPr id="5" name="Content Placeholder 4">
            <a:extLst>
              <a:ext uri="{FF2B5EF4-FFF2-40B4-BE49-F238E27FC236}">
                <a16:creationId xmlns:a16="http://schemas.microsoft.com/office/drawing/2014/main" id="{15B74847-4847-47F0-A976-01A3C881195B}"/>
              </a:ext>
            </a:extLst>
          </p:cNvPr>
          <p:cNvGraphicFramePr>
            <a:graphicFrameLocks/>
          </p:cNvGraphicFramePr>
          <p:nvPr/>
        </p:nvGraphicFramePr>
        <p:xfrm>
          <a:off x="4600485" y="4329833"/>
          <a:ext cx="5684336" cy="2184590"/>
        </p:xfrm>
        <a:graphic>
          <a:graphicData uri="http://schemas.openxmlformats.org/drawingml/2006/table">
            <a:tbl>
              <a:tblPr firstRow="1" bandRow="1">
                <a:tableStyleId>{8EC20E35-A176-4012-BC5E-935CFFF8708E}</a:tableStyleId>
              </a:tblPr>
              <a:tblGrid>
                <a:gridCol w="570187">
                  <a:extLst>
                    <a:ext uri="{9D8B030D-6E8A-4147-A177-3AD203B41FA5}">
                      <a16:colId xmlns:a16="http://schemas.microsoft.com/office/drawing/2014/main" val="20003"/>
                    </a:ext>
                  </a:extLst>
                </a:gridCol>
                <a:gridCol w="1073294">
                  <a:extLst>
                    <a:ext uri="{9D8B030D-6E8A-4147-A177-3AD203B41FA5}">
                      <a16:colId xmlns:a16="http://schemas.microsoft.com/office/drawing/2014/main" val="20000"/>
                    </a:ext>
                  </a:extLst>
                </a:gridCol>
                <a:gridCol w="1640544">
                  <a:extLst>
                    <a:ext uri="{9D8B030D-6E8A-4147-A177-3AD203B41FA5}">
                      <a16:colId xmlns:a16="http://schemas.microsoft.com/office/drawing/2014/main" val="919354141"/>
                    </a:ext>
                  </a:extLst>
                </a:gridCol>
                <a:gridCol w="1139547">
                  <a:extLst>
                    <a:ext uri="{9D8B030D-6E8A-4147-A177-3AD203B41FA5}">
                      <a16:colId xmlns:a16="http://schemas.microsoft.com/office/drawing/2014/main" val="2788009940"/>
                    </a:ext>
                  </a:extLst>
                </a:gridCol>
                <a:gridCol w="1260764">
                  <a:extLst>
                    <a:ext uri="{9D8B030D-6E8A-4147-A177-3AD203B41FA5}">
                      <a16:colId xmlns:a16="http://schemas.microsoft.com/office/drawing/2014/main" val="2851416008"/>
                    </a:ext>
                  </a:extLst>
                </a:gridCol>
              </a:tblGrid>
              <a:tr h="326120">
                <a:tc>
                  <a:txBody>
                    <a:bodyPr/>
                    <a:lstStyle/>
                    <a:p>
                      <a:pPr algn="ctr"/>
                      <a:r>
                        <a:rPr lang="en-US" sz="1600" b="1" dirty="0">
                          <a:solidFill>
                            <a:schemeClr val="tx1"/>
                          </a:solidFill>
                        </a:rPr>
                        <a:t>RNO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SNAME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ADDRESS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CITY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MOBILE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101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MITESH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RING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a:effectLst/>
                        </a:rPr>
                        <a:t>RAJKOT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7845128956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102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KAUSHAL</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SADHU VASVANI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RAJKOT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8989547412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dirty="0">
                          <a:effectLst/>
                        </a:rPr>
                        <a:t>103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ANKUR</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GONDAL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RAJKOT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8866552241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dirty="0">
                          <a:effectLst/>
                        </a:rPr>
                        <a:t>104</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KISHAN</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SANADA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MORBI</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9663322110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dirty="0">
                          <a:effectLst/>
                        </a:rPr>
                        <a:t>105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MUKESH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RAJKOT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JAMNAGAR</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9425814789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bl>
          </a:graphicData>
        </a:graphic>
      </p:graphicFrame>
      <p:sp>
        <p:nvSpPr>
          <p:cNvPr id="6" name="TextBox 5">
            <a:extLst>
              <a:ext uri="{FF2B5EF4-FFF2-40B4-BE49-F238E27FC236}">
                <a16:creationId xmlns:a16="http://schemas.microsoft.com/office/drawing/2014/main" id="{E4776CC8-C253-44D2-8CF2-A9983DDC76AC}"/>
              </a:ext>
            </a:extLst>
          </p:cNvPr>
          <p:cNvSpPr txBox="1"/>
          <p:nvPr/>
        </p:nvSpPr>
        <p:spPr>
          <a:xfrm>
            <a:off x="6057529" y="3478404"/>
            <a:ext cx="5064563" cy="369332"/>
          </a:xfrm>
          <a:prstGeom prst="rect">
            <a:avLst/>
          </a:prstGeom>
          <a:noFill/>
        </p:spPr>
        <p:txBody>
          <a:bodyPr wrap="square" rtlCol="0">
            <a:spAutoFit/>
          </a:bodyPr>
          <a:lstStyle/>
          <a:p>
            <a:r>
              <a:rPr lang="en-US" b="1" dirty="0">
                <a:solidFill>
                  <a:srgbClr val="C00000"/>
                </a:solidFill>
              </a:rPr>
              <a:t>SELECT</a:t>
            </a:r>
            <a:r>
              <a:rPr lang="en-US" b="1" dirty="0"/>
              <a:t> RNO FROM STUDENT WHERE CITY='RAJKOT'</a:t>
            </a:r>
          </a:p>
        </p:txBody>
      </p:sp>
      <p:sp>
        <p:nvSpPr>
          <p:cNvPr id="7" name="TextBox 6">
            <a:extLst>
              <a:ext uri="{FF2B5EF4-FFF2-40B4-BE49-F238E27FC236}">
                <a16:creationId xmlns:a16="http://schemas.microsoft.com/office/drawing/2014/main" id="{7DA7C021-D324-4323-A4C3-4BAC527B8206}"/>
              </a:ext>
            </a:extLst>
          </p:cNvPr>
          <p:cNvSpPr txBox="1"/>
          <p:nvPr/>
        </p:nvSpPr>
        <p:spPr>
          <a:xfrm>
            <a:off x="5944636" y="3464548"/>
            <a:ext cx="332509" cy="369332"/>
          </a:xfrm>
          <a:prstGeom prst="rect">
            <a:avLst/>
          </a:prstGeom>
          <a:noFill/>
        </p:spPr>
        <p:txBody>
          <a:bodyPr wrap="square" rtlCol="0">
            <a:spAutoFit/>
          </a:bodyPr>
          <a:lstStyle/>
          <a:p>
            <a:r>
              <a:rPr lang="en-US" b="1" dirty="0"/>
              <a:t>(</a:t>
            </a:r>
          </a:p>
        </p:txBody>
      </p:sp>
      <p:sp>
        <p:nvSpPr>
          <p:cNvPr id="8" name="TextBox 7">
            <a:extLst>
              <a:ext uri="{FF2B5EF4-FFF2-40B4-BE49-F238E27FC236}">
                <a16:creationId xmlns:a16="http://schemas.microsoft.com/office/drawing/2014/main" id="{117C93C5-4618-4B11-A2CC-8DA44CEAFC92}"/>
              </a:ext>
            </a:extLst>
          </p:cNvPr>
          <p:cNvSpPr txBox="1"/>
          <p:nvPr/>
        </p:nvSpPr>
        <p:spPr>
          <a:xfrm>
            <a:off x="10955832" y="3464548"/>
            <a:ext cx="332509" cy="369332"/>
          </a:xfrm>
          <a:prstGeom prst="rect">
            <a:avLst/>
          </a:prstGeom>
          <a:noFill/>
        </p:spPr>
        <p:txBody>
          <a:bodyPr wrap="square" rtlCol="0">
            <a:spAutoFit/>
          </a:bodyPr>
          <a:lstStyle/>
          <a:p>
            <a:r>
              <a:rPr lang="en-US" b="1" dirty="0"/>
              <a:t>);</a:t>
            </a:r>
          </a:p>
        </p:txBody>
      </p:sp>
      <p:sp>
        <p:nvSpPr>
          <p:cNvPr id="9" name="TextBox 8">
            <a:extLst>
              <a:ext uri="{FF2B5EF4-FFF2-40B4-BE49-F238E27FC236}">
                <a16:creationId xmlns:a16="http://schemas.microsoft.com/office/drawing/2014/main" id="{39EF200D-3B88-471E-A24A-D5C1BC2FD1B0}"/>
              </a:ext>
            </a:extLst>
          </p:cNvPr>
          <p:cNvSpPr txBox="1"/>
          <p:nvPr/>
        </p:nvSpPr>
        <p:spPr>
          <a:xfrm>
            <a:off x="864151" y="3470510"/>
            <a:ext cx="5288296" cy="369332"/>
          </a:xfrm>
          <a:prstGeom prst="rect">
            <a:avLst/>
          </a:prstGeom>
          <a:noFill/>
        </p:spPr>
        <p:txBody>
          <a:bodyPr wrap="square" rtlCol="0">
            <a:spAutoFit/>
          </a:bodyPr>
          <a:lstStyle/>
          <a:p>
            <a:r>
              <a:rPr lang="en-US" b="1" dirty="0">
                <a:solidFill>
                  <a:srgbClr val="0E47A1"/>
                </a:solidFill>
              </a:rPr>
              <a:t>SELECT RNO,DID,SPI FROM ACADEMIC WHERE RNO IN</a:t>
            </a:r>
          </a:p>
        </p:txBody>
      </p:sp>
      <p:sp>
        <p:nvSpPr>
          <p:cNvPr id="10" name="Rectangle 9">
            <a:extLst>
              <a:ext uri="{FF2B5EF4-FFF2-40B4-BE49-F238E27FC236}">
                <a16:creationId xmlns:a16="http://schemas.microsoft.com/office/drawing/2014/main" id="{54DABE1B-3684-4312-8BBE-4A19F7331478}"/>
              </a:ext>
            </a:extLst>
          </p:cNvPr>
          <p:cNvSpPr/>
          <p:nvPr/>
        </p:nvSpPr>
        <p:spPr>
          <a:xfrm>
            <a:off x="4627418" y="4686300"/>
            <a:ext cx="513542" cy="1147005"/>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0A3A3DC-528D-4C5A-A625-26615E8844E6}"/>
              </a:ext>
            </a:extLst>
          </p:cNvPr>
          <p:cNvSpPr/>
          <p:nvPr/>
        </p:nvSpPr>
        <p:spPr>
          <a:xfrm>
            <a:off x="7890600" y="4686301"/>
            <a:ext cx="907036" cy="114700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D2930510-604F-4194-9BA3-31F51B7242C9}"/>
              </a:ext>
            </a:extLst>
          </p:cNvPr>
          <p:cNvSpPr/>
          <p:nvPr/>
        </p:nvSpPr>
        <p:spPr>
          <a:xfrm>
            <a:off x="692727" y="4668983"/>
            <a:ext cx="1765993" cy="1011382"/>
          </a:xfrm>
          <a:prstGeom prst="round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peech Bubble: Rectangle with Corners Rounded 12">
            <a:extLst>
              <a:ext uri="{FF2B5EF4-FFF2-40B4-BE49-F238E27FC236}">
                <a16:creationId xmlns:a16="http://schemas.microsoft.com/office/drawing/2014/main" id="{57DB1596-8676-4019-93CF-4D7F66EBF248}"/>
              </a:ext>
            </a:extLst>
          </p:cNvPr>
          <p:cNvSpPr/>
          <p:nvPr/>
        </p:nvSpPr>
        <p:spPr>
          <a:xfrm>
            <a:off x="5891269" y="3889732"/>
            <a:ext cx="5064563" cy="381735"/>
          </a:xfrm>
          <a:prstGeom prst="wedgeRoundRectCallout">
            <a:avLst>
              <a:gd name="adj1" fmla="val -48685"/>
              <a:gd name="adj2" fmla="val -81047"/>
              <a:gd name="adj3" fmla="val 16667"/>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rgbClr val="0E47A1"/>
                </a:solidFill>
              </a:rPr>
              <a:t>To compare more than one value we can not use =</a:t>
            </a:r>
          </a:p>
        </p:txBody>
      </p:sp>
      <p:graphicFrame>
        <p:nvGraphicFramePr>
          <p:cNvPr id="14" name="Content Placeholder 4">
            <a:extLst>
              <a:ext uri="{FF2B5EF4-FFF2-40B4-BE49-F238E27FC236}">
                <a16:creationId xmlns:a16="http://schemas.microsoft.com/office/drawing/2014/main" id="{2EB22A11-6FF4-4216-B8DF-148BE200B8FC}"/>
              </a:ext>
            </a:extLst>
          </p:cNvPr>
          <p:cNvGraphicFramePr>
            <a:graphicFrameLocks/>
          </p:cNvGraphicFramePr>
          <p:nvPr/>
        </p:nvGraphicFramePr>
        <p:xfrm>
          <a:off x="10603417" y="4420332"/>
          <a:ext cx="1494982" cy="1685776"/>
        </p:xfrm>
        <a:graphic>
          <a:graphicData uri="http://schemas.openxmlformats.org/drawingml/2006/table">
            <a:tbl>
              <a:tblPr firstRow="1" bandRow="1">
                <a:tableStyleId>{8EC20E35-A176-4012-BC5E-935CFFF8708E}</a:tableStyleId>
              </a:tblPr>
              <a:tblGrid>
                <a:gridCol w="548936">
                  <a:extLst>
                    <a:ext uri="{9D8B030D-6E8A-4147-A177-3AD203B41FA5}">
                      <a16:colId xmlns:a16="http://schemas.microsoft.com/office/drawing/2014/main" val="20000"/>
                    </a:ext>
                  </a:extLst>
                </a:gridCol>
                <a:gridCol w="457200">
                  <a:extLst>
                    <a:ext uri="{9D8B030D-6E8A-4147-A177-3AD203B41FA5}">
                      <a16:colId xmlns:a16="http://schemas.microsoft.com/office/drawing/2014/main" val="3080948433"/>
                    </a:ext>
                  </a:extLst>
                </a:gridCol>
                <a:gridCol w="488846">
                  <a:extLst>
                    <a:ext uri="{9D8B030D-6E8A-4147-A177-3AD203B41FA5}">
                      <a16:colId xmlns:a16="http://schemas.microsoft.com/office/drawing/2014/main" val="3832239849"/>
                    </a:ext>
                  </a:extLst>
                </a:gridCol>
              </a:tblGrid>
              <a:tr h="451735">
                <a:tc>
                  <a:txBody>
                    <a:bodyPr/>
                    <a:lstStyle/>
                    <a:p>
                      <a:pPr fontAlgn="b"/>
                      <a:r>
                        <a:rPr lang="en-US" sz="1600" b="1" dirty="0">
                          <a:solidFill>
                            <a:schemeClr val="tx1"/>
                          </a:solidFill>
                          <a:effectLst/>
                        </a:rPr>
                        <a:t>RNO</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SPI</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347">
                <a:tc>
                  <a:txBody>
                    <a:bodyPr/>
                    <a:lstStyle/>
                    <a:p>
                      <a:pPr algn="ctr"/>
                      <a:r>
                        <a:rPr lang="en-US" sz="1600" dirty="0">
                          <a:effectLst/>
                        </a:rPr>
                        <a:t>101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6.8</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347">
                <a:tc>
                  <a:txBody>
                    <a:bodyPr/>
                    <a:lstStyle/>
                    <a:p>
                      <a:pPr algn="ctr"/>
                      <a:r>
                        <a:rPr lang="en-US" sz="1600" dirty="0">
                          <a:effectLst/>
                        </a:rPr>
                        <a:t>102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34970631"/>
                  </a:ext>
                </a:extLst>
              </a:tr>
              <a:tr h="411347">
                <a:tc>
                  <a:txBody>
                    <a:bodyPr/>
                    <a:lstStyle/>
                    <a:p>
                      <a:pPr algn="ctr"/>
                      <a:r>
                        <a:rPr lang="en-US" sz="1600" dirty="0">
                          <a:effectLst/>
                        </a:rPr>
                        <a:t>103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8.5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41585000"/>
                  </a:ext>
                </a:extLst>
              </a:tr>
            </a:tbl>
          </a:graphicData>
        </a:graphic>
      </p:graphicFrame>
      <p:graphicFrame>
        <p:nvGraphicFramePr>
          <p:cNvPr id="1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00139" y="3957107"/>
          <a:ext cx="1198880" cy="365760"/>
        </p:xfrm>
        <a:graphic>
          <a:graphicData uri="http://schemas.openxmlformats.org/drawingml/2006/table">
            <a:tbl>
              <a:tblPr firstRow="1" bandRow="1">
                <a:tableStyleId>{8EC20E35-A176-4012-BC5E-935CFFF8708E}</a:tableStyleId>
              </a:tblPr>
              <a:tblGrid>
                <a:gridCol w="11988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Academic</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11174156" y="4052908"/>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600485" y="3957107"/>
          <a:ext cx="957035" cy="365760"/>
        </p:xfrm>
        <a:graphic>
          <a:graphicData uri="http://schemas.openxmlformats.org/drawingml/2006/table">
            <a:tbl>
              <a:tblPr firstRow="1" bandRow="1">
                <a:tableStyleId>{8EC20E35-A176-4012-BC5E-935CFFF8708E}</a:tableStyleId>
              </a:tblPr>
              <a:tblGrid>
                <a:gridCol w="957035">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42885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par>
                                <p:cTn id="67" presetID="10" presetClass="exit" presetSubtype="0" fill="hold" grpId="1" nodeType="withEffect">
                                  <p:stCondLst>
                                    <p:cond delay="0"/>
                                  </p:stCondLst>
                                  <p:childTnLst>
                                    <p:animEffect transition="out" filter="fade">
                                      <p:cBhvr>
                                        <p:cTn id="68" dur="500"/>
                                        <p:tgtEl>
                                          <p:spTgt spid="13"/>
                                        </p:tgtEl>
                                      </p:cBhvr>
                                    </p:animEffect>
                                    <p:set>
                                      <p:cBhvr>
                                        <p:cTn id="69"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animBg="1"/>
      <p:bldP spid="11" grpId="0" animBg="1"/>
      <p:bldP spid="12" grpId="0" animBg="1"/>
      <p:bldP spid="13" grpId="0" animBg="1"/>
      <p:bldP spid="13" grpId="1"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Correlated Sub Query </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US" dirty="0"/>
              <a:t>It is also known as </a:t>
            </a:r>
            <a:r>
              <a:rPr lang="en-US" dirty="0">
                <a:solidFill>
                  <a:srgbClr val="C00000"/>
                </a:solidFill>
              </a:rPr>
              <a:t>synchronized query</a:t>
            </a:r>
            <a:r>
              <a:rPr lang="en-US" dirty="0"/>
              <a:t>.</a:t>
            </a:r>
          </a:p>
          <a:p>
            <a:r>
              <a:rPr lang="en-US" dirty="0"/>
              <a:t>It is a subquery that uses a values from outer query.</a:t>
            </a:r>
          </a:p>
          <a:p>
            <a:r>
              <a:rPr lang="en-US" dirty="0"/>
              <a:t>Each subquery is executed for </a:t>
            </a:r>
            <a:r>
              <a:rPr lang="en-US" b="1" dirty="0">
                <a:solidFill>
                  <a:srgbClr val="C00000"/>
                </a:solidFill>
              </a:rPr>
              <a:t>every row of the outer query</a:t>
            </a:r>
            <a:r>
              <a:rPr lang="en-US" dirty="0"/>
              <a:t>. </a:t>
            </a:r>
          </a:p>
          <a:p>
            <a:r>
              <a:rPr lang="en-US" dirty="0"/>
              <a:t>Here, inner query executes more than one time where as in other subqueries inner query executes only one time. </a:t>
            </a:r>
          </a:p>
        </p:txBody>
      </p:sp>
    </p:spTree>
    <p:extLst>
      <p:ext uri="{BB962C8B-B14F-4D97-AF65-F5344CB8AC3E}">
        <p14:creationId xmlns:p14="http://schemas.microsoft.com/office/powerpoint/2010/main" val="424950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7F-1A6D-3EB4-6A6F-FE52A2D2CE60}"/>
              </a:ext>
            </a:extLst>
          </p:cNvPr>
          <p:cNvSpPr>
            <a:spLocks noGrp="1"/>
          </p:cNvSpPr>
          <p:nvPr>
            <p:ph type="title"/>
          </p:nvPr>
        </p:nvSpPr>
        <p:spPr/>
        <p:txBody>
          <a:bodyPr/>
          <a:lstStyle/>
          <a:p>
            <a:r>
              <a:rPr lang="en-US" dirty="0"/>
              <a:t>Correlated Sub Query</a:t>
            </a:r>
            <a:endParaRPr lang="en-IN" dirty="0"/>
          </a:p>
        </p:txBody>
      </p:sp>
      <p:sp>
        <p:nvSpPr>
          <p:cNvPr id="3" name="Content Placeholder 2">
            <a:extLst>
              <a:ext uri="{FF2B5EF4-FFF2-40B4-BE49-F238E27FC236}">
                <a16:creationId xmlns:a16="http://schemas.microsoft.com/office/drawing/2014/main" id="{0A2BDA36-8510-0867-A3B5-A9DDCF34454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B188B0E-EA64-6026-91C8-B3F313550651}"/>
              </a:ext>
            </a:extLst>
          </p:cNvPr>
          <p:cNvPicPr>
            <a:picLocks noChangeAspect="1"/>
          </p:cNvPicPr>
          <p:nvPr/>
        </p:nvPicPr>
        <p:blipFill>
          <a:blip r:embed="rId2"/>
          <a:stretch>
            <a:fillRect/>
          </a:stretch>
        </p:blipFill>
        <p:spPr>
          <a:xfrm>
            <a:off x="1851656" y="1744610"/>
            <a:ext cx="1657581" cy="2095792"/>
          </a:xfrm>
          <a:prstGeom prst="rect">
            <a:avLst/>
          </a:prstGeom>
        </p:spPr>
      </p:pic>
      <p:pic>
        <p:nvPicPr>
          <p:cNvPr id="9" name="Picture 8">
            <a:extLst>
              <a:ext uri="{FF2B5EF4-FFF2-40B4-BE49-F238E27FC236}">
                <a16:creationId xmlns:a16="http://schemas.microsoft.com/office/drawing/2014/main" id="{36CAAAD5-3F3D-7B54-83A6-0A6A67F2D1A0}"/>
              </a:ext>
            </a:extLst>
          </p:cNvPr>
          <p:cNvPicPr>
            <a:picLocks noChangeAspect="1"/>
          </p:cNvPicPr>
          <p:nvPr/>
        </p:nvPicPr>
        <p:blipFill>
          <a:blip r:embed="rId3"/>
          <a:stretch>
            <a:fillRect/>
          </a:stretch>
        </p:blipFill>
        <p:spPr>
          <a:xfrm>
            <a:off x="4506183" y="1744610"/>
            <a:ext cx="3753374" cy="1457528"/>
          </a:xfrm>
          <a:prstGeom prst="rect">
            <a:avLst/>
          </a:prstGeom>
        </p:spPr>
      </p:pic>
      <p:sp>
        <p:nvSpPr>
          <p:cNvPr id="10" name="Rectangle: Rounded Corners 9">
            <a:extLst>
              <a:ext uri="{FF2B5EF4-FFF2-40B4-BE49-F238E27FC236}">
                <a16:creationId xmlns:a16="http://schemas.microsoft.com/office/drawing/2014/main" id="{BEE179BD-4EA3-CDAE-B41D-F30B3FB5EF36}"/>
              </a:ext>
            </a:extLst>
          </p:cNvPr>
          <p:cNvSpPr/>
          <p:nvPr/>
        </p:nvSpPr>
        <p:spPr>
          <a:xfrm>
            <a:off x="1869586" y="2123704"/>
            <a:ext cx="692220" cy="311865"/>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792B8F8-4747-2651-DDAB-0EF59D324F30}"/>
              </a:ext>
            </a:extLst>
          </p:cNvPr>
          <p:cNvCxnSpPr/>
          <p:nvPr/>
        </p:nvCxnSpPr>
        <p:spPr>
          <a:xfrm>
            <a:off x="2590800" y="2277036"/>
            <a:ext cx="1915383" cy="0"/>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C536B2-910C-288E-42BF-9D6BEC0CC146}"/>
              </a:ext>
            </a:extLst>
          </p:cNvPr>
          <p:cNvCxnSpPr/>
          <p:nvPr/>
        </p:nvCxnSpPr>
        <p:spPr>
          <a:xfrm>
            <a:off x="2543876" y="2266440"/>
            <a:ext cx="1962307" cy="369184"/>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3C51D95-3C63-30A2-301A-189612ED5FBA}"/>
              </a:ext>
            </a:extLst>
          </p:cNvPr>
          <p:cNvCxnSpPr/>
          <p:nvPr/>
        </p:nvCxnSpPr>
        <p:spPr>
          <a:xfrm>
            <a:off x="2551546" y="2266440"/>
            <a:ext cx="1954637" cy="748792"/>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3DAC254-E572-470F-4A00-B4D4B7BFE2C6}"/>
              </a:ext>
            </a:extLst>
          </p:cNvPr>
          <p:cNvSpPr txBox="1"/>
          <p:nvPr/>
        </p:nvSpPr>
        <p:spPr>
          <a:xfrm>
            <a:off x="4788928" y="2123704"/>
            <a:ext cx="440785" cy="400110"/>
          </a:xfrm>
          <a:prstGeom prst="rect">
            <a:avLst/>
          </a:prstGeom>
          <a:noFill/>
        </p:spPr>
        <p:txBody>
          <a:bodyPr wrap="square" rtlCol="0">
            <a:spAutoFit/>
          </a:bodyPr>
          <a:lstStyle/>
          <a:p>
            <a:pPr algn="ctr"/>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2000" b="1" dirty="0">
              <a:solidFill>
                <a:srgbClr val="00B050"/>
              </a:solidFill>
            </a:endParaRPr>
          </a:p>
        </p:txBody>
      </p:sp>
      <p:sp>
        <p:nvSpPr>
          <p:cNvPr id="18" name="TextBox 17">
            <a:extLst>
              <a:ext uri="{FF2B5EF4-FFF2-40B4-BE49-F238E27FC236}">
                <a16:creationId xmlns:a16="http://schemas.microsoft.com/office/drawing/2014/main" id="{FD90B117-390A-C2AC-F98B-5640C6904DC1}"/>
              </a:ext>
            </a:extLst>
          </p:cNvPr>
          <p:cNvSpPr txBox="1"/>
          <p:nvPr/>
        </p:nvSpPr>
        <p:spPr>
          <a:xfrm>
            <a:off x="4765288" y="2435569"/>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9" name="TextBox 18">
            <a:extLst>
              <a:ext uri="{FF2B5EF4-FFF2-40B4-BE49-F238E27FC236}">
                <a16:creationId xmlns:a16="http://schemas.microsoft.com/office/drawing/2014/main" id="{DC99775D-3C41-3567-C993-740AE3C44296}"/>
              </a:ext>
            </a:extLst>
          </p:cNvPr>
          <p:cNvSpPr txBox="1"/>
          <p:nvPr/>
        </p:nvSpPr>
        <p:spPr>
          <a:xfrm>
            <a:off x="4759613" y="2785203"/>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graphicFrame>
        <p:nvGraphicFramePr>
          <p:cNvPr id="20" name="Content Placeholder 4">
            <a:extLst>
              <a:ext uri="{FF2B5EF4-FFF2-40B4-BE49-F238E27FC236}">
                <a16:creationId xmlns:a16="http://schemas.microsoft.com/office/drawing/2014/main" id="{73384823-6FD5-45BA-111C-6373553E98F7}"/>
              </a:ext>
            </a:extLst>
          </p:cNvPr>
          <p:cNvGraphicFramePr>
            <a:graphicFrameLocks/>
          </p:cNvGraphicFramePr>
          <p:nvPr/>
        </p:nvGraphicFramePr>
        <p:xfrm>
          <a:off x="1869586" y="1385517"/>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EMP</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A72A6B02-AEFD-E321-9E00-E8670F0798C3}"/>
              </a:ext>
            </a:extLst>
          </p:cNvPr>
          <p:cNvGraphicFramePr>
            <a:graphicFrameLocks/>
          </p:cNvGraphicFramePr>
          <p:nvPr/>
        </p:nvGraphicFramePr>
        <p:xfrm>
          <a:off x="4506183" y="1380384"/>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22" name="Rectangle 21">
            <a:extLst>
              <a:ext uri="{FF2B5EF4-FFF2-40B4-BE49-F238E27FC236}">
                <a16:creationId xmlns:a16="http://schemas.microsoft.com/office/drawing/2014/main" id="{B91A337B-54B7-FFA7-1A72-54CD4521795E}"/>
              </a:ext>
            </a:extLst>
          </p:cNvPr>
          <p:cNvSpPr/>
          <p:nvPr/>
        </p:nvSpPr>
        <p:spPr>
          <a:xfrm>
            <a:off x="717629" y="4977114"/>
            <a:ext cx="6204031" cy="1238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a:t>
            </a:r>
          </a:p>
          <a:p>
            <a:r>
              <a:rPr lang="en-IN" sz="1800" dirty="0">
                <a:solidFill>
                  <a:srgbClr val="0000FF"/>
                </a:solidFill>
                <a:latin typeface="Consolas" panose="020B0609020204030204" pitchFamily="49" charset="0"/>
              </a:rPr>
              <a:t>WHERE</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EXISTS</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	(</a:t>
            </a:r>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EID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DEPT</a:t>
            </a:r>
          </a:p>
          <a:p>
            <a:r>
              <a:rPr lang="en-IN" sz="1800" dirty="0">
                <a:solidFill>
                  <a:srgbClr val="0000FF"/>
                </a:solidFill>
                <a:latin typeface="Consolas" panose="020B0609020204030204" pitchFamily="49" charset="0"/>
              </a:rPr>
              <a:t>	WHERE</a:t>
            </a:r>
            <a:endParaRPr lang="en-IN" sz="1800" dirty="0">
              <a:solidFill>
                <a:srgbClr val="000000"/>
              </a:solidFill>
              <a:latin typeface="Consolas" panose="020B0609020204030204" pitchFamily="49" charset="0"/>
            </a:endParaRPr>
          </a:p>
          <a:p>
            <a:r>
              <a:rPr lang="en-IN" sz="1800" dirty="0">
                <a:solidFill>
                  <a:srgbClr val="000000"/>
                </a:solidFill>
                <a:latin typeface="Consolas" panose="020B0609020204030204" pitchFamily="49" charset="0"/>
              </a:rPr>
              <a:t>	EMP</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DEPT</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endParaRPr lang="en-IN" dirty="0"/>
          </a:p>
        </p:txBody>
      </p:sp>
      <p:graphicFrame>
        <p:nvGraphicFramePr>
          <p:cNvPr id="23" name="Content Placeholder 4">
            <a:extLst>
              <a:ext uri="{FF2B5EF4-FFF2-40B4-BE49-F238E27FC236}">
                <a16:creationId xmlns:a16="http://schemas.microsoft.com/office/drawing/2014/main" id="{F88D4C28-3101-6052-A1B5-B66A2B2AD786}"/>
              </a:ext>
            </a:extLst>
          </p:cNvPr>
          <p:cNvGraphicFramePr>
            <a:graphicFrameLocks/>
          </p:cNvGraphicFramePr>
          <p:nvPr/>
        </p:nvGraphicFramePr>
        <p:xfrm>
          <a:off x="806645" y="4390605"/>
          <a:ext cx="2457416" cy="365760"/>
        </p:xfrm>
        <a:graphic>
          <a:graphicData uri="http://schemas.openxmlformats.org/drawingml/2006/table">
            <a:tbl>
              <a:tblPr firstRow="1" bandRow="1">
                <a:tableStyleId>{8EC20E35-A176-4012-BC5E-935CFFF8708E}</a:tableStyleId>
              </a:tblPr>
              <a:tblGrid>
                <a:gridCol w="245741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CORRELATE SUBQUERY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25" name="Straight Connector 24">
            <a:extLst>
              <a:ext uri="{FF2B5EF4-FFF2-40B4-BE49-F238E27FC236}">
                <a16:creationId xmlns:a16="http://schemas.microsoft.com/office/drawing/2014/main" id="{57670FFE-CCEA-D526-1B46-1A45CE611625}"/>
              </a:ext>
            </a:extLst>
          </p:cNvPr>
          <p:cNvCxnSpPr/>
          <p:nvPr/>
        </p:nvCxnSpPr>
        <p:spPr>
          <a:xfrm>
            <a:off x="243068" y="4062714"/>
            <a:ext cx="1169043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890D2BEA-ADDF-8A71-CC76-BD89D296C71F}"/>
              </a:ext>
            </a:extLst>
          </p:cNvPr>
          <p:cNvSpPr/>
          <p:nvPr/>
        </p:nvSpPr>
        <p:spPr>
          <a:xfrm>
            <a:off x="1869586" y="1751277"/>
            <a:ext cx="1639651" cy="21591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92F22159-0064-1FDD-E8BB-0056965B6C3D}"/>
              </a:ext>
            </a:extLst>
          </p:cNvPr>
          <p:cNvSpPr/>
          <p:nvPr/>
        </p:nvSpPr>
        <p:spPr>
          <a:xfrm>
            <a:off x="4506183" y="1751277"/>
            <a:ext cx="3753374" cy="139703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0" name="Content Placeholder 4">
            <a:extLst>
              <a:ext uri="{FF2B5EF4-FFF2-40B4-BE49-F238E27FC236}">
                <a16:creationId xmlns:a16="http://schemas.microsoft.com/office/drawing/2014/main" id="{DF7F4913-ED59-7045-3AB3-4859F4D81F76}"/>
              </a:ext>
            </a:extLst>
          </p:cNvPr>
          <p:cNvGraphicFramePr>
            <a:graphicFrameLocks/>
          </p:cNvGraphicFramePr>
          <p:nvPr/>
        </p:nvGraphicFramePr>
        <p:xfrm>
          <a:off x="6679318" y="4353838"/>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32" name="Picture 31">
            <a:extLst>
              <a:ext uri="{FF2B5EF4-FFF2-40B4-BE49-F238E27FC236}">
                <a16:creationId xmlns:a16="http://schemas.microsoft.com/office/drawing/2014/main" id="{4B99EB6A-2058-63E8-E377-701BC083236C}"/>
              </a:ext>
            </a:extLst>
          </p:cNvPr>
          <p:cNvPicPr>
            <a:picLocks noChangeAspect="1"/>
          </p:cNvPicPr>
          <p:nvPr/>
        </p:nvPicPr>
        <p:blipFill>
          <a:blip r:embed="rId4"/>
          <a:stretch>
            <a:fillRect/>
          </a:stretch>
        </p:blipFill>
        <p:spPr>
          <a:xfrm>
            <a:off x="6681054" y="4696448"/>
            <a:ext cx="1638529" cy="724001"/>
          </a:xfrm>
          <a:prstGeom prst="rect">
            <a:avLst/>
          </a:prstGeom>
        </p:spPr>
      </p:pic>
      <p:graphicFrame>
        <p:nvGraphicFramePr>
          <p:cNvPr id="34" name="Content Placeholder 4">
            <a:extLst>
              <a:ext uri="{FF2B5EF4-FFF2-40B4-BE49-F238E27FC236}">
                <a16:creationId xmlns:a16="http://schemas.microsoft.com/office/drawing/2014/main" id="{E92618B2-D027-F3BD-C3B1-0537445E612A}"/>
              </a:ext>
            </a:extLst>
          </p:cNvPr>
          <p:cNvGraphicFramePr>
            <a:graphicFrameLocks/>
          </p:cNvGraphicFramePr>
          <p:nvPr/>
        </p:nvGraphicFramePr>
        <p:xfrm>
          <a:off x="257210" y="931950"/>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TABLES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57D3827E-F7B9-54BE-7479-5D049E2ACCBB}"/>
              </a:ext>
            </a:extLst>
          </p:cNvPr>
          <p:cNvSpPr txBox="1"/>
          <p:nvPr/>
        </p:nvSpPr>
        <p:spPr>
          <a:xfrm>
            <a:off x="4623611" y="5439893"/>
            <a:ext cx="7271892" cy="646331"/>
          </a:xfrm>
          <a:prstGeom prst="rect">
            <a:avLst/>
          </a:prstGeom>
          <a:noFill/>
        </p:spPr>
        <p:txBody>
          <a:bodyPr wrap="square">
            <a:spAutoFit/>
          </a:bodyPr>
          <a:lstStyle/>
          <a:p>
            <a:r>
              <a:rPr lang="en-US" sz="1200" dirty="0">
                <a:solidFill>
                  <a:srgbClr val="FF0000"/>
                </a:solidFill>
                <a:latin typeface="Consolas" panose="020B0609020204030204" pitchFamily="49" charset="0"/>
              </a:rPr>
              <a:t>THE EXISTS OPERATOR IS USED TO TEST FOR THE EXISTENCE OF ANY RECORD IN A SUBQUERY.</a:t>
            </a:r>
          </a:p>
          <a:p>
            <a:endParaRPr lang="en-IN" sz="1200" dirty="0">
              <a:solidFill>
                <a:srgbClr val="FF0000"/>
              </a:solidFill>
              <a:latin typeface="Consolas" panose="020B0609020204030204" pitchFamily="49" charset="0"/>
            </a:endParaRPr>
          </a:p>
          <a:p>
            <a:r>
              <a:rPr lang="en-US" sz="1200" dirty="0">
                <a:solidFill>
                  <a:srgbClr val="FF0000"/>
                </a:solidFill>
                <a:latin typeface="Consolas" panose="020B0609020204030204" pitchFamily="49" charset="0"/>
              </a:rPr>
              <a:t>THE EXISTS OPERATOR RETURNS TRUE IF THE SUBQUERY RETURNS ONE OR MORE RECORDS.</a:t>
            </a:r>
            <a:endParaRPr lang="en-IN" sz="1200" dirty="0">
              <a:solidFill>
                <a:srgbClr val="FF0000"/>
              </a:solidFill>
            </a:endParaRPr>
          </a:p>
        </p:txBody>
      </p:sp>
    </p:spTree>
    <p:extLst>
      <p:ext uri="{BB962C8B-B14F-4D97-AF65-F5344CB8AC3E}">
        <p14:creationId xmlns:p14="http://schemas.microsoft.com/office/powerpoint/2010/main" val="179066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p:bldP spid="18" grpId="0"/>
      <p:bldP spid="19"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7F-1A6D-3EB4-6A6F-FE52A2D2CE60}"/>
              </a:ext>
            </a:extLst>
          </p:cNvPr>
          <p:cNvSpPr>
            <a:spLocks noGrp="1"/>
          </p:cNvSpPr>
          <p:nvPr>
            <p:ph type="title"/>
          </p:nvPr>
        </p:nvSpPr>
        <p:spPr/>
        <p:txBody>
          <a:bodyPr/>
          <a:lstStyle/>
          <a:p>
            <a:r>
              <a:rPr lang="en-US" dirty="0"/>
              <a:t>Correlated Sub Query</a:t>
            </a:r>
            <a:endParaRPr lang="en-IN" dirty="0"/>
          </a:p>
        </p:txBody>
      </p:sp>
      <p:sp>
        <p:nvSpPr>
          <p:cNvPr id="3" name="Content Placeholder 2">
            <a:extLst>
              <a:ext uri="{FF2B5EF4-FFF2-40B4-BE49-F238E27FC236}">
                <a16:creationId xmlns:a16="http://schemas.microsoft.com/office/drawing/2014/main" id="{0A2BDA36-8510-0867-A3B5-A9DDCF34454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B188B0E-EA64-6026-91C8-B3F313550651}"/>
              </a:ext>
            </a:extLst>
          </p:cNvPr>
          <p:cNvPicPr>
            <a:picLocks noChangeAspect="1"/>
          </p:cNvPicPr>
          <p:nvPr/>
        </p:nvPicPr>
        <p:blipFill>
          <a:blip r:embed="rId2"/>
          <a:stretch>
            <a:fillRect/>
          </a:stretch>
        </p:blipFill>
        <p:spPr>
          <a:xfrm>
            <a:off x="1851656" y="1744610"/>
            <a:ext cx="1657581" cy="2095792"/>
          </a:xfrm>
          <a:prstGeom prst="rect">
            <a:avLst/>
          </a:prstGeom>
        </p:spPr>
      </p:pic>
      <p:pic>
        <p:nvPicPr>
          <p:cNvPr id="9" name="Picture 8">
            <a:extLst>
              <a:ext uri="{FF2B5EF4-FFF2-40B4-BE49-F238E27FC236}">
                <a16:creationId xmlns:a16="http://schemas.microsoft.com/office/drawing/2014/main" id="{36CAAAD5-3F3D-7B54-83A6-0A6A67F2D1A0}"/>
              </a:ext>
            </a:extLst>
          </p:cNvPr>
          <p:cNvPicPr>
            <a:picLocks noChangeAspect="1"/>
          </p:cNvPicPr>
          <p:nvPr/>
        </p:nvPicPr>
        <p:blipFill>
          <a:blip r:embed="rId3"/>
          <a:stretch>
            <a:fillRect/>
          </a:stretch>
        </p:blipFill>
        <p:spPr>
          <a:xfrm>
            <a:off x="4506183" y="1744610"/>
            <a:ext cx="3753374" cy="1457528"/>
          </a:xfrm>
          <a:prstGeom prst="rect">
            <a:avLst/>
          </a:prstGeom>
        </p:spPr>
      </p:pic>
      <p:sp>
        <p:nvSpPr>
          <p:cNvPr id="10" name="Rectangle: Rounded Corners 9">
            <a:extLst>
              <a:ext uri="{FF2B5EF4-FFF2-40B4-BE49-F238E27FC236}">
                <a16:creationId xmlns:a16="http://schemas.microsoft.com/office/drawing/2014/main" id="{BEE179BD-4EA3-CDAE-B41D-F30B3FB5EF36}"/>
              </a:ext>
            </a:extLst>
          </p:cNvPr>
          <p:cNvSpPr/>
          <p:nvPr/>
        </p:nvSpPr>
        <p:spPr>
          <a:xfrm>
            <a:off x="1839836" y="2492887"/>
            <a:ext cx="692220" cy="285473"/>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792B8F8-4747-2651-DDAB-0EF59D324F30}"/>
              </a:ext>
            </a:extLst>
          </p:cNvPr>
          <p:cNvCxnSpPr>
            <a:cxnSpLocks/>
          </p:cNvCxnSpPr>
          <p:nvPr/>
        </p:nvCxnSpPr>
        <p:spPr>
          <a:xfrm flipV="1">
            <a:off x="2543876" y="2277036"/>
            <a:ext cx="1962307" cy="246778"/>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C536B2-910C-288E-42BF-9D6BEC0CC146}"/>
              </a:ext>
            </a:extLst>
          </p:cNvPr>
          <p:cNvCxnSpPr>
            <a:cxnSpLocks/>
          </p:cNvCxnSpPr>
          <p:nvPr/>
        </p:nvCxnSpPr>
        <p:spPr>
          <a:xfrm>
            <a:off x="2532056" y="2523814"/>
            <a:ext cx="1974127" cy="111810"/>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3C51D95-3C63-30A2-301A-189612ED5FBA}"/>
              </a:ext>
            </a:extLst>
          </p:cNvPr>
          <p:cNvCxnSpPr>
            <a:cxnSpLocks/>
          </p:cNvCxnSpPr>
          <p:nvPr/>
        </p:nvCxnSpPr>
        <p:spPr>
          <a:xfrm>
            <a:off x="2555696" y="2523814"/>
            <a:ext cx="1950487" cy="491418"/>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3DAC254-E572-470F-4A00-B4D4B7BFE2C6}"/>
              </a:ext>
            </a:extLst>
          </p:cNvPr>
          <p:cNvSpPr txBox="1"/>
          <p:nvPr/>
        </p:nvSpPr>
        <p:spPr>
          <a:xfrm>
            <a:off x="4759613" y="2473374"/>
            <a:ext cx="440785" cy="400110"/>
          </a:xfrm>
          <a:prstGeom prst="rect">
            <a:avLst/>
          </a:prstGeom>
          <a:noFill/>
        </p:spPr>
        <p:txBody>
          <a:bodyPr wrap="square" rtlCol="0">
            <a:spAutoFit/>
          </a:bodyPr>
          <a:lstStyle/>
          <a:p>
            <a:pPr algn="ctr"/>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2000" b="1" dirty="0">
              <a:solidFill>
                <a:srgbClr val="00B050"/>
              </a:solidFill>
            </a:endParaRPr>
          </a:p>
        </p:txBody>
      </p:sp>
      <p:sp>
        <p:nvSpPr>
          <p:cNvPr id="18" name="TextBox 17">
            <a:extLst>
              <a:ext uri="{FF2B5EF4-FFF2-40B4-BE49-F238E27FC236}">
                <a16:creationId xmlns:a16="http://schemas.microsoft.com/office/drawing/2014/main" id="{FD90B117-390A-C2AC-F98B-5640C6904DC1}"/>
              </a:ext>
            </a:extLst>
          </p:cNvPr>
          <p:cNvSpPr txBox="1"/>
          <p:nvPr/>
        </p:nvSpPr>
        <p:spPr>
          <a:xfrm>
            <a:off x="4759613" y="2103639"/>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9" name="TextBox 18">
            <a:extLst>
              <a:ext uri="{FF2B5EF4-FFF2-40B4-BE49-F238E27FC236}">
                <a16:creationId xmlns:a16="http://schemas.microsoft.com/office/drawing/2014/main" id="{DC99775D-3C41-3567-C993-740AE3C44296}"/>
              </a:ext>
            </a:extLst>
          </p:cNvPr>
          <p:cNvSpPr txBox="1"/>
          <p:nvPr/>
        </p:nvSpPr>
        <p:spPr>
          <a:xfrm>
            <a:off x="4759613" y="2785203"/>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graphicFrame>
        <p:nvGraphicFramePr>
          <p:cNvPr id="8" name="Content Placeholder 4">
            <a:extLst>
              <a:ext uri="{FF2B5EF4-FFF2-40B4-BE49-F238E27FC236}">
                <a16:creationId xmlns:a16="http://schemas.microsoft.com/office/drawing/2014/main" id="{43504BA6-C439-2301-31F3-FEA1A1B3433C}"/>
              </a:ext>
            </a:extLst>
          </p:cNvPr>
          <p:cNvGraphicFramePr>
            <a:graphicFrameLocks/>
          </p:cNvGraphicFramePr>
          <p:nvPr/>
        </p:nvGraphicFramePr>
        <p:xfrm>
          <a:off x="1869586" y="1385517"/>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EMP</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1" name="Content Placeholder 4">
            <a:extLst>
              <a:ext uri="{FF2B5EF4-FFF2-40B4-BE49-F238E27FC236}">
                <a16:creationId xmlns:a16="http://schemas.microsoft.com/office/drawing/2014/main" id="{009BC7ED-F087-ABEE-DB32-8453DA4F2904}"/>
              </a:ext>
            </a:extLst>
          </p:cNvPr>
          <p:cNvGraphicFramePr>
            <a:graphicFrameLocks/>
          </p:cNvGraphicFramePr>
          <p:nvPr/>
        </p:nvGraphicFramePr>
        <p:xfrm>
          <a:off x="4506183" y="1380384"/>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3" name="Rectangle 12">
            <a:extLst>
              <a:ext uri="{FF2B5EF4-FFF2-40B4-BE49-F238E27FC236}">
                <a16:creationId xmlns:a16="http://schemas.microsoft.com/office/drawing/2014/main" id="{4DC5370B-B1E1-DBAF-C842-B13644A13D35}"/>
              </a:ext>
            </a:extLst>
          </p:cNvPr>
          <p:cNvSpPr/>
          <p:nvPr/>
        </p:nvSpPr>
        <p:spPr>
          <a:xfrm>
            <a:off x="717629" y="4977114"/>
            <a:ext cx="6204031" cy="1238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a:t>
            </a:r>
          </a:p>
          <a:p>
            <a:r>
              <a:rPr lang="en-IN" sz="1800" dirty="0">
                <a:solidFill>
                  <a:srgbClr val="0000FF"/>
                </a:solidFill>
                <a:latin typeface="Consolas" panose="020B0609020204030204" pitchFamily="49" charset="0"/>
              </a:rPr>
              <a:t>WHERE</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EXISTS</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	(</a:t>
            </a:r>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EID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DEPT</a:t>
            </a:r>
          </a:p>
          <a:p>
            <a:r>
              <a:rPr lang="en-IN" sz="1800" dirty="0">
                <a:solidFill>
                  <a:srgbClr val="0000FF"/>
                </a:solidFill>
                <a:latin typeface="Consolas" panose="020B0609020204030204" pitchFamily="49" charset="0"/>
              </a:rPr>
              <a:t>	WHERE</a:t>
            </a:r>
            <a:endParaRPr lang="en-IN" sz="1800" dirty="0">
              <a:solidFill>
                <a:srgbClr val="000000"/>
              </a:solidFill>
              <a:latin typeface="Consolas" panose="020B0609020204030204" pitchFamily="49" charset="0"/>
            </a:endParaRPr>
          </a:p>
          <a:p>
            <a:r>
              <a:rPr lang="en-IN" sz="1800" dirty="0">
                <a:solidFill>
                  <a:srgbClr val="000000"/>
                </a:solidFill>
                <a:latin typeface="Consolas" panose="020B0609020204030204" pitchFamily="49" charset="0"/>
              </a:rPr>
              <a:t>	EMP</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DEPT</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endParaRPr lang="en-IN" dirty="0"/>
          </a:p>
        </p:txBody>
      </p:sp>
      <p:graphicFrame>
        <p:nvGraphicFramePr>
          <p:cNvPr id="15" name="Content Placeholder 4">
            <a:extLst>
              <a:ext uri="{FF2B5EF4-FFF2-40B4-BE49-F238E27FC236}">
                <a16:creationId xmlns:a16="http://schemas.microsoft.com/office/drawing/2014/main" id="{7E33ABB8-F17E-CA6E-0AEA-AA813197732A}"/>
              </a:ext>
            </a:extLst>
          </p:cNvPr>
          <p:cNvGraphicFramePr>
            <a:graphicFrameLocks/>
          </p:cNvGraphicFramePr>
          <p:nvPr/>
        </p:nvGraphicFramePr>
        <p:xfrm>
          <a:off x="806645" y="4390605"/>
          <a:ext cx="2457416" cy="365760"/>
        </p:xfrm>
        <a:graphic>
          <a:graphicData uri="http://schemas.openxmlformats.org/drawingml/2006/table">
            <a:tbl>
              <a:tblPr firstRow="1" bandRow="1">
                <a:tableStyleId>{8EC20E35-A176-4012-BC5E-935CFFF8708E}</a:tableStyleId>
              </a:tblPr>
              <a:tblGrid>
                <a:gridCol w="245741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CORRELATE SUBQUERY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20" name="Straight Connector 19">
            <a:extLst>
              <a:ext uri="{FF2B5EF4-FFF2-40B4-BE49-F238E27FC236}">
                <a16:creationId xmlns:a16="http://schemas.microsoft.com/office/drawing/2014/main" id="{F9F5A50F-861C-A9FB-9B91-04123223168A}"/>
              </a:ext>
            </a:extLst>
          </p:cNvPr>
          <p:cNvCxnSpPr/>
          <p:nvPr/>
        </p:nvCxnSpPr>
        <p:spPr>
          <a:xfrm>
            <a:off x="243068" y="4062714"/>
            <a:ext cx="1169043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2B9AE5F-ECB7-A23A-EA37-7C2F7609F986}"/>
              </a:ext>
            </a:extLst>
          </p:cNvPr>
          <p:cNvSpPr/>
          <p:nvPr/>
        </p:nvSpPr>
        <p:spPr>
          <a:xfrm>
            <a:off x="1869586" y="1751277"/>
            <a:ext cx="1639651" cy="21591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128CE7F8-BF4F-4119-AAE0-C013CDA39375}"/>
              </a:ext>
            </a:extLst>
          </p:cNvPr>
          <p:cNvSpPr/>
          <p:nvPr/>
        </p:nvSpPr>
        <p:spPr>
          <a:xfrm>
            <a:off x="4506183" y="1751277"/>
            <a:ext cx="3753374" cy="139703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3" name="Content Placeholder 4">
            <a:extLst>
              <a:ext uri="{FF2B5EF4-FFF2-40B4-BE49-F238E27FC236}">
                <a16:creationId xmlns:a16="http://schemas.microsoft.com/office/drawing/2014/main" id="{87C9C7B5-52CB-8A04-60AE-03BC02AFD406}"/>
              </a:ext>
            </a:extLst>
          </p:cNvPr>
          <p:cNvGraphicFramePr>
            <a:graphicFrameLocks/>
          </p:cNvGraphicFramePr>
          <p:nvPr/>
        </p:nvGraphicFramePr>
        <p:xfrm>
          <a:off x="6679318" y="4353838"/>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24" name="Picture 23">
            <a:extLst>
              <a:ext uri="{FF2B5EF4-FFF2-40B4-BE49-F238E27FC236}">
                <a16:creationId xmlns:a16="http://schemas.microsoft.com/office/drawing/2014/main" id="{3DF50834-9D45-4992-7B1C-C4B44B6547D8}"/>
              </a:ext>
            </a:extLst>
          </p:cNvPr>
          <p:cNvPicPr>
            <a:picLocks noChangeAspect="1"/>
          </p:cNvPicPr>
          <p:nvPr/>
        </p:nvPicPr>
        <p:blipFill>
          <a:blip r:embed="rId4"/>
          <a:stretch>
            <a:fillRect/>
          </a:stretch>
        </p:blipFill>
        <p:spPr>
          <a:xfrm>
            <a:off x="6681054" y="4696448"/>
            <a:ext cx="1638529" cy="724001"/>
          </a:xfrm>
          <a:prstGeom prst="rect">
            <a:avLst/>
          </a:prstGeom>
        </p:spPr>
      </p:pic>
      <p:pic>
        <p:nvPicPr>
          <p:cNvPr id="26" name="Picture 25">
            <a:extLst>
              <a:ext uri="{FF2B5EF4-FFF2-40B4-BE49-F238E27FC236}">
                <a16:creationId xmlns:a16="http://schemas.microsoft.com/office/drawing/2014/main" id="{F184A0D4-877B-33AF-C9EC-11E458CFCE5A}"/>
              </a:ext>
            </a:extLst>
          </p:cNvPr>
          <p:cNvPicPr>
            <a:picLocks noChangeAspect="1"/>
          </p:cNvPicPr>
          <p:nvPr/>
        </p:nvPicPr>
        <p:blipFill>
          <a:blip r:embed="rId5"/>
          <a:stretch>
            <a:fillRect/>
          </a:stretch>
        </p:blipFill>
        <p:spPr>
          <a:xfrm>
            <a:off x="6702468" y="5433894"/>
            <a:ext cx="1629002" cy="323895"/>
          </a:xfrm>
          <a:prstGeom prst="rect">
            <a:avLst/>
          </a:prstGeom>
        </p:spPr>
      </p:pic>
      <p:graphicFrame>
        <p:nvGraphicFramePr>
          <p:cNvPr id="28" name="Content Placeholder 4">
            <a:extLst>
              <a:ext uri="{FF2B5EF4-FFF2-40B4-BE49-F238E27FC236}">
                <a16:creationId xmlns:a16="http://schemas.microsoft.com/office/drawing/2014/main" id="{36FFDB9B-B417-C1F9-FD68-64C4F9EE520F}"/>
              </a:ext>
            </a:extLst>
          </p:cNvPr>
          <p:cNvGraphicFramePr>
            <a:graphicFrameLocks/>
          </p:cNvGraphicFramePr>
          <p:nvPr/>
        </p:nvGraphicFramePr>
        <p:xfrm>
          <a:off x="257210" y="931950"/>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TABLES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97968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p:bldP spid="18" grpId="0"/>
      <p:bldP spid="1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7F-1A6D-3EB4-6A6F-FE52A2D2CE60}"/>
              </a:ext>
            </a:extLst>
          </p:cNvPr>
          <p:cNvSpPr>
            <a:spLocks noGrp="1"/>
          </p:cNvSpPr>
          <p:nvPr>
            <p:ph type="title"/>
          </p:nvPr>
        </p:nvSpPr>
        <p:spPr/>
        <p:txBody>
          <a:bodyPr/>
          <a:lstStyle/>
          <a:p>
            <a:r>
              <a:rPr lang="en-US" dirty="0"/>
              <a:t>Correlated Sub Query</a:t>
            </a:r>
            <a:endParaRPr lang="en-IN" dirty="0"/>
          </a:p>
        </p:txBody>
      </p:sp>
      <p:pic>
        <p:nvPicPr>
          <p:cNvPr id="27" name="Content Placeholder 26">
            <a:extLst>
              <a:ext uri="{FF2B5EF4-FFF2-40B4-BE49-F238E27FC236}">
                <a16:creationId xmlns:a16="http://schemas.microsoft.com/office/drawing/2014/main" id="{FBEC11CA-D9CC-B421-D22C-62EDFE55DEFA}"/>
              </a:ext>
            </a:extLst>
          </p:cNvPr>
          <p:cNvPicPr>
            <a:picLocks noGrp="1" noChangeAspect="1"/>
          </p:cNvPicPr>
          <p:nvPr>
            <p:ph idx="1"/>
          </p:nvPr>
        </p:nvPicPr>
        <p:blipFill>
          <a:blip r:embed="rId2"/>
          <a:stretch>
            <a:fillRect/>
          </a:stretch>
        </p:blipFill>
        <p:spPr>
          <a:xfrm>
            <a:off x="6692941" y="5742400"/>
            <a:ext cx="1648055" cy="371527"/>
          </a:xfrm>
        </p:spPr>
      </p:pic>
      <p:pic>
        <p:nvPicPr>
          <p:cNvPr id="5" name="Picture 4">
            <a:extLst>
              <a:ext uri="{FF2B5EF4-FFF2-40B4-BE49-F238E27FC236}">
                <a16:creationId xmlns:a16="http://schemas.microsoft.com/office/drawing/2014/main" id="{0B188B0E-EA64-6026-91C8-B3F313550651}"/>
              </a:ext>
            </a:extLst>
          </p:cNvPr>
          <p:cNvPicPr>
            <a:picLocks noChangeAspect="1"/>
          </p:cNvPicPr>
          <p:nvPr/>
        </p:nvPicPr>
        <p:blipFill>
          <a:blip r:embed="rId3"/>
          <a:stretch>
            <a:fillRect/>
          </a:stretch>
        </p:blipFill>
        <p:spPr>
          <a:xfrm>
            <a:off x="1851656" y="1744610"/>
            <a:ext cx="1657581" cy="2095792"/>
          </a:xfrm>
          <a:prstGeom prst="rect">
            <a:avLst/>
          </a:prstGeom>
        </p:spPr>
      </p:pic>
      <p:pic>
        <p:nvPicPr>
          <p:cNvPr id="9" name="Picture 8">
            <a:extLst>
              <a:ext uri="{FF2B5EF4-FFF2-40B4-BE49-F238E27FC236}">
                <a16:creationId xmlns:a16="http://schemas.microsoft.com/office/drawing/2014/main" id="{36CAAAD5-3F3D-7B54-83A6-0A6A67F2D1A0}"/>
              </a:ext>
            </a:extLst>
          </p:cNvPr>
          <p:cNvPicPr>
            <a:picLocks noChangeAspect="1"/>
          </p:cNvPicPr>
          <p:nvPr/>
        </p:nvPicPr>
        <p:blipFill>
          <a:blip r:embed="rId4"/>
          <a:stretch>
            <a:fillRect/>
          </a:stretch>
        </p:blipFill>
        <p:spPr>
          <a:xfrm>
            <a:off x="4506183" y="1744610"/>
            <a:ext cx="3753374" cy="1457528"/>
          </a:xfrm>
          <a:prstGeom prst="rect">
            <a:avLst/>
          </a:prstGeom>
        </p:spPr>
      </p:pic>
      <p:sp>
        <p:nvSpPr>
          <p:cNvPr id="10" name="Rectangle: Rounded Corners 9">
            <a:extLst>
              <a:ext uri="{FF2B5EF4-FFF2-40B4-BE49-F238E27FC236}">
                <a16:creationId xmlns:a16="http://schemas.microsoft.com/office/drawing/2014/main" id="{BEE179BD-4EA3-CDAE-B41D-F30B3FB5EF36}"/>
              </a:ext>
            </a:extLst>
          </p:cNvPr>
          <p:cNvSpPr/>
          <p:nvPr/>
        </p:nvSpPr>
        <p:spPr>
          <a:xfrm>
            <a:off x="1839836" y="2855792"/>
            <a:ext cx="692220" cy="285473"/>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792B8F8-4747-2651-DDAB-0EF59D324F30}"/>
              </a:ext>
            </a:extLst>
          </p:cNvPr>
          <p:cNvCxnSpPr>
            <a:cxnSpLocks/>
            <a:stCxn id="10" idx="3"/>
          </p:cNvCxnSpPr>
          <p:nvPr/>
        </p:nvCxnSpPr>
        <p:spPr>
          <a:xfrm flipV="1">
            <a:off x="2532056" y="2316881"/>
            <a:ext cx="1974127" cy="681648"/>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C536B2-910C-288E-42BF-9D6BEC0CC146}"/>
              </a:ext>
            </a:extLst>
          </p:cNvPr>
          <p:cNvCxnSpPr>
            <a:cxnSpLocks/>
            <a:stCxn id="10" idx="3"/>
          </p:cNvCxnSpPr>
          <p:nvPr/>
        </p:nvCxnSpPr>
        <p:spPr>
          <a:xfrm flipV="1">
            <a:off x="2532056" y="2675469"/>
            <a:ext cx="1974127" cy="323060"/>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3C51D95-3C63-30A2-301A-189612ED5FBA}"/>
              </a:ext>
            </a:extLst>
          </p:cNvPr>
          <p:cNvCxnSpPr>
            <a:cxnSpLocks/>
          </p:cNvCxnSpPr>
          <p:nvPr/>
        </p:nvCxnSpPr>
        <p:spPr>
          <a:xfrm>
            <a:off x="2660709" y="2958683"/>
            <a:ext cx="1845474" cy="56549"/>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3DAC254-E572-470F-4A00-B4D4B7BFE2C6}"/>
              </a:ext>
            </a:extLst>
          </p:cNvPr>
          <p:cNvSpPr txBox="1"/>
          <p:nvPr/>
        </p:nvSpPr>
        <p:spPr>
          <a:xfrm>
            <a:off x="4759613" y="2840860"/>
            <a:ext cx="440785" cy="400110"/>
          </a:xfrm>
          <a:prstGeom prst="rect">
            <a:avLst/>
          </a:prstGeom>
          <a:noFill/>
        </p:spPr>
        <p:txBody>
          <a:bodyPr wrap="square" rtlCol="0">
            <a:spAutoFit/>
          </a:bodyPr>
          <a:lstStyle/>
          <a:p>
            <a:pPr algn="ctr"/>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2000" b="1" dirty="0">
              <a:solidFill>
                <a:srgbClr val="00B050"/>
              </a:solidFill>
            </a:endParaRPr>
          </a:p>
        </p:txBody>
      </p:sp>
      <p:sp>
        <p:nvSpPr>
          <p:cNvPr id="18" name="TextBox 17">
            <a:extLst>
              <a:ext uri="{FF2B5EF4-FFF2-40B4-BE49-F238E27FC236}">
                <a16:creationId xmlns:a16="http://schemas.microsoft.com/office/drawing/2014/main" id="{FD90B117-390A-C2AC-F98B-5640C6904DC1}"/>
              </a:ext>
            </a:extLst>
          </p:cNvPr>
          <p:cNvSpPr txBox="1"/>
          <p:nvPr/>
        </p:nvSpPr>
        <p:spPr>
          <a:xfrm>
            <a:off x="4759613" y="2103639"/>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9" name="TextBox 18">
            <a:extLst>
              <a:ext uri="{FF2B5EF4-FFF2-40B4-BE49-F238E27FC236}">
                <a16:creationId xmlns:a16="http://schemas.microsoft.com/office/drawing/2014/main" id="{DC99775D-3C41-3567-C993-740AE3C44296}"/>
              </a:ext>
            </a:extLst>
          </p:cNvPr>
          <p:cNvSpPr txBox="1"/>
          <p:nvPr/>
        </p:nvSpPr>
        <p:spPr>
          <a:xfrm>
            <a:off x="4759613" y="2474846"/>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graphicFrame>
        <p:nvGraphicFramePr>
          <p:cNvPr id="8" name="Content Placeholder 4">
            <a:extLst>
              <a:ext uri="{FF2B5EF4-FFF2-40B4-BE49-F238E27FC236}">
                <a16:creationId xmlns:a16="http://schemas.microsoft.com/office/drawing/2014/main" id="{31EE0A39-C6AD-F4E4-BCC9-2E744329D68E}"/>
              </a:ext>
            </a:extLst>
          </p:cNvPr>
          <p:cNvGraphicFramePr>
            <a:graphicFrameLocks/>
          </p:cNvGraphicFramePr>
          <p:nvPr/>
        </p:nvGraphicFramePr>
        <p:xfrm>
          <a:off x="1869586" y="1385517"/>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EMP</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1" name="Content Placeholder 4">
            <a:extLst>
              <a:ext uri="{FF2B5EF4-FFF2-40B4-BE49-F238E27FC236}">
                <a16:creationId xmlns:a16="http://schemas.microsoft.com/office/drawing/2014/main" id="{BF277820-4B79-B762-1110-EFFE6F4F40EE}"/>
              </a:ext>
            </a:extLst>
          </p:cNvPr>
          <p:cNvGraphicFramePr>
            <a:graphicFrameLocks/>
          </p:cNvGraphicFramePr>
          <p:nvPr/>
        </p:nvGraphicFramePr>
        <p:xfrm>
          <a:off x="4506183" y="1380384"/>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3" name="Rectangle 12">
            <a:extLst>
              <a:ext uri="{FF2B5EF4-FFF2-40B4-BE49-F238E27FC236}">
                <a16:creationId xmlns:a16="http://schemas.microsoft.com/office/drawing/2014/main" id="{3BDE87E6-0338-EABA-9AED-87EFF73F2FFF}"/>
              </a:ext>
            </a:extLst>
          </p:cNvPr>
          <p:cNvSpPr/>
          <p:nvPr/>
        </p:nvSpPr>
        <p:spPr>
          <a:xfrm>
            <a:off x="717629" y="4977114"/>
            <a:ext cx="6204031" cy="1238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a:t>
            </a:r>
          </a:p>
          <a:p>
            <a:r>
              <a:rPr lang="en-IN" sz="1800" dirty="0">
                <a:solidFill>
                  <a:srgbClr val="0000FF"/>
                </a:solidFill>
                <a:latin typeface="Consolas" panose="020B0609020204030204" pitchFamily="49" charset="0"/>
              </a:rPr>
              <a:t>WHERE</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EXISTS</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	(</a:t>
            </a:r>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EID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DEPT</a:t>
            </a:r>
          </a:p>
          <a:p>
            <a:r>
              <a:rPr lang="en-IN" sz="1800" dirty="0">
                <a:solidFill>
                  <a:srgbClr val="0000FF"/>
                </a:solidFill>
                <a:latin typeface="Consolas" panose="020B0609020204030204" pitchFamily="49" charset="0"/>
              </a:rPr>
              <a:t>	WHERE</a:t>
            </a:r>
            <a:endParaRPr lang="en-IN" sz="1800" dirty="0">
              <a:solidFill>
                <a:srgbClr val="000000"/>
              </a:solidFill>
              <a:latin typeface="Consolas" panose="020B0609020204030204" pitchFamily="49" charset="0"/>
            </a:endParaRPr>
          </a:p>
          <a:p>
            <a:r>
              <a:rPr lang="en-IN" sz="1800" dirty="0">
                <a:solidFill>
                  <a:srgbClr val="000000"/>
                </a:solidFill>
                <a:latin typeface="Consolas" panose="020B0609020204030204" pitchFamily="49" charset="0"/>
              </a:rPr>
              <a:t>	EMP</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DEPT</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endParaRPr lang="en-IN" dirty="0"/>
          </a:p>
        </p:txBody>
      </p:sp>
      <p:graphicFrame>
        <p:nvGraphicFramePr>
          <p:cNvPr id="15" name="Content Placeholder 4">
            <a:extLst>
              <a:ext uri="{FF2B5EF4-FFF2-40B4-BE49-F238E27FC236}">
                <a16:creationId xmlns:a16="http://schemas.microsoft.com/office/drawing/2014/main" id="{510CF658-7C59-E926-1615-10F91F22124B}"/>
              </a:ext>
            </a:extLst>
          </p:cNvPr>
          <p:cNvGraphicFramePr>
            <a:graphicFrameLocks/>
          </p:cNvGraphicFramePr>
          <p:nvPr/>
        </p:nvGraphicFramePr>
        <p:xfrm>
          <a:off x="806645" y="4390605"/>
          <a:ext cx="2457416" cy="365760"/>
        </p:xfrm>
        <a:graphic>
          <a:graphicData uri="http://schemas.openxmlformats.org/drawingml/2006/table">
            <a:tbl>
              <a:tblPr firstRow="1" bandRow="1">
                <a:tableStyleId>{8EC20E35-A176-4012-BC5E-935CFFF8708E}</a:tableStyleId>
              </a:tblPr>
              <a:tblGrid>
                <a:gridCol w="245741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CORRELATE SUBQUERY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20" name="Straight Connector 19">
            <a:extLst>
              <a:ext uri="{FF2B5EF4-FFF2-40B4-BE49-F238E27FC236}">
                <a16:creationId xmlns:a16="http://schemas.microsoft.com/office/drawing/2014/main" id="{B38EAEC8-1837-7A65-692E-9F1849F5F4FE}"/>
              </a:ext>
            </a:extLst>
          </p:cNvPr>
          <p:cNvCxnSpPr/>
          <p:nvPr/>
        </p:nvCxnSpPr>
        <p:spPr>
          <a:xfrm>
            <a:off x="243068" y="4062714"/>
            <a:ext cx="1169043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D9E14E5-5952-5566-56F7-18EE8D19BD0E}"/>
              </a:ext>
            </a:extLst>
          </p:cNvPr>
          <p:cNvSpPr/>
          <p:nvPr/>
        </p:nvSpPr>
        <p:spPr>
          <a:xfrm>
            <a:off x="1869586" y="1751277"/>
            <a:ext cx="1639651" cy="21591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B297145F-9829-2C45-8D23-14E69D1F9D26}"/>
              </a:ext>
            </a:extLst>
          </p:cNvPr>
          <p:cNvSpPr/>
          <p:nvPr/>
        </p:nvSpPr>
        <p:spPr>
          <a:xfrm>
            <a:off x="4506183" y="1751277"/>
            <a:ext cx="3753374" cy="139703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3" name="Content Placeholder 4">
            <a:extLst>
              <a:ext uri="{FF2B5EF4-FFF2-40B4-BE49-F238E27FC236}">
                <a16:creationId xmlns:a16="http://schemas.microsoft.com/office/drawing/2014/main" id="{812B85E6-AEB8-895D-91CC-D8C92A26E237}"/>
              </a:ext>
            </a:extLst>
          </p:cNvPr>
          <p:cNvGraphicFramePr>
            <a:graphicFrameLocks/>
          </p:cNvGraphicFramePr>
          <p:nvPr/>
        </p:nvGraphicFramePr>
        <p:xfrm>
          <a:off x="6679318" y="4353838"/>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24" name="Picture 23">
            <a:extLst>
              <a:ext uri="{FF2B5EF4-FFF2-40B4-BE49-F238E27FC236}">
                <a16:creationId xmlns:a16="http://schemas.microsoft.com/office/drawing/2014/main" id="{7F4B63AF-80CB-3015-903B-54AEFE00AFDC}"/>
              </a:ext>
            </a:extLst>
          </p:cNvPr>
          <p:cNvPicPr>
            <a:picLocks noChangeAspect="1"/>
          </p:cNvPicPr>
          <p:nvPr/>
        </p:nvPicPr>
        <p:blipFill>
          <a:blip r:embed="rId5"/>
          <a:stretch>
            <a:fillRect/>
          </a:stretch>
        </p:blipFill>
        <p:spPr>
          <a:xfrm>
            <a:off x="6681054" y="4696448"/>
            <a:ext cx="1638529" cy="724001"/>
          </a:xfrm>
          <a:prstGeom prst="rect">
            <a:avLst/>
          </a:prstGeom>
        </p:spPr>
      </p:pic>
      <p:pic>
        <p:nvPicPr>
          <p:cNvPr id="25" name="Picture 24">
            <a:extLst>
              <a:ext uri="{FF2B5EF4-FFF2-40B4-BE49-F238E27FC236}">
                <a16:creationId xmlns:a16="http://schemas.microsoft.com/office/drawing/2014/main" id="{FB61E8B7-C3D5-F8E8-503C-D920AA40EC2F}"/>
              </a:ext>
            </a:extLst>
          </p:cNvPr>
          <p:cNvPicPr>
            <a:picLocks noChangeAspect="1"/>
          </p:cNvPicPr>
          <p:nvPr/>
        </p:nvPicPr>
        <p:blipFill>
          <a:blip r:embed="rId6"/>
          <a:stretch>
            <a:fillRect/>
          </a:stretch>
        </p:blipFill>
        <p:spPr>
          <a:xfrm>
            <a:off x="6702468" y="5433894"/>
            <a:ext cx="1629002" cy="323895"/>
          </a:xfrm>
          <a:prstGeom prst="rect">
            <a:avLst/>
          </a:prstGeom>
        </p:spPr>
      </p:pic>
      <p:graphicFrame>
        <p:nvGraphicFramePr>
          <p:cNvPr id="32" name="Content Placeholder 4">
            <a:extLst>
              <a:ext uri="{FF2B5EF4-FFF2-40B4-BE49-F238E27FC236}">
                <a16:creationId xmlns:a16="http://schemas.microsoft.com/office/drawing/2014/main" id="{F549381E-9F63-BC71-F99B-78F90722E936}"/>
              </a:ext>
            </a:extLst>
          </p:cNvPr>
          <p:cNvGraphicFramePr>
            <a:graphicFrameLocks/>
          </p:cNvGraphicFramePr>
          <p:nvPr/>
        </p:nvGraphicFramePr>
        <p:xfrm>
          <a:off x="257210" y="931950"/>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TABLES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09314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p:bldP spid="18" grpId="0"/>
      <p:bldP spid="1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7F-1A6D-3EB4-6A6F-FE52A2D2CE60}"/>
              </a:ext>
            </a:extLst>
          </p:cNvPr>
          <p:cNvSpPr>
            <a:spLocks noGrp="1"/>
          </p:cNvSpPr>
          <p:nvPr>
            <p:ph type="title"/>
          </p:nvPr>
        </p:nvSpPr>
        <p:spPr/>
        <p:txBody>
          <a:bodyPr/>
          <a:lstStyle/>
          <a:p>
            <a:r>
              <a:rPr lang="en-US" dirty="0"/>
              <a:t>Correlated Sub Query</a:t>
            </a:r>
            <a:endParaRPr lang="en-IN" dirty="0"/>
          </a:p>
        </p:txBody>
      </p:sp>
      <p:sp>
        <p:nvSpPr>
          <p:cNvPr id="3" name="Content Placeholder 2">
            <a:extLst>
              <a:ext uri="{FF2B5EF4-FFF2-40B4-BE49-F238E27FC236}">
                <a16:creationId xmlns:a16="http://schemas.microsoft.com/office/drawing/2014/main" id="{0A2BDA36-8510-0867-A3B5-A9DDCF34454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B188B0E-EA64-6026-91C8-B3F313550651}"/>
              </a:ext>
            </a:extLst>
          </p:cNvPr>
          <p:cNvPicPr>
            <a:picLocks noChangeAspect="1"/>
          </p:cNvPicPr>
          <p:nvPr/>
        </p:nvPicPr>
        <p:blipFill>
          <a:blip r:embed="rId2"/>
          <a:stretch>
            <a:fillRect/>
          </a:stretch>
        </p:blipFill>
        <p:spPr>
          <a:xfrm>
            <a:off x="1851656" y="1744610"/>
            <a:ext cx="1657581" cy="2095792"/>
          </a:xfrm>
          <a:prstGeom prst="rect">
            <a:avLst/>
          </a:prstGeom>
        </p:spPr>
      </p:pic>
      <p:pic>
        <p:nvPicPr>
          <p:cNvPr id="9" name="Picture 8">
            <a:extLst>
              <a:ext uri="{FF2B5EF4-FFF2-40B4-BE49-F238E27FC236}">
                <a16:creationId xmlns:a16="http://schemas.microsoft.com/office/drawing/2014/main" id="{36CAAAD5-3F3D-7B54-83A6-0A6A67F2D1A0}"/>
              </a:ext>
            </a:extLst>
          </p:cNvPr>
          <p:cNvPicPr>
            <a:picLocks noChangeAspect="1"/>
          </p:cNvPicPr>
          <p:nvPr/>
        </p:nvPicPr>
        <p:blipFill>
          <a:blip r:embed="rId3"/>
          <a:stretch>
            <a:fillRect/>
          </a:stretch>
        </p:blipFill>
        <p:spPr>
          <a:xfrm>
            <a:off x="4506183" y="1744610"/>
            <a:ext cx="3753374" cy="1457528"/>
          </a:xfrm>
          <a:prstGeom prst="rect">
            <a:avLst/>
          </a:prstGeom>
        </p:spPr>
      </p:pic>
      <p:sp>
        <p:nvSpPr>
          <p:cNvPr id="10" name="Rectangle: Rounded Corners 9">
            <a:extLst>
              <a:ext uri="{FF2B5EF4-FFF2-40B4-BE49-F238E27FC236}">
                <a16:creationId xmlns:a16="http://schemas.microsoft.com/office/drawing/2014/main" id="{BEE179BD-4EA3-CDAE-B41D-F30B3FB5EF36}"/>
              </a:ext>
            </a:extLst>
          </p:cNvPr>
          <p:cNvSpPr/>
          <p:nvPr/>
        </p:nvSpPr>
        <p:spPr>
          <a:xfrm>
            <a:off x="1851656" y="3211644"/>
            <a:ext cx="692220" cy="285473"/>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792B8F8-4747-2651-DDAB-0EF59D324F30}"/>
              </a:ext>
            </a:extLst>
          </p:cNvPr>
          <p:cNvCxnSpPr>
            <a:cxnSpLocks/>
            <a:stCxn id="10" idx="3"/>
          </p:cNvCxnSpPr>
          <p:nvPr/>
        </p:nvCxnSpPr>
        <p:spPr>
          <a:xfrm flipV="1">
            <a:off x="2543876" y="2294965"/>
            <a:ext cx="1962307" cy="1059416"/>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C536B2-910C-288E-42BF-9D6BEC0CC146}"/>
              </a:ext>
            </a:extLst>
          </p:cNvPr>
          <p:cNvCxnSpPr>
            <a:cxnSpLocks/>
            <a:stCxn id="10" idx="3"/>
          </p:cNvCxnSpPr>
          <p:nvPr/>
        </p:nvCxnSpPr>
        <p:spPr>
          <a:xfrm flipV="1">
            <a:off x="2543876" y="2619534"/>
            <a:ext cx="1962307" cy="734847"/>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3C51D95-3C63-30A2-301A-189612ED5FBA}"/>
              </a:ext>
            </a:extLst>
          </p:cNvPr>
          <p:cNvCxnSpPr>
            <a:cxnSpLocks/>
            <a:stCxn id="10" idx="3"/>
          </p:cNvCxnSpPr>
          <p:nvPr/>
        </p:nvCxnSpPr>
        <p:spPr>
          <a:xfrm flipV="1">
            <a:off x="2543876" y="3015232"/>
            <a:ext cx="1962307" cy="339149"/>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D90B117-390A-C2AC-F98B-5640C6904DC1}"/>
              </a:ext>
            </a:extLst>
          </p:cNvPr>
          <p:cNvSpPr txBox="1"/>
          <p:nvPr/>
        </p:nvSpPr>
        <p:spPr>
          <a:xfrm>
            <a:off x="4759613" y="2103639"/>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9" name="TextBox 18">
            <a:extLst>
              <a:ext uri="{FF2B5EF4-FFF2-40B4-BE49-F238E27FC236}">
                <a16:creationId xmlns:a16="http://schemas.microsoft.com/office/drawing/2014/main" id="{DC99775D-3C41-3567-C993-740AE3C44296}"/>
              </a:ext>
            </a:extLst>
          </p:cNvPr>
          <p:cNvSpPr txBox="1"/>
          <p:nvPr/>
        </p:nvSpPr>
        <p:spPr>
          <a:xfrm>
            <a:off x="4759613" y="2474846"/>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1" name="TextBox 10">
            <a:extLst>
              <a:ext uri="{FF2B5EF4-FFF2-40B4-BE49-F238E27FC236}">
                <a16:creationId xmlns:a16="http://schemas.microsoft.com/office/drawing/2014/main" id="{3008288D-0D01-A89C-CF06-824A1C77B1CC}"/>
              </a:ext>
            </a:extLst>
          </p:cNvPr>
          <p:cNvSpPr txBox="1"/>
          <p:nvPr/>
        </p:nvSpPr>
        <p:spPr>
          <a:xfrm>
            <a:off x="4759613" y="2795444"/>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graphicFrame>
        <p:nvGraphicFramePr>
          <p:cNvPr id="13" name="Content Placeholder 4">
            <a:extLst>
              <a:ext uri="{FF2B5EF4-FFF2-40B4-BE49-F238E27FC236}">
                <a16:creationId xmlns:a16="http://schemas.microsoft.com/office/drawing/2014/main" id="{F0F245FC-D728-27F1-FA9C-F0CC2EF2C919}"/>
              </a:ext>
            </a:extLst>
          </p:cNvPr>
          <p:cNvGraphicFramePr>
            <a:graphicFrameLocks/>
          </p:cNvGraphicFramePr>
          <p:nvPr/>
        </p:nvGraphicFramePr>
        <p:xfrm>
          <a:off x="1869586" y="1385517"/>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EMP</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5" name="Content Placeholder 4">
            <a:extLst>
              <a:ext uri="{FF2B5EF4-FFF2-40B4-BE49-F238E27FC236}">
                <a16:creationId xmlns:a16="http://schemas.microsoft.com/office/drawing/2014/main" id="{356B6489-9561-D585-77A8-F9DB3D5B0C2A}"/>
              </a:ext>
            </a:extLst>
          </p:cNvPr>
          <p:cNvGraphicFramePr>
            <a:graphicFrameLocks/>
          </p:cNvGraphicFramePr>
          <p:nvPr/>
        </p:nvGraphicFramePr>
        <p:xfrm>
          <a:off x="4506183" y="1380384"/>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20" name="Rectangle 19">
            <a:extLst>
              <a:ext uri="{FF2B5EF4-FFF2-40B4-BE49-F238E27FC236}">
                <a16:creationId xmlns:a16="http://schemas.microsoft.com/office/drawing/2014/main" id="{FB41378A-551F-6E12-C528-5C9B629013D5}"/>
              </a:ext>
            </a:extLst>
          </p:cNvPr>
          <p:cNvSpPr/>
          <p:nvPr/>
        </p:nvSpPr>
        <p:spPr>
          <a:xfrm>
            <a:off x="717629" y="4977114"/>
            <a:ext cx="6204031" cy="1238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a:t>
            </a:r>
          </a:p>
          <a:p>
            <a:r>
              <a:rPr lang="en-IN" sz="1800" dirty="0">
                <a:solidFill>
                  <a:srgbClr val="0000FF"/>
                </a:solidFill>
                <a:latin typeface="Consolas" panose="020B0609020204030204" pitchFamily="49" charset="0"/>
              </a:rPr>
              <a:t>WHERE</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EXISTS</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	(</a:t>
            </a:r>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EID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DEPT</a:t>
            </a:r>
          </a:p>
          <a:p>
            <a:r>
              <a:rPr lang="en-IN" sz="1800" dirty="0">
                <a:solidFill>
                  <a:srgbClr val="0000FF"/>
                </a:solidFill>
                <a:latin typeface="Consolas" panose="020B0609020204030204" pitchFamily="49" charset="0"/>
              </a:rPr>
              <a:t>	WHERE</a:t>
            </a:r>
            <a:endParaRPr lang="en-IN" sz="1800" dirty="0">
              <a:solidFill>
                <a:srgbClr val="000000"/>
              </a:solidFill>
              <a:latin typeface="Consolas" panose="020B0609020204030204" pitchFamily="49" charset="0"/>
            </a:endParaRPr>
          </a:p>
          <a:p>
            <a:r>
              <a:rPr lang="en-IN" sz="1800" dirty="0">
                <a:solidFill>
                  <a:srgbClr val="000000"/>
                </a:solidFill>
                <a:latin typeface="Consolas" panose="020B0609020204030204" pitchFamily="49" charset="0"/>
              </a:rPr>
              <a:t>	EMP</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DEPT</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endParaRPr lang="en-IN" dirty="0"/>
          </a:p>
        </p:txBody>
      </p:sp>
      <p:graphicFrame>
        <p:nvGraphicFramePr>
          <p:cNvPr id="21" name="Content Placeholder 4">
            <a:extLst>
              <a:ext uri="{FF2B5EF4-FFF2-40B4-BE49-F238E27FC236}">
                <a16:creationId xmlns:a16="http://schemas.microsoft.com/office/drawing/2014/main" id="{B3E98D8D-85BF-9B95-988D-99CA6293D5CF}"/>
              </a:ext>
            </a:extLst>
          </p:cNvPr>
          <p:cNvGraphicFramePr>
            <a:graphicFrameLocks/>
          </p:cNvGraphicFramePr>
          <p:nvPr/>
        </p:nvGraphicFramePr>
        <p:xfrm>
          <a:off x="806645" y="4390605"/>
          <a:ext cx="2457416" cy="365760"/>
        </p:xfrm>
        <a:graphic>
          <a:graphicData uri="http://schemas.openxmlformats.org/drawingml/2006/table">
            <a:tbl>
              <a:tblPr firstRow="1" bandRow="1">
                <a:tableStyleId>{8EC20E35-A176-4012-BC5E-935CFFF8708E}</a:tableStyleId>
              </a:tblPr>
              <a:tblGrid>
                <a:gridCol w="245741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CORRELATE SUBQUERY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22" name="Straight Connector 21">
            <a:extLst>
              <a:ext uri="{FF2B5EF4-FFF2-40B4-BE49-F238E27FC236}">
                <a16:creationId xmlns:a16="http://schemas.microsoft.com/office/drawing/2014/main" id="{6F50F3A1-1172-75CA-2C6D-DCF57D362BF9}"/>
              </a:ext>
            </a:extLst>
          </p:cNvPr>
          <p:cNvCxnSpPr/>
          <p:nvPr/>
        </p:nvCxnSpPr>
        <p:spPr>
          <a:xfrm>
            <a:off x="243068" y="4062714"/>
            <a:ext cx="1169043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14F2E3B-4C50-892D-216E-D2C094181E14}"/>
              </a:ext>
            </a:extLst>
          </p:cNvPr>
          <p:cNvSpPr/>
          <p:nvPr/>
        </p:nvSpPr>
        <p:spPr>
          <a:xfrm>
            <a:off x="1869586" y="1751277"/>
            <a:ext cx="1639651" cy="21591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9288B7CC-F3D5-49B4-A325-7D466C32E376}"/>
              </a:ext>
            </a:extLst>
          </p:cNvPr>
          <p:cNvSpPr/>
          <p:nvPr/>
        </p:nvSpPr>
        <p:spPr>
          <a:xfrm>
            <a:off x="4506183" y="1751277"/>
            <a:ext cx="3753374" cy="139703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Content Placeholder 26">
            <a:extLst>
              <a:ext uri="{FF2B5EF4-FFF2-40B4-BE49-F238E27FC236}">
                <a16:creationId xmlns:a16="http://schemas.microsoft.com/office/drawing/2014/main" id="{0746D869-F819-EA98-1AE8-BFCFE8B4AA4C}"/>
              </a:ext>
            </a:extLst>
          </p:cNvPr>
          <p:cNvPicPr>
            <a:picLocks noChangeAspect="1"/>
          </p:cNvPicPr>
          <p:nvPr/>
        </p:nvPicPr>
        <p:blipFill>
          <a:blip r:embed="rId4"/>
          <a:stretch>
            <a:fillRect/>
          </a:stretch>
        </p:blipFill>
        <p:spPr>
          <a:xfrm>
            <a:off x="6692941" y="5742400"/>
            <a:ext cx="1648055" cy="371527"/>
          </a:xfrm>
          <a:prstGeom prst="rect">
            <a:avLst/>
          </a:prstGeom>
        </p:spPr>
      </p:pic>
      <p:graphicFrame>
        <p:nvGraphicFramePr>
          <p:cNvPr id="27" name="Content Placeholder 4">
            <a:extLst>
              <a:ext uri="{FF2B5EF4-FFF2-40B4-BE49-F238E27FC236}">
                <a16:creationId xmlns:a16="http://schemas.microsoft.com/office/drawing/2014/main" id="{8D3B4427-FF80-5D3D-AB66-0172330859E3}"/>
              </a:ext>
            </a:extLst>
          </p:cNvPr>
          <p:cNvGraphicFramePr>
            <a:graphicFrameLocks/>
          </p:cNvGraphicFramePr>
          <p:nvPr/>
        </p:nvGraphicFramePr>
        <p:xfrm>
          <a:off x="6679318" y="4353838"/>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28" name="Picture 27">
            <a:extLst>
              <a:ext uri="{FF2B5EF4-FFF2-40B4-BE49-F238E27FC236}">
                <a16:creationId xmlns:a16="http://schemas.microsoft.com/office/drawing/2014/main" id="{3E7CDC25-A45F-DFF4-5A3E-83759ECB8EB6}"/>
              </a:ext>
            </a:extLst>
          </p:cNvPr>
          <p:cNvPicPr>
            <a:picLocks noChangeAspect="1"/>
          </p:cNvPicPr>
          <p:nvPr/>
        </p:nvPicPr>
        <p:blipFill>
          <a:blip r:embed="rId5"/>
          <a:stretch>
            <a:fillRect/>
          </a:stretch>
        </p:blipFill>
        <p:spPr>
          <a:xfrm>
            <a:off x="6681054" y="4696448"/>
            <a:ext cx="1638529" cy="724001"/>
          </a:xfrm>
          <a:prstGeom prst="rect">
            <a:avLst/>
          </a:prstGeom>
        </p:spPr>
      </p:pic>
      <p:pic>
        <p:nvPicPr>
          <p:cNvPr id="29" name="Picture 28">
            <a:extLst>
              <a:ext uri="{FF2B5EF4-FFF2-40B4-BE49-F238E27FC236}">
                <a16:creationId xmlns:a16="http://schemas.microsoft.com/office/drawing/2014/main" id="{3478EA2C-D23E-F13C-B608-854DACB532AE}"/>
              </a:ext>
            </a:extLst>
          </p:cNvPr>
          <p:cNvPicPr>
            <a:picLocks noChangeAspect="1"/>
          </p:cNvPicPr>
          <p:nvPr/>
        </p:nvPicPr>
        <p:blipFill>
          <a:blip r:embed="rId6"/>
          <a:stretch>
            <a:fillRect/>
          </a:stretch>
        </p:blipFill>
        <p:spPr>
          <a:xfrm>
            <a:off x="6702468" y="5433894"/>
            <a:ext cx="1629002" cy="323895"/>
          </a:xfrm>
          <a:prstGeom prst="rect">
            <a:avLst/>
          </a:prstGeom>
        </p:spPr>
      </p:pic>
      <p:graphicFrame>
        <p:nvGraphicFramePr>
          <p:cNvPr id="32" name="Content Placeholder 4">
            <a:extLst>
              <a:ext uri="{FF2B5EF4-FFF2-40B4-BE49-F238E27FC236}">
                <a16:creationId xmlns:a16="http://schemas.microsoft.com/office/drawing/2014/main" id="{BD6EDF74-F585-2F11-27E7-11E45A1DACB9}"/>
              </a:ext>
            </a:extLst>
          </p:cNvPr>
          <p:cNvGraphicFramePr>
            <a:graphicFrameLocks/>
          </p:cNvGraphicFramePr>
          <p:nvPr/>
        </p:nvGraphicFramePr>
        <p:xfrm>
          <a:off x="257210" y="931950"/>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TABLES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4614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p:bldP spid="19" grpId="0"/>
      <p:bldP spid="11"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7F-1A6D-3EB4-6A6F-FE52A2D2CE60}"/>
              </a:ext>
            </a:extLst>
          </p:cNvPr>
          <p:cNvSpPr>
            <a:spLocks noGrp="1"/>
          </p:cNvSpPr>
          <p:nvPr>
            <p:ph type="title"/>
          </p:nvPr>
        </p:nvSpPr>
        <p:spPr/>
        <p:txBody>
          <a:bodyPr/>
          <a:lstStyle/>
          <a:p>
            <a:r>
              <a:rPr lang="en-US" dirty="0"/>
              <a:t>Correlated Sub Query</a:t>
            </a:r>
            <a:endParaRPr lang="en-IN" dirty="0"/>
          </a:p>
        </p:txBody>
      </p:sp>
      <p:sp>
        <p:nvSpPr>
          <p:cNvPr id="3" name="Content Placeholder 2">
            <a:extLst>
              <a:ext uri="{FF2B5EF4-FFF2-40B4-BE49-F238E27FC236}">
                <a16:creationId xmlns:a16="http://schemas.microsoft.com/office/drawing/2014/main" id="{0A2BDA36-8510-0867-A3B5-A9DDCF34454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B188B0E-EA64-6026-91C8-B3F313550651}"/>
              </a:ext>
            </a:extLst>
          </p:cNvPr>
          <p:cNvPicPr>
            <a:picLocks noChangeAspect="1"/>
          </p:cNvPicPr>
          <p:nvPr/>
        </p:nvPicPr>
        <p:blipFill>
          <a:blip r:embed="rId2"/>
          <a:stretch>
            <a:fillRect/>
          </a:stretch>
        </p:blipFill>
        <p:spPr>
          <a:xfrm>
            <a:off x="1851656" y="1744610"/>
            <a:ext cx="1657581" cy="2095792"/>
          </a:xfrm>
          <a:prstGeom prst="rect">
            <a:avLst/>
          </a:prstGeom>
        </p:spPr>
      </p:pic>
      <p:pic>
        <p:nvPicPr>
          <p:cNvPr id="9" name="Picture 8">
            <a:extLst>
              <a:ext uri="{FF2B5EF4-FFF2-40B4-BE49-F238E27FC236}">
                <a16:creationId xmlns:a16="http://schemas.microsoft.com/office/drawing/2014/main" id="{36CAAAD5-3F3D-7B54-83A6-0A6A67F2D1A0}"/>
              </a:ext>
            </a:extLst>
          </p:cNvPr>
          <p:cNvPicPr>
            <a:picLocks noChangeAspect="1"/>
          </p:cNvPicPr>
          <p:nvPr/>
        </p:nvPicPr>
        <p:blipFill>
          <a:blip r:embed="rId3"/>
          <a:stretch>
            <a:fillRect/>
          </a:stretch>
        </p:blipFill>
        <p:spPr>
          <a:xfrm>
            <a:off x="4506183" y="1744610"/>
            <a:ext cx="3753374" cy="1457528"/>
          </a:xfrm>
          <a:prstGeom prst="rect">
            <a:avLst/>
          </a:prstGeom>
        </p:spPr>
      </p:pic>
      <p:sp>
        <p:nvSpPr>
          <p:cNvPr id="10" name="Rectangle: Rounded Corners 9">
            <a:extLst>
              <a:ext uri="{FF2B5EF4-FFF2-40B4-BE49-F238E27FC236}">
                <a16:creationId xmlns:a16="http://schemas.microsoft.com/office/drawing/2014/main" id="{BEE179BD-4EA3-CDAE-B41D-F30B3FB5EF36}"/>
              </a:ext>
            </a:extLst>
          </p:cNvPr>
          <p:cNvSpPr/>
          <p:nvPr/>
        </p:nvSpPr>
        <p:spPr>
          <a:xfrm>
            <a:off x="1851656" y="3554929"/>
            <a:ext cx="692220" cy="285473"/>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792B8F8-4747-2651-DDAB-0EF59D324F30}"/>
              </a:ext>
            </a:extLst>
          </p:cNvPr>
          <p:cNvCxnSpPr>
            <a:cxnSpLocks/>
            <a:stCxn id="10" idx="3"/>
          </p:cNvCxnSpPr>
          <p:nvPr/>
        </p:nvCxnSpPr>
        <p:spPr>
          <a:xfrm flipV="1">
            <a:off x="2543876" y="2259106"/>
            <a:ext cx="1962307" cy="1438560"/>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C536B2-910C-288E-42BF-9D6BEC0CC146}"/>
              </a:ext>
            </a:extLst>
          </p:cNvPr>
          <p:cNvCxnSpPr>
            <a:cxnSpLocks/>
            <a:stCxn id="10" idx="3"/>
          </p:cNvCxnSpPr>
          <p:nvPr/>
        </p:nvCxnSpPr>
        <p:spPr>
          <a:xfrm flipV="1">
            <a:off x="2543876" y="2635624"/>
            <a:ext cx="1962307" cy="1062042"/>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3C51D95-3C63-30A2-301A-189612ED5FBA}"/>
              </a:ext>
            </a:extLst>
          </p:cNvPr>
          <p:cNvCxnSpPr>
            <a:cxnSpLocks/>
            <a:stCxn id="10" idx="3"/>
          </p:cNvCxnSpPr>
          <p:nvPr/>
        </p:nvCxnSpPr>
        <p:spPr>
          <a:xfrm flipV="1">
            <a:off x="2543876" y="2925702"/>
            <a:ext cx="1962307" cy="771964"/>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D90B117-390A-C2AC-F98B-5640C6904DC1}"/>
              </a:ext>
            </a:extLst>
          </p:cNvPr>
          <p:cNvSpPr txBox="1"/>
          <p:nvPr/>
        </p:nvSpPr>
        <p:spPr>
          <a:xfrm>
            <a:off x="4759613" y="2103639"/>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9" name="TextBox 18">
            <a:extLst>
              <a:ext uri="{FF2B5EF4-FFF2-40B4-BE49-F238E27FC236}">
                <a16:creationId xmlns:a16="http://schemas.microsoft.com/office/drawing/2014/main" id="{DC99775D-3C41-3567-C993-740AE3C44296}"/>
              </a:ext>
            </a:extLst>
          </p:cNvPr>
          <p:cNvSpPr txBox="1"/>
          <p:nvPr/>
        </p:nvSpPr>
        <p:spPr>
          <a:xfrm>
            <a:off x="4759613" y="2474846"/>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1" name="TextBox 10">
            <a:extLst>
              <a:ext uri="{FF2B5EF4-FFF2-40B4-BE49-F238E27FC236}">
                <a16:creationId xmlns:a16="http://schemas.microsoft.com/office/drawing/2014/main" id="{3008288D-0D01-A89C-CF06-824A1C77B1CC}"/>
              </a:ext>
            </a:extLst>
          </p:cNvPr>
          <p:cNvSpPr txBox="1"/>
          <p:nvPr/>
        </p:nvSpPr>
        <p:spPr>
          <a:xfrm>
            <a:off x="4759613" y="2795444"/>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graphicFrame>
        <p:nvGraphicFramePr>
          <p:cNvPr id="8" name="Content Placeholder 4">
            <a:extLst>
              <a:ext uri="{FF2B5EF4-FFF2-40B4-BE49-F238E27FC236}">
                <a16:creationId xmlns:a16="http://schemas.microsoft.com/office/drawing/2014/main" id="{0D2A09FD-9643-A946-B352-2937941E06DC}"/>
              </a:ext>
            </a:extLst>
          </p:cNvPr>
          <p:cNvGraphicFramePr>
            <a:graphicFrameLocks/>
          </p:cNvGraphicFramePr>
          <p:nvPr/>
        </p:nvGraphicFramePr>
        <p:xfrm>
          <a:off x="1869586" y="1385517"/>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EMP</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3" name="Content Placeholder 4">
            <a:extLst>
              <a:ext uri="{FF2B5EF4-FFF2-40B4-BE49-F238E27FC236}">
                <a16:creationId xmlns:a16="http://schemas.microsoft.com/office/drawing/2014/main" id="{7B175C7A-E2A5-7E52-7CA4-C980F12B72D4}"/>
              </a:ext>
            </a:extLst>
          </p:cNvPr>
          <p:cNvGraphicFramePr>
            <a:graphicFrameLocks/>
          </p:cNvGraphicFramePr>
          <p:nvPr/>
        </p:nvGraphicFramePr>
        <p:xfrm>
          <a:off x="4506183" y="1380384"/>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5" name="Rectangle 14">
            <a:extLst>
              <a:ext uri="{FF2B5EF4-FFF2-40B4-BE49-F238E27FC236}">
                <a16:creationId xmlns:a16="http://schemas.microsoft.com/office/drawing/2014/main" id="{1D3C1712-0990-3EEA-33A0-8CEC5AAFD4ED}"/>
              </a:ext>
            </a:extLst>
          </p:cNvPr>
          <p:cNvSpPr/>
          <p:nvPr/>
        </p:nvSpPr>
        <p:spPr>
          <a:xfrm>
            <a:off x="717629" y="4977114"/>
            <a:ext cx="6204031" cy="1238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a:t>
            </a:r>
          </a:p>
          <a:p>
            <a:r>
              <a:rPr lang="en-IN" sz="1800" dirty="0">
                <a:solidFill>
                  <a:srgbClr val="0000FF"/>
                </a:solidFill>
                <a:latin typeface="Consolas" panose="020B0609020204030204" pitchFamily="49" charset="0"/>
              </a:rPr>
              <a:t>WHERE</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EXISTS</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	(</a:t>
            </a:r>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EID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DEPT</a:t>
            </a:r>
          </a:p>
          <a:p>
            <a:r>
              <a:rPr lang="en-IN" sz="1800" dirty="0">
                <a:solidFill>
                  <a:srgbClr val="0000FF"/>
                </a:solidFill>
                <a:latin typeface="Consolas" panose="020B0609020204030204" pitchFamily="49" charset="0"/>
              </a:rPr>
              <a:t>	WHERE</a:t>
            </a:r>
            <a:endParaRPr lang="en-IN" sz="1800" dirty="0">
              <a:solidFill>
                <a:srgbClr val="000000"/>
              </a:solidFill>
              <a:latin typeface="Consolas" panose="020B0609020204030204" pitchFamily="49" charset="0"/>
            </a:endParaRPr>
          </a:p>
          <a:p>
            <a:r>
              <a:rPr lang="en-IN" sz="1800" dirty="0">
                <a:solidFill>
                  <a:srgbClr val="000000"/>
                </a:solidFill>
                <a:latin typeface="Consolas" panose="020B0609020204030204" pitchFamily="49" charset="0"/>
              </a:rPr>
              <a:t>	EMP</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DEPT</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endParaRPr lang="en-IN" dirty="0"/>
          </a:p>
        </p:txBody>
      </p:sp>
      <p:graphicFrame>
        <p:nvGraphicFramePr>
          <p:cNvPr id="17" name="Content Placeholder 4">
            <a:extLst>
              <a:ext uri="{FF2B5EF4-FFF2-40B4-BE49-F238E27FC236}">
                <a16:creationId xmlns:a16="http://schemas.microsoft.com/office/drawing/2014/main" id="{A74984B6-38CF-95BC-D9C4-565EB82F4E30}"/>
              </a:ext>
            </a:extLst>
          </p:cNvPr>
          <p:cNvGraphicFramePr>
            <a:graphicFrameLocks/>
          </p:cNvGraphicFramePr>
          <p:nvPr/>
        </p:nvGraphicFramePr>
        <p:xfrm>
          <a:off x="806645" y="4390605"/>
          <a:ext cx="2457416" cy="365760"/>
        </p:xfrm>
        <a:graphic>
          <a:graphicData uri="http://schemas.openxmlformats.org/drawingml/2006/table">
            <a:tbl>
              <a:tblPr firstRow="1" bandRow="1">
                <a:tableStyleId>{8EC20E35-A176-4012-BC5E-935CFFF8708E}</a:tableStyleId>
              </a:tblPr>
              <a:tblGrid>
                <a:gridCol w="245741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CORRELATE SUBQUERY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20" name="Straight Connector 19">
            <a:extLst>
              <a:ext uri="{FF2B5EF4-FFF2-40B4-BE49-F238E27FC236}">
                <a16:creationId xmlns:a16="http://schemas.microsoft.com/office/drawing/2014/main" id="{9676A9A0-4A32-EFA2-CFB3-C9741A81231B}"/>
              </a:ext>
            </a:extLst>
          </p:cNvPr>
          <p:cNvCxnSpPr/>
          <p:nvPr/>
        </p:nvCxnSpPr>
        <p:spPr>
          <a:xfrm>
            <a:off x="243068" y="4062714"/>
            <a:ext cx="1169043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015045C-82DB-5193-9ECF-C120E8AB431A}"/>
              </a:ext>
            </a:extLst>
          </p:cNvPr>
          <p:cNvSpPr/>
          <p:nvPr/>
        </p:nvSpPr>
        <p:spPr>
          <a:xfrm>
            <a:off x="1869586" y="1751277"/>
            <a:ext cx="1639651" cy="21591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E7993B6D-55D4-5D0E-0476-50300DB43B45}"/>
              </a:ext>
            </a:extLst>
          </p:cNvPr>
          <p:cNvSpPr/>
          <p:nvPr/>
        </p:nvSpPr>
        <p:spPr>
          <a:xfrm>
            <a:off x="4506183" y="1751277"/>
            <a:ext cx="3753374" cy="139703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Content Placeholder 26">
            <a:extLst>
              <a:ext uri="{FF2B5EF4-FFF2-40B4-BE49-F238E27FC236}">
                <a16:creationId xmlns:a16="http://schemas.microsoft.com/office/drawing/2014/main" id="{94C9426B-C5A6-3C43-108B-1082A9448A90}"/>
              </a:ext>
            </a:extLst>
          </p:cNvPr>
          <p:cNvPicPr>
            <a:picLocks noChangeAspect="1"/>
          </p:cNvPicPr>
          <p:nvPr/>
        </p:nvPicPr>
        <p:blipFill>
          <a:blip r:embed="rId4"/>
          <a:stretch>
            <a:fillRect/>
          </a:stretch>
        </p:blipFill>
        <p:spPr>
          <a:xfrm>
            <a:off x="6692941" y="5742400"/>
            <a:ext cx="1648055" cy="371527"/>
          </a:xfrm>
          <a:prstGeom prst="rect">
            <a:avLst/>
          </a:prstGeom>
        </p:spPr>
      </p:pic>
      <p:graphicFrame>
        <p:nvGraphicFramePr>
          <p:cNvPr id="24" name="Content Placeholder 4">
            <a:extLst>
              <a:ext uri="{FF2B5EF4-FFF2-40B4-BE49-F238E27FC236}">
                <a16:creationId xmlns:a16="http://schemas.microsoft.com/office/drawing/2014/main" id="{2C1FF8A8-C049-6B4D-1D08-295436A9648B}"/>
              </a:ext>
            </a:extLst>
          </p:cNvPr>
          <p:cNvGraphicFramePr>
            <a:graphicFrameLocks/>
          </p:cNvGraphicFramePr>
          <p:nvPr/>
        </p:nvGraphicFramePr>
        <p:xfrm>
          <a:off x="6679318" y="4353838"/>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25" name="Picture 24">
            <a:extLst>
              <a:ext uri="{FF2B5EF4-FFF2-40B4-BE49-F238E27FC236}">
                <a16:creationId xmlns:a16="http://schemas.microsoft.com/office/drawing/2014/main" id="{E7863F72-9B83-9F38-6ADC-90D0C832639E}"/>
              </a:ext>
            </a:extLst>
          </p:cNvPr>
          <p:cNvPicPr>
            <a:picLocks noChangeAspect="1"/>
          </p:cNvPicPr>
          <p:nvPr/>
        </p:nvPicPr>
        <p:blipFill>
          <a:blip r:embed="rId5"/>
          <a:stretch>
            <a:fillRect/>
          </a:stretch>
        </p:blipFill>
        <p:spPr>
          <a:xfrm>
            <a:off x="6681054" y="4696448"/>
            <a:ext cx="1638529" cy="724001"/>
          </a:xfrm>
          <a:prstGeom prst="rect">
            <a:avLst/>
          </a:prstGeom>
        </p:spPr>
      </p:pic>
      <p:pic>
        <p:nvPicPr>
          <p:cNvPr id="26" name="Picture 25">
            <a:extLst>
              <a:ext uri="{FF2B5EF4-FFF2-40B4-BE49-F238E27FC236}">
                <a16:creationId xmlns:a16="http://schemas.microsoft.com/office/drawing/2014/main" id="{B6E9123D-DF2A-07BA-4DCC-3F513FF1E6EA}"/>
              </a:ext>
            </a:extLst>
          </p:cNvPr>
          <p:cNvPicPr>
            <a:picLocks noChangeAspect="1"/>
          </p:cNvPicPr>
          <p:nvPr/>
        </p:nvPicPr>
        <p:blipFill>
          <a:blip r:embed="rId6"/>
          <a:stretch>
            <a:fillRect/>
          </a:stretch>
        </p:blipFill>
        <p:spPr>
          <a:xfrm>
            <a:off x="6702468" y="5433894"/>
            <a:ext cx="1629002" cy="323895"/>
          </a:xfrm>
          <a:prstGeom prst="rect">
            <a:avLst/>
          </a:prstGeom>
        </p:spPr>
      </p:pic>
      <p:graphicFrame>
        <p:nvGraphicFramePr>
          <p:cNvPr id="28" name="Content Placeholder 4">
            <a:extLst>
              <a:ext uri="{FF2B5EF4-FFF2-40B4-BE49-F238E27FC236}">
                <a16:creationId xmlns:a16="http://schemas.microsoft.com/office/drawing/2014/main" id="{E5A391AF-9DDE-E4B9-46EF-94A9A2E5D36A}"/>
              </a:ext>
            </a:extLst>
          </p:cNvPr>
          <p:cNvGraphicFramePr>
            <a:graphicFrameLocks/>
          </p:cNvGraphicFramePr>
          <p:nvPr/>
        </p:nvGraphicFramePr>
        <p:xfrm>
          <a:off x="257210" y="931950"/>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TABLES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8563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p:bldP spid="19" grpId="0"/>
      <p:bldP spid="11"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8C421-A51A-5A89-610B-782BF6536A6A}"/>
              </a:ext>
            </a:extLst>
          </p:cNvPr>
          <p:cNvSpPr>
            <a:spLocks noGrp="1"/>
          </p:cNvSpPr>
          <p:nvPr>
            <p:ph type="title"/>
          </p:nvPr>
        </p:nvSpPr>
        <p:spPr/>
        <p:txBody>
          <a:bodyPr/>
          <a:lstStyle/>
          <a:p>
            <a:r>
              <a:rPr lang="en-US" dirty="0"/>
              <a:t>Limitation of Sub Query</a:t>
            </a:r>
            <a:endParaRPr lang="en-IN" dirty="0"/>
          </a:p>
        </p:txBody>
      </p:sp>
      <p:sp>
        <p:nvSpPr>
          <p:cNvPr id="3" name="Content Placeholder 2">
            <a:extLst>
              <a:ext uri="{FF2B5EF4-FFF2-40B4-BE49-F238E27FC236}">
                <a16:creationId xmlns:a16="http://schemas.microsoft.com/office/drawing/2014/main" id="{F524BFDD-0F0D-FB80-DD65-52335CC88E67}"/>
              </a:ext>
            </a:extLst>
          </p:cNvPr>
          <p:cNvSpPr>
            <a:spLocks noGrp="1"/>
          </p:cNvSpPr>
          <p:nvPr>
            <p:ph idx="1"/>
          </p:nvPr>
        </p:nvSpPr>
        <p:spPr/>
        <p:txBody>
          <a:bodyPr/>
          <a:lstStyle/>
          <a:p>
            <a:r>
              <a:rPr lang="en-US" b="1" dirty="0">
                <a:solidFill>
                  <a:srgbClr val="0E47A1"/>
                </a:solidFill>
              </a:rPr>
              <a:t>Complexity:</a:t>
            </a:r>
            <a:r>
              <a:rPr lang="en-US" dirty="0"/>
              <a:t> Subqueries </a:t>
            </a:r>
            <a:r>
              <a:rPr lang="en-US" dirty="0">
                <a:solidFill>
                  <a:srgbClr val="C00000"/>
                </a:solidFill>
              </a:rPr>
              <a:t>can increase the complexity of SQL statements</a:t>
            </a:r>
            <a:r>
              <a:rPr lang="en-US" dirty="0"/>
              <a:t>, potentially </a:t>
            </a:r>
            <a:r>
              <a:rPr lang="en-US" dirty="0">
                <a:solidFill>
                  <a:srgbClr val="C00000"/>
                </a:solidFill>
              </a:rPr>
              <a:t>leading to performance degradation.</a:t>
            </a:r>
          </a:p>
          <a:p>
            <a:r>
              <a:rPr lang="en-US" b="1" dirty="0">
                <a:solidFill>
                  <a:srgbClr val="0E47A1"/>
                </a:solidFill>
              </a:rPr>
              <a:t>Execution Cost: </a:t>
            </a:r>
            <a:r>
              <a:rPr lang="en-US" dirty="0"/>
              <a:t>Subqueries, especially </a:t>
            </a:r>
            <a:r>
              <a:rPr lang="en-US" dirty="0">
                <a:solidFill>
                  <a:srgbClr val="C00000"/>
                </a:solidFill>
              </a:rPr>
              <a:t>correlated subqueries, can be computationally expensive</a:t>
            </a:r>
            <a:r>
              <a:rPr lang="en-US" dirty="0"/>
              <a:t> as they might be executed multiple times.</a:t>
            </a:r>
          </a:p>
          <a:p>
            <a:r>
              <a:rPr lang="en-US" b="1" dirty="0">
                <a:solidFill>
                  <a:srgbClr val="0E47A1"/>
                </a:solidFill>
              </a:rPr>
              <a:t>Nested Structure: </a:t>
            </a:r>
            <a:r>
              <a:rPr lang="en-US" dirty="0"/>
              <a:t>Deeply nested subqueries can </a:t>
            </a:r>
            <a:r>
              <a:rPr lang="en-US" dirty="0">
                <a:solidFill>
                  <a:srgbClr val="C00000"/>
                </a:solidFill>
              </a:rPr>
              <a:t>make SQL statements harder to read and understand, making them more difficult to maintain</a:t>
            </a:r>
            <a:r>
              <a:rPr lang="en-US" dirty="0"/>
              <a:t>.</a:t>
            </a:r>
          </a:p>
          <a:p>
            <a:r>
              <a:rPr lang="en-US" b="1" dirty="0">
                <a:solidFill>
                  <a:srgbClr val="0E47A1"/>
                </a:solidFill>
              </a:rPr>
              <a:t>Debugging: </a:t>
            </a:r>
            <a:r>
              <a:rPr lang="en-US" dirty="0">
                <a:solidFill>
                  <a:srgbClr val="C00000"/>
                </a:solidFill>
              </a:rPr>
              <a:t>Debugging</a:t>
            </a:r>
            <a:r>
              <a:rPr lang="en-US" dirty="0"/>
              <a:t> SQL queries </a:t>
            </a:r>
            <a:r>
              <a:rPr lang="en-US" dirty="0">
                <a:solidFill>
                  <a:srgbClr val="C00000"/>
                </a:solidFill>
              </a:rPr>
              <a:t>with multiple subqueries can be challenging</a:t>
            </a:r>
            <a:r>
              <a:rPr lang="en-US" dirty="0"/>
              <a:t>.</a:t>
            </a:r>
          </a:p>
          <a:p>
            <a:r>
              <a:rPr lang="en-US" b="1" dirty="0">
                <a:solidFill>
                  <a:srgbClr val="0E47A1"/>
                </a:solidFill>
              </a:rPr>
              <a:t>Scalability Issues: </a:t>
            </a:r>
            <a:r>
              <a:rPr lang="en-US" dirty="0"/>
              <a:t>As the </a:t>
            </a:r>
            <a:r>
              <a:rPr lang="en-US" dirty="0">
                <a:solidFill>
                  <a:srgbClr val="C00000"/>
                </a:solidFill>
              </a:rPr>
              <a:t>data volume grows, the performance of subqueries can degrade </a:t>
            </a:r>
            <a:r>
              <a:rPr lang="en-US" dirty="0"/>
              <a:t>significantly, affecting the overall scalability of the application.</a:t>
            </a:r>
            <a:endParaRPr lang="en-IN" dirty="0"/>
          </a:p>
        </p:txBody>
      </p:sp>
    </p:spTree>
    <p:extLst>
      <p:ext uri="{BB962C8B-B14F-4D97-AF65-F5344CB8AC3E}">
        <p14:creationId xmlns:p14="http://schemas.microsoft.com/office/powerpoint/2010/main" val="136789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2FD52-B5C4-AAC4-DE73-F2BE88D6F0DD}"/>
              </a:ext>
            </a:extLst>
          </p:cNvPr>
          <p:cNvSpPr>
            <a:spLocks noGrp="1"/>
          </p:cNvSpPr>
          <p:nvPr>
            <p:ph type="title"/>
          </p:nvPr>
        </p:nvSpPr>
        <p:spPr/>
        <p:txBody>
          <a:bodyPr/>
          <a:lstStyle/>
          <a:p>
            <a:r>
              <a:rPr lang="en-IN" dirty="0"/>
              <a:t>Join v/s Sub query</a:t>
            </a:r>
          </a:p>
        </p:txBody>
      </p:sp>
      <p:graphicFrame>
        <p:nvGraphicFramePr>
          <p:cNvPr id="6" name="Content Placeholder 5">
            <a:extLst>
              <a:ext uri="{FF2B5EF4-FFF2-40B4-BE49-F238E27FC236}">
                <a16:creationId xmlns:a16="http://schemas.microsoft.com/office/drawing/2014/main" id="{040FDABC-20E0-45B1-024D-49DAC9C599E3}"/>
              </a:ext>
            </a:extLst>
          </p:cNvPr>
          <p:cNvGraphicFramePr>
            <a:graphicFrameLocks noGrp="1"/>
          </p:cNvGraphicFramePr>
          <p:nvPr>
            <p:ph idx="1"/>
          </p:nvPr>
        </p:nvGraphicFramePr>
        <p:xfrm>
          <a:off x="209960" y="1738114"/>
          <a:ext cx="11635363" cy="944880"/>
        </p:xfrm>
        <a:graphic>
          <a:graphicData uri="http://schemas.openxmlformats.org/drawingml/2006/table">
            <a:tbl>
              <a:tblPr firstRow="1" bandRow="1">
                <a:tableStyleId>{8EC20E35-A176-4012-BC5E-935CFFF8708E}</a:tableStyleId>
              </a:tblPr>
              <a:tblGrid>
                <a:gridCol w="1690557">
                  <a:extLst>
                    <a:ext uri="{9D8B030D-6E8A-4147-A177-3AD203B41FA5}">
                      <a16:colId xmlns:a16="http://schemas.microsoft.com/office/drawing/2014/main" val="958018848"/>
                    </a:ext>
                  </a:extLst>
                </a:gridCol>
                <a:gridCol w="5018244">
                  <a:extLst>
                    <a:ext uri="{9D8B030D-6E8A-4147-A177-3AD203B41FA5}">
                      <a16:colId xmlns:a16="http://schemas.microsoft.com/office/drawing/2014/main" val="3461316769"/>
                    </a:ext>
                  </a:extLst>
                </a:gridCol>
                <a:gridCol w="4926562">
                  <a:extLst>
                    <a:ext uri="{9D8B030D-6E8A-4147-A177-3AD203B41FA5}">
                      <a16:colId xmlns:a16="http://schemas.microsoft.com/office/drawing/2014/main" val="133769863"/>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Definition</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A Join is a concept used to fetch rows from two or more tables based on a related column or set of columns.</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A Subquery (Nested Query) is a query that is embedded within another SQL query. This is also a technique to fetch data from multiple tables.</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4913785"/>
                  </a:ext>
                </a:extLst>
              </a:tr>
            </a:tbl>
          </a:graphicData>
        </a:graphic>
      </p:graphicFrame>
      <p:graphicFrame>
        <p:nvGraphicFramePr>
          <p:cNvPr id="4" name="Content Placeholder 4">
            <a:extLst>
              <a:ext uri="{FF2B5EF4-FFF2-40B4-BE49-F238E27FC236}">
                <a16:creationId xmlns:a16="http://schemas.microsoft.com/office/drawing/2014/main" id="{AF1B1384-0F6A-80E6-2081-D60F54B8D262}"/>
              </a:ext>
            </a:extLst>
          </p:cNvPr>
          <p:cNvGraphicFramePr>
            <a:graphicFrameLocks/>
          </p:cNvGraphicFramePr>
          <p:nvPr/>
        </p:nvGraphicFramePr>
        <p:xfrm>
          <a:off x="209962" y="1301079"/>
          <a:ext cx="11635363" cy="447514"/>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0000"/>
                    </a:ext>
                  </a:extLst>
                </a:gridCol>
                <a:gridCol w="5019869">
                  <a:extLst>
                    <a:ext uri="{9D8B030D-6E8A-4147-A177-3AD203B41FA5}">
                      <a16:colId xmlns:a16="http://schemas.microsoft.com/office/drawing/2014/main" val="20001"/>
                    </a:ext>
                  </a:extLst>
                </a:gridCol>
                <a:gridCol w="4926562">
                  <a:extLst>
                    <a:ext uri="{9D8B030D-6E8A-4147-A177-3AD203B41FA5}">
                      <a16:colId xmlns:a16="http://schemas.microsoft.com/office/drawing/2014/main" val="20002"/>
                    </a:ext>
                  </a:extLst>
                </a:gridCol>
              </a:tblGrid>
              <a:tr h="447514">
                <a:tc>
                  <a:txBody>
                    <a:bodyPr/>
                    <a:lstStyle/>
                    <a:p>
                      <a:pPr fontAlgn="t"/>
                      <a:r>
                        <a:rPr lang="en-GB" b="1">
                          <a:solidFill>
                            <a:schemeClr val="tx1"/>
                          </a:solidFill>
                          <a:effectLst/>
                        </a:rPr>
                        <a:t>Parameters</a:t>
                      </a:r>
                      <a:endParaRPr lang="en-GB">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Join</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Subquery</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5" name="Content Placeholder 4">
            <a:extLst>
              <a:ext uri="{FF2B5EF4-FFF2-40B4-BE49-F238E27FC236}">
                <a16:creationId xmlns:a16="http://schemas.microsoft.com/office/drawing/2014/main" id="{60D88B04-E1A6-A3E1-9BE2-5C1B60753BE3}"/>
              </a:ext>
            </a:extLst>
          </p:cNvPr>
          <p:cNvGraphicFramePr>
            <a:graphicFrameLocks/>
          </p:cNvGraphicFramePr>
          <p:nvPr/>
        </p:nvGraphicFramePr>
        <p:xfrm>
          <a:off x="200727" y="926083"/>
          <a:ext cx="1166416" cy="365760"/>
        </p:xfrm>
        <a:graphic>
          <a:graphicData uri="http://schemas.openxmlformats.org/drawingml/2006/table">
            <a:tbl>
              <a:tblPr firstRow="1" bandRow="1">
                <a:tableStyleId>{8EC20E35-A176-4012-BC5E-935CFFF8708E}</a:tableStyleId>
              </a:tblPr>
              <a:tblGrid>
                <a:gridCol w="1166416">
                  <a:extLst>
                    <a:ext uri="{9D8B030D-6E8A-4147-A177-3AD203B41FA5}">
                      <a16:colId xmlns:a16="http://schemas.microsoft.com/office/drawing/2014/main" val="20000"/>
                    </a:ext>
                  </a:extLst>
                </a:gridCol>
              </a:tblGrid>
              <a:tr h="285488">
                <a:tc>
                  <a:txBody>
                    <a:bodyPr/>
                    <a:lstStyle/>
                    <a:p>
                      <a:pPr algn="ctr"/>
                      <a:r>
                        <a:rPr lang="en-US" b="1" dirty="0">
                          <a:solidFill>
                            <a:schemeClr val="bg1"/>
                          </a:solidFill>
                        </a:rPr>
                        <a:t>Difference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35DCD561-4996-64B9-53B3-E0AE67969494}"/>
              </a:ext>
            </a:extLst>
          </p:cNvPr>
          <p:cNvGraphicFramePr>
            <a:graphicFrameLocks noGrp="1"/>
          </p:cNvGraphicFramePr>
          <p:nvPr/>
        </p:nvGraphicFramePr>
        <p:xfrm>
          <a:off x="209962" y="2684237"/>
          <a:ext cx="11635363" cy="670560"/>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383357917"/>
                    </a:ext>
                  </a:extLst>
                </a:gridCol>
                <a:gridCol w="5019869">
                  <a:extLst>
                    <a:ext uri="{9D8B030D-6E8A-4147-A177-3AD203B41FA5}">
                      <a16:colId xmlns:a16="http://schemas.microsoft.com/office/drawing/2014/main" val="1677393283"/>
                    </a:ext>
                  </a:extLst>
                </a:gridCol>
                <a:gridCol w="4926562">
                  <a:extLst>
                    <a:ext uri="{9D8B030D-6E8A-4147-A177-3AD203B41FA5}">
                      <a16:colId xmlns:a16="http://schemas.microsoft.com/office/drawing/2014/main" val="2894284266"/>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Types</a:t>
                      </a:r>
                    </a:p>
                    <a:p>
                      <a:pPr fontAlgn="t"/>
                      <a:endParaRPr lang="en-GB" b="1" dirty="0">
                        <a:solidFill>
                          <a:schemeClr val="tx2"/>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IN" sz="1800" b="0" i="0" kern="1200" dirty="0">
                          <a:solidFill>
                            <a:schemeClr val="dk1"/>
                          </a:solidFill>
                          <a:effectLst/>
                          <a:latin typeface="+mn-lt"/>
                          <a:ea typeface="+mn-ea"/>
                          <a:cs typeface="+mn-cs"/>
                        </a:rPr>
                        <a:t>Inner, Outer, Cross, Self</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IN" sz="1800" b="0" i="0" kern="1200" dirty="0">
                          <a:solidFill>
                            <a:schemeClr val="dk1"/>
                          </a:solidFill>
                          <a:effectLst/>
                          <a:latin typeface="+mn-lt"/>
                          <a:ea typeface="+mn-ea"/>
                          <a:cs typeface="+mn-cs"/>
                        </a:rPr>
                        <a:t>Single Row, Multi-Row, Correlated</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70973385"/>
                  </a:ext>
                </a:extLst>
              </a:tr>
            </a:tbl>
          </a:graphicData>
        </a:graphic>
      </p:graphicFrame>
      <p:graphicFrame>
        <p:nvGraphicFramePr>
          <p:cNvPr id="8" name="Table 7">
            <a:extLst>
              <a:ext uri="{FF2B5EF4-FFF2-40B4-BE49-F238E27FC236}">
                <a16:creationId xmlns:a16="http://schemas.microsoft.com/office/drawing/2014/main" id="{B42395AA-E4AA-3869-E4F4-3066A94C7211}"/>
              </a:ext>
            </a:extLst>
          </p:cNvPr>
          <p:cNvGraphicFramePr>
            <a:graphicFrameLocks noGrp="1"/>
          </p:cNvGraphicFramePr>
          <p:nvPr/>
        </p:nvGraphicFramePr>
        <p:xfrm>
          <a:off x="209961" y="3354797"/>
          <a:ext cx="11635363" cy="670560"/>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545654813"/>
                    </a:ext>
                  </a:extLst>
                </a:gridCol>
                <a:gridCol w="5019869">
                  <a:extLst>
                    <a:ext uri="{9D8B030D-6E8A-4147-A177-3AD203B41FA5}">
                      <a16:colId xmlns:a16="http://schemas.microsoft.com/office/drawing/2014/main" val="3534728257"/>
                    </a:ext>
                  </a:extLst>
                </a:gridCol>
                <a:gridCol w="4926562">
                  <a:extLst>
                    <a:ext uri="{9D8B030D-6E8A-4147-A177-3AD203B41FA5}">
                      <a16:colId xmlns:a16="http://schemas.microsoft.com/office/drawing/2014/main" val="52194892"/>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When to use</a:t>
                      </a:r>
                    </a:p>
                    <a:p>
                      <a:pPr fontAlgn="t"/>
                      <a:endParaRPr lang="en-GB" b="1" dirty="0">
                        <a:solidFill>
                          <a:schemeClr val="tx2"/>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JOINs are used when the relationships between the tables are known and fixed.</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Subqueries are often used when the result of the query is not known or dynamic.</a:t>
                      </a:r>
                      <a:r>
                        <a:rPr lang="en-US" sz="1800" b="0" i="0" kern="1200" dirty="0">
                          <a:solidFill>
                            <a:schemeClr val="lt1"/>
                          </a:solidFill>
                          <a:effectLst/>
                          <a:latin typeface="+mn-lt"/>
                          <a:ea typeface="+mn-ea"/>
                          <a:cs typeface="+mn-cs"/>
                        </a:rPr>
                        <a:t>..</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05386118"/>
                  </a:ext>
                </a:extLst>
              </a:tr>
            </a:tbl>
          </a:graphicData>
        </a:graphic>
      </p:graphicFrame>
      <p:graphicFrame>
        <p:nvGraphicFramePr>
          <p:cNvPr id="9" name="Table 8">
            <a:extLst>
              <a:ext uri="{FF2B5EF4-FFF2-40B4-BE49-F238E27FC236}">
                <a16:creationId xmlns:a16="http://schemas.microsoft.com/office/drawing/2014/main" id="{BFFC6D6F-984E-D558-15C6-45F993D0A9CC}"/>
              </a:ext>
            </a:extLst>
          </p:cNvPr>
          <p:cNvGraphicFramePr>
            <a:graphicFrameLocks noGrp="1"/>
          </p:cNvGraphicFramePr>
          <p:nvPr/>
        </p:nvGraphicFramePr>
        <p:xfrm>
          <a:off x="209961" y="4026600"/>
          <a:ext cx="11635363" cy="944880"/>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3297889031"/>
                    </a:ext>
                  </a:extLst>
                </a:gridCol>
                <a:gridCol w="5019869">
                  <a:extLst>
                    <a:ext uri="{9D8B030D-6E8A-4147-A177-3AD203B41FA5}">
                      <a16:colId xmlns:a16="http://schemas.microsoft.com/office/drawing/2014/main" val="2728143266"/>
                    </a:ext>
                  </a:extLst>
                </a:gridCol>
                <a:gridCol w="4926562">
                  <a:extLst>
                    <a:ext uri="{9D8B030D-6E8A-4147-A177-3AD203B41FA5}">
                      <a16:colId xmlns:a16="http://schemas.microsoft.com/office/drawing/2014/main" val="2696696310"/>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Advantage</a:t>
                      </a:r>
                    </a:p>
                    <a:p>
                      <a:pPr fontAlgn="t"/>
                      <a:endParaRPr lang="en-GB" b="1" dirty="0">
                        <a:solidFill>
                          <a:schemeClr val="tx2"/>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Joins help with a clear and concise way to retrieve data without the need for additional filtering or processing.</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Subqueries help us to perform complex filtering and calculations based on the results of the inner query.</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2669212"/>
                  </a:ext>
                </a:extLst>
              </a:tr>
            </a:tbl>
          </a:graphicData>
        </a:graphic>
      </p:graphicFrame>
      <p:graphicFrame>
        <p:nvGraphicFramePr>
          <p:cNvPr id="10" name="Table 9">
            <a:extLst>
              <a:ext uri="{FF2B5EF4-FFF2-40B4-BE49-F238E27FC236}">
                <a16:creationId xmlns:a16="http://schemas.microsoft.com/office/drawing/2014/main" id="{AA8AFFB6-C068-3D57-0B2E-AF13408C7CC2}"/>
              </a:ext>
            </a:extLst>
          </p:cNvPr>
          <p:cNvGraphicFramePr>
            <a:graphicFrameLocks noGrp="1"/>
          </p:cNvGraphicFramePr>
          <p:nvPr/>
        </p:nvGraphicFramePr>
        <p:xfrm>
          <a:off x="209960" y="4961001"/>
          <a:ext cx="11635363" cy="944880"/>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1006454372"/>
                    </a:ext>
                  </a:extLst>
                </a:gridCol>
                <a:gridCol w="5019869">
                  <a:extLst>
                    <a:ext uri="{9D8B030D-6E8A-4147-A177-3AD203B41FA5}">
                      <a16:colId xmlns:a16="http://schemas.microsoft.com/office/drawing/2014/main" val="4017941095"/>
                    </a:ext>
                  </a:extLst>
                </a:gridCol>
                <a:gridCol w="4926562">
                  <a:extLst>
                    <a:ext uri="{9D8B030D-6E8A-4147-A177-3AD203B41FA5}">
                      <a16:colId xmlns:a16="http://schemas.microsoft.com/office/drawing/2014/main" val="1084007206"/>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Limitation</a:t>
                      </a:r>
                    </a:p>
                    <a:p>
                      <a:pPr fontAlgn="t"/>
                      <a:endParaRPr lang="en-GB" b="1" dirty="0">
                        <a:solidFill>
                          <a:schemeClr val="tx2"/>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While Joins work well for combining data from different tables, they may not be suitable for certain complex data manipulations.</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Subqueries may make the SQL code more complex and harder to read.</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02755571"/>
                  </a:ext>
                </a:extLst>
              </a:tr>
            </a:tbl>
          </a:graphicData>
        </a:graphic>
      </p:graphicFrame>
    </p:spTree>
    <p:extLst>
      <p:ext uri="{BB962C8B-B14F-4D97-AF65-F5344CB8AC3E}">
        <p14:creationId xmlns:p14="http://schemas.microsoft.com/office/powerpoint/2010/main" val="77130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BA4DD-AE00-3B08-4B31-F81C06263DD2}"/>
              </a:ext>
            </a:extLst>
          </p:cNvPr>
          <p:cNvSpPr>
            <a:spLocks noGrp="1"/>
          </p:cNvSpPr>
          <p:nvPr>
            <p:ph type="title"/>
          </p:nvPr>
        </p:nvSpPr>
        <p:spPr/>
        <p:txBody>
          <a:bodyPr/>
          <a:lstStyle/>
          <a:p>
            <a:r>
              <a:rPr lang="en-US" dirty="0"/>
              <a:t>SET Operators</a:t>
            </a:r>
            <a:endParaRPr lang="en-IN" dirty="0"/>
          </a:p>
        </p:txBody>
      </p:sp>
      <p:sp>
        <p:nvSpPr>
          <p:cNvPr id="3" name="Text Placeholder 2">
            <a:extLst>
              <a:ext uri="{FF2B5EF4-FFF2-40B4-BE49-F238E27FC236}">
                <a16:creationId xmlns:a16="http://schemas.microsoft.com/office/drawing/2014/main" id="{752B93A2-C304-5D87-D091-08AA1670496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3220646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531A3-A8E2-4F7A-B0BE-D786E05D2695}"/>
              </a:ext>
            </a:extLst>
          </p:cNvPr>
          <p:cNvSpPr>
            <a:spLocks noGrp="1"/>
          </p:cNvSpPr>
          <p:nvPr>
            <p:ph type="title"/>
          </p:nvPr>
        </p:nvSpPr>
        <p:spPr/>
        <p:txBody>
          <a:bodyPr/>
          <a:lstStyle/>
          <a:p>
            <a:r>
              <a:rPr lang="en-US" dirty="0"/>
              <a:t>SET Operators</a:t>
            </a:r>
          </a:p>
        </p:txBody>
      </p:sp>
      <p:sp>
        <p:nvSpPr>
          <p:cNvPr id="3" name="Content Placeholder 2">
            <a:extLst>
              <a:ext uri="{FF2B5EF4-FFF2-40B4-BE49-F238E27FC236}">
                <a16:creationId xmlns:a16="http://schemas.microsoft.com/office/drawing/2014/main" id="{041C2CF8-CE10-4B72-B816-8561CFCCD4AA}"/>
              </a:ext>
            </a:extLst>
          </p:cNvPr>
          <p:cNvSpPr>
            <a:spLocks noGrp="1"/>
          </p:cNvSpPr>
          <p:nvPr>
            <p:ph idx="1"/>
          </p:nvPr>
        </p:nvSpPr>
        <p:spPr/>
        <p:txBody>
          <a:bodyPr/>
          <a:lstStyle/>
          <a:p>
            <a:r>
              <a:rPr lang="en-US" dirty="0"/>
              <a:t>The four set operators </a:t>
            </a:r>
            <a:r>
              <a:rPr lang="en-US" b="1" dirty="0">
                <a:solidFill>
                  <a:srgbClr val="C00000"/>
                </a:solidFill>
              </a:rPr>
              <a:t>union, union all, intersect </a:t>
            </a:r>
            <a:r>
              <a:rPr lang="en-US" dirty="0"/>
              <a:t>and </a:t>
            </a:r>
            <a:r>
              <a:rPr lang="en-US" b="1" dirty="0">
                <a:solidFill>
                  <a:srgbClr val="C00000"/>
                </a:solidFill>
              </a:rPr>
              <a:t>except</a:t>
            </a:r>
            <a:r>
              <a:rPr lang="en-US" dirty="0"/>
              <a:t> allow us to serially </a:t>
            </a:r>
            <a:r>
              <a:rPr lang="en-US" b="1" dirty="0">
                <a:solidFill>
                  <a:srgbClr val="C00000"/>
                </a:solidFill>
              </a:rPr>
              <a:t>combine two or more select statements</a:t>
            </a:r>
            <a:r>
              <a:rPr lang="en-US" dirty="0">
                <a:solidFill>
                  <a:srgbClr val="C00000"/>
                </a:solidFill>
              </a:rPr>
              <a:t>.</a:t>
            </a:r>
          </a:p>
          <a:p>
            <a:endParaRPr lang="en-US" dirty="0"/>
          </a:p>
        </p:txBody>
      </p:sp>
      <p:graphicFrame>
        <p:nvGraphicFramePr>
          <p:cNvPr id="4" name="Table 3">
            <a:extLst>
              <a:ext uri="{FF2B5EF4-FFF2-40B4-BE49-F238E27FC236}">
                <a16:creationId xmlns:a16="http://schemas.microsoft.com/office/drawing/2014/main" id="{4301CF5D-7898-E874-A5E5-339893EF57BA}"/>
              </a:ext>
            </a:extLst>
          </p:cNvPr>
          <p:cNvGraphicFramePr>
            <a:graphicFrameLocks noGrp="1"/>
          </p:cNvGraphicFramePr>
          <p:nvPr/>
        </p:nvGraphicFramePr>
        <p:xfrm>
          <a:off x="2057400" y="1958788"/>
          <a:ext cx="8077200" cy="370840"/>
        </p:xfrm>
        <a:graphic>
          <a:graphicData uri="http://schemas.openxmlformats.org/drawingml/2006/table">
            <a:tbl>
              <a:tblPr firstRow="1" bandRow="1">
                <a:tableStyleId>{69CF1AB2-1976-4502-BF36-3FF5EA218861}</a:tableStyleId>
              </a:tblPr>
              <a:tblGrid>
                <a:gridCol w="15240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70840">
                <a:tc>
                  <a:txBody>
                    <a:bodyPr/>
                    <a:lstStyle/>
                    <a:p>
                      <a:r>
                        <a:rPr lang="en-US" dirty="0"/>
                        <a:t>Operator</a:t>
                      </a:r>
                    </a:p>
                  </a:txBody>
                  <a:tcPr/>
                </a:tc>
                <a:tc>
                  <a:txBody>
                    <a:bodyPr/>
                    <a:lstStyle/>
                    <a:p>
                      <a:r>
                        <a:rPr lang="en-US" dirty="0"/>
                        <a:t>Description</a:t>
                      </a:r>
                    </a:p>
                  </a:txBody>
                  <a:tcPr/>
                </a:tc>
                <a:extLst>
                  <a:ext uri="{0D108BD9-81ED-4DB2-BD59-A6C34878D82A}">
                    <a16:rowId xmlns:a16="http://schemas.microsoft.com/office/drawing/2014/main" val="10000"/>
                  </a:ext>
                </a:extLst>
              </a:tr>
            </a:tbl>
          </a:graphicData>
        </a:graphic>
      </p:graphicFrame>
      <p:graphicFrame>
        <p:nvGraphicFramePr>
          <p:cNvPr id="5" name="Table 4">
            <a:extLst>
              <a:ext uri="{FF2B5EF4-FFF2-40B4-BE49-F238E27FC236}">
                <a16:creationId xmlns:a16="http://schemas.microsoft.com/office/drawing/2014/main" id="{C14237F2-BFCB-43C2-C6B3-899B9B0A2002}"/>
              </a:ext>
            </a:extLst>
          </p:cNvPr>
          <p:cNvGraphicFramePr>
            <a:graphicFrameLocks noGrp="1"/>
          </p:cNvGraphicFramePr>
          <p:nvPr/>
        </p:nvGraphicFramePr>
        <p:xfrm>
          <a:off x="2057400" y="2329628"/>
          <a:ext cx="8077200" cy="37084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32815870"/>
                    </a:ext>
                  </a:extLst>
                </a:gridCol>
                <a:gridCol w="6553200">
                  <a:extLst>
                    <a:ext uri="{9D8B030D-6E8A-4147-A177-3AD203B41FA5}">
                      <a16:colId xmlns:a16="http://schemas.microsoft.com/office/drawing/2014/main" val="2085035507"/>
                    </a:ext>
                  </a:extLst>
                </a:gridCol>
              </a:tblGrid>
              <a:tr h="370840">
                <a:tc>
                  <a:txBody>
                    <a:bodyPr/>
                    <a:lstStyle/>
                    <a:p>
                      <a:r>
                        <a:rPr lang="en-US" dirty="0"/>
                        <a:t>Union</a:t>
                      </a:r>
                      <a:endParaRPr lang="en-US" b="1" dirty="0"/>
                    </a:p>
                  </a:txBody>
                  <a:tcPr/>
                </a:tc>
                <a:tc>
                  <a:txBody>
                    <a:bodyPr/>
                    <a:lstStyle/>
                    <a:p>
                      <a:pPr algn="just"/>
                      <a:r>
                        <a:rPr lang="en-US" sz="1800" kern="1200" dirty="0">
                          <a:effectLst/>
                        </a:rPr>
                        <a:t>Combine two or more result sets into a single set, without duplicates.</a:t>
                      </a:r>
                      <a:endParaRPr lang="en-US" dirty="0"/>
                    </a:p>
                  </a:txBody>
                  <a:tcPr/>
                </a:tc>
                <a:extLst>
                  <a:ext uri="{0D108BD9-81ED-4DB2-BD59-A6C34878D82A}">
                    <a16:rowId xmlns:a16="http://schemas.microsoft.com/office/drawing/2014/main" val="3982777907"/>
                  </a:ext>
                </a:extLst>
              </a:tr>
            </a:tbl>
          </a:graphicData>
        </a:graphic>
      </p:graphicFrame>
      <p:graphicFrame>
        <p:nvGraphicFramePr>
          <p:cNvPr id="6" name="Table 5">
            <a:extLst>
              <a:ext uri="{FF2B5EF4-FFF2-40B4-BE49-F238E27FC236}">
                <a16:creationId xmlns:a16="http://schemas.microsoft.com/office/drawing/2014/main" id="{7F97C82A-AB2D-6715-8A81-045E79CE6CBA}"/>
              </a:ext>
            </a:extLst>
          </p:cNvPr>
          <p:cNvGraphicFramePr>
            <a:graphicFrameLocks noGrp="1"/>
          </p:cNvGraphicFramePr>
          <p:nvPr/>
        </p:nvGraphicFramePr>
        <p:xfrm>
          <a:off x="2057400" y="2700468"/>
          <a:ext cx="8077200" cy="64008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525369834"/>
                    </a:ext>
                  </a:extLst>
                </a:gridCol>
                <a:gridCol w="6553200">
                  <a:extLst>
                    <a:ext uri="{9D8B030D-6E8A-4147-A177-3AD203B41FA5}">
                      <a16:colId xmlns:a16="http://schemas.microsoft.com/office/drawing/2014/main" val="3429849965"/>
                    </a:ext>
                  </a:extLst>
                </a:gridCol>
              </a:tblGrid>
              <a:tr h="370840">
                <a:tc>
                  <a:txBody>
                    <a:bodyPr/>
                    <a:lstStyle/>
                    <a:p>
                      <a:r>
                        <a:rPr lang="en-US" dirty="0"/>
                        <a:t>Union All</a:t>
                      </a:r>
                      <a:endParaRPr lang="en-US" b="1" dirty="0"/>
                    </a:p>
                  </a:txBody>
                  <a:tcPr/>
                </a:tc>
                <a:tc>
                  <a:txBody>
                    <a:bodyPr/>
                    <a:lstStyle/>
                    <a:p>
                      <a:pPr algn="just"/>
                      <a:r>
                        <a:rPr lang="en-US" sz="1800" kern="1200" dirty="0">
                          <a:effectLst/>
                        </a:rPr>
                        <a:t>Combine two or more result sets into a single set, including all duplicates.</a:t>
                      </a:r>
                      <a:endParaRPr lang="en-US" dirty="0"/>
                    </a:p>
                  </a:txBody>
                  <a:tcPr/>
                </a:tc>
                <a:extLst>
                  <a:ext uri="{0D108BD9-81ED-4DB2-BD59-A6C34878D82A}">
                    <a16:rowId xmlns:a16="http://schemas.microsoft.com/office/drawing/2014/main" val="469507937"/>
                  </a:ext>
                </a:extLst>
              </a:tr>
            </a:tbl>
          </a:graphicData>
        </a:graphic>
      </p:graphicFrame>
      <p:graphicFrame>
        <p:nvGraphicFramePr>
          <p:cNvPr id="7" name="Table 6">
            <a:extLst>
              <a:ext uri="{FF2B5EF4-FFF2-40B4-BE49-F238E27FC236}">
                <a16:creationId xmlns:a16="http://schemas.microsoft.com/office/drawing/2014/main" id="{5BAF6F41-8543-BFAF-B0FA-30D612727691}"/>
              </a:ext>
            </a:extLst>
          </p:cNvPr>
          <p:cNvGraphicFramePr>
            <a:graphicFrameLocks noGrp="1"/>
          </p:cNvGraphicFramePr>
          <p:nvPr/>
        </p:nvGraphicFramePr>
        <p:xfrm>
          <a:off x="2057400" y="3340548"/>
          <a:ext cx="8077200" cy="37084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3059171063"/>
                    </a:ext>
                  </a:extLst>
                </a:gridCol>
                <a:gridCol w="6553200">
                  <a:extLst>
                    <a:ext uri="{9D8B030D-6E8A-4147-A177-3AD203B41FA5}">
                      <a16:colId xmlns:a16="http://schemas.microsoft.com/office/drawing/2014/main" val="986441153"/>
                    </a:ext>
                  </a:extLst>
                </a:gridCol>
              </a:tblGrid>
              <a:tr h="370840">
                <a:tc>
                  <a:txBody>
                    <a:bodyPr/>
                    <a:lstStyle/>
                    <a:p>
                      <a:r>
                        <a:rPr lang="en-US" dirty="0"/>
                        <a:t>Intersect</a:t>
                      </a:r>
                      <a:endParaRPr lang="en-US" b="1" dirty="0"/>
                    </a:p>
                  </a:txBody>
                  <a:tcPr/>
                </a:tc>
                <a:tc>
                  <a:txBody>
                    <a:bodyPr/>
                    <a:lstStyle/>
                    <a:p>
                      <a:pPr algn="just"/>
                      <a:r>
                        <a:rPr lang="en-US" sz="1800" kern="1200" dirty="0">
                          <a:effectLst/>
                        </a:rPr>
                        <a:t>Takes the data from both result sets which are in common.</a:t>
                      </a:r>
                      <a:endParaRPr lang="en-US" dirty="0"/>
                    </a:p>
                  </a:txBody>
                  <a:tcPr/>
                </a:tc>
                <a:extLst>
                  <a:ext uri="{0D108BD9-81ED-4DB2-BD59-A6C34878D82A}">
                    <a16:rowId xmlns:a16="http://schemas.microsoft.com/office/drawing/2014/main" val="1107571910"/>
                  </a:ext>
                </a:extLst>
              </a:tr>
            </a:tbl>
          </a:graphicData>
        </a:graphic>
      </p:graphicFrame>
      <p:graphicFrame>
        <p:nvGraphicFramePr>
          <p:cNvPr id="8" name="Table 7">
            <a:extLst>
              <a:ext uri="{FF2B5EF4-FFF2-40B4-BE49-F238E27FC236}">
                <a16:creationId xmlns:a16="http://schemas.microsoft.com/office/drawing/2014/main" id="{B0535F4A-8878-5B0F-344F-BB8B4D787993}"/>
              </a:ext>
            </a:extLst>
          </p:cNvPr>
          <p:cNvGraphicFramePr>
            <a:graphicFrameLocks noGrp="1"/>
          </p:cNvGraphicFramePr>
          <p:nvPr/>
        </p:nvGraphicFramePr>
        <p:xfrm>
          <a:off x="2057400" y="3706756"/>
          <a:ext cx="8077200" cy="64008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537239771"/>
                    </a:ext>
                  </a:extLst>
                </a:gridCol>
                <a:gridCol w="6553200">
                  <a:extLst>
                    <a:ext uri="{9D8B030D-6E8A-4147-A177-3AD203B41FA5}">
                      <a16:colId xmlns:a16="http://schemas.microsoft.com/office/drawing/2014/main" val="3276417918"/>
                    </a:ext>
                  </a:extLst>
                </a:gridCol>
              </a:tblGrid>
              <a:tr h="370840">
                <a:tc>
                  <a:txBody>
                    <a:bodyPr/>
                    <a:lstStyle/>
                    <a:p>
                      <a:r>
                        <a:rPr lang="en-US" dirty="0"/>
                        <a:t>Except</a:t>
                      </a:r>
                      <a:endParaRPr lang="en-US" b="1" dirty="0"/>
                    </a:p>
                  </a:txBody>
                  <a:tcPr/>
                </a:tc>
                <a:tc>
                  <a:txBody>
                    <a:bodyPr/>
                    <a:lstStyle/>
                    <a:p>
                      <a:pPr algn="just"/>
                      <a:r>
                        <a:rPr lang="en-US" sz="1800" kern="1200" dirty="0">
                          <a:effectLst/>
                        </a:rPr>
                        <a:t>Takes the data from first result set, but not the second (i.e. no matching to each other)</a:t>
                      </a:r>
                      <a:endParaRPr lang="en-US" dirty="0"/>
                    </a:p>
                  </a:txBody>
                  <a:tcPr/>
                </a:tc>
                <a:extLst>
                  <a:ext uri="{0D108BD9-81ED-4DB2-BD59-A6C34878D82A}">
                    <a16:rowId xmlns:a16="http://schemas.microsoft.com/office/drawing/2014/main" val="2602633320"/>
                  </a:ext>
                </a:extLst>
              </a:tr>
            </a:tbl>
          </a:graphicData>
        </a:graphic>
      </p:graphicFrame>
    </p:spTree>
    <p:extLst>
      <p:ext uri="{BB962C8B-B14F-4D97-AF65-F5344CB8AC3E}">
        <p14:creationId xmlns:p14="http://schemas.microsoft.com/office/powerpoint/2010/main" val="23907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B5C8F-2FE4-2C65-C819-AE99DD5D14AC}"/>
              </a:ext>
            </a:extLst>
          </p:cNvPr>
          <p:cNvSpPr>
            <a:spLocks noGrp="1"/>
          </p:cNvSpPr>
          <p:nvPr>
            <p:ph type="title"/>
          </p:nvPr>
        </p:nvSpPr>
        <p:spPr/>
        <p:txBody>
          <a:bodyPr/>
          <a:lstStyle/>
          <a:p>
            <a:r>
              <a:rPr lang="en-US" dirty="0"/>
              <a:t>Union</a:t>
            </a:r>
            <a:endParaRPr lang="en-IN" dirty="0"/>
          </a:p>
        </p:txBody>
      </p:sp>
      <p:sp>
        <p:nvSpPr>
          <p:cNvPr id="3" name="Content Placeholder 2">
            <a:extLst>
              <a:ext uri="{FF2B5EF4-FFF2-40B4-BE49-F238E27FC236}">
                <a16:creationId xmlns:a16="http://schemas.microsoft.com/office/drawing/2014/main" id="{0942FCB1-0B22-0DB6-009D-4E59247F0628}"/>
              </a:ext>
            </a:extLst>
          </p:cNvPr>
          <p:cNvSpPr>
            <a:spLocks noGrp="1"/>
          </p:cNvSpPr>
          <p:nvPr>
            <p:ph idx="1"/>
          </p:nvPr>
        </p:nvSpPr>
        <p:spPr/>
        <p:txBody>
          <a:bodyPr/>
          <a:lstStyle/>
          <a:p>
            <a:pPr algn="just"/>
            <a:r>
              <a:rPr lang="en-US" dirty="0"/>
              <a:t>The </a:t>
            </a:r>
            <a:r>
              <a:rPr lang="en-US" b="1" dirty="0"/>
              <a:t>UNION</a:t>
            </a:r>
            <a:r>
              <a:rPr lang="en-US" dirty="0"/>
              <a:t> operator is used to </a:t>
            </a:r>
            <a:r>
              <a:rPr lang="en-US" b="1" dirty="0">
                <a:solidFill>
                  <a:srgbClr val="C00000"/>
                </a:solidFill>
              </a:rPr>
              <a:t>combine</a:t>
            </a:r>
            <a:r>
              <a:rPr lang="en-US" dirty="0"/>
              <a:t> the result-set of </a:t>
            </a:r>
            <a:r>
              <a:rPr lang="en-US" b="1" dirty="0"/>
              <a:t>two or more SELECT statements.</a:t>
            </a:r>
          </a:p>
          <a:p>
            <a:pPr algn="just"/>
            <a:r>
              <a:rPr lang="en-US" dirty="0"/>
              <a:t>The UNION operator </a:t>
            </a:r>
            <a:r>
              <a:rPr lang="en-US" b="1" dirty="0">
                <a:solidFill>
                  <a:srgbClr val="C00000"/>
                </a:solidFill>
              </a:rPr>
              <a:t>removes duplicate </a:t>
            </a:r>
            <a:r>
              <a:rPr lang="en-US" dirty="0"/>
              <a:t>rows and returns result in </a:t>
            </a:r>
            <a:r>
              <a:rPr lang="en-US" b="1" dirty="0">
                <a:solidFill>
                  <a:srgbClr val="C00000"/>
                </a:solidFill>
              </a:rPr>
              <a:t>ascending order</a:t>
            </a:r>
            <a:r>
              <a:rPr lang="en-US" dirty="0">
                <a:solidFill>
                  <a:srgbClr val="C00000"/>
                </a:solidFill>
              </a:rPr>
              <a:t>.</a:t>
            </a:r>
          </a:p>
          <a:p>
            <a:endParaRPr lang="en-IN" dirty="0"/>
          </a:p>
        </p:txBody>
      </p:sp>
      <p:sp>
        <p:nvSpPr>
          <p:cNvPr id="4" name="Oval 3">
            <a:extLst>
              <a:ext uri="{FF2B5EF4-FFF2-40B4-BE49-F238E27FC236}">
                <a16:creationId xmlns:a16="http://schemas.microsoft.com/office/drawing/2014/main" id="{6392386E-558D-FB63-D4C9-9FAA64B4DFC0}"/>
              </a:ext>
            </a:extLst>
          </p:cNvPr>
          <p:cNvSpPr/>
          <p:nvPr/>
        </p:nvSpPr>
        <p:spPr>
          <a:xfrm>
            <a:off x="1997597" y="2757238"/>
            <a:ext cx="1504171" cy="1526970"/>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5" name="Oval 4">
            <a:extLst>
              <a:ext uri="{FF2B5EF4-FFF2-40B4-BE49-F238E27FC236}">
                <a16:creationId xmlns:a16="http://schemas.microsoft.com/office/drawing/2014/main" id="{297E543F-1527-FDBE-2B9A-14EBDC73B03C}"/>
              </a:ext>
            </a:extLst>
          </p:cNvPr>
          <p:cNvSpPr/>
          <p:nvPr/>
        </p:nvSpPr>
        <p:spPr>
          <a:xfrm>
            <a:off x="3728378" y="2757237"/>
            <a:ext cx="1447800" cy="1532148"/>
          </a:xfrm>
          <a:prstGeom prst="ellipse">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6" name="Left-Right Arrow 15">
            <a:extLst>
              <a:ext uri="{FF2B5EF4-FFF2-40B4-BE49-F238E27FC236}">
                <a16:creationId xmlns:a16="http://schemas.microsoft.com/office/drawing/2014/main" id="{E425461A-5D04-306C-D74B-A4356B506195}"/>
              </a:ext>
            </a:extLst>
          </p:cNvPr>
          <p:cNvSpPr/>
          <p:nvPr/>
        </p:nvSpPr>
        <p:spPr>
          <a:xfrm>
            <a:off x="5589580" y="3238001"/>
            <a:ext cx="1262998" cy="570620"/>
          </a:xfrm>
          <a:prstGeom prst="leftRightArrow">
            <a:avLst/>
          </a:prstGeom>
          <a:solidFill>
            <a:srgbClr val="CCD668"/>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99"/>
                </a:solidFill>
                <a:effectLst/>
                <a:uLnTx/>
                <a:uFillTx/>
                <a:latin typeface="Calibri"/>
                <a:ea typeface="+mn-ea"/>
                <a:cs typeface="+mn-cs"/>
              </a:rPr>
              <a:t>Output</a:t>
            </a:r>
          </a:p>
        </p:txBody>
      </p:sp>
      <p:sp>
        <p:nvSpPr>
          <p:cNvPr id="7" name="Freeform 25">
            <a:extLst>
              <a:ext uri="{FF2B5EF4-FFF2-40B4-BE49-F238E27FC236}">
                <a16:creationId xmlns:a16="http://schemas.microsoft.com/office/drawing/2014/main" id="{D0B58E8D-C289-E653-3B92-2B56FA0C0799}"/>
              </a:ext>
            </a:extLst>
          </p:cNvPr>
          <p:cNvSpPr/>
          <p:nvPr/>
        </p:nvSpPr>
        <p:spPr>
          <a:xfrm>
            <a:off x="8071778" y="2900326"/>
            <a:ext cx="610825" cy="1239994"/>
          </a:xfrm>
          <a:custGeom>
            <a:avLst/>
            <a:gdLst>
              <a:gd name="connsiteX0" fmla="*/ 299195 w 610825"/>
              <a:gd name="connsiteY0" fmla="*/ 0 h 1239994"/>
              <a:gd name="connsiteX1" fmla="*/ 393584 w 610825"/>
              <a:gd name="connsiteY1" fmla="*/ 80437 h 1239994"/>
              <a:gd name="connsiteX2" fmla="*/ 610825 w 610825"/>
              <a:gd name="connsiteY2" fmla="*/ 622133 h 1239994"/>
              <a:gd name="connsiteX3" fmla="*/ 393584 w 610825"/>
              <a:gd name="connsiteY3" fmla="*/ 1163829 h 1239994"/>
              <a:gd name="connsiteX4" fmla="*/ 304209 w 610825"/>
              <a:gd name="connsiteY4" fmla="*/ 1239994 h 1239994"/>
              <a:gd name="connsiteX5" fmla="*/ 212025 w 610825"/>
              <a:gd name="connsiteY5" fmla="*/ 1159504 h 1239994"/>
              <a:gd name="connsiteX6" fmla="*/ 0 w 610825"/>
              <a:gd name="connsiteY6" fmla="*/ 617808 h 1239994"/>
              <a:gd name="connsiteX7" fmla="*/ 212025 w 610825"/>
              <a:gd name="connsiteY7" fmla="*/ 76112 h 1239994"/>
              <a:gd name="connsiteX8" fmla="*/ 299195 w 610825"/>
              <a:gd name="connsiteY8" fmla="*/ 0 h 123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825" h="1239994">
                <a:moveTo>
                  <a:pt x="299195" y="0"/>
                </a:moveTo>
                <a:lnTo>
                  <a:pt x="393584" y="80437"/>
                </a:lnTo>
                <a:cubicBezTo>
                  <a:pt x="527807" y="219069"/>
                  <a:pt x="610825" y="410588"/>
                  <a:pt x="610825" y="622133"/>
                </a:cubicBezTo>
                <a:cubicBezTo>
                  <a:pt x="610825" y="833679"/>
                  <a:pt x="527807" y="1025197"/>
                  <a:pt x="393584" y="1163829"/>
                </a:cubicBezTo>
                <a:lnTo>
                  <a:pt x="304209" y="1239994"/>
                </a:lnTo>
                <a:lnTo>
                  <a:pt x="212025" y="1159504"/>
                </a:lnTo>
                <a:cubicBezTo>
                  <a:pt x="81025" y="1020872"/>
                  <a:pt x="0" y="829354"/>
                  <a:pt x="0" y="617808"/>
                </a:cubicBezTo>
                <a:cubicBezTo>
                  <a:pt x="0" y="406263"/>
                  <a:pt x="81025" y="214744"/>
                  <a:pt x="212025" y="76112"/>
                </a:cubicBezTo>
                <a:lnTo>
                  <a:pt x="299195" y="0"/>
                </a:lnTo>
                <a:close/>
              </a:path>
            </a:pathLst>
          </a:cu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8" name="Freeform 24">
            <a:extLst>
              <a:ext uri="{FF2B5EF4-FFF2-40B4-BE49-F238E27FC236}">
                <a16:creationId xmlns:a16="http://schemas.microsoft.com/office/drawing/2014/main" id="{3527D678-3D7E-7550-D678-B4201D109F96}"/>
              </a:ext>
            </a:extLst>
          </p:cNvPr>
          <p:cNvSpPr/>
          <p:nvPr/>
        </p:nvSpPr>
        <p:spPr>
          <a:xfrm>
            <a:off x="8370973" y="2752060"/>
            <a:ext cx="1148605" cy="1532148"/>
          </a:xfrm>
          <a:custGeom>
            <a:avLst/>
            <a:gdLst>
              <a:gd name="connsiteX0" fmla="*/ 424705 w 1148605"/>
              <a:gd name="connsiteY0" fmla="*/ 0 h 1532148"/>
              <a:gd name="connsiteX1" fmla="*/ 1148605 w 1148605"/>
              <a:gd name="connsiteY1" fmla="*/ 766074 h 1532148"/>
              <a:gd name="connsiteX2" fmla="*/ 424705 w 1148605"/>
              <a:gd name="connsiteY2" fmla="*/ 1532148 h 1532148"/>
              <a:gd name="connsiteX3" fmla="*/ 19966 w 1148605"/>
              <a:gd name="connsiteY3" fmla="*/ 1401315 h 1532148"/>
              <a:gd name="connsiteX4" fmla="*/ 5014 w 1148605"/>
              <a:gd name="connsiteY4" fmla="*/ 1388260 h 1532148"/>
              <a:gd name="connsiteX5" fmla="*/ 94389 w 1148605"/>
              <a:gd name="connsiteY5" fmla="*/ 1312095 h 1532148"/>
              <a:gd name="connsiteX6" fmla="*/ 311630 w 1148605"/>
              <a:gd name="connsiteY6" fmla="*/ 770399 h 1532148"/>
              <a:gd name="connsiteX7" fmla="*/ 94389 w 1148605"/>
              <a:gd name="connsiteY7" fmla="*/ 228703 h 1532148"/>
              <a:gd name="connsiteX8" fmla="*/ 0 w 1148605"/>
              <a:gd name="connsiteY8" fmla="*/ 148266 h 1532148"/>
              <a:gd name="connsiteX9" fmla="*/ 19966 w 1148605"/>
              <a:gd name="connsiteY9" fmla="*/ 130833 h 1532148"/>
              <a:gd name="connsiteX10" fmla="*/ 424705 w 1148605"/>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8605" h="1532148">
                <a:moveTo>
                  <a:pt x="424705" y="0"/>
                </a:moveTo>
                <a:cubicBezTo>
                  <a:pt x="824504" y="0"/>
                  <a:pt x="1148605" y="342983"/>
                  <a:pt x="1148605" y="766074"/>
                </a:cubicBezTo>
                <a:cubicBezTo>
                  <a:pt x="1148605" y="1189165"/>
                  <a:pt x="824504" y="1532148"/>
                  <a:pt x="424705" y="1532148"/>
                </a:cubicBezTo>
                <a:cubicBezTo>
                  <a:pt x="274781" y="1532148"/>
                  <a:pt x="135501" y="1483916"/>
                  <a:pt x="19966" y="1401315"/>
                </a:cubicBezTo>
                <a:lnTo>
                  <a:pt x="5014" y="1388260"/>
                </a:lnTo>
                <a:lnTo>
                  <a:pt x="94389" y="1312095"/>
                </a:lnTo>
                <a:cubicBezTo>
                  <a:pt x="228612" y="1173463"/>
                  <a:pt x="311630" y="981945"/>
                  <a:pt x="311630" y="770399"/>
                </a:cubicBezTo>
                <a:cubicBezTo>
                  <a:pt x="311630" y="558854"/>
                  <a:pt x="228612" y="367335"/>
                  <a:pt x="94389" y="228703"/>
                </a:cubicBezTo>
                <a:lnTo>
                  <a:pt x="0" y="148266"/>
                </a:lnTo>
                <a:lnTo>
                  <a:pt x="19966" y="130833"/>
                </a:lnTo>
                <a:cubicBezTo>
                  <a:pt x="135501" y="48232"/>
                  <a:pt x="274781" y="0"/>
                  <a:pt x="424705" y="0"/>
                </a:cubicBezTo>
                <a:close/>
              </a:path>
            </a:pathLst>
          </a:cu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9" name="Freeform 23">
            <a:extLst>
              <a:ext uri="{FF2B5EF4-FFF2-40B4-BE49-F238E27FC236}">
                <a16:creationId xmlns:a16="http://schemas.microsoft.com/office/drawing/2014/main" id="{F340618B-377C-F925-46C1-0105C07C3316}"/>
              </a:ext>
            </a:extLst>
          </p:cNvPr>
          <p:cNvSpPr/>
          <p:nvPr/>
        </p:nvSpPr>
        <p:spPr>
          <a:xfrm>
            <a:off x="7199186" y="2756385"/>
            <a:ext cx="1176800" cy="1532148"/>
          </a:xfrm>
          <a:custGeom>
            <a:avLst/>
            <a:gdLst>
              <a:gd name="connsiteX0" fmla="*/ 741708 w 1176800"/>
              <a:gd name="connsiteY0" fmla="*/ 0 h 1532148"/>
              <a:gd name="connsiteX1" fmla="*/ 1156404 w 1176800"/>
              <a:gd name="connsiteY1" fmla="*/ 130833 h 1532148"/>
              <a:gd name="connsiteX2" fmla="*/ 1171786 w 1176800"/>
              <a:gd name="connsiteY2" fmla="*/ 143941 h 1532148"/>
              <a:gd name="connsiteX3" fmla="*/ 1084616 w 1176800"/>
              <a:gd name="connsiteY3" fmla="*/ 220053 h 1532148"/>
              <a:gd name="connsiteX4" fmla="*/ 872591 w 1176800"/>
              <a:gd name="connsiteY4" fmla="*/ 761749 h 1532148"/>
              <a:gd name="connsiteX5" fmla="*/ 1084616 w 1176800"/>
              <a:gd name="connsiteY5" fmla="*/ 1303445 h 1532148"/>
              <a:gd name="connsiteX6" fmla="*/ 1176800 w 1176800"/>
              <a:gd name="connsiteY6" fmla="*/ 1383935 h 1532148"/>
              <a:gd name="connsiteX7" fmla="*/ 1156404 w 1176800"/>
              <a:gd name="connsiteY7" fmla="*/ 1401315 h 1532148"/>
              <a:gd name="connsiteX8" fmla="*/ 741708 w 1176800"/>
              <a:gd name="connsiteY8" fmla="*/ 1532148 h 1532148"/>
              <a:gd name="connsiteX9" fmla="*/ 0 w 1176800"/>
              <a:gd name="connsiteY9" fmla="*/ 766074 h 1532148"/>
              <a:gd name="connsiteX10" fmla="*/ 741708 w 1176800"/>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6800" h="1532148">
                <a:moveTo>
                  <a:pt x="741708" y="0"/>
                </a:moveTo>
                <a:cubicBezTo>
                  <a:pt x="895321" y="0"/>
                  <a:pt x="1038027" y="48232"/>
                  <a:pt x="1156404" y="130833"/>
                </a:cubicBezTo>
                <a:lnTo>
                  <a:pt x="1171786" y="143941"/>
                </a:lnTo>
                <a:lnTo>
                  <a:pt x="1084616" y="220053"/>
                </a:lnTo>
                <a:cubicBezTo>
                  <a:pt x="953616" y="358685"/>
                  <a:pt x="872591" y="550204"/>
                  <a:pt x="872591" y="761749"/>
                </a:cubicBezTo>
                <a:cubicBezTo>
                  <a:pt x="872591" y="973295"/>
                  <a:pt x="953616" y="1164813"/>
                  <a:pt x="1084616" y="1303445"/>
                </a:cubicBezTo>
                <a:lnTo>
                  <a:pt x="1176800" y="1383935"/>
                </a:lnTo>
                <a:lnTo>
                  <a:pt x="1156404" y="1401315"/>
                </a:lnTo>
                <a:cubicBezTo>
                  <a:pt x="1038027" y="1483916"/>
                  <a:pt x="895321" y="1532148"/>
                  <a:pt x="741708" y="1532148"/>
                </a:cubicBezTo>
                <a:cubicBezTo>
                  <a:pt x="332074" y="1532148"/>
                  <a:pt x="0" y="1189165"/>
                  <a:pt x="0" y="766074"/>
                </a:cubicBezTo>
                <a:cubicBezTo>
                  <a:pt x="0" y="342983"/>
                  <a:pt x="332074" y="0"/>
                  <a:pt x="741708" y="0"/>
                </a:cubicBezTo>
                <a:close/>
              </a:path>
            </a:pathLst>
          </a:cu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p:txBody>
      </p:sp>
    </p:spTree>
    <p:extLst>
      <p:ext uri="{BB962C8B-B14F-4D97-AF65-F5344CB8AC3E}">
        <p14:creationId xmlns:p14="http://schemas.microsoft.com/office/powerpoint/2010/main" val="3029718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2000"/>
                                        <p:tgtEl>
                                          <p:spTgt spid="4"/>
                                        </p:tgtEl>
                                      </p:cBhvr>
                                    </p:animEffect>
                                  </p:childTnLst>
                                </p:cTn>
                              </p:par>
                              <p:par>
                                <p:cTn id="16" presetID="1" presetClass="entr" presetSubtype="0" fill="hold"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1)">
                                      <p:cBhvr>
                                        <p:cTn id="22" dur="2000"/>
                                        <p:tgtEl>
                                          <p:spTgt spid="5"/>
                                        </p:tgtEl>
                                      </p:cBhvr>
                                    </p:animEffect>
                                  </p:childTnLst>
                                </p:cTn>
                              </p:par>
                              <p:par>
                                <p:cTn id="23" presetID="1" presetClass="entr" presetSubtype="0" fill="hold"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animEffect transition="in" filter="wipe(down)">
                                      <p:cBhvr>
                                        <p:cTn id="29" dur="500"/>
                                        <p:tgtEl>
                                          <p:spTgt spid="4">
                                            <p:txEl>
                                              <p:pRg st="1" end="1"/>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wipe(down)">
                                      <p:cBhvr>
                                        <p:cTn id="32" dur="500"/>
                                        <p:tgtEl>
                                          <p:spTgt spid="4">
                                            <p:txEl>
                                              <p:pRg st="2" end="2"/>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wipe(down)">
                                      <p:cBhvr>
                                        <p:cTn id="35" dur="500"/>
                                        <p:tgtEl>
                                          <p:spTgt spid="4">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5">
                                            <p:txEl>
                                              <p:pRg st="1" end="1"/>
                                            </p:txEl>
                                          </p:spTgt>
                                        </p:tgtEl>
                                        <p:attrNameLst>
                                          <p:attrName>style.visibility</p:attrName>
                                        </p:attrNameLst>
                                      </p:cBhvr>
                                      <p:to>
                                        <p:strVal val="visible"/>
                                      </p:to>
                                    </p:set>
                                    <p:animEffect transition="in" filter="wipe(down)">
                                      <p:cBhvr>
                                        <p:cTn id="40" dur="500"/>
                                        <p:tgtEl>
                                          <p:spTgt spid="5">
                                            <p:txEl>
                                              <p:pRg st="1" end="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Effect transition="in" filter="wipe(down)">
                                      <p:cBhvr>
                                        <p:cTn id="43" dur="500"/>
                                        <p:tgtEl>
                                          <p:spTgt spid="5">
                                            <p:txEl>
                                              <p:pRg st="2" end="2"/>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5">
                                            <p:txEl>
                                              <p:pRg st="3" end="3"/>
                                            </p:txEl>
                                          </p:spTgt>
                                        </p:tgtEl>
                                        <p:attrNameLst>
                                          <p:attrName>style.visibility</p:attrName>
                                        </p:attrNameLst>
                                      </p:cBhvr>
                                      <p:to>
                                        <p:strVal val="visible"/>
                                      </p:to>
                                    </p:set>
                                    <p:animEffect transition="in" filter="wipe(down)">
                                      <p:cBhvr>
                                        <p:cTn id="46" dur="500"/>
                                        <p:tgtEl>
                                          <p:spTgt spid="5">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additive="base">
                                        <p:cTn id="51" dur="500" fill="hold"/>
                                        <p:tgtEl>
                                          <p:spTgt spid="6"/>
                                        </p:tgtEl>
                                        <p:attrNameLst>
                                          <p:attrName>ppt_x</p:attrName>
                                        </p:attrNameLst>
                                      </p:cBhvr>
                                      <p:tavLst>
                                        <p:tav tm="0">
                                          <p:val>
                                            <p:strVal val="#ppt_x"/>
                                          </p:val>
                                        </p:tav>
                                        <p:tav tm="100000">
                                          <p:val>
                                            <p:strVal val="#ppt_x"/>
                                          </p:val>
                                        </p:tav>
                                      </p:tavLst>
                                    </p:anim>
                                    <p:anim calcmode="lin" valueType="num">
                                      <p:cBhvr additive="base">
                                        <p:cTn id="5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p:cTn id="57" dur="500" fill="hold"/>
                                        <p:tgtEl>
                                          <p:spTgt spid="9"/>
                                        </p:tgtEl>
                                        <p:attrNameLst>
                                          <p:attrName>ppt_w</p:attrName>
                                        </p:attrNameLst>
                                      </p:cBhvr>
                                      <p:tavLst>
                                        <p:tav tm="0">
                                          <p:val>
                                            <p:fltVal val="0"/>
                                          </p:val>
                                        </p:tav>
                                        <p:tav tm="100000">
                                          <p:val>
                                            <p:strVal val="#ppt_w"/>
                                          </p:val>
                                        </p:tav>
                                      </p:tavLst>
                                    </p:anim>
                                    <p:anim calcmode="lin" valueType="num">
                                      <p:cBhvr>
                                        <p:cTn id="58" dur="500" fill="hold"/>
                                        <p:tgtEl>
                                          <p:spTgt spid="9"/>
                                        </p:tgtEl>
                                        <p:attrNameLst>
                                          <p:attrName>ppt_h</p:attrName>
                                        </p:attrNameLst>
                                      </p:cBhvr>
                                      <p:tavLst>
                                        <p:tav tm="0">
                                          <p:val>
                                            <p:fltVal val="0"/>
                                          </p:val>
                                        </p:tav>
                                        <p:tav tm="100000">
                                          <p:val>
                                            <p:strVal val="#ppt_h"/>
                                          </p:val>
                                        </p:tav>
                                      </p:tavLst>
                                    </p:anim>
                                    <p:animEffect transition="in" filter="fade">
                                      <p:cBhvr>
                                        <p:cTn id="59" dur="500"/>
                                        <p:tgtEl>
                                          <p:spTgt spid="9"/>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7"/>
                                        </p:tgtEl>
                                        <p:attrNameLst>
                                          <p:attrName>style.visibility</p:attrName>
                                        </p:attrNameLst>
                                      </p:cBhvr>
                                      <p:to>
                                        <p:strVal val="visible"/>
                                      </p:to>
                                    </p:set>
                                    <p:anim calcmode="lin" valueType="num">
                                      <p:cBhvr>
                                        <p:cTn id="62" dur="500" fill="hold"/>
                                        <p:tgtEl>
                                          <p:spTgt spid="7"/>
                                        </p:tgtEl>
                                        <p:attrNameLst>
                                          <p:attrName>ppt_w</p:attrName>
                                        </p:attrNameLst>
                                      </p:cBhvr>
                                      <p:tavLst>
                                        <p:tav tm="0">
                                          <p:val>
                                            <p:fltVal val="0"/>
                                          </p:val>
                                        </p:tav>
                                        <p:tav tm="100000">
                                          <p:val>
                                            <p:strVal val="#ppt_w"/>
                                          </p:val>
                                        </p:tav>
                                      </p:tavLst>
                                    </p:anim>
                                    <p:anim calcmode="lin" valueType="num">
                                      <p:cBhvr>
                                        <p:cTn id="63" dur="500" fill="hold"/>
                                        <p:tgtEl>
                                          <p:spTgt spid="7"/>
                                        </p:tgtEl>
                                        <p:attrNameLst>
                                          <p:attrName>ppt_h</p:attrName>
                                        </p:attrNameLst>
                                      </p:cBhvr>
                                      <p:tavLst>
                                        <p:tav tm="0">
                                          <p:val>
                                            <p:fltVal val="0"/>
                                          </p:val>
                                        </p:tav>
                                        <p:tav tm="100000">
                                          <p:val>
                                            <p:strVal val="#ppt_h"/>
                                          </p:val>
                                        </p:tav>
                                      </p:tavLst>
                                    </p:anim>
                                    <p:animEffect transition="in" filter="fade">
                                      <p:cBhvr>
                                        <p:cTn id="64" dur="500"/>
                                        <p:tgtEl>
                                          <p:spTgt spid="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p:cTn id="67" dur="500" fill="hold"/>
                                        <p:tgtEl>
                                          <p:spTgt spid="8"/>
                                        </p:tgtEl>
                                        <p:attrNameLst>
                                          <p:attrName>ppt_w</p:attrName>
                                        </p:attrNameLst>
                                      </p:cBhvr>
                                      <p:tavLst>
                                        <p:tav tm="0">
                                          <p:val>
                                            <p:fltVal val="0"/>
                                          </p:val>
                                        </p:tav>
                                        <p:tav tm="100000">
                                          <p:val>
                                            <p:strVal val="#ppt_w"/>
                                          </p:val>
                                        </p:tav>
                                      </p:tavLst>
                                    </p:anim>
                                    <p:anim calcmode="lin" valueType="num">
                                      <p:cBhvr>
                                        <p:cTn id="68" dur="500" fill="hold"/>
                                        <p:tgtEl>
                                          <p:spTgt spid="8"/>
                                        </p:tgtEl>
                                        <p:attrNameLst>
                                          <p:attrName>ppt_h</p:attrName>
                                        </p:attrNameLst>
                                      </p:cBhvr>
                                      <p:tavLst>
                                        <p:tav tm="0">
                                          <p:val>
                                            <p:fltVal val="0"/>
                                          </p:val>
                                        </p:tav>
                                        <p:tav tm="100000">
                                          <p:val>
                                            <p:strVal val="#ppt_h"/>
                                          </p:val>
                                        </p:tav>
                                      </p:tavLst>
                                    </p:anim>
                                    <p:animEffect transition="in" filter="fade">
                                      <p:cBhvr>
                                        <p:cTn id="6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60706-2608-14B2-11BE-319E66B89BA5}"/>
              </a:ext>
            </a:extLst>
          </p:cNvPr>
          <p:cNvSpPr>
            <a:spLocks noGrp="1"/>
          </p:cNvSpPr>
          <p:nvPr>
            <p:ph type="title"/>
          </p:nvPr>
        </p:nvSpPr>
        <p:spPr/>
        <p:txBody>
          <a:bodyPr/>
          <a:lstStyle/>
          <a:p>
            <a:r>
              <a:rPr lang="en-US" dirty="0"/>
              <a:t>Union</a:t>
            </a:r>
            <a:endParaRPr lang="en-IN" dirty="0"/>
          </a:p>
        </p:txBody>
      </p:sp>
      <p:sp>
        <p:nvSpPr>
          <p:cNvPr id="4" name="Rectangle 3">
            <a:extLst>
              <a:ext uri="{FF2B5EF4-FFF2-40B4-BE49-F238E27FC236}">
                <a16:creationId xmlns:a16="http://schemas.microsoft.com/office/drawing/2014/main" id="{743C5664-F666-AF42-2B4C-F949A95DDF20}"/>
              </a:ext>
            </a:extLst>
          </p:cNvPr>
          <p:cNvSpPr/>
          <p:nvPr/>
        </p:nvSpPr>
        <p:spPr>
          <a:xfrm>
            <a:off x="300251" y="1371600"/>
            <a:ext cx="5410436" cy="19050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06492EB3-D4C6-16FC-8818-F37699062FCD}"/>
              </a:ext>
            </a:extLst>
          </p:cNvPr>
          <p:cNvSpPr/>
          <p:nvPr/>
        </p:nvSpPr>
        <p:spPr>
          <a:xfrm>
            <a:off x="449516" y="1548195"/>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6" name="Rectangle 5">
            <a:extLst>
              <a:ext uri="{FF2B5EF4-FFF2-40B4-BE49-F238E27FC236}">
                <a16:creationId xmlns:a16="http://schemas.microsoft.com/office/drawing/2014/main" id="{7871BDFE-A51B-CD4E-7DE8-D60B106F01CD}"/>
              </a:ext>
            </a:extLst>
          </p:cNvPr>
          <p:cNvSpPr/>
          <p:nvPr/>
        </p:nvSpPr>
        <p:spPr>
          <a:xfrm>
            <a:off x="1691150" y="1548195"/>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DF89D882-CEA6-D95F-0BF9-672B0D9B9BD4}"/>
              </a:ext>
            </a:extLst>
          </p:cNvPr>
          <p:cNvSpPr/>
          <p:nvPr/>
        </p:nvSpPr>
        <p:spPr>
          <a:xfrm>
            <a:off x="4076796" y="1556826"/>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8" name="Rectangle 7">
            <a:extLst>
              <a:ext uri="{FF2B5EF4-FFF2-40B4-BE49-F238E27FC236}">
                <a16:creationId xmlns:a16="http://schemas.microsoft.com/office/drawing/2014/main" id="{D2660EB3-21D7-0BB2-3994-21B20D4A501B}"/>
              </a:ext>
            </a:extLst>
          </p:cNvPr>
          <p:cNvSpPr/>
          <p:nvPr/>
        </p:nvSpPr>
        <p:spPr>
          <a:xfrm>
            <a:off x="449516" y="2115969"/>
            <a:ext cx="1146135"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UNION</a:t>
            </a:r>
          </a:p>
        </p:txBody>
      </p:sp>
      <p:sp>
        <p:nvSpPr>
          <p:cNvPr id="9" name="Rectangle 8">
            <a:extLst>
              <a:ext uri="{FF2B5EF4-FFF2-40B4-BE49-F238E27FC236}">
                <a16:creationId xmlns:a16="http://schemas.microsoft.com/office/drawing/2014/main" id="{AF35E856-5805-4E72-72F6-29167E5B94BD}"/>
              </a:ext>
            </a:extLst>
          </p:cNvPr>
          <p:cNvSpPr/>
          <p:nvPr/>
        </p:nvSpPr>
        <p:spPr>
          <a:xfrm>
            <a:off x="2838698" y="1556826"/>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0" name="Rectangle 9">
            <a:extLst>
              <a:ext uri="{FF2B5EF4-FFF2-40B4-BE49-F238E27FC236}">
                <a16:creationId xmlns:a16="http://schemas.microsoft.com/office/drawing/2014/main" id="{85752E38-4A79-302F-EE18-9CB578F7CC92}"/>
              </a:ext>
            </a:extLst>
          </p:cNvPr>
          <p:cNvSpPr/>
          <p:nvPr/>
        </p:nvSpPr>
        <p:spPr>
          <a:xfrm>
            <a:off x="449516" y="2656452"/>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1" name="Rectangle 10">
            <a:extLst>
              <a:ext uri="{FF2B5EF4-FFF2-40B4-BE49-F238E27FC236}">
                <a16:creationId xmlns:a16="http://schemas.microsoft.com/office/drawing/2014/main" id="{B8577504-B431-1D8E-46C6-DBD728E19A23}"/>
              </a:ext>
            </a:extLst>
          </p:cNvPr>
          <p:cNvSpPr/>
          <p:nvPr/>
        </p:nvSpPr>
        <p:spPr>
          <a:xfrm>
            <a:off x="1691150" y="2662435"/>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D5126C6A-94ED-6E50-F75D-267E2E594894}"/>
              </a:ext>
            </a:extLst>
          </p:cNvPr>
          <p:cNvSpPr/>
          <p:nvPr/>
        </p:nvSpPr>
        <p:spPr>
          <a:xfrm>
            <a:off x="4076796" y="2656452"/>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13" name="Rectangle 12">
            <a:extLst>
              <a:ext uri="{FF2B5EF4-FFF2-40B4-BE49-F238E27FC236}">
                <a16:creationId xmlns:a16="http://schemas.microsoft.com/office/drawing/2014/main" id="{A8FBD189-6138-B708-BBD0-02B436F6E98D}"/>
              </a:ext>
            </a:extLst>
          </p:cNvPr>
          <p:cNvSpPr/>
          <p:nvPr/>
        </p:nvSpPr>
        <p:spPr>
          <a:xfrm>
            <a:off x="2838697" y="2656452"/>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4" name="Rectangle 13">
            <a:extLst>
              <a:ext uri="{FF2B5EF4-FFF2-40B4-BE49-F238E27FC236}">
                <a16:creationId xmlns:a16="http://schemas.microsoft.com/office/drawing/2014/main" id="{4741F6CA-A937-947A-B928-956057494774}"/>
              </a:ext>
            </a:extLst>
          </p:cNvPr>
          <p:cNvSpPr/>
          <p:nvPr/>
        </p:nvSpPr>
        <p:spPr>
          <a:xfrm>
            <a:off x="5232610" y="2656452"/>
            <a:ext cx="16317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pic>
        <p:nvPicPr>
          <p:cNvPr id="15" name="Picture 14">
            <a:extLst>
              <a:ext uri="{FF2B5EF4-FFF2-40B4-BE49-F238E27FC236}">
                <a16:creationId xmlns:a16="http://schemas.microsoft.com/office/drawing/2014/main" id="{9A7C9764-53BD-22D4-1C37-44F8BA58978D}"/>
              </a:ext>
            </a:extLst>
          </p:cNvPr>
          <p:cNvPicPr>
            <a:picLocks noChangeAspect="1"/>
          </p:cNvPicPr>
          <p:nvPr/>
        </p:nvPicPr>
        <p:blipFill>
          <a:blip r:embed="rId2"/>
          <a:stretch>
            <a:fillRect/>
          </a:stretch>
        </p:blipFill>
        <p:spPr>
          <a:xfrm>
            <a:off x="5089767" y="4256652"/>
            <a:ext cx="1109156" cy="1001148"/>
          </a:xfrm>
          <a:prstGeom prst="rect">
            <a:avLst/>
          </a:prstGeom>
        </p:spPr>
      </p:pic>
      <p:graphicFrame>
        <p:nvGraphicFramePr>
          <p:cNvPr id="20" name="Table 19">
            <a:extLst>
              <a:ext uri="{FF2B5EF4-FFF2-40B4-BE49-F238E27FC236}">
                <a16:creationId xmlns:a16="http://schemas.microsoft.com/office/drawing/2014/main" id="{C7123303-5181-12D0-0199-628BB0AAD1D0}"/>
              </a:ext>
            </a:extLst>
          </p:cNvPr>
          <p:cNvGraphicFramePr>
            <a:graphicFrameLocks noGrp="1"/>
          </p:cNvGraphicFramePr>
          <p:nvPr/>
        </p:nvGraphicFramePr>
        <p:xfrm>
          <a:off x="300251" y="3634823"/>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Emp2016</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21" name="Table 20">
            <a:extLst>
              <a:ext uri="{FF2B5EF4-FFF2-40B4-BE49-F238E27FC236}">
                <a16:creationId xmlns:a16="http://schemas.microsoft.com/office/drawing/2014/main" id="{E6E419EC-A092-B503-CE7B-340AADEC51E0}"/>
              </a:ext>
            </a:extLst>
          </p:cNvPr>
          <p:cNvGraphicFramePr>
            <a:graphicFrameLocks noGrp="1"/>
          </p:cNvGraphicFramePr>
          <p:nvPr/>
        </p:nvGraphicFramePr>
        <p:xfrm>
          <a:off x="2717042" y="3647110"/>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Emp2018</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22" name="Table 21">
            <a:extLst>
              <a:ext uri="{FF2B5EF4-FFF2-40B4-BE49-F238E27FC236}">
                <a16:creationId xmlns:a16="http://schemas.microsoft.com/office/drawing/2014/main" id="{E9437BE0-31D7-33D6-B0CF-5D18F1F5A9F9}"/>
              </a:ext>
            </a:extLst>
          </p:cNvPr>
          <p:cNvGraphicFramePr>
            <a:graphicFrameLocks noGrp="1"/>
          </p:cNvGraphicFramePr>
          <p:nvPr/>
        </p:nvGraphicFramePr>
        <p:xfrm>
          <a:off x="6428941" y="3393586"/>
          <a:ext cx="1948510" cy="2509227"/>
        </p:xfrm>
        <a:graphic>
          <a:graphicData uri="http://schemas.openxmlformats.org/drawingml/2006/table">
            <a:tbl>
              <a:tblPr bandRow="1">
                <a:tableStyleId>{073A0DAA-6AF3-43AB-8588-CEC1D06C72B9}</a:tableStyleId>
              </a:tblPr>
              <a:tblGrid>
                <a:gridCol w="959643">
                  <a:extLst>
                    <a:ext uri="{9D8B030D-6E8A-4147-A177-3AD203B41FA5}">
                      <a16:colId xmlns:a16="http://schemas.microsoft.com/office/drawing/2014/main" val="20000"/>
                    </a:ext>
                  </a:extLst>
                </a:gridCol>
                <a:gridCol w="988867">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Union</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5"/>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6"/>
                  </a:ext>
                </a:extLst>
              </a:tr>
            </a:tbl>
          </a:graphicData>
        </a:graphic>
      </p:graphicFrame>
      <p:sp>
        <p:nvSpPr>
          <p:cNvPr id="23" name="TextBox 22">
            <a:extLst>
              <a:ext uri="{FF2B5EF4-FFF2-40B4-BE49-F238E27FC236}">
                <a16:creationId xmlns:a16="http://schemas.microsoft.com/office/drawing/2014/main" id="{0A4D7F7A-C524-CEB4-9EBF-49ABB22894A4}"/>
              </a:ext>
            </a:extLst>
          </p:cNvPr>
          <p:cNvSpPr txBox="1"/>
          <p:nvPr/>
        </p:nvSpPr>
        <p:spPr>
          <a:xfrm>
            <a:off x="180846" y="1028047"/>
            <a:ext cx="1104900" cy="367400"/>
          </a:xfrm>
          <a:prstGeom prst="rect">
            <a:avLst/>
          </a:prstGeom>
          <a:noFill/>
        </p:spPr>
        <p:txBody>
          <a:bodyPr wrap="square" rtlCol="0">
            <a:spAutoFit/>
          </a:bodyPr>
          <a:lstStyle/>
          <a:p>
            <a:r>
              <a:rPr lang="en-US" b="1" u="sng" dirty="0"/>
              <a:t>Syntax</a:t>
            </a:r>
          </a:p>
        </p:txBody>
      </p:sp>
      <p:sp>
        <p:nvSpPr>
          <p:cNvPr id="24" name="TextBox 23">
            <a:extLst>
              <a:ext uri="{FF2B5EF4-FFF2-40B4-BE49-F238E27FC236}">
                <a16:creationId xmlns:a16="http://schemas.microsoft.com/office/drawing/2014/main" id="{2734E05E-1C40-F588-9D79-C238A19C8109}"/>
              </a:ext>
            </a:extLst>
          </p:cNvPr>
          <p:cNvSpPr txBox="1"/>
          <p:nvPr/>
        </p:nvSpPr>
        <p:spPr>
          <a:xfrm>
            <a:off x="5958586" y="1062163"/>
            <a:ext cx="723900" cy="367400"/>
          </a:xfrm>
          <a:prstGeom prst="rect">
            <a:avLst/>
          </a:prstGeom>
          <a:noFill/>
        </p:spPr>
        <p:txBody>
          <a:bodyPr wrap="square" rtlCol="0">
            <a:spAutoFit/>
          </a:bodyPr>
          <a:lstStyle/>
          <a:p>
            <a:r>
              <a:rPr lang="en-US" b="1" u="sng" dirty="0"/>
              <a:t>E.g.</a:t>
            </a:r>
          </a:p>
        </p:txBody>
      </p:sp>
      <p:sp>
        <p:nvSpPr>
          <p:cNvPr id="25" name="Rectangle 24">
            <a:extLst>
              <a:ext uri="{FF2B5EF4-FFF2-40B4-BE49-F238E27FC236}">
                <a16:creationId xmlns:a16="http://schemas.microsoft.com/office/drawing/2014/main" id="{C2FB5580-3CBF-FFC8-A1B4-912AD07D65AB}"/>
              </a:ext>
            </a:extLst>
          </p:cNvPr>
          <p:cNvSpPr/>
          <p:nvPr/>
        </p:nvSpPr>
        <p:spPr>
          <a:xfrm>
            <a:off x="5958586" y="1371599"/>
            <a:ext cx="5410436" cy="19050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E1BEE20D-6D44-E436-5478-BECF01369247}"/>
              </a:ext>
            </a:extLst>
          </p:cNvPr>
          <p:cNvSpPr/>
          <p:nvPr/>
        </p:nvSpPr>
        <p:spPr>
          <a:xfrm>
            <a:off x="6131436" y="1484939"/>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27" name="Rectangle 26">
            <a:extLst>
              <a:ext uri="{FF2B5EF4-FFF2-40B4-BE49-F238E27FC236}">
                <a16:creationId xmlns:a16="http://schemas.microsoft.com/office/drawing/2014/main" id="{08426E43-D11E-4215-FFA6-F9F8CEB16159}"/>
              </a:ext>
            </a:extLst>
          </p:cNvPr>
          <p:cNvSpPr/>
          <p:nvPr/>
        </p:nvSpPr>
        <p:spPr>
          <a:xfrm>
            <a:off x="7373070" y="1484939"/>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28" name="Rectangle 27">
            <a:extLst>
              <a:ext uri="{FF2B5EF4-FFF2-40B4-BE49-F238E27FC236}">
                <a16:creationId xmlns:a16="http://schemas.microsoft.com/office/drawing/2014/main" id="{8300F3E8-B230-0987-1F37-98E46D344A29}"/>
              </a:ext>
            </a:extLst>
          </p:cNvPr>
          <p:cNvSpPr/>
          <p:nvPr/>
        </p:nvSpPr>
        <p:spPr>
          <a:xfrm>
            <a:off x="9758716" y="1493570"/>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Emp2016</a:t>
            </a:r>
            <a:endParaRPr lang="en-US" dirty="0"/>
          </a:p>
        </p:txBody>
      </p:sp>
      <p:sp>
        <p:nvSpPr>
          <p:cNvPr id="29" name="Rectangle 28">
            <a:extLst>
              <a:ext uri="{FF2B5EF4-FFF2-40B4-BE49-F238E27FC236}">
                <a16:creationId xmlns:a16="http://schemas.microsoft.com/office/drawing/2014/main" id="{87943C14-130C-ECB6-15AE-7E347D382052}"/>
              </a:ext>
            </a:extLst>
          </p:cNvPr>
          <p:cNvSpPr/>
          <p:nvPr/>
        </p:nvSpPr>
        <p:spPr>
          <a:xfrm>
            <a:off x="6131436" y="2052713"/>
            <a:ext cx="1146135"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UNION</a:t>
            </a:r>
          </a:p>
        </p:txBody>
      </p:sp>
      <p:sp>
        <p:nvSpPr>
          <p:cNvPr id="30" name="Rectangle 29">
            <a:extLst>
              <a:ext uri="{FF2B5EF4-FFF2-40B4-BE49-F238E27FC236}">
                <a16:creationId xmlns:a16="http://schemas.microsoft.com/office/drawing/2014/main" id="{7B0EDE2D-1D07-6C13-9A5F-0F46CE91A41C}"/>
              </a:ext>
            </a:extLst>
          </p:cNvPr>
          <p:cNvSpPr/>
          <p:nvPr/>
        </p:nvSpPr>
        <p:spPr>
          <a:xfrm>
            <a:off x="8520619" y="1493570"/>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1" name="Rectangle 30">
            <a:extLst>
              <a:ext uri="{FF2B5EF4-FFF2-40B4-BE49-F238E27FC236}">
                <a16:creationId xmlns:a16="http://schemas.microsoft.com/office/drawing/2014/main" id="{2052813D-27EE-4F44-4CAE-21A7D3AE5E37}"/>
              </a:ext>
            </a:extLst>
          </p:cNvPr>
          <p:cNvSpPr/>
          <p:nvPr/>
        </p:nvSpPr>
        <p:spPr>
          <a:xfrm>
            <a:off x="6131436" y="2593196"/>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32" name="Rectangle 31">
            <a:extLst>
              <a:ext uri="{FF2B5EF4-FFF2-40B4-BE49-F238E27FC236}">
                <a16:creationId xmlns:a16="http://schemas.microsoft.com/office/drawing/2014/main" id="{BB2C2BED-0F76-1037-1CA2-335E4947501B}"/>
              </a:ext>
            </a:extLst>
          </p:cNvPr>
          <p:cNvSpPr/>
          <p:nvPr/>
        </p:nvSpPr>
        <p:spPr>
          <a:xfrm>
            <a:off x="7373070" y="2593196"/>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33" name="Rectangle 32">
            <a:extLst>
              <a:ext uri="{FF2B5EF4-FFF2-40B4-BE49-F238E27FC236}">
                <a16:creationId xmlns:a16="http://schemas.microsoft.com/office/drawing/2014/main" id="{8F4ACB08-814C-DC11-DE33-72768DC9A153}"/>
              </a:ext>
            </a:extLst>
          </p:cNvPr>
          <p:cNvSpPr/>
          <p:nvPr/>
        </p:nvSpPr>
        <p:spPr>
          <a:xfrm>
            <a:off x="9758716" y="2580127"/>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Emp2018</a:t>
            </a:r>
          </a:p>
        </p:txBody>
      </p:sp>
      <p:sp>
        <p:nvSpPr>
          <p:cNvPr id="34" name="Rectangle 33">
            <a:extLst>
              <a:ext uri="{FF2B5EF4-FFF2-40B4-BE49-F238E27FC236}">
                <a16:creationId xmlns:a16="http://schemas.microsoft.com/office/drawing/2014/main" id="{AED898AD-05EC-BB13-AB84-3F901F4C0DBE}"/>
              </a:ext>
            </a:extLst>
          </p:cNvPr>
          <p:cNvSpPr/>
          <p:nvPr/>
        </p:nvSpPr>
        <p:spPr>
          <a:xfrm>
            <a:off x="8520619" y="2581230"/>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5" name="Rectangle 34">
            <a:extLst>
              <a:ext uri="{FF2B5EF4-FFF2-40B4-BE49-F238E27FC236}">
                <a16:creationId xmlns:a16="http://schemas.microsoft.com/office/drawing/2014/main" id="{1ED01E47-B622-3BAC-90A3-5ACA69663CC7}"/>
              </a:ext>
            </a:extLst>
          </p:cNvPr>
          <p:cNvSpPr/>
          <p:nvPr/>
        </p:nvSpPr>
        <p:spPr>
          <a:xfrm>
            <a:off x="10914530" y="2580127"/>
            <a:ext cx="16317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Tree>
    <p:extLst>
      <p:ext uri="{BB962C8B-B14F-4D97-AF65-F5344CB8AC3E}">
        <p14:creationId xmlns:p14="http://schemas.microsoft.com/office/powerpoint/2010/main" val="204977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5"/>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9"/>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7"/>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8"/>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0"/>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13"/>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12"/>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23"/>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2" nodeType="clickEffect">
                                  <p:stCondLst>
                                    <p:cond delay="0"/>
                                  </p:stCondLst>
                                  <p:childTnLst>
                                    <p:set>
                                      <p:cBhvr>
                                        <p:cTn id="84" dur="1" fill="hold">
                                          <p:stCondLst>
                                            <p:cond delay="0"/>
                                          </p:stCondLst>
                                        </p:cTn>
                                        <p:tgtEl>
                                          <p:spTgt spid="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2" nodeType="clickEffect">
                                  <p:stCondLst>
                                    <p:cond delay="0"/>
                                  </p:stCondLst>
                                  <p:childTnLst>
                                    <p:set>
                                      <p:cBhvr>
                                        <p:cTn id="88" dur="1" fill="hold">
                                          <p:stCondLst>
                                            <p:cond delay="0"/>
                                          </p:stCondLst>
                                        </p:cTn>
                                        <p:tgtEl>
                                          <p:spTgt spid="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2" nodeType="clickEffect">
                                  <p:stCondLst>
                                    <p:cond delay="0"/>
                                  </p:stCondLst>
                                  <p:childTnLst>
                                    <p:set>
                                      <p:cBhvr>
                                        <p:cTn id="92" dur="1" fill="hold">
                                          <p:stCondLst>
                                            <p:cond delay="0"/>
                                          </p:stCondLst>
                                        </p:cTn>
                                        <p:tgtEl>
                                          <p:spTgt spid="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2" nodeType="clickEffect">
                                  <p:stCondLst>
                                    <p:cond delay="0"/>
                                  </p:stCondLst>
                                  <p:childTnLst>
                                    <p:set>
                                      <p:cBhvr>
                                        <p:cTn id="96" dur="1" fill="hold">
                                          <p:stCondLst>
                                            <p:cond delay="0"/>
                                          </p:stCondLst>
                                        </p:cTn>
                                        <p:tgtEl>
                                          <p:spTgt spid="1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2" nodeType="clickEffect">
                                  <p:stCondLst>
                                    <p:cond delay="0"/>
                                  </p:stCondLst>
                                  <p:childTnLst>
                                    <p:set>
                                      <p:cBhvr>
                                        <p:cTn id="100" dur="1" fill="hold">
                                          <p:stCondLst>
                                            <p:cond delay="0"/>
                                          </p:stCondLst>
                                        </p:cTn>
                                        <p:tgtEl>
                                          <p:spTgt spid="1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2" nodeType="clickEffect">
                                  <p:stCondLst>
                                    <p:cond delay="0"/>
                                  </p:stCondLst>
                                  <p:childTnLst>
                                    <p:set>
                                      <p:cBhvr>
                                        <p:cTn id="104" dur="1" fill="hold">
                                          <p:stCondLst>
                                            <p:cond delay="0"/>
                                          </p:stCondLst>
                                        </p:cTn>
                                        <p:tgtEl>
                                          <p:spTgt spid="14"/>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1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3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2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2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1" nodeType="clickEffect">
                                  <p:stCondLst>
                                    <p:cond delay="0"/>
                                  </p:stCondLst>
                                  <p:childTnLst>
                                    <p:set>
                                      <p:cBhvr>
                                        <p:cTn id="142" dur="1" fill="hold">
                                          <p:stCondLst>
                                            <p:cond delay="0"/>
                                          </p:stCondLst>
                                        </p:cTn>
                                        <p:tgtEl>
                                          <p:spTgt spid="32"/>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34"/>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33"/>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35"/>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xit" presetSubtype="0" fill="hold" grpId="1" nodeType="clickEffect">
                                  <p:stCondLst>
                                    <p:cond delay="0"/>
                                  </p:stCondLst>
                                  <p:childTnLst>
                                    <p:set>
                                      <p:cBhvr>
                                        <p:cTn id="158" dur="1" fill="hold">
                                          <p:stCondLst>
                                            <p:cond delay="0"/>
                                          </p:stCondLst>
                                        </p:cTn>
                                        <p:tgtEl>
                                          <p:spTgt spid="26"/>
                                        </p:tgtEl>
                                        <p:attrNameLst>
                                          <p:attrName>style.visibility</p:attrName>
                                        </p:attrNameLst>
                                      </p:cBhvr>
                                      <p:to>
                                        <p:strVal val="hidden"/>
                                      </p:to>
                                    </p:set>
                                  </p:childTnLst>
                                </p:cTn>
                              </p:par>
                              <p:par>
                                <p:cTn id="159" presetID="1" presetClass="exit" presetSubtype="0" fill="hold" grpId="1" nodeType="withEffect">
                                  <p:stCondLst>
                                    <p:cond delay="0"/>
                                  </p:stCondLst>
                                  <p:childTnLst>
                                    <p:set>
                                      <p:cBhvr>
                                        <p:cTn id="160" dur="1" fill="hold">
                                          <p:stCondLst>
                                            <p:cond delay="0"/>
                                          </p:stCondLst>
                                        </p:cTn>
                                        <p:tgtEl>
                                          <p:spTgt spid="27"/>
                                        </p:tgtEl>
                                        <p:attrNameLst>
                                          <p:attrName>style.visibility</p:attrName>
                                        </p:attrNameLst>
                                      </p:cBhvr>
                                      <p:to>
                                        <p:strVal val="hidden"/>
                                      </p:to>
                                    </p:set>
                                  </p:childTnLst>
                                </p:cTn>
                              </p:par>
                              <p:par>
                                <p:cTn id="161" presetID="1" presetClass="exit" presetSubtype="0" fill="hold" grpId="1" nodeType="withEffect">
                                  <p:stCondLst>
                                    <p:cond delay="0"/>
                                  </p:stCondLst>
                                  <p:childTnLst>
                                    <p:set>
                                      <p:cBhvr>
                                        <p:cTn id="162" dur="1" fill="hold">
                                          <p:stCondLst>
                                            <p:cond delay="0"/>
                                          </p:stCondLst>
                                        </p:cTn>
                                        <p:tgtEl>
                                          <p:spTgt spid="30"/>
                                        </p:tgtEl>
                                        <p:attrNameLst>
                                          <p:attrName>style.visibility</p:attrName>
                                        </p:attrNameLst>
                                      </p:cBhvr>
                                      <p:to>
                                        <p:strVal val="hidden"/>
                                      </p:to>
                                    </p:set>
                                  </p:childTnLst>
                                </p:cTn>
                              </p:par>
                              <p:par>
                                <p:cTn id="163" presetID="1" presetClass="exit" presetSubtype="0" fill="hold" grpId="1" nodeType="withEffect">
                                  <p:stCondLst>
                                    <p:cond delay="0"/>
                                  </p:stCondLst>
                                  <p:childTnLst>
                                    <p:set>
                                      <p:cBhvr>
                                        <p:cTn id="164" dur="1" fill="hold">
                                          <p:stCondLst>
                                            <p:cond delay="0"/>
                                          </p:stCondLst>
                                        </p:cTn>
                                        <p:tgtEl>
                                          <p:spTgt spid="28"/>
                                        </p:tgtEl>
                                        <p:attrNameLst>
                                          <p:attrName>style.visibility</p:attrName>
                                        </p:attrNameLst>
                                      </p:cBhvr>
                                      <p:to>
                                        <p:strVal val="hidden"/>
                                      </p:to>
                                    </p:set>
                                  </p:childTnLst>
                                </p:cTn>
                              </p:par>
                              <p:par>
                                <p:cTn id="165" presetID="1" presetClass="exit" presetSubtype="0" fill="hold" grpId="1" nodeType="withEffect">
                                  <p:stCondLst>
                                    <p:cond delay="0"/>
                                  </p:stCondLst>
                                  <p:childTnLst>
                                    <p:set>
                                      <p:cBhvr>
                                        <p:cTn id="166" dur="1" fill="hold">
                                          <p:stCondLst>
                                            <p:cond delay="0"/>
                                          </p:stCondLst>
                                        </p:cTn>
                                        <p:tgtEl>
                                          <p:spTgt spid="29"/>
                                        </p:tgtEl>
                                        <p:attrNameLst>
                                          <p:attrName>style.visibility</p:attrName>
                                        </p:attrNameLst>
                                      </p:cBhvr>
                                      <p:to>
                                        <p:strVal val="hidden"/>
                                      </p:to>
                                    </p:set>
                                  </p:childTnLst>
                                </p:cTn>
                              </p:par>
                              <p:par>
                                <p:cTn id="167" presetID="1" presetClass="exit" presetSubtype="0" fill="hold" grpId="1" nodeType="withEffect">
                                  <p:stCondLst>
                                    <p:cond delay="0"/>
                                  </p:stCondLst>
                                  <p:childTnLst>
                                    <p:set>
                                      <p:cBhvr>
                                        <p:cTn id="168" dur="1" fill="hold">
                                          <p:stCondLst>
                                            <p:cond delay="0"/>
                                          </p:stCondLst>
                                        </p:cTn>
                                        <p:tgtEl>
                                          <p:spTgt spid="31"/>
                                        </p:tgtEl>
                                        <p:attrNameLst>
                                          <p:attrName>style.visibility</p:attrName>
                                        </p:attrNameLst>
                                      </p:cBhvr>
                                      <p:to>
                                        <p:strVal val="hidden"/>
                                      </p:to>
                                    </p:set>
                                  </p:childTnLst>
                                </p:cTn>
                              </p:par>
                              <p:par>
                                <p:cTn id="169" presetID="1" presetClass="exit" presetSubtype="0" fill="hold" grpId="1" nodeType="withEffect">
                                  <p:stCondLst>
                                    <p:cond delay="0"/>
                                  </p:stCondLst>
                                  <p:childTnLst>
                                    <p:set>
                                      <p:cBhvr>
                                        <p:cTn id="170" dur="1" fill="hold">
                                          <p:stCondLst>
                                            <p:cond delay="0"/>
                                          </p:stCondLst>
                                        </p:cTn>
                                        <p:tgtEl>
                                          <p:spTgt spid="34"/>
                                        </p:tgtEl>
                                        <p:attrNameLst>
                                          <p:attrName>style.visibility</p:attrName>
                                        </p:attrNameLst>
                                      </p:cBhvr>
                                      <p:to>
                                        <p:strVal val="hidden"/>
                                      </p:to>
                                    </p:set>
                                  </p:childTnLst>
                                </p:cTn>
                              </p:par>
                              <p:par>
                                <p:cTn id="171" presetID="1" presetClass="exit" presetSubtype="0" fill="hold" grpId="0" nodeType="withEffect">
                                  <p:stCondLst>
                                    <p:cond delay="0"/>
                                  </p:stCondLst>
                                  <p:childTnLst>
                                    <p:set>
                                      <p:cBhvr>
                                        <p:cTn id="172" dur="1" fill="hold">
                                          <p:stCondLst>
                                            <p:cond delay="0"/>
                                          </p:stCondLst>
                                        </p:cTn>
                                        <p:tgtEl>
                                          <p:spTgt spid="32"/>
                                        </p:tgtEl>
                                        <p:attrNameLst>
                                          <p:attrName>style.visibility</p:attrName>
                                        </p:attrNameLst>
                                      </p:cBhvr>
                                      <p:to>
                                        <p:strVal val="hidden"/>
                                      </p:to>
                                    </p:set>
                                  </p:childTnLst>
                                </p:cTn>
                              </p:par>
                              <p:par>
                                <p:cTn id="173" presetID="1" presetClass="exit" presetSubtype="0" fill="hold" grpId="1" nodeType="withEffect">
                                  <p:stCondLst>
                                    <p:cond delay="0"/>
                                  </p:stCondLst>
                                  <p:childTnLst>
                                    <p:set>
                                      <p:cBhvr>
                                        <p:cTn id="174" dur="1" fill="hold">
                                          <p:stCondLst>
                                            <p:cond delay="0"/>
                                          </p:stCondLst>
                                        </p:cTn>
                                        <p:tgtEl>
                                          <p:spTgt spid="33"/>
                                        </p:tgtEl>
                                        <p:attrNameLst>
                                          <p:attrName>style.visibility</p:attrName>
                                        </p:attrNameLst>
                                      </p:cBhvr>
                                      <p:to>
                                        <p:strVal val="hidden"/>
                                      </p:to>
                                    </p:set>
                                  </p:childTnLst>
                                </p:cTn>
                              </p:par>
                              <p:par>
                                <p:cTn id="175" presetID="1" presetClass="exit" presetSubtype="0" fill="hold" grpId="1" nodeType="withEffect">
                                  <p:stCondLst>
                                    <p:cond delay="0"/>
                                  </p:stCondLst>
                                  <p:childTnLst>
                                    <p:set>
                                      <p:cBhvr>
                                        <p:cTn id="176" dur="1" fill="hold">
                                          <p:stCondLst>
                                            <p:cond delay="0"/>
                                          </p:stCondLst>
                                        </p:cTn>
                                        <p:tgtEl>
                                          <p:spTgt spid="35"/>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2" nodeType="clickEffect">
                                  <p:stCondLst>
                                    <p:cond delay="0"/>
                                  </p:stCondLst>
                                  <p:childTnLst>
                                    <p:set>
                                      <p:cBhvr>
                                        <p:cTn id="180" dur="1" fill="hold">
                                          <p:stCondLst>
                                            <p:cond delay="0"/>
                                          </p:stCondLst>
                                        </p:cTn>
                                        <p:tgtEl>
                                          <p:spTgt spid="26"/>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2" nodeType="clickEffect">
                                  <p:stCondLst>
                                    <p:cond delay="0"/>
                                  </p:stCondLst>
                                  <p:childTnLst>
                                    <p:set>
                                      <p:cBhvr>
                                        <p:cTn id="184" dur="1" fill="hold">
                                          <p:stCondLst>
                                            <p:cond delay="0"/>
                                          </p:stCondLst>
                                        </p:cTn>
                                        <p:tgtEl>
                                          <p:spTgt spid="30"/>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2" nodeType="clickEffect">
                                  <p:stCondLst>
                                    <p:cond delay="0"/>
                                  </p:stCondLst>
                                  <p:childTnLst>
                                    <p:set>
                                      <p:cBhvr>
                                        <p:cTn id="188" dur="1" fill="hold">
                                          <p:stCondLst>
                                            <p:cond delay="0"/>
                                          </p:stCondLst>
                                        </p:cTn>
                                        <p:tgtEl>
                                          <p:spTgt spid="29"/>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2" nodeType="clickEffect">
                                  <p:stCondLst>
                                    <p:cond delay="0"/>
                                  </p:stCondLst>
                                  <p:childTnLst>
                                    <p:set>
                                      <p:cBhvr>
                                        <p:cTn id="192" dur="1" fill="hold">
                                          <p:stCondLst>
                                            <p:cond delay="0"/>
                                          </p:stCondLst>
                                        </p:cTn>
                                        <p:tgtEl>
                                          <p:spTgt spid="31"/>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2" nodeType="clickEffect">
                                  <p:stCondLst>
                                    <p:cond delay="0"/>
                                  </p:stCondLst>
                                  <p:childTnLst>
                                    <p:set>
                                      <p:cBhvr>
                                        <p:cTn id="196" dur="1" fill="hold">
                                          <p:stCondLst>
                                            <p:cond delay="0"/>
                                          </p:stCondLst>
                                        </p:cTn>
                                        <p:tgtEl>
                                          <p:spTgt spid="34"/>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2" nodeType="clickEffect">
                                  <p:stCondLst>
                                    <p:cond delay="0"/>
                                  </p:stCondLst>
                                  <p:childTnLst>
                                    <p:set>
                                      <p:cBhvr>
                                        <p:cTn id="20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P spid="5" grpId="2" animBg="1"/>
      <p:bldP spid="6" grpId="0" animBg="1"/>
      <p:bldP spid="6" grpId="1" animBg="1"/>
      <p:bldP spid="7" grpId="0" animBg="1"/>
      <p:bldP spid="7" grpId="1" animBg="1"/>
      <p:bldP spid="8" grpId="0" animBg="1"/>
      <p:bldP spid="8" grpId="1" animBg="1"/>
      <p:bldP spid="8" grpId="2" animBg="1"/>
      <p:bldP spid="9" grpId="0" animBg="1"/>
      <p:bldP spid="9" grpId="1" animBg="1"/>
      <p:bldP spid="9" grpId="2" animBg="1"/>
      <p:bldP spid="10" grpId="0" animBg="1"/>
      <p:bldP spid="10" grpId="1" animBg="1"/>
      <p:bldP spid="10" grpId="2" animBg="1"/>
      <p:bldP spid="11" grpId="0" animBg="1"/>
      <p:bldP spid="11" grpId="1" animBg="1"/>
      <p:bldP spid="12" grpId="0" animBg="1"/>
      <p:bldP spid="12" grpId="1" animBg="1"/>
      <p:bldP spid="13" grpId="0" animBg="1"/>
      <p:bldP spid="13" grpId="1" animBg="1"/>
      <p:bldP spid="13" grpId="2" animBg="1"/>
      <p:bldP spid="14" grpId="0" animBg="1"/>
      <p:bldP spid="14" grpId="1" animBg="1"/>
      <p:bldP spid="14" grpId="2" animBg="1"/>
      <p:bldP spid="23" grpId="0"/>
      <p:bldP spid="23" grpId="1"/>
      <p:bldP spid="24" grpId="0"/>
      <p:bldP spid="25" grpId="0" animBg="1"/>
      <p:bldP spid="26" grpId="0" animBg="1"/>
      <p:bldP spid="26" grpId="1" animBg="1"/>
      <p:bldP spid="26" grpId="2" animBg="1"/>
      <p:bldP spid="27" grpId="0" animBg="1"/>
      <p:bldP spid="27" grpId="1" animBg="1"/>
      <p:bldP spid="28" grpId="0" animBg="1"/>
      <p:bldP spid="28" grpId="1" animBg="1"/>
      <p:bldP spid="29" grpId="0" animBg="1"/>
      <p:bldP spid="29" grpId="1" animBg="1"/>
      <p:bldP spid="29" grpId="2" animBg="1"/>
      <p:bldP spid="30" grpId="0" animBg="1"/>
      <p:bldP spid="30" grpId="1" animBg="1"/>
      <p:bldP spid="30" grpId="2" animBg="1"/>
      <p:bldP spid="31" grpId="0" animBg="1"/>
      <p:bldP spid="31" grpId="1" animBg="1"/>
      <p:bldP spid="31" grpId="2" animBg="1"/>
      <p:bldP spid="32" grpId="0" animBg="1"/>
      <p:bldP spid="32" grpId="1" animBg="1"/>
      <p:bldP spid="33" grpId="0" animBg="1"/>
      <p:bldP spid="33" grpId="1" animBg="1"/>
      <p:bldP spid="34" grpId="0" animBg="1"/>
      <p:bldP spid="34" grpId="1" animBg="1"/>
      <p:bldP spid="34" grpId="2" animBg="1"/>
      <p:bldP spid="35" grpId="0" animBg="1"/>
      <p:bldP spid="35" grpId="1" animBg="1"/>
      <p:bldP spid="35" grpId="2"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022EE-4F21-3ADA-67C1-0C308A920420}"/>
              </a:ext>
            </a:extLst>
          </p:cNvPr>
          <p:cNvSpPr>
            <a:spLocks noGrp="1"/>
          </p:cNvSpPr>
          <p:nvPr>
            <p:ph type="title"/>
          </p:nvPr>
        </p:nvSpPr>
        <p:spPr/>
        <p:txBody>
          <a:bodyPr/>
          <a:lstStyle/>
          <a:p>
            <a:r>
              <a:rPr lang="en-US" dirty="0"/>
              <a:t>Union All</a:t>
            </a:r>
            <a:endParaRPr lang="en-IN" dirty="0"/>
          </a:p>
        </p:txBody>
      </p:sp>
      <p:sp>
        <p:nvSpPr>
          <p:cNvPr id="3" name="Content Placeholder 2">
            <a:extLst>
              <a:ext uri="{FF2B5EF4-FFF2-40B4-BE49-F238E27FC236}">
                <a16:creationId xmlns:a16="http://schemas.microsoft.com/office/drawing/2014/main" id="{CC79FBA3-C5F2-5D0B-7A03-C760E9A9BBDF}"/>
              </a:ext>
            </a:extLst>
          </p:cNvPr>
          <p:cNvSpPr>
            <a:spLocks noGrp="1"/>
          </p:cNvSpPr>
          <p:nvPr>
            <p:ph idx="1"/>
          </p:nvPr>
        </p:nvSpPr>
        <p:spPr/>
        <p:txBody>
          <a:bodyPr/>
          <a:lstStyle/>
          <a:p>
            <a:pPr algn="just"/>
            <a:r>
              <a:rPr lang="en-US" dirty="0"/>
              <a:t>The </a:t>
            </a:r>
            <a:r>
              <a:rPr lang="en-US" b="1" dirty="0"/>
              <a:t>UNION ALL </a:t>
            </a:r>
            <a:r>
              <a:rPr lang="en-US" dirty="0"/>
              <a:t>operator is used to </a:t>
            </a:r>
            <a:r>
              <a:rPr lang="en-US" b="1" dirty="0">
                <a:solidFill>
                  <a:srgbClr val="C00000"/>
                </a:solidFill>
              </a:rPr>
              <a:t>combine</a:t>
            </a:r>
            <a:r>
              <a:rPr lang="en-US" dirty="0"/>
              <a:t> the result-set of two or more SELECT statements.</a:t>
            </a:r>
          </a:p>
          <a:p>
            <a:pPr algn="just"/>
            <a:r>
              <a:rPr lang="en-US" dirty="0"/>
              <a:t>The UNION ALL operator </a:t>
            </a:r>
            <a:r>
              <a:rPr lang="en-US" b="1" dirty="0">
                <a:solidFill>
                  <a:srgbClr val="C00000"/>
                </a:solidFill>
              </a:rPr>
              <a:t>does not removes duplicate </a:t>
            </a:r>
            <a:r>
              <a:rPr lang="en-US" b="1" dirty="0"/>
              <a:t>rows</a:t>
            </a:r>
            <a:r>
              <a:rPr lang="en-US" dirty="0"/>
              <a:t>.</a:t>
            </a:r>
          </a:p>
          <a:p>
            <a:endParaRPr lang="en-IN" dirty="0"/>
          </a:p>
        </p:txBody>
      </p:sp>
      <p:sp>
        <p:nvSpPr>
          <p:cNvPr id="4" name="Oval 3">
            <a:extLst>
              <a:ext uri="{FF2B5EF4-FFF2-40B4-BE49-F238E27FC236}">
                <a16:creationId xmlns:a16="http://schemas.microsoft.com/office/drawing/2014/main" id="{2CECCEC6-115C-0B82-AD62-9FD32213217C}"/>
              </a:ext>
            </a:extLst>
          </p:cNvPr>
          <p:cNvSpPr/>
          <p:nvPr/>
        </p:nvSpPr>
        <p:spPr>
          <a:xfrm>
            <a:off x="2069940" y="2665515"/>
            <a:ext cx="1504171" cy="1526970"/>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5" name="Oval 4">
            <a:extLst>
              <a:ext uri="{FF2B5EF4-FFF2-40B4-BE49-F238E27FC236}">
                <a16:creationId xmlns:a16="http://schemas.microsoft.com/office/drawing/2014/main" id="{B2FEF460-BBCF-C115-B7BB-F0ACDC851BE0}"/>
              </a:ext>
            </a:extLst>
          </p:cNvPr>
          <p:cNvSpPr/>
          <p:nvPr/>
        </p:nvSpPr>
        <p:spPr>
          <a:xfrm>
            <a:off x="3800721" y="2665514"/>
            <a:ext cx="1447800" cy="1532148"/>
          </a:xfrm>
          <a:prstGeom prst="ellipse">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6" name="Left-Right Arrow 27">
            <a:extLst>
              <a:ext uri="{FF2B5EF4-FFF2-40B4-BE49-F238E27FC236}">
                <a16:creationId xmlns:a16="http://schemas.microsoft.com/office/drawing/2014/main" id="{8A2A5945-9260-06B2-0933-5B191C6ED5BC}"/>
              </a:ext>
            </a:extLst>
          </p:cNvPr>
          <p:cNvSpPr/>
          <p:nvPr/>
        </p:nvSpPr>
        <p:spPr>
          <a:xfrm>
            <a:off x="5661923" y="3146278"/>
            <a:ext cx="1262998" cy="570620"/>
          </a:xfrm>
          <a:prstGeom prst="leftRightArrow">
            <a:avLst/>
          </a:prstGeom>
          <a:solidFill>
            <a:srgbClr val="CCD668"/>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99"/>
                </a:solidFill>
                <a:effectLst/>
                <a:uLnTx/>
                <a:uFillTx/>
                <a:latin typeface="Calibri"/>
                <a:ea typeface="+mn-ea"/>
                <a:cs typeface="+mn-cs"/>
              </a:rPr>
              <a:t>Output</a:t>
            </a:r>
          </a:p>
        </p:txBody>
      </p:sp>
      <p:sp>
        <p:nvSpPr>
          <p:cNvPr id="7" name="Freeform 28">
            <a:extLst>
              <a:ext uri="{FF2B5EF4-FFF2-40B4-BE49-F238E27FC236}">
                <a16:creationId xmlns:a16="http://schemas.microsoft.com/office/drawing/2014/main" id="{125B1885-BEF6-D5F7-5855-3C471AF4BEE8}"/>
              </a:ext>
            </a:extLst>
          </p:cNvPr>
          <p:cNvSpPr/>
          <p:nvPr/>
        </p:nvSpPr>
        <p:spPr>
          <a:xfrm>
            <a:off x="8144121" y="2808603"/>
            <a:ext cx="610825" cy="1239994"/>
          </a:xfrm>
          <a:custGeom>
            <a:avLst/>
            <a:gdLst>
              <a:gd name="connsiteX0" fmla="*/ 299195 w 610825"/>
              <a:gd name="connsiteY0" fmla="*/ 0 h 1239994"/>
              <a:gd name="connsiteX1" fmla="*/ 393584 w 610825"/>
              <a:gd name="connsiteY1" fmla="*/ 80437 h 1239994"/>
              <a:gd name="connsiteX2" fmla="*/ 610825 w 610825"/>
              <a:gd name="connsiteY2" fmla="*/ 622133 h 1239994"/>
              <a:gd name="connsiteX3" fmla="*/ 393584 w 610825"/>
              <a:gd name="connsiteY3" fmla="*/ 1163829 h 1239994"/>
              <a:gd name="connsiteX4" fmla="*/ 304209 w 610825"/>
              <a:gd name="connsiteY4" fmla="*/ 1239994 h 1239994"/>
              <a:gd name="connsiteX5" fmla="*/ 212025 w 610825"/>
              <a:gd name="connsiteY5" fmla="*/ 1159504 h 1239994"/>
              <a:gd name="connsiteX6" fmla="*/ 0 w 610825"/>
              <a:gd name="connsiteY6" fmla="*/ 617808 h 1239994"/>
              <a:gd name="connsiteX7" fmla="*/ 212025 w 610825"/>
              <a:gd name="connsiteY7" fmla="*/ 76112 h 1239994"/>
              <a:gd name="connsiteX8" fmla="*/ 299195 w 610825"/>
              <a:gd name="connsiteY8" fmla="*/ 0 h 123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825" h="1239994">
                <a:moveTo>
                  <a:pt x="299195" y="0"/>
                </a:moveTo>
                <a:lnTo>
                  <a:pt x="393584" y="80437"/>
                </a:lnTo>
                <a:cubicBezTo>
                  <a:pt x="527807" y="219069"/>
                  <a:pt x="610825" y="410588"/>
                  <a:pt x="610825" y="622133"/>
                </a:cubicBezTo>
                <a:cubicBezTo>
                  <a:pt x="610825" y="833679"/>
                  <a:pt x="527807" y="1025197"/>
                  <a:pt x="393584" y="1163829"/>
                </a:cubicBezTo>
                <a:lnTo>
                  <a:pt x="304209" y="1239994"/>
                </a:lnTo>
                <a:lnTo>
                  <a:pt x="212025" y="1159504"/>
                </a:lnTo>
                <a:cubicBezTo>
                  <a:pt x="81025" y="1020872"/>
                  <a:pt x="0" y="829354"/>
                  <a:pt x="0" y="617808"/>
                </a:cubicBezTo>
                <a:cubicBezTo>
                  <a:pt x="0" y="406263"/>
                  <a:pt x="81025" y="214744"/>
                  <a:pt x="212025" y="76112"/>
                </a:cubicBezTo>
                <a:lnTo>
                  <a:pt x="299195" y="0"/>
                </a:lnTo>
                <a:close/>
              </a:path>
            </a:pathLst>
          </a:cu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8" name="Freeform 29">
            <a:extLst>
              <a:ext uri="{FF2B5EF4-FFF2-40B4-BE49-F238E27FC236}">
                <a16:creationId xmlns:a16="http://schemas.microsoft.com/office/drawing/2014/main" id="{701AA91E-526F-D79D-A99D-E93E277B303D}"/>
              </a:ext>
            </a:extLst>
          </p:cNvPr>
          <p:cNvSpPr/>
          <p:nvPr/>
        </p:nvSpPr>
        <p:spPr>
          <a:xfrm>
            <a:off x="8443316" y="2660337"/>
            <a:ext cx="1148605" cy="1532148"/>
          </a:xfrm>
          <a:custGeom>
            <a:avLst/>
            <a:gdLst>
              <a:gd name="connsiteX0" fmla="*/ 424705 w 1148605"/>
              <a:gd name="connsiteY0" fmla="*/ 0 h 1532148"/>
              <a:gd name="connsiteX1" fmla="*/ 1148605 w 1148605"/>
              <a:gd name="connsiteY1" fmla="*/ 766074 h 1532148"/>
              <a:gd name="connsiteX2" fmla="*/ 424705 w 1148605"/>
              <a:gd name="connsiteY2" fmla="*/ 1532148 h 1532148"/>
              <a:gd name="connsiteX3" fmla="*/ 19966 w 1148605"/>
              <a:gd name="connsiteY3" fmla="*/ 1401315 h 1532148"/>
              <a:gd name="connsiteX4" fmla="*/ 5014 w 1148605"/>
              <a:gd name="connsiteY4" fmla="*/ 1388260 h 1532148"/>
              <a:gd name="connsiteX5" fmla="*/ 94389 w 1148605"/>
              <a:gd name="connsiteY5" fmla="*/ 1312095 h 1532148"/>
              <a:gd name="connsiteX6" fmla="*/ 311630 w 1148605"/>
              <a:gd name="connsiteY6" fmla="*/ 770399 h 1532148"/>
              <a:gd name="connsiteX7" fmla="*/ 94389 w 1148605"/>
              <a:gd name="connsiteY7" fmla="*/ 228703 h 1532148"/>
              <a:gd name="connsiteX8" fmla="*/ 0 w 1148605"/>
              <a:gd name="connsiteY8" fmla="*/ 148266 h 1532148"/>
              <a:gd name="connsiteX9" fmla="*/ 19966 w 1148605"/>
              <a:gd name="connsiteY9" fmla="*/ 130833 h 1532148"/>
              <a:gd name="connsiteX10" fmla="*/ 424705 w 1148605"/>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8605" h="1532148">
                <a:moveTo>
                  <a:pt x="424705" y="0"/>
                </a:moveTo>
                <a:cubicBezTo>
                  <a:pt x="824504" y="0"/>
                  <a:pt x="1148605" y="342983"/>
                  <a:pt x="1148605" y="766074"/>
                </a:cubicBezTo>
                <a:cubicBezTo>
                  <a:pt x="1148605" y="1189165"/>
                  <a:pt x="824504" y="1532148"/>
                  <a:pt x="424705" y="1532148"/>
                </a:cubicBezTo>
                <a:cubicBezTo>
                  <a:pt x="274781" y="1532148"/>
                  <a:pt x="135501" y="1483916"/>
                  <a:pt x="19966" y="1401315"/>
                </a:cubicBezTo>
                <a:lnTo>
                  <a:pt x="5014" y="1388260"/>
                </a:lnTo>
                <a:lnTo>
                  <a:pt x="94389" y="1312095"/>
                </a:lnTo>
                <a:cubicBezTo>
                  <a:pt x="228612" y="1173463"/>
                  <a:pt x="311630" y="981945"/>
                  <a:pt x="311630" y="770399"/>
                </a:cubicBezTo>
                <a:cubicBezTo>
                  <a:pt x="311630" y="558854"/>
                  <a:pt x="228612" y="367335"/>
                  <a:pt x="94389" y="228703"/>
                </a:cubicBezTo>
                <a:lnTo>
                  <a:pt x="0" y="148266"/>
                </a:lnTo>
                <a:lnTo>
                  <a:pt x="19966" y="130833"/>
                </a:lnTo>
                <a:cubicBezTo>
                  <a:pt x="135501" y="48232"/>
                  <a:pt x="274781" y="0"/>
                  <a:pt x="424705" y="0"/>
                </a:cubicBezTo>
                <a:close/>
              </a:path>
            </a:pathLst>
          </a:cu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9" name="Freeform 30">
            <a:extLst>
              <a:ext uri="{FF2B5EF4-FFF2-40B4-BE49-F238E27FC236}">
                <a16:creationId xmlns:a16="http://schemas.microsoft.com/office/drawing/2014/main" id="{A7C607FA-11FE-8E62-DDA3-2EFC72FCF1FD}"/>
              </a:ext>
            </a:extLst>
          </p:cNvPr>
          <p:cNvSpPr/>
          <p:nvPr/>
        </p:nvSpPr>
        <p:spPr>
          <a:xfrm>
            <a:off x="7271529" y="2664662"/>
            <a:ext cx="1176800" cy="1532148"/>
          </a:xfrm>
          <a:custGeom>
            <a:avLst/>
            <a:gdLst>
              <a:gd name="connsiteX0" fmla="*/ 741708 w 1176800"/>
              <a:gd name="connsiteY0" fmla="*/ 0 h 1532148"/>
              <a:gd name="connsiteX1" fmla="*/ 1156404 w 1176800"/>
              <a:gd name="connsiteY1" fmla="*/ 130833 h 1532148"/>
              <a:gd name="connsiteX2" fmla="*/ 1171786 w 1176800"/>
              <a:gd name="connsiteY2" fmla="*/ 143941 h 1532148"/>
              <a:gd name="connsiteX3" fmla="*/ 1084616 w 1176800"/>
              <a:gd name="connsiteY3" fmla="*/ 220053 h 1532148"/>
              <a:gd name="connsiteX4" fmla="*/ 872591 w 1176800"/>
              <a:gd name="connsiteY4" fmla="*/ 761749 h 1532148"/>
              <a:gd name="connsiteX5" fmla="*/ 1084616 w 1176800"/>
              <a:gd name="connsiteY5" fmla="*/ 1303445 h 1532148"/>
              <a:gd name="connsiteX6" fmla="*/ 1176800 w 1176800"/>
              <a:gd name="connsiteY6" fmla="*/ 1383935 h 1532148"/>
              <a:gd name="connsiteX7" fmla="*/ 1156404 w 1176800"/>
              <a:gd name="connsiteY7" fmla="*/ 1401315 h 1532148"/>
              <a:gd name="connsiteX8" fmla="*/ 741708 w 1176800"/>
              <a:gd name="connsiteY8" fmla="*/ 1532148 h 1532148"/>
              <a:gd name="connsiteX9" fmla="*/ 0 w 1176800"/>
              <a:gd name="connsiteY9" fmla="*/ 766074 h 1532148"/>
              <a:gd name="connsiteX10" fmla="*/ 741708 w 1176800"/>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6800" h="1532148">
                <a:moveTo>
                  <a:pt x="741708" y="0"/>
                </a:moveTo>
                <a:cubicBezTo>
                  <a:pt x="895321" y="0"/>
                  <a:pt x="1038027" y="48232"/>
                  <a:pt x="1156404" y="130833"/>
                </a:cubicBezTo>
                <a:lnTo>
                  <a:pt x="1171786" y="143941"/>
                </a:lnTo>
                <a:lnTo>
                  <a:pt x="1084616" y="220053"/>
                </a:lnTo>
                <a:cubicBezTo>
                  <a:pt x="953616" y="358685"/>
                  <a:pt x="872591" y="550204"/>
                  <a:pt x="872591" y="761749"/>
                </a:cubicBezTo>
                <a:cubicBezTo>
                  <a:pt x="872591" y="973295"/>
                  <a:pt x="953616" y="1164813"/>
                  <a:pt x="1084616" y="1303445"/>
                </a:cubicBezTo>
                <a:lnTo>
                  <a:pt x="1176800" y="1383935"/>
                </a:lnTo>
                <a:lnTo>
                  <a:pt x="1156404" y="1401315"/>
                </a:lnTo>
                <a:cubicBezTo>
                  <a:pt x="1038027" y="1483916"/>
                  <a:pt x="895321" y="1532148"/>
                  <a:pt x="741708" y="1532148"/>
                </a:cubicBezTo>
                <a:cubicBezTo>
                  <a:pt x="332074" y="1532148"/>
                  <a:pt x="0" y="1189165"/>
                  <a:pt x="0" y="766074"/>
                </a:cubicBezTo>
                <a:cubicBezTo>
                  <a:pt x="0" y="342983"/>
                  <a:pt x="332074" y="0"/>
                  <a:pt x="741708" y="0"/>
                </a:cubicBezTo>
                <a:close/>
              </a:path>
            </a:pathLst>
          </a:cu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p:txBody>
      </p:sp>
    </p:spTree>
    <p:extLst>
      <p:ext uri="{BB962C8B-B14F-4D97-AF65-F5344CB8AC3E}">
        <p14:creationId xmlns:p14="http://schemas.microsoft.com/office/powerpoint/2010/main" val="190428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2000"/>
                                        <p:tgtEl>
                                          <p:spTgt spid="4"/>
                                        </p:tgtEl>
                                      </p:cBhvr>
                                    </p:animEffect>
                                  </p:childTnLst>
                                </p:cTn>
                              </p:par>
                              <p:par>
                                <p:cTn id="16" presetID="1" presetClass="entr" presetSubtype="0" fill="hold"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1)">
                                      <p:cBhvr>
                                        <p:cTn id="22" dur="2000"/>
                                        <p:tgtEl>
                                          <p:spTgt spid="5"/>
                                        </p:tgtEl>
                                      </p:cBhvr>
                                    </p:animEffect>
                                  </p:childTnLst>
                                </p:cTn>
                              </p:par>
                              <p:par>
                                <p:cTn id="23" presetID="1" presetClass="entr" presetSubtype="0" fill="hold"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animEffect transition="in" filter="wipe(down)">
                                      <p:cBhvr>
                                        <p:cTn id="29" dur="500"/>
                                        <p:tgtEl>
                                          <p:spTgt spid="4">
                                            <p:txEl>
                                              <p:pRg st="1" end="1"/>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wipe(down)">
                                      <p:cBhvr>
                                        <p:cTn id="32" dur="500"/>
                                        <p:tgtEl>
                                          <p:spTgt spid="4">
                                            <p:txEl>
                                              <p:pRg st="2" end="2"/>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wipe(down)">
                                      <p:cBhvr>
                                        <p:cTn id="35" dur="500"/>
                                        <p:tgtEl>
                                          <p:spTgt spid="4">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5">
                                            <p:txEl>
                                              <p:pRg st="1" end="1"/>
                                            </p:txEl>
                                          </p:spTgt>
                                        </p:tgtEl>
                                        <p:attrNameLst>
                                          <p:attrName>style.visibility</p:attrName>
                                        </p:attrNameLst>
                                      </p:cBhvr>
                                      <p:to>
                                        <p:strVal val="visible"/>
                                      </p:to>
                                    </p:set>
                                    <p:animEffect transition="in" filter="wipe(down)">
                                      <p:cBhvr>
                                        <p:cTn id="40" dur="500"/>
                                        <p:tgtEl>
                                          <p:spTgt spid="5">
                                            <p:txEl>
                                              <p:pRg st="1" end="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Effect transition="in" filter="wipe(down)">
                                      <p:cBhvr>
                                        <p:cTn id="43" dur="500"/>
                                        <p:tgtEl>
                                          <p:spTgt spid="5">
                                            <p:txEl>
                                              <p:pRg st="2" end="2"/>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5">
                                            <p:txEl>
                                              <p:pRg st="3" end="3"/>
                                            </p:txEl>
                                          </p:spTgt>
                                        </p:tgtEl>
                                        <p:attrNameLst>
                                          <p:attrName>style.visibility</p:attrName>
                                        </p:attrNameLst>
                                      </p:cBhvr>
                                      <p:to>
                                        <p:strVal val="visible"/>
                                      </p:to>
                                    </p:set>
                                    <p:animEffect transition="in" filter="wipe(down)">
                                      <p:cBhvr>
                                        <p:cTn id="46" dur="500"/>
                                        <p:tgtEl>
                                          <p:spTgt spid="5">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additive="base">
                                        <p:cTn id="51" dur="500" fill="hold"/>
                                        <p:tgtEl>
                                          <p:spTgt spid="6"/>
                                        </p:tgtEl>
                                        <p:attrNameLst>
                                          <p:attrName>ppt_x</p:attrName>
                                        </p:attrNameLst>
                                      </p:cBhvr>
                                      <p:tavLst>
                                        <p:tav tm="0">
                                          <p:val>
                                            <p:strVal val="#ppt_x"/>
                                          </p:val>
                                        </p:tav>
                                        <p:tav tm="100000">
                                          <p:val>
                                            <p:strVal val="#ppt_x"/>
                                          </p:val>
                                        </p:tav>
                                      </p:tavLst>
                                    </p:anim>
                                    <p:anim calcmode="lin" valueType="num">
                                      <p:cBhvr additive="base">
                                        <p:cTn id="5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p:cTn id="57" dur="500" fill="hold"/>
                                        <p:tgtEl>
                                          <p:spTgt spid="9"/>
                                        </p:tgtEl>
                                        <p:attrNameLst>
                                          <p:attrName>ppt_w</p:attrName>
                                        </p:attrNameLst>
                                      </p:cBhvr>
                                      <p:tavLst>
                                        <p:tav tm="0">
                                          <p:val>
                                            <p:fltVal val="0"/>
                                          </p:val>
                                        </p:tav>
                                        <p:tav tm="100000">
                                          <p:val>
                                            <p:strVal val="#ppt_w"/>
                                          </p:val>
                                        </p:tav>
                                      </p:tavLst>
                                    </p:anim>
                                    <p:anim calcmode="lin" valueType="num">
                                      <p:cBhvr>
                                        <p:cTn id="58" dur="500" fill="hold"/>
                                        <p:tgtEl>
                                          <p:spTgt spid="9"/>
                                        </p:tgtEl>
                                        <p:attrNameLst>
                                          <p:attrName>ppt_h</p:attrName>
                                        </p:attrNameLst>
                                      </p:cBhvr>
                                      <p:tavLst>
                                        <p:tav tm="0">
                                          <p:val>
                                            <p:fltVal val="0"/>
                                          </p:val>
                                        </p:tav>
                                        <p:tav tm="100000">
                                          <p:val>
                                            <p:strVal val="#ppt_h"/>
                                          </p:val>
                                        </p:tav>
                                      </p:tavLst>
                                    </p:anim>
                                    <p:animEffect transition="in" filter="fade">
                                      <p:cBhvr>
                                        <p:cTn id="59" dur="500"/>
                                        <p:tgtEl>
                                          <p:spTgt spid="9"/>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7"/>
                                        </p:tgtEl>
                                        <p:attrNameLst>
                                          <p:attrName>style.visibility</p:attrName>
                                        </p:attrNameLst>
                                      </p:cBhvr>
                                      <p:to>
                                        <p:strVal val="visible"/>
                                      </p:to>
                                    </p:set>
                                    <p:anim calcmode="lin" valueType="num">
                                      <p:cBhvr>
                                        <p:cTn id="62" dur="500" fill="hold"/>
                                        <p:tgtEl>
                                          <p:spTgt spid="7"/>
                                        </p:tgtEl>
                                        <p:attrNameLst>
                                          <p:attrName>ppt_w</p:attrName>
                                        </p:attrNameLst>
                                      </p:cBhvr>
                                      <p:tavLst>
                                        <p:tav tm="0">
                                          <p:val>
                                            <p:fltVal val="0"/>
                                          </p:val>
                                        </p:tav>
                                        <p:tav tm="100000">
                                          <p:val>
                                            <p:strVal val="#ppt_w"/>
                                          </p:val>
                                        </p:tav>
                                      </p:tavLst>
                                    </p:anim>
                                    <p:anim calcmode="lin" valueType="num">
                                      <p:cBhvr>
                                        <p:cTn id="63" dur="500" fill="hold"/>
                                        <p:tgtEl>
                                          <p:spTgt spid="7"/>
                                        </p:tgtEl>
                                        <p:attrNameLst>
                                          <p:attrName>ppt_h</p:attrName>
                                        </p:attrNameLst>
                                      </p:cBhvr>
                                      <p:tavLst>
                                        <p:tav tm="0">
                                          <p:val>
                                            <p:fltVal val="0"/>
                                          </p:val>
                                        </p:tav>
                                        <p:tav tm="100000">
                                          <p:val>
                                            <p:strVal val="#ppt_h"/>
                                          </p:val>
                                        </p:tav>
                                      </p:tavLst>
                                    </p:anim>
                                    <p:animEffect transition="in" filter="fade">
                                      <p:cBhvr>
                                        <p:cTn id="64" dur="500"/>
                                        <p:tgtEl>
                                          <p:spTgt spid="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p:cTn id="67" dur="500" fill="hold"/>
                                        <p:tgtEl>
                                          <p:spTgt spid="8"/>
                                        </p:tgtEl>
                                        <p:attrNameLst>
                                          <p:attrName>ppt_w</p:attrName>
                                        </p:attrNameLst>
                                      </p:cBhvr>
                                      <p:tavLst>
                                        <p:tav tm="0">
                                          <p:val>
                                            <p:fltVal val="0"/>
                                          </p:val>
                                        </p:tav>
                                        <p:tav tm="100000">
                                          <p:val>
                                            <p:strVal val="#ppt_w"/>
                                          </p:val>
                                        </p:tav>
                                      </p:tavLst>
                                    </p:anim>
                                    <p:anim calcmode="lin" valueType="num">
                                      <p:cBhvr>
                                        <p:cTn id="68" dur="500" fill="hold"/>
                                        <p:tgtEl>
                                          <p:spTgt spid="8"/>
                                        </p:tgtEl>
                                        <p:attrNameLst>
                                          <p:attrName>ppt_h</p:attrName>
                                        </p:attrNameLst>
                                      </p:cBhvr>
                                      <p:tavLst>
                                        <p:tav tm="0">
                                          <p:val>
                                            <p:fltVal val="0"/>
                                          </p:val>
                                        </p:tav>
                                        <p:tav tm="100000">
                                          <p:val>
                                            <p:strVal val="#ppt_h"/>
                                          </p:val>
                                        </p:tav>
                                      </p:tavLst>
                                    </p:anim>
                                    <p:animEffect transition="in" filter="fade">
                                      <p:cBhvr>
                                        <p:cTn id="6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ADD7-2609-94AE-E5DA-F794868B6ED5}"/>
              </a:ext>
            </a:extLst>
          </p:cNvPr>
          <p:cNvSpPr>
            <a:spLocks noGrp="1"/>
          </p:cNvSpPr>
          <p:nvPr>
            <p:ph type="title"/>
          </p:nvPr>
        </p:nvSpPr>
        <p:spPr/>
        <p:txBody>
          <a:bodyPr/>
          <a:lstStyle/>
          <a:p>
            <a:r>
              <a:rPr lang="en-US" dirty="0"/>
              <a:t>Union All</a:t>
            </a:r>
            <a:endParaRPr lang="en-IN" dirty="0"/>
          </a:p>
        </p:txBody>
      </p:sp>
      <p:sp>
        <p:nvSpPr>
          <p:cNvPr id="26" name="Rectangle 25">
            <a:extLst>
              <a:ext uri="{FF2B5EF4-FFF2-40B4-BE49-F238E27FC236}">
                <a16:creationId xmlns:a16="http://schemas.microsoft.com/office/drawing/2014/main" id="{3925B5B0-00CE-88AF-3701-740B3C0F43AA}"/>
              </a:ext>
            </a:extLst>
          </p:cNvPr>
          <p:cNvSpPr/>
          <p:nvPr/>
        </p:nvSpPr>
        <p:spPr>
          <a:xfrm>
            <a:off x="300251" y="1371600"/>
            <a:ext cx="5350051" cy="19050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B0D5A186-3576-4ED6-F366-82B39A11833D}"/>
              </a:ext>
            </a:extLst>
          </p:cNvPr>
          <p:cNvSpPr/>
          <p:nvPr/>
        </p:nvSpPr>
        <p:spPr>
          <a:xfrm>
            <a:off x="449516" y="1548195"/>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28" name="Rectangle 27">
            <a:extLst>
              <a:ext uri="{FF2B5EF4-FFF2-40B4-BE49-F238E27FC236}">
                <a16:creationId xmlns:a16="http://schemas.microsoft.com/office/drawing/2014/main" id="{CA08A033-2954-86AC-B0A9-66628F0E2115}"/>
              </a:ext>
            </a:extLst>
          </p:cNvPr>
          <p:cNvSpPr/>
          <p:nvPr/>
        </p:nvSpPr>
        <p:spPr>
          <a:xfrm>
            <a:off x="1691150" y="1548195"/>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29" name="Rectangle 28">
            <a:extLst>
              <a:ext uri="{FF2B5EF4-FFF2-40B4-BE49-F238E27FC236}">
                <a16:creationId xmlns:a16="http://schemas.microsoft.com/office/drawing/2014/main" id="{86B58B76-9CA3-0D9A-F681-A09F1FBF00A9}"/>
              </a:ext>
            </a:extLst>
          </p:cNvPr>
          <p:cNvSpPr/>
          <p:nvPr/>
        </p:nvSpPr>
        <p:spPr>
          <a:xfrm>
            <a:off x="4076796" y="1556826"/>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30" name="Rectangle 29">
            <a:extLst>
              <a:ext uri="{FF2B5EF4-FFF2-40B4-BE49-F238E27FC236}">
                <a16:creationId xmlns:a16="http://schemas.microsoft.com/office/drawing/2014/main" id="{7FAE5EF4-6CC4-4F28-A583-ED4E1E40B139}"/>
              </a:ext>
            </a:extLst>
          </p:cNvPr>
          <p:cNvSpPr/>
          <p:nvPr/>
        </p:nvSpPr>
        <p:spPr>
          <a:xfrm>
            <a:off x="449516" y="2115969"/>
            <a:ext cx="1241634"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UNION</a:t>
            </a:r>
            <a:r>
              <a:rPr lang="en-US" dirty="0"/>
              <a:t> </a:t>
            </a:r>
            <a:r>
              <a:rPr lang="en-US" dirty="0">
                <a:solidFill>
                  <a:srgbClr val="0000FF"/>
                </a:solidFill>
                <a:latin typeface="Consolas" panose="020B0609020204030204" pitchFamily="49" charset="0"/>
              </a:rPr>
              <a:t>ALL</a:t>
            </a:r>
          </a:p>
        </p:txBody>
      </p:sp>
      <p:sp>
        <p:nvSpPr>
          <p:cNvPr id="31" name="Rectangle 30">
            <a:extLst>
              <a:ext uri="{FF2B5EF4-FFF2-40B4-BE49-F238E27FC236}">
                <a16:creationId xmlns:a16="http://schemas.microsoft.com/office/drawing/2014/main" id="{19BEC9A1-3348-93A6-C3CC-BE61E2CA1FB4}"/>
              </a:ext>
            </a:extLst>
          </p:cNvPr>
          <p:cNvSpPr/>
          <p:nvPr/>
        </p:nvSpPr>
        <p:spPr>
          <a:xfrm>
            <a:off x="2840113" y="1548195"/>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2" name="Rectangle 31">
            <a:extLst>
              <a:ext uri="{FF2B5EF4-FFF2-40B4-BE49-F238E27FC236}">
                <a16:creationId xmlns:a16="http://schemas.microsoft.com/office/drawing/2014/main" id="{E635F0B2-24C4-E55A-9B98-E19DE76940D0}"/>
              </a:ext>
            </a:extLst>
          </p:cNvPr>
          <p:cNvSpPr/>
          <p:nvPr/>
        </p:nvSpPr>
        <p:spPr>
          <a:xfrm>
            <a:off x="449516" y="2656452"/>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33" name="Rectangle 32">
            <a:extLst>
              <a:ext uri="{FF2B5EF4-FFF2-40B4-BE49-F238E27FC236}">
                <a16:creationId xmlns:a16="http://schemas.microsoft.com/office/drawing/2014/main" id="{5AE8A81F-D1E4-0428-73D6-9DEA8F28DBC8}"/>
              </a:ext>
            </a:extLst>
          </p:cNvPr>
          <p:cNvSpPr/>
          <p:nvPr/>
        </p:nvSpPr>
        <p:spPr>
          <a:xfrm>
            <a:off x="1710485" y="2662435"/>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34" name="Rectangle 33">
            <a:extLst>
              <a:ext uri="{FF2B5EF4-FFF2-40B4-BE49-F238E27FC236}">
                <a16:creationId xmlns:a16="http://schemas.microsoft.com/office/drawing/2014/main" id="{A1D3634F-EEB2-F1B9-CE0E-498FBA03FCEB}"/>
              </a:ext>
            </a:extLst>
          </p:cNvPr>
          <p:cNvSpPr/>
          <p:nvPr/>
        </p:nvSpPr>
        <p:spPr>
          <a:xfrm>
            <a:off x="4143928" y="2650469"/>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35" name="Rectangle 34">
            <a:extLst>
              <a:ext uri="{FF2B5EF4-FFF2-40B4-BE49-F238E27FC236}">
                <a16:creationId xmlns:a16="http://schemas.microsoft.com/office/drawing/2014/main" id="{1F37D071-C05A-0CF8-D9FB-84AFA8408A67}"/>
              </a:ext>
            </a:extLst>
          </p:cNvPr>
          <p:cNvSpPr/>
          <p:nvPr/>
        </p:nvSpPr>
        <p:spPr>
          <a:xfrm>
            <a:off x="2880164" y="2650469"/>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6" name="Rectangle 35">
            <a:extLst>
              <a:ext uri="{FF2B5EF4-FFF2-40B4-BE49-F238E27FC236}">
                <a16:creationId xmlns:a16="http://schemas.microsoft.com/office/drawing/2014/main" id="{AD8EF5FE-5E0A-E3DF-E431-96C675EDAB0D}"/>
              </a:ext>
            </a:extLst>
          </p:cNvPr>
          <p:cNvSpPr/>
          <p:nvPr/>
        </p:nvSpPr>
        <p:spPr>
          <a:xfrm>
            <a:off x="5281648" y="2656452"/>
            <a:ext cx="16317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37" name="Picture 36">
            <a:extLst>
              <a:ext uri="{FF2B5EF4-FFF2-40B4-BE49-F238E27FC236}">
                <a16:creationId xmlns:a16="http://schemas.microsoft.com/office/drawing/2014/main" id="{9AE2411A-48F2-0847-E61F-6E7DBF24C26B}"/>
              </a:ext>
            </a:extLst>
          </p:cNvPr>
          <p:cNvPicPr>
            <a:picLocks noChangeAspect="1"/>
          </p:cNvPicPr>
          <p:nvPr/>
        </p:nvPicPr>
        <p:blipFill>
          <a:blip r:embed="rId2"/>
          <a:stretch>
            <a:fillRect/>
          </a:stretch>
        </p:blipFill>
        <p:spPr>
          <a:xfrm>
            <a:off x="5131134" y="4350213"/>
            <a:ext cx="1109156" cy="1001148"/>
          </a:xfrm>
          <a:prstGeom prst="rect">
            <a:avLst/>
          </a:prstGeom>
        </p:spPr>
      </p:pic>
      <p:graphicFrame>
        <p:nvGraphicFramePr>
          <p:cNvPr id="42" name="Table 41">
            <a:extLst>
              <a:ext uri="{FF2B5EF4-FFF2-40B4-BE49-F238E27FC236}">
                <a16:creationId xmlns:a16="http://schemas.microsoft.com/office/drawing/2014/main" id="{05930652-CD4A-382B-04BC-39EEF3B5EE9F}"/>
              </a:ext>
            </a:extLst>
          </p:cNvPr>
          <p:cNvGraphicFramePr>
            <a:graphicFrameLocks noGrp="1"/>
          </p:cNvGraphicFramePr>
          <p:nvPr/>
        </p:nvGraphicFramePr>
        <p:xfrm>
          <a:off x="385917" y="3767053"/>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Emp2016</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43" name="Table 42">
            <a:extLst>
              <a:ext uri="{FF2B5EF4-FFF2-40B4-BE49-F238E27FC236}">
                <a16:creationId xmlns:a16="http://schemas.microsoft.com/office/drawing/2014/main" id="{C11FAB1C-C356-B409-9DD0-1548FA48B0BE}"/>
              </a:ext>
            </a:extLst>
          </p:cNvPr>
          <p:cNvGraphicFramePr>
            <a:graphicFrameLocks noGrp="1"/>
          </p:cNvGraphicFramePr>
          <p:nvPr/>
        </p:nvGraphicFramePr>
        <p:xfrm>
          <a:off x="2802708" y="3779340"/>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Emp2018</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44" name="Table 43">
            <a:extLst>
              <a:ext uri="{FF2B5EF4-FFF2-40B4-BE49-F238E27FC236}">
                <a16:creationId xmlns:a16="http://schemas.microsoft.com/office/drawing/2014/main" id="{0D83C99B-1B56-7ED9-A2DE-389BB285F428}"/>
              </a:ext>
            </a:extLst>
          </p:cNvPr>
          <p:cNvGraphicFramePr>
            <a:graphicFrameLocks noGrp="1"/>
          </p:cNvGraphicFramePr>
          <p:nvPr/>
        </p:nvGraphicFramePr>
        <p:xfrm>
          <a:off x="6428941" y="3312460"/>
          <a:ext cx="1948510" cy="2859740"/>
        </p:xfrm>
        <a:graphic>
          <a:graphicData uri="http://schemas.openxmlformats.org/drawingml/2006/table">
            <a:tbl>
              <a:tblPr bandRow="1">
                <a:tableStyleId>{073A0DAA-6AF3-43AB-8588-CEC1D06C72B9}</a:tableStyleId>
              </a:tblPr>
              <a:tblGrid>
                <a:gridCol w="959643">
                  <a:extLst>
                    <a:ext uri="{9D8B030D-6E8A-4147-A177-3AD203B41FA5}">
                      <a16:colId xmlns:a16="http://schemas.microsoft.com/office/drawing/2014/main" val="20000"/>
                    </a:ext>
                  </a:extLst>
                </a:gridCol>
                <a:gridCol w="988867">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err="1">
                          <a:solidFill>
                            <a:srgbClr val="000000"/>
                          </a:solidFill>
                          <a:effectLst/>
                          <a:latin typeface="Calibri" panose="020F0502020204030204" pitchFamily="34" charset="0"/>
                        </a:rPr>
                        <a:t>UnionAll</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5"/>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6"/>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7"/>
                  </a:ext>
                </a:extLst>
              </a:tr>
            </a:tbl>
          </a:graphicData>
        </a:graphic>
      </p:graphicFrame>
      <p:sp>
        <p:nvSpPr>
          <p:cNvPr id="45" name="Rectangle 44">
            <a:extLst>
              <a:ext uri="{FF2B5EF4-FFF2-40B4-BE49-F238E27FC236}">
                <a16:creationId xmlns:a16="http://schemas.microsoft.com/office/drawing/2014/main" id="{476ADBBE-5B0B-DCDF-4954-3322C7D2D3D1}"/>
              </a:ext>
            </a:extLst>
          </p:cNvPr>
          <p:cNvSpPr/>
          <p:nvPr/>
        </p:nvSpPr>
        <p:spPr>
          <a:xfrm>
            <a:off x="6400366" y="4475630"/>
            <a:ext cx="1948510" cy="324970"/>
          </a:xfrm>
          <a:prstGeom prst="rect">
            <a:avLst/>
          </a:prstGeom>
          <a:noFill/>
          <a:ln>
            <a:solidFill>
              <a:schemeClr val="tx2">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19065BF0-E358-F664-2706-2D54E29D8D95}"/>
              </a:ext>
            </a:extLst>
          </p:cNvPr>
          <p:cNvSpPr/>
          <p:nvPr/>
        </p:nvSpPr>
        <p:spPr>
          <a:xfrm>
            <a:off x="6400366" y="5542430"/>
            <a:ext cx="1948510" cy="324970"/>
          </a:xfrm>
          <a:prstGeom prst="rect">
            <a:avLst/>
          </a:prstGeom>
          <a:noFill/>
          <a:ln>
            <a:solidFill>
              <a:schemeClr val="tx2">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D48311B9-8339-D7FE-F41E-8001D608B950}"/>
              </a:ext>
            </a:extLst>
          </p:cNvPr>
          <p:cNvSpPr txBox="1"/>
          <p:nvPr/>
        </p:nvSpPr>
        <p:spPr>
          <a:xfrm>
            <a:off x="180846" y="1028047"/>
            <a:ext cx="1104900" cy="367400"/>
          </a:xfrm>
          <a:prstGeom prst="rect">
            <a:avLst/>
          </a:prstGeom>
          <a:noFill/>
        </p:spPr>
        <p:txBody>
          <a:bodyPr wrap="square" rtlCol="0">
            <a:spAutoFit/>
          </a:bodyPr>
          <a:lstStyle/>
          <a:p>
            <a:r>
              <a:rPr lang="en-US" b="1" u="sng" dirty="0"/>
              <a:t>Syntax</a:t>
            </a:r>
          </a:p>
        </p:txBody>
      </p:sp>
      <p:sp>
        <p:nvSpPr>
          <p:cNvPr id="48" name="TextBox 47">
            <a:extLst>
              <a:ext uri="{FF2B5EF4-FFF2-40B4-BE49-F238E27FC236}">
                <a16:creationId xmlns:a16="http://schemas.microsoft.com/office/drawing/2014/main" id="{5AF936C4-524B-00B6-BBDA-CC8D37D28CE4}"/>
              </a:ext>
            </a:extLst>
          </p:cNvPr>
          <p:cNvSpPr txBox="1"/>
          <p:nvPr/>
        </p:nvSpPr>
        <p:spPr>
          <a:xfrm>
            <a:off x="6269823" y="1042163"/>
            <a:ext cx="723900" cy="367400"/>
          </a:xfrm>
          <a:prstGeom prst="rect">
            <a:avLst/>
          </a:prstGeom>
          <a:noFill/>
        </p:spPr>
        <p:txBody>
          <a:bodyPr wrap="square" rtlCol="0">
            <a:spAutoFit/>
          </a:bodyPr>
          <a:lstStyle/>
          <a:p>
            <a:r>
              <a:rPr lang="en-US" b="1" u="sng" dirty="0"/>
              <a:t>E.g.</a:t>
            </a:r>
          </a:p>
        </p:txBody>
      </p:sp>
      <p:sp>
        <p:nvSpPr>
          <p:cNvPr id="4" name="Rectangle 3">
            <a:extLst>
              <a:ext uri="{FF2B5EF4-FFF2-40B4-BE49-F238E27FC236}">
                <a16:creationId xmlns:a16="http://schemas.microsoft.com/office/drawing/2014/main" id="{8E72991A-8985-AB6F-9458-46E2EAEF9F45}"/>
              </a:ext>
            </a:extLst>
          </p:cNvPr>
          <p:cNvSpPr/>
          <p:nvPr/>
        </p:nvSpPr>
        <p:spPr>
          <a:xfrm>
            <a:off x="6392433" y="1367926"/>
            <a:ext cx="5350051" cy="19050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CEE8403C-FF37-BF23-9F22-7B04A9C3A32D}"/>
              </a:ext>
            </a:extLst>
          </p:cNvPr>
          <p:cNvSpPr/>
          <p:nvPr/>
        </p:nvSpPr>
        <p:spPr>
          <a:xfrm>
            <a:off x="6631773" y="1502187"/>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6" name="Rectangle 5">
            <a:extLst>
              <a:ext uri="{FF2B5EF4-FFF2-40B4-BE49-F238E27FC236}">
                <a16:creationId xmlns:a16="http://schemas.microsoft.com/office/drawing/2014/main" id="{FA1AC3D7-52CB-9676-06CA-406EE822D84D}"/>
              </a:ext>
            </a:extLst>
          </p:cNvPr>
          <p:cNvSpPr/>
          <p:nvPr/>
        </p:nvSpPr>
        <p:spPr>
          <a:xfrm>
            <a:off x="6631773" y="2069961"/>
            <a:ext cx="1241634"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UNION</a:t>
            </a:r>
            <a:r>
              <a:rPr lang="en-US" dirty="0"/>
              <a:t> </a:t>
            </a:r>
            <a:r>
              <a:rPr lang="en-US" dirty="0">
                <a:solidFill>
                  <a:srgbClr val="0000FF"/>
                </a:solidFill>
                <a:latin typeface="Consolas" panose="020B0609020204030204" pitchFamily="49" charset="0"/>
              </a:rPr>
              <a:t>ALL</a:t>
            </a:r>
          </a:p>
        </p:txBody>
      </p:sp>
      <p:sp>
        <p:nvSpPr>
          <p:cNvPr id="7" name="Rectangle 6">
            <a:extLst>
              <a:ext uri="{FF2B5EF4-FFF2-40B4-BE49-F238E27FC236}">
                <a16:creationId xmlns:a16="http://schemas.microsoft.com/office/drawing/2014/main" id="{A45E54E4-0329-E3F7-8029-90B7390308D7}"/>
              </a:ext>
            </a:extLst>
          </p:cNvPr>
          <p:cNvSpPr/>
          <p:nvPr/>
        </p:nvSpPr>
        <p:spPr>
          <a:xfrm>
            <a:off x="9020956" y="1510818"/>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8" name="Rectangle 7">
            <a:extLst>
              <a:ext uri="{FF2B5EF4-FFF2-40B4-BE49-F238E27FC236}">
                <a16:creationId xmlns:a16="http://schemas.microsoft.com/office/drawing/2014/main" id="{7385264E-F61E-A562-E0C3-C3E02F52FE71}"/>
              </a:ext>
            </a:extLst>
          </p:cNvPr>
          <p:cNvSpPr/>
          <p:nvPr/>
        </p:nvSpPr>
        <p:spPr>
          <a:xfrm>
            <a:off x="6631773" y="2610444"/>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9" name="Rectangle 8">
            <a:extLst>
              <a:ext uri="{FF2B5EF4-FFF2-40B4-BE49-F238E27FC236}">
                <a16:creationId xmlns:a16="http://schemas.microsoft.com/office/drawing/2014/main" id="{40268518-5335-752E-277D-99FB407A8010}"/>
              </a:ext>
            </a:extLst>
          </p:cNvPr>
          <p:cNvSpPr/>
          <p:nvPr/>
        </p:nvSpPr>
        <p:spPr>
          <a:xfrm>
            <a:off x="9020956" y="2606893"/>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0" name="Rectangle 9">
            <a:extLst>
              <a:ext uri="{FF2B5EF4-FFF2-40B4-BE49-F238E27FC236}">
                <a16:creationId xmlns:a16="http://schemas.microsoft.com/office/drawing/2014/main" id="{AE03DD67-BC6F-AC35-9A6B-D897027B0705}"/>
              </a:ext>
            </a:extLst>
          </p:cNvPr>
          <p:cNvSpPr/>
          <p:nvPr/>
        </p:nvSpPr>
        <p:spPr>
          <a:xfrm>
            <a:off x="10330465" y="1496204"/>
            <a:ext cx="107111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Emp2016</a:t>
            </a:r>
            <a:endParaRPr lang="en-US" dirty="0"/>
          </a:p>
        </p:txBody>
      </p:sp>
      <p:sp>
        <p:nvSpPr>
          <p:cNvPr id="11" name="Rectangle 10">
            <a:extLst>
              <a:ext uri="{FF2B5EF4-FFF2-40B4-BE49-F238E27FC236}">
                <a16:creationId xmlns:a16="http://schemas.microsoft.com/office/drawing/2014/main" id="{5B05BEC6-7BA7-90D4-21C9-B309F3E29FFF}"/>
              </a:ext>
            </a:extLst>
          </p:cNvPr>
          <p:cNvSpPr/>
          <p:nvPr/>
        </p:nvSpPr>
        <p:spPr>
          <a:xfrm>
            <a:off x="10330465" y="2606893"/>
            <a:ext cx="10711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Emp2018</a:t>
            </a:r>
          </a:p>
        </p:txBody>
      </p:sp>
      <p:sp>
        <p:nvSpPr>
          <p:cNvPr id="12" name="Rectangle 11">
            <a:extLst>
              <a:ext uri="{FF2B5EF4-FFF2-40B4-BE49-F238E27FC236}">
                <a16:creationId xmlns:a16="http://schemas.microsoft.com/office/drawing/2014/main" id="{49BEFE4E-2682-66BD-D67A-22013B6A71BC}"/>
              </a:ext>
            </a:extLst>
          </p:cNvPr>
          <p:cNvSpPr/>
          <p:nvPr/>
        </p:nvSpPr>
        <p:spPr>
          <a:xfrm>
            <a:off x="8011057" y="1496204"/>
            <a:ext cx="7620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3" name="Rectangle 12">
            <a:extLst>
              <a:ext uri="{FF2B5EF4-FFF2-40B4-BE49-F238E27FC236}">
                <a16:creationId xmlns:a16="http://schemas.microsoft.com/office/drawing/2014/main" id="{E3E1F071-CDC3-3763-3398-D3622294F87B}"/>
              </a:ext>
            </a:extLst>
          </p:cNvPr>
          <p:cNvSpPr/>
          <p:nvPr/>
        </p:nvSpPr>
        <p:spPr>
          <a:xfrm>
            <a:off x="8003089" y="2606893"/>
            <a:ext cx="7620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4" name="Rectangle 13">
            <a:extLst>
              <a:ext uri="{FF2B5EF4-FFF2-40B4-BE49-F238E27FC236}">
                <a16:creationId xmlns:a16="http://schemas.microsoft.com/office/drawing/2014/main" id="{EE7B9684-C6D7-D01F-4775-9ABD2FE0D33E}"/>
              </a:ext>
            </a:extLst>
          </p:cNvPr>
          <p:cNvSpPr/>
          <p:nvPr/>
        </p:nvSpPr>
        <p:spPr>
          <a:xfrm>
            <a:off x="11503315" y="2606893"/>
            <a:ext cx="16317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21548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27"/>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28"/>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31"/>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29"/>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30"/>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32"/>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35"/>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34"/>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3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4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2" nodeType="clickEffect">
                                  <p:stCondLst>
                                    <p:cond delay="0"/>
                                  </p:stCondLst>
                                  <p:childTnLst>
                                    <p:set>
                                      <p:cBhvr>
                                        <p:cTn id="84" dur="1" fill="hold">
                                          <p:stCondLst>
                                            <p:cond delay="0"/>
                                          </p:stCondLst>
                                        </p:cTn>
                                        <p:tgtEl>
                                          <p:spTgt spid="2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2" nodeType="clickEffect">
                                  <p:stCondLst>
                                    <p:cond delay="0"/>
                                  </p:stCondLst>
                                  <p:childTnLst>
                                    <p:set>
                                      <p:cBhvr>
                                        <p:cTn id="88" dur="1" fill="hold">
                                          <p:stCondLst>
                                            <p:cond delay="0"/>
                                          </p:stCondLst>
                                        </p:cTn>
                                        <p:tgtEl>
                                          <p:spTgt spid="3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2" nodeType="click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2" nodeType="click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2" nodeType="clickEffect">
                                  <p:stCondLst>
                                    <p:cond delay="0"/>
                                  </p:stCondLst>
                                  <p:childTnLst>
                                    <p:set>
                                      <p:cBhvr>
                                        <p:cTn id="100" dur="1" fill="hold">
                                          <p:stCondLst>
                                            <p:cond delay="0"/>
                                          </p:stCondLst>
                                        </p:cTn>
                                        <p:tgtEl>
                                          <p:spTgt spid="3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2" nodeType="clickEffect">
                                  <p:stCondLst>
                                    <p:cond delay="0"/>
                                  </p:stCondLst>
                                  <p:childTnLst>
                                    <p:set>
                                      <p:cBhvr>
                                        <p:cTn id="104" dur="1" fill="hold">
                                          <p:stCondLst>
                                            <p:cond delay="0"/>
                                          </p:stCondLst>
                                        </p:cTn>
                                        <p:tgtEl>
                                          <p:spTgt spid="3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3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4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5"/>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7"/>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8"/>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9"/>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xit" presetSubtype="0" fill="hold" grpId="1" nodeType="clickEffect">
                                  <p:stCondLst>
                                    <p:cond delay="0"/>
                                  </p:stCondLst>
                                  <p:childTnLst>
                                    <p:set>
                                      <p:cBhvr>
                                        <p:cTn id="144" dur="1" fill="hold">
                                          <p:stCondLst>
                                            <p:cond delay="0"/>
                                          </p:stCondLst>
                                        </p:cTn>
                                        <p:tgtEl>
                                          <p:spTgt spid="5"/>
                                        </p:tgtEl>
                                        <p:attrNameLst>
                                          <p:attrName>style.visibility</p:attrName>
                                        </p:attrNameLst>
                                      </p:cBhvr>
                                      <p:to>
                                        <p:strVal val="hidden"/>
                                      </p:to>
                                    </p:set>
                                  </p:childTnLst>
                                </p:cTn>
                              </p:par>
                              <p:par>
                                <p:cTn id="145" presetID="1" presetClass="exit" presetSubtype="0" fill="hold" grpId="1" nodeType="withEffect">
                                  <p:stCondLst>
                                    <p:cond delay="0"/>
                                  </p:stCondLst>
                                  <p:childTnLst>
                                    <p:set>
                                      <p:cBhvr>
                                        <p:cTn id="146" dur="1" fill="hold">
                                          <p:stCondLst>
                                            <p:cond delay="0"/>
                                          </p:stCondLst>
                                        </p:cTn>
                                        <p:tgtEl>
                                          <p:spTgt spid="7"/>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6"/>
                                        </p:tgtEl>
                                        <p:attrNameLst>
                                          <p:attrName>style.visibility</p:attrName>
                                        </p:attrNameLst>
                                      </p:cBhvr>
                                      <p:to>
                                        <p:strVal val="hidden"/>
                                      </p:to>
                                    </p:set>
                                  </p:childTnLst>
                                </p:cTn>
                              </p:par>
                              <p:par>
                                <p:cTn id="149" presetID="1" presetClass="exit" presetSubtype="0" fill="hold" grpId="1" nodeType="withEffect">
                                  <p:stCondLst>
                                    <p:cond delay="0"/>
                                  </p:stCondLst>
                                  <p:childTnLst>
                                    <p:set>
                                      <p:cBhvr>
                                        <p:cTn id="150" dur="1" fill="hold">
                                          <p:stCondLst>
                                            <p:cond delay="0"/>
                                          </p:stCondLst>
                                        </p:cTn>
                                        <p:tgtEl>
                                          <p:spTgt spid="8"/>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9"/>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2" nodeType="clickEffect">
                                  <p:stCondLst>
                                    <p:cond delay="0"/>
                                  </p:stCondLst>
                                  <p:childTnLst>
                                    <p:set>
                                      <p:cBhvr>
                                        <p:cTn id="156" dur="1" fill="hold">
                                          <p:stCondLst>
                                            <p:cond delay="0"/>
                                          </p:stCondLst>
                                        </p:cTn>
                                        <p:tgtEl>
                                          <p:spTgt spid="5"/>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12"/>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2" nodeType="clickEffect">
                                  <p:stCondLst>
                                    <p:cond delay="0"/>
                                  </p:stCondLst>
                                  <p:childTnLst>
                                    <p:set>
                                      <p:cBhvr>
                                        <p:cTn id="164" dur="1" fill="hold">
                                          <p:stCondLst>
                                            <p:cond delay="0"/>
                                          </p:stCondLst>
                                        </p:cTn>
                                        <p:tgtEl>
                                          <p:spTgt spid="7"/>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10"/>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2" nodeType="clickEffect">
                                  <p:stCondLst>
                                    <p:cond delay="0"/>
                                  </p:stCondLst>
                                  <p:childTnLst>
                                    <p:set>
                                      <p:cBhvr>
                                        <p:cTn id="172" dur="1" fill="hold">
                                          <p:stCondLst>
                                            <p:cond delay="0"/>
                                          </p:stCondLst>
                                        </p:cTn>
                                        <p:tgtEl>
                                          <p:spTgt spid="6"/>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2" nodeType="clickEffect">
                                  <p:stCondLst>
                                    <p:cond delay="0"/>
                                  </p:stCondLst>
                                  <p:childTnLst>
                                    <p:set>
                                      <p:cBhvr>
                                        <p:cTn id="176" dur="1" fill="hold">
                                          <p:stCondLst>
                                            <p:cond delay="0"/>
                                          </p:stCondLst>
                                        </p:cTn>
                                        <p:tgtEl>
                                          <p:spTgt spid="8"/>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13"/>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2" nodeType="clickEffect">
                                  <p:stCondLst>
                                    <p:cond delay="0"/>
                                  </p:stCondLst>
                                  <p:childTnLst>
                                    <p:set>
                                      <p:cBhvr>
                                        <p:cTn id="184" dur="1" fill="hold">
                                          <p:stCondLst>
                                            <p:cond delay="0"/>
                                          </p:stCondLst>
                                        </p:cTn>
                                        <p:tgtEl>
                                          <p:spTgt spid="9"/>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11"/>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14"/>
                                        </p:tgtEl>
                                        <p:attrNameLst>
                                          <p:attrName>style.visibility</p:attrName>
                                        </p:attrNameLst>
                                      </p:cBhvr>
                                      <p:to>
                                        <p:strVal val="visible"/>
                                      </p:to>
                                    </p:set>
                                  </p:childTnLst>
                                </p:cTn>
                              </p:par>
                              <p:par>
                                <p:cTn id="193" presetID="1" presetClass="exit" presetSubtype="0" fill="hold" grpId="1" nodeType="withEffect">
                                  <p:stCondLst>
                                    <p:cond delay="0"/>
                                  </p:stCondLst>
                                  <p:childTnLst>
                                    <p:set>
                                      <p:cBhvr>
                                        <p:cTn id="194" dur="1" fill="hold">
                                          <p:stCondLst>
                                            <p:cond delay="0"/>
                                          </p:stCondLst>
                                        </p:cTn>
                                        <p:tgtEl>
                                          <p:spTgt spid="14"/>
                                        </p:tgtEl>
                                        <p:attrNameLst>
                                          <p:attrName>style.visibility</p:attrName>
                                        </p:attrNameLst>
                                      </p:cBhvr>
                                      <p:to>
                                        <p:strVal val="hidden"/>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2" nodeType="clickEffect">
                                  <p:stCondLst>
                                    <p:cond delay="0"/>
                                  </p:stCondLst>
                                  <p:childTnLst>
                                    <p:set>
                                      <p:cBhvr>
                                        <p:cTn id="19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7" grpId="1" animBg="1"/>
      <p:bldP spid="27" grpId="2" animBg="1"/>
      <p:bldP spid="28" grpId="0" animBg="1"/>
      <p:bldP spid="28" grpId="1" animBg="1"/>
      <p:bldP spid="29" grpId="0" animBg="1"/>
      <p:bldP spid="29" grpId="1" animBg="1"/>
      <p:bldP spid="30" grpId="0" animBg="1"/>
      <p:bldP spid="30" grpId="1" animBg="1"/>
      <p:bldP spid="30" grpId="2" animBg="1"/>
      <p:bldP spid="31" grpId="0" animBg="1"/>
      <p:bldP spid="31" grpId="1" animBg="1"/>
      <p:bldP spid="31" grpId="2" animBg="1"/>
      <p:bldP spid="32" grpId="0" animBg="1"/>
      <p:bldP spid="32" grpId="1" animBg="1"/>
      <p:bldP spid="32" grpId="2" animBg="1"/>
      <p:bldP spid="33" grpId="0" animBg="1"/>
      <p:bldP spid="33" grpId="1" animBg="1"/>
      <p:bldP spid="34" grpId="0" animBg="1"/>
      <p:bldP spid="34" grpId="1" animBg="1"/>
      <p:bldP spid="35" grpId="0" animBg="1"/>
      <p:bldP spid="35" grpId="1" animBg="1"/>
      <p:bldP spid="35" grpId="2" animBg="1"/>
      <p:bldP spid="36" grpId="0" animBg="1"/>
      <p:bldP spid="36" grpId="1" animBg="1"/>
      <p:bldP spid="36" grpId="2" animBg="1"/>
      <p:bldP spid="45" grpId="0" animBg="1"/>
      <p:bldP spid="46" grpId="0" animBg="1"/>
      <p:bldP spid="47" grpId="0"/>
      <p:bldP spid="47" grpId="1"/>
      <p:bldP spid="48" grpId="0"/>
      <p:bldP spid="4" grpId="0" animBg="1"/>
      <p:bldP spid="5" grpId="0" animBg="1"/>
      <p:bldP spid="5" grpId="1" animBg="1"/>
      <p:bldP spid="5" grpId="2" animBg="1"/>
      <p:bldP spid="6" grpId="0" animBg="1"/>
      <p:bldP spid="6" grpId="1" animBg="1"/>
      <p:bldP spid="6" grpId="2" animBg="1"/>
      <p:bldP spid="7" grpId="0" animBg="1"/>
      <p:bldP spid="7" grpId="1" animBg="1"/>
      <p:bldP spid="7" grpId="2" animBg="1"/>
      <p:bldP spid="8" grpId="0" animBg="1"/>
      <p:bldP spid="8" grpId="1" animBg="1"/>
      <p:bldP spid="8" grpId="2" animBg="1"/>
      <p:bldP spid="9" grpId="0" animBg="1"/>
      <p:bldP spid="9" grpId="1" animBg="1"/>
      <p:bldP spid="9" grpId="2" animBg="1"/>
      <p:bldP spid="10" grpId="0" animBg="1"/>
      <p:bldP spid="11" grpId="0" animBg="1"/>
      <p:bldP spid="12" grpId="0" animBg="1"/>
      <p:bldP spid="13" grpId="0" animBg="1"/>
      <p:bldP spid="14" grpId="0" animBg="1"/>
      <p:bldP spid="14" grpId="1" animBg="1"/>
      <p:bldP spid="14" grpId="2"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3CD34-4F2E-6415-B977-8AEBD9D5C8FB}"/>
              </a:ext>
            </a:extLst>
          </p:cNvPr>
          <p:cNvSpPr>
            <a:spLocks noGrp="1"/>
          </p:cNvSpPr>
          <p:nvPr>
            <p:ph type="title"/>
          </p:nvPr>
        </p:nvSpPr>
        <p:spPr/>
        <p:txBody>
          <a:bodyPr/>
          <a:lstStyle/>
          <a:p>
            <a:r>
              <a:rPr lang="en-US" dirty="0"/>
              <a:t>Intersect</a:t>
            </a:r>
            <a:endParaRPr lang="en-IN" dirty="0"/>
          </a:p>
        </p:txBody>
      </p:sp>
      <p:sp>
        <p:nvSpPr>
          <p:cNvPr id="3" name="Content Placeholder 2">
            <a:extLst>
              <a:ext uri="{FF2B5EF4-FFF2-40B4-BE49-F238E27FC236}">
                <a16:creationId xmlns:a16="http://schemas.microsoft.com/office/drawing/2014/main" id="{AE8F899A-6325-EB9F-E20F-EF158C3AF7D2}"/>
              </a:ext>
            </a:extLst>
          </p:cNvPr>
          <p:cNvSpPr>
            <a:spLocks noGrp="1"/>
          </p:cNvSpPr>
          <p:nvPr>
            <p:ph idx="1"/>
          </p:nvPr>
        </p:nvSpPr>
        <p:spPr/>
        <p:txBody>
          <a:bodyPr/>
          <a:lstStyle/>
          <a:p>
            <a:pPr algn="just"/>
            <a:r>
              <a:rPr lang="en-US" sz="2400" dirty="0"/>
              <a:t>The </a:t>
            </a:r>
            <a:r>
              <a:rPr lang="en-US" sz="2400" b="1" dirty="0"/>
              <a:t>INTERSECT</a:t>
            </a:r>
            <a:r>
              <a:rPr lang="en-US" sz="2400" dirty="0"/>
              <a:t> operator is used to return </a:t>
            </a:r>
            <a:r>
              <a:rPr lang="en-US" sz="2400" b="1" dirty="0">
                <a:solidFill>
                  <a:srgbClr val="C00000"/>
                </a:solidFill>
              </a:rPr>
              <a:t>common records </a:t>
            </a:r>
            <a:r>
              <a:rPr lang="en-US" sz="2400" dirty="0"/>
              <a:t>between two SELECT statements.</a:t>
            </a:r>
          </a:p>
          <a:p>
            <a:pPr algn="just"/>
            <a:r>
              <a:rPr lang="en-US" sz="2400" dirty="0"/>
              <a:t>If a record exists in one query and not in the other, it will be omitted from the INTERSECT results.</a:t>
            </a:r>
          </a:p>
          <a:p>
            <a:pPr algn="just"/>
            <a:r>
              <a:rPr lang="en-US" sz="2400" dirty="0"/>
              <a:t>The Intersect operator </a:t>
            </a:r>
            <a:r>
              <a:rPr lang="en-US" sz="2400" b="1" dirty="0">
                <a:solidFill>
                  <a:srgbClr val="C00000"/>
                </a:solidFill>
              </a:rPr>
              <a:t>removes duplicate </a:t>
            </a:r>
            <a:r>
              <a:rPr lang="en-US" sz="2400" dirty="0"/>
              <a:t>rows and returns result in </a:t>
            </a:r>
            <a:r>
              <a:rPr lang="en-US" sz="2400" b="1" dirty="0">
                <a:solidFill>
                  <a:srgbClr val="C00000"/>
                </a:solidFill>
              </a:rPr>
              <a:t>ascending order</a:t>
            </a:r>
            <a:r>
              <a:rPr lang="en-US" sz="2400" dirty="0"/>
              <a:t>.</a:t>
            </a:r>
          </a:p>
          <a:p>
            <a:endParaRPr lang="en-IN" dirty="0"/>
          </a:p>
        </p:txBody>
      </p:sp>
      <p:sp>
        <p:nvSpPr>
          <p:cNvPr id="4" name="Oval 3">
            <a:extLst>
              <a:ext uri="{FF2B5EF4-FFF2-40B4-BE49-F238E27FC236}">
                <a16:creationId xmlns:a16="http://schemas.microsoft.com/office/drawing/2014/main" id="{BD91DE2F-08BD-EEBB-8639-DB520ABA638F}"/>
              </a:ext>
            </a:extLst>
          </p:cNvPr>
          <p:cNvSpPr/>
          <p:nvPr/>
        </p:nvSpPr>
        <p:spPr>
          <a:xfrm>
            <a:off x="1972519" y="3429000"/>
            <a:ext cx="1504171" cy="1526970"/>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5" name="Oval 4">
            <a:extLst>
              <a:ext uri="{FF2B5EF4-FFF2-40B4-BE49-F238E27FC236}">
                <a16:creationId xmlns:a16="http://schemas.microsoft.com/office/drawing/2014/main" id="{6EBE5F16-EA21-12DD-D5ED-8BBE129604B0}"/>
              </a:ext>
            </a:extLst>
          </p:cNvPr>
          <p:cNvSpPr/>
          <p:nvPr/>
        </p:nvSpPr>
        <p:spPr>
          <a:xfrm>
            <a:off x="3706001" y="3429000"/>
            <a:ext cx="1447800" cy="1532148"/>
          </a:xfrm>
          <a:prstGeom prst="ellipse">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6" name="Left-Right Arrow 27">
            <a:extLst>
              <a:ext uri="{FF2B5EF4-FFF2-40B4-BE49-F238E27FC236}">
                <a16:creationId xmlns:a16="http://schemas.microsoft.com/office/drawing/2014/main" id="{0CC5FFE3-98D8-A84A-29A0-173A59149235}"/>
              </a:ext>
            </a:extLst>
          </p:cNvPr>
          <p:cNvSpPr/>
          <p:nvPr/>
        </p:nvSpPr>
        <p:spPr>
          <a:xfrm>
            <a:off x="5452996" y="3928398"/>
            <a:ext cx="1262998" cy="570620"/>
          </a:xfrm>
          <a:prstGeom prst="leftRightArrow">
            <a:avLst/>
          </a:prstGeom>
          <a:solidFill>
            <a:srgbClr val="CCD668"/>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99"/>
                </a:solidFill>
                <a:effectLst/>
                <a:uLnTx/>
                <a:uFillTx/>
                <a:latin typeface="Calibri"/>
                <a:ea typeface="+mn-ea"/>
                <a:cs typeface="+mn-cs"/>
              </a:rPr>
              <a:t>Output</a:t>
            </a:r>
          </a:p>
        </p:txBody>
      </p:sp>
      <p:sp>
        <p:nvSpPr>
          <p:cNvPr id="7" name="Freeform 28">
            <a:extLst>
              <a:ext uri="{FF2B5EF4-FFF2-40B4-BE49-F238E27FC236}">
                <a16:creationId xmlns:a16="http://schemas.microsoft.com/office/drawing/2014/main" id="{E6F57CA7-7A57-B1AB-D897-88F16625B0D2}"/>
              </a:ext>
            </a:extLst>
          </p:cNvPr>
          <p:cNvSpPr/>
          <p:nvPr/>
        </p:nvSpPr>
        <p:spPr>
          <a:xfrm>
            <a:off x="8037187" y="3572941"/>
            <a:ext cx="610825" cy="1239994"/>
          </a:xfrm>
          <a:custGeom>
            <a:avLst/>
            <a:gdLst>
              <a:gd name="connsiteX0" fmla="*/ 299195 w 610825"/>
              <a:gd name="connsiteY0" fmla="*/ 0 h 1239994"/>
              <a:gd name="connsiteX1" fmla="*/ 393584 w 610825"/>
              <a:gd name="connsiteY1" fmla="*/ 80437 h 1239994"/>
              <a:gd name="connsiteX2" fmla="*/ 610825 w 610825"/>
              <a:gd name="connsiteY2" fmla="*/ 622133 h 1239994"/>
              <a:gd name="connsiteX3" fmla="*/ 393584 w 610825"/>
              <a:gd name="connsiteY3" fmla="*/ 1163829 h 1239994"/>
              <a:gd name="connsiteX4" fmla="*/ 304209 w 610825"/>
              <a:gd name="connsiteY4" fmla="*/ 1239994 h 1239994"/>
              <a:gd name="connsiteX5" fmla="*/ 212025 w 610825"/>
              <a:gd name="connsiteY5" fmla="*/ 1159504 h 1239994"/>
              <a:gd name="connsiteX6" fmla="*/ 0 w 610825"/>
              <a:gd name="connsiteY6" fmla="*/ 617808 h 1239994"/>
              <a:gd name="connsiteX7" fmla="*/ 212025 w 610825"/>
              <a:gd name="connsiteY7" fmla="*/ 76112 h 1239994"/>
              <a:gd name="connsiteX8" fmla="*/ 299195 w 610825"/>
              <a:gd name="connsiteY8" fmla="*/ 0 h 123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825" h="1239994">
                <a:moveTo>
                  <a:pt x="299195" y="0"/>
                </a:moveTo>
                <a:lnTo>
                  <a:pt x="393584" y="80437"/>
                </a:lnTo>
                <a:cubicBezTo>
                  <a:pt x="527807" y="219069"/>
                  <a:pt x="610825" y="410588"/>
                  <a:pt x="610825" y="622133"/>
                </a:cubicBezTo>
                <a:cubicBezTo>
                  <a:pt x="610825" y="833679"/>
                  <a:pt x="527807" y="1025197"/>
                  <a:pt x="393584" y="1163829"/>
                </a:cubicBezTo>
                <a:lnTo>
                  <a:pt x="304209" y="1239994"/>
                </a:lnTo>
                <a:lnTo>
                  <a:pt x="212025" y="1159504"/>
                </a:lnTo>
                <a:cubicBezTo>
                  <a:pt x="81025" y="1020872"/>
                  <a:pt x="0" y="829354"/>
                  <a:pt x="0" y="617808"/>
                </a:cubicBezTo>
                <a:cubicBezTo>
                  <a:pt x="0" y="406263"/>
                  <a:pt x="81025" y="214744"/>
                  <a:pt x="212025" y="76112"/>
                </a:cubicBezTo>
                <a:lnTo>
                  <a:pt x="299195" y="0"/>
                </a:lnTo>
                <a:close/>
              </a:path>
            </a:pathLst>
          </a:cu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8" name="Freeform 29">
            <a:extLst>
              <a:ext uri="{FF2B5EF4-FFF2-40B4-BE49-F238E27FC236}">
                <a16:creationId xmlns:a16="http://schemas.microsoft.com/office/drawing/2014/main" id="{67326645-C4B1-A0DA-7C04-925F5EFA70C6}"/>
              </a:ext>
            </a:extLst>
          </p:cNvPr>
          <p:cNvSpPr/>
          <p:nvPr/>
        </p:nvSpPr>
        <p:spPr>
          <a:xfrm>
            <a:off x="8336382" y="3424675"/>
            <a:ext cx="1148605" cy="1532148"/>
          </a:xfrm>
          <a:custGeom>
            <a:avLst/>
            <a:gdLst>
              <a:gd name="connsiteX0" fmla="*/ 424705 w 1148605"/>
              <a:gd name="connsiteY0" fmla="*/ 0 h 1532148"/>
              <a:gd name="connsiteX1" fmla="*/ 1148605 w 1148605"/>
              <a:gd name="connsiteY1" fmla="*/ 766074 h 1532148"/>
              <a:gd name="connsiteX2" fmla="*/ 424705 w 1148605"/>
              <a:gd name="connsiteY2" fmla="*/ 1532148 h 1532148"/>
              <a:gd name="connsiteX3" fmla="*/ 19966 w 1148605"/>
              <a:gd name="connsiteY3" fmla="*/ 1401315 h 1532148"/>
              <a:gd name="connsiteX4" fmla="*/ 5014 w 1148605"/>
              <a:gd name="connsiteY4" fmla="*/ 1388260 h 1532148"/>
              <a:gd name="connsiteX5" fmla="*/ 94389 w 1148605"/>
              <a:gd name="connsiteY5" fmla="*/ 1312095 h 1532148"/>
              <a:gd name="connsiteX6" fmla="*/ 311630 w 1148605"/>
              <a:gd name="connsiteY6" fmla="*/ 770399 h 1532148"/>
              <a:gd name="connsiteX7" fmla="*/ 94389 w 1148605"/>
              <a:gd name="connsiteY7" fmla="*/ 228703 h 1532148"/>
              <a:gd name="connsiteX8" fmla="*/ 0 w 1148605"/>
              <a:gd name="connsiteY8" fmla="*/ 148266 h 1532148"/>
              <a:gd name="connsiteX9" fmla="*/ 19966 w 1148605"/>
              <a:gd name="connsiteY9" fmla="*/ 130833 h 1532148"/>
              <a:gd name="connsiteX10" fmla="*/ 424705 w 1148605"/>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8605" h="1532148">
                <a:moveTo>
                  <a:pt x="424705" y="0"/>
                </a:moveTo>
                <a:cubicBezTo>
                  <a:pt x="824504" y="0"/>
                  <a:pt x="1148605" y="342983"/>
                  <a:pt x="1148605" y="766074"/>
                </a:cubicBezTo>
                <a:cubicBezTo>
                  <a:pt x="1148605" y="1189165"/>
                  <a:pt x="824504" y="1532148"/>
                  <a:pt x="424705" y="1532148"/>
                </a:cubicBezTo>
                <a:cubicBezTo>
                  <a:pt x="274781" y="1532148"/>
                  <a:pt x="135501" y="1483916"/>
                  <a:pt x="19966" y="1401315"/>
                </a:cubicBezTo>
                <a:lnTo>
                  <a:pt x="5014" y="1388260"/>
                </a:lnTo>
                <a:lnTo>
                  <a:pt x="94389" y="1312095"/>
                </a:lnTo>
                <a:cubicBezTo>
                  <a:pt x="228612" y="1173463"/>
                  <a:pt x="311630" y="981945"/>
                  <a:pt x="311630" y="770399"/>
                </a:cubicBezTo>
                <a:cubicBezTo>
                  <a:pt x="311630" y="558854"/>
                  <a:pt x="228612" y="367335"/>
                  <a:pt x="94389" y="228703"/>
                </a:cubicBezTo>
                <a:lnTo>
                  <a:pt x="0" y="148266"/>
                </a:lnTo>
                <a:lnTo>
                  <a:pt x="19966" y="130833"/>
                </a:lnTo>
                <a:cubicBezTo>
                  <a:pt x="135501" y="48232"/>
                  <a:pt x="274781" y="0"/>
                  <a:pt x="424705" y="0"/>
                </a:cubicBezTo>
                <a:close/>
              </a:path>
            </a:pathLst>
          </a:cu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9" name="Freeform 30">
            <a:extLst>
              <a:ext uri="{FF2B5EF4-FFF2-40B4-BE49-F238E27FC236}">
                <a16:creationId xmlns:a16="http://schemas.microsoft.com/office/drawing/2014/main" id="{BEA8218F-89BB-8EA2-FA27-1FF8B562D3EB}"/>
              </a:ext>
            </a:extLst>
          </p:cNvPr>
          <p:cNvSpPr/>
          <p:nvPr/>
        </p:nvSpPr>
        <p:spPr>
          <a:xfrm>
            <a:off x="7164595" y="3429000"/>
            <a:ext cx="1176800" cy="1532148"/>
          </a:xfrm>
          <a:custGeom>
            <a:avLst/>
            <a:gdLst>
              <a:gd name="connsiteX0" fmla="*/ 741708 w 1176800"/>
              <a:gd name="connsiteY0" fmla="*/ 0 h 1532148"/>
              <a:gd name="connsiteX1" fmla="*/ 1156404 w 1176800"/>
              <a:gd name="connsiteY1" fmla="*/ 130833 h 1532148"/>
              <a:gd name="connsiteX2" fmla="*/ 1171786 w 1176800"/>
              <a:gd name="connsiteY2" fmla="*/ 143941 h 1532148"/>
              <a:gd name="connsiteX3" fmla="*/ 1084616 w 1176800"/>
              <a:gd name="connsiteY3" fmla="*/ 220053 h 1532148"/>
              <a:gd name="connsiteX4" fmla="*/ 872591 w 1176800"/>
              <a:gd name="connsiteY4" fmla="*/ 761749 h 1532148"/>
              <a:gd name="connsiteX5" fmla="*/ 1084616 w 1176800"/>
              <a:gd name="connsiteY5" fmla="*/ 1303445 h 1532148"/>
              <a:gd name="connsiteX6" fmla="*/ 1176800 w 1176800"/>
              <a:gd name="connsiteY6" fmla="*/ 1383935 h 1532148"/>
              <a:gd name="connsiteX7" fmla="*/ 1156404 w 1176800"/>
              <a:gd name="connsiteY7" fmla="*/ 1401315 h 1532148"/>
              <a:gd name="connsiteX8" fmla="*/ 741708 w 1176800"/>
              <a:gd name="connsiteY8" fmla="*/ 1532148 h 1532148"/>
              <a:gd name="connsiteX9" fmla="*/ 0 w 1176800"/>
              <a:gd name="connsiteY9" fmla="*/ 766074 h 1532148"/>
              <a:gd name="connsiteX10" fmla="*/ 741708 w 1176800"/>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6800" h="1532148">
                <a:moveTo>
                  <a:pt x="741708" y="0"/>
                </a:moveTo>
                <a:cubicBezTo>
                  <a:pt x="895321" y="0"/>
                  <a:pt x="1038027" y="48232"/>
                  <a:pt x="1156404" y="130833"/>
                </a:cubicBezTo>
                <a:lnTo>
                  <a:pt x="1171786" y="143941"/>
                </a:lnTo>
                <a:lnTo>
                  <a:pt x="1084616" y="220053"/>
                </a:lnTo>
                <a:cubicBezTo>
                  <a:pt x="953616" y="358685"/>
                  <a:pt x="872591" y="550204"/>
                  <a:pt x="872591" y="761749"/>
                </a:cubicBezTo>
                <a:cubicBezTo>
                  <a:pt x="872591" y="973295"/>
                  <a:pt x="953616" y="1164813"/>
                  <a:pt x="1084616" y="1303445"/>
                </a:cubicBezTo>
                <a:lnTo>
                  <a:pt x="1176800" y="1383935"/>
                </a:lnTo>
                <a:lnTo>
                  <a:pt x="1156404" y="1401315"/>
                </a:lnTo>
                <a:cubicBezTo>
                  <a:pt x="1038027" y="1483916"/>
                  <a:pt x="895321" y="1532148"/>
                  <a:pt x="741708" y="1532148"/>
                </a:cubicBezTo>
                <a:cubicBezTo>
                  <a:pt x="332074" y="1532148"/>
                  <a:pt x="0" y="1189165"/>
                  <a:pt x="0" y="766074"/>
                </a:cubicBezTo>
                <a:cubicBezTo>
                  <a:pt x="0" y="342983"/>
                  <a:pt x="332074" y="0"/>
                  <a:pt x="741708" y="0"/>
                </a:cubicBezTo>
                <a:close/>
              </a:path>
            </a:pathLst>
          </a:cu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p:txBody>
      </p:sp>
    </p:spTree>
    <p:extLst>
      <p:ext uri="{BB962C8B-B14F-4D97-AF65-F5344CB8AC3E}">
        <p14:creationId xmlns:p14="http://schemas.microsoft.com/office/powerpoint/2010/main" val="356173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par>
                                <p:cTn id="20" presetID="1" presetClass="entr" presetSubtype="0" fill="hold" nodeType="with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heel(1)">
                                      <p:cBhvr>
                                        <p:cTn id="26" dur="2000"/>
                                        <p:tgtEl>
                                          <p:spTgt spid="5"/>
                                        </p:tgtEl>
                                      </p:cBhvr>
                                    </p:animEffect>
                                  </p:childTnLst>
                                </p:cTn>
                              </p:par>
                              <p:par>
                                <p:cTn id="27" presetID="1" presetClass="entr" presetSubtype="0" fill="hold" nodeType="with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Effect transition="in" filter="wipe(down)">
                                      <p:cBhvr>
                                        <p:cTn id="33" dur="500"/>
                                        <p:tgtEl>
                                          <p:spTgt spid="4">
                                            <p:txEl>
                                              <p:pRg st="1" end="1"/>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transition="in" filter="wipe(down)">
                                      <p:cBhvr>
                                        <p:cTn id="36" dur="500"/>
                                        <p:tgtEl>
                                          <p:spTgt spid="4">
                                            <p:txEl>
                                              <p:pRg st="2" end="2"/>
                                            </p:txEl>
                                          </p:spTgt>
                                        </p:tgtEl>
                                      </p:cBhvr>
                                    </p:animEffect>
                                  </p:childTnLst>
                                </p:cTn>
                              </p:par>
                              <p:par>
                                <p:cTn id="37" presetID="22" presetClass="entr" presetSubtype="4" fill="hold" nodeType="with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animEffect transition="in" filter="wipe(down)">
                                      <p:cBhvr>
                                        <p:cTn id="39" dur="500"/>
                                        <p:tgtEl>
                                          <p:spTgt spid="4">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
                                            <p:txEl>
                                              <p:pRg st="1" end="1"/>
                                            </p:txEl>
                                          </p:spTgt>
                                        </p:tgtEl>
                                        <p:attrNameLst>
                                          <p:attrName>style.visibility</p:attrName>
                                        </p:attrNameLst>
                                      </p:cBhvr>
                                      <p:to>
                                        <p:strVal val="visible"/>
                                      </p:to>
                                    </p:set>
                                    <p:animEffect transition="in" filter="wipe(down)">
                                      <p:cBhvr>
                                        <p:cTn id="44" dur="500"/>
                                        <p:tgtEl>
                                          <p:spTgt spid="5">
                                            <p:txEl>
                                              <p:pRg st="1" end="1"/>
                                            </p:txEl>
                                          </p:spTgt>
                                        </p:tgtEl>
                                      </p:cBhvr>
                                    </p:animEffect>
                                  </p:childTnLst>
                                </p:cTn>
                              </p:par>
                              <p:par>
                                <p:cTn id="45" presetID="22" presetClass="entr" presetSubtype="4" fill="hold" nodeType="with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wipe(down)">
                                      <p:cBhvr>
                                        <p:cTn id="47" dur="500"/>
                                        <p:tgtEl>
                                          <p:spTgt spid="5">
                                            <p:txEl>
                                              <p:pRg st="2" end="2"/>
                                            </p:txEl>
                                          </p:spTgt>
                                        </p:tgtEl>
                                      </p:cBhvr>
                                    </p:animEffect>
                                  </p:childTnLst>
                                </p:cTn>
                              </p:par>
                              <p:par>
                                <p:cTn id="48" presetID="22" presetClass="entr" presetSubtype="4" fill="hold" nodeType="withEffect">
                                  <p:stCondLst>
                                    <p:cond delay="0"/>
                                  </p:stCondLst>
                                  <p:childTnLst>
                                    <p:set>
                                      <p:cBhvr>
                                        <p:cTn id="49" dur="1" fill="hold">
                                          <p:stCondLst>
                                            <p:cond delay="0"/>
                                          </p:stCondLst>
                                        </p:cTn>
                                        <p:tgtEl>
                                          <p:spTgt spid="5">
                                            <p:txEl>
                                              <p:pRg st="3" end="3"/>
                                            </p:txEl>
                                          </p:spTgt>
                                        </p:tgtEl>
                                        <p:attrNameLst>
                                          <p:attrName>style.visibility</p:attrName>
                                        </p:attrNameLst>
                                      </p:cBhvr>
                                      <p:to>
                                        <p:strVal val="visible"/>
                                      </p:to>
                                    </p:set>
                                    <p:animEffect transition="in" filter="wipe(down)">
                                      <p:cBhvr>
                                        <p:cTn id="50" dur="500"/>
                                        <p:tgtEl>
                                          <p:spTgt spid="5">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p:cTn id="55" dur="500" fill="hold"/>
                                        <p:tgtEl>
                                          <p:spTgt spid="9"/>
                                        </p:tgtEl>
                                        <p:attrNameLst>
                                          <p:attrName>ppt_w</p:attrName>
                                        </p:attrNameLst>
                                      </p:cBhvr>
                                      <p:tavLst>
                                        <p:tav tm="0">
                                          <p:val>
                                            <p:fltVal val="0"/>
                                          </p:val>
                                        </p:tav>
                                        <p:tav tm="100000">
                                          <p:val>
                                            <p:strVal val="#ppt_w"/>
                                          </p:val>
                                        </p:tav>
                                      </p:tavLst>
                                    </p:anim>
                                    <p:anim calcmode="lin" valueType="num">
                                      <p:cBhvr>
                                        <p:cTn id="56" dur="500" fill="hold"/>
                                        <p:tgtEl>
                                          <p:spTgt spid="9"/>
                                        </p:tgtEl>
                                        <p:attrNameLst>
                                          <p:attrName>ppt_h</p:attrName>
                                        </p:attrNameLst>
                                      </p:cBhvr>
                                      <p:tavLst>
                                        <p:tav tm="0">
                                          <p:val>
                                            <p:fltVal val="0"/>
                                          </p:val>
                                        </p:tav>
                                        <p:tav tm="100000">
                                          <p:val>
                                            <p:strVal val="#ppt_h"/>
                                          </p:val>
                                        </p:tav>
                                      </p:tavLst>
                                    </p:anim>
                                    <p:animEffect transition="in" filter="fade">
                                      <p:cBhvr>
                                        <p:cTn id="57" dur="500"/>
                                        <p:tgtEl>
                                          <p:spTgt spid="9"/>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7"/>
                                        </p:tgtEl>
                                        <p:attrNameLst>
                                          <p:attrName>style.visibility</p:attrName>
                                        </p:attrNameLst>
                                      </p:cBhvr>
                                      <p:to>
                                        <p:strVal val="visible"/>
                                      </p:to>
                                    </p:set>
                                    <p:anim calcmode="lin" valueType="num">
                                      <p:cBhvr>
                                        <p:cTn id="60" dur="500" fill="hold"/>
                                        <p:tgtEl>
                                          <p:spTgt spid="7"/>
                                        </p:tgtEl>
                                        <p:attrNameLst>
                                          <p:attrName>ppt_w</p:attrName>
                                        </p:attrNameLst>
                                      </p:cBhvr>
                                      <p:tavLst>
                                        <p:tav tm="0">
                                          <p:val>
                                            <p:fltVal val="0"/>
                                          </p:val>
                                        </p:tav>
                                        <p:tav tm="100000">
                                          <p:val>
                                            <p:strVal val="#ppt_w"/>
                                          </p:val>
                                        </p:tav>
                                      </p:tavLst>
                                    </p:anim>
                                    <p:anim calcmode="lin" valueType="num">
                                      <p:cBhvr>
                                        <p:cTn id="61" dur="500" fill="hold"/>
                                        <p:tgtEl>
                                          <p:spTgt spid="7"/>
                                        </p:tgtEl>
                                        <p:attrNameLst>
                                          <p:attrName>ppt_h</p:attrName>
                                        </p:attrNameLst>
                                      </p:cBhvr>
                                      <p:tavLst>
                                        <p:tav tm="0">
                                          <p:val>
                                            <p:fltVal val="0"/>
                                          </p:val>
                                        </p:tav>
                                        <p:tav tm="100000">
                                          <p:val>
                                            <p:strVal val="#ppt_h"/>
                                          </p:val>
                                        </p:tav>
                                      </p:tavLst>
                                    </p:anim>
                                    <p:animEffect transition="in" filter="fade">
                                      <p:cBhvr>
                                        <p:cTn id="62" dur="500"/>
                                        <p:tgtEl>
                                          <p:spTgt spid="7"/>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p:cTn id="65" dur="500" fill="hold"/>
                                        <p:tgtEl>
                                          <p:spTgt spid="8"/>
                                        </p:tgtEl>
                                        <p:attrNameLst>
                                          <p:attrName>ppt_w</p:attrName>
                                        </p:attrNameLst>
                                      </p:cBhvr>
                                      <p:tavLst>
                                        <p:tav tm="0">
                                          <p:val>
                                            <p:fltVal val="0"/>
                                          </p:val>
                                        </p:tav>
                                        <p:tav tm="100000">
                                          <p:val>
                                            <p:strVal val="#ppt_w"/>
                                          </p:val>
                                        </p:tav>
                                      </p:tavLst>
                                    </p:anim>
                                    <p:anim calcmode="lin" valueType="num">
                                      <p:cBhvr>
                                        <p:cTn id="66" dur="500" fill="hold"/>
                                        <p:tgtEl>
                                          <p:spTgt spid="8"/>
                                        </p:tgtEl>
                                        <p:attrNameLst>
                                          <p:attrName>ppt_h</p:attrName>
                                        </p:attrNameLst>
                                      </p:cBhvr>
                                      <p:tavLst>
                                        <p:tav tm="0">
                                          <p:val>
                                            <p:fltVal val="0"/>
                                          </p:val>
                                        </p:tav>
                                        <p:tav tm="100000">
                                          <p:val>
                                            <p:strVal val="#ppt_h"/>
                                          </p:val>
                                        </p:tav>
                                      </p:tavLst>
                                    </p:anim>
                                    <p:animEffect transition="in" filter="fade">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6"/>
                                        </p:tgtEl>
                                        <p:attrNameLst>
                                          <p:attrName>style.visibility</p:attrName>
                                        </p:attrNameLst>
                                      </p:cBhvr>
                                      <p:to>
                                        <p:strVal val="visible"/>
                                      </p:to>
                                    </p:set>
                                    <p:anim calcmode="lin" valueType="num">
                                      <p:cBhvr additive="base">
                                        <p:cTn id="72" dur="500" fill="hold"/>
                                        <p:tgtEl>
                                          <p:spTgt spid="6"/>
                                        </p:tgtEl>
                                        <p:attrNameLst>
                                          <p:attrName>ppt_x</p:attrName>
                                        </p:attrNameLst>
                                      </p:cBhvr>
                                      <p:tavLst>
                                        <p:tav tm="0">
                                          <p:val>
                                            <p:strVal val="#ppt_x"/>
                                          </p:val>
                                        </p:tav>
                                        <p:tav tm="100000">
                                          <p:val>
                                            <p:strVal val="#ppt_x"/>
                                          </p:val>
                                        </p:tav>
                                      </p:tavLst>
                                    </p:anim>
                                    <p:anim calcmode="lin" valueType="num">
                                      <p:cBhvr additive="base">
                                        <p:cTn id="7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1" nodeType="clickEffect">
                                  <p:stCondLst>
                                    <p:cond delay="0"/>
                                  </p:stCondLst>
                                  <p:childTnLst>
                                    <p:set>
                                      <p:cBhvr>
                                        <p:cTn id="77" dur="1" fill="hold">
                                          <p:stCondLst>
                                            <p:cond delay="0"/>
                                          </p:stCondLst>
                                        </p:cTn>
                                        <p:tgtEl>
                                          <p:spTgt spid="9"/>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8" grpId="1" animBg="1"/>
      <p:bldP spid="9" grpId="0" animBg="1"/>
      <p:bldP spid="9" grpId="1"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4B930-AB60-12DC-CF2A-5F2B1C3DDA8C}"/>
              </a:ext>
            </a:extLst>
          </p:cNvPr>
          <p:cNvSpPr>
            <a:spLocks noGrp="1"/>
          </p:cNvSpPr>
          <p:nvPr>
            <p:ph type="title"/>
          </p:nvPr>
        </p:nvSpPr>
        <p:spPr/>
        <p:txBody>
          <a:bodyPr/>
          <a:lstStyle/>
          <a:p>
            <a:r>
              <a:rPr lang="en-US" dirty="0"/>
              <a:t>Intersect</a:t>
            </a:r>
            <a:endParaRPr lang="en-IN" dirty="0"/>
          </a:p>
        </p:txBody>
      </p:sp>
      <p:sp>
        <p:nvSpPr>
          <p:cNvPr id="26" name="Rectangle 25">
            <a:extLst>
              <a:ext uri="{FF2B5EF4-FFF2-40B4-BE49-F238E27FC236}">
                <a16:creationId xmlns:a16="http://schemas.microsoft.com/office/drawing/2014/main" id="{4F051EB1-7613-8B0B-2C3F-A76771DCCFDB}"/>
              </a:ext>
            </a:extLst>
          </p:cNvPr>
          <p:cNvSpPr/>
          <p:nvPr/>
        </p:nvSpPr>
        <p:spPr>
          <a:xfrm>
            <a:off x="481167" y="1326689"/>
            <a:ext cx="5333037" cy="2032833"/>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25928C08-DD71-D4A8-A662-17F9E6A96FF3}"/>
              </a:ext>
            </a:extLst>
          </p:cNvPr>
          <p:cNvSpPr/>
          <p:nvPr/>
        </p:nvSpPr>
        <p:spPr>
          <a:xfrm>
            <a:off x="597228" y="1548197"/>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28" name="Rectangle 27">
            <a:extLst>
              <a:ext uri="{FF2B5EF4-FFF2-40B4-BE49-F238E27FC236}">
                <a16:creationId xmlns:a16="http://schemas.microsoft.com/office/drawing/2014/main" id="{921FB563-FF39-FEB4-A4DD-69B2B1BFD38D}"/>
              </a:ext>
            </a:extLst>
          </p:cNvPr>
          <p:cNvSpPr/>
          <p:nvPr/>
        </p:nvSpPr>
        <p:spPr>
          <a:xfrm>
            <a:off x="1841990" y="1553939"/>
            <a:ext cx="1048921" cy="4394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29" name="Rectangle 28">
            <a:extLst>
              <a:ext uri="{FF2B5EF4-FFF2-40B4-BE49-F238E27FC236}">
                <a16:creationId xmlns:a16="http://schemas.microsoft.com/office/drawing/2014/main" id="{D570E933-E2DF-6085-61A1-05F7F7351A85}"/>
              </a:ext>
            </a:extLst>
          </p:cNvPr>
          <p:cNvSpPr/>
          <p:nvPr/>
        </p:nvSpPr>
        <p:spPr>
          <a:xfrm>
            <a:off x="4227644" y="1562724"/>
            <a:ext cx="105120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30" name="Rectangle 29">
            <a:extLst>
              <a:ext uri="{FF2B5EF4-FFF2-40B4-BE49-F238E27FC236}">
                <a16:creationId xmlns:a16="http://schemas.microsoft.com/office/drawing/2014/main" id="{E3E64F60-CB10-7343-B6C1-335C3F67F0B9}"/>
              </a:ext>
            </a:extLst>
          </p:cNvPr>
          <p:cNvSpPr/>
          <p:nvPr/>
        </p:nvSpPr>
        <p:spPr>
          <a:xfrm>
            <a:off x="600920" y="2121339"/>
            <a:ext cx="1377858" cy="41089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INTERSECT</a:t>
            </a:r>
          </a:p>
        </p:txBody>
      </p:sp>
      <p:sp>
        <p:nvSpPr>
          <p:cNvPr id="31" name="Rectangle 30">
            <a:extLst>
              <a:ext uri="{FF2B5EF4-FFF2-40B4-BE49-F238E27FC236}">
                <a16:creationId xmlns:a16="http://schemas.microsoft.com/office/drawing/2014/main" id="{3A95B7B2-39C7-22B4-07A8-DC4689B97651}"/>
              </a:ext>
            </a:extLst>
          </p:cNvPr>
          <p:cNvSpPr/>
          <p:nvPr/>
        </p:nvSpPr>
        <p:spPr>
          <a:xfrm>
            <a:off x="2989820" y="1562724"/>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2" name="Rectangle 31">
            <a:extLst>
              <a:ext uri="{FF2B5EF4-FFF2-40B4-BE49-F238E27FC236}">
                <a16:creationId xmlns:a16="http://schemas.microsoft.com/office/drawing/2014/main" id="{E95F4F49-1041-CF28-28E2-1917FE759214}"/>
              </a:ext>
            </a:extLst>
          </p:cNvPr>
          <p:cNvSpPr/>
          <p:nvPr/>
        </p:nvSpPr>
        <p:spPr>
          <a:xfrm>
            <a:off x="600637" y="2662350"/>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33" name="Rectangle 32">
            <a:extLst>
              <a:ext uri="{FF2B5EF4-FFF2-40B4-BE49-F238E27FC236}">
                <a16:creationId xmlns:a16="http://schemas.microsoft.com/office/drawing/2014/main" id="{278C1477-80B0-581B-03A1-E748C9A4736F}"/>
              </a:ext>
            </a:extLst>
          </p:cNvPr>
          <p:cNvSpPr/>
          <p:nvPr/>
        </p:nvSpPr>
        <p:spPr>
          <a:xfrm>
            <a:off x="1860057" y="2660140"/>
            <a:ext cx="1048921" cy="4394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34" name="Rectangle 33">
            <a:extLst>
              <a:ext uri="{FF2B5EF4-FFF2-40B4-BE49-F238E27FC236}">
                <a16:creationId xmlns:a16="http://schemas.microsoft.com/office/drawing/2014/main" id="{6A1FD5D0-4BB9-9D33-DA9A-6A76D5C495D9}"/>
              </a:ext>
            </a:extLst>
          </p:cNvPr>
          <p:cNvSpPr/>
          <p:nvPr/>
        </p:nvSpPr>
        <p:spPr>
          <a:xfrm>
            <a:off x="4287629" y="2662350"/>
            <a:ext cx="105120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35" name="Rectangle 34">
            <a:extLst>
              <a:ext uri="{FF2B5EF4-FFF2-40B4-BE49-F238E27FC236}">
                <a16:creationId xmlns:a16="http://schemas.microsoft.com/office/drawing/2014/main" id="{0D257A4F-DF1B-18F5-66FB-508AA6A429BC}"/>
              </a:ext>
            </a:extLst>
          </p:cNvPr>
          <p:cNvSpPr/>
          <p:nvPr/>
        </p:nvSpPr>
        <p:spPr>
          <a:xfrm>
            <a:off x="3039125" y="2662350"/>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6" name="Rectangle 35">
            <a:extLst>
              <a:ext uri="{FF2B5EF4-FFF2-40B4-BE49-F238E27FC236}">
                <a16:creationId xmlns:a16="http://schemas.microsoft.com/office/drawing/2014/main" id="{478F55B7-191F-6EB5-4D1A-488F038A686C}"/>
              </a:ext>
            </a:extLst>
          </p:cNvPr>
          <p:cNvSpPr/>
          <p:nvPr/>
        </p:nvSpPr>
        <p:spPr>
          <a:xfrm>
            <a:off x="5439586" y="2662350"/>
            <a:ext cx="16268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37" name="Picture 36">
            <a:extLst>
              <a:ext uri="{FF2B5EF4-FFF2-40B4-BE49-F238E27FC236}">
                <a16:creationId xmlns:a16="http://schemas.microsoft.com/office/drawing/2014/main" id="{ACC533B6-3F48-0A96-3E10-FE15353FB618}"/>
              </a:ext>
            </a:extLst>
          </p:cNvPr>
          <p:cNvPicPr>
            <a:picLocks noChangeAspect="1"/>
          </p:cNvPicPr>
          <p:nvPr/>
        </p:nvPicPr>
        <p:blipFill>
          <a:blip r:embed="rId2"/>
          <a:stretch>
            <a:fillRect/>
          </a:stretch>
        </p:blipFill>
        <p:spPr>
          <a:xfrm>
            <a:off x="5230944" y="4267200"/>
            <a:ext cx="1072635" cy="968184"/>
          </a:xfrm>
          <a:prstGeom prst="rect">
            <a:avLst/>
          </a:prstGeom>
        </p:spPr>
      </p:pic>
      <p:graphicFrame>
        <p:nvGraphicFramePr>
          <p:cNvPr id="42" name="Table 41">
            <a:extLst>
              <a:ext uri="{FF2B5EF4-FFF2-40B4-BE49-F238E27FC236}">
                <a16:creationId xmlns:a16="http://schemas.microsoft.com/office/drawing/2014/main" id="{8FEDDCC3-C4EA-1A04-D52B-D6B704980A65}"/>
              </a:ext>
            </a:extLst>
          </p:cNvPr>
          <p:cNvGraphicFramePr>
            <a:graphicFrameLocks noGrp="1"/>
          </p:cNvGraphicFramePr>
          <p:nvPr/>
        </p:nvGraphicFramePr>
        <p:xfrm>
          <a:off x="462117" y="3634823"/>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Emp2016</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43" name="Table 42">
            <a:extLst>
              <a:ext uri="{FF2B5EF4-FFF2-40B4-BE49-F238E27FC236}">
                <a16:creationId xmlns:a16="http://schemas.microsoft.com/office/drawing/2014/main" id="{A369763F-60F7-68D5-66FA-7F6976EF9E81}"/>
              </a:ext>
            </a:extLst>
          </p:cNvPr>
          <p:cNvGraphicFramePr>
            <a:graphicFrameLocks noGrp="1"/>
          </p:cNvGraphicFramePr>
          <p:nvPr/>
        </p:nvGraphicFramePr>
        <p:xfrm>
          <a:off x="2878908" y="3647110"/>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Emp2018</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44" name="Table 43">
            <a:extLst>
              <a:ext uri="{FF2B5EF4-FFF2-40B4-BE49-F238E27FC236}">
                <a16:creationId xmlns:a16="http://schemas.microsoft.com/office/drawing/2014/main" id="{1BDAD00E-EFF9-EE8B-C9D9-6F45284BA0BA}"/>
              </a:ext>
            </a:extLst>
          </p:cNvPr>
          <p:cNvGraphicFramePr>
            <a:graphicFrameLocks noGrp="1"/>
          </p:cNvGraphicFramePr>
          <p:nvPr/>
        </p:nvGraphicFramePr>
        <p:xfrm>
          <a:off x="6400800" y="4044229"/>
          <a:ext cx="1948510" cy="1107175"/>
        </p:xfrm>
        <a:graphic>
          <a:graphicData uri="http://schemas.openxmlformats.org/drawingml/2006/table">
            <a:tbl>
              <a:tblPr bandRow="1">
                <a:tableStyleId>{073A0DAA-6AF3-43AB-8588-CEC1D06C72B9}</a:tableStyleId>
              </a:tblPr>
              <a:tblGrid>
                <a:gridCol w="959643">
                  <a:extLst>
                    <a:ext uri="{9D8B030D-6E8A-4147-A177-3AD203B41FA5}">
                      <a16:colId xmlns:a16="http://schemas.microsoft.com/office/drawing/2014/main" val="20000"/>
                    </a:ext>
                  </a:extLst>
                </a:gridCol>
                <a:gridCol w="988867">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Intersect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2"/>
                  </a:ext>
                </a:extLst>
              </a:tr>
            </a:tbl>
          </a:graphicData>
        </a:graphic>
      </p:graphicFrame>
      <p:sp>
        <p:nvSpPr>
          <p:cNvPr id="45" name="Rectangle 44">
            <a:extLst>
              <a:ext uri="{FF2B5EF4-FFF2-40B4-BE49-F238E27FC236}">
                <a16:creationId xmlns:a16="http://schemas.microsoft.com/office/drawing/2014/main" id="{1BB5929A-F34B-2215-0107-86260F6EABC6}"/>
              </a:ext>
            </a:extLst>
          </p:cNvPr>
          <p:cNvSpPr/>
          <p:nvPr/>
        </p:nvSpPr>
        <p:spPr>
          <a:xfrm>
            <a:off x="2871864" y="4752975"/>
            <a:ext cx="2074092" cy="352539"/>
          </a:xfrm>
          <a:prstGeom prst="rect">
            <a:avLst/>
          </a:prstGeom>
          <a:noFill/>
          <a:ln>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2DB00B35-9A53-93F0-7E30-18BC79C6919C}"/>
              </a:ext>
            </a:extLst>
          </p:cNvPr>
          <p:cNvSpPr/>
          <p:nvPr/>
        </p:nvSpPr>
        <p:spPr>
          <a:xfrm>
            <a:off x="453645" y="4752918"/>
            <a:ext cx="2074092" cy="352539"/>
          </a:xfrm>
          <a:prstGeom prst="rect">
            <a:avLst/>
          </a:prstGeom>
          <a:noFill/>
          <a:ln>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D292DAC7-E1D1-2DB7-E536-3E0ED20FC441}"/>
              </a:ext>
            </a:extLst>
          </p:cNvPr>
          <p:cNvSpPr txBox="1"/>
          <p:nvPr/>
        </p:nvSpPr>
        <p:spPr>
          <a:xfrm>
            <a:off x="266700" y="990600"/>
            <a:ext cx="1104900" cy="367400"/>
          </a:xfrm>
          <a:prstGeom prst="rect">
            <a:avLst/>
          </a:prstGeom>
          <a:noFill/>
        </p:spPr>
        <p:txBody>
          <a:bodyPr wrap="square" rtlCol="0">
            <a:spAutoFit/>
          </a:bodyPr>
          <a:lstStyle/>
          <a:p>
            <a:r>
              <a:rPr lang="en-US" b="1" u="sng" dirty="0"/>
              <a:t>Syntax</a:t>
            </a:r>
          </a:p>
        </p:txBody>
      </p:sp>
      <p:sp>
        <p:nvSpPr>
          <p:cNvPr id="48" name="TextBox 47">
            <a:extLst>
              <a:ext uri="{FF2B5EF4-FFF2-40B4-BE49-F238E27FC236}">
                <a16:creationId xmlns:a16="http://schemas.microsoft.com/office/drawing/2014/main" id="{69A137AD-A05F-F836-2E9F-BADAE30DD8BE}"/>
              </a:ext>
            </a:extLst>
          </p:cNvPr>
          <p:cNvSpPr txBox="1"/>
          <p:nvPr/>
        </p:nvSpPr>
        <p:spPr>
          <a:xfrm>
            <a:off x="6277340" y="990600"/>
            <a:ext cx="723900" cy="367400"/>
          </a:xfrm>
          <a:prstGeom prst="rect">
            <a:avLst/>
          </a:prstGeom>
          <a:noFill/>
        </p:spPr>
        <p:txBody>
          <a:bodyPr wrap="square" rtlCol="0">
            <a:spAutoFit/>
          </a:bodyPr>
          <a:lstStyle/>
          <a:p>
            <a:r>
              <a:rPr lang="en-US" b="1" u="sng" dirty="0"/>
              <a:t>E.g.</a:t>
            </a:r>
          </a:p>
        </p:txBody>
      </p:sp>
      <p:sp>
        <p:nvSpPr>
          <p:cNvPr id="4" name="Rectangle 3">
            <a:extLst>
              <a:ext uri="{FF2B5EF4-FFF2-40B4-BE49-F238E27FC236}">
                <a16:creationId xmlns:a16="http://schemas.microsoft.com/office/drawing/2014/main" id="{1454AA69-3EEE-293C-9880-63496D59AA9A}"/>
              </a:ext>
            </a:extLst>
          </p:cNvPr>
          <p:cNvSpPr/>
          <p:nvPr/>
        </p:nvSpPr>
        <p:spPr>
          <a:xfrm>
            <a:off x="6377796" y="1326689"/>
            <a:ext cx="5333037" cy="2032833"/>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DF048EB6-D86E-1BD4-4C3D-58390D6726E7}"/>
              </a:ext>
            </a:extLst>
          </p:cNvPr>
          <p:cNvSpPr/>
          <p:nvPr/>
        </p:nvSpPr>
        <p:spPr>
          <a:xfrm>
            <a:off x="6537938" y="1536696"/>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6" name="Rectangle 5">
            <a:extLst>
              <a:ext uri="{FF2B5EF4-FFF2-40B4-BE49-F238E27FC236}">
                <a16:creationId xmlns:a16="http://schemas.microsoft.com/office/drawing/2014/main" id="{442F3F2C-22DE-6C5D-868A-F62773F2F5C8}"/>
              </a:ext>
            </a:extLst>
          </p:cNvPr>
          <p:cNvSpPr/>
          <p:nvPr/>
        </p:nvSpPr>
        <p:spPr>
          <a:xfrm>
            <a:off x="6541630" y="2109838"/>
            <a:ext cx="1377858" cy="41089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INTERSECT</a:t>
            </a:r>
          </a:p>
        </p:txBody>
      </p:sp>
      <p:sp>
        <p:nvSpPr>
          <p:cNvPr id="7" name="Rectangle 6">
            <a:extLst>
              <a:ext uri="{FF2B5EF4-FFF2-40B4-BE49-F238E27FC236}">
                <a16:creationId xmlns:a16="http://schemas.microsoft.com/office/drawing/2014/main" id="{C7A135FA-9CD7-D1BE-6BCD-EC43DE61C46A}"/>
              </a:ext>
            </a:extLst>
          </p:cNvPr>
          <p:cNvSpPr/>
          <p:nvPr/>
        </p:nvSpPr>
        <p:spPr>
          <a:xfrm>
            <a:off x="8930530" y="1536696"/>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8" name="Rectangle 7">
            <a:extLst>
              <a:ext uri="{FF2B5EF4-FFF2-40B4-BE49-F238E27FC236}">
                <a16:creationId xmlns:a16="http://schemas.microsoft.com/office/drawing/2014/main" id="{C16CCE44-EB24-0B8C-B6F5-B061CA539CEC}"/>
              </a:ext>
            </a:extLst>
          </p:cNvPr>
          <p:cNvSpPr/>
          <p:nvPr/>
        </p:nvSpPr>
        <p:spPr>
          <a:xfrm>
            <a:off x="6541347" y="2650849"/>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9" name="Rectangle 8">
            <a:extLst>
              <a:ext uri="{FF2B5EF4-FFF2-40B4-BE49-F238E27FC236}">
                <a16:creationId xmlns:a16="http://schemas.microsoft.com/office/drawing/2014/main" id="{F33AA3A4-F08A-3AB1-5648-F2FB6B3231C2}"/>
              </a:ext>
            </a:extLst>
          </p:cNvPr>
          <p:cNvSpPr/>
          <p:nvPr/>
        </p:nvSpPr>
        <p:spPr>
          <a:xfrm>
            <a:off x="8930530" y="2650384"/>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0" name="Rectangle 9">
            <a:extLst>
              <a:ext uri="{FF2B5EF4-FFF2-40B4-BE49-F238E27FC236}">
                <a16:creationId xmlns:a16="http://schemas.microsoft.com/office/drawing/2014/main" id="{115C4051-F858-0D62-7875-18A37D7D0F16}"/>
              </a:ext>
            </a:extLst>
          </p:cNvPr>
          <p:cNvSpPr/>
          <p:nvPr/>
        </p:nvSpPr>
        <p:spPr>
          <a:xfrm>
            <a:off x="11415110" y="2646468"/>
            <a:ext cx="16268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1" name="Rectangle 10">
            <a:extLst>
              <a:ext uri="{FF2B5EF4-FFF2-40B4-BE49-F238E27FC236}">
                <a16:creationId xmlns:a16="http://schemas.microsoft.com/office/drawing/2014/main" id="{D0905C13-1465-D912-B0F7-15BB8F1B72AA}"/>
              </a:ext>
            </a:extLst>
          </p:cNvPr>
          <p:cNvSpPr/>
          <p:nvPr/>
        </p:nvSpPr>
        <p:spPr>
          <a:xfrm>
            <a:off x="10243092" y="1536696"/>
            <a:ext cx="107156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Emp2016</a:t>
            </a:r>
            <a:endParaRPr lang="en-US" dirty="0"/>
          </a:p>
        </p:txBody>
      </p:sp>
      <p:sp>
        <p:nvSpPr>
          <p:cNvPr id="12" name="Rectangle 11">
            <a:extLst>
              <a:ext uri="{FF2B5EF4-FFF2-40B4-BE49-F238E27FC236}">
                <a16:creationId xmlns:a16="http://schemas.microsoft.com/office/drawing/2014/main" id="{03049A5F-6C8B-D21E-780B-6D878C115552}"/>
              </a:ext>
            </a:extLst>
          </p:cNvPr>
          <p:cNvSpPr/>
          <p:nvPr/>
        </p:nvSpPr>
        <p:spPr>
          <a:xfrm>
            <a:off x="10243091" y="2646468"/>
            <a:ext cx="1071563"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Emp2018</a:t>
            </a:r>
          </a:p>
        </p:txBody>
      </p:sp>
      <p:sp>
        <p:nvSpPr>
          <p:cNvPr id="13" name="Rectangle 12">
            <a:extLst>
              <a:ext uri="{FF2B5EF4-FFF2-40B4-BE49-F238E27FC236}">
                <a16:creationId xmlns:a16="http://schemas.microsoft.com/office/drawing/2014/main" id="{8E025F50-A62E-C13D-16F3-211887572D14}"/>
              </a:ext>
            </a:extLst>
          </p:cNvPr>
          <p:cNvSpPr/>
          <p:nvPr/>
        </p:nvSpPr>
        <p:spPr>
          <a:xfrm>
            <a:off x="7919488" y="1536696"/>
            <a:ext cx="759734"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4" name="Rectangle 13">
            <a:extLst>
              <a:ext uri="{FF2B5EF4-FFF2-40B4-BE49-F238E27FC236}">
                <a16:creationId xmlns:a16="http://schemas.microsoft.com/office/drawing/2014/main" id="{E6E13A8C-9B54-3320-D44E-485CDC486223}"/>
              </a:ext>
            </a:extLst>
          </p:cNvPr>
          <p:cNvSpPr/>
          <p:nvPr/>
        </p:nvSpPr>
        <p:spPr>
          <a:xfrm>
            <a:off x="7919488" y="2650384"/>
            <a:ext cx="759734"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277614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27"/>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28"/>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31"/>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29"/>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30"/>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32"/>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35"/>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34"/>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3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4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2" nodeType="clickEffect">
                                  <p:stCondLst>
                                    <p:cond delay="0"/>
                                  </p:stCondLst>
                                  <p:childTnLst>
                                    <p:set>
                                      <p:cBhvr>
                                        <p:cTn id="84" dur="1" fill="hold">
                                          <p:stCondLst>
                                            <p:cond delay="0"/>
                                          </p:stCondLst>
                                        </p:cTn>
                                        <p:tgtEl>
                                          <p:spTgt spid="2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2" nodeType="clickEffect">
                                  <p:stCondLst>
                                    <p:cond delay="0"/>
                                  </p:stCondLst>
                                  <p:childTnLst>
                                    <p:set>
                                      <p:cBhvr>
                                        <p:cTn id="88" dur="1" fill="hold">
                                          <p:stCondLst>
                                            <p:cond delay="0"/>
                                          </p:stCondLst>
                                        </p:cTn>
                                        <p:tgtEl>
                                          <p:spTgt spid="3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2" nodeType="click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2" nodeType="click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2" nodeType="clickEffect">
                                  <p:stCondLst>
                                    <p:cond delay="0"/>
                                  </p:stCondLst>
                                  <p:childTnLst>
                                    <p:set>
                                      <p:cBhvr>
                                        <p:cTn id="100" dur="1" fill="hold">
                                          <p:stCondLst>
                                            <p:cond delay="0"/>
                                          </p:stCondLst>
                                        </p:cTn>
                                        <p:tgtEl>
                                          <p:spTgt spid="3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2" nodeType="clickEffect">
                                  <p:stCondLst>
                                    <p:cond delay="0"/>
                                  </p:stCondLst>
                                  <p:childTnLst>
                                    <p:set>
                                      <p:cBhvr>
                                        <p:cTn id="104" dur="1" fill="hold">
                                          <p:stCondLst>
                                            <p:cond delay="0"/>
                                          </p:stCondLst>
                                        </p:cTn>
                                        <p:tgtEl>
                                          <p:spTgt spid="3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3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4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5"/>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7"/>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8"/>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9"/>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10"/>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xit" presetSubtype="0" fill="hold" grpId="1" nodeType="clickEffect">
                                  <p:stCondLst>
                                    <p:cond delay="0"/>
                                  </p:stCondLst>
                                  <p:childTnLst>
                                    <p:set>
                                      <p:cBhvr>
                                        <p:cTn id="148" dur="1" fill="hold">
                                          <p:stCondLst>
                                            <p:cond delay="0"/>
                                          </p:stCondLst>
                                        </p:cTn>
                                        <p:tgtEl>
                                          <p:spTgt spid="5"/>
                                        </p:tgtEl>
                                        <p:attrNameLst>
                                          <p:attrName>style.visibility</p:attrName>
                                        </p:attrNameLst>
                                      </p:cBhvr>
                                      <p:to>
                                        <p:strVal val="hidden"/>
                                      </p:to>
                                    </p:set>
                                  </p:childTnLst>
                                </p:cTn>
                              </p:par>
                              <p:par>
                                <p:cTn id="149" presetID="1" presetClass="exit" presetSubtype="0" fill="hold" grpId="1" nodeType="withEffect">
                                  <p:stCondLst>
                                    <p:cond delay="0"/>
                                  </p:stCondLst>
                                  <p:childTnLst>
                                    <p:set>
                                      <p:cBhvr>
                                        <p:cTn id="150" dur="1" fill="hold">
                                          <p:stCondLst>
                                            <p:cond delay="0"/>
                                          </p:stCondLst>
                                        </p:cTn>
                                        <p:tgtEl>
                                          <p:spTgt spid="7"/>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6"/>
                                        </p:tgtEl>
                                        <p:attrNameLst>
                                          <p:attrName>style.visibility</p:attrName>
                                        </p:attrNameLst>
                                      </p:cBhvr>
                                      <p:to>
                                        <p:strVal val="hidden"/>
                                      </p:to>
                                    </p:set>
                                  </p:childTnLst>
                                </p:cTn>
                              </p:par>
                              <p:par>
                                <p:cTn id="153" presetID="1" presetClass="exit" presetSubtype="0" fill="hold" grpId="1" nodeType="withEffect">
                                  <p:stCondLst>
                                    <p:cond delay="0"/>
                                  </p:stCondLst>
                                  <p:childTnLst>
                                    <p:set>
                                      <p:cBhvr>
                                        <p:cTn id="154" dur="1" fill="hold">
                                          <p:stCondLst>
                                            <p:cond delay="0"/>
                                          </p:stCondLst>
                                        </p:cTn>
                                        <p:tgtEl>
                                          <p:spTgt spid="8"/>
                                        </p:tgtEl>
                                        <p:attrNameLst>
                                          <p:attrName>style.visibility</p:attrName>
                                        </p:attrNameLst>
                                      </p:cBhvr>
                                      <p:to>
                                        <p:strVal val="hidden"/>
                                      </p:to>
                                    </p:set>
                                  </p:childTnLst>
                                </p:cTn>
                              </p:par>
                              <p:par>
                                <p:cTn id="155" presetID="1" presetClass="exit" presetSubtype="0" fill="hold" grpId="1" nodeType="withEffect">
                                  <p:stCondLst>
                                    <p:cond delay="0"/>
                                  </p:stCondLst>
                                  <p:childTnLst>
                                    <p:set>
                                      <p:cBhvr>
                                        <p:cTn id="156" dur="1" fill="hold">
                                          <p:stCondLst>
                                            <p:cond delay="0"/>
                                          </p:stCondLst>
                                        </p:cTn>
                                        <p:tgtEl>
                                          <p:spTgt spid="9"/>
                                        </p:tgtEl>
                                        <p:attrNameLst>
                                          <p:attrName>style.visibility</p:attrName>
                                        </p:attrNameLst>
                                      </p:cBhvr>
                                      <p:to>
                                        <p:strVal val="hidden"/>
                                      </p:to>
                                    </p:set>
                                  </p:childTnLst>
                                </p:cTn>
                              </p:par>
                              <p:par>
                                <p:cTn id="157" presetID="1" presetClass="exit" presetSubtype="0" fill="hold" grpId="1" nodeType="withEffect">
                                  <p:stCondLst>
                                    <p:cond delay="0"/>
                                  </p:stCondLst>
                                  <p:childTnLst>
                                    <p:set>
                                      <p:cBhvr>
                                        <p:cTn id="158" dur="1" fill="hold">
                                          <p:stCondLst>
                                            <p:cond delay="0"/>
                                          </p:stCondLst>
                                        </p:cTn>
                                        <p:tgtEl>
                                          <p:spTgt spid="10"/>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2" nodeType="clickEffect">
                                  <p:stCondLst>
                                    <p:cond delay="0"/>
                                  </p:stCondLst>
                                  <p:childTnLst>
                                    <p:set>
                                      <p:cBhvr>
                                        <p:cTn id="162" dur="1" fill="hold">
                                          <p:stCondLst>
                                            <p:cond delay="0"/>
                                          </p:stCondLst>
                                        </p:cTn>
                                        <p:tgtEl>
                                          <p:spTgt spid="5"/>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3"/>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2" nodeType="clickEffect">
                                  <p:stCondLst>
                                    <p:cond delay="0"/>
                                  </p:stCondLst>
                                  <p:childTnLst>
                                    <p:set>
                                      <p:cBhvr>
                                        <p:cTn id="170" dur="1" fill="hold">
                                          <p:stCondLst>
                                            <p:cond delay="0"/>
                                          </p:stCondLst>
                                        </p:cTn>
                                        <p:tgtEl>
                                          <p:spTgt spid="7"/>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1"/>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2" nodeType="clickEffect">
                                  <p:stCondLst>
                                    <p:cond delay="0"/>
                                  </p:stCondLst>
                                  <p:childTnLst>
                                    <p:set>
                                      <p:cBhvr>
                                        <p:cTn id="178" dur="1" fill="hold">
                                          <p:stCondLst>
                                            <p:cond delay="0"/>
                                          </p:stCondLst>
                                        </p:cTn>
                                        <p:tgtEl>
                                          <p:spTgt spid="6"/>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2" nodeType="clickEffect">
                                  <p:stCondLst>
                                    <p:cond delay="0"/>
                                  </p:stCondLst>
                                  <p:childTnLst>
                                    <p:set>
                                      <p:cBhvr>
                                        <p:cTn id="182" dur="1" fill="hold">
                                          <p:stCondLst>
                                            <p:cond delay="0"/>
                                          </p:stCondLst>
                                        </p:cTn>
                                        <p:tgtEl>
                                          <p:spTgt spid="8"/>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4"/>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2" nodeType="clickEffect">
                                  <p:stCondLst>
                                    <p:cond delay="0"/>
                                  </p:stCondLst>
                                  <p:childTnLst>
                                    <p:set>
                                      <p:cBhvr>
                                        <p:cTn id="190" dur="1" fill="hold">
                                          <p:stCondLst>
                                            <p:cond delay="0"/>
                                          </p:stCondLst>
                                        </p:cTn>
                                        <p:tgtEl>
                                          <p:spTgt spid="9"/>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2" nodeType="clickEffect">
                                  <p:stCondLst>
                                    <p:cond delay="0"/>
                                  </p:stCondLst>
                                  <p:childTnLst>
                                    <p:set>
                                      <p:cBhvr>
                                        <p:cTn id="19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7" grpId="1" animBg="1"/>
      <p:bldP spid="27" grpId="2" animBg="1"/>
      <p:bldP spid="28" grpId="0" animBg="1"/>
      <p:bldP spid="28" grpId="1" animBg="1"/>
      <p:bldP spid="29" grpId="0" animBg="1"/>
      <p:bldP spid="29" grpId="1" animBg="1"/>
      <p:bldP spid="30" grpId="0" animBg="1"/>
      <p:bldP spid="30" grpId="1" animBg="1"/>
      <p:bldP spid="30" grpId="2" animBg="1"/>
      <p:bldP spid="31" grpId="0" animBg="1"/>
      <p:bldP spid="31" grpId="1" animBg="1"/>
      <p:bldP spid="31" grpId="2" animBg="1"/>
      <p:bldP spid="32" grpId="0" animBg="1"/>
      <p:bldP spid="32" grpId="1" animBg="1"/>
      <p:bldP spid="32" grpId="2" animBg="1"/>
      <p:bldP spid="33" grpId="0" animBg="1"/>
      <p:bldP spid="33" grpId="1" animBg="1"/>
      <p:bldP spid="34" grpId="0" animBg="1"/>
      <p:bldP spid="34" grpId="1" animBg="1"/>
      <p:bldP spid="35" grpId="0" animBg="1"/>
      <p:bldP spid="35" grpId="1" animBg="1"/>
      <p:bldP spid="35" grpId="2" animBg="1"/>
      <p:bldP spid="36" grpId="0" animBg="1"/>
      <p:bldP spid="36" grpId="1" animBg="1"/>
      <p:bldP spid="36" grpId="2" animBg="1"/>
      <p:bldP spid="45" grpId="0" animBg="1"/>
      <p:bldP spid="46" grpId="0" animBg="1"/>
      <p:bldP spid="47" grpId="0"/>
      <p:bldP spid="47" grpId="1"/>
      <p:bldP spid="48" grpId="0"/>
      <p:bldP spid="4" grpId="0" animBg="1"/>
      <p:bldP spid="5" grpId="0" animBg="1"/>
      <p:bldP spid="5" grpId="1" animBg="1"/>
      <p:bldP spid="5" grpId="2" animBg="1"/>
      <p:bldP spid="6" grpId="0" animBg="1"/>
      <p:bldP spid="6" grpId="1" animBg="1"/>
      <p:bldP spid="6" grpId="2" animBg="1"/>
      <p:bldP spid="7" grpId="0" animBg="1"/>
      <p:bldP spid="7" grpId="1" animBg="1"/>
      <p:bldP spid="7" grpId="2" animBg="1"/>
      <p:bldP spid="8" grpId="0" animBg="1"/>
      <p:bldP spid="8" grpId="1" animBg="1"/>
      <p:bldP spid="8" grpId="2" animBg="1"/>
      <p:bldP spid="9" grpId="0" animBg="1"/>
      <p:bldP spid="9" grpId="1" animBg="1"/>
      <p:bldP spid="9" grpId="2" animBg="1"/>
      <p:bldP spid="10" grpId="0" animBg="1"/>
      <p:bldP spid="10" grpId="1" animBg="1"/>
      <p:bldP spid="10" grpId="2" animBg="1"/>
      <p:bldP spid="11" grpId="0" animBg="1"/>
      <p:bldP spid="12" grpId="0" animBg="1"/>
      <p:bldP spid="13" grpId="0" animBg="1"/>
      <p:bldP spid="14"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A53DB-81C8-3C23-EE6E-6755CDCDED32}"/>
              </a:ext>
            </a:extLst>
          </p:cNvPr>
          <p:cNvSpPr>
            <a:spLocks noGrp="1"/>
          </p:cNvSpPr>
          <p:nvPr>
            <p:ph type="title"/>
          </p:nvPr>
        </p:nvSpPr>
        <p:spPr/>
        <p:txBody>
          <a:bodyPr/>
          <a:lstStyle/>
          <a:p>
            <a:r>
              <a:rPr lang="en-US" dirty="0"/>
              <a:t>Except</a:t>
            </a:r>
            <a:endParaRPr lang="en-IN" dirty="0"/>
          </a:p>
        </p:txBody>
      </p:sp>
      <p:sp>
        <p:nvSpPr>
          <p:cNvPr id="3" name="Content Placeholder 2">
            <a:extLst>
              <a:ext uri="{FF2B5EF4-FFF2-40B4-BE49-F238E27FC236}">
                <a16:creationId xmlns:a16="http://schemas.microsoft.com/office/drawing/2014/main" id="{95CC7FA6-E779-E26C-F541-BF2F6CBF22BB}"/>
              </a:ext>
            </a:extLst>
          </p:cNvPr>
          <p:cNvSpPr>
            <a:spLocks noGrp="1"/>
          </p:cNvSpPr>
          <p:nvPr>
            <p:ph idx="1"/>
          </p:nvPr>
        </p:nvSpPr>
        <p:spPr/>
        <p:txBody>
          <a:bodyPr/>
          <a:lstStyle/>
          <a:p>
            <a:pPr algn="just"/>
            <a:r>
              <a:rPr lang="en-US" sz="2400" dirty="0"/>
              <a:t>EXCEPT operator is used to combine two SELECT statements and </a:t>
            </a:r>
            <a:r>
              <a:rPr lang="en-US" sz="2400" b="1" dirty="0"/>
              <a:t>returns rows from the first SELECT statement that are not returned by the second SELECT statement</a:t>
            </a:r>
            <a:r>
              <a:rPr lang="en-US" sz="2400" dirty="0"/>
              <a:t>.</a:t>
            </a:r>
          </a:p>
          <a:p>
            <a:pPr algn="just"/>
            <a:r>
              <a:rPr lang="en-US" sz="2400" dirty="0"/>
              <a:t>This means EXCEPT returns only rows, which are not available in the second SELECT statement.</a:t>
            </a:r>
          </a:p>
          <a:p>
            <a:pPr algn="just"/>
            <a:r>
              <a:rPr lang="en-US" sz="2400" dirty="0"/>
              <a:t>The Except operator </a:t>
            </a:r>
            <a:r>
              <a:rPr lang="en-US" sz="2400" b="1" dirty="0">
                <a:solidFill>
                  <a:srgbClr val="C00000"/>
                </a:solidFill>
              </a:rPr>
              <a:t>removes duplicate </a:t>
            </a:r>
            <a:r>
              <a:rPr lang="en-US" sz="2400" dirty="0"/>
              <a:t>rows and returns result in </a:t>
            </a:r>
            <a:r>
              <a:rPr lang="en-US" sz="2400" b="1" dirty="0">
                <a:solidFill>
                  <a:srgbClr val="C00000"/>
                </a:solidFill>
              </a:rPr>
              <a:t>ascending order</a:t>
            </a:r>
            <a:r>
              <a:rPr lang="en-US" sz="2400" dirty="0"/>
              <a:t>.</a:t>
            </a:r>
          </a:p>
          <a:p>
            <a:endParaRPr lang="en-IN" dirty="0"/>
          </a:p>
        </p:txBody>
      </p:sp>
      <p:sp>
        <p:nvSpPr>
          <p:cNvPr id="4" name="Oval 3">
            <a:extLst>
              <a:ext uri="{FF2B5EF4-FFF2-40B4-BE49-F238E27FC236}">
                <a16:creationId xmlns:a16="http://schemas.microsoft.com/office/drawing/2014/main" id="{340122BA-0A8F-B384-5821-34217E11594A}"/>
              </a:ext>
            </a:extLst>
          </p:cNvPr>
          <p:cNvSpPr/>
          <p:nvPr/>
        </p:nvSpPr>
        <p:spPr>
          <a:xfrm>
            <a:off x="228600" y="4326874"/>
            <a:ext cx="1182930" cy="1235725"/>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F497D">
                    <a:lumMod val="75000"/>
                  </a:srgbClr>
                </a:solidFill>
                <a:effectLst/>
                <a:uLnTx/>
                <a:uFillTx/>
                <a:latin typeface="Calibri"/>
                <a:ea typeface="+mn-ea"/>
                <a:cs typeface="+mn-cs"/>
              </a:rPr>
              <a:t>Left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F497D">
                    <a:lumMod val="75000"/>
                  </a:srgbClr>
                </a:solidFill>
                <a:effectLst/>
                <a:uLnTx/>
                <a:uFillTx/>
                <a:latin typeface="Calibri"/>
                <a:ea typeface="+mn-ea"/>
                <a:cs typeface="+mn-cs"/>
              </a:rPr>
              <a:t>Query</a:t>
            </a:r>
          </a:p>
        </p:txBody>
      </p:sp>
      <p:sp>
        <p:nvSpPr>
          <p:cNvPr id="5" name="Oval 4">
            <a:extLst>
              <a:ext uri="{FF2B5EF4-FFF2-40B4-BE49-F238E27FC236}">
                <a16:creationId xmlns:a16="http://schemas.microsoft.com/office/drawing/2014/main" id="{CDE02A2D-1984-0C10-3865-D1F080645625}"/>
              </a:ext>
            </a:extLst>
          </p:cNvPr>
          <p:cNvSpPr/>
          <p:nvPr/>
        </p:nvSpPr>
        <p:spPr>
          <a:xfrm>
            <a:off x="1524000" y="4336778"/>
            <a:ext cx="1185684" cy="1225821"/>
          </a:xfrm>
          <a:prstGeom prst="ellipse">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F497D">
                    <a:lumMod val="75000"/>
                  </a:srgbClr>
                </a:solidFill>
                <a:effectLst/>
                <a:uLnTx/>
                <a:uFillTx/>
                <a:latin typeface="Calibri"/>
                <a:ea typeface="+mn-ea"/>
                <a:cs typeface="+mn-cs"/>
              </a:rPr>
              <a:t>Right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F497D">
                    <a:lumMod val="75000"/>
                  </a:srgbClr>
                </a:solidFill>
                <a:effectLst/>
                <a:uLnTx/>
                <a:uFillTx/>
                <a:latin typeface="Calibri"/>
                <a:ea typeface="+mn-ea"/>
                <a:cs typeface="+mn-cs"/>
              </a:rPr>
              <a:t>Query</a:t>
            </a:r>
          </a:p>
        </p:txBody>
      </p:sp>
      <p:sp>
        <p:nvSpPr>
          <p:cNvPr id="6" name="Freeform 30">
            <a:extLst>
              <a:ext uri="{FF2B5EF4-FFF2-40B4-BE49-F238E27FC236}">
                <a16:creationId xmlns:a16="http://schemas.microsoft.com/office/drawing/2014/main" id="{8A2F8881-9628-4F0A-37AD-BEC2177AC753}"/>
              </a:ext>
            </a:extLst>
          </p:cNvPr>
          <p:cNvSpPr/>
          <p:nvPr/>
        </p:nvSpPr>
        <p:spPr>
          <a:xfrm>
            <a:off x="4880214" y="4534591"/>
            <a:ext cx="579600" cy="961200"/>
          </a:xfrm>
          <a:custGeom>
            <a:avLst/>
            <a:gdLst>
              <a:gd name="connsiteX0" fmla="*/ 200635 w 429336"/>
              <a:gd name="connsiteY0" fmla="*/ 0 h 765247"/>
              <a:gd name="connsiteX1" fmla="*/ 222816 w 429336"/>
              <a:gd name="connsiteY1" fmla="*/ 11751 h 765247"/>
              <a:gd name="connsiteX2" fmla="*/ 429336 w 429336"/>
              <a:gd name="connsiteY2" fmla="*/ 390869 h 765247"/>
              <a:gd name="connsiteX3" fmla="*/ 292140 w 429336"/>
              <a:gd name="connsiteY3" fmla="*/ 714158 h 765247"/>
              <a:gd name="connsiteX4" fmla="*/ 228702 w 429336"/>
              <a:gd name="connsiteY4" fmla="*/ 765247 h 765247"/>
              <a:gd name="connsiteX5" fmla="*/ 206520 w 429336"/>
              <a:gd name="connsiteY5" fmla="*/ 753496 h 765247"/>
              <a:gd name="connsiteX6" fmla="*/ 0 w 429336"/>
              <a:gd name="connsiteY6" fmla="*/ 374378 h 765247"/>
              <a:gd name="connsiteX7" fmla="*/ 137196 w 429336"/>
              <a:gd name="connsiteY7" fmla="*/ 51089 h 765247"/>
              <a:gd name="connsiteX8" fmla="*/ 200635 w 429336"/>
              <a:gd name="connsiteY8" fmla="*/ 0 h 76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336" h="765247">
                <a:moveTo>
                  <a:pt x="200635" y="0"/>
                </a:moveTo>
                <a:lnTo>
                  <a:pt x="222816" y="11751"/>
                </a:lnTo>
                <a:cubicBezTo>
                  <a:pt x="347416" y="93914"/>
                  <a:pt x="429336" y="233054"/>
                  <a:pt x="429336" y="390869"/>
                </a:cubicBezTo>
                <a:cubicBezTo>
                  <a:pt x="429336" y="517122"/>
                  <a:pt x="376907" y="631422"/>
                  <a:pt x="292140" y="714158"/>
                </a:cubicBezTo>
                <a:lnTo>
                  <a:pt x="228702" y="765247"/>
                </a:lnTo>
                <a:lnTo>
                  <a:pt x="206520" y="753496"/>
                </a:lnTo>
                <a:cubicBezTo>
                  <a:pt x="81921" y="671334"/>
                  <a:pt x="0" y="532194"/>
                  <a:pt x="0" y="374378"/>
                </a:cubicBezTo>
                <a:cubicBezTo>
                  <a:pt x="0" y="248126"/>
                  <a:pt x="52429" y="133826"/>
                  <a:pt x="137196" y="51089"/>
                </a:cubicBezTo>
                <a:lnTo>
                  <a:pt x="200635" y="0"/>
                </a:lnTo>
                <a:close/>
              </a:path>
            </a:pathLst>
          </a:cu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 name="Freeform 29">
            <a:extLst>
              <a:ext uri="{FF2B5EF4-FFF2-40B4-BE49-F238E27FC236}">
                <a16:creationId xmlns:a16="http://schemas.microsoft.com/office/drawing/2014/main" id="{5B3C7873-37DE-E2EA-162D-F1FEF8CF1A9B}"/>
              </a:ext>
            </a:extLst>
          </p:cNvPr>
          <p:cNvSpPr/>
          <p:nvPr/>
        </p:nvSpPr>
        <p:spPr>
          <a:xfrm>
            <a:off x="5137769" y="4432615"/>
            <a:ext cx="1005443" cy="1129984"/>
          </a:xfrm>
          <a:custGeom>
            <a:avLst/>
            <a:gdLst>
              <a:gd name="connsiteX0" fmla="*/ 267782 w 736199"/>
              <a:gd name="connsiteY0" fmla="*/ 0 h 914400"/>
              <a:gd name="connsiteX1" fmla="*/ 736199 w 736199"/>
              <a:gd name="connsiteY1" fmla="*/ 457200 h 914400"/>
              <a:gd name="connsiteX2" fmla="*/ 267782 w 736199"/>
              <a:gd name="connsiteY2" fmla="*/ 914400 h 914400"/>
              <a:gd name="connsiteX3" fmla="*/ 85453 w 736199"/>
              <a:gd name="connsiteY3" fmla="*/ 878471 h 914400"/>
              <a:gd name="connsiteX4" fmla="*/ 28067 w 736199"/>
              <a:gd name="connsiteY4" fmla="*/ 848069 h 914400"/>
              <a:gd name="connsiteX5" fmla="*/ 91505 w 736199"/>
              <a:gd name="connsiteY5" fmla="*/ 796980 h 914400"/>
              <a:gd name="connsiteX6" fmla="*/ 228701 w 736199"/>
              <a:gd name="connsiteY6" fmla="*/ 473691 h 914400"/>
              <a:gd name="connsiteX7" fmla="*/ 22181 w 736199"/>
              <a:gd name="connsiteY7" fmla="*/ 94573 h 914400"/>
              <a:gd name="connsiteX8" fmla="*/ 0 w 736199"/>
              <a:gd name="connsiteY8" fmla="*/ 82822 h 914400"/>
              <a:gd name="connsiteX9" fmla="*/ 5885 w 736199"/>
              <a:gd name="connsiteY9" fmla="*/ 78082 h 914400"/>
              <a:gd name="connsiteX10" fmla="*/ 267782 w 736199"/>
              <a:gd name="connsiteY10"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6199" h="914400">
                <a:moveTo>
                  <a:pt x="267782" y="0"/>
                </a:moveTo>
                <a:cubicBezTo>
                  <a:pt x="526482" y="0"/>
                  <a:pt x="736199" y="204695"/>
                  <a:pt x="736199" y="457200"/>
                </a:cubicBezTo>
                <a:cubicBezTo>
                  <a:pt x="736199" y="709705"/>
                  <a:pt x="526482" y="914400"/>
                  <a:pt x="267782" y="914400"/>
                </a:cubicBezTo>
                <a:cubicBezTo>
                  <a:pt x="203107" y="914400"/>
                  <a:pt x="141494" y="901607"/>
                  <a:pt x="85453" y="878471"/>
                </a:cubicBezTo>
                <a:lnTo>
                  <a:pt x="28067" y="848069"/>
                </a:lnTo>
                <a:lnTo>
                  <a:pt x="91505" y="796980"/>
                </a:lnTo>
                <a:cubicBezTo>
                  <a:pt x="176272" y="714244"/>
                  <a:pt x="228701" y="599944"/>
                  <a:pt x="228701" y="473691"/>
                </a:cubicBezTo>
                <a:cubicBezTo>
                  <a:pt x="228701" y="315876"/>
                  <a:pt x="146781" y="176736"/>
                  <a:pt x="22181" y="94573"/>
                </a:cubicBezTo>
                <a:lnTo>
                  <a:pt x="0" y="82822"/>
                </a:lnTo>
                <a:lnTo>
                  <a:pt x="5885" y="78082"/>
                </a:lnTo>
                <a:cubicBezTo>
                  <a:pt x="80645" y="28785"/>
                  <a:pt x="170770" y="0"/>
                  <a:pt x="267782" y="0"/>
                </a:cubicBezTo>
                <a:close/>
              </a:path>
            </a:pathLst>
          </a:cu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8" name="Freeform 28">
            <a:extLst>
              <a:ext uri="{FF2B5EF4-FFF2-40B4-BE49-F238E27FC236}">
                <a16:creationId xmlns:a16="http://schemas.microsoft.com/office/drawing/2014/main" id="{B020AD6D-46A7-E87D-4595-20F5F98F664D}"/>
              </a:ext>
            </a:extLst>
          </p:cNvPr>
          <p:cNvSpPr/>
          <p:nvPr/>
        </p:nvSpPr>
        <p:spPr>
          <a:xfrm>
            <a:off x="4183620" y="4450199"/>
            <a:ext cx="1005444" cy="1129984"/>
          </a:xfrm>
          <a:custGeom>
            <a:avLst/>
            <a:gdLst>
              <a:gd name="connsiteX0" fmla="*/ 468417 w 736200"/>
              <a:gd name="connsiteY0" fmla="*/ 0 h 914400"/>
              <a:gd name="connsiteX1" fmla="*/ 650746 w 736200"/>
              <a:gd name="connsiteY1" fmla="*/ 35929 h 914400"/>
              <a:gd name="connsiteX2" fmla="*/ 708133 w 736200"/>
              <a:gd name="connsiteY2" fmla="*/ 66331 h 914400"/>
              <a:gd name="connsiteX3" fmla="*/ 644694 w 736200"/>
              <a:gd name="connsiteY3" fmla="*/ 117420 h 914400"/>
              <a:gd name="connsiteX4" fmla="*/ 507498 w 736200"/>
              <a:gd name="connsiteY4" fmla="*/ 440709 h 914400"/>
              <a:gd name="connsiteX5" fmla="*/ 714018 w 736200"/>
              <a:gd name="connsiteY5" fmla="*/ 819827 h 914400"/>
              <a:gd name="connsiteX6" fmla="*/ 736200 w 736200"/>
              <a:gd name="connsiteY6" fmla="*/ 831578 h 914400"/>
              <a:gd name="connsiteX7" fmla="*/ 730314 w 736200"/>
              <a:gd name="connsiteY7" fmla="*/ 836318 h 914400"/>
              <a:gd name="connsiteX8" fmla="*/ 468417 w 736200"/>
              <a:gd name="connsiteY8" fmla="*/ 914400 h 914400"/>
              <a:gd name="connsiteX9" fmla="*/ 0 w 736200"/>
              <a:gd name="connsiteY9" fmla="*/ 457200 h 914400"/>
              <a:gd name="connsiteX10" fmla="*/ 468417 w 736200"/>
              <a:gd name="connsiteY10"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6200" h="914400">
                <a:moveTo>
                  <a:pt x="468417" y="0"/>
                </a:moveTo>
                <a:cubicBezTo>
                  <a:pt x="533092" y="0"/>
                  <a:pt x="594706" y="12794"/>
                  <a:pt x="650746" y="35929"/>
                </a:cubicBezTo>
                <a:lnTo>
                  <a:pt x="708133" y="66331"/>
                </a:lnTo>
                <a:lnTo>
                  <a:pt x="644694" y="117420"/>
                </a:lnTo>
                <a:cubicBezTo>
                  <a:pt x="559927" y="200157"/>
                  <a:pt x="507498" y="314457"/>
                  <a:pt x="507498" y="440709"/>
                </a:cubicBezTo>
                <a:cubicBezTo>
                  <a:pt x="507498" y="598525"/>
                  <a:pt x="589419" y="737665"/>
                  <a:pt x="714018" y="819827"/>
                </a:cubicBezTo>
                <a:lnTo>
                  <a:pt x="736200" y="831578"/>
                </a:lnTo>
                <a:lnTo>
                  <a:pt x="730314" y="836318"/>
                </a:lnTo>
                <a:cubicBezTo>
                  <a:pt x="655554" y="885615"/>
                  <a:pt x="565430" y="914400"/>
                  <a:pt x="468417" y="914400"/>
                </a:cubicBezTo>
                <a:cubicBezTo>
                  <a:pt x="209717" y="914400"/>
                  <a:pt x="0" y="709705"/>
                  <a:pt x="0" y="457200"/>
                </a:cubicBezTo>
                <a:cubicBezTo>
                  <a:pt x="0" y="204695"/>
                  <a:pt x="209717" y="0"/>
                  <a:pt x="468417" y="0"/>
                </a:cubicBezTo>
                <a:close/>
              </a:path>
            </a:pathLst>
          </a:cu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9" name="Right Arrow 17">
            <a:extLst>
              <a:ext uri="{FF2B5EF4-FFF2-40B4-BE49-F238E27FC236}">
                <a16:creationId xmlns:a16="http://schemas.microsoft.com/office/drawing/2014/main" id="{FC53C1AB-8C23-D7ED-ED3C-BAEB23CD4648}"/>
              </a:ext>
            </a:extLst>
          </p:cNvPr>
          <p:cNvSpPr/>
          <p:nvPr/>
        </p:nvSpPr>
        <p:spPr>
          <a:xfrm>
            <a:off x="2931858" y="4654168"/>
            <a:ext cx="1193612" cy="570620"/>
          </a:xfrm>
          <a:prstGeom prst="rightArrow">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99"/>
                </a:solidFill>
                <a:effectLst/>
                <a:uLnTx/>
                <a:uFillTx/>
                <a:latin typeface="Calibri"/>
                <a:ea typeface="+mn-ea"/>
                <a:cs typeface="+mn-cs"/>
              </a:rPr>
              <a:t>Combine</a:t>
            </a:r>
          </a:p>
        </p:txBody>
      </p:sp>
      <p:sp>
        <p:nvSpPr>
          <p:cNvPr id="10" name="Left-Right Arrow 18">
            <a:extLst>
              <a:ext uri="{FF2B5EF4-FFF2-40B4-BE49-F238E27FC236}">
                <a16:creationId xmlns:a16="http://schemas.microsoft.com/office/drawing/2014/main" id="{422CFE17-2281-46DC-1CE8-A97D810C5D0C}"/>
              </a:ext>
            </a:extLst>
          </p:cNvPr>
          <p:cNvSpPr/>
          <p:nvPr/>
        </p:nvSpPr>
        <p:spPr>
          <a:xfrm>
            <a:off x="6285358" y="4738580"/>
            <a:ext cx="1262998" cy="570620"/>
          </a:xfrm>
          <a:prstGeom prst="leftRightArrow">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99"/>
                </a:solidFill>
                <a:effectLst/>
                <a:uLnTx/>
                <a:uFillTx/>
                <a:latin typeface="Calibri"/>
                <a:ea typeface="+mn-ea"/>
                <a:cs typeface="+mn-cs"/>
              </a:rPr>
              <a:t>Output</a:t>
            </a:r>
          </a:p>
        </p:txBody>
      </p:sp>
    </p:spTree>
    <p:extLst>
      <p:ext uri="{BB962C8B-B14F-4D97-AF65-F5344CB8AC3E}">
        <p14:creationId xmlns:p14="http://schemas.microsoft.com/office/powerpoint/2010/main" val="133142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heel(1)">
                                      <p:cBhvr>
                                        <p:cTn id="24" dur="20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1000" fill="hold"/>
                                        <p:tgtEl>
                                          <p:spTgt spid="8"/>
                                        </p:tgtEl>
                                        <p:attrNameLst>
                                          <p:attrName>ppt_w</p:attrName>
                                        </p:attrNameLst>
                                      </p:cBhvr>
                                      <p:tavLst>
                                        <p:tav tm="0">
                                          <p:val>
                                            <p:fltVal val="0"/>
                                          </p:val>
                                        </p:tav>
                                        <p:tav tm="100000">
                                          <p:val>
                                            <p:strVal val="#ppt_w"/>
                                          </p:val>
                                        </p:tav>
                                      </p:tavLst>
                                    </p:anim>
                                    <p:anim calcmode="lin" valueType="num">
                                      <p:cBhvr>
                                        <p:cTn id="36" dur="1000" fill="hold"/>
                                        <p:tgtEl>
                                          <p:spTgt spid="8"/>
                                        </p:tgtEl>
                                        <p:attrNameLst>
                                          <p:attrName>ppt_h</p:attrName>
                                        </p:attrNameLst>
                                      </p:cBhvr>
                                      <p:tavLst>
                                        <p:tav tm="0">
                                          <p:val>
                                            <p:fltVal val="0"/>
                                          </p:val>
                                        </p:tav>
                                        <p:tav tm="100000">
                                          <p:val>
                                            <p:strVal val="#ppt_h"/>
                                          </p:val>
                                        </p:tav>
                                      </p:tavLst>
                                    </p:anim>
                                    <p:anim calcmode="lin" valueType="num">
                                      <p:cBhvr>
                                        <p:cTn id="37" dur="1000" fill="hold"/>
                                        <p:tgtEl>
                                          <p:spTgt spid="8"/>
                                        </p:tgtEl>
                                        <p:attrNameLst>
                                          <p:attrName>style.rotation</p:attrName>
                                        </p:attrNameLst>
                                      </p:cBhvr>
                                      <p:tavLst>
                                        <p:tav tm="0">
                                          <p:val>
                                            <p:fltVal val="90"/>
                                          </p:val>
                                        </p:tav>
                                        <p:tav tm="100000">
                                          <p:val>
                                            <p:fltVal val="0"/>
                                          </p:val>
                                        </p:tav>
                                      </p:tavLst>
                                    </p:anim>
                                    <p:animEffect transition="in" filter="fade">
                                      <p:cBhvr>
                                        <p:cTn id="38" dur="1000"/>
                                        <p:tgtEl>
                                          <p:spTgt spid="8"/>
                                        </p:tgtEl>
                                      </p:cBhvr>
                                    </p:animEffect>
                                  </p:childTnLst>
                                </p:cTn>
                              </p:par>
                              <p:par>
                                <p:cTn id="39" presetID="3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1000" fill="hold"/>
                                        <p:tgtEl>
                                          <p:spTgt spid="6"/>
                                        </p:tgtEl>
                                        <p:attrNameLst>
                                          <p:attrName>ppt_w</p:attrName>
                                        </p:attrNameLst>
                                      </p:cBhvr>
                                      <p:tavLst>
                                        <p:tav tm="0">
                                          <p:val>
                                            <p:fltVal val="0"/>
                                          </p:val>
                                        </p:tav>
                                        <p:tav tm="100000">
                                          <p:val>
                                            <p:strVal val="#ppt_w"/>
                                          </p:val>
                                        </p:tav>
                                      </p:tavLst>
                                    </p:anim>
                                    <p:anim calcmode="lin" valueType="num">
                                      <p:cBhvr>
                                        <p:cTn id="42" dur="1000" fill="hold"/>
                                        <p:tgtEl>
                                          <p:spTgt spid="6"/>
                                        </p:tgtEl>
                                        <p:attrNameLst>
                                          <p:attrName>ppt_h</p:attrName>
                                        </p:attrNameLst>
                                      </p:cBhvr>
                                      <p:tavLst>
                                        <p:tav tm="0">
                                          <p:val>
                                            <p:fltVal val="0"/>
                                          </p:val>
                                        </p:tav>
                                        <p:tav tm="100000">
                                          <p:val>
                                            <p:strVal val="#ppt_h"/>
                                          </p:val>
                                        </p:tav>
                                      </p:tavLst>
                                    </p:anim>
                                    <p:anim calcmode="lin" valueType="num">
                                      <p:cBhvr>
                                        <p:cTn id="43" dur="1000" fill="hold"/>
                                        <p:tgtEl>
                                          <p:spTgt spid="6"/>
                                        </p:tgtEl>
                                        <p:attrNameLst>
                                          <p:attrName>style.rotation</p:attrName>
                                        </p:attrNameLst>
                                      </p:cBhvr>
                                      <p:tavLst>
                                        <p:tav tm="0">
                                          <p:val>
                                            <p:fltVal val="90"/>
                                          </p:val>
                                        </p:tav>
                                        <p:tav tm="100000">
                                          <p:val>
                                            <p:fltVal val="0"/>
                                          </p:val>
                                        </p:tav>
                                      </p:tavLst>
                                    </p:anim>
                                    <p:animEffect transition="in" filter="fade">
                                      <p:cBhvr>
                                        <p:cTn id="44" dur="1000"/>
                                        <p:tgtEl>
                                          <p:spTgt spid="6"/>
                                        </p:tgtEl>
                                      </p:cBhvr>
                                    </p:animEffect>
                                  </p:childTnLst>
                                </p:cTn>
                              </p:par>
                              <p:par>
                                <p:cTn id="45" presetID="31"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1000" fill="hold"/>
                                        <p:tgtEl>
                                          <p:spTgt spid="7"/>
                                        </p:tgtEl>
                                        <p:attrNameLst>
                                          <p:attrName>ppt_w</p:attrName>
                                        </p:attrNameLst>
                                      </p:cBhvr>
                                      <p:tavLst>
                                        <p:tav tm="0">
                                          <p:val>
                                            <p:fltVal val="0"/>
                                          </p:val>
                                        </p:tav>
                                        <p:tav tm="100000">
                                          <p:val>
                                            <p:strVal val="#ppt_w"/>
                                          </p:val>
                                        </p:tav>
                                      </p:tavLst>
                                    </p:anim>
                                    <p:anim calcmode="lin" valueType="num">
                                      <p:cBhvr>
                                        <p:cTn id="48" dur="1000" fill="hold"/>
                                        <p:tgtEl>
                                          <p:spTgt spid="7"/>
                                        </p:tgtEl>
                                        <p:attrNameLst>
                                          <p:attrName>ppt_h</p:attrName>
                                        </p:attrNameLst>
                                      </p:cBhvr>
                                      <p:tavLst>
                                        <p:tav tm="0">
                                          <p:val>
                                            <p:fltVal val="0"/>
                                          </p:val>
                                        </p:tav>
                                        <p:tav tm="100000">
                                          <p:val>
                                            <p:strVal val="#ppt_h"/>
                                          </p:val>
                                        </p:tav>
                                      </p:tavLst>
                                    </p:anim>
                                    <p:anim calcmode="lin" valueType="num">
                                      <p:cBhvr>
                                        <p:cTn id="49" dur="1000" fill="hold"/>
                                        <p:tgtEl>
                                          <p:spTgt spid="7"/>
                                        </p:tgtEl>
                                        <p:attrNameLst>
                                          <p:attrName>style.rotation</p:attrName>
                                        </p:attrNameLst>
                                      </p:cBhvr>
                                      <p:tavLst>
                                        <p:tav tm="0">
                                          <p:val>
                                            <p:fltVal val="90"/>
                                          </p:val>
                                        </p:tav>
                                        <p:tav tm="100000">
                                          <p:val>
                                            <p:fltVal val="0"/>
                                          </p:val>
                                        </p:tav>
                                      </p:tavLst>
                                    </p:anim>
                                    <p:animEffect transition="in" filter="fade">
                                      <p:cBhvr>
                                        <p:cTn id="50" dur="10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37" presetClass="path" presetSubtype="0" accel="50000" decel="50000" fill="hold" grpId="1" nodeType="clickEffect">
                                  <p:stCondLst>
                                    <p:cond delay="0"/>
                                  </p:stCondLst>
                                  <p:childTnLst>
                                    <p:animMotion origin="layout" path="M 0.01181 0.00231 L 0.10903 0.04236 C 0.12951 0.05139 0.16007 0.05625 0.19184 0.05625 C 0.22813 0.05625 0.25712 0.05139 0.2776 0.04236 L 0.375 0.00231 " pathEditMode="relative" rAng="0" ptsTypes="AAAAA">
                                      <p:cBhvr>
                                        <p:cTn id="60" dur="2000" fill="hold"/>
                                        <p:tgtEl>
                                          <p:spTgt spid="8"/>
                                        </p:tgtEl>
                                        <p:attrNameLst>
                                          <p:attrName>ppt_x</p:attrName>
                                          <p:attrName>ppt_y</p:attrName>
                                        </p:attrNameLst>
                                      </p:cBhvr>
                                      <p:rCtr x="18160" y="26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8" grpId="1" animBg="1"/>
      <p:bldP spid="9" grpId="0" animBg="1"/>
      <p:bldP spid="10"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47A30-0D19-3685-A33A-D21789C343FD}"/>
              </a:ext>
            </a:extLst>
          </p:cNvPr>
          <p:cNvSpPr>
            <a:spLocks noGrp="1"/>
          </p:cNvSpPr>
          <p:nvPr>
            <p:ph type="title"/>
          </p:nvPr>
        </p:nvSpPr>
        <p:spPr/>
        <p:txBody>
          <a:bodyPr/>
          <a:lstStyle/>
          <a:p>
            <a:r>
              <a:rPr lang="en-US" dirty="0"/>
              <a:t>Except</a:t>
            </a:r>
            <a:endParaRPr lang="en-IN" dirty="0"/>
          </a:p>
        </p:txBody>
      </p:sp>
      <p:sp>
        <p:nvSpPr>
          <p:cNvPr id="4" name="Rectangle 3">
            <a:extLst>
              <a:ext uri="{FF2B5EF4-FFF2-40B4-BE49-F238E27FC236}">
                <a16:creationId xmlns:a16="http://schemas.microsoft.com/office/drawing/2014/main" id="{C912F599-2A9E-EE0E-C911-6A5CDF4EBC00}"/>
              </a:ext>
            </a:extLst>
          </p:cNvPr>
          <p:cNvSpPr/>
          <p:nvPr/>
        </p:nvSpPr>
        <p:spPr>
          <a:xfrm>
            <a:off x="462118" y="1355414"/>
            <a:ext cx="5300328" cy="1997385"/>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7656ED76-02D7-7C87-6175-3DEDD41448CF}"/>
              </a:ext>
            </a:extLst>
          </p:cNvPr>
          <p:cNvSpPr/>
          <p:nvPr/>
        </p:nvSpPr>
        <p:spPr>
          <a:xfrm>
            <a:off x="597228" y="1548197"/>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6" name="Rectangle 5">
            <a:extLst>
              <a:ext uri="{FF2B5EF4-FFF2-40B4-BE49-F238E27FC236}">
                <a16:creationId xmlns:a16="http://schemas.microsoft.com/office/drawing/2014/main" id="{1471756C-1955-4B81-4940-929656DA5436}"/>
              </a:ext>
            </a:extLst>
          </p:cNvPr>
          <p:cNvSpPr/>
          <p:nvPr/>
        </p:nvSpPr>
        <p:spPr>
          <a:xfrm>
            <a:off x="1841990" y="1553939"/>
            <a:ext cx="1048921" cy="4394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B06A32A0-0A89-EA28-62D6-AD5C437697CB}"/>
              </a:ext>
            </a:extLst>
          </p:cNvPr>
          <p:cNvSpPr/>
          <p:nvPr/>
        </p:nvSpPr>
        <p:spPr>
          <a:xfrm>
            <a:off x="4227644" y="1562724"/>
            <a:ext cx="105120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8" name="Rectangle 7">
            <a:extLst>
              <a:ext uri="{FF2B5EF4-FFF2-40B4-BE49-F238E27FC236}">
                <a16:creationId xmlns:a16="http://schemas.microsoft.com/office/drawing/2014/main" id="{8224E051-2449-39D7-AB2F-B0FA6942E603}"/>
              </a:ext>
            </a:extLst>
          </p:cNvPr>
          <p:cNvSpPr/>
          <p:nvPr/>
        </p:nvSpPr>
        <p:spPr>
          <a:xfrm>
            <a:off x="600920" y="2121339"/>
            <a:ext cx="1142443" cy="41089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Except</a:t>
            </a:r>
          </a:p>
        </p:txBody>
      </p:sp>
      <p:sp>
        <p:nvSpPr>
          <p:cNvPr id="9" name="Rectangle 8">
            <a:extLst>
              <a:ext uri="{FF2B5EF4-FFF2-40B4-BE49-F238E27FC236}">
                <a16:creationId xmlns:a16="http://schemas.microsoft.com/office/drawing/2014/main" id="{DB3C1013-D18F-5D0B-590E-192D863CF6AA}"/>
              </a:ext>
            </a:extLst>
          </p:cNvPr>
          <p:cNvSpPr/>
          <p:nvPr/>
        </p:nvSpPr>
        <p:spPr>
          <a:xfrm>
            <a:off x="2989820" y="1562724"/>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0" name="Rectangle 9">
            <a:extLst>
              <a:ext uri="{FF2B5EF4-FFF2-40B4-BE49-F238E27FC236}">
                <a16:creationId xmlns:a16="http://schemas.microsoft.com/office/drawing/2014/main" id="{68DD8099-3E58-2C03-60BF-1DB1937606F9}"/>
              </a:ext>
            </a:extLst>
          </p:cNvPr>
          <p:cNvSpPr/>
          <p:nvPr/>
        </p:nvSpPr>
        <p:spPr>
          <a:xfrm>
            <a:off x="600637" y="2662350"/>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1" name="Rectangle 10">
            <a:extLst>
              <a:ext uri="{FF2B5EF4-FFF2-40B4-BE49-F238E27FC236}">
                <a16:creationId xmlns:a16="http://schemas.microsoft.com/office/drawing/2014/main" id="{DC4430C1-730B-D809-E8DA-E4C422EFAFE8}"/>
              </a:ext>
            </a:extLst>
          </p:cNvPr>
          <p:cNvSpPr/>
          <p:nvPr/>
        </p:nvSpPr>
        <p:spPr>
          <a:xfrm>
            <a:off x="1841990" y="2662090"/>
            <a:ext cx="1048921" cy="4394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F2441AC8-E6CC-354C-A2C3-8356D471ADC7}"/>
              </a:ext>
            </a:extLst>
          </p:cNvPr>
          <p:cNvSpPr/>
          <p:nvPr/>
        </p:nvSpPr>
        <p:spPr>
          <a:xfrm>
            <a:off x="4227644" y="2662350"/>
            <a:ext cx="105120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13" name="Rectangle 12">
            <a:extLst>
              <a:ext uri="{FF2B5EF4-FFF2-40B4-BE49-F238E27FC236}">
                <a16:creationId xmlns:a16="http://schemas.microsoft.com/office/drawing/2014/main" id="{F234DB79-16AE-FFE0-3536-1753D87D6136}"/>
              </a:ext>
            </a:extLst>
          </p:cNvPr>
          <p:cNvSpPr/>
          <p:nvPr/>
        </p:nvSpPr>
        <p:spPr>
          <a:xfrm>
            <a:off x="2989820" y="2661775"/>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4" name="Rectangle 13">
            <a:extLst>
              <a:ext uri="{FF2B5EF4-FFF2-40B4-BE49-F238E27FC236}">
                <a16:creationId xmlns:a16="http://schemas.microsoft.com/office/drawing/2014/main" id="{B00D0463-F6D7-29F2-A226-91DD0216DB3A}"/>
              </a:ext>
            </a:extLst>
          </p:cNvPr>
          <p:cNvSpPr/>
          <p:nvPr/>
        </p:nvSpPr>
        <p:spPr>
          <a:xfrm>
            <a:off x="5419064" y="2662350"/>
            <a:ext cx="16268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graphicFrame>
        <p:nvGraphicFramePr>
          <p:cNvPr id="19" name="Table 18">
            <a:extLst>
              <a:ext uri="{FF2B5EF4-FFF2-40B4-BE49-F238E27FC236}">
                <a16:creationId xmlns:a16="http://schemas.microsoft.com/office/drawing/2014/main" id="{45259785-C521-E111-136F-6FED94516A89}"/>
              </a:ext>
            </a:extLst>
          </p:cNvPr>
          <p:cNvGraphicFramePr>
            <a:graphicFrameLocks noGrp="1"/>
          </p:cNvGraphicFramePr>
          <p:nvPr/>
        </p:nvGraphicFramePr>
        <p:xfrm>
          <a:off x="462117" y="3634823"/>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Emp2016</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20" name="Table 19">
            <a:extLst>
              <a:ext uri="{FF2B5EF4-FFF2-40B4-BE49-F238E27FC236}">
                <a16:creationId xmlns:a16="http://schemas.microsoft.com/office/drawing/2014/main" id="{FCEC6C77-1C68-570F-F2E5-20C86A0C853A}"/>
              </a:ext>
            </a:extLst>
          </p:cNvPr>
          <p:cNvGraphicFramePr>
            <a:graphicFrameLocks noGrp="1"/>
          </p:cNvGraphicFramePr>
          <p:nvPr>
            <p:extLst>
              <p:ext uri="{D42A27DB-BD31-4B8C-83A1-F6EECF244321}">
                <p14:modId xmlns:p14="http://schemas.microsoft.com/office/powerpoint/2010/main" val="632335953"/>
              </p:ext>
            </p:extLst>
          </p:nvPr>
        </p:nvGraphicFramePr>
        <p:xfrm>
          <a:off x="2878908" y="3647110"/>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Emp2018</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21" name="Table 20">
            <a:extLst>
              <a:ext uri="{FF2B5EF4-FFF2-40B4-BE49-F238E27FC236}">
                <a16:creationId xmlns:a16="http://schemas.microsoft.com/office/drawing/2014/main" id="{E14C74C4-23DC-8B4C-17FA-207FCA6A7326}"/>
              </a:ext>
            </a:extLst>
          </p:cNvPr>
          <p:cNvGraphicFramePr>
            <a:graphicFrameLocks noGrp="1"/>
          </p:cNvGraphicFramePr>
          <p:nvPr/>
        </p:nvGraphicFramePr>
        <p:xfrm>
          <a:off x="6400800" y="3868972"/>
          <a:ext cx="1948510" cy="1457688"/>
        </p:xfrm>
        <a:graphic>
          <a:graphicData uri="http://schemas.openxmlformats.org/drawingml/2006/table">
            <a:tbl>
              <a:tblPr bandRow="1">
                <a:tableStyleId>{073A0DAA-6AF3-43AB-8588-CEC1D06C72B9}</a:tableStyleId>
              </a:tblPr>
              <a:tblGrid>
                <a:gridCol w="959643">
                  <a:extLst>
                    <a:ext uri="{9D8B030D-6E8A-4147-A177-3AD203B41FA5}">
                      <a16:colId xmlns:a16="http://schemas.microsoft.com/office/drawing/2014/main" val="20000"/>
                    </a:ext>
                  </a:extLst>
                </a:gridCol>
                <a:gridCol w="988867">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Except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3"/>
                  </a:ext>
                </a:extLst>
              </a:tr>
            </a:tbl>
          </a:graphicData>
        </a:graphic>
      </p:graphicFrame>
      <p:pic>
        <p:nvPicPr>
          <p:cNvPr id="22" name="Picture 21">
            <a:extLst>
              <a:ext uri="{FF2B5EF4-FFF2-40B4-BE49-F238E27FC236}">
                <a16:creationId xmlns:a16="http://schemas.microsoft.com/office/drawing/2014/main" id="{D0A66214-11E4-2A3C-648E-E7E3149F48F4}"/>
              </a:ext>
            </a:extLst>
          </p:cNvPr>
          <p:cNvPicPr>
            <a:picLocks noChangeAspect="1"/>
          </p:cNvPicPr>
          <p:nvPr/>
        </p:nvPicPr>
        <p:blipFill>
          <a:blip r:embed="rId2"/>
          <a:stretch>
            <a:fillRect/>
          </a:stretch>
        </p:blipFill>
        <p:spPr>
          <a:xfrm>
            <a:off x="5196775" y="4267200"/>
            <a:ext cx="1072635" cy="968184"/>
          </a:xfrm>
          <a:prstGeom prst="rect">
            <a:avLst/>
          </a:prstGeom>
        </p:spPr>
      </p:pic>
      <p:sp>
        <p:nvSpPr>
          <p:cNvPr id="23" name="TextBox 22">
            <a:extLst>
              <a:ext uri="{FF2B5EF4-FFF2-40B4-BE49-F238E27FC236}">
                <a16:creationId xmlns:a16="http://schemas.microsoft.com/office/drawing/2014/main" id="{A324CAB7-48C1-BE03-4370-99873A7460FD}"/>
              </a:ext>
            </a:extLst>
          </p:cNvPr>
          <p:cNvSpPr txBox="1"/>
          <p:nvPr/>
        </p:nvSpPr>
        <p:spPr>
          <a:xfrm>
            <a:off x="361950" y="990571"/>
            <a:ext cx="1104900" cy="367400"/>
          </a:xfrm>
          <a:prstGeom prst="rect">
            <a:avLst/>
          </a:prstGeom>
          <a:noFill/>
        </p:spPr>
        <p:txBody>
          <a:bodyPr wrap="square" rtlCol="0">
            <a:spAutoFit/>
          </a:bodyPr>
          <a:lstStyle/>
          <a:p>
            <a:r>
              <a:rPr lang="en-US" b="1" u="sng" dirty="0"/>
              <a:t>Syntax</a:t>
            </a:r>
          </a:p>
        </p:txBody>
      </p:sp>
      <p:sp>
        <p:nvSpPr>
          <p:cNvPr id="24" name="TextBox 23">
            <a:extLst>
              <a:ext uri="{FF2B5EF4-FFF2-40B4-BE49-F238E27FC236}">
                <a16:creationId xmlns:a16="http://schemas.microsoft.com/office/drawing/2014/main" id="{494BAE8E-2B0F-517D-71A1-83C2A15EFC37}"/>
              </a:ext>
            </a:extLst>
          </p:cNvPr>
          <p:cNvSpPr txBox="1"/>
          <p:nvPr/>
        </p:nvSpPr>
        <p:spPr>
          <a:xfrm>
            <a:off x="6400800" y="1018964"/>
            <a:ext cx="723900" cy="367400"/>
          </a:xfrm>
          <a:prstGeom prst="rect">
            <a:avLst/>
          </a:prstGeom>
          <a:noFill/>
        </p:spPr>
        <p:txBody>
          <a:bodyPr wrap="square" rtlCol="0">
            <a:spAutoFit/>
          </a:bodyPr>
          <a:lstStyle/>
          <a:p>
            <a:r>
              <a:rPr lang="en-US" b="1" u="sng" dirty="0"/>
              <a:t>E.g.</a:t>
            </a:r>
          </a:p>
        </p:txBody>
      </p:sp>
      <p:sp>
        <p:nvSpPr>
          <p:cNvPr id="25" name="Rectangle 24">
            <a:extLst>
              <a:ext uri="{FF2B5EF4-FFF2-40B4-BE49-F238E27FC236}">
                <a16:creationId xmlns:a16="http://schemas.microsoft.com/office/drawing/2014/main" id="{2DE886F8-70BF-A5D2-FC07-4C9E96DF987B}"/>
              </a:ext>
            </a:extLst>
          </p:cNvPr>
          <p:cNvSpPr/>
          <p:nvPr/>
        </p:nvSpPr>
        <p:spPr>
          <a:xfrm>
            <a:off x="6429556" y="1355414"/>
            <a:ext cx="5300328" cy="1997385"/>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C65DDDBC-FEE1-898A-DBBD-200EB3CD1095}"/>
              </a:ext>
            </a:extLst>
          </p:cNvPr>
          <p:cNvSpPr/>
          <p:nvPr/>
        </p:nvSpPr>
        <p:spPr>
          <a:xfrm>
            <a:off x="6598326" y="1536700"/>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27" name="Rectangle 26">
            <a:extLst>
              <a:ext uri="{FF2B5EF4-FFF2-40B4-BE49-F238E27FC236}">
                <a16:creationId xmlns:a16="http://schemas.microsoft.com/office/drawing/2014/main" id="{8E67C729-A23C-ACA2-5524-6366729A353D}"/>
              </a:ext>
            </a:extLst>
          </p:cNvPr>
          <p:cNvSpPr/>
          <p:nvPr/>
        </p:nvSpPr>
        <p:spPr>
          <a:xfrm>
            <a:off x="6602018" y="2109842"/>
            <a:ext cx="1142443" cy="41089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Except</a:t>
            </a:r>
          </a:p>
        </p:txBody>
      </p:sp>
      <p:sp>
        <p:nvSpPr>
          <p:cNvPr id="28" name="Rectangle 27">
            <a:extLst>
              <a:ext uri="{FF2B5EF4-FFF2-40B4-BE49-F238E27FC236}">
                <a16:creationId xmlns:a16="http://schemas.microsoft.com/office/drawing/2014/main" id="{09B152FE-615C-D356-0C80-FD252D0BDAB4}"/>
              </a:ext>
            </a:extLst>
          </p:cNvPr>
          <p:cNvSpPr/>
          <p:nvPr/>
        </p:nvSpPr>
        <p:spPr>
          <a:xfrm>
            <a:off x="8990918" y="1545568"/>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29" name="Rectangle 28">
            <a:extLst>
              <a:ext uri="{FF2B5EF4-FFF2-40B4-BE49-F238E27FC236}">
                <a16:creationId xmlns:a16="http://schemas.microsoft.com/office/drawing/2014/main" id="{2A3868A1-C385-608F-ED93-D15BE9C44379}"/>
              </a:ext>
            </a:extLst>
          </p:cNvPr>
          <p:cNvSpPr/>
          <p:nvPr/>
        </p:nvSpPr>
        <p:spPr>
          <a:xfrm>
            <a:off x="6601735" y="2650853"/>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30" name="Rectangle 29">
            <a:extLst>
              <a:ext uri="{FF2B5EF4-FFF2-40B4-BE49-F238E27FC236}">
                <a16:creationId xmlns:a16="http://schemas.microsoft.com/office/drawing/2014/main" id="{A199B383-9B83-0F2D-7115-F3EC3C4436AE}"/>
              </a:ext>
            </a:extLst>
          </p:cNvPr>
          <p:cNvSpPr/>
          <p:nvPr/>
        </p:nvSpPr>
        <p:spPr>
          <a:xfrm>
            <a:off x="8990918" y="2661775"/>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1" name="Rectangle 30">
            <a:extLst>
              <a:ext uri="{FF2B5EF4-FFF2-40B4-BE49-F238E27FC236}">
                <a16:creationId xmlns:a16="http://schemas.microsoft.com/office/drawing/2014/main" id="{C82E793A-2A69-1375-24AD-971ED44ACBBA}"/>
              </a:ext>
            </a:extLst>
          </p:cNvPr>
          <p:cNvSpPr/>
          <p:nvPr/>
        </p:nvSpPr>
        <p:spPr>
          <a:xfrm>
            <a:off x="11471119" y="2661775"/>
            <a:ext cx="16268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32" name="Rectangle 31">
            <a:extLst>
              <a:ext uri="{FF2B5EF4-FFF2-40B4-BE49-F238E27FC236}">
                <a16:creationId xmlns:a16="http://schemas.microsoft.com/office/drawing/2014/main" id="{4CD85D4C-E182-7F43-E99A-7F426AA408AB}"/>
              </a:ext>
            </a:extLst>
          </p:cNvPr>
          <p:cNvSpPr/>
          <p:nvPr/>
        </p:nvSpPr>
        <p:spPr>
          <a:xfrm>
            <a:off x="10303478" y="1553939"/>
            <a:ext cx="112114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Emp2016</a:t>
            </a:r>
            <a:endParaRPr lang="en-US" dirty="0"/>
          </a:p>
        </p:txBody>
      </p:sp>
      <p:sp>
        <p:nvSpPr>
          <p:cNvPr id="33" name="Rectangle 32">
            <a:extLst>
              <a:ext uri="{FF2B5EF4-FFF2-40B4-BE49-F238E27FC236}">
                <a16:creationId xmlns:a16="http://schemas.microsoft.com/office/drawing/2014/main" id="{FCB1EF8D-E466-CEFA-F2BC-1E1C2A98364F}"/>
              </a:ext>
            </a:extLst>
          </p:cNvPr>
          <p:cNvSpPr/>
          <p:nvPr/>
        </p:nvSpPr>
        <p:spPr>
          <a:xfrm>
            <a:off x="10303478" y="2661775"/>
            <a:ext cx="1071563"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Emp2018</a:t>
            </a:r>
          </a:p>
        </p:txBody>
      </p:sp>
      <p:sp>
        <p:nvSpPr>
          <p:cNvPr id="34" name="Rectangle 33">
            <a:extLst>
              <a:ext uri="{FF2B5EF4-FFF2-40B4-BE49-F238E27FC236}">
                <a16:creationId xmlns:a16="http://schemas.microsoft.com/office/drawing/2014/main" id="{054482AF-0763-06FC-E1BF-A389C77D50C1}"/>
              </a:ext>
            </a:extLst>
          </p:cNvPr>
          <p:cNvSpPr/>
          <p:nvPr/>
        </p:nvSpPr>
        <p:spPr>
          <a:xfrm>
            <a:off x="7979876" y="1536613"/>
            <a:ext cx="759734"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35" name="Rectangle 34">
            <a:extLst>
              <a:ext uri="{FF2B5EF4-FFF2-40B4-BE49-F238E27FC236}">
                <a16:creationId xmlns:a16="http://schemas.microsoft.com/office/drawing/2014/main" id="{84E90789-8013-EFF0-3B17-55E209A81600}"/>
              </a:ext>
            </a:extLst>
          </p:cNvPr>
          <p:cNvSpPr/>
          <p:nvPr/>
        </p:nvSpPr>
        <p:spPr>
          <a:xfrm>
            <a:off x="7979876" y="2661775"/>
            <a:ext cx="759734"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1554318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5"/>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9"/>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7"/>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8"/>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0"/>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13"/>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12"/>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23"/>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2" nodeType="clickEffect">
                                  <p:stCondLst>
                                    <p:cond delay="0"/>
                                  </p:stCondLst>
                                  <p:childTnLst>
                                    <p:set>
                                      <p:cBhvr>
                                        <p:cTn id="84" dur="1" fill="hold">
                                          <p:stCondLst>
                                            <p:cond delay="0"/>
                                          </p:stCondLst>
                                        </p:cTn>
                                        <p:tgtEl>
                                          <p:spTgt spid="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2" nodeType="clickEffect">
                                  <p:stCondLst>
                                    <p:cond delay="0"/>
                                  </p:stCondLst>
                                  <p:childTnLst>
                                    <p:set>
                                      <p:cBhvr>
                                        <p:cTn id="88" dur="1" fill="hold">
                                          <p:stCondLst>
                                            <p:cond delay="0"/>
                                          </p:stCondLst>
                                        </p:cTn>
                                        <p:tgtEl>
                                          <p:spTgt spid="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2" nodeType="clickEffect">
                                  <p:stCondLst>
                                    <p:cond delay="0"/>
                                  </p:stCondLst>
                                  <p:childTnLst>
                                    <p:set>
                                      <p:cBhvr>
                                        <p:cTn id="92" dur="1" fill="hold">
                                          <p:stCondLst>
                                            <p:cond delay="0"/>
                                          </p:stCondLst>
                                        </p:cTn>
                                        <p:tgtEl>
                                          <p:spTgt spid="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2" nodeType="clickEffect">
                                  <p:stCondLst>
                                    <p:cond delay="0"/>
                                  </p:stCondLst>
                                  <p:childTnLst>
                                    <p:set>
                                      <p:cBhvr>
                                        <p:cTn id="96" dur="1" fill="hold">
                                          <p:stCondLst>
                                            <p:cond delay="0"/>
                                          </p:stCondLst>
                                        </p:cTn>
                                        <p:tgtEl>
                                          <p:spTgt spid="1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2" nodeType="clickEffect">
                                  <p:stCondLst>
                                    <p:cond delay="0"/>
                                  </p:stCondLst>
                                  <p:childTnLst>
                                    <p:set>
                                      <p:cBhvr>
                                        <p:cTn id="100" dur="1" fill="hold">
                                          <p:stCondLst>
                                            <p:cond delay="0"/>
                                          </p:stCondLst>
                                        </p:cTn>
                                        <p:tgtEl>
                                          <p:spTgt spid="1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2" nodeType="clickEffect">
                                  <p:stCondLst>
                                    <p:cond delay="0"/>
                                  </p:stCondLst>
                                  <p:childTnLst>
                                    <p:set>
                                      <p:cBhvr>
                                        <p:cTn id="104" dur="1" fill="hold">
                                          <p:stCondLst>
                                            <p:cond delay="0"/>
                                          </p:stCondLst>
                                        </p:cTn>
                                        <p:tgtEl>
                                          <p:spTgt spid="14"/>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8"/>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7"/>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29"/>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3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grpId="1" nodeType="clickEffect">
                                  <p:stCondLst>
                                    <p:cond delay="0"/>
                                  </p:stCondLst>
                                  <p:childTnLst>
                                    <p:set>
                                      <p:cBhvr>
                                        <p:cTn id="142" dur="1" fill="hold">
                                          <p:stCondLst>
                                            <p:cond delay="0"/>
                                          </p:stCondLst>
                                        </p:cTn>
                                        <p:tgtEl>
                                          <p:spTgt spid="26"/>
                                        </p:tgtEl>
                                        <p:attrNameLst>
                                          <p:attrName>style.visibility</p:attrName>
                                        </p:attrNameLst>
                                      </p:cBhvr>
                                      <p:to>
                                        <p:strVal val="hidden"/>
                                      </p:to>
                                    </p:set>
                                  </p:childTnLst>
                                </p:cTn>
                              </p:par>
                              <p:par>
                                <p:cTn id="143" presetID="1" presetClass="exit" presetSubtype="0" fill="hold" grpId="1" nodeType="withEffect">
                                  <p:stCondLst>
                                    <p:cond delay="0"/>
                                  </p:stCondLst>
                                  <p:childTnLst>
                                    <p:set>
                                      <p:cBhvr>
                                        <p:cTn id="144" dur="1" fill="hold">
                                          <p:stCondLst>
                                            <p:cond delay="0"/>
                                          </p:stCondLst>
                                        </p:cTn>
                                        <p:tgtEl>
                                          <p:spTgt spid="28"/>
                                        </p:tgtEl>
                                        <p:attrNameLst>
                                          <p:attrName>style.visibility</p:attrName>
                                        </p:attrNameLst>
                                      </p:cBhvr>
                                      <p:to>
                                        <p:strVal val="hidden"/>
                                      </p:to>
                                    </p:set>
                                  </p:childTnLst>
                                </p:cTn>
                              </p:par>
                              <p:par>
                                <p:cTn id="145" presetID="1" presetClass="exit" presetSubtype="0" fill="hold" grpId="1" nodeType="withEffect">
                                  <p:stCondLst>
                                    <p:cond delay="0"/>
                                  </p:stCondLst>
                                  <p:childTnLst>
                                    <p:set>
                                      <p:cBhvr>
                                        <p:cTn id="146" dur="1" fill="hold">
                                          <p:stCondLst>
                                            <p:cond delay="0"/>
                                          </p:stCondLst>
                                        </p:cTn>
                                        <p:tgtEl>
                                          <p:spTgt spid="27"/>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29"/>
                                        </p:tgtEl>
                                        <p:attrNameLst>
                                          <p:attrName>style.visibility</p:attrName>
                                        </p:attrNameLst>
                                      </p:cBhvr>
                                      <p:to>
                                        <p:strVal val="hidden"/>
                                      </p:to>
                                    </p:set>
                                  </p:childTnLst>
                                </p:cTn>
                              </p:par>
                              <p:par>
                                <p:cTn id="149" presetID="1" presetClass="exit" presetSubtype="0" fill="hold" grpId="1" nodeType="withEffect">
                                  <p:stCondLst>
                                    <p:cond delay="0"/>
                                  </p:stCondLst>
                                  <p:childTnLst>
                                    <p:set>
                                      <p:cBhvr>
                                        <p:cTn id="150" dur="1" fill="hold">
                                          <p:stCondLst>
                                            <p:cond delay="0"/>
                                          </p:stCondLst>
                                        </p:cTn>
                                        <p:tgtEl>
                                          <p:spTgt spid="30"/>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31"/>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2" nodeType="clickEffect">
                                  <p:stCondLst>
                                    <p:cond delay="0"/>
                                  </p:stCondLst>
                                  <p:childTnLst>
                                    <p:set>
                                      <p:cBhvr>
                                        <p:cTn id="156" dur="1" fill="hold">
                                          <p:stCondLst>
                                            <p:cond delay="0"/>
                                          </p:stCondLst>
                                        </p:cTn>
                                        <p:tgtEl>
                                          <p:spTgt spid="26"/>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34"/>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2" nodeType="clickEffect">
                                  <p:stCondLst>
                                    <p:cond delay="0"/>
                                  </p:stCondLst>
                                  <p:childTnLst>
                                    <p:set>
                                      <p:cBhvr>
                                        <p:cTn id="164" dur="1" fill="hold">
                                          <p:stCondLst>
                                            <p:cond delay="0"/>
                                          </p:stCondLst>
                                        </p:cTn>
                                        <p:tgtEl>
                                          <p:spTgt spid="28"/>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32"/>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2" nodeType="clickEffect">
                                  <p:stCondLst>
                                    <p:cond delay="0"/>
                                  </p:stCondLst>
                                  <p:childTnLst>
                                    <p:set>
                                      <p:cBhvr>
                                        <p:cTn id="172" dur="1" fill="hold">
                                          <p:stCondLst>
                                            <p:cond delay="0"/>
                                          </p:stCondLst>
                                        </p:cTn>
                                        <p:tgtEl>
                                          <p:spTgt spid="27"/>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2" nodeType="clickEffect">
                                  <p:stCondLst>
                                    <p:cond delay="0"/>
                                  </p:stCondLst>
                                  <p:childTnLst>
                                    <p:set>
                                      <p:cBhvr>
                                        <p:cTn id="176" dur="1" fill="hold">
                                          <p:stCondLst>
                                            <p:cond delay="0"/>
                                          </p:stCondLst>
                                        </p:cTn>
                                        <p:tgtEl>
                                          <p:spTgt spid="2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35"/>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2" nodeType="clickEffect">
                                  <p:stCondLst>
                                    <p:cond delay="0"/>
                                  </p:stCondLst>
                                  <p:childTnLst>
                                    <p:set>
                                      <p:cBhvr>
                                        <p:cTn id="184" dur="1" fill="hold">
                                          <p:stCondLst>
                                            <p:cond delay="0"/>
                                          </p:stCondLst>
                                        </p:cTn>
                                        <p:tgtEl>
                                          <p:spTgt spid="30"/>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33"/>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2" nodeType="clickEffect">
                                  <p:stCondLst>
                                    <p:cond delay="0"/>
                                  </p:stCondLst>
                                  <p:childTnLst>
                                    <p:set>
                                      <p:cBhvr>
                                        <p:cTn id="19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P spid="5" grpId="2" animBg="1"/>
      <p:bldP spid="6" grpId="0" animBg="1"/>
      <p:bldP spid="6" grpId="1" animBg="1"/>
      <p:bldP spid="7" grpId="0" animBg="1"/>
      <p:bldP spid="7" grpId="1" animBg="1"/>
      <p:bldP spid="8" grpId="0" animBg="1"/>
      <p:bldP spid="8" grpId="1" animBg="1"/>
      <p:bldP spid="8" grpId="2" animBg="1"/>
      <p:bldP spid="9" grpId="0" animBg="1"/>
      <p:bldP spid="9" grpId="1" animBg="1"/>
      <p:bldP spid="9" grpId="2" animBg="1"/>
      <p:bldP spid="10" grpId="0" animBg="1"/>
      <p:bldP spid="10" grpId="1" animBg="1"/>
      <p:bldP spid="10" grpId="2" animBg="1"/>
      <p:bldP spid="11" grpId="0" animBg="1"/>
      <p:bldP spid="11" grpId="1" animBg="1"/>
      <p:bldP spid="12" grpId="0" animBg="1"/>
      <p:bldP spid="12" grpId="1" animBg="1"/>
      <p:bldP spid="13" grpId="0" animBg="1"/>
      <p:bldP spid="13" grpId="1" animBg="1"/>
      <p:bldP spid="13" grpId="2" animBg="1"/>
      <p:bldP spid="14" grpId="0" animBg="1"/>
      <p:bldP spid="14" grpId="1" animBg="1"/>
      <p:bldP spid="14" grpId="2" animBg="1"/>
      <p:bldP spid="23" grpId="0"/>
      <p:bldP spid="23" grpId="1"/>
      <p:bldP spid="24" grpId="0"/>
      <p:bldP spid="25" grpId="0" animBg="1"/>
      <p:bldP spid="26" grpId="0" animBg="1"/>
      <p:bldP spid="26" grpId="1" animBg="1"/>
      <p:bldP spid="26" grpId="2" animBg="1"/>
      <p:bldP spid="27" grpId="0" animBg="1"/>
      <p:bldP spid="27" grpId="1" animBg="1"/>
      <p:bldP spid="27" grpId="2" animBg="1"/>
      <p:bldP spid="28" grpId="0" animBg="1"/>
      <p:bldP spid="28" grpId="1" animBg="1"/>
      <p:bldP spid="28" grpId="2" animBg="1"/>
      <p:bldP spid="29" grpId="0" animBg="1"/>
      <p:bldP spid="29" grpId="1" animBg="1"/>
      <p:bldP spid="29" grpId="2" animBg="1"/>
      <p:bldP spid="30" grpId="0" animBg="1"/>
      <p:bldP spid="30" grpId="1" animBg="1"/>
      <p:bldP spid="30" grpId="2" animBg="1"/>
      <p:bldP spid="31" grpId="0" animBg="1"/>
      <p:bldP spid="31" grpId="1" animBg="1"/>
      <p:bldP spid="31" grpId="2" animBg="1"/>
      <p:bldP spid="32" grpId="0" animBg="1"/>
      <p:bldP spid="33" grpId="0" animBg="1"/>
      <p:bldP spid="34" grpId="0" animBg="1"/>
      <p:bldP spid="35"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68C8-7622-F8C7-7A15-119E79BD9E9C}"/>
              </a:ext>
            </a:extLst>
          </p:cNvPr>
          <p:cNvSpPr>
            <a:spLocks noGrp="1"/>
          </p:cNvSpPr>
          <p:nvPr>
            <p:ph type="title"/>
          </p:nvPr>
        </p:nvSpPr>
        <p:spPr/>
        <p:txBody>
          <a:bodyPr/>
          <a:lstStyle/>
          <a:p>
            <a:r>
              <a:rPr lang="en-IN" dirty="0"/>
              <a:t>Rules on Set Operations</a:t>
            </a:r>
          </a:p>
        </p:txBody>
      </p:sp>
      <p:sp>
        <p:nvSpPr>
          <p:cNvPr id="3" name="Content Placeholder 2">
            <a:extLst>
              <a:ext uri="{FF2B5EF4-FFF2-40B4-BE49-F238E27FC236}">
                <a16:creationId xmlns:a16="http://schemas.microsoft.com/office/drawing/2014/main" id="{C2BB0716-7416-C794-0B09-B445E71C4266}"/>
              </a:ext>
            </a:extLst>
          </p:cNvPr>
          <p:cNvSpPr>
            <a:spLocks noGrp="1"/>
          </p:cNvSpPr>
          <p:nvPr>
            <p:ph idx="1"/>
          </p:nvPr>
        </p:nvSpPr>
        <p:spPr/>
        <p:txBody>
          <a:bodyPr/>
          <a:lstStyle/>
          <a:p>
            <a:pPr algn="just" fontAlgn="base"/>
            <a:r>
              <a:rPr lang="en-US" dirty="0"/>
              <a:t>The result sets of all queries must have the </a:t>
            </a:r>
            <a:r>
              <a:rPr lang="en-US" b="1" dirty="0">
                <a:solidFill>
                  <a:srgbClr val="C00000"/>
                </a:solidFill>
              </a:rPr>
              <a:t>same number of columns</a:t>
            </a:r>
            <a:r>
              <a:rPr lang="en-US" dirty="0"/>
              <a:t>.</a:t>
            </a:r>
          </a:p>
          <a:p>
            <a:pPr algn="just" fontAlgn="base"/>
            <a:r>
              <a:rPr lang="en-US" dirty="0"/>
              <a:t>The columns in both the tables must have </a:t>
            </a:r>
            <a:r>
              <a:rPr lang="en-US" b="1" dirty="0">
                <a:solidFill>
                  <a:srgbClr val="C00000"/>
                </a:solidFill>
              </a:rPr>
              <a:t>compatible data types</a:t>
            </a:r>
            <a:r>
              <a:rPr lang="en-US" dirty="0"/>
              <a:t>.</a:t>
            </a:r>
          </a:p>
          <a:p>
            <a:pPr algn="just" fontAlgn="base"/>
            <a:r>
              <a:rPr lang="en-US" dirty="0"/>
              <a:t>In order to sort the result, an </a:t>
            </a:r>
            <a:r>
              <a:rPr lang="en-US" b="1" dirty="0">
                <a:solidFill>
                  <a:srgbClr val="C00000"/>
                </a:solidFill>
              </a:rPr>
              <a:t>ORDER BY </a:t>
            </a:r>
            <a:r>
              <a:rPr lang="en-US" dirty="0"/>
              <a:t>clause should be part of the </a:t>
            </a:r>
            <a:r>
              <a:rPr lang="en-US" b="1" dirty="0">
                <a:solidFill>
                  <a:srgbClr val="C00000"/>
                </a:solidFill>
              </a:rPr>
              <a:t>last statement</a:t>
            </a:r>
            <a:r>
              <a:rPr lang="en-US" dirty="0"/>
              <a:t>.</a:t>
            </a:r>
          </a:p>
          <a:p>
            <a:endParaRPr lang="en-IN" dirty="0"/>
          </a:p>
        </p:txBody>
      </p:sp>
    </p:spTree>
    <p:extLst>
      <p:ext uri="{BB962C8B-B14F-4D97-AF65-F5344CB8AC3E}">
        <p14:creationId xmlns:p14="http://schemas.microsoft.com/office/powerpoint/2010/main" val="236411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8C7DC-571B-380C-1627-B66D514B5295}"/>
              </a:ext>
            </a:extLst>
          </p:cNvPr>
          <p:cNvSpPr>
            <a:spLocks noGrp="1"/>
          </p:cNvSpPr>
          <p:nvPr>
            <p:ph type="title"/>
          </p:nvPr>
        </p:nvSpPr>
        <p:spPr/>
        <p:txBody>
          <a:bodyPr/>
          <a:lstStyle/>
          <a:p>
            <a:r>
              <a:rPr lang="en-US" dirty="0"/>
              <a:t>Thank You</a:t>
            </a:r>
            <a:endParaRPr lang="en-IN" dirty="0"/>
          </a:p>
        </p:txBody>
      </p:sp>
      <p:sp>
        <p:nvSpPr>
          <p:cNvPr id="3" name="Text Placeholder 2">
            <a:extLst>
              <a:ext uri="{FF2B5EF4-FFF2-40B4-BE49-F238E27FC236}">
                <a16:creationId xmlns:a16="http://schemas.microsoft.com/office/drawing/2014/main" id="{9ACB0454-28A8-94AB-AA04-57CB58B93A28}"/>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794331830"/>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18479</TotalTime>
  <Words>8875</Words>
  <Application>Microsoft Office PowerPoint</Application>
  <PresentationFormat>Widescreen</PresentationFormat>
  <Paragraphs>3337</Paragraphs>
  <Slides>115</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115</vt:i4>
      </vt:variant>
    </vt:vector>
  </HeadingPairs>
  <TitlesOfParts>
    <vt:vector size="127" baseType="lpstr">
      <vt:lpstr>Consolas</vt:lpstr>
      <vt:lpstr>Roboto Condensed</vt:lpstr>
      <vt:lpstr>Segoe UI Black</vt:lpstr>
      <vt:lpstr>Arial</vt:lpstr>
      <vt:lpstr>Wingdings 3</vt:lpstr>
      <vt:lpstr>Roboto Condensed Light</vt:lpstr>
      <vt:lpstr>open sans</vt:lpstr>
      <vt:lpstr>Wingdings 2</vt:lpstr>
      <vt:lpstr>Wingdings</vt:lpstr>
      <vt:lpstr>Calibri</vt:lpstr>
      <vt:lpstr>Office Theme</vt:lpstr>
      <vt:lpstr>1_Office Theme</vt:lpstr>
      <vt:lpstr>Unit-2  SQL Constraints, Joins &amp; Views </vt:lpstr>
      <vt:lpstr>PowerPoint Presentation</vt:lpstr>
      <vt:lpstr>SQL in-built Functions</vt:lpstr>
      <vt:lpstr>SQL in-built Functions</vt:lpstr>
      <vt:lpstr>Mathematical Functions</vt:lpstr>
      <vt:lpstr>Mathematical Functions (Cont..)</vt:lpstr>
      <vt:lpstr>String Functions</vt:lpstr>
      <vt:lpstr>String Functions</vt:lpstr>
      <vt:lpstr>String Functions</vt:lpstr>
      <vt:lpstr>String Functions</vt:lpstr>
      <vt:lpstr>String Functions</vt:lpstr>
      <vt:lpstr>Date &amp; Time Functions</vt:lpstr>
      <vt:lpstr>Date &amp; Time Functions</vt:lpstr>
      <vt:lpstr>Date &amp; Time Functions | DAY()</vt:lpstr>
      <vt:lpstr>Date &amp; Time Functions | MONTH ()</vt:lpstr>
      <vt:lpstr>Date &amp; Time Functions | YEAR ()</vt:lpstr>
      <vt:lpstr>Date &amp; Time Functions | DATEPART ()</vt:lpstr>
      <vt:lpstr>Date &amp; Time Functions | DATENAME ()</vt:lpstr>
      <vt:lpstr>Date &amp; Time Functions | EOMONTH ()</vt:lpstr>
      <vt:lpstr>Date &amp; Time Functions | DATEADD ()</vt:lpstr>
      <vt:lpstr>Date &amp; Time Functions | DATEDIFF ()</vt:lpstr>
      <vt:lpstr>Date &amp; Time Functions | ISDATE ()</vt:lpstr>
      <vt:lpstr>Conversion Functions</vt:lpstr>
      <vt:lpstr>Keys</vt:lpstr>
      <vt:lpstr>What is Key?</vt:lpstr>
      <vt:lpstr>Types of Keys</vt:lpstr>
      <vt:lpstr>Super Key</vt:lpstr>
      <vt:lpstr>Super Key</vt:lpstr>
      <vt:lpstr>Exercise: Super Key</vt:lpstr>
      <vt:lpstr>Candidate Key</vt:lpstr>
      <vt:lpstr>Exercise: Candidate Key</vt:lpstr>
      <vt:lpstr>Primary Key </vt:lpstr>
      <vt:lpstr>Primary Key rules</vt:lpstr>
      <vt:lpstr>Exercise: Primary Key</vt:lpstr>
      <vt:lpstr>Alternate Key </vt:lpstr>
      <vt:lpstr>Exercise: Alternate Key</vt:lpstr>
      <vt:lpstr>Unique Key</vt:lpstr>
      <vt:lpstr>Composite Key</vt:lpstr>
      <vt:lpstr>Foreign Key </vt:lpstr>
      <vt:lpstr>Constraints</vt:lpstr>
      <vt:lpstr>What is Constraints?</vt:lpstr>
      <vt:lpstr>Constraints used in SQL</vt:lpstr>
      <vt:lpstr>NOT NULL Constraint</vt:lpstr>
      <vt:lpstr>CHECK Constraint</vt:lpstr>
      <vt:lpstr>DEFAULT Constraint</vt:lpstr>
      <vt:lpstr>UNIQUE KEY</vt:lpstr>
      <vt:lpstr>PRIMARY KEY</vt:lpstr>
      <vt:lpstr>FOREIGN KEY</vt:lpstr>
      <vt:lpstr>Joins</vt:lpstr>
      <vt:lpstr>Joins</vt:lpstr>
      <vt:lpstr>Inner Join</vt:lpstr>
      <vt:lpstr>Example: Inner Join</vt:lpstr>
      <vt:lpstr>Example: Inner Join</vt:lpstr>
      <vt:lpstr>Left outer Join</vt:lpstr>
      <vt:lpstr>Example: Left outer Join</vt:lpstr>
      <vt:lpstr>Right outer Join</vt:lpstr>
      <vt:lpstr>Example: Right outer Join</vt:lpstr>
      <vt:lpstr>Full outer Join</vt:lpstr>
      <vt:lpstr>Example: Full outer Join</vt:lpstr>
      <vt:lpstr>Exercise: Joins</vt:lpstr>
      <vt:lpstr>Exercise: Joins</vt:lpstr>
      <vt:lpstr>Interview Question</vt:lpstr>
      <vt:lpstr>Cross Join</vt:lpstr>
      <vt:lpstr>Example: Cross Join</vt:lpstr>
      <vt:lpstr>Self Join</vt:lpstr>
      <vt:lpstr>Self Join</vt:lpstr>
      <vt:lpstr>Join Examples</vt:lpstr>
      <vt:lpstr>Join Examples(Cont..)</vt:lpstr>
      <vt:lpstr>Join Examples(Cont..)</vt:lpstr>
      <vt:lpstr>Join Examples(Cont..)</vt:lpstr>
      <vt:lpstr>Join Examples(Cont..)</vt:lpstr>
      <vt:lpstr>Advantages of Joins</vt:lpstr>
      <vt:lpstr>View</vt:lpstr>
      <vt:lpstr>Views</vt:lpstr>
      <vt:lpstr>Types of User defined View</vt:lpstr>
      <vt:lpstr>Advantages of View </vt:lpstr>
      <vt:lpstr>Create a simple View</vt:lpstr>
      <vt:lpstr>Display view</vt:lpstr>
      <vt:lpstr>View Examples</vt:lpstr>
      <vt:lpstr>View Examples</vt:lpstr>
      <vt:lpstr>View Examples</vt:lpstr>
      <vt:lpstr>View Examples</vt:lpstr>
      <vt:lpstr>Exercise: View</vt:lpstr>
      <vt:lpstr>Create a Complex View</vt:lpstr>
      <vt:lpstr>Alter View</vt:lpstr>
      <vt:lpstr>Renaming View</vt:lpstr>
      <vt:lpstr>Destroy View</vt:lpstr>
      <vt:lpstr>Disadvantages of View</vt:lpstr>
      <vt:lpstr>Update View (Point To Keep in Mind)</vt:lpstr>
      <vt:lpstr>Table v/s View</vt:lpstr>
      <vt:lpstr>Subqueries </vt:lpstr>
      <vt:lpstr>Sub Query</vt:lpstr>
      <vt:lpstr>Types of Sub Query</vt:lpstr>
      <vt:lpstr>Single Row Sub Query</vt:lpstr>
      <vt:lpstr>Multiple Row Sub Query </vt:lpstr>
      <vt:lpstr>Correlated Sub Query </vt:lpstr>
      <vt:lpstr>Correlated Sub Query</vt:lpstr>
      <vt:lpstr>Correlated Sub Query</vt:lpstr>
      <vt:lpstr>Correlated Sub Query</vt:lpstr>
      <vt:lpstr>Correlated Sub Query</vt:lpstr>
      <vt:lpstr>Correlated Sub Query</vt:lpstr>
      <vt:lpstr>Limitation of Sub Query</vt:lpstr>
      <vt:lpstr>Join v/s Sub query</vt:lpstr>
      <vt:lpstr>SET Operators</vt:lpstr>
      <vt:lpstr>SET Operators</vt:lpstr>
      <vt:lpstr>Union</vt:lpstr>
      <vt:lpstr>Union</vt:lpstr>
      <vt:lpstr>Union All</vt:lpstr>
      <vt:lpstr>Union All</vt:lpstr>
      <vt:lpstr>Intersect</vt:lpstr>
      <vt:lpstr>Intersect</vt:lpstr>
      <vt:lpstr>Except</vt:lpstr>
      <vt:lpstr>Except</vt:lpstr>
      <vt:lpstr>Rules on Set Operations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1054</cp:revision>
  <dcterms:created xsi:type="dcterms:W3CDTF">2020-05-01T05:09:15Z</dcterms:created>
  <dcterms:modified xsi:type="dcterms:W3CDTF">2026-07-14T10:01:17Z</dcterms:modified>
</cp:coreProperties>
</file>